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E5661-B85F-4904-8700-83080BFB029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A36E4-E62B-43BD-A3D8-1620279A64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A36E4-E62B-43BD-A3D8-1620279A6478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79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3ADB0-AAC7-42A0-A559-E6DB1A0B7F56}" type="slidenum">
              <a:rPr lang="fr-CA" smtClean="0"/>
              <a:pPr/>
              <a:t>43</a:t>
            </a:fld>
            <a:endParaRPr lang="fr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B9555-598C-494B-9B5F-5C90BE6F1689}" type="datetimeFigureOut">
              <a:rPr lang="fr-FR" smtClean="0"/>
              <a:pPr/>
              <a:t>08/11/2021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65D17-DB39-400D-9314-5F0C698F8E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6" name="Rectangle 4"/>
          <p:cNvSpPr>
            <a:spLocks noChangeArrowheads="1"/>
          </p:cNvSpPr>
          <p:nvPr/>
        </p:nvSpPr>
        <p:spPr bwMode="auto">
          <a:xfrm>
            <a:off x="474108" y="1124744"/>
            <a:ext cx="8291513" cy="976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fr-CA" sz="3200" dirty="0" smtClean="0">
                <a:latin typeface="Tahoma" pitchFamily="34" charset="0"/>
              </a:rPr>
              <a:t>Programme </a:t>
            </a:r>
            <a:r>
              <a:rPr lang="fr-CA" sz="3200" dirty="0">
                <a:latin typeface="Tahoma" pitchFamily="34" charset="0"/>
              </a:rPr>
              <a:t>de </a:t>
            </a:r>
            <a:r>
              <a:rPr lang="fr-CA" sz="3200" dirty="0" smtClean="0">
                <a:latin typeface="Tahoma" pitchFamily="34" charset="0"/>
              </a:rPr>
              <a:t>M2 </a:t>
            </a:r>
            <a:r>
              <a:rPr lang="fr-CA" sz="3200" dirty="0" smtClean="0">
                <a:latin typeface="Tahoma" pitchFamily="34" charset="0"/>
              </a:rPr>
              <a:t>informatique</a:t>
            </a:r>
            <a:endParaRPr lang="fr-FR" sz="3200" dirty="0">
              <a:latin typeface="Tahoma" pitchFamily="34" charset="0"/>
            </a:endParaRPr>
          </a:p>
        </p:txBody>
      </p:sp>
      <p:sp>
        <p:nvSpPr>
          <p:cNvPr id="366598" name="Rectangle 6"/>
          <p:cNvSpPr>
            <a:spLocks noChangeArrowheads="1"/>
          </p:cNvSpPr>
          <p:nvPr/>
        </p:nvSpPr>
        <p:spPr bwMode="auto">
          <a:xfrm>
            <a:off x="466849" y="2786577"/>
            <a:ext cx="8518277" cy="115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fr-FR" sz="3200" i="1" dirty="0">
                <a:solidFill>
                  <a:srgbClr val="FFC000"/>
                </a:solidFill>
                <a:latin typeface="Tahoma" pitchFamily="34" charset="0"/>
              </a:rPr>
              <a:t>Bases de données avancées: INTRODUCTION</a:t>
            </a:r>
            <a:endParaRPr lang="fr-FR" sz="3200" dirty="0">
              <a:solidFill>
                <a:srgbClr val="FFC000"/>
              </a:solidFill>
              <a:latin typeface="Tahoma" pitchFamily="34" charset="0"/>
            </a:endParaRPr>
          </a:p>
        </p:txBody>
      </p:sp>
      <p:sp>
        <p:nvSpPr>
          <p:cNvPr id="366599" name="Rectangle 7"/>
          <p:cNvSpPr>
            <a:spLocks noChangeArrowheads="1"/>
          </p:cNvSpPr>
          <p:nvPr/>
        </p:nvSpPr>
        <p:spPr bwMode="auto">
          <a:xfrm>
            <a:off x="611188" y="3871913"/>
            <a:ext cx="8229600" cy="108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SzPct val="85000"/>
            </a:pPr>
            <a:r>
              <a:rPr lang="fr-CA" sz="3200" dirty="0">
                <a:latin typeface="Arial" pitchFamily="34" charset="0"/>
              </a:rPr>
              <a:t/>
            </a:r>
            <a:br>
              <a:rPr lang="fr-CA" sz="3200" dirty="0">
                <a:latin typeface="Arial" pitchFamily="34" charset="0"/>
              </a:rPr>
            </a:br>
            <a:r>
              <a:rPr lang="en-CA" sz="3200" dirty="0">
                <a:latin typeface="Arial" pitchFamily="34" charset="0"/>
              </a:rPr>
              <a:t>Module 1</a:t>
            </a:r>
            <a:endParaRPr lang="fr-FR" sz="3200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7A15-5C15-4B92-950A-BF8D39E9FE46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7F642-2B95-4F6B-9B56-755DEE939768}" type="slidenum">
              <a:rPr lang="en-GB"/>
              <a:pPr/>
              <a:t>2</a:t>
            </a:fld>
            <a:endParaRPr lang="en-GB"/>
          </a:p>
        </p:txBody>
      </p:sp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0263"/>
            <a:ext cx="7772400" cy="701675"/>
          </a:xfrm>
        </p:spPr>
        <p:txBody>
          <a:bodyPr/>
          <a:lstStyle/>
          <a:p>
            <a:r>
              <a:rPr lang="fr-CA" sz="4000"/>
              <a:t>Objectifs d’apprentissage</a:t>
            </a:r>
            <a:endParaRPr lang="en-GB" sz="4000"/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400" dirty="0"/>
              <a:t>Donner un exemple d’interrogation d’un SGBD (et donc d’une base de données) en utilisant un langage de </a:t>
            </a:r>
            <a:r>
              <a:rPr lang="fr-FR" sz="2400"/>
              <a:t>programmation L4G </a:t>
            </a:r>
            <a:r>
              <a:rPr lang="fr-FR" sz="2400" dirty="0"/>
              <a:t>comme java.</a:t>
            </a:r>
            <a:endParaRPr lang="en-GB" sz="2400" dirty="0"/>
          </a:p>
          <a:p>
            <a:r>
              <a:rPr lang="fr-FR" sz="2400" dirty="0"/>
              <a:t>Comparer les SGBDS sur le marché et énumérer les critères de comparaison.</a:t>
            </a:r>
            <a:endParaRPr lang="en-GB" sz="2400" dirty="0"/>
          </a:p>
          <a:p>
            <a:r>
              <a:rPr lang="fr-FR" sz="2400" dirty="0"/>
              <a:t>Définir la notion de </a:t>
            </a:r>
            <a:r>
              <a:rPr lang="fr-FR" sz="2400" dirty="0" err="1"/>
              <a:t>datawarehouse</a:t>
            </a:r>
            <a:r>
              <a:rPr lang="fr-FR" sz="2400" dirty="0"/>
              <a:t>.</a:t>
            </a:r>
            <a:endParaRPr lang="en-GB" sz="2400" dirty="0"/>
          </a:p>
          <a:p>
            <a:r>
              <a:rPr lang="fr-FR" sz="2400" dirty="0">
                <a:cs typeface="Times New Roman" pitchFamily="18" charset="0"/>
              </a:rPr>
              <a:t>Décrire une alternative aux bases de données relationnelles, les bases de données objets, et dresser une grille de comparaison sommaire entre les deux approches</a:t>
            </a:r>
            <a:r>
              <a:rPr lang="en-GB" sz="24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26C7-7141-4D08-888D-2145D03B1A56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00197-7B75-403D-9AC3-40347BB22A97}" type="slidenum">
              <a:rPr lang="en-GB"/>
              <a:pPr/>
              <a:t>3</a:t>
            </a:fld>
            <a:endParaRPr lang="en-GB"/>
          </a:p>
        </p:txBody>
      </p:sp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/>
              <a:t>Plan</a:t>
            </a:r>
            <a:endParaRPr lang="en-GB"/>
          </a:p>
        </p:txBody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>
                <a:solidFill>
                  <a:schemeClr val="tx2"/>
                </a:solidFill>
              </a:rPr>
              <a:t>Interface entre un L3G et SGBD (java et Oracle)</a:t>
            </a:r>
          </a:p>
          <a:p>
            <a:r>
              <a:rPr lang="fr-CA"/>
              <a:t>SGBD sur le marché</a:t>
            </a:r>
          </a:p>
          <a:p>
            <a:r>
              <a:rPr lang="fr-CA"/>
              <a:t>DataWarehouse</a:t>
            </a:r>
          </a:p>
          <a:p>
            <a:r>
              <a:rPr lang="fr-CA"/>
              <a:t>Base de données Objet</a:t>
            </a:r>
          </a:p>
          <a:p>
            <a:r>
              <a:rPr lang="fr-CA"/>
              <a:t>Fin cours</a:t>
            </a:r>
          </a:p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BBEB4-C5E4-4F41-B881-7A5723B1EF51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485E-CD17-4E64-B987-D2742D3E6053}" type="slidenum">
              <a:rPr lang="en-GB"/>
              <a:pPr/>
              <a:t>4</a:t>
            </a:fld>
            <a:endParaRPr lang="en-GB"/>
          </a:p>
        </p:txBody>
      </p:sp>
      <p:sp>
        <p:nvSpPr>
          <p:cNvPr id="4044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/>
              <a:t>Introduction</a:t>
            </a:r>
            <a:endParaRPr lang="en-GB"/>
          </a:p>
        </p:txBody>
      </p:sp>
      <p:sp>
        <p:nvSpPr>
          <p:cNvPr id="4044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2400">
                <a:latin typeface="Tahoma" pitchFamily="34" charset="0"/>
                <a:cs typeface="Times New Roman" pitchFamily="18" charset="0"/>
              </a:rPr>
              <a:t>Il est possible d</a:t>
            </a:r>
            <a:r>
              <a:rPr lang="fr-CA" sz="2400">
                <a:latin typeface="Times New Roman"/>
                <a:cs typeface="Times New Roman" pitchFamily="18" charset="0"/>
              </a:rPr>
              <a:t>’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ex</a:t>
            </a:r>
            <a:r>
              <a:rPr lang="fr-CA" sz="2400">
                <a:latin typeface="Times New Roman"/>
                <a:cs typeface="Times New Roman" pitchFamily="18" charset="0"/>
              </a:rPr>
              <a:t>é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cution des commandes SQL </a:t>
            </a:r>
            <a:r>
              <a:rPr lang="fr-CA" sz="2400">
                <a:latin typeface="Times New Roman"/>
                <a:cs typeface="Times New Roman" pitchFamily="18" charset="0"/>
              </a:rPr>
              <a:t>à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 partir d</a:t>
            </a:r>
            <a:r>
              <a:rPr lang="fr-CA" sz="2400">
                <a:latin typeface="Times New Roman"/>
                <a:cs typeface="Times New Roman" pitchFamily="18" charset="0"/>
              </a:rPr>
              <a:t>’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un programme </a:t>
            </a:r>
            <a:r>
              <a:rPr lang="fr-CA" sz="2400">
                <a:latin typeface="Times New Roman"/>
                <a:cs typeface="Times New Roman" pitchFamily="18" charset="0"/>
              </a:rPr>
              <a:t>é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crit en un langage de 3eme g</a:t>
            </a:r>
            <a:r>
              <a:rPr lang="fr-CA" sz="2400">
                <a:latin typeface="Times New Roman"/>
                <a:cs typeface="Times New Roman" pitchFamily="18" charset="0"/>
              </a:rPr>
              <a:t>é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n</a:t>
            </a:r>
            <a:r>
              <a:rPr lang="fr-CA" sz="2400">
                <a:latin typeface="Times New Roman"/>
                <a:cs typeface="Times New Roman" pitchFamily="18" charset="0"/>
              </a:rPr>
              <a:t>é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ration (java par exemple)</a:t>
            </a:r>
          </a:p>
          <a:p>
            <a:r>
              <a:rPr lang="fr-CA" sz="2400">
                <a:latin typeface="Tahoma" pitchFamily="34" charset="0"/>
                <a:cs typeface="Times New Roman" pitchFamily="18" charset="0"/>
              </a:rPr>
              <a:t>Et aussi ex</a:t>
            </a:r>
            <a:r>
              <a:rPr lang="fr-CA" sz="2400">
                <a:latin typeface="Times New Roman"/>
                <a:cs typeface="Times New Roman" pitchFamily="18" charset="0"/>
              </a:rPr>
              <a:t>é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cuter du code PL/SQL dans du code java</a:t>
            </a:r>
          </a:p>
          <a:p>
            <a:r>
              <a:rPr lang="fr-CA" sz="2400">
                <a:latin typeface="Tahoma" pitchFamily="34" charset="0"/>
                <a:cs typeface="Times New Roman" pitchFamily="18" charset="0"/>
              </a:rPr>
              <a:t>Mode de fonctionnement:</a:t>
            </a:r>
          </a:p>
          <a:p>
            <a:pPr lvl="1"/>
            <a:r>
              <a:rPr lang="fr-CA" sz="2400">
                <a:latin typeface="Times New Roman"/>
                <a:cs typeface="Times New Roman" pitchFamily="18" charset="0"/>
              </a:rPr>
              <a:t>É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tablir une connexion avec la BD</a:t>
            </a:r>
            <a:endParaRPr lang="fr-CA" sz="2000">
              <a:latin typeface="Tahoma" pitchFamily="34" charset="0"/>
              <a:cs typeface="Times New Roman" pitchFamily="18" charset="0"/>
            </a:endParaRPr>
          </a:p>
          <a:p>
            <a:pPr lvl="1"/>
            <a:r>
              <a:rPr lang="fr-CA" sz="2400">
                <a:latin typeface="Tahoma" pitchFamily="34" charset="0"/>
                <a:cs typeface="Times New Roman" pitchFamily="18" charset="0"/>
              </a:rPr>
              <a:t>Envoyer les instructions SQL</a:t>
            </a:r>
          </a:p>
          <a:p>
            <a:pPr lvl="1"/>
            <a:r>
              <a:rPr lang="fr-CA" sz="2400">
                <a:latin typeface="Tahoma" pitchFamily="34" charset="0"/>
                <a:cs typeface="Times New Roman" pitchFamily="18" charset="0"/>
              </a:rPr>
              <a:t>Traiter le r</a:t>
            </a:r>
            <a:r>
              <a:rPr lang="fr-CA" sz="2400">
                <a:latin typeface="Times New Roman"/>
                <a:cs typeface="Times New Roman" pitchFamily="18" charset="0"/>
              </a:rPr>
              <a:t>é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sultat</a:t>
            </a:r>
            <a:endParaRPr lang="en-GB" sz="2400">
              <a:latin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3FCC-F86C-406C-9367-2D19E91339B7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0024-C962-44D3-87C4-5D4C7141D18A}" type="slidenum">
              <a:rPr lang="en-GB"/>
              <a:pPr/>
              <a:t>5</a:t>
            </a:fld>
            <a:endParaRPr lang="en-GB"/>
          </a:p>
        </p:txBody>
      </p:sp>
      <p:sp>
        <p:nvSpPr>
          <p:cNvPr id="4055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>
                <a:cs typeface="Times New Roman" pitchFamily="18" charset="0"/>
              </a:rPr>
              <a:t>Java + SQL</a:t>
            </a:r>
            <a:endParaRPr lang="en-GB">
              <a:cs typeface="Times New Roman" pitchFamily="18" charset="0"/>
            </a:endParaRPr>
          </a:p>
        </p:txBody>
      </p:sp>
      <p:sp>
        <p:nvSpPr>
          <p:cNvPr id="40550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2400" dirty="0">
                <a:cs typeface="Times New Roman" pitchFamily="18" charset="0"/>
              </a:rPr>
              <a:t>Package java.sql: Accès et traitement des données dans une base de données</a:t>
            </a:r>
          </a:p>
          <a:p>
            <a:r>
              <a:rPr lang="fr-CA" sz="2400" dirty="0">
                <a:cs typeface="Times New Roman" pitchFamily="18" charset="0"/>
              </a:rPr>
              <a:t>java.sql.DriverManager: gérer des sources JDBC</a:t>
            </a:r>
          </a:p>
          <a:p>
            <a:r>
              <a:rPr lang="fr-CA" sz="2400" dirty="0">
                <a:cs typeface="Times New Roman" pitchFamily="18" charset="0"/>
              </a:rPr>
              <a:t>java.sql.Connection: Spécifier la connexion à la BD</a:t>
            </a:r>
          </a:p>
          <a:p>
            <a:r>
              <a:rPr lang="fr-CA" sz="2400" dirty="0">
                <a:cs typeface="Times New Roman" pitchFamily="18" charset="0"/>
              </a:rPr>
              <a:t>java.sql.Statement: Exécuter et retourner le résultat SQL</a:t>
            </a:r>
          </a:p>
          <a:p>
            <a:endParaRPr lang="en-GB" sz="2400" dirty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BDFE-BC30-4198-8BA4-D8548664F1A8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94F1E-66D5-4B8F-939D-F37CEB85ECF2}" type="slidenum">
              <a:rPr lang="en-GB"/>
              <a:pPr/>
              <a:t>6</a:t>
            </a:fld>
            <a:endParaRPr lang="en-GB"/>
          </a:p>
        </p:txBody>
      </p:sp>
      <p:sp>
        <p:nvSpPr>
          <p:cNvPr id="390146" name="Text Box 2"/>
          <p:cNvSpPr txBox="1">
            <a:spLocks noChangeArrowheads="1"/>
          </p:cNvSpPr>
          <p:nvPr/>
        </p:nvSpPr>
        <p:spPr bwMode="auto">
          <a:xfrm>
            <a:off x="685800" y="2057400"/>
            <a:ext cx="7924800" cy="403187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fr-CA" sz="2000" dirty="0">
                <a:latin typeface="Arial" pitchFamily="34" charset="0"/>
              </a:rPr>
              <a:t>public class </a:t>
            </a:r>
            <a:r>
              <a:rPr lang="fr-CA" sz="2000" dirty="0" err="1">
                <a:latin typeface="Arial" pitchFamily="34" charset="0"/>
              </a:rPr>
              <a:t>baseDonnees</a:t>
            </a:r>
            <a:r>
              <a:rPr lang="fr-CA" sz="2000" dirty="0">
                <a:latin typeface="Arial" pitchFamily="34" charset="0"/>
              </a:rPr>
              <a:t> {</a:t>
            </a:r>
          </a:p>
          <a:p>
            <a:pPr eaLnBrk="0" hangingPunct="0">
              <a:lnSpc>
                <a:spcPct val="125000"/>
              </a:lnSpc>
            </a:pPr>
            <a:r>
              <a:rPr lang="fr-CA" sz="2000" dirty="0">
                <a:latin typeface="Arial" pitchFamily="34" charset="0"/>
              </a:rPr>
              <a:t>……………………</a:t>
            </a:r>
          </a:p>
          <a:p>
            <a:pPr>
              <a:lnSpc>
                <a:spcPct val="130000"/>
              </a:lnSpc>
            </a:pPr>
            <a:r>
              <a:rPr lang="fr-CA" sz="2000" dirty="0" err="1">
                <a:solidFill>
                  <a:schemeClr val="hlink"/>
                </a:solidFill>
                <a:latin typeface="Arial" pitchFamily="34" charset="0"/>
              </a:rPr>
              <a:t>Class.forName</a:t>
            </a:r>
            <a:r>
              <a:rPr lang="fr-CA" sz="2000" dirty="0">
                <a:latin typeface="Arial" pitchFamily="34" charset="0"/>
              </a:rPr>
              <a:t>("</a:t>
            </a:r>
            <a:r>
              <a:rPr lang="fr-CA" sz="2000" dirty="0" err="1">
                <a:latin typeface="Arial" pitchFamily="34" charset="0"/>
              </a:rPr>
              <a:t>oracle.jdbc.driver.OracleDriver</a:t>
            </a:r>
            <a:r>
              <a:rPr lang="fr-CA" sz="2000" dirty="0">
                <a:latin typeface="Arial" pitchFamily="34" charset="0"/>
              </a:rPr>
              <a:t>"); //initialisation de la connexion.</a:t>
            </a:r>
          </a:p>
          <a:p>
            <a:pPr>
              <a:lnSpc>
                <a:spcPct val="130000"/>
              </a:lnSpc>
            </a:pPr>
            <a:r>
              <a:rPr lang="fr-CA" sz="2000" dirty="0" err="1">
                <a:solidFill>
                  <a:schemeClr val="hlink"/>
                </a:solidFill>
                <a:latin typeface="Arial" pitchFamily="34" charset="0"/>
              </a:rPr>
              <a:t>DriverManager.setLogStream</a:t>
            </a:r>
            <a:r>
              <a:rPr lang="fr-CA" sz="2000" dirty="0">
                <a:latin typeface="Arial" pitchFamily="34" charset="0"/>
              </a:rPr>
              <a:t>(System.out);</a:t>
            </a:r>
          </a:p>
          <a:p>
            <a:pPr>
              <a:lnSpc>
                <a:spcPct val="130000"/>
              </a:lnSpc>
            </a:pPr>
            <a:r>
              <a:rPr lang="fr-CA" sz="2000" dirty="0" err="1">
                <a:solidFill>
                  <a:schemeClr val="hlink"/>
                </a:solidFill>
                <a:latin typeface="Arial" pitchFamily="34" charset="0"/>
              </a:rPr>
              <a:t>Connection</a:t>
            </a:r>
            <a:r>
              <a:rPr lang="fr-CA" sz="2000" dirty="0">
                <a:latin typeface="Arial" pitchFamily="34" charset="0"/>
              </a:rPr>
              <a:t> con = </a:t>
            </a:r>
            <a:r>
              <a:rPr lang="fr-CA" sz="2000" dirty="0" err="1">
                <a:latin typeface="Arial" pitchFamily="34" charset="0"/>
              </a:rPr>
              <a:t>DriverManager.getConnection</a:t>
            </a:r>
            <a:endParaRPr lang="fr-CA" sz="2000" dirty="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fr-CA" sz="2000" dirty="0">
                <a:latin typeface="Arial" pitchFamily="34" charset="0"/>
              </a:rPr>
              <a:t>("</a:t>
            </a:r>
            <a:r>
              <a:rPr lang="fr-CA" sz="2000" dirty="0" err="1">
                <a:latin typeface="Arial" pitchFamily="34" charset="0"/>
              </a:rPr>
              <a:t>jdbc:oracle:thin</a:t>
            </a:r>
            <a:r>
              <a:rPr lang="fr-CA" sz="2000" dirty="0">
                <a:latin typeface="Arial" pitchFamily="34" charset="0"/>
              </a:rPr>
              <a:t>:@</a:t>
            </a:r>
            <a:r>
              <a:rPr lang="fr-CA" sz="2000" dirty="0" smtClean="0">
                <a:latin typeface="Arial" pitchFamily="34" charset="0"/>
              </a:rPr>
              <a:t>ora.server.usegou:1521:ora", </a:t>
            </a:r>
            <a:r>
              <a:rPr lang="fr-CA" sz="2000" dirty="0">
                <a:latin typeface="Arial" pitchFamily="34" charset="0"/>
              </a:rPr>
              <a:t>login, </a:t>
            </a:r>
            <a:r>
              <a:rPr lang="fr-CA" sz="2000" dirty="0" err="1">
                <a:latin typeface="Arial" pitchFamily="34" charset="0"/>
              </a:rPr>
              <a:t>passwd</a:t>
            </a:r>
            <a:r>
              <a:rPr lang="fr-CA" sz="2000" dirty="0">
                <a:latin typeface="Arial" pitchFamily="34" charset="0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fr-CA" sz="2000" dirty="0" err="1">
                <a:solidFill>
                  <a:schemeClr val="hlink"/>
                </a:solidFill>
                <a:latin typeface="Arial" pitchFamily="34" charset="0"/>
              </a:rPr>
              <a:t>Statement</a:t>
            </a:r>
            <a:r>
              <a:rPr lang="fr-CA" sz="2000" dirty="0">
                <a:latin typeface="Arial" pitchFamily="34" charset="0"/>
              </a:rPr>
              <a:t> </a:t>
            </a:r>
            <a:r>
              <a:rPr lang="fr-CA" sz="2000" dirty="0" err="1">
                <a:latin typeface="Arial" pitchFamily="34" charset="0"/>
              </a:rPr>
              <a:t>stmt</a:t>
            </a:r>
            <a:r>
              <a:rPr lang="fr-CA" sz="2000" dirty="0">
                <a:latin typeface="Arial" pitchFamily="34" charset="0"/>
              </a:rPr>
              <a:t> = </a:t>
            </a:r>
            <a:r>
              <a:rPr lang="fr-CA" sz="2000" dirty="0" err="1">
                <a:latin typeface="Arial" pitchFamily="34" charset="0"/>
              </a:rPr>
              <a:t>con.createStatement</a:t>
            </a:r>
            <a:r>
              <a:rPr lang="fr-CA" sz="2000" dirty="0">
                <a:latin typeface="Arial" pitchFamily="34" charset="0"/>
              </a:rPr>
              <a:t>();</a:t>
            </a:r>
          </a:p>
          <a:p>
            <a:pPr eaLnBrk="0" hangingPunct="0">
              <a:lnSpc>
                <a:spcPct val="125000"/>
              </a:lnSpc>
            </a:pPr>
            <a:r>
              <a:rPr lang="fr-CA" sz="2000" dirty="0">
                <a:latin typeface="Arial" pitchFamily="34" charset="0"/>
              </a:rPr>
              <a:t>……………………………………………………….</a:t>
            </a:r>
          </a:p>
          <a:p>
            <a:pPr eaLnBrk="0" hangingPunct="0">
              <a:lnSpc>
                <a:spcPct val="125000"/>
              </a:lnSpc>
            </a:pPr>
            <a:r>
              <a:rPr lang="fr-CA" sz="2000" dirty="0">
                <a:latin typeface="Arial" pitchFamily="34" charset="0"/>
              </a:rPr>
              <a:t>}</a:t>
            </a:r>
          </a:p>
        </p:txBody>
      </p:sp>
      <p:sp>
        <p:nvSpPr>
          <p:cNvPr id="390147" name="Text Box 3"/>
          <p:cNvSpPr txBox="1">
            <a:spLocks noChangeArrowheads="1"/>
          </p:cNvSpPr>
          <p:nvPr/>
        </p:nvSpPr>
        <p:spPr bwMode="auto">
          <a:xfrm>
            <a:off x="1295400" y="914400"/>
            <a:ext cx="6172200" cy="76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fr-CA" sz="4400">
                <a:solidFill>
                  <a:schemeClr val="tx2"/>
                </a:solidFill>
                <a:latin typeface="Arial Black" pitchFamily="34" charset="0"/>
              </a:rPr>
              <a:t>Java + SQL</a:t>
            </a:r>
            <a:endParaRPr lang="fr-FR" sz="4400">
              <a:solidFill>
                <a:schemeClr val="tx2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4691-2128-4EF6-AE02-D20BF065F0D4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718A-029B-47FA-A978-A8CB02B20D77}" type="slidenum">
              <a:rPr lang="en-GB"/>
              <a:pPr/>
              <a:t>7</a:t>
            </a:fld>
            <a:endParaRPr lang="en-GB"/>
          </a:p>
        </p:txBody>
      </p:sp>
      <p:sp>
        <p:nvSpPr>
          <p:cNvPr id="392194" name="Text Box 2"/>
          <p:cNvSpPr txBox="1">
            <a:spLocks noChangeArrowheads="1"/>
          </p:cNvSpPr>
          <p:nvPr/>
        </p:nvSpPr>
        <p:spPr bwMode="auto">
          <a:xfrm>
            <a:off x="990600" y="2060575"/>
            <a:ext cx="7620000" cy="36004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fr-CA" sz="2000">
                <a:latin typeface="Tahoma" pitchFamily="34" charset="0"/>
              </a:rPr>
              <a:t>public class baseDonnees {</a:t>
            </a:r>
          </a:p>
          <a:p>
            <a:pPr eaLnBrk="0" hangingPunct="0">
              <a:lnSpc>
                <a:spcPct val="125000"/>
              </a:lnSpc>
            </a:pPr>
            <a:r>
              <a:rPr lang="fr-CA" sz="2000">
                <a:latin typeface="Times New Roman"/>
              </a:rPr>
              <a:t>……………………</a:t>
            </a:r>
            <a:endParaRPr lang="fr-CA" sz="2000">
              <a:latin typeface="Tahoma" pitchFamily="34" charset="0"/>
            </a:endParaRPr>
          </a:p>
          <a:p>
            <a:pPr>
              <a:lnSpc>
                <a:spcPct val="130000"/>
              </a:lnSpc>
            </a:pPr>
            <a:r>
              <a:rPr lang="fr-CA" sz="2000">
                <a:solidFill>
                  <a:schemeClr val="hlink"/>
                </a:solidFill>
                <a:latin typeface="Tahoma" pitchFamily="34" charset="0"/>
              </a:rPr>
              <a:t>Statement</a:t>
            </a:r>
            <a:r>
              <a:rPr lang="fr-CA" sz="2000">
                <a:latin typeface="Tahoma" pitchFamily="34" charset="0"/>
              </a:rPr>
              <a:t> stmt = con.createStatement();</a:t>
            </a:r>
          </a:p>
          <a:p>
            <a:pPr>
              <a:lnSpc>
                <a:spcPct val="130000"/>
              </a:lnSpc>
            </a:pPr>
            <a:r>
              <a:rPr lang="fr-CA" sz="2000">
                <a:latin typeface="Tahoma" pitchFamily="34" charset="0"/>
              </a:rPr>
              <a:t>stmt.executeUpdate(requête sql); //soit Insert, Update or Delete</a:t>
            </a:r>
          </a:p>
          <a:p>
            <a:pPr>
              <a:lnSpc>
                <a:spcPct val="130000"/>
              </a:lnSpc>
            </a:pPr>
            <a:endParaRPr lang="fr-CA" sz="2000">
              <a:solidFill>
                <a:schemeClr val="hlink"/>
              </a:solidFill>
              <a:latin typeface="Tahoma" pitchFamily="34" charset="0"/>
            </a:endParaRPr>
          </a:p>
          <a:p>
            <a:pPr>
              <a:lnSpc>
                <a:spcPct val="130000"/>
              </a:lnSpc>
            </a:pPr>
            <a:r>
              <a:rPr lang="fr-CA" sz="2000">
                <a:solidFill>
                  <a:schemeClr val="hlink"/>
                </a:solidFill>
                <a:latin typeface="Tahoma" pitchFamily="34" charset="0"/>
              </a:rPr>
              <a:t>ResultSet</a:t>
            </a:r>
            <a:r>
              <a:rPr lang="fr-CA" sz="2000">
                <a:latin typeface="Tahoma" pitchFamily="34" charset="0"/>
              </a:rPr>
              <a:t> rs =stmt.executeQuery (requête sql); //les requêtes SQL DML</a:t>
            </a:r>
          </a:p>
          <a:p>
            <a:pPr eaLnBrk="0" hangingPunct="0">
              <a:lnSpc>
                <a:spcPct val="125000"/>
              </a:lnSpc>
            </a:pPr>
            <a:r>
              <a:rPr lang="fr-CA" sz="2000">
                <a:latin typeface="Times New Roman"/>
              </a:rPr>
              <a:t>………………………………………………………</a:t>
            </a:r>
            <a:r>
              <a:rPr lang="fr-CA" sz="2000">
                <a:latin typeface="Tahoma" pitchFamily="34" charset="0"/>
              </a:rPr>
              <a:t>.</a:t>
            </a:r>
          </a:p>
          <a:p>
            <a:pPr eaLnBrk="0" hangingPunct="0">
              <a:lnSpc>
                <a:spcPct val="125000"/>
              </a:lnSpc>
            </a:pPr>
            <a:r>
              <a:rPr lang="fr-CA" sz="2000">
                <a:latin typeface="Tahoma" pitchFamily="34" charset="0"/>
              </a:rPr>
              <a:t>}</a:t>
            </a:r>
          </a:p>
        </p:txBody>
      </p:sp>
      <p:sp>
        <p:nvSpPr>
          <p:cNvPr id="392195" name="Text Box 3"/>
          <p:cNvSpPr txBox="1">
            <a:spLocks noChangeArrowheads="1"/>
          </p:cNvSpPr>
          <p:nvPr/>
        </p:nvSpPr>
        <p:spPr bwMode="auto">
          <a:xfrm>
            <a:off x="1295400" y="914400"/>
            <a:ext cx="5410200" cy="76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fr-CA" sz="4400">
                <a:solidFill>
                  <a:schemeClr val="tx2"/>
                </a:solidFill>
                <a:latin typeface="Arial Black" pitchFamily="34" charset="0"/>
              </a:rPr>
              <a:t>Java + SQL</a:t>
            </a:r>
            <a:endParaRPr lang="fr-FR" sz="4400">
              <a:solidFill>
                <a:schemeClr val="tx2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500AC-14C3-4AE6-A435-6A6DD5AB5F80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A0D6-9AAB-4507-BAE7-DD967C193D27}" type="slidenum">
              <a:rPr lang="en-GB"/>
              <a:pPr/>
              <a:t>8</a:t>
            </a:fld>
            <a:endParaRPr lang="en-GB"/>
          </a:p>
        </p:txBody>
      </p:sp>
      <p:sp>
        <p:nvSpPr>
          <p:cNvPr id="4065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/>
              <a:t>Java + SQL</a:t>
            </a:r>
            <a:endParaRPr lang="en-GB"/>
          </a:p>
        </p:txBody>
      </p:sp>
      <p:sp>
        <p:nvSpPr>
          <p:cNvPr id="4065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114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ResultSet rs = stmt.executeQuery("select * from client"); //D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finition de la requête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ResultSetMetaData rsmd = rs.getMetaData();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int numCols = rsmd.getColumnCount(); //Le nombre de colonnes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boolean more = rs.next();      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//Parcours des colonnes pour afficher leur labels ainsi que les valeurs et ceci pour chaque enregistrement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while (more) {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	for (i=1; i&lt;=numCols; i++)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        {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          rsmd.getColumnLabel(i);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          rs.getString(i);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  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        more = rs.next(); //passage au prochain enregistrement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      }</a:t>
            </a:r>
            <a:endParaRPr lang="en-GB" sz="2000">
              <a:latin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98DA-F019-44C6-BB31-709113278AE5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686D-D1DE-4ABE-90F6-CC717BF640D3}" type="slidenum">
              <a:rPr lang="en-GB"/>
              <a:pPr/>
              <a:t>9</a:t>
            </a:fld>
            <a:endParaRPr lang="en-GB"/>
          </a:p>
        </p:txBody>
      </p:sp>
      <p:sp>
        <p:nvSpPr>
          <p:cNvPr id="407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/>
              <a:t>Java + SQL</a:t>
            </a:r>
            <a:endParaRPr lang="en-GB"/>
          </a:p>
        </p:txBody>
      </p:sp>
      <p:sp>
        <p:nvSpPr>
          <p:cNvPr id="40755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2400">
                <a:latin typeface="Tahoma" pitchFamily="34" charset="0"/>
                <a:cs typeface="Times New Roman" pitchFamily="18" charset="0"/>
              </a:rPr>
              <a:t>Toutes les commandes de BD sont entre un try-catch (Exception e)</a:t>
            </a:r>
          </a:p>
          <a:p>
            <a:r>
              <a:rPr lang="fr-CA" sz="2400">
                <a:latin typeface="Tahoma" pitchFamily="34" charset="0"/>
                <a:cs typeface="Times New Roman" pitchFamily="18" charset="0"/>
              </a:rPr>
              <a:t>java.sql.ResultSet: le r</a:t>
            </a:r>
            <a:r>
              <a:rPr lang="fr-CA" sz="2400">
                <a:latin typeface="Times New Roman"/>
                <a:cs typeface="Times New Roman" pitchFamily="18" charset="0"/>
              </a:rPr>
              <a:t>é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sultat d</a:t>
            </a:r>
            <a:r>
              <a:rPr lang="fr-CA" sz="2400">
                <a:latin typeface="Times New Roman"/>
                <a:cs typeface="Times New Roman" pitchFamily="18" charset="0"/>
              </a:rPr>
              <a:t>’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une requête</a:t>
            </a:r>
          </a:p>
          <a:p>
            <a:r>
              <a:rPr lang="fr-CA" sz="2400">
                <a:latin typeface="Tahoma" pitchFamily="34" charset="0"/>
                <a:cs typeface="Times New Roman" pitchFamily="18" charset="0"/>
              </a:rPr>
              <a:t>i = le num</a:t>
            </a:r>
            <a:r>
              <a:rPr lang="fr-CA" sz="2400">
                <a:latin typeface="Times New Roman"/>
                <a:cs typeface="Times New Roman" pitchFamily="18" charset="0"/>
              </a:rPr>
              <a:t>é</a:t>
            </a:r>
            <a:r>
              <a:rPr lang="fr-CA" sz="2400">
                <a:latin typeface="Tahoma" pitchFamily="34" charset="0"/>
                <a:cs typeface="Times New Roman" pitchFamily="18" charset="0"/>
              </a:rPr>
              <a:t>ro de la colonne</a:t>
            </a:r>
          </a:p>
          <a:p>
            <a:r>
              <a:rPr lang="fr-CA" sz="2400">
                <a:latin typeface="Tahoma" pitchFamily="34" charset="0"/>
                <a:cs typeface="Times New Roman" pitchFamily="18" charset="0"/>
              </a:rPr>
              <a:t>next ( ) : avancer dans les tuples</a:t>
            </a:r>
          </a:p>
          <a:p>
            <a:endParaRPr lang="en-GB" sz="2400">
              <a:latin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4E8D8-8C0F-4FB1-B835-73816CB9D39C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179AA-CE92-4BC3-A9BC-2B9AA8D977BB}" type="slidenum">
              <a:rPr lang="en-GB"/>
              <a:pPr/>
              <a:t>10</a:t>
            </a:fld>
            <a:endParaRPr lang="en-GB"/>
          </a:p>
        </p:txBody>
      </p:sp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/>
              <a:t>Java +PL/SQL</a:t>
            </a:r>
            <a:endParaRPr lang="en-GB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2400">
                <a:latin typeface="Tahoma" pitchFamily="34" charset="0"/>
                <a:cs typeface="Times New Roman" pitchFamily="18" charset="0"/>
              </a:rPr>
              <a:t>PL/SQL</a:t>
            </a:r>
          </a:p>
          <a:p>
            <a:pPr lvl="1"/>
            <a:r>
              <a:rPr lang="fr-CA" sz="1800">
                <a:latin typeface="Tahoma" pitchFamily="34" charset="0"/>
                <a:cs typeface="Times New Roman" pitchFamily="18" charset="0"/>
              </a:rPr>
              <a:t>PL/SQL est destin</a:t>
            </a:r>
            <a:r>
              <a:rPr lang="fr-CA" sz="1800">
                <a:latin typeface="Times New Roman"/>
                <a:cs typeface="Times New Roman" pitchFamily="18" charset="0"/>
              </a:rPr>
              <a:t>é</a:t>
            </a:r>
            <a:r>
              <a:rPr lang="fr-CA" sz="1800">
                <a:latin typeface="Tahoma" pitchFamily="34" charset="0"/>
                <a:cs typeface="Times New Roman" pitchFamily="18" charset="0"/>
              </a:rPr>
              <a:t> aux d</a:t>
            </a:r>
            <a:r>
              <a:rPr lang="fr-CA" sz="1800">
                <a:latin typeface="Times New Roman"/>
                <a:cs typeface="Times New Roman" pitchFamily="18" charset="0"/>
              </a:rPr>
              <a:t>é</a:t>
            </a:r>
            <a:r>
              <a:rPr lang="fr-CA" sz="1800">
                <a:latin typeface="Tahoma" pitchFamily="34" charset="0"/>
                <a:cs typeface="Times New Roman" pitchFamily="18" charset="0"/>
              </a:rPr>
              <a:t>veloppeurs Oracle</a:t>
            </a:r>
          </a:p>
          <a:p>
            <a:pPr lvl="1"/>
            <a:r>
              <a:rPr lang="fr-CA" sz="1800">
                <a:latin typeface="Tahoma" pitchFamily="34" charset="0"/>
                <a:cs typeface="Times New Roman" pitchFamily="18" charset="0"/>
              </a:rPr>
              <a:t>PL/SQL est non portable </a:t>
            </a:r>
            <a:r>
              <a:rPr lang="fr-CA" sz="1800">
                <a:latin typeface="Times New Roman"/>
                <a:cs typeface="Times New Roman" pitchFamily="18" charset="0"/>
              </a:rPr>
              <a:t>à</a:t>
            </a:r>
            <a:r>
              <a:rPr lang="fr-CA" sz="1800">
                <a:latin typeface="Tahoma" pitchFamily="34" charset="0"/>
                <a:cs typeface="Times New Roman" pitchFamily="18" charset="0"/>
              </a:rPr>
              <a:t> d</a:t>
            </a:r>
            <a:r>
              <a:rPr lang="fr-CA" sz="1800">
                <a:latin typeface="Times New Roman"/>
                <a:cs typeface="Times New Roman" pitchFamily="18" charset="0"/>
              </a:rPr>
              <a:t>’</a:t>
            </a:r>
            <a:r>
              <a:rPr lang="fr-CA" sz="1800">
                <a:latin typeface="Tahoma" pitchFamily="34" charset="0"/>
                <a:cs typeface="Times New Roman" pitchFamily="18" charset="0"/>
              </a:rPr>
              <a:t>autres SGBDs</a:t>
            </a:r>
          </a:p>
          <a:p>
            <a:pPr lvl="1"/>
            <a:r>
              <a:rPr lang="fr-CA" sz="1800">
                <a:latin typeface="Tahoma" pitchFamily="34" charset="0"/>
                <a:cs typeface="Times New Roman" pitchFamily="18" charset="0"/>
              </a:rPr>
              <a:t>Il est plus facile </a:t>
            </a:r>
            <a:r>
              <a:rPr lang="fr-CA" sz="1800">
                <a:latin typeface="Times New Roman"/>
                <a:cs typeface="Times New Roman" pitchFamily="18" charset="0"/>
              </a:rPr>
              <a:t>à</a:t>
            </a:r>
            <a:r>
              <a:rPr lang="fr-CA" sz="1800">
                <a:latin typeface="Tahoma" pitchFamily="34" charset="0"/>
                <a:cs typeface="Times New Roman" pitchFamily="18" charset="0"/>
              </a:rPr>
              <a:t> manipuler que Java (proche de la BD)</a:t>
            </a:r>
          </a:p>
          <a:p>
            <a:r>
              <a:rPr lang="fr-CA" sz="2400">
                <a:latin typeface="Tahoma" pitchFamily="34" charset="0"/>
                <a:cs typeface="Times New Roman" pitchFamily="18" charset="0"/>
              </a:rPr>
              <a:t>Java</a:t>
            </a:r>
          </a:p>
          <a:p>
            <a:pPr lvl="1"/>
            <a:r>
              <a:rPr lang="fr-CA" sz="2000">
                <a:latin typeface="Tahoma" pitchFamily="34" charset="0"/>
                <a:cs typeface="Times New Roman" pitchFamily="18" charset="0"/>
              </a:rPr>
              <a:t>Java est non propri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taire </a:t>
            </a:r>
            <a:r>
              <a:rPr lang="fr-CA" sz="2000">
                <a:latin typeface="Times New Roman"/>
                <a:cs typeface="Times New Roman" pitchFamily="18" charset="0"/>
              </a:rPr>
              <a:t>à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 Oracle</a:t>
            </a:r>
          </a:p>
          <a:p>
            <a:pPr lvl="1"/>
            <a:r>
              <a:rPr lang="fr-CA" sz="2000">
                <a:latin typeface="Tahoma" pitchFamily="34" charset="0"/>
                <a:cs typeface="Times New Roman" pitchFamily="18" charset="0"/>
              </a:rPr>
              <a:t>Java offre des conversions de donn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es SQL ou PL/SQL avec des types Java</a:t>
            </a:r>
          </a:p>
          <a:p>
            <a:pPr lvl="1"/>
            <a:r>
              <a:rPr lang="fr-CA" sz="2000">
                <a:latin typeface="Tahoma" pitchFamily="34" charset="0"/>
                <a:cs typeface="Times New Roman" pitchFamily="18" charset="0"/>
              </a:rPr>
              <a:t>Plus difficile que PL/SQL (cr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ation de classes, h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ritage, agr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gation, etc)</a:t>
            </a:r>
          </a:p>
          <a:p>
            <a:pPr lvl="1"/>
            <a:r>
              <a:rPr lang="fr-CA" sz="2000">
                <a:latin typeface="Tahoma" pitchFamily="34" charset="0"/>
                <a:cs typeface="Times New Roman" pitchFamily="18" charset="0"/>
              </a:rPr>
              <a:t>Permet une ouverture de la BD </a:t>
            </a:r>
            <a:r>
              <a:rPr lang="fr-CA" sz="2000">
                <a:latin typeface="Times New Roman"/>
                <a:cs typeface="Times New Roman" pitchFamily="18" charset="0"/>
              </a:rPr>
              <a:t>à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 d</a:t>
            </a:r>
            <a:r>
              <a:rPr lang="fr-CA" sz="2000">
                <a:latin typeface="Times New Roman"/>
                <a:cs typeface="Times New Roman" pitchFamily="18" charset="0"/>
              </a:rPr>
              <a:t>’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autres applications</a:t>
            </a:r>
            <a:endParaRPr lang="en-GB" sz="2000">
              <a:latin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C49C-D4AA-48CE-ABC1-78C86141CB28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BBA2-32C6-4332-AB9F-57E306B918C4}" type="slidenum">
              <a:rPr lang="en-GB"/>
              <a:pPr/>
              <a:t>11</a:t>
            </a:fld>
            <a:endParaRPr lang="en-GB"/>
          </a:p>
        </p:txBody>
      </p:sp>
      <p:sp>
        <p:nvSpPr>
          <p:cNvPr id="399362" name="Text Box 2"/>
          <p:cNvSpPr txBox="1">
            <a:spLocks noChangeArrowheads="1"/>
          </p:cNvSpPr>
          <p:nvPr/>
        </p:nvSpPr>
        <p:spPr bwMode="auto">
          <a:xfrm>
            <a:off x="1295400" y="914400"/>
            <a:ext cx="5867400" cy="76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fr-CA" sz="4400">
                <a:solidFill>
                  <a:schemeClr val="tx2"/>
                </a:solidFill>
                <a:latin typeface="Arial Black" pitchFamily="34" charset="0"/>
              </a:rPr>
              <a:t>Java + PL/SQL</a:t>
            </a:r>
            <a:endParaRPr lang="fr-FR" sz="4400">
              <a:solidFill>
                <a:schemeClr val="tx2"/>
              </a:solidFill>
              <a:latin typeface="Arial Black" pitchFamily="34" charset="0"/>
            </a:endParaRPr>
          </a:p>
        </p:txBody>
      </p:sp>
      <p:sp>
        <p:nvSpPr>
          <p:cNvPr id="399363" name="Text Box 3"/>
          <p:cNvSpPr txBox="1">
            <a:spLocks noChangeArrowheads="1"/>
          </p:cNvSpPr>
          <p:nvPr/>
        </p:nvSpPr>
        <p:spPr bwMode="auto">
          <a:xfrm>
            <a:off x="365125" y="1954213"/>
            <a:ext cx="1841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/>
            <a:endParaRPr lang="fr-CA">
              <a:solidFill>
                <a:srgbClr val="FF9900"/>
              </a:solidFill>
              <a:latin typeface="Arial Black" pitchFamily="34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87450" y="2349500"/>
            <a:ext cx="5905500" cy="3744913"/>
            <a:chOff x="748" y="1480"/>
            <a:chExt cx="3720" cy="2359"/>
          </a:xfrm>
        </p:grpSpPr>
        <p:sp>
          <p:nvSpPr>
            <p:cNvPr id="399365" name="Text Box 5"/>
            <p:cNvSpPr txBox="1">
              <a:spLocks noChangeArrowheads="1"/>
            </p:cNvSpPr>
            <p:nvPr/>
          </p:nvSpPr>
          <p:spPr bwMode="auto">
            <a:xfrm>
              <a:off x="748" y="1944"/>
              <a:ext cx="817" cy="2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fr-CA" dirty="0" err="1">
                  <a:latin typeface="Tahoma" pitchFamily="34" charset="0"/>
                </a:rPr>
                <a:t>CodeJava</a:t>
              </a:r>
              <a:endParaRPr lang="fr-CA" dirty="0">
                <a:latin typeface="Tahoma" pitchFamily="34" charset="0"/>
              </a:endParaRPr>
            </a:p>
          </p:txBody>
        </p:sp>
        <p:sp>
          <p:nvSpPr>
            <p:cNvPr id="399366" name="AutoShape 6"/>
            <p:cNvSpPr>
              <a:spLocks noChangeArrowheads="1"/>
            </p:cNvSpPr>
            <p:nvPr/>
          </p:nvSpPr>
          <p:spPr bwMode="auto">
            <a:xfrm>
              <a:off x="3651" y="1480"/>
              <a:ext cx="817" cy="998"/>
            </a:xfrm>
            <a:prstGeom prst="can">
              <a:avLst>
                <a:gd name="adj" fmla="val 3053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fr-CA">
                  <a:latin typeface="Tahoma" pitchFamily="34" charset="0"/>
                </a:rPr>
                <a:t>Oracle</a:t>
              </a:r>
            </a:p>
          </p:txBody>
        </p:sp>
        <p:sp>
          <p:nvSpPr>
            <p:cNvPr id="399367" name="AutoShape 7"/>
            <p:cNvSpPr>
              <a:spLocks noChangeArrowheads="1"/>
            </p:cNvSpPr>
            <p:nvPr/>
          </p:nvSpPr>
          <p:spPr bwMode="auto">
            <a:xfrm>
              <a:off x="1565" y="1888"/>
              <a:ext cx="1905" cy="363"/>
            </a:xfrm>
            <a:prstGeom prst="leftRightArrow">
              <a:avLst>
                <a:gd name="adj1" fmla="val 50000"/>
                <a:gd name="adj2" fmla="val 10495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368" name="AutoShape 8"/>
            <p:cNvSpPr>
              <a:spLocks noChangeArrowheads="1"/>
            </p:cNvSpPr>
            <p:nvPr/>
          </p:nvSpPr>
          <p:spPr bwMode="auto">
            <a:xfrm>
              <a:off x="1973" y="3022"/>
              <a:ext cx="1225" cy="817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fr-CA">
                  <a:latin typeface="Tahoma" pitchFamily="34" charset="0"/>
                </a:rPr>
                <a:t>Biblioth</a:t>
              </a:r>
              <a:r>
                <a:rPr lang="fr-CA">
                  <a:latin typeface="Times New Roman"/>
                </a:rPr>
                <a:t>è</a:t>
              </a:r>
              <a:r>
                <a:rPr lang="fr-CA">
                  <a:latin typeface="Tahoma" pitchFamily="34" charset="0"/>
                </a:rPr>
                <a:t>ques</a:t>
              </a:r>
            </a:p>
            <a:p>
              <a:pPr algn="ctr"/>
              <a:r>
                <a:rPr lang="fr-CA">
                  <a:latin typeface="Tahoma" pitchFamily="34" charset="0"/>
                </a:rPr>
                <a:t>Java</a:t>
              </a:r>
            </a:p>
          </p:txBody>
        </p:sp>
        <p:sp>
          <p:nvSpPr>
            <p:cNvPr id="399369" name="Line 9"/>
            <p:cNvSpPr>
              <a:spLocks noChangeShapeType="1"/>
            </p:cNvSpPr>
            <p:nvPr/>
          </p:nvSpPr>
          <p:spPr bwMode="auto">
            <a:xfrm>
              <a:off x="2562" y="2160"/>
              <a:ext cx="0" cy="90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miter lim="800000"/>
              <a:headEnd type="triangle" w="med" len="med"/>
              <a:tailEnd/>
            </a:ln>
            <a:effectLst/>
          </p:spPr>
          <p:txBody>
            <a:bodyPr wrap="none"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8CFFC-A2F5-4997-8D75-5D196BDFBBEF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98F1-68D6-4232-9E35-0BC74CDED9E8}" type="slidenum">
              <a:rPr lang="en-GB"/>
              <a:pPr/>
              <a:t>12</a:t>
            </a:fld>
            <a:endParaRPr lang="en-GB"/>
          </a:p>
        </p:txBody>
      </p:sp>
      <p:sp>
        <p:nvSpPr>
          <p:cNvPr id="4096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>
                <a:cs typeface="Times New Roman" pitchFamily="18" charset="0"/>
              </a:rPr>
              <a:t>Java + PL/SQL</a:t>
            </a:r>
            <a:endParaRPr lang="en-GB">
              <a:cs typeface="Times New Roman" pitchFamily="18" charset="0"/>
            </a:endParaRPr>
          </a:p>
        </p:txBody>
      </p:sp>
      <p:sp>
        <p:nvSpPr>
          <p:cNvPr id="40960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2000">
                <a:latin typeface="Tahoma" pitchFamily="34" charset="0"/>
                <a:cs typeface="Times New Roman" pitchFamily="18" charset="0"/>
              </a:rPr>
              <a:t>java.sql.Statement : Ex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cuter du SQL et r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cup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rer le r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sultat de l</a:t>
            </a:r>
            <a:r>
              <a:rPr lang="fr-CA" sz="2000">
                <a:latin typeface="Times New Roman"/>
                <a:cs typeface="Times New Roman" pitchFamily="18" charset="0"/>
              </a:rPr>
              <a:t>’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ex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cution</a:t>
            </a:r>
          </a:p>
          <a:p>
            <a:r>
              <a:rPr lang="fr-CA" sz="2000">
                <a:latin typeface="Tahoma" pitchFamily="34" charset="0"/>
                <a:cs typeface="Times New Roman" pitchFamily="18" charset="0"/>
              </a:rPr>
              <a:t>java.sql.CallableStatement : Ex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cution de proc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dures SQL stock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es, donc du code PL/SQL</a:t>
            </a:r>
          </a:p>
          <a:p>
            <a:pPr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    </a:t>
            </a:r>
          </a:p>
          <a:p>
            <a:pPr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    stmt.execute ("create or replace function RAISESAL (name CHAR, raise NUMBER)return NUMBER is begin return raise + 100000; end;");</a:t>
            </a:r>
          </a:p>
          <a:p>
            <a:pPr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    </a:t>
            </a:r>
          </a:p>
          <a:p>
            <a:pPr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    CallableStatement cstmt = conn.prepareCall("{? = call RAISESAL (?, ?)}"); //Pr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parer l'appel a la fonction    </a:t>
            </a:r>
          </a:p>
          <a:p>
            <a:endParaRPr lang="en-GB" sz="2000">
              <a:latin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FADD8-0374-4716-84B9-9256751A7ED0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F78DF-A4E2-4296-992F-6200ED73D961}" type="slidenum">
              <a:rPr lang="en-GB"/>
              <a:pPr/>
              <a:t>13</a:t>
            </a:fld>
            <a:endParaRPr lang="en-GB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/>
              <a:t>Java + PL/SQL</a:t>
            </a:r>
            <a:endParaRPr lang="en-GB"/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cstmt.registerOutParameter (1, Types.INTEGER);//identification de l'index de la valeur de retour ainsi que son type</a:t>
            </a:r>
          </a:p>
          <a:p>
            <a:pPr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endParaRPr lang="fr-CA" sz="2000">
              <a:latin typeface="Tahoma" pitchFamily="34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cstmt.setString (2, nomPersonne);//identification du 1er param</a:t>
            </a:r>
            <a:r>
              <a:rPr lang="fr-CA" sz="2000">
                <a:latin typeface="Times New Roman"/>
                <a:cs typeface="Times New Roman" pitchFamily="18" charset="0"/>
              </a:rPr>
              <a:t>è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tre</a:t>
            </a:r>
          </a:p>
          <a:p>
            <a:pPr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endParaRPr lang="fr-CA" sz="2000">
              <a:latin typeface="Tahoma" pitchFamily="34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cstmt.setInt (3, salaire);//identification du 2eme param</a:t>
            </a:r>
            <a:r>
              <a:rPr lang="fr-CA" sz="2000">
                <a:latin typeface="Times New Roman"/>
                <a:cs typeface="Times New Roman" pitchFamily="18" charset="0"/>
              </a:rPr>
              <a:t>è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tre</a:t>
            </a:r>
          </a:p>
          <a:p>
            <a:pPr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endParaRPr lang="fr-CA" sz="2000">
              <a:latin typeface="Tahoma" pitchFamily="34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ResultSet rs1 = cstmt.executeQuery();//ex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cution de la proc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dure</a:t>
            </a:r>
          </a:p>
          <a:p>
            <a:pPr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endParaRPr lang="fr-CA" sz="2000">
              <a:latin typeface="Tahoma" pitchFamily="34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SzTx/>
              <a:buFontTx/>
              <a:buNone/>
            </a:pPr>
            <a:r>
              <a:rPr lang="fr-CA" sz="2000">
                <a:latin typeface="Tahoma" pitchFamily="34" charset="0"/>
                <a:cs typeface="Times New Roman" pitchFamily="18" charset="0"/>
              </a:rPr>
              <a:t>nom1.setText(Integer.toString(cstmt.getInt(1)));//r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cup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rer le r</a:t>
            </a:r>
            <a:r>
              <a:rPr lang="fr-CA" sz="2000">
                <a:latin typeface="Times New Roman"/>
                <a:cs typeface="Times New Roman" pitchFamily="18" charset="0"/>
              </a:rPr>
              <a:t>é</a:t>
            </a:r>
            <a:r>
              <a:rPr lang="fr-CA" sz="2000">
                <a:latin typeface="Tahoma" pitchFamily="34" charset="0"/>
                <a:cs typeface="Times New Roman" pitchFamily="18" charset="0"/>
              </a:rPr>
              <a:t>sultat de la fonction</a:t>
            </a:r>
            <a:endParaRPr lang="en-GB" sz="2000">
              <a:latin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9F4-5B9E-4705-BF96-C6B9E87A7FFB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006A-2E3B-4EE0-8122-EC64831A26A6}" type="slidenum">
              <a:rPr lang="en-GB"/>
              <a:pPr/>
              <a:t>14</a:t>
            </a:fld>
            <a:endParaRPr lang="en-GB"/>
          </a:p>
        </p:txBody>
      </p:sp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/>
              <a:t>Plan</a:t>
            </a:r>
            <a:endParaRPr lang="en-GB"/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Interface entre un L3G et SGBD (java et Oracle)</a:t>
            </a:r>
          </a:p>
          <a:p>
            <a:r>
              <a:rPr lang="fr-CA">
                <a:solidFill>
                  <a:schemeClr val="tx2"/>
                </a:solidFill>
              </a:rPr>
              <a:t>SGBD sur le marché</a:t>
            </a:r>
          </a:p>
          <a:p>
            <a:r>
              <a:rPr lang="fr-CA"/>
              <a:t>DataWarehouse</a:t>
            </a:r>
          </a:p>
          <a:p>
            <a:r>
              <a:rPr lang="fr-CA"/>
              <a:t>Base de données Objet</a:t>
            </a:r>
          </a:p>
          <a:p>
            <a:r>
              <a:rPr lang="fr-CA"/>
              <a:t>Fin cours</a:t>
            </a:r>
          </a:p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A693-73EE-4A68-8BE1-A9021E3C3312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F461-2377-4C56-B81B-695CAB34638B}" type="slidenum">
              <a:rPr lang="en-GB"/>
              <a:pPr/>
              <a:t>15</a:t>
            </a:fld>
            <a:endParaRPr lang="en-GB"/>
          </a:p>
        </p:txBody>
      </p:sp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>
                <a:cs typeface="Times New Roman" pitchFamily="18" charset="0"/>
              </a:rPr>
              <a:t>Les SGBD sur le marché</a:t>
            </a:r>
            <a:endParaRPr lang="en-GB">
              <a:cs typeface="Times New Roman" pitchFamily="18" charset="0"/>
            </a:endParaRP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800" dirty="0">
                <a:cs typeface="Times New Roman" pitchFamily="18" charset="0"/>
              </a:rPr>
              <a:t>Oracle : Oracle</a:t>
            </a:r>
          </a:p>
          <a:p>
            <a:r>
              <a:rPr lang="fr-FR" sz="2800" dirty="0">
                <a:cs typeface="Times New Roman" pitchFamily="18" charset="0"/>
              </a:rPr>
              <a:t>SQL Server : </a:t>
            </a:r>
            <a:r>
              <a:rPr lang="fr-FR" sz="2800" dirty="0" smtClean="0">
                <a:cs typeface="Times New Roman" pitchFamily="18" charset="0"/>
              </a:rPr>
              <a:t>Microsoft</a:t>
            </a:r>
          </a:p>
          <a:p>
            <a:r>
              <a:rPr lang="fr-FR" sz="2800" dirty="0" smtClean="0">
                <a:cs typeface="Times New Roman" pitchFamily="18" charset="0"/>
              </a:rPr>
              <a:t>MySQL: Open source</a:t>
            </a:r>
            <a:endParaRPr lang="fr-FR" sz="2800" dirty="0">
              <a:cs typeface="Times New Roman" pitchFamily="18" charset="0"/>
            </a:endParaRPr>
          </a:p>
          <a:p>
            <a:r>
              <a:rPr lang="fr-FR" sz="2800" dirty="0">
                <a:cs typeface="Times New Roman" pitchFamily="18" charset="0"/>
              </a:rPr>
              <a:t>DB2 : IBM</a:t>
            </a:r>
          </a:p>
          <a:p>
            <a:r>
              <a:rPr lang="fr-FR" sz="2800" dirty="0" err="1">
                <a:cs typeface="Times New Roman" pitchFamily="18" charset="0"/>
              </a:rPr>
              <a:t>Informix</a:t>
            </a:r>
            <a:r>
              <a:rPr lang="fr-FR" sz="2800" dirty="0">
                <a:cs typeface="Times New Roman" pitchFamily="18" charset="0"/>
              </a:rPr>
              <a:t> : IBM</a:t>
            </a:r>
          </a:p>
          <a:p>
            <a:r>
              <a:rPr lang="fr-FR" sz="2800" dirty="0">
                <a:cs typeface="Times New Roman" pitchFamily="18" charset="0"/>
              </a:rPr>
              <a:t>Ingres: Computer Associates</a:t>
            </a:r>
          </a:p>
          <a:p>
            <a:r>
              <a:rPr lang="fr-FR" sz="2800" dirty="0">
                <a:cs typeface="Times New Roman" pitchFamily="18" charset="0"/>
              </a:rPr>
              <a:t>Adaptative Server Entreprise: Sybase</a:t>
            </a:r>
          </a:p>
          <a:p>
            <a:r>
              <a:rPr lang="fr-FR" sz="2800" dirty="0">
                <a:cs typeface="Times New Roman" pitchFamily="18" charset="0"/>
              </a:rPr>
              <a:t>Les trois premiers sont le plus présents sur le marché</a:t>
            </a:r>
            <a:endParaRPr lang="en-GB" sz="2800" dirty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6DFF-1EFE-4664-9D70-71EAA3AFA6B9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E198E-D3D8-4B2D-B866-D2B6C801E264}" type="slidenum">
              <a:rPr lang="en-GB"/>
              <a:pPr/>
              <a:t>16</a:t>
            </a:fld>
            <a:endParaRPr lang="en-GB"/>
          </a:p>
        </p:txBody>
      </p:sp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>
                <a:cs typeface="Times New Roman" pitchFamily="18" charset="0"/>
              </a:rPr>
              <a:t>Les SGBD sur le marché</a:t>
            </a:r>
            <a:endParaRPr lang="en-GB">
              <a:cs typeface="Times New Roman" pitchFamily="18" charset="0"/>
            </a:endParaRP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fr-FR" sz="2800">
                <a:cs typeface="Times New Roman" pitchFamily="18" charset="0"/>
              </a:rPr>
              <a:t>Paramètres  de comparaison: application et technologie</a:t>
            </a:r>
          </a:p>
          <a:p>
            <a:pPr>
              <a:lnSpc>
                <a:spcPct val="90000"/>
              </a:lnSpc>
            </a:pPr>
            <a:r>
              <a:rPr lang="fr-FR" sz="2800">
                <a:cs typeface="Times New Roman" pitchFamily="18" charset="0"/>
              </a:rPr>
              <a:t>Application:</a:t>
            </a:r>
          </a:p>
          <a:p>
            <a:pPr lvl="1">
              <a:lnSpc>
                <a:spcPct val="90000"/>
              </a:lnSpc>
            </a:pPr>
            <a:r>
              <a:rPr lang="fr-FR">
                <a:cs typeface="Times New Roman" pitchFamily="18" charset="0"/>
              </a:rPr>
              <a:t>traitements intelligents (Business Intelligence): extraction d’information</a:t>
            </a:r>
          </a:p>
          <a:p>
            <a:pPr lvl="1">
              <a:lnSpc>
                <a:spcPct val="90000"/>
              </a:lnSpc>
            </a:pPr>
            <a:r>
              <a:rPr lang="fr-FR">
                <a:cs typeface="Times New Roman" pitchFamily="18" charset="0"/>
              </a:rPr>
              <a:t>applications complexes (Complex Applications): tels que gestion financière</a:t>
            </a:r>
          </a:p>
          <a:p>
            <a:pPr lvl="1">
              <a:lnSpc>
                <a:spcPct val="90000"/>
              </a:lnSpc>
            </a:pPr>
            <a:r>
              <a:rPr lang="fr-FR">
                <a:cs typeface="Times New Roman" pitchFamily="18" charset="0"/>
              </a:rPr>
              <a:t>Types de données (Content Services): musique, xml, html, etc…</a:t>
            </a:r>
            <a:endParaRPr lang="en-GB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2654-D3CD-4745-834B-078F945719D1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077D1-1905-4B4E-BE36-CCA1BF814E5E}" type="slidenum">
              <a:rPr lang="en-GB"/>
              <a:pPr/>
              <a:t>17</a:t>
            </a:fld>
            <a:endParaRPr lang="en-GB"/>
          </a:p>
        </p:txBody>
      </p:sp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>
                <a:cs typeface="Times New Roman" pitchFamily="18" charset="0"/>
              </a:rPr>
              <a:t>Les SGBD sur le marché</a:t>
            </a:r>
            <a:endParaRPr lang="en-GB">
              <a:cs typeface="Times New Roman" pitchFamily="18" charset="0"/>
            </a:endParaRPr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800">
                <a:cs typeface="Times New Roman" pitchFamily="18" charset="0"/>
              </a:rPr>
              <a:t>Application:</a:t>
            </a:r>
          </a:p>
          <a:p>
            <a:pPr lvl="1"/>
            <a:r>
              <a:rPr lang="fr-FR">
                <a:cs typeface="Times New Roman" pitchFamily="18" charset="0"/>
              </a:rPr>
              <a:t>E-commerce</a:t>
            </a:r>
          </a:p>
          <a:p>
            <a:pPr lvl="1"/>
            <a:r>
              <a:rPr lang="fr-FR">
                <a:cs typeface="Times New Roman" pitchFamily="18" charset="0"/>
              </a:rPr>
              <a:t>M-commerce: applications mobiles</a:t>
            </a:r>
          </a:p>
          <a:p>
            <a:pPr lvl="1"/>
            <a:r>
              <a:rPr lang="fr-FR">
                <a:cs typeface="Times New Roman" pitchFamily="18" charset="0"/>
              </a:rPr>
              <a:t>Les métadonnées (Metadata Services): données sur les données</a:t>
            </a:r>
          </a:p>
          <a:p>
            <a:pPr lvl="1"/>
            <a:r>
              <a:rPr lang="fr-FR">
                <a:cs typeface="Times New Roman" pitchFamily="18" charset="0"/>
              </a:rPr>
              <a:t>XML-services</a:t>
            </a:r>
            <a:endParaRPr lang="en-GB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BC5-EA6D-481E-9C46-31706F3166A2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7972-2024-4812-A540-9047C023BDF6}" type="slidenum">
              <a:rPr lang="en-GB"/>
              <a:pPr/>
              <a:t>18</a:t>
            </a:fld>
            <a:endParaRPr lang="en-GB"/>
          </a:p>
        </p:txBody>
      </p:sp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>
                <a:cs typeface="Times New Roman" pitchFamily="18" charset="0"/>
              </a:rPr>
              <a:t>Les SGBD sur le marché</a:t>
            </a:r>
            <a:endParaRPr lang="en-GB">
              <a:cs typeface="Times New Roman" pitchFamily="18" charset="0"/>
            </a:endParaRPr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800">
                <a:cs typeface="Times New Roman" pitchFamily="18" charset="0"/>
              </a:rPr>
              <a:t>Technologie:</a:t>
            </a:r>
          </a:p>
          <a:p>
            <a:pPr lvl="1"/>
            <a:r>
              <a:rPr lang="fr-FR" sz="2400">
                <a:cs typeface="Times New Roman" pitchFamily="18" charset="0"/>
              </a:rPr>
              <a:t>Fonctionnalités offertes (Availability): telles que de reprise</a:t>
            </a:r>
          </a:p>
          <a:p>
            <a:pPr lvl="1"/>
            <a:r>
              <a:rPr lang="fr-FR" sz="2400">
                <a:cs typeface="Times New Roman" pitchFamily="18" charset="0"/>
              </a:rPr>
              <a:t>Facilité d’utilisation (Ease of Use): les Wizards</a:t>
            </a:r>
          </a:p>
          <a:p>
            <a:pPr lvl="1"/>
            <a:r>
              <a:rPr lang="fr-FR" sz="2400">
                <a:cs typeface="Times New Roman" pitchFamily="18" charset="0"/>
              </a:rPr>
              <a:t>Interopérabilité (Interoperability): ouverture à d’autres systèmes</a:t>
            </a:r>
          </a:p>
          <a:p>
            <a:pPr lvl="1"/>
            <a:r>
              <a:rPr lang="fr-FR" sz="2400">
                <a:cs typeface="Times New Roman" pitchFamily="18" charset="0"/>
              </a:rPr>
              <a:t>Sécurité (Security): sécurité d’accès à l’information</a:t>
            </a:r>
            <a:endParaRPr lang="en-GB" sz="240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0EA60-65E7-41E6-9141-CB34EA108715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48FF6-38B4-4E54-ABBF-C1300F63B38A}" type="slidenum">
              <a:rPr lang="en-GB"/>
              <a:pPr/>
              <a:t>19</a:t>
            </a:fld>
            <a:endParaRPr lang="en-GB"/>
          </a:p>
        </p:txBody>
      </p:sp>
      <p:sp>
        <p:nvSpPr>
          <p:cNvPr id="372738" name="Text Box 2"/>
          <p:cNvSpPr txBox="1">
            <a:spLocks noChangeArrowheads="1"/>
          </p:cNvSpPr>
          <p:nvPr/>
        </p:nvSpPr>
        <p:spPr bwMode="auto">
          <a:xfrm>
            <a:off x="914400" y="685800"/>
            <a:ext cx="7848600" cy="76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fr-CA" sz="4400">
                <a:solidFill>
                  <a:schemeClr val="tx2"/>
                </a:solidFill>
                <a:latin typeface="Arial Black" pitchFamily="34" charset="0"/>
              </a:rPr>
              <a:t>Les SGBD sur le marché</a:t>
            </a:r>
            <a:endParaRPr lang="fr-FR" sz="4400">
              <a:solidFill>
                <a:schemeClr val="tx2"/>
              </a:solidFill>
              <a:latin typeface="Arial Black" pitchFamily="34" charset="0"/>
            </a:endParaRPr>
          </a:p>
        </p:txBody>
      </p:sp>
      <p:pic>
        <p:nvPicPr>
          <p:cNvPr id="3727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1981200"/>
            <a:ext cx="8086725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F68-6634-4663-BF63-680CF6191C78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ED5A-A221-46B7-95EA-0887081D96FB}" type="slidenum">
              <a:rPr lang="en-GB"/>
              <a:pPr/>
              <a:t>20</a:t>
            </a:fld>
            <a:endParaRPr lang="en-GB"/>
          </a:p>
        </p:txBody>
      </p:sp>
      <p:sp>
        <p:nvSpPr>
          <p:cNvPr id="373762" name="Text Box 2"/>
          <p:cNvSpPr txBox="1">
            <a:spLocks noChangeArrowheads="1"/>
          </p:cNvSpPr>
          <p:nvPr/>
        </p:nvSpPr>
        <p:spPr bwMode="auto">
          <a:xfrm>
            <a:off x="914400" y="685800"/>
            <a:ext cx="7848600" cy="76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fr-CA" sz="4400">
                <a:solidFill>
                  <a:schemeClr val="tx2"/>
                </a:solidFill>
                <a:latin typeface="Arial Black" pitchFamily="34" charset="0"/>
              </a:rPr>
              <a:t>Les SGBD sur le marché</a:t>
            </a:r>
            <a:endParaRPr lang="fr-FR" sz="4400">
              <a:solidFill>
                <a:schemeClr val="tx2"/>
              </a:solidFill>
              <a:latin typeface="Arial Black" pitchFamily="34" charset="0"/>
            </a:endParaRPr>
          </a:p>
        </p:txBody>
      </p:sp>
      <p:pic>
        <p:nvPicPr>
          <p:cNvPr id="3737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313" y="2060575"/>
            <a:ext cx="7953375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03199-D8F4-4935-B2F0-2D3F66C0FF57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AEAF1-60C0-4D99-B543-0059CC1A323E}" type="slidenum">
              <a:rPr lang="en-GB"/>
              <a:pPr/>
              <a:t>21</a:t>
            </a:fld>
            <a:endParaRPr lang="en-GB"/>
          </a:p>
        </p:txBody>
      </p:sp>
      <p:sp>
        <p:nvSpPr>
          <p:cNvPr id="374786" name="Text Box 2"/>
          <p:cNvSpPr txBox="1">
            <a:spLocks noChangeArrowheads="1"/>
          </p:cNvSpPr>
          <p:nvPr/>
        </p:nvSpPr>
        <p:spPr bwMode="auto">
          <a:xfrm>
            <a:off x="762000" y="685800"/>
            <a:ext cx="8077200" cy="76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fr-CA" sz="4400">
                <a:solidFill>
                  <a:schemeClr val="tx2"/>
                </a:solidFill>
                <a:latin typeface="Arial Black" pitchFamily="34" charset="0"/>
              </a:rPr>
              <a:t>Les SGBD sur le marché</a:t>
            </a:r>
            <a:endParaRPr lang="fr-FR" sz="4400">
              <a:solidFill>
                <a:schemeClr val="tx2"/>
              </a:solidFill>
              <a:latin typeface="Arial Black" pitchFamily="34" charset="0"/>
            </a:endParaRPr>
          </a:p>
        </p:txBody>
      </p:sp>
      <p:pic>
        <p:nvPicPr>
          <p:cNvPr id="3747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213" y="1981200"/>
            <a:ext cx="8029575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34E95-9293-4D00-89D4-0D7881F1423B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610F-6ABA-4C0C-A106-C27139FF6CDA}" type="slidenum">
              <a:rPr lang="en-GB"/>
              <a:pPr/>
              <a:t>22</a:t>
            </a:fld>
            <a:endParaRPr lang="en-GB"/>
          </a:p>
        </p:txBody>
      </p:sp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/>
              <a:t>Plan</a:t>
            </a:r>
            <a:endParaRPr lang="en-GB"/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Interface entre un L3G et SGBD (java et Oracle)</a:t>
            </a:r>
          </a:p>
          <a:p>
            <a:r>
              <a:rPr lang="fr-CA"/>
              <a:t>SGBD sur le marché</a:t>
            </a:r>
          </a:p>
          <a:p>
            <a:r>
              <a:rPr lang="fr-CA">
                <a:solidFill>
                  <a:schemeClr val="tx2"/>
                </a:solidFill>
              </a:rPr>
              <a:t>DataWarehouse</a:t>
            </a:r>
          </a:p>
          <a:p>
            <a:r>
              <a:rPr lang="fr-CA"/>
              <a:t>Base de données Objet</a:t>
            </a:r>
          </a:p>
          <a:p>
            <a:r>
              <a:rPr lang="fr-CA"/>
              <a:t>Fin cours</a:t>
            </a:r>
          </a:p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9E8-BF47-440A-A645-740054591138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CFF8-8F40-4A41-9879-CD5CB625C860}" type="slidenum">
              <a:rPr lang="en-GB"/>
              <a:pPr/>
              <a:t>23</a:t>
            </a:fld>
            <a:endParaRPr lang="en-GB"/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>
                <a:cs typeface="Times New Roman" pitchFamily="18" charset="0"/>
              </a:rPr>
              <a:t>DataWarehouse</a:t>
            </a:r>
            <a:endParaRPr lang="en-GB">
              <a:cs typeface="Times New Roman" pitchFamily="18" charset="0"/>
            </a:endParaRP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400">
                <a:cs typeface="Times New Roman" pitchFamily="18" charset="0"/>
              </a:rPr>
              <a:t>SGBD limités à traiter plusieurs opérations de jointure</a:t>
            </a:r>
          </a:p>
          <a:p>
            <a:r>
              <a:rPr lang="fr-FR" sz="2400">
                <a:cs typeface="Times New Roman" pitchFamily="18" charset="0"/>
              </a:rPr>
              <a:t>Proposer de nouveaux modèles qui répondent aux besoins des décideurs</a:t>
            </a:r>
          </a:p>
          <a:p>
            <a:r>
              <a:rPr lang="fr-FR" sz="2400">
                <a:cs typeface="Times New Roman" pitchFamily="18" charset="0"/>
              </a:rPr>
              <a:t>Solution: dénormalisée le modèle relationnel pour accélérer la recherche d’informations</a:t>
            </a:r>
          </a:p>
          <a:p>
            <a:r>
              <a:rPr lang="fr-FR" sz="2400">
                <a:cs typeface="Times New Roman" pitchFamily="18" charset="0"/>
              </a:rPr>
              <a:t>Les données peuvent provenir de plusieurs sources (exemple: finance, comptabilité, …)</a:t>
            </a:r>
          </a:p>
          <a:p>
            <a:r>
              <a:rPr lang="fr-FR" sz="2400">
                <a:cs typeface="Times New Roman" pitchFamily="18" charset="0"/>
              </a:rPr>
              <a:t>Il faut définir des mécanismes de fusion et de filtrage de données.</a:t>
            </a:r>
            <a:endParaRPr lang="en-GB" sz="240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D778-05EC-4D65-90A7-003C3372834D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10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6529-3207-4D40-B3C5-7712630EACD8}" type="slidenum">
              <a:rPr lang="en-GB"/>
              <a:pPr/>
              <a:t>24</a:t>
            </a:fld>
            <a:endParaRPr lang="en-GB"/>
          </a:p>
        </p:txBody>
      </p:sp>
      <p:sp>
        <p:nvSpPr>
          <p:cNvPr id="263176" name="Freeform 8"/>
          <p:cNvSpPr>
            <a:spLocks/>
          </p:cNvSpPr>
          <p:nvPr/>
        </p:nvSpPr>
        <p:spPr bwMode="auto">
          <a:xfrm>
            <a:off x="3962400" y="2897188"/>
            <a:ext cx="2038350" cy="2276475"/>
          </a:xfrm>
          <a:custGeom>
            <a:avLst/>
            <a:gdLst/>
            <a:ahLst/>
            <a:cxnLst>
              <a:cxn ang="0">
                <a:pos x="0" y="447"/>
              </a:cxn>
              <a:cxn ang="0">
                <a:pos x="0" y="3563"/>
              </a:cxn>
              <a:cxn ang="0">
                <a:pos x="1676" y="4010"/>
              </a:cxn>
              <a:cxn ang="0">
                <a:pos x="3353" y="3563"/>
              </a:cxn>
              <a:cxn ang="0">
                <a:pos x="3353" y="3563"/>
              </a:cxn>
              <a:cxn ang="0">
                <a:pos x="3353" y="3563"/>
              </a:cxn>
              <a:cxn ang="0">
                <a:pos x="3353" y="447"/>
              </a:cxn>
              <a:cxn ang="0">
                <a:pos x="1676" y="0"/>
              </a:cxn>
              <a:cxn ang="0">
                <a:pos x="0" y="447"/>
              </a:cxn>
            </a:cxnLst>
            <a:rect l="0" t="0" r="r" b="b"/>
            <a:pathLst>
              <a:path w="3353" h="4010">
                <a:moveTo>
                  <a:pt x="0" y="447"/>
                </a:moveTo>
                <a:lnTo>
                  <a:pt x="0" y="3563"/>
                </a:lnTo>
                <a:cubicBezTo>
                  <a:pt x="0" y="3809"/>
                  <a:pt x="751" y="4010"/>
                  <a:pt x="1676" y="4010"/>
                </a:cubicBezTo>
                <a:cubicBezTo>
                  <a:pt x="2602" y="4010"/>
                  <a:pt x="3353" y="3809"/>
                  <a:pt x="3353" y="3563"/>
                </a:cubicBezTo>
                <a:cubicBezTo>
                  <a:pt x="3353" y="3563"/>
                  <a:pt x="3353" y="3563"/>
                  <a:pt x="3353" y="3563"/>
                </a:cubicBezTo>
                <a:lnTo>
                  <a:pt x="3353" y="3563"/>
                </a:lnTo>
                <a:lnTo>
                  <a:pt x="3353" y="447"/>
                </a:lnTo>
                <a:cubicBezTo>
                  <a:pt x="3353" y="200"/>
                  <a:pt x="2602" y="0"/>
                  <a:pt x="1676" y="0"/>
                </a:cubicBezTo>
                <a:cubicBezTo>
                  <a:pt x="751" y="0"/>
                  <a:pt x="0" y="200"/>
                  <a:pt x="0" y="447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77" name="Freeform 9"/>
          <p:cNvSpPr>
            <a:spLocks noEditPoints="1"/>
          </p:cNvSpPr>
          <p:nvPr/>
        </p:nvSpPr>
        <p:spPr bwMode="auto">
          <a:xfrm>
            <a:off x="3962400" y="2897188"/>
            <a:ext cx="2038350" cy="2276475"/>
          </a:xfrm>
          <a:custGeom>
            <a:avLst/>
            <a:gdLst/>
            <a:ahLst/>
            <a:cxnLst>
              <a:cxn ang="0">
                <a:pos x="0" y="447"/>
              </a:cxn>
              <a:cxn ang="0">
                <a:pos x="0" y="3563"/>
              </a:cxn>
              <a:cxn ang="0">
                <a:pos x="1676" y="4010"/>
              </a:cxn>
              <a:cxn ang="0">
                <a:pos x="3353" y="3563"/>
              </a:cxn>
              <a:cxn ang="0">
                <a:pos x="3353" y="3563"/>
              </a:cxn>
              <a:cxn ang="0">
                <a:pos x="3353" y="3563"/>
              </a:cxn>
              <a:cxn ang="0">
                <a:pos x="3353" y="447"/>
              </a:cxn>
              <a:cxn ang="0">
                <a:pos x="1676" y="0"/>
              </a:cxn>
              <a:cxn ang="0">
                <a:pos x="0" y="447"/>
              </a:cxn>
              <a:cxn ang="0">
                <a:pos x="0" y="447"/>
              </a:cxn>
              <a:cxn ang="0">
                <a:pos x="1676" y="894"/>
              </a:cxn>
              <a:cxn ang="0">
                <a:pos x="3353" y="447"/>
              </a:cxn>
              <a:cxn ang="0">
                <a:pos x="3353" y="447"/>
              </a:cxn>
            </a:cxnLst>
            <a:rect l="0" t="0" r="r" b="b"/>
            <a:pathLst>
              <a:path w="3353" h="4010">
                <a:moveTo>
                  <a:pt x="0" y="447"/>
                </a:moveTo>
                <a:lnTo>
                  <a:pt x="0" y="3563"/>
                </a:lnTo>
                <a:cubicBezTo>
                  <a:pt x="0" y="3809"/>
                  <a:pt x="751" y="4010"/>
                  <a:pt x="1676" y="4010"/>
                </a:cubicBezTo>
                <a:cubicBezTo>
                  <a:pt x="2602" y="4010"/>
                  <a:pt x="3353" y="3809"/>
                  <a:pt x="3353" y="3563"/>
                </a:cubicBezTo>
                <a:cubicBezTo>
                  <a:pt x="3353" y="3563"/>
                  <a:pt x="3353" y="3563"/>
                  <a:pt x="3353" y="3563"/>
                </a:cubicBezTo>
                <a:lnTo>
                  <a:pt x="3353" y="3563"/>
                </a:lnTo>
                <a:lnTo>
                  <a:pt x="3353" y="447"/>
                </a:lnTo>
                <a:cubicBezTo>
                  <a:pt x="3353" y="200"/>
                  <a:pt x="2602" y="0"/>
                  <a:pt x="1676" y="0"/>
                </a:cubicBezTo>
                <a:cubicBezTo>
                  <a:pt x="751" y="0"/>
                  <a:pt x="0" y="200"/>
                  <a:pt x="0" y="447"/>
                </a:cubicBezTo>
                <a:moveTo>
                  <a:pt x="0" y="447"/>
                </a:moveTo>
                <a:cubicBezTo>
                  <a:pt x="0" y="694"/>
                  <a:pt x="751" y="894"/>
                  <a:pt x="1676" y="894"/>
                </a:cubicBezTo>
                <a:cubicBezTo>
                  <a:pt x="2602" y="894"/>
                  <a:pt x="3353" y="694"/>
                  <a:pt x="3353" y="447"/>
                </a:cubicBezTo>
                <a:cubicBezTo>
                  <a:pt x="3353" y="447"/>
                  <a:pt x="3353" y="447"/>
                  <a:pt x="3353" y="447"/>
                </a:cubicBezTo>
              </a:path>
            </a:pathLst>
          </a:cu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78" name="Rectangle 10"/>
          <p:cNvSpPr>
            <a:spLocks noChangeArrowheads="1"/>
          </p:cNvSpPr>
          <p:nvPr/>
        </p:nvSpPr>
        <p:spPr bwMode="auto">
          <a:xfrm>
            <a:off x="4213225" y="3965575"/>
            <a:ext cx="1546225" cy="207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300">
                <a:solidFill>
                  <a:srgbClr val="000000"/>
                </a:solidFill>
                <a:latin typeface="Arial" pitchFamily="34" charset="0"/>
              </a:rPr>
              <a:t>Entrepôt de données</a:t>
            </a:r>
            <a:endParaRPr lang="en-GB"/>
          </a:p>
        </p:txBody>
      </p:sp>
      <p:sp>
        <p:nvSpPr>
          <p:cNvPr id="263179" name="Rectangle 11"/>
          <p:cNvSpPr>
            <a:spLocks noChangeArrowheads="1"/>
          </p:cNvSpPr>
          <p:nvPr/>
        </p:nvSpPr>
        <p:spPr bwMode="auto">
          <a:xfrm>
            <a:off x="4154488" y="4165600"/>
            <a:ext cx="1666875" cy="207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300">
                <a:solidFill>
                  <a:srgbClr val="000000"/>
                </a:solidFill>
                <a:latin typeface="Arial" pitchFamily="34" charset="0"/>
              </a:rPr>
              <a:t>(« data wharehouse »)</a:t>
            </a:r>
            <a:endParaRPr lang="en-GB"/>
          </a:p>
        </p:txBody>
      </p:sp>
      <p:sp>
        <p:nvSpPr>
          <p:cNvPr id="263180" name="Freeform 12"/>
          <p:cNvSpPr>
            <a:spLocks/>
          </p:cNvSpPr>
          <p:nvPr/>
        </p:nvSpPr>
        <p:spPr bwMode="auto">
          <a:xfrm>
            <a:off x="998538" y="2311400"/>
            <a:ext cx="987425" cy="984250"/>
          </a:xfrm>
          <a:custGeom>
            <a:avLst/>
            <a:gdLst/>
            <a:ahLst/>
            <a:cxnLst>
              <a:cxn ang="0">
                <a:pos x="0" y="217"/>
              </a:cxn>
              <a:cxn ang="0">
                <a:pos x="0" y="1517"/>
              </a:cxn>
              <a:cxn ang="0">
                <a:pos x="813" y="1734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217"/>
              </a:cxn>
              <a:cxn ang="0">
                <a:pos x="813" y="0"/>
              </a:cxn>
              <a:cxn ang="0">
                <a:pos x="0" y="217"/>
              </a:cxn>
            </a:cxnLst>
            <a:rect l="0" t="0" r="r" b="b"/>
            <a:pathLst>
              <a:path w="1626" h="1734">
                <a:moveTo>
                  <a:pt x="0" y="217"/>
                </a:moveTo>
                <a:lnTo>
                  <a:pt x="0" y="1517"/>
                </a:lnTo>
                <a:cubicBezTo>
                  <a:pt x="0" y="1637"/>
                  <a:pt x="364" y="1734"/>
                  <a:pt x="813" y="1734"/>
                </a:cubicBezTo>
                <a:cubicBezTo>
                  <a:pt x="1262" y="1734"/>
                  <a:pt x="1626" y="1637"/>
                  <a:pt x="1626" y="1517"/>
                </a:cubicBezTo>
                <a:cubicBezTo>
                  <a:pt x="1626" y="1517"/>
                  <a:pt x="1626" y="1517"/>
                  <a:pt x="1626" y="1517"/>
                </a:cubicBezTo>
                <a:lnTo>
                  <a:pt x="1626" y="1517"/>
                </a:lnTo>
                <a:lnTo>
                  <a:pt x="1626" y="217"/>
                </a:lnTo>
                <a:cubicBezTo>
                  <a:pt x="1626" y="97"/>
                  <a:pt x="1262" y="0"/>
                  <a:pt x="813" y="0"/>
                </a:cubicBezTo>
                <a:cubicBezTo>
                  <a:pt x="364" y="0"/>
                  <a:pt x="0" y="97"/>
                  <a:pt x="0" y="217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81" name="Freeform 13"/>
          <p:cNvSpPr>
            <a:spLocks noEditPoints="1"/>
          </p:cNvSpPr>
          <p:nvPr/>
        </p:nvSpPr>
        <p:spPr bwMode="auto">
          <a:xfrm>
            <a:off x="998538" y="2311400"/>
            <a:ext cx="987425" cy="984250"/>
          </a:xfrm>
          <a:custGeom>
            <a:avLst/>
            <a:gdLst/>
            <a:ahLst/>
            <a:cxnLst>
              <a:cxn ang="0">
                <a:pos x="0" y="217"/>
              </a:cxn>
              <a:cxn ang="0">
                <a:pos x="0" y="1517"/>
              </a:cxn>
              <a:cxn ang="0">
                <a:pos x="813" y="1734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217"/>
              </a:cxn>
              <a:cxn ang="0">
                <a:pos x="813" y="0"/>
              </a:cxn>
              <a:cxn ang="0">
                <a:pos x="0" y="217"/>
              </a:cxn>
              <a:cxn ang="0">
                <a:pos x="0" y="217"/>
              </a:cxn>
              <a:cxn ang="0">
                <a:pos x="813" y="434"/>
              </a:cxn>
              <a:cxn ang="0">
                <a:pos x="1626" y="217"/>
              </a:cxn>
              <a:cxn ang="0">
                <a:pos x="1626" y="217"/>
              </a:cxn>
            </a:cxnLst>
            <a:rect l="0" t="0" r="r" b="b"/>
            <a:pathLst>
              <a:path w="1626" h="1734">
                <a:moveTo>
                  <a:pt x="0" y="217"/>
                </a:moveTo>
                <a:lnTo>
                  <a:pt x="0" y="1517"/>
                </a:lnTo>
                <a:cubicBezTo>
                  <a:pt x="0" y="1637"/>
                  <a:pt x="364" y="1734"/>
                  <a:pt x="813" y="1734"/>
                </a:cubicBezTo>
                <a:cubicBezTo>
                  <a:pt x="1262" y="1734"/>
                  <a:pt x="1626" y="1637"/>
                  <a:pt x="1626" y="1517"/>
                </a:cubicBezTo>
                <a:cubicBezTo>
                  <a:pt x="1626" y="1517"/>
                  <a:pt x="1626" y="1517"/>
                  <a:pt x="1626" y="1517"/>
                </a:cubicBezTo>
                <a:lnTo>
                  <a:pt x="1626" y="1517"/>
                </a:lnTo>
                <a:lnTo>
                  <a:pt x="1626" y="217"/>
                </a:lnTo>
                <a:cubicBezTo>
                  <a:pt x="1626" y="97"/>
                  <a:pt x="1262" y="0"/>
                  <a:pt x="813" y="0"/>
                </a:cubicBezTo>
                <a:cubicBezTo>
                  <a:pt x="364" y="0"/>
                  <a:pt x="0" y="97"/>
                  <a:pt x="0" y="217"/>
                </a:cubicBezTo>
                <a:moveTo>
                  <a:pt x="0" y="217"/>
                </a:moveTo>
                <a:cubicBezTo>
                  <a:pt x="0" y="337"/>
                  <a:pt x="364" y="434"/>
                  <a:pt x="813" y="434"/>
                </a:cubicBezTo>
                <a:cubicBezTo>
                  <a:pt x="1262" y="434"/>
                  <a:pt x="1626" y="337"/>
                  <a:pt x="1626" y="217"/>
                </a:cubicBezTo>
                <a:cubicBezTo>
                  <a:pt x="1626" y="217"/>
                  <a:pt x="1626" y="217"/>
                  <a:pt x="1626" y="217"/>
                </a:cubicBezTo>
              </a:path>
            </a:pathLst>
          </a:cu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82" name="Rectangle 14"/>
          <p:cNvSpPr>
            <a:spLocks noChangeArrowheads="1"/>
          </p:cNvSpPr>
          <p:nvPr/>
        </p:nvSpPr>
        <p:spPr bwMode="auto">
          <a:xfrm>
            <a:off x="1392238" y="2622550"/>
            <a:ext cx="204787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BD</a:t>
            </a:r>
            <a:endParaRPr lang="en-GB"/>
          </a:p>
        </p:txBody>
      </p:sp>
      <p:sp>
        <p:nvSpPr>
          <p:cNvPr id="263183" name="Rectangle 15"/>
          <p:cNvSpPr>
            <a:spLocks noChangeArrowheads="1"/>
          </p:cNvSpPr>
          <p:nvPr/>
        </p:nvSpPr>
        <p:spPr bwMode="auto">
          <a:xfrm>
            <a:off x="1062038" y="2786063"/>
            <a:ext cx="889000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opérationnelle</a:t>
            </a:r>
            <a:endParaRPr lang="en-GB"/>
          </a:p>
        </p:txBody>
      </p:sp>
      <p:sp>
        <p:nvSpPr>
          <p:cNvPr id="263184" name="Rectangle 16"/>
          <p:cNvSpPr>
            <a:spLocks noChangeArrowheads="1"/>
          </p:cNvSpPr>
          <p:nvPr/>
        </p:nvSpPr>
        <p:spPr bwMode="auto">
          <a:xfrm>
            <a:off x="1265238" y="2949575"/>
            <a:ext cx="466725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(OLTP)</a:t>
            </a:r>
            <a:endParaRPr lang="en-GB"/>
          </a:p>
        </p:txBody>
      </p:sp>
      <p:sp>
        <p:nvSpPr>
          <p:cNvPr id="263185" name="Line 17"/>
          <p:cNvSpPr>
            <a:spLocks noChangeShapeType="1"/>
          </p:cNvSpPr>
          <p:nvPr/>
        </p:nvSpPr>
        <p:spPr bwMode="auto">
          <a:xfrm>
            <a:off x="1985963" y="2803525"/>
            <a:ext cx="655637" cy="652463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86" name="Freeform 18"/>
          <p:cNvSpPr>
            <a:spLocks/>
          </p:cNvSpPr>
          <p:nvPr/>
        </p:nvSpPr>
        <p:spPr bwMode="auto">
          <a:xfrm>
            <a:off x="2601913" y="3417888"/>
            <a:ext cx="125412" cy="125412"/>
          </a:xfrm>
          <a:custGeom>
            <a:avLst/>
            <a:gdLst/>
            <a:ahLst/>
            <a:cxnLst>
              <a:cxn ang="0">
                <a:pos x="39" y="0"/>
              </a:cxn>
              <a:cxn ang="0">
                <a:pos x="79" y="79"/>
              </a:cxn>
              <a:cxn ang="0">
                <a:pos x="0" y="39"/>
              </a:cxn>
              <a:cxn ang="0">
                <a:pos x="39" y="0"/>
              </a:cxn>
            </a:cxnLst>
            <a:rect l="0" t="0" r="r" b="b"/>
            <a:pathLst>
              <a:path w="79" h="79">
                <a:moveTo>
                  <a:pt x="39" y="0"/>
                </a:moveTo>
                <a:lnTo>
                  <a:pt x="79" y="79"/>
                </a:lnTo>
                <a:lnTo>
                  <a:pt x="0" y="39"/>
                </a:lnTo>
                <a:lnTo>
                  <a:pt x="39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87" name="Freeform 19"/>
          <p:cNvSpPr>
            <a:spLocks/>
          </p:cNvSpPr>
          <p:nvPr/>
        </p:nvSpPr>
        <p:spPr bwMode="auto">
          <a:xfrm>
            <a:off x="998538" y="4773613"/>
            <a:ext cx="987425" cy="984250"/>
          </a:xfrm>
          <a:custGeom>
            <a:avLst/>
            <a:gdLst/>
            <a:ahLst/>
            <a:cxnLst>
              <a:cxn ang="0">
                <a:pos x="0" y="217"/>
              </a:cxn>
              <a:cxn ang="0">
                <a:pos x="0" y="1517"/>
              </a:cxn>
              <a:cxn ang="0">
                <a:pos x="813" y="1734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217"/>
              </a:cxn>
              <a:cxn ang="0">
                <a:pos x="813" y="0"/>
              </a:cxn>
              <a:cxn ang="0">
                <a:pos x="0" y="217"/>
              </a:cxn>
            </a:cxnLst>
            <a:rect l="0" t="0" r="r" b="b"/>
            <a:pathLst>
              <a:path w="1626" h="1734">
                <a:moveTo>
                  <a:pt x="0" y="217"/>
                </a:moveTo>
                <a:lnTo>
                  <a:pt x="0" y="1517"/>
                </a:lnTo>
                <a:cubicBezTo>
                  <a:pt x="0" y="1637"/>
                  <a:pt x="364" y="1734"/>
                  <a:pt x="813" y="1734"/>
                </a:cubicBezTo>
                <a:cubicBezTo>
                  <a:pt x="1262" y="1734"/>
                  <a:pt x="1626" y="1637"/>
                  <a:pt x="1626" y="1517"/>
                </a:cubicBezTo>
                <a:cubicBezTo>
                  <a:pt x="1626" y="1517"/>
                  <a:pt x="1626" y="1517"/>
                  <a:pt x="1626" y="1517"/>
                </a:cubicBezTo>
                <a:lnTo>
                  <a:pt x="1626" y="1517"/>
                </a:lnTo>
                <a:lnTo>
                  <a:pt x="1626" y="217"/>
                </a:lnTo>
                <a:cubicBezTo>
                  <a:pt x="1626" y="97"/>
                  <a:pt x="1262" y="0"/>
                  <a:pt x="813" y="0"/>
                </a:cubicBezTo>
                <a:cubicBezTo>
                  <a:pt x="364" y="0"/>
                  <a:pt x="0" y="97"/>
                  <a:pt x="0" y="217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88" name="Freeform 20"/>
          <p:cNvSpPr>
            <a:spLocks noEditPoints="1"/>
          </p:cNvSpPr>
          <p:nvPr/>
        </p:nvSpPr>
        <p:spPr bwMode="auto">
          <a:xfrm>
            <a:off x="998538" y="4773613"/>
            <a:ext cx="987425" cy="984250"/>
          </a:xfrm>
          <a:custGeom>
            <a:avLst/>
            <a:gdLst/>
            <a:ahLst/>
            <a:cxnLst>
              <a:cxn ang="0">
                <a:pos x="0" y="217"/>
              </a:cxn>
              <a:cxn ang="0">
                <a:pos x="0" y="1517"/>
              </a:cxn>
              <a:cxn ang="0">
                <a:pos x="813" y="1734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217"/>
              </a:cxn>
              <a:cxn ang="0">
                <a:pos x="813" y="0"/>
              </a:cxn>
              <a:cxn ang="0">
                <a:pos x="0" y="217"/>
              </a:cxn>
              <a:cxn ang="0">
                <a:pos x="0" y="217"/>
              </a:cxn>
              <a:cxn ang="0">
                <a:pos x="813" y="434"/>
              </a:cxn>
              <a:cxn ang="0">
                <a:pos x="1626" y="217"/>
              </a:cxn>
              <a:cxn ang="0">
                <a:pos x="1626" y="217"/>
              </a:cxn>
            </a:cxnLst>
            <a:rect l="0" t="0" r="r" b="b"/>
            <a:pathLst>
              <a:path w="1626" h="1734">
                <a:moveTo>
                  <a:pt x="0" y="217"/>
                </a:moveTo>
                <a:lnTo>
                  <a:pt x="0" y="1517"/>
                </a:lnTo>
                <a:cubicBezTo>
                  <a:pt x="0" y="1637"/>
                  <a:pt x="364" y="1734"/>
                  <a:pt x="813" y="1734"/>
                </a:cubicBezTo>
                <a:cubicBezTo>
                  <a:pt x="1262" y="1734"/>
                  <a:pt x="1626" y="1637"/>
                  <a:pt x="1626" y="1517"/>
                </a:cubicBezTo>
                <a:cubicBezTo>
                  <a:pt x="1626" y="1517"/>
                  <a:pt x="1626" y="1517"/>
                  <a:pt x="1626" y="1517"/>
                </a:cubicBezTo>
                <a:lnTo>
                  <a:pt x="1626" y="1517"/>
                </a:lnTo>
                <a:lnTo>
                  <a:pt x="1626" y="217"/>
                </a:lnTo>
                <a:cubicBezTo>
                  <a:pt x="1626" y="97"/>
                  <a:pt x="1262" y="0"/>
                  <a:pt x="813" y="0"/>
                </a:cubicBezTo>
                <a:cubicBezTo>
                  <a:pt x="364" y="0"/>
                  <a:pt x="0" y="97"/>
                  <a:pt x="0" y="217"/>
                </a:cubicBezTo>
                <a:moveTo>
                  <a:pt x="0" y="217"/>
                </a:moveTo>
                <a:cubicBezTo>
                  <a:pt x="0" y="337"/>
                  <a:pt x="364" y="434"/>
                  <a:pt x="813" y="434"/>
                </a:cubicBezTo>
                <a:cubicBezTo>
                  <a:pt x="1262" y="434"/>
                  <a:pt x="1626" y="337"/>
                  <a:pt x="1626" y="217"/>
                </a:cubicBezTo>
                <a:cubicBezTo>
                  <a:pt x="1626" y="217"/>
                  <a:pt x="1626" y="217"/>
                  <a:pt x="1626" y="217"/>
                </a:cubicBezTo>
              </a:path>
            </a:pathLst>
          </a:cu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89" name="Rectangle 21"/>
          <p:cNvSpPr>
            <a:spLocks noChangeArrowheads="1"/>
          </p:cNvSpPr>
          <p:nvPr/>
        </p:nvSpPr>
        <p:spPr bwMode="auto">
          <a:xfrm>
            <a:off x="1323975" y="5084763"/>
            <a:ext cx="342900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Autre</a:t>
            </a:r>
            <a:endParaRPr lang="en-GB"/>
          </a:p>
        </p:txBody>
      </p:sp>
      <p:sp>
        <p:nvSpPr>
          <p:cNvPr id="263190" name="Rectangle 22"/>
          <p:cNvSpPr>
            <a:spLocks noChangeArrowheads="1"/>
          </p:cNvSpPr>
          <p:nvPr/>
        </p:nvSpPr>
        <p:spPr bwMode="auto">
          <a:xfrm>
            <a:off x="1187450" y="5248275"/>
            <a:ext cx="622300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source de</a:t>
            </a:r>
            <a:endParaRPr lang="en-GB"/>
          </a:p>
        </p:txBody>
      </p:sp>
      <p:sp>
        <p:nvSpPr>
          <p:cNvPr id="263191" name="Rectangle 23"/>
          <p:cNvSpPr>
            <a:spLocks noChangeArrowheads="1"/>
          </p:cNvSpPr>
          <p:nvPr/>
        </p:nvSpPr>
        <p:spPr bwMode="auto">
          <a:xfrm>
            <a:off x="1227138" y="5411788"/>
            <a:ext cx="546100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données</a:t>
            </a:r>
            <a:endParaRPr lang="en-GB"/>
          </a:p>
        </p:txBody>
      </p:sp>
      <p:sp>
        <p:nvSpPr>
          <p:cNvPr id="263192" name="Line 24"/>
          <p:cNvSpPr>
            <a:spLocks noChangeShapeType="1"/>
          </p:cNvSpPr>
          <p:nvPr/>
        </p:nvSpPr>
        <p:spPr bwMode="auto">
          <a:xfrm>
            <a:off x="1492250" y="4035425"/>
            <a:ext cx="619125" cy="158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93" name="Freeform 25"/>
          <p:cNvSpPr>
            <a:spLocks/>
          </p:cNvSpPr>
          <p:nvPr/>
        </p:nvSpPr>
        <p:spPr bwMode="auto">
          <a:xfrm>
            <a:off x="2100263" y="3990975"/>
            <a:ext cx="133350" cy="88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4" y="28"/>
              </a:cxn>
              <a:cxn ang="0">
                <a:pos x="0" y="56"/>
              </a:cxn>
              <a:cxn ang="0">
                <a:pos x="0" y="0"/>
              </a:cxn>
            </a:cxnLst>
            <a:rect l="0" t="0" r="r" b="b"/>
            <a:pathLst>
              <a:path w="84" h="56">
                <a:moveTo>
                  <a:pt x="0" y="0"/>
                </a:moveTo>
                <a:lnTo>
                  <a:pt x="84" y="28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94" name="Freeform 26"/>
          <p:cNvSpPr>
            <a:spLocks noEditPoints="1"/>
          </p:cNvSpPr>
          <p:nvPr/>
        </p:nvSpPr>
        <p:spPr bwMode="auto">
          <a:xfrm>
            <a:off x="7948613" y="3440113"/>
            <a:ext cx="644525" cy="131762"/>
          </a:xfrm>
          <a:custGeom>
            <a:avLst/>
            <a:gdLst/>
            <a:ahLst/>
            <a:cxnLst>
              <a:cxn ang="0">
                <a:pos x="0" y="36"/>
              </a:cxn>
              <a:cxn ang="0">
                <a:pos x="406" y="36"/>
              </a:cxn>
              <a:cxn ang="0">
                <a:pos x="406" y="0"/>
              </a:cxn>
              <a:cxn ang="0">
                <a:pos x="0" y="0"/>
              </a:cxn>
              <a:cxn ang="0">
                <a:pos x="0" y="36"/>
              </a:cxn>
              <a:cxn ang="0">
                <a:pos x="71" y="83"/>
              </a:cxn>
              <a:cxn ang="0">
                <a:pos x="335" y="83"/>
              </a:cxn>
              <a:cxn ang="0">
                <a:pos x="335" y="67"/>
              </a:cxn>
              <a:cxn ang="0">
                <a:pos x="71" y="67"/>
              </a:cxn>
              <a:cxn ang="0">
                <a:pos x="71" y="83"/>
              </a:cxn>
            </a:cxnLst>
            <a:rect l="0" t="0" r="r" b="b"/>
            <a:pathLst>
              <a:path w="406" h="83">
                <a:moveTo>
                  <a:pt x="0" y="36"/>
                </a:moveTo>
                <a:lnTo>
                  <a:pt x="406" y="36"/>
                </a:lnTo>
                <a:lnTo>
                  <a:pt x="406" y="0"/>
                </a:lnTo>
                <a:lnTo>
                  <a:pt x="0" y="0"/>
                </a:lnTo>
                <a:lnTo>
                  <a:pt x="0" y="36"/>
                </a:lnTo>
                <a:close/>
                <a:moveTo>
                  <a:pt x="71" y="83"/>
                </a:moveTo>
                <a:lnTo>
                  <a:pt x="335" y="83"/>
                </a:lnTo>
                <a:lnTo>
                  <a:pt x="335" y="67"/>
                </a:lnTo>
                <a:lnTo>
                  <a:pt x="71" y="67"/>
                </a:lnTo>
                <a:lnTo>
                  <a:pt x="71" y="83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95" name="Rectangle 27"/>
          <p:cNvSpPr>
            <a:spLocks noChangeArrowheads="1"/>
          </p:cNvSpPr>
          <p:nvPr/>
        </p:nvSpPr>
        <p:spPr bwMode="auto">
          <a:xfrm>
            <a:off x="7948613" y="3440113"/>
            <a:ext cx="644525" cy="57150"/>
          </a:xfrm>
          <a:prstGeom prst="rect">
            <a:avLst/>
          </a:prstGeom>
          <a:noFill/>
          <a:ln w="317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96" name="Rectangle 28"/>
          <p:cNvSpPr>
            <a:spLocks noChangeArrowheads="1"/>
          </p:cNvSpPr>
          <p:nvPr/>
        </p:nvSpPr>
        <p:spPr bwMode="auto">
          <a:xfrm>
            <a:off x="8061325" y="3546475"/>
            <a:ext cx="419100" cy="25400"/>
          </a:xfrm>
          <a:prstGeom prst="rect">
            <a:avLst/>
          </a:prstGeom>
          <a:noFill/>
          <a:ln w="317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97" name="Line 29"/>
          <p:cNvSpPr>
            <a:spLocks noChangeShapeType="1"/>
          </p:cNvSpPr>
          <p:nvPr/>
        </p:nvSpPr>
        <p:spPr bwMode="auto">
          <a:xfrm>
            <a:off x="7972425" y="2901950"/>
            <a:ext cx="1588" cy="50800"/>
          </a:xfrm>
          <a:prstGeom prst="line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98" name="Rectangle 30"/>
          <p:cNvSpPr>
            <a:spLocks noChangeArrowheads="1"/>
          </p:cNvSpPr>
          <p:nvPr/>
        </p:nvSpPr>
        <p:spPr bwMode="auto">
          <a:xfrm>
            <a:off x="8534400" y="3471863"/>
            <a:ext cx="31750" cy="174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199" name="Line 31"/>
          <p:cNvSpPr>
            <a:spLocks noChangeShapeType="1"/>
          </p:cNvSpPr>
          <p:nvPr/>
        </p:nvSpPr>
        <p:spPr bwMode="auto">
          <a:xfrm>
            <a:off x="8512175" y="3479800"/>
            <a:ext cx="9525" cy="1588"/>
          </a:xfrm>
          <a:prstGeom prst="line">
            <a:avLst/>
          </a:prstGeom>
          <a:noFill/>
          <a:ln w="317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00" name="Freeform 32"/>
          <p:cNvSpPr>
            <a:spLocks/>
          </p:cNvSpPr>
          <p:nvPr/>
        </p:nvSpPr>
        <p:spPr bwMode="auto">
          <a:xfrm>
            <a:off x="7886700" y="2805113"/>
            <a:ext cx="768350" cy="658812"/>
          </a:xfrm>
          <a:custGeom>
            <a:avLst/>
            <a:gdLst/>
            <a:ahLst/>
            <a:cxnLst>
              <a:cxn ang="0">
                <a:pos x="0" y="400"/>
              </a:cxn>
              <a:cxn ang="0">
                <a:pos x="39" y="400"/>
              </a:cxn>
              <a:cxn ang="0">
                <a:pos x="39" y="415"/>
              </a:cxn>
              <a:cxn ang="0">
                <a:pos x="445" y="415"/>
              </a:cxn>
              <a:cxn ang="0">
                <a:pos x="445" y="400"/>
              </a:cxn>
              <a:cxn ang="0">
                <a:pos x="484" y="400"/>
              </a:cxn>
              <a:cxn ang="0">
                <a:pos x="484" y="0"/>
              </a:cxn>
              <a:cxn ang="0">
                <a:pos x="0" y="0"/>
              </a:cxn>
              <a:cxn ang="0">
                <a:pos x="0" y="400"/>
              </a:cxn>
            </a:cxnLst>
            <a:rect l="0" t="0" r="r" b="b"/>
            <a:pathLst>
              <a:path w="484" h="415">
                <a:moveTo>
                  <a:pt x="0" y="400"/>
                </a:moveTo>
                <a:lnTo>
                  <a:pt x="39" y="400"/>
                </a:lnTo>
                <a:lnTo>
                  <a:pt x="39" y="415"/>
                </a:lnTo>
                <a:lnTo>
                  <a:pt x="445" y="415"/>
                </a:lnTo>
                <a:lnTo>
                  <a:pt x="445" y="400"/>
                </a:lnTo>
                <a:lnTo>
                  <a:pt x="484" y="400"/>
                </a:lnTo>
                <a:lnTo>
                  <a:pt x="484" y="0"/>
                </a:lnTo>
                <a:lnTo>
                  <a:pt x="0" y="0"/>
                </a:lnTo>
                <a:lnTo>
                  <a:pt x="0" y="40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01" name="Freeform 33"/>
          <p:cNvSpPr>
            <a:spLocks noEditPoints="1"/>
          </p:cNvSpPr>
          <p:nvPr/>
        </p:nvSpPr>
        <p:spPr bwMode="auto">
          <a:xfrm>
            <a:off x="7886700" y="2805113"/>
            <a:ext cx="768350" cy="658812"/>
          </a:xfrm>
          <a:custGeom>
            <a:avLst/>
            <a:gdLst/>
            <a:ahLst/>
            <a:cxnLst>
              <a:cxn ang="0">
                <a:pos x="0" y="400"/>
              </a:cxn>
              <a:cxn ang="0">
                <a:pos x="39" y="400"/>
              </a:cxn>
              <a:cxn ang="0">
                <a:pos x="39" y="415"/>
              </a:cxn>
              <a:cxn ang="0">
                <a:pos x="445" y="415"/>
              </a:cxn>
              <a:cxn ang="0">
                <a:pos x="445" y="400"/>
              </a:cxn>
              <a:cxn ang="0">
                <a:pos x="484" y="400"/>
              </a:cxn>
              <a:cxn ang="0">
                <a:pos x="484" y="0"/>
              </a:cxn>
              <a:cxn ang="0">
                <a:pos x="0" y="0"/>
              </a:cxn>
              <a:cxn ang="0">
                <a:pos x="0" y="400"/>
              </a:cxn>
              <a:cxn ang="0">
                <a:pos x="445" y="400"/>
              </a:cxn>
              <a:cxn ang="0">
                <a:pos x="39" y="400"/>
              </a:cxn>
            </a:cxnLst>
            <a:rect l="0" t="0" r="r" b="b"/>
            <a:pathLst>
              <a:path w="484" h="415">
                <a:moveTo>
                  <a:pt x="0" y="400"/>
                </a:moveTo>
                <a:lnTo>
                  <a:pt x="39" y="400"/>
                </a:lnTo>
                <a:lnTo>
                  <a:pt x="39" y="415"/>
                </a:lnTo>
                <a:lnTo>
                  <a:pt x="445" y="415"/>
                </a:lnTo>
                <a:lnTo>
                  <a:pt x="445" y="400"/>
                </a:lnTo>
                <a:lnTo>
                  <a:pt x="484" y="400"/>
                </a:lnTo>
                <a:lnTo>
                  <a:pt x="484" y="0"/>
                </a:lnTo>
                <a:lnTo>
                  <a:pt x="0" y="0"/>
                </a:lnTo>
                <a:lnTo>
                  <a:pt x="0" y="400"/>
                </a:lnTo>
                <a:moveTo>
                  <a:pt x="445" y="400"/>
                </a:moveTo>
                <a:lnTo>
                  <a:pt x="39" y="400"/>
                </a:lnTo>
              </a:path>
            </a:pathLst>
          </a:custGeom>
          <a:noFill/>
          <a:ln w="3175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02" name="Freeform 34"/>
          <p:cNvSpPr>
            <a:spLocks noEditPoints="1"/>
          </p:cNvSpPr>
          <p:nvPr/>
        </p:nvSpPr>
        <p:spPr bwMode="auto">
          <a:xfrm>
            <a:off x="7947025" y="2865438"/>
            <a:ext cx="647700" cy="679450"/>
          </a:xfrm>
          <a:custGeom>
            <a:avLst/>
            <a:gdLst/>
            <a:ahLst/>
            <a:cxnLst>
              <a:cxn ang="0">
                <a:pos x="0" y="906"/>
              </a:cxn>
              <a:cxn ang="0">
                <a:pos x="1067" y="906"/>
              </a:cxn>
              <a:cxn ang="0">
                <a:pos x="1067" y="0"/>
              </a:cxn>
              <a:cxn ang="0">
                <a:pos x="0" y="0"/>
              </a:cxn>
              <a:cxn ang="0">
                <a:pos x="0" y="906"/>
              </a:cxn>
              <a:cxn ang="0">
                <a:pos x="53" y="1019"/>
              </a:cxn>
              <a:cxn ang="0">
                <a:pos x="104" y="1019"/>
              </a:cxn>
              <a:cxn ang="0">
                <a:pos x="79" y="1046"/>
              </a:cxn>
              <a:cxn ang="0">
                <a:pos x="53" y="1019"/>
              </a:cxn>
              <a:cxn ang="0">
                <a:pos x="138" y="1019"/>
              </a:cxn>
              <a:cxn ang="0">
                <a:pos x="189" y="1019"/>
              </a:cxn>
              <a:cxn ang="0">
                <a:pos x="163" y="1046"/>
              </a:cxn>
              <a:cxn ang="0">
                <a:pos x="138" y="1019"/>
              </a:cxn>
              <a:cxn ang="0">
                <a:pos x="223" y="1019"/>
              </a:cxn>
              <a:cxn ang="0">
                <a:pos x="274" y="1019"/>
              </a:cxn>
              <a:cxn ang="0">
                <a:pos x="248" y="1046"/>
              </a:cxn>
              <a:cxn ang="0">
                <a:pos x="223" y="1019"/>
              </a:cxn>
              <a:cxn ang="0">
                <a:pos x="307" y="1019"/>
              </a:cxn>
              <a:cxn ang="0">
                <a:pos x="358" y="1019"/>
              </a:cxn>
              <a:cxn ang="0">
                <a:pos x="333" y="1046"/>
              </a:cxn>
              <a:cxn ang="0">
                <a:pos x="307" y="1019"/>
              </a:cxn>
              <a:cxn ang="0">
                <a:pos x="913" y="1019"/>
              </a:cxn>
              <a:cxn ang="0">
                <a:pos x="964" y="1019"/>
              </a:cxn>
              <a:cxn ang="0">
                <a:pos x="938" y="1046"/>
              </a:cxn>
              <a:cxn ang="0">
                <a:pos x="913" y="1019"/>
              </a:cxn>
              <a:cxn ang="0">
                <a:pos x="331" y="1199"/>
              </a:cxn>
              <a:cxn ang="0">
                <a:pos x="737" y="1199"/>
              </a:cxn>
              <a:cxn ang="0">
                <a:pos x="737" y="1113"/>
              </a:cxn>
              <a:cxn ang="0">
                <a:pos x="331" y="1113"/>
              </a:cxn>
              <a:cxn ang="0">
                <a:pos x="331" y="1199"/>
              </a:cxn>
            </a:cxnLst>
            <a:rect l="0" t="0" r="r" b="b"/>
            <a:pathLst>
              <a:path w="1067" h="1199">
                <a:moveTo>
                  <a:pt x="0" y="906"/>
                </a:moveTo>
                <a:lnTo>
                  <a:pt x="1067" y="906"/>
                </a:lnTo>
                <a:lnTo>
                  <a:pt x="1067" y="0"/>
                </a:lnTo>
                <a:lnTo>
                  <a:pt x="0" y="0"/>
                </a:lnTo>
                <a:lnTo>
                  <a:pt x="0" y="906"/>
                </a:lnTo>
                <a:close/>
                <a:moveTo>
                  <a:pt x="53" y="1019"/>
                </a:moveTo>
                <a:lnTo>
                  <a:pt x="104" y="1019"/>
                </a:lnTo>
                <a:cubicBezTo>
                  <a:pt x="104" y="1033"/>
                  <a:pt x="93" y="1046"/>
                  <a:pt x="79" y="1046"/>
                </a:cubicBezTo>
                <a:cubicBezTo>
                  <a:pt x="65" y="1046"/>
                  <a:pt x="53" y="1033"/>
                  <a:pt x="53" y="1019"/>
                </a:cubicBezTo>
                <a:close/>
                <a:moveTo>
                  <a:pt x="138" y="1019"/>
                </a:moveTo>
                <a:lnTo>
                  <a:pt x="189" y="1019"/>
                </a:lnTo>
                <a:cubicBezTo>
                  <a:pt x="189" y="1033"/>
                  <a:pt x="177" y="1046"/>
                  <a:pt x="163" y="1046"/>
                </a:cubicBezTo>
                <a:cubicBezTo>
                  <a:pt x="149" y="1046"/>
                  <a:pt x="138" y="1033"/>
                  <a:pt x="138" y="1019"/>
                </a:cubicBezTo>
                <a:close/>
                <a:moveTo>
                  <a:pt x="223" y="1019"/>
                </a:moveTo>
                <a:lnTo>
                  <a:pt x="274" y="1019"/>
                </a:lnTo>
                <a:cubicBezTo>
                  <a:pt x="274" y="1033"/>
                  <a:pt x="262" y="1046"/>
                  <a:pt x="248" y="1046"/>
                </a:cubicBezTo>
                <a:cubicBezTo>
                  <a:pt x="234" y="1046"/>
                  <a:pt x="223" y="1033"/>
                  <a:pt x="223" y="1019"/>
                </a:cubicBezTo>
                <a:close/>
                <a:moveTo>
                  <a:pt x="307" y="1019"/>
                </a:moveTo>
                <a:lnTo>
                  <a:pt x="358" y="1019"/>
                </a:lnTo>
                <a:cubicBezTo>
                  <a:pt x="358" y="1033"/>
                  <a:pt x="347" y="1046"/>
                  <a:pt x="333" y="1046"/>
                </a:cubicBezTo>
                <a:cubicBezTo>
                  <a:pt x="319" y="1046"/>
                  <a:pt x="307" y="1033"/>
                  <a:pt x="307" y="1019"/>
                </a:cubicBezTo>
                <a:close/>
                <a:moveTo>
                  <a:pt x="913" y="1019"/>
                </a:moveTo>
                <a:lnTo>
                  <a:pt x="964" y="1019"/>
                </a:lnTo>
                <a:cubicBezTo>
                  <a:pt x="964" y="1033"/>
                  <a:pt x="952" y="1046"/>
                  <a:pt x="938" y="1046"/>
                </a:cubicBezTo>
                <a:cubicBezTo>
                  <a:pt x="924" y="1046"/>
                  <a:pt x="913" y="1033"/>
                  <a:pt x="913" y="1019"/>
                </a:cubicBezTo>
                <a:close/>
                <a:moveTo>
                  <a:pt x="331" y="1199"/>
                </a:moveTo>
                <a:lnTo>
                  <a:pt x="737" y="1199"/>
                </a:lnTo>
                <a:lnTo>
                  <a:pt x="737" y="1113"/>
                </a:lnTo>
                <a:lnTo>
                  <a:pt x="331" y="1113"/>
                </a:lnTo>
                <a:lnTo>
                  <a:pt x="331" y="119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03" name="Rectangle 35"/>
          <p:cNvSpPr>
            <a:spLocks noChangeArrowheads="1"/>
          </p:cNvSpPr>
          <p:nvPr/>
        </p:nvSpPr>
        <p:spPr bwMode="auto">
          <a:xfrm>
            <a:off x="7951788" y="3400425"/>
            <a:ext cx="25400" cy="14288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04" name="Rectangle 36"/>
          <p:cNvSpPr>
            <a:spLocks noChangeArrowheads="1"/>
          </p:cNvSpPr>
          <p:nvPr/>
        </p:nvSpPr>
        <p:spPr bwMode="auto">
          <a:xfrm>
            <a:off x="7948613" y="3397250"/>
            <a:ext cx="106362" cy="20638"/>
          </a:xfrm>
          <a:prstGeom prst="rect">
            <a:avLst/>
          </a:prstGeom>
          <a:noFill/>
          <a:ln w="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05" name="Rectangle 37"/>
          <p:cNvSpPr>
            <a:spLocks noChangeArrowheads="1"/>
          </p:cNvSpPr>
          <p:nvPr/>
        </p:nvSpPr>
        <p:spPr bwMode="auto">
          <a:xfrm>
            <a:off x="7927975" y="3587750"/>
            <a:ext cx="657225" cy="16033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06" name="Freeform 38"/>
          <p:cNvSpPr>
            <a:spLocks noEditPoints="1"/>
          </p:cNvSpPr>
          <p:nvPr/>
        </p:nvSpPr>
        <p:spPr bwMode="auto">
          <a:xfrm>
            <a:off x="7927975" y="3587750"/>
            <a:ext cx="657225" cy="160338"/>
          </a:xfrm>
          <a:custGeom>
            <a:avLst/>
            <a:gdLst/>
            <a:ahLst/>
            <a:cxnLst>
              <a:cxn ang="0">
                <a:pos x="0" y="282"/>
              </a:cxn>
              <a:cxn ang="0">
                <a:pos x="1083" y="282"/>
              </a:cxn>
              <a:cxn ang="0">
                <a:pos x="1083" y="0"/>
              </a:cxn>
              <a:cxn ang="0">
                <a:pos x="0" y="0"/>
              </a:cxn>
              <a:cxn ang="0">
                <a:pos x="0" y="282"/>
              </a:cxn>
              <a:cxn ang="0">
                <a:pos x="355" y="0"/>
              </a:cxn>
              <a:cxn ang="0">
                <a:pos x="355" y="282"/>
              </a:cxn>
            </a:cxnLst>
            <a:rect l="0" t="0" r="r" b="b"/>
            <a:pathLst>
              <a:path w="1083" h="282">
                <a:moveTo>
                  <a:pt x="0" y="282"/>
                </a:moveTo>
                <a:lnTo>
                  <a:pt x="1083" y="282"/>
                </a:lnTo>
                <a:lnTo>
                  <a:pt x="1083" y="0"/>
                </a:lnTo>
                <a:lnTo>
                  <a:pt x="0" y="0"/>
                </a:lnTo>
                <a:lnTo>
                  <a:pt x="0" y="282"/>
                </a:lnTo>
                <a:moveTo>
                  <a:pt x="355" y="0"/>
                </a:moveTo>
                <a:cubicBezTo>
                  <a:pt x="333" y="93"/>
                  <a:pt x="333" y="190"/>
                  <a:pt x="355" y="282"/>
                </a:cubicBezTo>
              </a:path>
            </a:pathLst>
          </a:custGeom>
          <a:noFill/>
          <a:ln w="3175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07" name="Rectangle 39"/>
          <p:cNvSpPr>
            <a:spLocks noChangeArrowheads="1"/>
          </p:cNvSpPr>
          <p:nvPr/>
        </p:nvSpPr>
        <p:spPr bwMode="auto">
          <a:xfrm>
            <a:off x="7927975" y="3748088"/>
            <a:ext cx="657225" cy="41275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08" name="Rectangle 40"/>
          <p:cNvSpPr>
            <a:spLocks noChangeArrowheads="1"/>
          </p:cNvSpPr>
          <p:nvPr/>
        </p:nvSpPr>
        <p:spPr bwMode="auto">
          <a:xfrm>
            <a:off x="7927975" y="3748088"/>
            <a:ext cx="657225" cy="41275"/>
          </a:xfrm>
          <a:prstGeom prst="rect">
            <a:avLst/>
          </a:prstGeom>
          <a:noFill/>
          <a:ln w="317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09" name="Rectangle 41"/>
          <p:cNvSpPr>
            <a:spLocks noChangeArrowheads="1"/>
          </p:cNvSpPr>
          <p:nvPr/>
        </p:nvSpPr>
        <p:spPr bwMode="auto">
          <a:xfrm>
            <a:off x="8434388" y="3636963"/>
            <a:ext cx="25400" cy="79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10" name="Freeform 42"/>
          <p:cNvSpPr>
            <a:spLocks noEditPoints="1"/>
          </p:cNvSpPr>
          <p:nvPr/>
        </p:nvSpPr>
        <p:spPr bwMode="auto">
          <a:xfrm>
            <a:off x="8164513" y="3622675"/>
            <a:ext cx="107950" cy="11113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19" y="7"/>
              </a:cxn>
              <a:cxn ang="0">
                <a:pos x="19" y="0"/>
              </a:cxn>
              <a:cxn ang="0">
                <a:pos x="0" y="0"/>
              </a:cxn>
              <a:cxn ang="0">
                <a:pos x="0" y="7"/>
              </a:cxn>
              <a:cxn ang="0">
                <a:pos x="29" y="7"/>
              </a:cxn>
              <a:cxn ang="0">
                <a:pos x="39" y="7"/>
              </a:cxn>
              <a:cxn ang="0">
                <a:pos x="39" y="0"/>
              </a:cxn>
              <a:cxn ang="0">
                <a:pos x="29" y="0"/>
              </a:cxn>
              <a:cxn ang="0">
                <a:pos x="29" y="7"/>
              </a:cxn>
              <a:cxn ang="0">
                <a:pos x="48" y="7"/>
              </a:cxn>
              <a:cxn ang="0">
                <a:pos x="68" y="7"/>
              </a:cxn>
              <a:cxn ang="0">
                <a:pos x="68" y="0"/>
              </a:cxn>
              <a:cxn ang="0">
                <a:pos x="48" y="0"/>
              </a:cxn>
              <a:cxn ang="0">
                <a:pos x="48" y="7"/>
              </a:cxn>
            </a:cxnLst>
            <a:rect l="0" t="0" r="r" b="b"/>
            <a:pathLst>
              <a:path w="68" h="7">
                <a:moveTo>
                  <a:pt x="0" y="7"/>
                </a:moveTo>
                <a:lnTo>
                  <a:pt x="19" y="7"/>
                </a:lnTo>
                <a:lnTo>
                  <a:pt x="19" y="0"/>
                </a:lnTo>
                <a:lnTo>
                  <a:pt x="0" y="0"/>
                </a:lnTo>
                <a:lnTo>
                  <a:pt x="0" y="7"/>
                </a:lnTo>
                <a:close/>
                <a:moveTo>
                  <a:pt x="29" y="7"/>
                </a:moveTo>
                <a:lnTo>
                  <a:pt x="39" y="7"/>
                </a:lnTo>
                <a:lnTo>
                  <a:pt x="39" y="0"/>
                </a:lnTo>
                <a:lnTo>
                  <a:pt x="29" y="0"/>
                </a:lnTo>
                <a:lnTo>
                  <a:pt x="29" y="7"/>
                </a:lnTo>
                <a:close/>
                <a:moveTo>
                  <a:pt x="48" y="7"/>
                </a:moveTo>
                <a:lnTo>
                  <a:pt x="68" y="7"/>
                </a:lnTo>
                <a:lnTo>
                  <a:pt x="68" y="0"/>
                </a:lnTo>
                <a:lnTo>
                  <a:pt x="48" y="0"/>
                </a:lnTo>
                <a:lnTo>
                  <a:pt x="48" y="7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11" name="Rectangle 43"/>
          <p:cNvSpPr>
            <a:spLocks noChangeArrowheads="1"/>
          </p:cNvSpPr>
          <p:nvPr/>
        </p:nvSpPr>
        <p:spPr bwMode="auto">
          <a:xfrm>
            <a:off x="8164513" y="3622675"/>
            <a:ext cx="30162" cy="11113"/>
          </a:xfrm>
          <a:prstGeom prst="rect">
            <a:avLst/>
          </a:prstGeom>
          <a:noFill/>
          <a:ln w="1588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12" name="Rectangle 44"/>
          <p:cNvSpPr>
            <a:spLocks noChangeArrowheads="1"/>
          </p:cNvSpPr>
          <p:nvPr/>
        </p:nvSpPr>
        <p:spPr bwMode="auto">
          <a:xfrm>
            <a:off x="8210550" y="3622675"/>
            <a:ext cx="15875" cy="11113"/>
          </a:xfrm>
          <a:prstGeom prst="rect">
            <a:avLst/>
          </a:prstGeom>
          <a:noFill/>
          <a:ln w="1588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13" name="Rectangle 45"/>
          <p:cNvSpPr>
            <a:spLocks noChangeArrowheads="1"/>
          </p:cNvSpPr>
          <p:nvPr/>
        </p:nvSpPr>
        <p:spPr bwMode="auto">
          <a:xfrm>
            <a:off x="8240713" y="3622675"/>
            <a:ext cx="31750" cy="11113"/>
          </a:xfrm>
          <a:prstGeom prst="rect">
            <a:avLst/>
          </a:prstGeom>
          <a:noFill/>
          <a:ln w="1588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14" name="Freeform 46"/>
          <p:cNvSpPr>
            <a:spLocks noEditPoints="1"/>
          </p:cNvSpPr>
          <p:nvPr/>
        </p:nvSpPr>
        <p:spPr bwMode="auto">
          <a:xfrm>
            <a:off x="7948613" y="3603625"/>
            <a:ext cx="474662" cy="61913"/>
          </a:xfrm>
          <a:custGeom>
            <a:avLst/>
            <a:gdLst/>
            <a:ahLst/>
            <a:cxnLst>
              <a:cxn ang="0">
                <a:pos x="0" y="39"/>
              </a:cxn>
              <a:cxn ang="0">
                <a:pos x="38" y="39"/>
              </a:cxn>
              <a:cxn ang="0">
                <a:pos x="38" y="0"/>
              </a:cxn>
              <a:cxn ang="0">
                <a:pos x="0" y="0"/>
              </a:cxn>
              <a:cxn ang="0">
                <a:pos x="0" y="39"/>
              </a:cxn>
              <a:cxn ang="0">
                <a:pos x="264" y="29"/>
              </a:cxn>
              <a:cxn ang="0">
                <a:pos x="299" y="29"/>
              </a:cxn>
              <a:cxn ang="0">
                <a:pos x="299" y="9"/>
              </a:cxn>
              <a:cxn ang="0">
                <a:pos x="264" y="9"/>
              </a:cxn>
              <a:cxn ang="0">
                <a:pos x="264" y="29"/>
              </a:cxn>
            </a:cxnLst>
            <a:rect l="0" t="0" r="r" b="b"/>
            <a:pathLst>
              <a:path w="299" h="39">
                <a:moveTo>
                  <a:pt x="0" y="39"/>
                </a:moveTo>
                <a:lnTo>
                  <a:pt x="38" y="39"/>
                </a:lnTo>
                <a:lnTo>
                  <a:pt x="38" y="0"/>
                </a:lnTo>
                <a:lnTo>
                  <a:pt x="0" y="0"/>
                </a:lnTo>
                <a:lnTo>
                  <a:pt x="0" y="39"/>
                </a:lnTo>
                <a:close/>
                <a:moveTo>
                  <a:pt x="264" y="29"/>
                </a:moveTo>
                <a:lnTo>
                  <a:pt x="299" y="29"/>
                </a:lnTo>
                <a:lnTo>
                  <a:pt x="299" y="9"/>
                </a:lnTo>
                <a:lnTo>
                  <a:pt x="264" y="9"/>
                </a:lnTo>
                <a:lnTo>
                  <a:pt x="264" y="29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15" name="Line 47"/>
          <p:cNvSpPr>
            <a:spLocks noChangeShapeType="1"/>
          </p:cNvSpPr>
          <p:nvPr/>
        </p:nvSpPr>
        <p:spPr bwMode="auto">
          <a:xfrm>
            <a:off x="8323263" y="3627438"/>
            <a:ext cx="144462" cy="15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16" name="Freeform 48"/>
          <p:cNvSpPr>
            <a:spLocks noEditPoints="1"/>
          </p:cNvSpPr>
          <p:nvPr/>
        </p:nvSpPr>
        <p:spPr bwMode="auto">
          <a:xfrm>
            <a:off x="7931150" y="3587750"/>
            <a:ext cx="650875" cy="190500"/>
          </a:xfrm>
          <a:custGeom>
            <a:avLst/>
            <a:gdLst/>
            <a:ahLst/>
            <a:cxnLst>
              <a:cxn ang="0">
                <a:pos x="369" y="269"/>
              </a:cxn>
              <a:cxn ang="0">
                <a:pos x="1064" y="269"/>
              </a:cxn>
              <a:cxn ang="0">
                <a:pos x="1064" y="13"/>
              </a:cxn>
              <a:cxn ang="0">
                <a:pos x="369" y="13"/>
              </a:cxn>
              <a:cxn ang="0">
                <a:pos x="369" y="269"/>
              </a:cxn>
              <a:cxn ang="0">
                <a:pos x="568" y="14"/>
              </a:cxn>
              <a:cxn ang="0">
                <a:pos x="568" y="269"/>
              </a:cxn>
              <a:cxn ang="0">
                <a:pos x="568" y="99"/>
              </a:cxn>
              <a:cxn ang="0">
                <a:pos x="355" y="99"/>
              </a:cxn>
              <a:cxn ang="0">
                <a:pos x="568" y="185"/>
              </a:cxn>
              <a:cxn ang="0">
                <a:pos x="355" y="185"/>
              </a:cxn>
              <a:cxn ang="0">
                <a:pos x="628" y="237"/>
              </a:cxn>
              <a:cxn ang="0">
                <a:pos x="1026" y="237"/>
              </a:cxn>
              <a:cxn ang="0">
                <a:pos x="1026" y="48"/>
              </a:cxn>
              <a:cxn ang="0">
                <a:pos x="628" y="48"/>
              </a:cxn>
              <a:cxn ang="0">
                <a:pos x="628" y="237"/>
              </a:cxn>
              <a:cxn ang="0">
                <a:pos x="899" y="48"/>
              </a:cxn>
              <a:cxn ang="0">
                <a:pos x="899" y="120"/>
              </a:cxn>
              <a:cxn ang="0">
                <a:pos x="628" y="120"/>
              </a:cxn>
              <a:cxn ang="0">
                <a:pos x="1026" y="120"/>
              </a:cxn>
              <a:cxn ang="0">
                <a:pos x="966" y="334"/>
              </a:cxn>
              <a:cxn ang="0">
                <a:pos x="1051" y="334"/>
              </a:cxn>
              <a:cxn ang="0">
                <a:pos x="1068" y="320"/>
              </a:cxn>
              <a:cxn ang="0">
                <a:pos x="1055" y="302"/>
              </a:cxn>
              <a:cxn ang="0">
                <a:pos x="1051" y="302"/>
              </a:cxn>
              <a:cxn ang="0">
                <a:pos x="1051" y="302"/>
              </a:cxn>
              <a:cxn ang="0">
                <a:pos x="966" y="302"/>
              </a:cxn>
              <a:cxn ang="0">
                <a:pos x="966" y="334"/>
              </a:cxn>
              <a:cxn ang="0">
                <a:pos x="103" y="334"/>
              </a:cxn>
              <a:cxn ang="0">
                <a:pos x="18" y="334"/>
              </a:cxn>
              <a:cxn ang="0">
                <a:pos x="1" y="320"/>
              </a:cxn>
              <a:cxn ang="0">
                <a:pos x="14" y="302"/>
              </a:cxn>
              <a:cxn ang="0">
                <a:pos x="18" y="302"/>
              </a:cxn>
              <a:cxn ang="0">
                <a:pos x="18" y="302"/>
              </a:cxn>
              <a:cxn ang="0">
                <a:pos x="103" y="302"/>
              </a:cxn>
              <a:cxn ang="0">
                <a:pos x="103" y="334"/>
              </a:cxn>
              <a:cxn ang="0">
                <a:pos x="382" y="81"/>
              </a:cxn>
              <a:cxn ang="0">
                <a:pos x="560" y="81"/>
              </a:cxn>
              <a:cxn ang="0">
                <a:pos x="560" y="63"/>
              </a:cxn>
              <a:cxn ang="0">
                <a:pos x="382" y="63"/>
              </a:cxn>
              <a:cxn ang="0">
                <a:pos x="382" y="81"/>
              </a:cxn>
              <a:cxn ang="0">
                <a:pos x="382" y="13"/>
              </a:cxn>
              <a:cxn ang="0">
                <a:pos x="382" y="0"/>
              </a:cxn>
              <a:cxn ang="0">
                <a:pos x="382" y="282"/>
              </a:cxn>
              <a:cxn ang="0">
                <a:pos x="382" y="269"/>
              </a:cxn>
            </a:cxnLst>
            <a:rect l="0" t="0" r="r" b="b"/>
            <a:pathLst>
              <a:path w="1069" h="335">
                <a:moveTo>
                  <a:pt x="369" y="269"/>
                </a:moveTo>
                <a:lnTo>
                  <a:pt x="1064" y="269"/>
                </a:lnTo>
                <a:lnTo>
                  <a:pt x="1064" y="13"/>
                </a:lnTo>
                <a:lnTo>
                  <a:pt x="369" y="13"/>
                </a:lnTo>
                <a:cubicBezTo>
                  <a:pt x="347" y="97"/>
                  <a:pt x="347" y="185"/>
                  <a:pt x="369" y="269"/>
                </a:cubicBezTo>
                <a:moveTo>
                  <a:pt x="568" y="14"/>
                </a:moveTo>
                <a:lnTo>
                  <a:pt x="568" y="269"/>
                </a:lnTo>
                <a:moveTo>
                  <a:pt x="568" y="99"/>
                </a:moveTo>
                <a:lnTo>
                  <a:pt x="355" y="99"/>
                </a:lnTo>
                <a:moveTo>
                  <a:pt x="568" y="185"/>
                </a:moveTo>
                <a:lnTo>
                  <a:pt x="355" y="185"/>
                </a:lnTo>
                <a:moveTo>
                  <a:pt x="628" y="237"/>
                </a:moveTo>
                <a:lnTo>
                  <a:pt x="1026" y="237"/>
                </a:lnTo>
                <a:lnTo>
                  <a:pt x="1026" y="48"/>
                </a:lnTo>
                <a:lnTo>
                  <a:pt x="628" y="48"/>
                </a:lnTo>
                <a:lnTo>
                  <a:pt x="628" y="237"/>
                </a:lnTo>
                <a:moveTo>
                  <a:pt x="899" y="48"/>
                </a:moveTo>
                <a:lnTo>
                  <a:pt x="899" y="120"/>
                </a:lnTo>
                <a:moveTo>
                  <a:pt x="628" y="120"/>
                </a:moveTo>
                <a:lnTo>
                  <a:pt x="1026" y="120"/>
                </a:lnTo>
                <a:moveTo>
                  <a:pt x="966" y="334"/>
                </a:moveTo>
                <a:lnTo>
                  <a:pt x="1051" y="334"/>
                </a:lnTo>
                <a:cubicBezTo>
                  <a:pt x="1059" y="335"/>
                  <a:pt x="1067" y="329"/>
                  <a:pt x="1068" y="320"/>
                </a:cubicBezTo>
                <a:cubicBezTo>
                  <a:pt x="1069" y="312"/>
                  <a:pt x="1063" y="304"/>
                  <a:pt x="1055" y="302"/>
                </a:cubicBezTo>
                <a:cubicBezTo>
                  <a:pt x="1054" y="302"/>
                  <a:pt x="1052" y="302"/>
                  <a:pt x="1051" y="302"/>
                </a:cubicBezTo>
                <a:lnTo>
                  <a:pt x="1051" y="302"/>
                </a:lnTo>
                <a:lnTo>
                  <a:pt x="966" y="302"/>
                </a:lnTo>
                <a:lnTo>
                  <a:pt x="966" y="334"/>
                </a:lnTo>
                <a:moveTo>
                  <a:pt x="103" y="334"/>
                </a:moveTo>
                <a:lnTo>
                  <a:pt x="18" y="334"/>
                </a:lnTo>
                <a:cubicBezTo>
                  <a:pt x="10" y="335"/>
                  <a:pt x="2" y="329"/>
                  <a:pt x="1" y="320"/>
                </a:cubicBezTo>
                <a:cubicBezTo>
                  <a:pt x="0" y="312"/>
                  <a:pt x="6" y="304"/>
                  <a:pt x="14" y="302"/>
                </a:cubicBezTo>
                <a:cubicBezTo>
                  <a:pt x="15" y="302"/>
                  <a:pt x="17" y="302"/>
                  <a:pt x="18" y="302"/>
                </a:cubicBezTo>
                <a:lnTo>
                  <a:pt x="18" y="302"/>
                </a:lnTo>
                <a:lnTo>
                  <a:pt x="103" y="302"/>
                </a:lnTo>
                <a:lnTo>
                  <a:pt x="103" y="334"/>
                </a:lnTo>
                <a:moveTo>
                  <a:pt x="382" y="81"/>
                </a:moveTo>
                <a:lnTo>
                  <a:pt x="560" y="81"/>
                </a:lnTo>
                <a:lnTo>
                  <a:pt x="560" y="63"/>
                </a:lnTo>
                <a:lnTo>
                  <a:pt x="382" y="63"/>
                </a:lnTo>
                <a:lnTo>
                  <a:pt x="382" y="81"/>
                </a:lnTo>
                <a:moveTo>
                  <a:pt x="382" y="13"/>
                </a:moveTo>
                <a:lnTo>
                  <a:pt x="382" y="0"/>
                </a:lnTo>
                <a:moveTo>
                  <a:pt x="382" y="282"/>
                </a:moveTo>
                <a:lnTo>
                  <a:pt x="382" y="269"/>
                </a:lnTo>
              </a:path>
            </a:pathLst>
          </a:custGeom>
          <a:noFill/>
          <a:ln w="1588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17" name="Freeform 49"/>
          <p:cNvSpPr>
            <a:spLocks noEditPoints="1"/>
          </p:cNvSpPr>
          <p:nvPr/>
        </p:nvSpPr>
        <p:spPr bwMode="auto">
          <a:xfrm>
            <a:off x="8167688" y="3629025"/>
            <a:ext cx="185737" cy="39688"/>
          </a:xfrm>
          <a:custGeom>
            <a:avLst/>
            <a:gdLst/>
            <a:ahLst/>
            <a:cxnLst>
              <a:cxn ang="0">
                <a:pos x="0" y="25"/>
              </a:cxn>
              <a:cxn ang="0">
                <a:pos x="6" y="25"/>
              </a:cxn>
              <a:cxn ang="0">
                <a:pos x="0" y="0"/>
              </a:cxn>
              <a:cxn ang="0">
                <a:pos x="6" y="0"/>
              </a:cxn>
              <a:cxn ang="0">
                <a:pos x="49" y="0"/>
              </a:cxn>
              <a:cxn ang="0">
                <a:pos x="55" y="0"/>
              </a:cxn>
              <a:cxn ang="0">
                <a:pos x="111" y="9"/>
              </a:cxn>
              <a:cxn ang="0">
                <a:pos x="117" y="9"/>
              </a:cxn>
            </a:cxnLst>
            <a:rect l="0" t="0" r="r" b="b"/>
            <a:pathLst>
              <a:path w="117" h="25">
                <a:moveTo>
                  <a:pt x="0" y="25"/>
                </a:moveTo>
                <a:lnTo>
                  <a:pt x="6" y="25"/>
                </a:lnTo>
                <a:moveTo>
                  <a:pt x="0" y="0"/>
                </a:moveTo>
                <a:lnTo>
                  <a:pt x="6" y="0"/>
                </a:lnTo>
                <a:moveTo>
                  <a:pt x="49" y="0"/>
                </a:moveTo>
                <a:lnTo>
                  <a:pt x="55" y="0"/>
                </a:lnTo>
                <a:moveTo>
                  <a:pt x="111" y="9"/>
                </a:moveTo>
                <a:lnTo>
                  <a:pt x="117" y="9"/>
                </a:lnTo>
              </a:path>
            </a:pathLst>
          </a:cu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18" name="Line 50"/>
          <p:cNvSpPr>
            <a:spLocks noChangeShapeType="1"/>
          </p:cNvSpPr>
          <p:nvPr/>
        </p:nvSpPr>
        <p:spPr bwMode="auto">
          <a:xfrm flipV="1">
            <a:off x="7421563" y="3284538"/>
            <a:ext cx="388937" cy="504825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19" name="Freeform 51"/>
          <p:cNvSpPr>
            <a:spLocks/>
          </p:cNvSpPr>
          <p:nvPr/>
        </p:nvSpPr>
        <p:spPr bwMode="auto">
          <a:xfrm>
            <a:off x="7769225" y="3187700"/>
            <a:ext cx="117475" cy="131763"/>
          </a:xfrm>
          <a:custGeom>
            <a:avLst/>
            <a:gdLst/>
            <a:ahLst/>
            <a:cxnLst>
              <a:cxn ang="0">
                <a:pos x="0" y="49"/>
              </a:cxn>
              <a:cxn ang="0">
                <a:pos x="74" y="0"/>
              </a:cxn>
              <a:cxn ang="0">
                <a:pos x="44" y="83"/>
              </a:cxn>
              <a:cxn ang="0">
                <a:pos x="0" y="49"/>
              </a:cxn>
            </a:cxnLst>
            <a:rect l="0" t="0" r="r" b="b"/>
            <a:pathLst>
              <a:path w="74" h="83">
                <a:moveTo>
                  <a:pt x="0" y="49"/>
                </a:moveTo>
                <a:lnTo>
                  <a:pt x="74" y="0"/>
                </a:lnTo>
                <a:lnTo>
                  <a:pt x="44" y="83"/>
                </a:lnTo>
                <a:lnTo>
                  <a:pt x="0" y="49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20" name="Freeform 52"/>
          <p:cNvSpPr>
            <a:spLocks noEditPoints="1"/>
          </p:cNvSpPr>
          <p:nvPr/>
        </p:nvSpPr>
        <p:spPr bwMode="auto">
          <a:xfrm>
            <a:off x="7948613" y="4918075"/>
            <a:ext cx="644525" cy="130175"/>
          </a:xfrm>
          <a:custGeom>
            <a:avLst/>
            <a:gdLst/>
            <a:ahLst/>
            <a:cxnLst>
              <a:cxn ang="0">
                <a:pos x="0" y="35"/>
              </a:cxn>
              <a:cxn ang="0">
                <a:pos x="406" y="35"/>
              </a:cxn>
              <a:cxn ang="0">
                <a:pos x="406" y="0"/>
              </a:cxn>
              <a:cxn ang="0">
                <a:pos x="0" y="0"/>
              </a:cxn>
              <a:cxn ang="0">
                <a:pos x="0" y="35"/>
              </a:cxn>
              <a:cxn ang="0">
                <a:pos x="71" y="82"/>
              </a:cxn>
              <a:cxn ang="0">
                <a:pos x="335" y="82"/>
              </a:cxn>
              <a:cxn ang="0">
                <a:pos x="335" y="67"/>
              </a:cxn>
              <a:cxn ang="0">
                <a:pos x="71" y="67"/>
              </a:cxn>
              <a:cxn ang="0">
                <a:pos x="71" y="82"/>
              </a:cxn>
            </a:cxnLst>
            <a:rect l="0" t="0" r="r" b="b"/>
            <a:pathLst>
              <a:path w="406" h="82">
                <a:moveTo>
                  <a:pt x="0" y="35"/>
                </a:moveTo>
                <a:lnTo>
                  <a:pt x="406" y="35"/>
                </a:lnTo>
                <a:lnTo>
                  <a:pt x="406" y="0"/>
                </a:lnTo>
                <a:lnTo>
                  <a:pt x="0" y="0"/>
                </a:lnTo>
                <a:lnTo>
                  <a:pt x="0" y="35"/>
                </a:lnTo>
                <a:close/>
                <a:moveTo>
                  <a:pt x="71" y="82"/>
                </a:moveTo>
                <a:lnTo>
                  <a:pt x="335" y="82"/>
                </a:lnTo>
                <a:lnTo>
                  <a:pt x="335" y="67"/>
                </a:lnTo>
                <a:lnTo>
                  <a:pt x="71" y="67"/>
                </a:lnTo>
                <a:lnTo>
                  <a:pt x="71" y="82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21" name="Rectangle 53"/>
          <p:cNvSpPr>
            <a:spLocks noChangeArrowheads="1"/>
          </p:cNvSpPr>
          <p:nvPr/>
        </p:nvSpPr>
        <p:spPr bwMode="auto">
          <a:xfrm>
            <a:off x="7948613" y="4918075"/>
            <a:ext cx="644525" cy="55563"/>
          </a:xfrm>
          <a:prstGeom prst="rect">
            <a:avLst/>
          </a:prstGeom>
          <a:noFill/>
          <a:ln w="317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22" name="Rectangle 54"/>
          <p:cNvSpPr>
            <a:spLocks noChangeArrowheads="1"/>
          </p:cNvSpPr>
          <p:nvPr/>
        </p:nvSpPr>
        <p:spPr bwMode="auto">
          <a:xfrm>
            <a:off x="8061325" y="5024438"/>
            <a:ext cx="419100" cy="23812"/>
          </a:xfrm>
          <a:prstGeom prst="rect">
            <a:avLst/>
          </a:prstGeom>
          <a:noFill/>
          <a:ln w="317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23" name="Line 55"/>
          <p:cNvSpPr>
            <a:spLocks noChangeShapeType="1"/>
          </p:cNvSpPr>
          <p:nvPr/>
        </p:nvSpPr>
        <p:spPr bwMode="auto">
          <a:xfrm>
            <a:off x="7972425" y="4379913"/>
            <a:ext cx="1588" cy="50800"/>
          </a:xfrm>
          <a:prstGeom prst="line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24" name="Rectangle 56"/>
          <p:cNvSpPr>
            <a:spLocks noChangeArrowheads="1"/>
          </p:cNvSpPr>
          <p:nvPr/>
        </p:nvSpPr>
        <p:spPr bwMode="auto">
          <a:xfrm>
            <a:off x="8534400" y="4948238"/>
            <a:ext cx="31750" cy="174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25" name="Line 57"/>
          <p:cNvSpPr>
            <a:spLocks noChangeShapeType="1"/>
          </p:cNvSpPr>
          <p:nvPr/>
        </p:nvSpPr>
        <p:spPr bwMode="auto">
          <a:xfrm>
            <a:off x="8512175" y="4957763"/>
            <a:ext cx="9525" cy="1587"/>
          </a:xfrm>
          <a:prstGeom prst="line">
            <a:avLst/>
          </a:prstGeom>
          <a:noFill/>
          <a:ln w="317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26" name="Freeform 58"/>
          <p:cNvSpPr>
            <a:spLocks/>
          </p:cNvSpPr>
          <p:nvPr/>
        </p:nvSpPr>
        <p:spPr bwMode="auto">
          <a:xfrm>
            <a:off x="7886700" y="4281488"/>
            <a:ext cx="768350" cy="658812"/>
          </a:xfrm>
          <a:custGeom>
            <a:avLst/>
            <a:gdLst/>
            <a:ahLst/>
            <a:cxnLst>
              <a:cxn ang="0">
                <a:pos x="0" y="400"/>
              </a:cxn>
              <a:cxn ang="0">
                <a:pos x="39" y="400"/>
              </a:cxn>
              <a:cxn ang="0">
                <a:pos x="39" y="415"/>
              </a:cxn>
              <a:cxn ang="0">
                <a:pos x="445" y="415"/>
              </a:cxn>
              <a:cxn ang="0">
                <a:pos x="445" y="400"/>
              </a:cxn>
              <a:cxn ang="0">
                <a:pos x="484" y="400"/>
              </a:cxn>
              <a:cxn ang="0">
                <a:pos x="484" y="0"/>
              </a:cxn>
              <a:cxn ang="0">
                <a:pos x="0" y="0"/>
              </a:cxn>
              <a:cxn ang="0">
                <a:pos x="0" y="400"/>
              </a:cxn>
            </a:cxnLst>
            <a:rect l="0" t="0" r="r" b="b"/>
            <a:pathLst>
              <a:path w="484" h="415">
                <a:moveTo>
                  <a:pt x="0" y="400"/>
                </a:moveTo>
                <a:lnTo>
                  <a:pt x="39" y="400"/>
                </a:lnTo>
                <a:lnTo>
                  <a:pt x="39" y="415"/>
                </a:lnTo>
                <a:lnTo>
                  <a:pt x="445" y="415"/>
                </a:lnTo>
                <a:lnTo>
                  <a:pt x="445" y="400"/>
                </a:lnTo>
                <a:lnTo>
                  <a:pt x="484" y="400"/>
                </a:lnTo>
                <a:lnTo>
                  <a:pt x="484" y="0"/>
                </a:lnTo>
                <a:lnTo>
                  <a:pt x="0" y="0"/>
                </a:lnTo>
                <a:lnTo>
                  <a:pt x="0" y="40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27" name="Freeform 59"/>
          <p:cNvSpPr>
            <a:spLocks noEditPoints="1"/>
          </p:cNvSpPr>
          <p:nvPr/>
        </p:nvSpPr>
        <p:spPr bwMode="auto">
          <a:xfrm>
            <a:off x="7886700" y="4281488"/>
            <a:ext cx="768350" cy="658812"/>
          </a:xfrm>
          <a:custGeom>
            <a:avLst/>
            <a:gdLst/>
            <a:ahLst/>
            <a:cxnLst>
              <a:cxn ang="0">
                <a:pos x="0" y="400"/>
              </a:cxn>
              <a:cxn ang="0">
                <a:pos x="39" y="400"/>
              </a:cxn>
              <a:cxn ang="0">
                <a:pos x="39" y="415"/>
              </a:cxn>
              <a:cxn ang="0">
                <a:pos x="445" y="415"/>
              </a:cxn>
              <a:cxn ang="0">
                <a:pos x="445" y="400"/>
              </a:cxn>
              <a:cxn ang="0">
                <a:pos x="484" y="400"/>
              </a:cxn>
              <a:cxn ang="0">
                <a:pos x="484" y="0"/>
              </a:cxn>
              <a:cxn ang="0">
                <a:pos x="0" y="0"/>
              </a:cxn>
              <a:cxn ang="0">
                <a:pos x="0" y="400"/>
              </a:cxn>
              <a:cxn ang="0">
                <a:pos x="445" y="400"/>
              </a:cxn>
              <a:cxn ang="0">
                <a:pos x="39" y="400"/>
              </a:cxn>
            </a:cxnLst>
            <a:rect l="0" t="0" r="r" b="b"/>
            <a:pathLst>
              <a:path w="484" h="415">
                <a:moveTo>
                  <a:pt x="0" y="400"/>
                </a:moveTo>
                <a:lnTo>
                  <a:pt x="39" y="400"/>
                </a:lnTo>
                <a:lnTo>
                  <a:pt x="39" y="415"/>
                </a:lnTo>
                <a:lnTo>
                  <a:pt x="445" y="415"/>
                </a:lnTo>
                <a:lnTo>
                  <a:pt x="445" y="400"/>
                </a:lnTo>
                <a:lnTo>
                  <a:pt x="484" y="400"/>
                </a:lnTo>
                <a:lnTo>
                  <a:pt x="484" y="0"/>
                </a:lnTo>
                <a:lnTo>
                  <a:pt x="0" y="0"/>
                </a:lnTo>
                <a:lnTo>
                  <a:pt x="0" y="400"/>
                </a:lnTo>
                <a:moveTo>
                  <a:pt x="445" y="400"/>
                </a:moveTo>
                <a:lnTo>
                  <a:pt x="39" y="400"/>
                </a:lnTo>
              </a:path>
            </a:pathLst>
          </a:custGeom>
          <a:noFill/>
          <a:ln w="3175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28" name="Freeform 60"/>
          <p:cNvSpPr>
            <a:spLocks noEditPoints="1"/>
          </p:cNvSpPr>
          <p:nvPr/>
        </p:nvSpPr>
        <p:spPr bwMode="auto">
          <a:xfrm>
            <a:off x="7947025" y="4341813"/>
            <a:ext cx="647700" cy="681037"/>
          </a:xfrm>
          <a:custGeom>
            <a:avLst/>
            <a:gdLst/>
            <a:ahLst/>
            <a:cxnLst>
              <a:cxn ang="0">
                <a:pos x="0" y="906"/>
              </a:cxn>
              <a:cxn ang="0">
                <a:pos x="1067" y="906"/>
              </a:cxn>
              <a:cxn ang="0">
                <a:pos x="1067" y="0"/>
              </a:cxn>
              <a:cxn ang="0">
                <a:pos x="0" y="0"/>
              </a:cxn>
              <a:cxn ang="0">
                <a:pos x="0" y="906"/>
              </a:cxn>
              <a:cxn ang="0">
                <a:pos x="53" y="1018"/>
              </a:cxn>
              <a:cxn ang="0">
                <a:pos x="104" y="1018"/>
              </a:cxn>
              <a:cxn ang="0">
                <a:pos x="79" y="1046"/>
              </a:cxn>
              <a:cxn ang="0">
                <a:pos x="53" y="1018"/>
              </a:cxn>
              <a:cxn ang="0">
                <a:pos x="138" y="1018"/>
              </a:cxn>
              <a:cxn ang="0">
                <a:pos x="189" y="1018"/>
              </a:cxn>
              <a:cxn ang="0">
                <a:pos x="163" y="1046"/>
              </a:cxn>
              <a:cxn ang="0">
                <a:pos x="138" y="1018"/>
              </a:cxn>
              <a:cxn ang="0">
                <a:pos x="223" y="1018"/>
              </a:cxn>
              <a:cxn ang="0">
                <a:pos x="274" y="1018"/>
              </a:cxn>
              <a:cxn ang="0">
                <a:pos x="248" y="1046"/>
              </a:cxn>
              <a:cxn ang="0">
                <a:pos x="223" y="1018"/>
              </a:cxn>
              <a:cxn ang="0">
                <a:pos x="307" y="1018"/>
              </a:cxn>
              <a:cxn ang="0">
                <a:pos x="358" y="1018"/>
              </a:cxn>
              <a:cxn ang="0">
                <a:pos x="333" y="1046"/>
              </a:cxn>
              <a:cxn ang="0">
                <a:pos x="307" y="1018"/>
              </a:cxn>
              <a:cxn ang="0">
                <a:pos x="913" y="1018"/>
              </a:cxn>
              <a:cxn ang="0">
                <a:pos x="964" y="1018"/>
              </a:cxn>
              <a:cxn ang="0">
                <a:pos x="938" y="1046"/>
              </a:cxn>
              <a:cxn ang="0">
                <a:pos x="913" y="1018"/>
              </a:cxn>
              <a:cxn ang="0">
                <a:pos x="331" y="1199"/>
              </a:cxn>
              <a:cxn ang="0">
                <a:pos x="737" y="1199"/>
              </a:cxn>
              <a:cxn ang="0">
                <a:pos x="737" y="1113"/>
              </a:cxn>
              <a:cxn ang="0">
                <a:pos x="331" y="1113"/>
              </a:cxn>
              <a:cxn ang="0">
                <a:pos x="331" y="1199"/>
              </a:cxn>
            </a:cxnLst>
            <a:rect l="0" t="0" r="r" b="b"/>
            <a:pathLst>
              <a:path w="1067" h="1199">
                <a:moveTo>
                  <a:pt x="0" y="906"/>
                </a:moveTo>
                <a:lnTo>
                  <a:pt x="1067" y="906"/>
                </a:lnTo>
                <a:lnTo>
                  <a:pt x="1067" y="0"/>
                </a:lnTo>
                <a:lnTo>
                  <a:pt x="0" y="0"/>
                </a:lnTo>
                <a:lnTo>
                  <a:pt x="0" y="906"/>
                </a:lnTo>
                <a:close/>
                <a:moveTo>
                  <a:pt x="53" y="1018"/>
                </a:moveTo>
                <a:lnTo>
                  <a:pt x="104" y="1018"/>
                </a:lnTo>
                <a:cubicBezTo>
                  <a:pt x="104" y="1033"/>
                  <a:pt x="93" y="1046"/>
                  <a:pt x="79" y="1046"/>
                </a:cubicBezTo>
                <a:cubicBezTo>
                  <a:pt x="65" y="1046"/>
                  <a:pt x="53" y="1033"/>
                  <a:pt x="53" y="1018"/>
                </a:cubicBezTo>
                <a:close/>
                <a:moveTo>
                  <a:pt x="138" y="1018"/>
                </a:moveTo>
                <a:lnTo>
                  <a:pt x="189" y="1018"/>
                </a:lnTo>
                <a:cubicBezTo>
                  <a:pt x="189" y="1033"/>
                  <a:pt x="177" y="1046"/>
                  <a:pt x="163" y="1046"/>
                </a:cubicBezTo>
                <a:cubicBezTo>
                  <a:pt x="149" y="1046"/>
                  <a:pt x="138" y="1033"/>
                  <a:pt x="138" y="1018"/>
                </a:cubicBezTo>
                <a:close/>
                <a:moveTo>
                  <a:pt x="223" y="1018"/>
                </a:moveTo>
                <a:lnTo>
                  <a:pt x="274" y="1018"/>
                </a:lnTo>
                <a:cubicBezTo>
                  <a:pt x="274" y="1033"/>
                  <a:pt x="262" y="1046"/>
                  <a:pt x="248" y="1046"/>
                </a:cubicBezTo>
                <a:cubicBezTo>
                  <a:pt x="234" y="1046"/>
                  <a:pt x="223" y="1033"/>
                  <a:pt x="223" y="1018"/>
                </a:cubicBezTo>
                <a:close/>
                <a:moveTo>
                  <a:pt x="307" y="1018"/>
                </a:moveTo>
                <a:lnTo>
                  <a:pt x="358" y="1018"/>
                </a:lnTo>
                <a:cubicBezTo>
                  <a:pt x="358" y="1033"/>
                  <a:pt x="347" y="1046"/>
                  <a:pt x="333" y="1046"/>
                </a:cubicBezTo>
                <a:cubicBezTo>
                  <a:pt x="319" y="1046"/>
                  <a:pt x="307" y="1033"/>
                  <a:pt x="307" y="1018"/>
                </a:cubicBezTo>
                <a:close/>
                <a:moveTo>
                  <a:pt x="913" y="1018"/>
                </a:moveTo>
                <a:lnTo>
                  <a:pt x="964" y="1018"/>
                </a:lnTo>
                <a:cubicBezTo>
                  <a:pt x="964" y="1033"/>
                  <a:pt x="952" y="1046"/>
                  <a:pt x="938" y="1046"/>
                </a:cubicBezTo>
                <a:cubicBezTo>
                  <a:pt x="924" y="1046"/>
                  <a:pt x="913" y="1033"/>
                  <a:pt x="913" y="1018"/>
                </a:cubicBezTo>
                <a:close/>
                <a:moveTo>
                  <a:pt x="331" y="1199"/>
                </a:moveTo>
                <a:lnTo>
                  <a:pt x="737" y="1199"/>
                </a:lnTo>
                <a:lnTo>
                  <a:pt x="737" y="1113"/>
                </a:lnTo>
                <a:lnTo>
                  <a:pt x="331" y="1113"/>
                </a:lnTo>
                <a:lnTo>
                  <a:pt x="331" y="119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29" name="Rectangle 61"/>
          <p:cNvSpPr>
            <a:spLocks noChangeArrowheads="1"/>
          </p:cNvSpPr>
          <p:nvPr/>
        </p:nvSpPr>
        <p:spPr bwMode="auto">
          <a:xfrm>
            <a:off x="7951788" y="4876800"/>
            <a:ext cx="25400" cy="15875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30" name="Rectangle 62"/>
          <p:cNvSpPr>
            <a:spLocks noChangeArrowheads="1"/>
          </p:cNvSpPr>
          <p:nvPr/>
        </p:nvSpPr>
        <p:spPr bwMode="auto">
          <a:xfrm>
            <a:off x="7948613" y="4873625"/>
            <a:ext cx="106362" cy="20638"/>
          </a:xfrm>
          <a:prstGeom prst="rect">
            <a:avLst/>
          </a:prstGeom>
          <a:noFill/>
          <a:ln w="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31" name="Rectangle 63"/>
          <p:cNvSpPr>
            <a:spLocks noChangeArrowheads="1"/>
          </p:cNvSpPr>
          <p:nvPr/>
        </p:nvSpPr>
        <p:spPr bwMode="auto">
          <a:xfrm>
            <a:off x="7927975" y="5064125"/>
            <a:ext cx="657225" cy="16033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32" name="Freeform 64"/>
          <p:cNvSpPr>
            <a:spLocks noEditPoints="1"/>
          </p:cNvSpPr>
          <p:nvPr/>
        </p:nvSpPr>
        <p:spPr bwMode="auto">
          <a:xfrm>
            <a:off x="7927975" y="5064125"/>
            <a:ext cx="657225" cy="160338"/>
          </a:xfrm>
          <a:custGeom>
            <a:avLst/>
            <a:gdLst/>
            <a:ahLst/>
            <a:cxnLst>
              <a:cxn ang="0">
                <a:pos x="0" y="282"/>
              </a:cxn>
              <a:cxn ang="0">
                <a:pos x="1083" y="282"/>
              </a:cxn>
              <a:cxn ang="0">
                <a:pos x="1083" y="0"/>
              </a:cxn>
              <a:cxn ang="0">
                <a:pos x="0" y="0"/>
              </a:cxn>
              <a:cxn ang="0">
                <a:pos x="0" y="282"/>
              </a:cxn>
              <a:cxn ang="0">
                <a:pos x="355" y="0"/>
              </a:cxn>
              <a:cxn ang="0">
                <a:pos x="355" y="282"/>
              </a:cxn>
            </a:cxnLst>
            <a:rect l="0" t="0" r="r" b="b"/>
            <a:pathLst>
              <a:path w="1083" h="282">
                <a:moveTo>
                  <a:pt x="0" y="282"/>
                </a:moveTo>
                <a:lnTo>
                  <a:pt x="1083" y="282"/>
                </a:lnTo>
                <a:lnTo>
                  <a:pt x="1083" y="0"/>
                </a:lnTo>
                <a:lnTo>
                  <a:pt x="0" y="0"/>
                </a:lnTo>
                <a:lnTo>
                  <a:pt x="0" y="282"/>
                </a:lnTo>
                <a:moveTo>
                  <a:pt x="355" y="0"/>
                </a:moveTo>
                <a:cubicBezTo>
                  <a:pt x="333" y="93"/>
                  <a:pt x="333" y="190"/>
                  <a:pt x="355" y="282"/>
                </a:cubicBezTo>
              </a:path>
            </a:pathLst>
          </a:custGeom>
          <a:noFill/>
          <a:ln w="3175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33" name="Rectangle 65"/>
          <p:cNvSpPr>
            <a:spLocks noChangeArrowheads="1"/>
          </p:cNvSpPr>
          <p:nvPr/>
        </p:nvSpPr>
        <p:spPr bwMode="auto">
          <a:xfrm>
            <a:off x="7927975" y="5224463"/>
            <a:ext cx="657225" cy="41275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34" name="Rectangle 66"/>
          <p:cNvSpPr>
            <a:spLocks noChangeArrowheads="1"/>
          </p:cNvSpPr>
          <p:nvPr/>
        </p:nvSpPr>
        <p:spPr bwMode="auto">
          <a:xfrm>
            <a:off x="7927975" y="5224463"/>
            <a:ext cx="657225" cy="41275"/>
          </a:xfrm>
          <a:prstGeom prst="rect">
            <a:avLst/>
          </a:prstGeom>
          <a:noFill/>
          <a:ln w="317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35" name="Rectangle 67"/>
          <p:cNvSpPr>
            <a:spLocks noChangeArrowheads="1"/>
          </p:cNvSpPr>
          <p:nvPr/>
        </p:nvSpPr>
        <p:spPr bwMode="auto">
          <a:xfrm>
            <a:off x="8434388" y="5114925"/>
            <a:ext cx="25400" cy="79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36" name="Freeform 68"/>
          <p:cNvSpPr>
            <a:spLocks noEditPoints="1"/>
          </p:cNvSpPr>
          <p:nvPr/>
        </p:nvSpPr>
        <p:spPr bwMode="auto">
          <a:xfrm>
            <a:off x="8164513" y="5100638"/>
            <a:ext cx="107950" cy="9525"/>
          </a:xfrm>
          <a:custGeom>
            <a:avLst/>
            <a:gdLst/>
            <a:ahLst/>
            <a:cxnLst>
              <a:cxn ang="0">
                <a:pos x="0" y="6"/>
              </a:cxn>
              <a:cxn ang="0">
                <a:pos x="19" y="6"/>
              </a:cxn>
              <a:cxn ang="0">
                <a:pos x="19" y="0"/>
              </a:cxn>
              <a:cxn ang="0">
                <a:pos x="0" y="0"/>
              </a:cxn>
              <a:cxn ang="0">
                <a:pos x="0" y="6"/>
              </a:cxn>
              <a:cxn ang="0">
                <a:pos x="29" y="6"/>
              </a:cxn>
              <a:cxn ang="0">
                <a:pos x="39" y="6"/>
              </a:cxn>
              <a:cxn ang="0">
                <a:pos x="39" y="0"/>
              </a:cxn>
              <a:cxn ang="0">
                <a:pos x="29" y="0"/>
              </a:cxn>
              <a:cxn ang="0">
                <a:pos x="29" y="6"/>
              </a:cxn>
              <a:cxn ang="0">
                <a:pos x="48" y="6"/>
              </a:cxn>
              <a:cxn ang="0">
                <a:pos x="68" y="6"/>
              </a:cxn>
              <a:cxn ang="0">
                <a:pos x="68" y="0"/>
              </a:cxn>
              <a:cxn ang="0">
                <a:pos x="48" y="0"/>
              </a:cxn>
              <a:cxn ang="0">
                <a:pos x="48" y="6"/>
              </a:cxn>
            </a:cxnLst>
            <a:rect l="0" t="0" r="r" b="b"/>
            <a:pathLst>
              <a:path w="68" h="6">
                <a:moveTo>
                  <a:pt x="0" y="6"/>
                </a:moveTo>
                <a:lnTo>
                  <a:pt x="19" y="6"/>
                </a:lnTo>
                <a:lnTo>
                  <a:pt x="19" y="0"/>
                </a:lnTo>
                <a:lnTo>
                  <a:pt x="0" y="0"/>
                </a:lnTo>
                <a:lnTo>
                  <a:pt x="0" y="6"/>
                </a:lnTo>
                <a:close/>
                <a:moveTo>
                  <a:pt x="29" y="6"/>
                </a:moveTo>
                <a:lnTo>
                  <a:pt x="39" y="6"/>
                </a:lnTo>
                <a:lnTo>
                  <a:pt x="39" y="0"/>
                </a:lnTo>
                <a:lnTo>
                  <a:pt x="29" y="0"/>
                </a:lnTo>
                <a:lnTo>
                  <a:pt x="29" y="6"/>
                </a:lnTo>
                <a:close/>
                <a:moveTo>
                  <a:pt x="48" y="6"/>
                </a:moveTo>
                <a:lnTo>
                  <a:pt x="68" y="6"/>
                </a:lnTo>
                <a:lnTo>
                  <a:pt x="68" y="0"/>
                </a:lnTo>
                <a:lnTo>
                  <a:pt x="48" y="0"/>
                </a:lnTo>
                <a:lnTo>
                  <a:pt x="48" y="6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37" name="Rectangle 69"/>
          <p:cNvSpPr>
            <a:spLocks noChangeArrowheads="1"/>
          </p:cNvSpPr>
          <p:nvPr/>
        </p:nvSpPr>
        <p:spPr bwMode="auto">
          <a:xfrm>
            <a:off x="8164513" y="5100638"/>
            <a:ext cx="30162" cy="9525"/>
          </a:xfrm>
          <a:prstGeom prst="rect">
            <a:avLst/>
          </a:prstGeom>
          <a:noFill/>
          <a:ln w="1588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38" name="Rectangle 70"/>
          <p:cNvSpPr>
            <a:spLocks noChangeArrowheads="1"/>
          </p:cNvSpPr>
          <p:nvPr/>
        </p:nvSpPr>
        <p:spPr bwMode="auto">
          <a:xfrm>
            <a:off x="8210550" y="5100638"/>
            <a:ext cx="15875" cy="9525"/>
          </a:xfrm>
          <a:prstGeom prst="rect">
            <a:avLst/>
          </a:prstGeom>
          <a:noFill/>
          <a:ln w="1588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39" name="Rectangle 71"/>
          <p:cNvSpPr>
            <a:spLocks noChangeArrowheads="1"/>
          </p:cNvSpPr>
          <p:nvPr/>
        </p:nvSpPr>
        <p:spPr bwMode="auto">
          <a:xfrm>
            <a:off x="8240713" y="5100638"/>
            <a:ext cx="31750" cy="9525"/>
          </a:xfrm>
          <a:prstGeom prst="rect">
            <a:avLst/>
          </a:prstGeom>
          <a:noFill/>
          <a:ln w="1588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40" name="Freeform 72"/>
          <p:cNvSpPr>
            <a:spLocks noEditPoints="1"/>
          </p:cNvSpPr>
          <p:nvPr/>
        </p:nvSpPr>
        <p:spPr bwMode="auto">
          <a:xfrm>
            <a:off x="7948613" y="5081588"/>
            <a:ext cx="474662" cy="61912"/>
          </a:xfrm>
          <a:custGeom>
            <a:avLst/>
            <a:gdLst/>
            <a:ahLst/>
            <a:cxnLst>
              <a:cxn ang="0">
                <a:pos x="0" y="39"/>
              </a:cxn>
              <a:cxn ang="0">
                <a:pos x="38" y="39"/>
              </a:cxn>
              <a:cxn ang="0">
                <a:pos x="38" y="0"/>
              </a:cxn>
              <a:cxn ang="0">
                <a:pos x="0" y="0"/>
              </a:cxn>
              <a:cxn ang="0">
                <a:pos x="0" y="39"/>
              </a:cxn>
              <a:cxn ang="0">
                <a:pos x="264" y="28"/>
              </a:cxn>
              <a:cxn ang="0">
                <a:pos x="299" y="28"/>
              </a:cxn>
              <a:cxn ang="0">
                <a:pos x="299" y="9"/>
              </a:cxn>
              <a:cxn ang="0">
                <a:pos x="264" y="9"/>
              </a:cxn>
              <a:cxn ang="0">
                <a:pos x="264" y="28"/>
              </a:cxn>
            </a:cxnLst>
            <a:rect l="0" t="0" r="r" b="b"/>
            <a:pathLst>
              <a:path w="299" h="39">
                <a:moveTo>
                  <a:pt x="0" y="39"/>
                </a:moveTo>
                <a:lnTo>
                  <a:pt x="38" y="39"/>
                </a:lnTo>
                <a:lnTo>
                  <a:pt x="38" y="0"/>
                </a:lnTo>
                <a:lnTo>
                  <a:pt x="0" y="0"/>
                </a:lnTo>
                <a:lnTo>
                  <a:pt x="0" y="39"/>
                </a:lnTo>
                <a:close/>
                <a:moveTo>
                  <a:pt x="264" y="28"/>
                </a:moveTo>
                <a:lnTo>
                  <a:pt x="299" y="28"/>
                </a:lnTo>
                <a:lnTo>
                  <a:pt x="299" y="9"/>
                </a:lnTo>
                <a:lnTo>
                  <a:pt x="264" y="9"/>
                </a:lnTo>
                <a:lnTo>
                  <a:pt x="264" y="28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41" name="Line 73"/>
          <p:cNvSpPr>
            <a:spLocks noChangeShapeType="1"/>
          </p:cNvSpPr>
          <p:nvPr/>
        </p:nvSpPr>
        <p:spPr bwMode="auto">
          <a:xfrm>
            <a:off x="8323263" y="5103813"/>
            <a:ext cx="144462" cy="15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42" name="Freeform 74"/>
          <p:cNvSpPr>
            <a:spLocks noEditPoints="1"/>
          </p:cNvSpPr>
          <p:nvPr/>
        </p:nvSpPr>
        <p:spPr bwMode="auto">
          <a:xfrm>
            <a:off x="7931150" y="5064125"/>
            <a:ext cx="650875" cy="190500"/>
          </a:xfrm>
          <a:custGeom>
            <a:avLst/>
            <a:gdLst/>
            <a:ahLst/>
            <a:cxnLst>
              <a:cxn ang="0">
                <a:pos x="369" y="268"/>
              </a:cxn>
              <a:cxn ang="0">
                <a:pos x="1064" y="268"/>
              </a:cxn>
              <a:cxn ang="0">
                <a:pos x="1064" y="13"/>
              </a:cxn>
              <a:cxn ang="0">
                <a:pos x="369" y="13"/>
              </a:cxn>
              <a:cxn ang="0">
                <a:pos x="369" y="268"/>
              </a:cxn>
              <a:cxn ang="0">
                <a:pos x="568" y="14"/>
              </a:cxn>
              <a:cxn ang="0">
                <a:pos x="568" y="268"/>
              </a:cxn>
              <a:cxn ang="0">
                <a:pos x="568" y="99"/>
              </a:cxn>
              <a:cxn ang="0">
                <a:pos x="355" y="99"/>
              </a:cxn>
              <a:cxn ang="0">
                <a:pos x="568" y="185"/>
              </a:cxn>
              <a:cxn ang="0">
                <a:pos x="355" y="185"/>
              </a:cxn>
              <a:cxn ang="0">
                <a:pos x="628" y="237"/>
              </a:cxn>
              <a:cxn ang="0">
                <a:pos x="1026" y="237"/>
              </a:cxn>
              <a:cxn ang="0">
                <a:pos x="1026" y="47"/>
              </a:cxn>
              <a:cxn ang="0">
                <a:pos x="628" y="47"/>
              </a:cxn>
              <a:cxn ang="0">
                <a:pos x="628" y="237"/>
              </a:cxn>
              <a:cxn ang="0">
                <a:pos x="899" y="47"/>
              </a:cxn>
              <a:cxn ang="0">
                <a:pos x="899" y="120"/>
              </a:cxn>
              <a:cxn ang="0">
                <a:pos x="628" y="120"/>
              </a:cxn>
              <a:cxn ang="0">
                <a:pos x="1026" y="120"/>
              </a:cxn>
              <a:cxn ang="0">
                <a:pos x="966" y="334"/>
              </a:cxn>
              <a:cxn ang="0">
                <a:pos x="1051" y="334"/>
              </a:cxn>
              <a:cxn ang="0">
                <a:pos x="1068" y="320"/>
              </a:cxn>
              <a:cxn ang="0">
                <a:pos x="1055" y="302"/>
              </a:cxn>
              <a:cxn ang="0">
                <a:pos x="1051" y="302"/>
              </a:cxn>
              <a:cxn ang="0">
                <a:pos x="1051" y="302"/>
              </a:cxn>
              <a:cxn ang="0">
                <a:pos x="966" y="302"/>
              </a:cxn>
              <a:cxn ang="0">
                <a:pos x="966" y="334"/>
              </a:cxn>
              <a:cxn ang="0">
                <a:pos x="103" y="334"/>
              </a:cxn>
              <a:cxn ang="0">
                <a:pos x="18" y="334"/>
              </a:cxn>
              <a:cxn ang="0">
                <a:pos x="1" y="320"/>
              </a:cxn>
              <a:cxn ang="0">
                <a:pos x="14" y="302"/>
              </a:cxn>
              <a:cxn ang="0">
                <a:pos x="18" y="302"/>
              </a:cxn>
              <a:cxn ang="0">
                <a:pos x="18" y="302"/>
              </a:cxn>
              <a:cxn ang="0">
                <a:pos x="103" y="302"/>
              </a:cxn>
              <a:cxn ang="0">
                <a:pos x="103" y="334"/>
              </a:cxn>
              <a:cxn ang="0">
                <a:pos x="382" y="81"/>
              </a:cxn>
              <a:cxn ang="0">
                <a:pos x="560" y="81"/>
              </a:cxn>
              <a:cxn ang="0">
                <a:pos x="560" y="63"/>
              </a:cxn>
              <a:cxn ang="0">
                <a:pos x="382" y="63"/>
              </a:cxn>
              <a:cxn ang="0">
                <a:pos x="382" y="81"/>
              </a:cxn>
              <a:cxn ang="0">
                <a:pos x="382" y="13"/>
              </a:cxn>
              <a:cxn ang="0">
                <a:pos x="382" y="0"/>
              </a:cxn>
              <a:cxn ang="0">
                <a:pos x="382" y="282"/>
              </a:cxn>
              <a:cxn ang="0">
                <a:pos x="382" y="269"/>
              </a:cxn>
            </a:cxnLst>
            <a:rect l="0" t="0" r="r" b="b"/>
            <a:pathLst>
              <a:path w="1069" h="335">
                <a:moveTo>
                  <a:pt x="369" y="268"/>
                </a:moveTo>
                <a:lnTo>
                  <a:pt x="1064" y="268"/>
                </a:lnTo>
                <a:lnTo>
                  <a:pt x="1064" y="13"/>
                </a:lnTo>
                <a:lnTo>
                  <a:pt x="369" y="13"/>
                </a:lnTo>
                <a:cubicBezTo>
                  <a:pt x="347" y="97"/>
                  <a:pt x="347" y="185"/>
                  <a:pt x="369" y="268"/>
                </a:cubicBezTo>
                <a:moveTo>
                  <a:pt x="568" y="14"/>
                </a:moveTo>
                <a:lnTo>
                  <a:pt x="568" y="268"/>
                </a:lnTo>
                <a:moveTo>
                  <a:pt x="568" y="99"/>
                </a:moveTo>
                <a:lnTo>
                  <a:pt x="355" y="99"/>
                </a:lnTo>
                <a:moveTo>
                  <a:pt x="568" y="185"/>
                </a:moveTo>
                <a:lnTo>
                  <a:pt x="355" y="185"/>
                </a:lnTo>
                <a:moveTo>
                  <a:pt x="628" y="237"/>
                </a:moveTo>
                <a:lnTo>
                  <a:pt x="1026" y="237"/>
                </a:lnTo>
                <a:lnTo>
                  <a:pt x="1026" y="47"/>
                </a:lnTo>
                <a:lnTo>
                  <a:pt x="628" y="47"/>
                </a:lnTo>
                <a:lnTo>
                  <a:pt x="628" y="237"/>
                </a:lnTo>
                <a:moveTo>
                  <a:pt x="899" y="47"/>
                </a:moveTo>
                <a:lnTo>
                  <a:pt x="899" y="120"/>
                </a:lnTo>
                <a:moveTo>
                  <a:pt x="628" y="120"/>
                </a:moveTo>
                <a:lnTo>
                  <a:pt x="1026" y="120"/>
                </a:lnTo>
                <a:moveTo>
                  <a:pt x="966" y="334"/>
                </a:moveTo>
                <a:lnTo>
                  <a:pt x="1051" y="334"/>
                </a:lnTo>
                <a:cubicBezTo>
                  <a:pt x="1059" y="335"/>
                  <a:pt x="1067" y="329"/>
                  <a:pt x="1068" y="320"/>
                </a:cubicBezTo>
                <a:cubicBezTo>
                  <a:pt x="1069" y="311"/>
                  <a:pt x="1063" y="303"/>
                  <a:pt x="1055" y="302"/>
                </a:cubicBezTo>
                <a:cubicBezTo>
                  <a:pt x="1054" y="302"/>
                  <a:pt x="1052" y="302"/>
                  <a:pt x="1051" y="302"/>
                </a:cubicBezTo>
                <a:lnTo>
                  <a:pt x="1051" y="302"/>
                </a:lnTo>
                <a:lnTo>
                  <a:pt x="966" y="302"/>
                </a:lnTo>
                <a:lnTo>
                  <a:pt x="966" y="334"/>
                </a:lnTo>
                <a:moveTo>
                  <a:pt x="103" y="334"/>
                </a:moveTo>
                <a:lnTo>
                  <a:pt x="18" y="334"/>
                </a:lnTo>
                <a:cubicBezTo>
                  <a:pt x="10" y="335"/>
                  <a:pt x="2" y="329"/>
                  <a:pt x="1" y="320"/>
                </a:cubicBezTo>
                <a:cubicBezTo>
                  <a:pt x="0" y="311"/>
                  <a:pt x="6" y="303"/>
                  <a:pt x="14" y="302"/>
                </a:cubicBezTo>
                <a:cubicBezTo>
                  <a:pt x="15" y="302"/>
                  <a:pt x="17" y="302"/>
                  <a:pt x="18" y="302"/>
                </a:cubicBezTo>
                <a:lnTo>
                  <a:pt x="18" y="302"/>
                </a:lnTo>
                <a:lnTo>
                  <a:pt x="103" y="302"/>
                </a:lnTo>
                <a:lnTo>
                  <a:pt x="103" y="334"/>
                </a:lnTo>
                <a:moveTo>
                  <a:pt x="382" y="81"/>
                </a:moveTo>
                <a:lnTo>
                  <a:pt x="560" y="81"/>
                </a:lnTo>
                <a:lnTo>
                  <a:pt x="560" y="63"/>
                </a:lnTo>
                <a:lnTo>
                  <a:pt x="382" y="63"/>
                </a:lnTo>
                <a:lnTo>
                  <a:pt x="382" y="81"/>
                </a:lnTo>
                <a:moveTo>
                  <a:pt x="382" y="13"/>
                </a:moveTo>
                <a:lnTo>
                  <a:pt x="382" y="0"/>
                </a:lnTo>
                <a:moveTo>
                  <a:pt x="382" y="282"/>
                </a:moveTo>
                <a:lnTo>
                  <a:pt x="382" y="269"/>
                </a:lnTo>
              </a:path>
            </a:pathLst>
          </a:custGeom>
          <a:noFill/>
          <a:ln w="1588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43" name="Freeform 75"/>
          <p:cNvSpPr>
            <a:spLocks noEditPoints="1"/>
          </p:cNvSpPr>
          <p:nvPr/>
        </p:nvSpPr>
        <p:spPr bwMode="auto">
          <a:xfrm>
            <a:off x="8167688" y="5105400"/>
            <a:ext cx="185737" cy="39688"/>
          </a:xfrm>
          <a:custGeom>
            <a:avLst/>
            <a:gdLst/>
            <a:ahLst/>
            <a:cxnLst>
              <a:cxn ang="0">
                <a:pos x="0" y="25"/>
              </a:cxn>
              <a:cxn ang="0">
                <a:pos x="6" y="25"/>
              </a:cxn>
              <a:cxn ang="0">
                <a:pos x="0" y="0"/>
              </a:cxn>
              <a:cxn ang="0">
                <a:pos x="6" y="0"/>
              </a:cxn>
              <a:cxn ang="0">
                <a:pos x="49" y="0"/>
              </a:cxn>
              <a:cxn ang="0">
                <a:pos x="55" y="0"/>
              </a:cxn>
              <a:cxn ang="0">
                <a:pos x="111" y="10"/>
              </a:cxn>
              <a:cxn ang="0">
                <a:pos x="117" y="10"/>
              </a:cxn>
            </a:cxnLst>
            <a:rect l="0" t="0" r="r" b="b"/>
            <a:pathLst>
              <a:path w="117" h="25">
                <a:moveTo>
                  <a:pt x="0" y="25"/>
                </a:moveTo>
                <a:lnTo>
                  <a:pt x="6" y="25"/>
                </a:lnTo>
                <a:moveTo>
                  <a:pt x="0" y="0"/>
                </a:moveTo>
                <a:lnTo>
                  <a:pt x="6" y="0"/>
                </a:lnTo>
                <a:moveTo>
                  <a:pt x="49" y="0"/>
                </a:moveTo>
                <a:lnTo>
                  <a:pt x="55" y="0"/>
                </a:lnTo>
                <a:moveTo>
                  <a:pt x="111" y="10"/>
                </a:moveTo>
                <a:lnTo>
                  <a:pt x="117" y="10"/>
                </a:lnTo>
              </a:path>
            </a:pathLst>
          </a:cu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44" name="Line 76"/>
          <p:cNvSpPr>
            <a:spLocks noChangeShapeType="1"/>
          </p:cNvSpPr>
          <p:nvPr/>
        </p:nvSpPr>
        <p:spPr bwMode="auto">
          <a:xfrm>
            <a:off x="7421563" y="4281488"/>
            <a:ext cx="369887" cy="304800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45" name="Freeform 77"/>
          <p:cNvSpPr>
            <a:spLocks/>
          </p:cNvSpPr>
          <p:nvPr/>
        </p:nvSpPr>
        <p:spPr bwMode="auto">
          <a:xfrm>
            <a:off x="7754938" y="4545013"/>
            <a:ext cx="131762" cy="119062"/>
          </a:xfrm>
          <a:custGeom>
            <a:avLst/>
            <a:gdLst/>
            <a:ahLst/>
            <a:cxnLst>
              <a:cxn ang="0">
                <a:pos x="36" y="0"/>
              </a:cxn>
              <a:cxn ang="0">
                <a:pos x="83" y="75"/>
              </a:cxn>
              <a:cxn ang="0">
                <a:pos x="0" y="44"/>
              </a:cxn>
              <a:cxn ang="0">
                <a:pos x="36" y="0"/>
              </a:cxn>
            </a:cxnLst>
            <a:rect l="0" t="0" r="r" b="b"/>
            <a:pathLst>
              <a:path w="83" h="75">
                <a:moveTo>
                  <a:pt x="36" y="0"/>
                </a:moveTo>
                <a:lnTo>
                  <a:pt x="83" y="75"/>
                </a:lnTo>
                <a:lnTo>
                  <a:pt x="0" y="44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46" name="Rectangle 78"/>
          <p:cNvSpPr>
            <a:spLocks noChangeArrowheads="1"/>
          </p:cNvSpPr>
          <p:nvPr/>
        </p:nvSpPr>
        <p:spPr bwMode="auto">
          <a:xfrm>
            <a:off x="2233613" y="3543300"/>
            <a:ext cx="1235075" cy="984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47" name="Rectangle 79"/>
          <p:cNvSpPr>
            <a:spLocks noChangeArrowheads="1"/>
          </p:cNvSpPr>
          <p:nvPr/>
        </p:nvSpPr>
        <p:spPr bwMode="auto">
          <a:xfrm>
            <a:off x="2233613" y="3543300"/>
            <a:ext cx="1235075" cy="984250"/>
          </a:xfrm>
          <a:prstGeom prst="rect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48" name="Rectangle 80"/>
          <p:cNvSpPr>
            <a:spLocks noChangeArrowheads="1"/>
          </p:cNvSpPr>
          <p:nvPr/>
        </p:nvSpPr>
        <p:spPr bwMode="auto">
          <a:xfrm>
            <a:off x="2511425" y="3549650"/>
            <a:ext cx="706438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Extraction :</a:t>
            </a:r>
            <a:endParaRPr lang="en-GB"/>
          </a:p>
        </p:txBody>
      </p:sp>
      <p:sp>
        <p:nvSpPr>
          <p:cNvPr id="263249" name="Rectangle 81"/>
          <p:cNvSpPr>
            <a:spLocks noChangeArrowheads="1"/>
          </p:cNvSpPr>
          <p:nvPr/>
        </p:nvSpPr>
        <p:spPr bwMode="auto">
          <a:xfrm>
            <a:off x="2549525" y="3713163"/>
            <a:ext cx="630238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épuration,</a:t>
            </a:r>
            <a:endParaRPr lang="en-GB"/>
          </a:p>
        </p:txBody>
      </p:sp>
      <p:sp>
        <p:nvSpPr>
          <p:cNvPr id="263250" name="Rectangle 82"/>
          <p:cNvSpPr>
            <a:spLocks noChangeArrowheads="1"/>
          </p:cNvSpPr>
          <p:nvPr/>
        </p:nvSpPr>
        <p:spPr bwMode="auto">
          <a:xfrm>
            <a:off x="2627313" y="3876675"/>
            <a:ext cx="466725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filtrage,</a:t>
            </a:r>
            <a:endParaRPr lang="en-GB"/>
          </a:p>
        </p:txBody>
      </p:sp>
      <p:sp>
        <p:nvSpPr>
          <p:cNvPr id="263251" name="Rectangle 83"/>
          <p:cNvSpPr>
            <a:spLocks noChangeArrowheads="1"/>
          </p:cNvSpPr>
          <p:nvPr/>
        </p:nvSpPr>
        <p:spPr bwMode="auto">
          <a:xfrm>
            <a:off x="2559050" y="4040188"/>
            <a:ext cx="606425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synthèse,</a:t>
            </a:r>
            <a:endParaRPr lang="en-GB"/>
          </a:p>
        </p:txBody>
      </p:sp>
      <p:sp>
        <p:nvSpPr>
          <p:cNvPr id="263252" name="Rectangle 84"/>
          <p:cNvSpPr>
            <a:spLocks noChangeArrowheads="1"/>
          </p:cNvSpPr>
          <p:nvPr/>
        </p:nvSpPr>
        <p:spPr bwMode="auto">
          <a:xfrm>
            <a:off x="2393950" y="4203700"/>
            <a:ext cx="938213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transformation,</a:t>
            </a:r>
            <a:endParaRPr lang="en-GB"/>
          </a:p>
        </p:txBody>
      </p:sp>
      <p:sp>
        <p:nvSpPr>
          <p:cNvPr id="263253" name="Rectangle 85"/>
          <p:cNvSpPr>
            <a:spLocks noChangeArrowheads="1"/>
          </p:cNvSpPr>
          <p:nvPr/>
        </p:nvSpPr>
        <p:spPr bwMode="auto">
          <a:xfrm>
            <a:off x="2667000" y="4367213"/>
            <a:ext cx="382588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fusion</a:t>
            </a:r>
            <a:endParaRPr lang="en-GB"/>
          </a:p>
        </p:txBody>
      </p:sp>
      <p:sp>
        <p:nvSpPr>
          <p:cNvPr id="263254" name="Freeform 86"/>
          <p:cNvSpPr>
            <a:spLocks/>
          </p:cNvSpPr>
          <p:nvPr/>
        </p:nvSpPr>
        <p:spPr bwMode="auto">
          <a:xfrm>
            <a:off x="503238" y="3543300"/>
            <a:ext cx="989012" cy="984250"/>
          </a:xfrm>
          <a:custGeom>
            <a:avLst/>
            <a:gdLst/>
            <a:ahLst/>
            <a:cxnLst>
              <a:cxn ang="0">
                <a:pos x="0" y="216"/>
              </a:cxn>
              <a:cxn ang="0">
                <a:pos x="0" y="1517"/>
              </a:cxn>
              <a:cxn ang="0">
                <a:pos x="813" y="1734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216"/>
              </a:cxn>
              <a:cxn ang="0">
                <a:pos x="813" y="0"/>
              </a:cxn>
              <a:cxn ang="0">
                <a:pos x="0" y="216"/>
              </a:cxn>
            </a:cxnLst>
            <a:rect l="0" t="0" r="r" b="b"/>
            <a:pathLst>
              <a:path w="1626" h="1734">
                <a:moveTo>
                  <a:pt x="0" y="216"/>
                </a:moveTo>
                <a:lnTo>
                  <a:pt x="0" y="1517"/>
                </a:lnTo>
                <a:cubicBezTo>
                  <a:pt x="0" y="1637"/>
                  <a:pt x="364" y="1734"/>
                  <a:pt x="813" y="1734"/>
                </a:cubicBezTo>
                <a:cubicBezTo>
                  <a:pt x="1262" y="1734"/>
                  <a:pt x="1626" y="1637"/>
                  <a:pt x="1626" y="1517"/>
                </a:cubicBezTo>
                <a:cubicBezTo>
                  <a:pt x="1626" y="1517"/>
                  <a:pt x="1626" y="1517"/>
                  <a:pt x="1626" y="1517"/>
                </a:cubicBezTo>
                <a:lnTo>
                  <a:pt x="1626" y="1517"/>
                </a:lnTo>
                <a:lnTo>
                  <a:pt x="1626" y="216"/>
                </a:lnTo>
                <a:cubicBezTo>
                  <a:pt x="1626" y="97"/>
                  <a:pt x="1262" y="0"/>
                  <a:pt x="813" y="0"/>
                </a:cubicBezTo>
                <a:cubicBezTo>
                  <a:pt x="364" y="0"/>
                  <a:pt x="0" y="97"/>
                  <a:pt x="0" y="216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55" name="Freeform 87"/>
          <p:cNvSpPr>
            <a:spLocks noEditPoints="1"/>
          </p:cNvSpPr>
          <p:nvPr/>
        </p:nvSpPr>
        <p:spPr bwMode="auto">
          <a:xfrm>
            <a:off x="503238" y="3543300"/>
            <a:ext cx="989012" cy="984250"/>
          </a:xfrm>
          <a:custGeom>
            <a:avLst/>
            <a:gdLst/>
            <a:ahLst/>
            <a:cxnLst>
              <a:cxn ang="0">
                <a:pos x="0" y="216"/>
              </a:cxn>
              <a:cxn ang="0">
                <a:pos x="0" y="1517"/>
              </a:cxn>
              <a:cxn ang="0">
                <a:pos x="813" y="1734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1517"/>
              </a:cxn>
              <a:cxn ang="0">
                <a:pos x="1626" y="216"/>
              </a:cxn>
              <a:cxn ang="0">
                <a:pos x="813" y="0"/>
              </a:cxn>
              <a:cxn ang="0">
                <a:pos x="0" y="216"/>
              </a:cxn>
              <a:cxn ang="0">
                <a:pos x="0" y="216"/>
              </a:cxn>
              <a:cxn ang="0">
                <a:pos x="813" y="433"/>
              </a:cxn>
              <a:cxn ang="0">
                <a:pos x="1626" y="216"/>
              </a:cxn>
              <a:cxn ang="0">
                <a:pos x="1626" y="216"/>
              </a:cxn>
            </a:cxnLst>
            <a:rect l="0" t="0" r="r" b="b"/>
            <a:pathLst>
              <a:path w="1626" h="1734">
                <a:moveTo>
                  <a:pt x="0" y="216"/>
                </a:moveTo>
                <a:lnTo>
                  <a:pt x="0" y="1517"/>
                </a:lnTo>
                <a:cubicBezTo>
                  <a:pt x="0" y="1637"/>
                  <a:pt x="364" y="1734"/>
                  <a:pt x="813" y="1734"/>
                </a:cubicBezTo>
                <a:cubicBezTo>
                  <a:pt x="1262" y="1734"/>
                  <a:pt x="1626" y="1637"/>
                  <a:pt x="1626" y="1517"/>
                </a:cubicBezTo>
                <a:cubicBezTo>
                  <a:pt x="1626" y="1517"/>
                  <a:pt x="1626" y="1517"/>
                  <a:pt x="1626" y="1517"/>
                </a:cubicBezTo>
                <a:lnTo>
                  <a:pt x="1626" y="1517"/>
                </a:lnTo>
                <a:lnTo>
                  <a:pt x="1626" y="216"/>
                </a:lnTo>
                <a:cubicBezTo>
                  <a:pt x="1626" y="97"/>
                  <a:pt x="1262" y="0"/>
                  <a:pt x="813" y="0"/>
                </a:cubicBezTo>
                <a:cubicBezTo>
                  <a:pt x="364" y="0"/>
                  <a:pt x="0" y="97"/>
                  <a:pt x="0" y="216"/>
                </a:cubicBezTo>
                <a:moveTo>
                  <a:pt x="0" y="216"/>
                </a:moveTo>
                <a:cubicBezTo>
                  <a:pt x="0" y="336"/>
                  <a:pt x="364" y="433"/>
                  <a:pt x="813" y="433"/>
                </a:cubicBezTo>
                <a:cubicBezTo>
                  <a:pt x="1262" y="433"/>
                  <a:pt x="1626" y="336"/>
                  <a:pt x="1626" y="216"/>
                </a:cubicBezTo>
                <a:cubicBezTo>
                  <a:pt x="1626" y="216"/>
                  <a:pt x="1626" y="216"/>
                  <a:pt x="1626" y="216"/>
                </a:cubicBezTo>
              </a:path>
            </a:pathLst>
          </a:cu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56" name="Rectangle 88"/>
          <p:cNvSpPr>
            <a:spLocks noChangeArrowheads="1"/>
          </p:cNvSpPr>
          <p:nvPr/>
        </p:nvSpPr>
        <p:spPr bwMode="auto">
          <a:xfrm>
            <a:off x="906463" y="3857625"/>
            <a:ext cx="204787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BD</a:t>
            </a:r>
            <a:endParaRPr lang="en-GB"/>
          </a:p>
        </p:txBody>
      </p:sp>
      <p:sp>
        <p:nvSpPr>
          <p:cNvPr id="263257" name="Rectangle 89"/>
          <p:cNvSpPr>
            <a:spLocks noChangeArrowheads="1"/>
          </p:cNvSpPr>
          <p:nvPr/>
        </p:nvSpPr>
        <p:spPr bwMode="auto">
          <a:xfrm>
            <a:off x="565150" y="4021138"/>
            <a:ext cx="889000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opérationnelle</a:t>
            </a:r>
            <a:endParaRPr lang="en-GB"/>
          </a:p>
        </p:txBody>
      </p:sp>
      <p:sp>
        <p:nvSpPr>
          <p:cNvPr id="263258" name="Rectangle 90"/>
          <p:cNvSpPr>
            <a:spLocks noChangeArrowheads="1"/>
          </p:cNvSpPr>
          <p:nvPr/>
        </p:nvSpPr>
        <p:spPr bwMode="auto">
          <a:xfrm>
            <a:off x="769938" y="4184650"/>
            <a:ext cx="466725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(OLTP)</a:t>
            </a:r>
            <a:endParaRPr lang="en-GB"/>
          </a:p>
        </p:txBody>
      </p:sp>
      <p:sp>
        <p:nvSpPr>
          <p:cNvPr id="263259" name="Line 91"/>
          <p:cNvSpPr>
            <a:spLocks noChangeShapeType="1"/>
          </p:cNvSpPr>
          <p:nvPr/>
        </p:nvSpPr>
        <p:spPr bwMode="auto">
          <a:xfrm flipV="1">
            <a:off x="1985963" y="4616450"/>
            <a:ext cx="596900" cy="64928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60" name="Freeform 92"/>
          <p:cNvSpPr>
            <a:spLocks/>
          </p:cNvSpPr>
          <p:nvPr/>
        </p:nvSpPr>
        <p:spPr bwMode="auto">
          <a:xfrm>
            <a:off x="2541588" y="4527550"/>
            <a:ext cx="123825" cy="127000"/>
          </a:xfrm>
          <a:custGeom>
            <a:avLst/>
            <a:gdLst/>
            <a:ahLst/>
            <a:cxnLst>
              <a:cxn ang="0">
                <a:pos x="0" y="43"/>
              </a:cxn>
              <a:cxn ang="0">
                <a:pos x="78" y="0"/>
              </a:cxn>
              <a:cxn ang="0">
                <a:pos x="42" y="80"/>
              </a:cxn>
              <a:cxn ang="0">
                <a:pos x="0" y="43"/>
              </a:cxn>
            </a:cxnLst>
            <a:rect l="0" t="0" r="r" b="b"/>
            <a:pathLst>
              <a:path w="78" h="80">
                <a:moveTo>
                  <a:pt x="0" y="43"/>
                </a:moveTo>
                <a:lnTo>
                  <a:pt x="78" y="0"/>
                </a:lnTo>
                <a:lnTo>
                  <a:pt x="42" y="80"/>
                </a:lnTo>
                <a:lnTo>
                  <a:pt x="0" y="43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61" name="Line 93"/>
          <p:cNvSpPr>
            <a:spLocks noChangeShapeType="1"/>
          </p:cNvSpPr>
          <p:nvPr/>
        </p:nvSpPr>
        <p:spPr bwMode="auto">
          <a:xfrm>
            <a:off x="3468688" y="4035425"/>
            <a:ext cx="371475" cy="158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62" name="Freeform 94"/>
          <p:cNvSpPr>
            <a:spLocks/>
          </p:cNvSpPr>
          <p:nvPr/>
        </p:nvSpPr>
        <p:spPr bwMode="auto">
          <a:xfrm>
            <a:off x="3829050" y="3990975"/>
            <a:ext cx="133350" cy="88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4" y="28"/>
              </a:cxn>
              <a:cxn ang="0">
                <a:pos x="0" y="56"/>
              </a:cxn>
              <a:cxn ang="0">
                <a:pos x="0" y="0"/>
              </a:cxn>
            </a:cxnLst>
            <a:rect l="0" t="0" r="r" b="b"/>
            <a:pathLst>
              <a:path w="84" h="56">
                <a:moveTo>
                  <a:pt x="0" y="0"/>
                </a:moveTo>
                <a:lnTo>
                  <a:pt x="84" y="28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63" name="Rectangle 95"/>
          <p:cNvSpPr>
            <a:spLocks noChangeArrowheads="1"/>
          </p:cNvSpPr>
          <p:nvPr/>
        </p:nvSpPr>
        <p:spPr bwMode="auto">
          <a:xfrm>
            <a:off x="6308725" y="3543300"/>
            <a:ext cx="1112838" cy="984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64" name="Rectangle 96"/>
          <p:cNvSpPr>
            <a:spLocks noChangeArrowheads="1"/>
          </p:cNvSpPr>
          <p:nvPr/>
        </p:nvSpPr>
        <p:spPr bwMode="auto">
          <a:xfrm>
            <a:off x="6308725" y="3543300"/>
            <a:ext cx="1112838" cy="984250"/>
          </a:xfrm>
          <a:prstGeom prst="rect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65" name="Rectangle 97"/>
          <p:cNvSpPr>
            <a:spLocks noChangeArrowheads="1"/>
          </p:cNvSpPr>
          <p:nvPr/>
        </p:nvSpPr>
        <p:spPr bwMode="auto">
          <a:xfrm>
            <a:off x="6624638" y="3794125"/>
            <a:ext cx="508000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Analyse</a:t>
            </a:r>
            <a:endParaRPr lang="en-GB"/>
          </a:p>
        </p:txBody>
      </p:sp>
      <p:sp>
        <p:nvSpPr>
          <p:cNvPr id="263266" name="Rectangle 98"/>
          <p:cNvSpPr>
            <a:spLocks noChangeArrowheads="1"/>
          </p:cNvSpPr>
          <p:nvPr/>
        </p:nvSpPr>
        <p:spPr bwMode="auto">
          <a:xfrm>
            <a:off x="6615113" y="3957638"/>
            <a:ext cx="512762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(OLAP),</a:t>
            </a:r>
            <a:endParaRPr lang="en-GB"/>
          </a:p>
        </p:txBody>
      </p:sp>
      <p:sp>
        <p:nvSpPr>
          <p:cNvPr id="263267" name="Rectangle 99"/>
          <p:cNvSpPr>
            <a:spLocks noChangeArrowheads="1"/>
          </p:cNvSpPr>
          <p:nvPr/>
        </p:nvSpPr>
        <p:spPr bwMode="auto">
          <a:xfrm>
            <a:off x="6508750" y="4121150"/>
            <a:ext cx="731838" cy="17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100">
                <a:solidFill>
                  <a:srgbClr val="000000"/>
                </a:solidFill>
                <a:latin typeface="Arial" pitchFamily="34" charset="0"/>
              </a:rPr>
              <a:t>prospection</a:t>
            </a:r>
            <a:endParaRPr lang="en-GB"/>
          </a:p>
        </p:txBody>
      </p:sp>
      <p:sp>
        <p:nvSpPr>
          <p:cNvPr id="263268" name="Line 100"/>
          <p:cNvSpPr>
            <a:spLocks noChangeShapeType="1"/>
          </p:cNvSpPr>
          <p:nvPr/>
        </p:nvSpPr>
        <p:spPr bwMode="auto">
          <a:xfrm>
            <a:off x="6000750" y="4035425"/>
            <a:ext cx="185738" cy="1588"/>
          </a:xfrm>
          <a:prstGeom prst="line">
            <a:avLst/>
          </a:prstGeom>
          <a:noFill/>
          <a:ln w="9525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3269" name="Freeform 101"/>
          <p:cNvSpPr>
            <a:spLocks/>
          </p:cNvSpPr>
          <p:nvPr/>
        </p:nvSpPr>
        <p:spPr bwMode="auto">
          <a:xfrm>
            <a:off x="6175375" y="3990975"/>
            <a:ext cx="133350" cy="88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4" y="28"/>
              </a:cxn>
              <a:cxn ang="0">
                <a:pos x="0" y="56"/>
              </a:cxn>
              <a:cxn ang="0">
                <a:pos x="0" y="0"/>
              </a:cxn>
            </a:cxnLst>
            <a:rect l="0" t="0" r="r" b="b"/>
            <a:pathLst>
              <a:path w="84" h="56">
                <a:moveTo>
                  <a:pt x="0" y="0"/>
                </a:moveTo>
                <a:lnTo>
                  <a:pt x="84" y="28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pic>
        <p:nvPicPr>
          <p:cNvPr id="263270" name="Picture 1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888" y="2303463"/>
            <a:ext cx="8180387" cy="347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3174" name="Text Box 6"/>
          <p:cNvSpPr txBox="1">
            <a:spLocks noChangeArrowheads="1"/>
          </p:cNvSpPr>
          <p:nvPr/>
        </p:nvSpPr>
        <p:spPr bwMode="auto">
          <a:xfrm>
            <a:off x="685800" y="5789613"/>
            <a:ext cx="8250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CA">
                <a:latin typeface="Arial" pitchFamily="34" charset="0"/>
              </a:rPr>
              <a:t>Chaîne de traitement : extraction, transformations, analyses</a:t>
            </a:r>
          </a:p>
        </p:txBody>
      </p:sp>
      <p:sp>
        <p:nvSpPr>
          <p:cNvPr id="263175" name="Text Box 7"/>
          <p:cNvSpPr txBox="1">
            <a:spLocks noChangeArrowheads="1"/>
          </p:cNvSpPr>
          <p:nvPr/>
        </p:nvSpPr>
        <p:spPr bwMode="auto">
          <a:xfrm>
            <a:off x="1331913" y="938213"/>
            <a:ext cx="6911975" cy="76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fr-CA" sz="4400">
                <a:solidFill>
                  <a:schemeClr val="tx2"/>
                </a:solidFill>
                <a:latin typeface="Arial Black" pitchFamily="34" charset="0"/>
              </a:rPr>
              <a:t>DataWarehouse</a:t>
            </a:r>
            <a:endParaRPr lang="fr-FR" sz="4400">
              <a:solidFill>
                <a:schemeClr val="tx2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266A-701B-40EF-A9E9-FAB645F365E9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C067A-CAD1-4854-9C93-B81922F515DC}" type="slidenum">
              <a:rPr lang="en-GB"/>
              <a:pPr/>
              <a:t>25</a:t>
            </a:fld>
            <a:endParaRPr lang="en-GB"/>
          </a:p>
        </p:txBody>
      </p:sp>
      <p:sp>
        <p:nvSpPr>
          <p:cNvPr id="3860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>
                <a:cs typeface="Times New Roman" pitchFamily="18" charset="0"/>
              </a:rPr>
              <a:t>DataWarehouse</a:t>
            </a:r>
            <a:endParaRPr lang="en-GB">
              <a:cs typeface="Times New Roman" pitchFamily="18" charset="0"/>
            </a:endParaRPr>
          </a:p>
        </p:txBody>
      </p:sp>
      <p:sp>
        <p:nvSpPr>
          <p:cNvPr id="38605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800">
                <a:cs typeface="Times New Roman" pitchFamily="18" charset="0"/>
              </a:rPr>
              <a:t>Les informations recherchées peuvent porter sur différentes dimensions</a:t>
            </a:r>
          </a:p>
          <a:p>
            <a:r>
              <a:rPr lang="fr-FR" sz="2800">
                <a:cs typeface="Times New Roman" pitchFamily="18" charset="0"/>
              </a:rPr>
              <a:t>Par exemple: la moyenne des ventes par client, par article et par période de temps</a:t>
            </a:r>
          </a:p>
          <a:p>
            <a:endParaRPr lang="en-GB" sz="280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2BF9-5274-446F-90CD-E36F4A9BED5E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B966-5BC2-4763-BCCF-3B9EE98EEB5B}" type="slidenum">
              <a:rPr lang="en-GB"/>
              <a:pPr/>
              <a:t>26</a:t>
            </a:fld>
            <a:endParaRPr lang="en-GB"/>
          </a:p>
        </p:txBody>
      </p:sp>
      <p:sp>
        <p:nvSpPr>
          <p:cNvPr id="264279" name="Rectangle 87"/>
          <p:cNvSpPr>
            <a:spLocks noChangeArrowheads="1"/>
          </p:cNvSpPr>
          <p:nvPr/>
        </p:nvSpPr>
        <p:spPr bwMode="auto">
          <a:xfrm>
            <a:off x="1147763" y="1485900"/>
            <a:ext cx="6624637" cy="495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42" name="Rectangle 50"/>
          <p:cNvSpPr>
            <a:spLocks noChangeArrowheads="1"/>
          </p:cNvSpPr>
          <p:nvPr/>
        </p:nvSpPr>
        <p:spPr bwMode="auto">
          <a:xfrm>
            <a:off x="4005263" y="2278063"/>
            <a:ext cx="1133475" cy="1533525"/>
          </a:xfrm>
          <a:prstGeom prst="rect">
            <a:avLst/>
          </a:prstGeom>
          <a:noFill/>
          <a:ln w="4763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43" name="Rectangle 51"/>
          <p:cNvSpPr>
            <a:spLocks noChangeArrowheads="1"/>
          </p:cNvSpPr>
          <p:nvPr/>
        </p:nvSpPr>
        <p:spPr bwMode="auto">
          <a:xfrm>
            <a:off x="4289425" y="2559050"/>
            <a:ext cx="5937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Ventes</a:t>
            </a:r>
            <a:endParaRPr lang="en-GB"/>
          </a:p>
        </p:txBody>
      </p:sp>
      <p:sp>
        <p:nvSpPr>
          <p:cNvPr id="264244" name="Rectangle 52"/>
          <p:cNvSpPr>
            <a:spLocks noChangeArrowheads="1"/>
          </p:cNvSpPr>
          <p:nvPr/>
        </p:nvSpPr>
        <p:spPr bwMode="auto">
          <a:xfrm>
            <a:off x="4005263" y="2806700"/>
            <a:ext cx="1133475" cy="1004888"/>
          </a:xfrm>
          <a:prstGeom prst="rect">
            <a:avLst/>
          </a:prstGeom>
          <a:noFill/>
          <a:ln w="4763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45" name="Rectangle 53"/>
          <p:cNvSpPr>
            <a:spLocks noChangeArrowheads="1"/>
          </p:cNvSpPr>
          <p:nvPr/>
        </p:nvSpPr>
        <p:spPr bwMode="auto">
          <a:xfrm>
            <a:off x="4044950" y="2833688"/>
            <a:ext cx="7016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noClient</a:t>
            </a:r>
            <a:endParaRPr lang="en-GB"/>
          </a:p>
        </p:txBody>
      </p:sp>
      <p:sp>
        <p:nvSpPr>
          <p:cNvPr id="264246" name="Rectangle 54"/>
          <p:cNvSpPr>
            <a:spLocks noChangeArrowheads="1"/>
          </p:cNvSpPr>
          <p:nvPr/>
        </p:nvSpPr>
        <p:spPr bwMode="auto">
          <a:xfrm>
            <a:off x="4044950" y="3060700"/>
            <a:ext cx="7429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noArticle</a:t>
            </a:r>
            <a:endParaRPr lang="en-GB"/>
          </a:p>
        </p:txBody>
      </p:sp>
      <p:sp>
        <p:nvSpPr>
          <p:cNvPr id="264247" name="Rectangle 55"/>
          <p:cNvSpPr>
            <a:spLocks noChangeArrowheads="1"/>
          </p:cNvSpPr>
          <p:nvPr/>
        </p:nvSpPr>
        <p:spPr bwMode="auto">
          <a:xfrm>
            <a:off x="4044950" y="3286125"/>
            <a:ext cx="8699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dateVente</a:t>
            </a:r>
            <a:endParaRPr lang="en-GB"/>
          </a:p>
        </p:txBody>
      </p:sp>
      <p:sp>
        <p:nvSpPr>
          <p:cNvPr id="264248" name="Rectangle 56"/>
          <p:cNvSpPr>
            <a:spLocks noChangeArrowheads="1"/>
          </p:cNvSpPr>
          <p:nvPr/>
        </p:nvSpPr>
        <p:spPr bwMode="auto">
          <a:xfrm>
            <a:off x="4044950" y="3513138"/>
            <a:ext cx="688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montant</a:t>
            </a:r>
            <a:endParaRPr lang="en-GB"/>
          </a:p>
        </p:txBody>
      </p:sp>
      <p:sp>
        <p:nvSpPr>
          <p:cNvPr id="264249" name="Rectangle 57"/>
          <p:cNvSpPr>
            <a:spLocks noChangeArrowheads="1"/>
          </p:cNvSpPr>
          <p:nvPr/>
        </p:nvSpPr>
        <p:spPr bwMode="auto">
          <a:xfrm>
            <a:off x="4130675" y="2332038"/>
            <a:ext cx="92233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&lt;&lt;Table&gt;&gt;</a:t>
            </a:r>
            <a:endParaRPr lang="en-GB"/>
          </a:p>
        </p:txBody>
      </p:sp>
      <p:sp>
        <p:nvSpPr>
          <p:cNvPr id="264250" name="Rectangle 58"/>
          <p:cNvSpPr>
            <a:spLocks noChangeArrowheads="1"/>
          </p:cNvSpPr>
          <p:nvPr/>
        </p:nvSpPr>
        <p:spPr bwMode="auto">
          <a:xfrm>
            <a:off x="1446213" y="1708150"/>
            <a:ext cx="1766887" cy="1081088"/>
          </a:xfrm>
          <a:prstGeom prst="rect">
            <a:avLst/>
          </a:prstGeom>
          <a:noFill/>
          <a:ln w="4763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51" name="Rectangle 59"/>
          <p:cNvSpPr>
            <a:spLocks noChangeArrowheads="1"/>
          </p:cNvSpPr>
          <p:nvPr/>
        </p:nvSpPr>
        <p:spPr bwMode="auto">
          <a:xfrm>
            <a:off x="2101850" y="1987550"/>
            <a:ext cx="4889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Client</a:t>
            </a:r>
            <a:endParaRPr lang="en-GB"/>
          </a:p>
        </p:txBody>
      </p:sp>
      <p:sp>
        <p:nvSpPr>
          <p:cNvPr id="264252" name="Rectangle 60"/>
          <p:cNvSpPr>
            <a:spLocks noChangeArrowheads="1"/>
          </p:cNvSpPr>
          <p:nvPr/>
        </p:nvSpPr>
        <p:spPr bwMode="auto">
          <a:xfrm>
            <a:off x="1446213" y="2236788"/>
            <a:ext cx="1766887" cy="552450"/>
          </a:xfrm>
          <a:prstGeom prst="rect">
            <a:avLst/>
          </a:prstGeom>
          <a:noFill/>
          <a:ln w="4763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53" name="Rectangle 61"/>
          <p:cNvSpPr>
            <a:spLocks noChangeArrowheads="1"/>
          </p:cNvSpPr>
          <p:nvPr/>
        </p:nvSpPr>
        <p:spPr bwMode="auto">
          <a:xfrm>
            <a:off x="1487488" y="2263775"/>
            <a:ext cx="1452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&lt;&lt;PK&gt;&gt; noClient</a:t>
            </a:r>
            <a:endParaRPr lang="en-GB"/>
          </a:p>
        </p:txBody>
      </p:sp>
      <p:sp>
        <p:nvSpPr>
          <p:cNvPr id="264254" name="Rectangle 62"/>
          <p:cNvSpPr>
            <a:spLocks noChangeArrowheads="1"/>
          </p:cNvSpPr>
          <p:nvPr/>
        </p:nvSpPr>
        <p:spPr bwMode="auto">
          <a:xfrm>
            <a:off x="1487488" y="2490788"/>
            <a:ext cx="7334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nomVille</a:t>
            </a:r>
            <a:endParaRPr lang="en-GB"/>
          </a:p>
        </p:txBody>
      </p:sp>
      <p:sp>
        <p:nvSpPr>
          <p:cNvPr id="264255" name="Rectangle 63"/>
          <p:cNvSpPr>
            <a:spLocks noChangeArrowheads="1"/>
          </p:cNvSpPr>
          <p:nvPr/>
        </p:nvSpPr>
        <p:spPr bwMode="auto">
          <a:xfrm>
            <a:off x="1889125" y="1762125"/>
            <a:ext cx="92233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&lt;&lt;Table&gt;&gt;</a:t>
            </a:r>
            <a:endParaRPr lang="en-GB"/>
          </a:p>
        </p:txBody>
      </p:sp>
      <p:sp>
        <p:nvSpPr>
          <p:cNvPr id="264256" name="Line 64"/>
          <p:cNvSpPr>
            <a:spLocks noChangeShapeType="1"/>
          </p:cNvSpPr>
          <p:nvPr/>
        </p:nvSpPr>
        <p:spPr bwMode="auto">
          <a:xfrm flipH="1" flipV="1">
            <a:off x="3227388" y="2566988"/>
            <a:ext cx="773112" cy="27622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57" name="Line 65"/>
          <p:cNvSpPr>
            <a:spLocks noChangeShapeType="1"/>
          </p:cNvSpPr>
          <p:nvPr/>
        </p:nvSpPr>
        <p:spPr bwMode="auto">
          <a:xfrm flipV="1">
            <a:off x="3227388" y="2559050"/>
            <a:ext cx="176212" cy="7938"/>
          </a:xfrm>
          <a:prstGeom prst="line">
            <a:avLst/>
          </a:prstGeom>
          <a:noFill/>
          <a:ln w="476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58" name="Line 66"/>
          <p:cNvSpPr>
            <a:spLocks noChangeShapeType="1"/>
          </p:cNvSpPr>
          <p:nvPr/>
        </p:nvSpPr>
        <p:spPr bwMode="auto">
          <a:xfrm>
            <a:off x="3227388" y="2566988"/>
            <a:ext cx="130175" cy="117475"/>
          </a:xfrm>
          <a:prstGeom prst="line">
            <a:avLst/>
          </a:prstGeom>
          <a:noFill/>
          <a:ln w="476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59" name="Rectangle 67"/>
          <p:cNvSpPr>
            <a:spLocks noChangeArrowheads="1"/>
          </p:cNvSpPr>
          <p:nvPr/>
        </p:nvSpPr>
        <p:spPr bwMode="auto">
          <a:xfrm>
            <a:off x="5754688" y="1708150"/>
            <a:ext cx="1830387" cy="1081088"/>
          </a:xfrm>
          <a:prstGeom prst="rect">
            <a:avLst/>
          </a:prstGeom>
          <a:noFill/>
          <a:ln w="4763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60" name="Rectangle 68"/>
          <p:cNvSpPr>
            <a:spLocks noChangeArrowheads="1"/>
          </p:cNvSpPr>
          <p:nvPr/>
        </p:nvSpPr>
        <p:spPr bwMode="auto">
          <a:xfrm>
            <a:off x="6413500" y="1987550"/>
            <a:ext cx="5302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Article</a:t>
            </a:r>
            <a:endParaRPr lang="en-GB"/>
          </a:p>
        </p:txBody>
      </p:sp>
      <p:sp>
        <p:nvSpPr>
          <p:cNvPr id="264261" name="Rectangle 69"/>
          <p:cNvSpPr>
            <a:spLocks noChangeArrowheads="1"/>
          </p:cNvSpPr>
          <p:nvPr/>
        </p:nvSpPr>
        <p:spPr bwMode="auto">
          <a:xfrm>
            <a:off x="5754688" y="2236788"/>
            <a:ext cx="1830387" cy="552450"/>
          </a:xfrm>
          <a:prstGeom prst="rect">
            <a:avLst/>
          </a:prstGeom>
          <a:noFill/>
          <a:ln w="4763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62" name="Rectangle 70"/>
          <p:cNvSpPr>
            <a:spLocks noChangeArrowheads="1"/>
          </p:cNvSpPr>
          <p:nvPr/>
        </p:nvSpPr>
        <p:spPr bwMode="auto">
          <a:xfrm>
            <a:off x="5794375" y="2263775"/>
            <a:ext cx="149383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&lt;&lt;PK&gt;&gt; noArticle</a:t>
            </a:r>
            <a:endParaRPr lang="en-GB"/>
          </a:p>
        </p:txBody>
      </p:sp>
      <p:sp>
        <p:nvSpPr>
          <p:cNvPr id="264263" name="Rectangle 71"/>
          <p:cNvSpPr>
            <a:spLocks noChangeArrowheads="1"/>
          </p:cNvSpPr>
          <p:nvPr/>
        </p:nvSpPr>
        <p:spPr bwMode="auto">
          <a:xfrm>
            <a:off x="5794375" y="2490788"/>
            <a:ext cx="7858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catégorie</a:t>
            </a:r>
            <a:endParaRPr lang="en-GB"/>
          </a:p>
        </p:txBody>
      </p:sp>
      <p:sp>
        <p:nvSpPr>
          <p:cNvPr id="264264" name="Rectangle 72"/>
          <p:cNvSpPr>
            <a:spLocks noChangeArrowheads="1"/>
          </p:cNvSpPr>
          <p:nvPr/>
        </p:nvSpPr>
        <p:spPr bwMode="auto">
          <a:xfrm>
            <a:off x="6229350" y="1762125"/>
            <a:ext cx="92233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&lt;&lt;Table&gt;&gt;</a:t>
            </a:r>
            <a:endParaRPr lang="en-GB"/>
          </a:p>
        </p:txBody>
      </p:sp>
      <p:sp>
        <p:nvSpPr>
          <p:cNvPr id="264265" name="Line 73"/>
          <p:cNvSpPr>
            <a:spLocks noChangeShapeType="1"/>
          </p:cNvSpPr>
          <p:nvPr/>
        </p:nvSpPr>
        <p:spPr bwMode="auto">
          <a:xfrm flipV="1">
            <a:off x="5153025" y="2603500"/>
            <a:ext cx="596900" cy="22225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66" name="Line 74"/>
          <p:cNvSpPr>
            <a:spLocks noChangeShapeType="1"/>
          </p:cNvSpPr>
          <p:nvPr/>
        </p:nvSpPr>
        <p:spPr bwMode="auto">
          <a:xfrm flipH="1">
            <a:off x="5618163" y="2603500"/>
            <a:ext cx="131762" cy="122238"/>
          </a:xfrm>
          <a:prstGeom prst="line">
            <a:avLst/>
          </a:prstGeom>
          <a:noFill/>
          <a:ln w="476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67" name="Line 75"/>
          <p:cNvSpPr>
            <a:spLocks noChangeShapeType="1"/>
          </p:cNvSpPr>
          <p:nvPr/>
        </p:nvSpPr>
        <p:spPr bwMode="auto">
          <a:xfrm flipH="1" flipV="1">
            <a:off x="5573713" y="2598738"/>
            <a:ext cx="176212" cy="4762"/>
          </a:xfrm>
          <a:prstGeom prst="line">
            <a:avLst/>
          </a:prstGeom>
          <a:noFill/>
          <a:ln w="476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68" name="Rectangle 76"/>
          <p:cNvSpPr>
            <a:spLocks noChangeArrowheads="1"/>
          </p:cNvSpPr>
          <p:nvPr/>
        </p:nvSpPr>
        <p:spPr bwMode="auto">
          <a:xfrm>
            <a:off x="3594100" y="4667250"/>
            <a:ext cx="1955800" cy="1533525"/>
          </a:xfrm>
          <a:prstGeom prst="rect">
            <a:avLst/>
          </a:prstGeom>
          <a:noFill/>
          <a:ln w="4763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69" name="Rectangle 77"/>
          <p:cNvSpPr>
            <a:spLocks noChangeArrowheads="1"/>
          </p:cNvSpPr>
          <p:nvPr/>
        </p:nvSpPr>
        <p:spPr bwMode="auto">
          <a:xfrm>
            <a:off x="4267200" y="4948238"/>
            <a:ext cx="6588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Période</a:t>
            </a:r>
            <a:endParaRPr lang="en-GB"/>
          </a:p>
        </p:txBody>
      </p:sp>
      <p:sp>
        <p:nvSpPr>
          <p:cNvPr id="264270" name="Rectangle 78"/>
          <p:cNvSpPr>
            <a:spLocks noChangeArrowheads="1"/>
          </p:cNvSpPr>
          <p:nvPr/>
        </p:nvSpPr>
        <p:spPr bwMode="auto">
          <a:xfrm>
            <a:off x="3594100" y="5195888"/>
            <a:ext cx="1955800" cy="1004887"/>
          </a:xfrm>
          <a:prstGeom prst="rect">
            <a:avLst/>
          </a:prstGeom>
          <a:noFill/>
          <a:ln w="4763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71" name="Rectangle 79"/>
          <p:cNvSpPr>
            <a:spLocks noChangeArrowheads="1"/>
          </p:cNvSpPr>
          <p:nvPr/>
        </p:nvSpPr>
        <p:spPr bwMode="auto">
          <a:xfrm>
            <a:off x="3633788" y="5222875"/>
            <a:ext cx="162083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&lt;&lt;PK&gt;&gt; dateVente</a:t>
            </a:r>
            <a:endParaRPr lang="en-GB"/>
          </a:p>
        </p:txBody>
      </p:sp>
      <p:sp>
        <p:nvSpPr>
          <p:cNvPr id="264272" name="Rectangle 80"/>
          <p:cNvSpPr>
            <a:spLocks noChangeArrowheads="1"/>
          </p:cNvSpPr>
          <p:nvPr/>
        </p:nvSpPr>
        <p:spPr bwMode="auto">
          <a:xfrm>
            <a:off x="3633788" y="5449888"/>
            <a:ext cx="4032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mois</a:t>
            </a:r>
            <a:endParaRPr lang="en-GB"/>
          </a:p>
        </p:txBody>
      </p:sp>
      <p:sp>
        <p:nvSpPr>
          <p:cNvPr id="264273" name="Rectangle 81"/>
          <p:cNvSpPr>
            <a:spLocks noChangeArrowheads="1"/>
          </p:cNvSpPr>
          <p:nvPr/>
        </p:nvSpPr>
        <p:spPr bwMode="auto">
          <a:xfrm>
            <a:off x="3633788" y="5675313"/>
            <a:ext cx="7413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trimestre</a:t>
            </a:r>
            <a:endParaRPr lang="en-GB"/>
          </a:p>
        </p:txBody>
      </p:sp>
      <p:sp>
        <p:nvSpPr>
          <p:cNvPr id="264274" name="Rectangle 82"/>
          <p:cNvSpPr>
            <a:spLocks noChangeArrowheads="1"/>
          </p:cNvSpPr>
          <p:nvPr/>
        </p:nvSpPr>
        <p:spPr bwMode="auto">
          <a:xfrm>
            <a:off x="3633788" y="5902325"/>
            <a:ext cx="5318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année</a:t>
            </a:r>
            <a:endParaRPr lang="en-GB"/>
          </a:p>
        </p:txBody>
      </p:sp>
      <p:sp>
        <p:nvSpPr>
          <p:cNvPr id="264275" name="Rectangle 83"/>
          <p:cNvSpPr>
            <a:spLocks noChangeArrowheads="1"/>
          </p:cNvSpPr>
          <p:nvPr/>
        </p:nvSpPr>
        <p:spPr bwMode="auto">
          <a:xfrm>
            <a:off x="4130675" y="4721225"/>
            <a:ext cx="92233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sz="1500">
                <a:latin typeface="Arial" pitchFamily="34" charset="0"/>
              </a:rPr>
              <a:t>&lt;&lt;Table&gt;&gt;</a:t>
            </a:r>
            <a:endParaRPr lang="en-GB"/>
          </a:p>
        </p:txBody>
      </p:sp>
      <p:sp>
        <p:nvSpPr>
          <p:cNvPr id="264276" name="Line 84"/>
          <p:cNvSpPr>
            <a:spLocks noChangeShapeType="1"/>
          </p:cNvSpPr>
          <p:nvPr/>
        </p:nvSpPr>
        <p:spPr bwMode="auto">
          <a:xfrm>
            <a:off x="4578350" y="3825875"/>
            <a:ext cx="1588" cy="836613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77" name="Line 85"/>
          <p:cNvSpPr>
            <a:spLocks noChangeShapeType="1"/>
          </p:cNvSpPr>
          <p:nvPr/>
        </p:nvSpPr>
        <p:spPr bwMode="auto">
          <a:xfrm flipV="1">
            <a:off x="4578350" y="4498975"/>
            <a:ext cx="68263" cy="163513"/>
          </a:xfrm>
          <a:prstGeom prst="line">
            <a:avLst/>
          </a:prstGeom>
          <a:noFill/>
          <a:ln w="476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278" name="Line 86"/>
          <p:cNvSpPr>
            <a:spLocks noChangeShapeType="1"/>
          </p:cNvSpPr>
          <p:nvPr/>
        </p:nvSpPr>
        <p:spPr bwMode="auto">
          <a:xfrm flipH="1" flipV="1">
            <a:off x="1677988" y="1371600"/>
            <a:ext cx="23812" cy="57150"/>
          </a:xfrm>
          <a:prstGeom prst="line">
            <a:avLst/>
          </a:prstGeom>
          <a:noFill/>
          <a:ln w="476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4198" name="Text Box 6"/>
          <p:cNvSpPr txBox="1">
            <a:spLocks noChangeArrowheads="1"/>
          </p:cNvSpPr>
          <p:nvPr/>
        </p:nvSpPr>
        <p:spPr bwMode="auto">
          <a:xfrm>
            <a:off x="971550" y="3629025"/>
            <a:ext cx="1839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CA"/>
              <a:t>Table de faits</a:t>
            </a:r>
            <a:endParaRPr lang="fr-FR"/>
          </a:p>
        </p:txBody>
      </p:sp>
      <p:sp>
        <p:nvSpPr>
          <p:cNvPr id="264199" name="Line 7"/>
          <p:cNvSpPr>
            <a:spLocks noChangeShapeType="1"/>
          </p:cNvSpPr>
          <p:nvPr/>
        </p:nvSpPr>
        <p:spPr bwMode="auto">
          <a:xfrm flipV="1">
            <a:off x="2843213" y="3341688"/>
            <a:ext cx="1081087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64200" name="Text Box 8"/>
          <p:cNvSpPr txBox="1">
            <a:spLocks noChangeArrowheads="1"/>
          </p:cNvSpPr>
          <p:nvPr/>
        </p:nvSpPr>
        <p:spPr bwMode="auto">
          <a:xfrm>
            <a:off x="5795963" y="3917950"/>
            <a:ext cx="28321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CA"/>
              <a:t>Tables de dimensions</a:t>
            </a:r>
            <a:endParaRPr lang="fr-FR"/>
          </a:p>
        </p:txBody>
      </p:sp>
      <p:sp>
        <p:nvSpPr>
          <p:cNvPr id="264201" name="Line 9"/>
          <p:cNvSpPr>
            <a:spLocks noChangeShapeType="1"/>
          </p:cNvSpPr>
          <p:nvPr/>
        </p:nvSpPr>
        <p:spPr bwMode="auto">
          <a:xfrm flipH="1" flipV="1">
            <a:off x="6732588" y="2836863"/>
            <a:ext cx="144462" cy="1081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64202" name="Line 10"/>
          <p:cNvSpPr>
            <a:spLocks noChangeShapeType="1"/>
          </p:cNvSpPr>
          <p:nvPr/>
        </p:nvSpPr>
        <p:spPr bwMode="auto">
          <a:xfrm flipH="1">
            <a:off x="5795963" y="4494213"/>
            <a:ext cx="1152525" cy="86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64203" name="Text Box 11"/>
          <p:cNvSpPr txBox="1">
            <a:spLocks noChangeArrowheads="1"/>
          </p:cNvSpPr>
          <p:nvPr/>
        </p:nvSpPr>
        <p:spPr bwMode="auto">
          <a:xfrm>
            <a:off x="1331913" y="938213"/>
            <a:ext cx="6911975" cy="76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fr-CA" sz="4400">
                <a:solidFill>
                  <a:schemeClr val="tx2"/>
                </a:solidFill>
                <a:latin typeface="Arial Black" pitchFamily="34" charset="0"/>
              </a:rPr>
              <a:t>DataWarehouse</a:t>
            </a:r>
            <a:endParaRPr lang="fr-FR" sz="4400">
              <a:solidFill>
                <a:schemeClr val="tx2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22B0-8EE1-466F-906E-2F120E579EA9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29A0-983C-44EF-ACE7-DB54169BBEFF}" type="slidenum">
              <a:rPr lang="en-GB"/>
              <a:pPr/>
              <a:t>27</a:t>
            </a:fld>
            <a:endParaRPr lang="en-GB"/>
          </a:p>
        </p:txBody>
      </p:sp>
      <p:sp>
        <p:nvSpPr>
          <p:cNvPr id="3870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>
                <a:cs typeface="Times New Roman" pitchFamily="18" charset="0"/>
              </a:rPr>
              <a:t>DataWarehouse</a:t>
            </a:r>
            <a:endParaRPr lang="en-GB">
              <a:cs typeface="Times New Roman" pitchFamily="18" charset="0"/>
            </a:endParaRPr>
          </a:p>
        </p:txBody>
      </p:sp>
      <p:sp>
        <p:nvSpPr>
          <p:cNvPr id="38707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800">
                <a:cs typeface="Times New Roman" pitchFamily="18" charset="0"/>
              </a:rPr>
              <a:t>Les entrepôts de données sont d’une grande taille</a:t>
            </a:r>
          </a:p>
          <a:p>
            <a:r>
              <a:rPr lang="fr-FR" sz="2800" dirty="0">
                <a:cs typeface="Times New Roman" pitchFamily="18" charset="0"/>
              </a:rPr>
              <a:t>Besoin d’entrepôts de données spécifiques: un pour finance, un pour comptabilité, </a:t>
            </a:r>
            <a:r>
              <a:rPr lang="fr-FR" sz="2800" dirty="0" err="1">
                <a:cs typeface="Times New Roman" pitchFamily="18" charset="0"/>
              </a:rPr>
              <a:t>etc</a:t>
            </a:r>
            <a:endParaRPr lang="fr-FR" sz="2800" dirty="0">
              <a:cs typeface="Times New Roman" pitchFamily="18" charset="0"/>
            </a:endParaRPr>
          </a:p>
          <a:p>
            <a:r>
              <a:rPr lang="fr-FR" sz="2800" dirty="0">
                <a:cs typeface="Times New Roman" pitchFamily="18" charset="0"/>
              </a:rPr>
              <a:t>Ce sont les </a:t>
            </a:r>
            <a:r>
              <a:rPr lang="fr-FR" sz="2800" dirty="0" err="1">
                <a:cs typeface="Times New Roman" pitchFamily="18" charset="0"/>
              </a:rPr>
              <a:t>dataMart</a:t>
            </a:r>
            <a:r>
              <a:rPr lang="fr-FR" sz="2800" dirty="0">
                <a:cs typeface="Times New Roman" pitchFamily="18" charset="0"/>
              </a:rPr>
              <a:t>.</a:t>
            </a:r>
          </a:p>
          <a:p>
            <a:r>
              <a:rPr lang="fr-FR" sz="2800" dirty="0">
                <a:cs typeface="Times New Roman" pitchFamily="18" charset="0"/>
              </a:rPr>
              <a:t>Un </a:t>
            </a:r>
            <a:r>
              <a:rPr lang="fr-FR" sz="2800" dirty="0" err="1">
                <a:cs typeface="Times New Roman" pitchFamily="18" charset="0"/>
              </a:rPr>
              <a:t>dataMart</a:t>
            </a:r>
            <a:r>
              <a:rPr lang="fr-FR" sz="2800" dirty="0">
                <a:cs typeface="Times New Roman" pitchFamily="18" charset="0"/>
              </a:rPr>
              <a:t>: une vue particulière de l’application pour un décideur</a:t>
            </a:r>
          </a:p>
          <a:p>
            <a:endParaRPr lang="en-GB" sz="2800" dirty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75B81-A31D-4B38-BF5B-DE4F1E6F416C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D9C2-90F8-44E9-BE82-FCB04AA4CAD9}" type="slidenum">
              <a:rPr lang="en-GB"/>
              <a:pPr/>
              <a:t>28</a:t>
            </a:fld>
            <a:endParaRPr lang="en-GB"/>
          </a:p>
        </p:txBody>
      </p:sp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/>
              <a:t>Plan</a:t>
            </a:r>
            <a:endParaRPr lang="en-GB"/>
          </a:p>
        </p:txBody>
      </p:sp>
      <p:sp>
        <p:nvSpPr>
          <p:cNvPr id="416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Interface entre un L3G et SGBD (java et Oracle)</a:t>
            </a:r>
          </a:p>
          <a:p>
            <a:r>
              <a:rPr lang="fr-CA"/>
              <a:t>SGBD sur le marché</a:t>
            </a:r>
          </a:p>
          <a:p>
            <a:r>
              <a:rPr lang="fr-CA"/>
              <a:t>DataWarehouse</a:t>
            </a:r>
          </a:p>
          <a:p>
            <a:r>
              <a:rPr lang="fr-CA">
                <a:solidFill>
                  <a:schemeClr val="tx2"/>
                </a:solidFill>
              </a:rPr>
              <a:t>Base de données Objet</a:t>
            </a:r>
          </a:p>
          <a:p>
            <a:r>
              <a:rPr lang="fr-CA"/>
              <a:t>Fin cours</a:t>
            </a:r>
          </a:p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4D-0D8E-4149-8677-C3C9AB729963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824E-F6E5-4C08-B144-B87D5C79DD2B}" type="slidenum">
              <a:rPr lang="en-GB"/>
              <a:pPr/>
              <a:t>29</a:t>
            </a:fld>
            <a:endParaRPr lang="en-GB"/>
          </a:p>
        </p:txBody>
      </p:sp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Limites des SGBD-R</a:t>
            </a:r>
            <a:endParaRPr lang="fr-CA"/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2800"/>
              <a:t>le modèle de données est trop simple et ne permet pas de représenter facilement les entités du monde</a:t>
            </a:r>
            <a:r>
              <a:rPr lang="en-US" sz="2800"/>
              <a:t> </a:t>
            </a:r>
            <a:r>
              <a:rPr lang="fr-CA" sz="2800"/>
              <a:t>réel qui sont souvent plus complexes qu'une relation.</a:t>
            </a:r>
            <a:endParaRPr lang="en-US" sz="2800"/>
          </a:p>
          <a:p>
            <a:r>
              <a:rPr lang="fr-CA" sz="2800"/>
              <a:t>le modèle relationnel ne permet pas de représenter explicitement les différents types de liens</a:t>
            </a:r>
            <a:r>
              <a:rPr lang="en-US" sz="2800"/>
              <a:t> </a:t>
            </a:r>
            <a:r>
              <a:rPr lang="fr-CA" sz="2800"/>
              <a:t>sémantiques qui peuvent lier des entités : composition, généralisation / spécialisation, association…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FF37-797E-43ED-9DEE-610172F72FD9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9F6E-E564-4B73-8E6C-E48F248F6916}" type="slidenum">
              <a:rPr lang="en-GB"/>
              <a:pPr/>
              <a:t>30</a:t>
            </a:fld>
            <a:endParaRPr lang="en-GB"/>
          </a:p>
        </p:txBody>
      </p:sp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Limites des SGBD-R</a:t>
            </a:r>
            <a:endParaRPr lang="fr-CA"/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2800"/>
              <a:t>l'incompatibilité des LMD relationnels et des langages de programmation</a:t>
            </a:r>
            <a:r>
              <a:rPr lang="en-US" sz="2800"/>
              <a:t>:</a:t>
            </a:r>
          </a:p>
          <a:p>
            <a:pPr lvl="1"/>
            <a:r>
              <a:rPr lang="fr-CA" sz="2400"/>
              <a:t>les LMD sont déclaratifs et fournissent en résultat un ensemble de tuples, alors que les langages</a:t>
            </a:r>
            <a:r>
              <a:rPr lang="en-US" sz="2400"/>
              <a:t> </a:t>
            </a:r>
            <a:r>
              <a:rPr lang="fr-CA" sz="2400"/>
              <a:t>de programmation sont impératifs et travaillent sur un élément à la fois</a:t>
            </a:r>
            <a:endParaRPr lang="en-US" sz="2400"/>
          </a:p>
          <a:p>
            <a:pPr lvl="1"/>
            <a:r>
              <a:rPr lang="fr-CA" sz="2400"/>
              <a:t>les types de données manipulés par les langages de programmation sont plus complets et plus</a:t>
            </a:r>
            <a:r>
              <a:rPr lang="en-US" sz="2400"/>
              <a:t> </a:t>
            </a:r>
            <a:r>
              <a:rPr lang="fr-CA" sz="2400"/>
              <a:t>complexes que ceux des LMD relationnels.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72E9-23C8-47DD-BDA9-09A740A54E43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E28C3-C51C-4CB4-BEA4-7998475C7AE2}" type="slidenum">
              <a:rPr lang="en-GB"/>
              <a:pPr/>
              <a:t>31</a:t>
            </a:fld>
            <a:endParaRPr lang="en-GB"/>
          </a:p>
        </p:txBody>
      </p:sp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BDO</a:t>
            </a:r>
            <a:endParaRPr lang="fr-CA"/>
          </a:p>
        </p:txBody>
      </p:sp>
      <p:sp>
        <p:nvSpPr>
          <p:cNvPr id="30310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2800"/>
              <a:t>Les bases de données orientées objets (BDO) sont nées de la convergence de deux domaines:</a:t>
            </a:r>
            <a:endParaRPr lang="en-US" sz="2800"/>
          </a:p>
          <a:p>
            <a:pPr lvl="1"/>
            <a:r>
              <a:rPr lang="fr-CA" sz="2400"/>
              <a:t>les bases de données</a:t>
            </a:r>
            <a:endParaRPr lang="en-US" sz="2400"/>
          </a:p>
          <a:p>
            <a:pPr lvl="1"/>
            <a:r>
              <a:rPr lang="fr-CA" sz="2400"/>
              <a:t>les langages de programmation orientés objets, tels que Eiffel, Smalltalk, C ++ , Java…</a:t>
            </a:r>
            <a:endParaRPr lang="en-US" sz="2400"/>
          </a:p>
          <a:p>
            <a:pPr lvl="2"/>
            <a:r>
              <a:rPr lang="fr-CA" sz="2000"/>
              <a:t>les objets, qui comportent deux parties: leur valeur, et les opérations, appelées méthodes, qui</a:t>
            </a:r>
            <a:r>
              <a:rPr lang="en-US" sz="2000"/>
              <a:t> </a:t>
            </a:r>
            <a:r>
              <a:rPr lang="fr-CA" sz="2000"/>
              <a:t>permettent de les manipuler.</a:t>
            </a:r>
            <a:endParaRPr lang="en-US" sz="2000"/>
          </a:p>
          <a:p>
            <a:pPr lvl="2"/>
            <a:r>
              <a:rPr lang="en-US" sz="2000"/>
              <a:t>L’héritage</a:t>
            </a:r>
            <a:endParaRPr lang="fr-CA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6EEDB-CC16-4CC4-B3C9-8575D7AA8698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F03EC-20F0-47E8-A85E-64D2F306B9AB}" type="slidenum">
              <a:rPr lang="en-GB"/>
              <a:pPr/>
              <a:t>32</a:t>
            </a:fld>
            <a:endParaRPr lang="en-GB"/>
          </a:p>
        </p:txBody>
      </p:sp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BDO</a:t>
            </a:r>
            <a:endParaRPr lang="fr-CA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Les BDO </a:t>
            </a:r>
            <a:r>
              <a:rPr lang="en-US" sz="2800" dirty="0" err="1"/>
              <a:t>sont</a:t>
            </a:r>
            <a:r>
              <a:rPr lang="en-US" sz="2800" dirty="0"/>
              <a:t> </a:t>
            </a:r>
            <a:r>
              <a:rPr lang="en-US" sz="2800" dirty="0" err="1"/>
              <a:t>caractérisées</a:t>
            </a:r>
            <a:r>
              <a:rPr lang="en-US" sz="2800" dirty="0"/>
              <a:t> par 4 points </a:t>
            </a:r>
            <a:r>
              <a:rPr lang="en-US" sz="2800" dirty="0" err="1"/>
              <a:t>essentiels</a:t>
            </a:r>
            <a:r>
              <a:rPr lang="en-US" sz="2800" dirty="0"/>
              <a:t>:</a:t>
            </a:r>
          </a:p>
          <a:p>
            <a:pPr lvl="1">
              <a:lnSpc>
                <a:spcPct val="90000"/>
              </a:lnSpc>
            </a:pPr>
            <a:r>
              <a:rPr lang="fr-CA" sz="2400" dirty="0"/>
              <a:t>un modèle de données qui permet de représenter des structures de données complexes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fr-CA" sz="2400" dirty="0"/>
              <a:t>les données et les traitements ne sont plus séparés. La dynamique (les méthodes) fait partie de la</a:t>
            </a:r>
            <a:r>
              <a:rPr lang="en-US" sz="2400" dirty="0"/>
              <a:t> </a:t>
            </a:r>
            <a:r>
              <a:rPr lang="fr-CA" sz="2400" dirty="0"/>
              <a:t>déclaration des objets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fr-CA" sz="2400" dirty="0"/>
              <a:t>l'héritage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fr-CA" sz="2400" dirty="0"/>
              <a:t>tout objet possède une identité qui le distingue de tout autre objet, même s'ils ont la même valeur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929D2-896D-4005-8A50-BB0F3009D020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5578F-D6E6-47C4-AB0D-9EC61C660D65}" type="slidenum">
              <a:rPr lang="en-GB"/>
              <a:pPr/>
              <a:t>33</a:t>
            </a:fld>
            <a:endParaRPr lang="en-GB"/>
          </a:p>
        </p:txBody>
      </p:sp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Structure de données</a:t>
            </a:r>
            <a:endParaRPr lang="fr-CA"/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Il existe deux types de liens entre les objets</a:t>
            </a:r>
            <a:r>
              <a:rPr lang="en-US"/>
              <a:t>:</a:t>
            </a:r>
          </a:p>
          <a:p>
            <a:pPr lvl="1"/>
            <a:r>
              <a:rPr lang="fr-CA"/>
              <a:t>les liens de composition: "tel objet est composé de tel(s) objet(s)".</a:t>
            </a:r>
            <a:endParaRPr lang="en-US"/>
          </a:p>
          <a:p>
            <a:pPr lvl="1"/>
            <a:r>
              <a:rPr lang="fr-CA"/>
              <a:t>les liens de généralisation / spécialisation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D368-7F0B-4D20-8100-93AEBF38A465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03A7D-D431-4F2C-A8DE-A1BFA0933F0B}" type="slidenum">
              <a:rPr lang="en-GB"/>
              <a:pPr/>
              <a:t>34</a:t>
            </a:fld>
            <a:endParaRPr lang="en-GB"/>
          </a:p>
        </p:txBody>
      </p:sp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Structure complexe</a:t>
            </a:r>
            <a:endParaRPr lang="fr-CA"/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fr-CA" sz="2000"/>
              <a:t>Exemple:</a:t>
            </a:r>
          </a:p>
          <a:p>
            <a:pPr lvl="1">
              <a:lnSpc>
                <a:spcPct val="90000"/>
              </a:lnSpc>
            </a:pPr>
            <a:r>
              <a:rPr lang="fr-CA" sz="2000"/>
              <a:t>CLASS Etudiant1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 		</a:t>
            </a:r>
            <a:r>
              <a:rPr lang="fr-CA" sz="2000"/>
              <a:t>{ num : INT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</a:t>
            </a:r>
            <a:r>
              <a:rPr lang="fr-CA" sz="2000"/>
              <a:t>nom : STRING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</a:t>
            </a:r>
            <a:r>
              <a:rPr lang="fr-CA" sz="2000"/>
              <a:t>prénoms : LIST STRING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</a:t>
            </a:r>
            <a:r>
              <a:rPr lang="fr-CA" sz="2000"/>
              <a:t>date-nais : DATE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</a:t>
            </a:r>
            <a:r>
              <a:rPr lang="fr-CA" sz="2000"/>
              <a:t>adresse : STRUCT {</a:t>
            </a:r>
            <a:r>
              <a:rPr lang="fr-CA" sz="2000">
                <a:latin typeface="Symbol" pitchFamily="18" charset="2"/>
              </a:rPr>
              <a:t>n° </a:t>
            </a:r>
            <a:r>
              <a:rPr lang="fr-CA" sz="2000"/>
              <a:t>: INT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			</a:t>
            </a:r>
            <a:r>
              <a:rPr lang="fr-CA" sz="2000"/>
              <a:t>rue : STRING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			</a:t>
            </a:r>
            <a:r>
              <a:rPr lang="fr-CA" sz="2000"/>
              <a:t>ville : STRING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			</a:t>
            </a:r>
            <a:r>
              <a:rPr lang="fr-CA" sz="2000"/>
              <a:t>pays : STRING }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</a:t>
            </a:r>
            <a:r>
              <a:rPr lang="fr-CA" sz="2000"/>
              <a:t>cours-suivis : SET STRUCT { nom-cours : </a:t>
            </a:r>
            <a:r>
              <a:rPr lang="en-US" sz="2000"/>
              <a:t>	</a:t>
            </a:r>
            <a:r>
              <a:rPr lang="fr-CA" sz="2000"/>
              <a:t>STRING;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</a:t>
            </a:r>
            <a:r>
              <a:rPr lang="fr-CA" sz="2000"/>
              <a:t>note : FLOAT}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191D4-5C6F-4293-8F41-8982E715A93F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B27AA-C049-4576-BE4C-44A2D71D050E}" type="slidenum">
              <a:rPr lang="en-GB"/>
              <a:pPr/>
              <a:t>35</a:t>
            </a:fld>
            <a:endParaRPr lang="en-GB"/>
          </a:p>
        </p:txBody>
      </p:sp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Lien de composition</a:t>
            </a:r>
            <a:endParaRPr lang="fr-CA"/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fr-CA" sz="2800"/>
              <a:t>CLASS Etudiant2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   </a:t>
            </a:r>
            <a:r>
              <a:rPr lang="fr-CA" sz="2800"/>
              <a:t>{ num : INT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	</a:t>
            </a:r>
            <a:r>
              <a:rPr lang="fr-CA" sz="2800"/>
              <a:t>nom : STRING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	</a:t>
            </a:r>
            <a:r>
              <a:rPr lang="fr-CA" sz="2800"/>
              <a:t>prénoms : LIST STRING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	</a:t>
            </a:r>
            <a:r>
              <a:rPr lang="fr-CA" sz="2800"/>
              <a:t>cours-suivis : SET STRUCT </a:t>
            </a:r>
            <a:r>
              <a:rPr lang="fr-CA" sz="2800" b="1"/>
              <a:t>{cours : Cour</a:t>
            </a:r>
            <a:r>
              <a:rPr lang="fr-CA" sz="2800"/>
              <a:t>s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				</a:t>
            </a:r>
            <a:r>
              <a:rPr lang="fr-CA" sz="2800"/>
              <a:t>note : FLOAT }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2800"/>
              <a:t>CLASS Cours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	</a:t>
            </a:r>
            <a:r>
              <a:rPr lang="fr-CA" sz="2800"/>
              <a:t>{nomC : STRING ; ....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6D70-54B8-444D-980D-B1869CB3C29F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A093-C61F-4BEB-8717-05D72C561B4C}" type="slidenum">
              <a:rPr lang="en-GB"/>
              <a:pPr/>
              <a:t>36</a:t>
            </a:fld>
            <a:endParaRPr lang="en-GB"/>
          </a:p>
        </p:txBody>
      </p:sp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11150"/>
            <a:ext cx="7772400" cy="1739900"/>
          </a:xfrm>
        </p:spPr>
        <p:txBody>
          <a:bodyPr/>
          <a:lstStyle/>
          <a:p>
            <a:r>
              <a:rPr lang="fr-CA" sz="3600"/>
              <a:t>Graphe de généralisation/spécialisation des classes</a:t>
            </a:r>
          </a:p>
        </p:txBody>
      </p:sp>
      <p:graphicFrame>
        <p:nvGraphicFramePr>
          <p:cNvPr id="421888" name="Object 2048"/>
          <p:cNvGraphicFramePr>
            <a:graphicFrameLocks noChangeAspect="1"/>
          </p:cNvGraphicFramePr>
          <p:nvPr/>
        </p:nvGraphicFramePr>
        <p:xfrm>
          <a:off x="901700" y="2371725"/>
          <a:ext cx="7342188" cy="265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Bitmap Image" r:id="rId3" imgW="7342857" imgH="2657846" progId="PBrush">
                  <p:embed/>
                </p:oleObj>
              </mc:Choice>
              <mc:Fallback>
                <p:oleObj name="Bitmap Image" r:id="rId3" imgW="7342857" imgH="2657846" progId="PBrush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2371725"/>
                        <a:ext cx="7342188" cy="265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50815-6F3F-4D9C-9306-EEB5A0F60135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F45A-22BF-4017-AA90-0DCEBA14D19B}" type="slidenum">
              <a:rPr lang="en-GB"/>
              <a:pPr/>
              <a:t>37</a:t>
            </a:fld>
            <a:endParaRPr lang="en-GB"/>
          </a:p>
        </p:txBody>
      </p:sp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Code</a:t>
            </a:r>
            <a:endParaRPr lang="fr-CA"/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fr-CA" sz="1800" b="1"/>
              <a:t>Class </a:t>
            </a:r>
            <a:r>
              <a:rPr lang="fr-CA" sz="1800"/>
              <a:t>Etudiant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/>
              <a:t>	</a:t>
            </a:r>
            <a:r>
              <a:rPr lang="fr-CA" sz="1800"/>
              <a:t>{ ….;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1800" b="1"/>
              <a:t>Class </a:t>
            </a:r>
            <a:r>
              <a:rPr lang="fr-CA" sz="1800"/>
              <a:t>Promo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/>
              <a:t>	</a:t>
            </a:r>
            <a:r>
              <a:rPr lang="fr-CA" sz="1800"/>
              <a:t>{ étudiants: </a:t>
            </a:r>
            <a:r>
              <a:rPr lang="fr-CA" sz="1800" b="1"/>
              <a:t>Set </a:t>
            </a:r>
            <a:r>
              <a:rPr lang="fr-CA" sz="1800"/>
              <a:t>Etudiant ; }</a:t>
            </a:r>
            <a:endParaRPr lang="en-US" sz="1800"/>
          </a:p>
          <a:p>
            <a:pPr>
              <a:lnSpc>
                <a:spcPct val="90000"/>
              </a:lnSpc>
              <a:buFontTx/>
              <a:buNone/>
            </a:pPr>
            <a:r>
              <a:rPr lang="fr-CA" sz="1800" b="1"/>
              <a:t>Program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1800" b="1"/>
              <a:t>Declare </a:t>
            </a:r>
            <a:r>
              <a:rPr lang="fr-CA" sz="1800"/>
              <a:t>promo95 : Promo;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1800" b="1"/>
              <a:t>Declare </a:t>
            </a:r>
            <a:r>
              <a:rPr lang="fr-CA" sz="1800"/>
              <a:t>lucie : Etudiant;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1800"/>
              <a:t>..........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1800"/>
              <a:t>promo95 = Promo ; */ création d'un objet de type Promo /*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1800"/>
              <a:t>......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1800"/>
              <a:t>lucie = Etudiant("Dupont"; ["Lucie"]; 15344; "chemin des oiseaux 2; Lausanne"; 1/1/80);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1800"/>
              <a:t>*/ création d'un objet Etudiant, dont l’oid est rendu en réponse /*</a:t>
            </a:r>
            <a:endParaRPr lang="en-US" sz="1800"/>
          </a:p>
          <a:p>
            <a:pPr>
              <a:lnSpc>
                <a:spcPct val="90000"/>
              </a:lnSpc>
              <a:buFontTx/>
              <a:buNone/>
            </a:pPr>
            <a:r>
              <a:rPr lang="fr-CA" sz="1800"/>
              <a:t>promo9</a:t>
            </a:r>
            <a:r>
              <a:rPr lang="fr-CA" sz="1800" b="1"/>
              <a:t>5.</a:t>
            </a:r>
            <a:r>
              <a:rPr lang="fr-CA" sz="1800"/>
              <a:t>étudiant</a:t>
            </a:r>
            <a:r>
              <a:rPr lang="fr-CA" sz="1800" b="1"/>
              <a:t>s.insert_elemen</a:t>
            </a:r>
            <a:r>
              <a:rPr lang="fr-CA" sz="1800"/>
              <a:t>t(lucie); */ insertion de l'objet lucie dans l'ensemble des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fr-CA" sz="1800"/>
              <a:t>étudiants de promo95 /*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00C-36E9-46F6-BA7D-513D5B58220A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B571-89F3-4455-AA35-C1312C2D2159}" type="slidenum">
              <a:rPr lang="en-GB"/>
              <a:pPr/>
              <a:t>38</a:t>
            </a:fld>
            <a:endParaRPr lang="en-GB"/>
          </a:p>
        </p:txBody>
      </p:sp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Encapsulation</a:t>
            </a:r>
            <a:endParaRPr lang="fr-CA"/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L'accès aux données des objets se fait à travers </a:t>
            </a:r>
            <a:r>
              <a:rPr lang="en-US"/>
              <a:t>des méthodes</a:t>
            </a:r>
            <a:r>
              <a:rPr lang="fr-CA"/>
              <a:t>: on dit que les données sont</a:t>
            </a:r>
            <a:r>
              <a:rPr lang="en-US"/>
              <a:t> </a:t>
            </a:r>
            <a:r>
              <a:rPr lang="fr-CA"/>
              <a:t>"encapsulées".</a:t>
            </a:r>
            <a:endParaRPr lang="en-US"/>
          </a:p>
          <a:p>
            <a:r>
              <a:rPr lang="fr-CA"/>
              <a:t>Seules les méthodes de la classe et de ses sous-classes</a:t>
            </a:r>
            <a:r>
              <a:rPr lang="en-US"/>
              <a:t> </a:t>
            </a:r>
            <a:r>
              <a:rPr lang="fr-CA"/>
              <a:t>peuvent accéder directement à la valeur des objets.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A21A-7FDF-436A-8212-8F27BF1207AA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AC87-0477-4EF8-BD06-E9712C504AB7}" type="slidenum">
              <a:rPr lang="en-GB"/>
              <a:pPr/>
              <a:t>39</a:t>
            </a:fld>
            <a:endParaRPr lang="en-GB"/>
          </a:p>
        </p:txBody>
      </p:sp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Encapsulation</a:t>
            </a:r>
            <a:endParaRPr lang="fr-CA"/>
          </a:p>
        </p:txBody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Avantages:</a:t>
            </a:r>
          </a:p>
          <a:p>
            <a:pPr lvl="1"/>
            <a:r>
              <a:rPr lang="fr-CA" sz="2400"/>
              <a:t>simplifier le travail des programmeurs d'application en ne leur demandant que de connaître le</a:t>
            </a:r>
            <a:r>
              <a:rPr lang="en-US" sz="2400"/>
              <a:t> </a:t>
            </a:r>
            <a:r>
              <a:rPr lang="fr-CA" sz="2400"/>
              <a:t>minimum</a:t>
            </a:r>
            <a:endParaRPr lang="en-US" sz="2400"/>
          </a:p>
          <a:p>
            <a:pPr lvl="1"/>
            <a:r>
              <a:rPr lang="fr-CA" sz="2400"/>
              <a:t>faciliter la maintenance des applications: on peut facilement changer la structure d'un objet</a:t>
            </a:r>
            <a:r>
              <a:rPr lang="en-US" sz="2400"/>
              <a:t>...</a:t>
            </a:r>
          </a:p>
          <a:p>
            <a:pPr lvl="1"/>
            <a:r>
              <a:rPr lang="fr-CA" sz="2400"/>
              <a:t>réutiliser au maximum le code des programmes: les méthodes sont écrites une fois pour toutes et</a:t>
            </a:r>
            <a:r>
              <a:rPr lang="en-US" sz="2400"/>
              <a:t> </a:t>
            </a:r>
            <a:r>
              <a:rPr lang="fr-CA" sz="2400"/>
              <a:t>utilisées par tous les programmes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46B7-B0C8-4236-BB8C-ADBD4836B528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3E71-F9C3-4F65-B5D1-78985A834EFF}" type="slidenum">
              <a:rPr lang="en-GB"/>
              <a:pPr/>
              <a:t>40</a:t>
            </a:fld>
            <a:endParaRPr lang="en-GB"/>
          </a:p>
        </p:txBody>
      </p:sp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Conclusion</a:t>
            </a:r>
            <a:endParaRPr lang="fr-CA"/>
          </a:p>
        </p:txBody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Avantages des BDO</a:t>
            </a:r>
          </a:p>
          <a:p>
            <a:pPr lvl="1"/>
            <a:r>
              <a:rPr lang="fr-CA"/>
              <a:t>ceux de l'approche orientée objets: réutilisation, maintenance facilitée</a:t>
            </a:r>
            <a:r>
              <a:rPr lang="en-US"/>
              <a:t>…</a:t>
            </a:r>
          </a:p>
          <a:p>
            <a:pPr lvl="1"/>
            <a:r>
              <a:rPr lang="fr-CA"/>
              <a:t>modèle de données riche</a:t>
            </a:r>
            <a:endParaRPr lang="en-US"/>
          </a:p>
          <a:p>
            <a:pPr lvl="1"/>
            <a:r>
              <a:rPr lang="fr-CA"/>
              <a:t>prise en compte de la dynamique</a:t>
            </a:r>
            <a:endParaRPr lang="en-US"/>
          </a:p>
          <a:p>
            <a:pPr lvl="1"/>
            <a:r>
              <a:rPr lang="fr-CA"/>
              <a:t>beaucoup moins d'incompatibilité entre le LMD et le</a:t>
            </a:r>
            <a:r>
              <a:rPr lang="en-US"/>
              <a:t> </a:t>
            </a:r>
            <a:r>
              <a:rPr lang="fr-CA"/>
              <a:t>langage de programmation.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5490-4A5A-40C1-8866-A964B6087308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6ECF-1B1D-42F5-8839-54B454304320}" type="slidenum">
              <a:rPr lang="en-GB"/>
              <a:pPr/>
              <a:t>41</a:t>
            </a:fld>
            <a:endParaRPr lang="en-GB"/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/>
              <a:t>Conclusion</a:t>
            </a:r>
            <a:endParaRPr lang="fr-CA"/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Problèmes:</a:t>
            </a:r>
          </a:p>
          <a:p>
            <a:pPr lvl="1">
              <a:lnSpc>
                <a:spcPct val="90000"/>
              </a:lnSpc>
            </a:pPr>
            <a:r>
              <a:rPr lang="fr-CA" sz="2400"/>
              <a:t>La simplicité du modèle relationnel est perdue.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400"/>
              <a:t>Pas de standard</a:t>
            </a:r>
          </a:p>
          <a:p>
            <a:pPr lvl="1">
              <a:lnSpc>
                <a:spcPct val="90000"/>
              </a:lnSpc>
            </a:pPr>
            <a:r>
              <a:rPr lang="fr-CA" sz="2400"/>
              <a:t>pas encore de</a:t>
            </a:r>
          </a:p>
          <a:p>
            <a:pPr lvl="1">
              <a:lnSpc>
                <a:spcPct val="90000"/>
              </a:lnSpc>
            </a:pPr>
            <a:r>
              <a:rPr lang="fr-CA" sz="2400"/>
              <a:t>méthode complète de conception des données et des méthodes associées.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fr-CA" sz="2400"/>
              <a:t>pas encore de</a:t>
            </a:r>
            <a:r>
              <a:rPr lang="en-US" sz="2400"/>
              <a:t> </a:t>
            </a:r>
            <a:r>
              <a:rPr lang="fr-CA" sz="2400"/>
              <a:t>méthode complète de conception des données et des méthodes associées.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fr-CA" sz="2400"/>
              <a:t>Des travaux sont en cours sur les vues, les versions, l'évolution du schéma, les aspects temporels,</a:t>
            </a:r>
            <a:r>
              <a:rPr lang="en-US" sz="2400"/>
              <a:t>..</a:t>
            </a:r>
            <a:endParaRPr lang="fr-CA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DBAE-62EA-4602-9987-005B837F5DE2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C0D66-ACAC-4BAC-844E-E0BAE23A0C02}" type="slidenum">
              <a:rPr lang="en-GB"/>
              <a:pPr/>
              <a:t>42</a:t>
            </a:fld>
            <a:endParaRPr lang="en-GB"/>
          </a:p>
        </p:txBody>
      </p:sp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fr-CA"/>
              <a:t>Plan</a:t>
            </a:r>
            <a:endParaRPr lang="en-GB"/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Interface entre un L3G et SGBD (java et Oracle)</a:t>
            </a:r>
          </a:p>
          <a:p>
            <a:r>
              <a:rPr lang="fr-CA"/>
              <a:t>SGBD sur le marché</a:t>
            </a:r>
          </a:p>
          <a:p>
            <a:r>
              <a:rPr lang="fr-CA"/>
              <a:t>DataWarehouse</a:t>
            </a:r>
          </a:p>
          <a:p>
            <a:r>
              <a:rPr lang="fr-CA"/>
              <a:t>Base de données Objet</a:t>
            </a:r>
          </a:p>
          <a:p>
            <a:r>
              <a:rPr lang="fr-CA">
                <a:solidFill>
                  <a:schemeClr val="tx2"/>
                </a:solidFill>
              </a:rPr>
              <a:t>Fin cours</a:t>
            </a:r>
          </a:p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C8F9-0D96-4C11-A54D-24D4A3E25C18}" type="datetime1">
              <a:rPr lang="fr-FR"/>
              <a:pPr/>
              <a:t>08/11/2021</a:t>
            </a:fld>
            <a:endParaRPr lang="en-GB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63C3-539F-4BAB-A4B7-3D6A2B3B790C}" type="slidenum">
              <a:rPr lang="en-GB"/>
              <a:pPr/>
              <a:t>43</a:t>
            </a:fld>
            <a:endParaRPr lang="en-GB"/>
          </a:p>
        </p:txBody>
      </p:sp>
      <p:sp>
        <p:nvSpPr>
          <p:cNvPr id="269314" name="Text Box 2"/>
          <p:cNvSpPr txBox="1">
            <a:spLocks noChangeArrowheads="1"/>
          </p:cNvSpPr>
          <p:nvPr/>
        </p:nvSpPr>
        <p:spPr bwMode="auto">
          <a:xfrm>
            <a:off x="1331913" y="938213"/>
            <a:ext cx="7343775" cy="76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fr-CA" sz="4400">
                <a:solidFill>
                  <a:schemeClr val="tx2"/>
                </a:solidFill>
                <a:latin typeface="Tahoma" pitchFamily="34" charset="0"/>
              </a:rPr>
              <a:t>FIN du COURS:</a:t>
            </a:r>
            <a:endParaRPr lang="fr-FR" sz="4400">
              <a:solidFill>
                <a:schemeClr val="tx2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1904</Words>
  <Application>Microsoft Office PowerPoint</Application>
  <PresentationFormat>Affichage à l'écran (4:3)</PresentationFormat>
  <Paragraphs>379</Paragraphs>
  <Slides>43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51" baseType="lpstr">
      <vt:lpstr>Arial</vt:lpstr>
      <vt:lpstr>Arial Black</vt:lpstr>
      <vt:lpstr>Calibri</vt:lpstr>
      <vt:lpstr>Symbol</vt:lpstr>
      <vt:lpstr>Tahoma</vt:lpstr>
      <vt:lpstr>Times New Roman</vt:lpstr>
      <vt:lpstr>Office Theme</vt:lpstr>
      <vt:lpstr>Bitmap Image</vt:lpstr>
      <vt:lpstr>Présentation PowerPoint</vt:lpstr>
      <vt:lpstr>Objectifs d’apprentissage</vt:lpstr>
      <vt:lpstr>Plan</vt:lpstr>
      <vt:lpstr>Introduction</vt:lpstr>
      <vt:lpstr>Java + SQL</vt:lpstr>
      <vt:lpstr>Présentation PowerPoint</vt:lpstr>
      <vt:lpstr>Présentation PowerPoint</vt:lpstr>
      <vt:lpstr>Java + SQL</vt:lpstr>
      <vt:lpstr>Java + SQL</vt:lpstr>
      <vt:lpstr>Java +PL/SQL</vt:lpstr>
      <vt:lpstr>Présentation PowerPoint</vt:lpstr>
      <vt:lpstr>Java + PL/SQL</vt:lpstr>
      <vt:lpstr>Java + PL/SQL</vt:lpstr>
      <vt:lpstr>Plan</vt:lpstr>
      <vt:lpstr>Les SGBD sur le marché</vt:lpstr>
      <vt:lpstr>Les SGBD sur le marché</vt:lpstr>
      <vt:lpstr>Les SGBD sur le marché</vt:lpstr>
      <vt:lpstr>Les SGBD sur le marché</vt:lpstr>
      <vt:lpstr>Présentation PowerPoint</vt:lpstr>
      <vt:lpstr>Présentation PowerPoint</vt:lpstr>
      <vt:lpstr>Présentation PowerPoint</vt:lpstr>
      <vt:lpstr>Plan</vt:lpstr>
      <vt:lpstr>DataWarehouse</vt:lpstr>
      <vt:lpstr>Présentation PowerPoint</vt:lpstr>
      <vt:lpstr>DataWarehouse</vt:lpstr>
      <vt:lpstr>Présentation PowerPoint</vt:lpstr>
      <vt:lpstr>DataWarehouse</vt:lpstr>
      <vt:lpstr>Plan</vt:lpstr>
      <vt:lpstr>Limites des SGBD-R</vt:lpstr>
      <vt:lpstr>Limites des SGBD-R</vt:lpstr>
      <vt:lpstr>BDO</vt:lpstr>
      <vt:lpstr>BDO</vt:lpstr>
      <vt:lpstr>Structure de données</vt:lpstr>
      <vt:lpstr>Structure complexe</vt:lpstr>
      <vt:lpstr>Lien de composition</vt:lpstr>
      <vt:lpstr>Graphe de généralisation/spécialisation des classes</vt:lpstr>
      <vt:lpstr>Code</vt:lpstr>
      <vt:lpstr>Encapsulation</vt:lpstr>
      <vt:lpstr>Encapsulation</vt:lpstr>
      <vt:lpstr>Conclusion</vt:lpstr>
      <vt:lpstr>Conclusion</vt:lpstr>
      <vt:lpstr>Plan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Giba Yacouba</dc:creator>
  <cp:lastModifiedBy>HP</cp:lastModifiedBy>
  <cp:revision>20</cp:revision>
  <dcterms:created xsi:type="dcterms:W3CDTF">2015-02-07T12:46:33Z</dcterms:created>
  <dcterms:modified xsi:type="dcterms:W3CDTF">2021-11-08T16:10:22Z</dcterms:modified>
</cp:coreProperties>
</file>
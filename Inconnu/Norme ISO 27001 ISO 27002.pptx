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80" r:id="rId4"/>
    <p:sldId id="281" r:id="rId5"/>
    <p:sldId id="282" r:id="rId6"/>
    <p:sldId id="283" r:id="rId7"/>
    <p:sldId id="284" r:id="rId8"/>
    <p:sldId id="285" r:id="rId9"/>
    <p:sldId id="286" r:id="rId10"/>
    <p:sldId id="287" r:id="rId11"/>
    <p:sldId id="300" r:id="rId12"/>
    <p:sldId id="288" r:id="rId13"/>
    <p:sldId id="299" r:id="rId14"/>
    <p:sldId id="301" r:id="rId15"/>
    <p:sldId id="302" r:id="rId16"/>
    <p:sldId id="289" r:id="rId17"/>
    <p:sldId id="290" r:id="rId18"/>
    <p:sldId id="291" r:id="rId19"/>
    <p:sldId id="293" r:id="rId20"/>
    <p:sldId id="292" r:id="rId21"/>
    <p:sldId id="294" r:id="rId22"/>
    <p:sldId id="295" r:id="rId23"/>
    <p:sldId id="296" r:id="rId24"/>
    <p:sldId id="297" r:id="rId25"/>
    <p:sldId id="303" r:id="rId26"/>
    <p:sldId id="279" r:id="rId27"/>
  </p:sldIdLst>
  <p:sldSz cx="9144000" cy="6858000" type="screen4x3"/>
  <p:notesSz cx="6858000" cy="9144000"/>
  <p:defaultTextStyle>
    <a:defPPr>
      <a:defRPr lang="en-US"/>
    </a:defPPr>
    <a:lvl1pPr algn="ctr"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spar" initials="T" lastIdx="1" clrIdx="0">
    <p:extLst>
      <p:ext uri="{19B8F6BF-5375-455C-9EA6-DF929625EA0E}">
        <p15:presenceInfo xmlns:p15="http://schemas.microsoft.com/office/powerpoint/2012/main" userId="Gaspa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984CC"/>
    <a:srgbClr val="03136A"/>
    <a:srgbClr val="35759D"/>
    <a:srgbClr val="35B19D"/>
    <a:srgbClr val="FFFF00"/>
    <a:srgbClr val="B3D3EA"/>
    <a:srgbClr val="78AD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65" autoAdjust="0"/>
    <p:restoredTop sz="95596" autoAdjust="0"/>
  </p:normalViewPr>
  <p:slideViewPr>
    <p:cSldViewPr>
      <p:cViewPr varScale="1">
        <p:scale>
          <a:sx n="72" d="100"/>
          <a:sy n="72" d="100"/>
        </p:scale>
        <p:origin x="648" y="7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561301A9-EACB-4AC1-881C-0204B9A140D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en-US" altLang="fr-FR"/>
          </a:p>
        </p:txBody>
      </p:sp>
      <p:sp>
        <p:nvSpPr>
          <p:cNvPr id="81923" name="Rectangle 3">
            <a:extLst>
              <a:ext uri="{FF2B5EF4-FFF2-40B4-BE49-F238E27FC236}">
                <a16:creationId xmlns:a16="http://schemas.microsoft.com/office/drawing/2014/main" id="{E0E92A8B-AE6F-482B-8F4E-CD40C59051D7}"/>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fr-FR"/>
          </a:p>
        </p:txBody>
      </p:sp>
      <p:sp>
        <p:nvSpPr>
          <p:cNvPr id="81924" name="Rectangle 4">
            <a:extLst>
              <a:ext uri="{FF2B5EF4-FFF2-40B4-BE49-F238E27FC236}">
                <a16:creationId xmlns:a16="http://schemas.microsoft.com/office/drawing/2014/main" id="{BF0DF074-4505-4F5F-82A2-F86A56B98EFC}"/>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49D23C93-802D-4FED-BE43-B095C9223DDB}"/>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fr-FR"/>
              <a:t>Click to edit Master text styles</a:t>
            </a:r>
          </a:p>
          <a:p>
            <a:pPr lvl="1"/>
            <a:r>
              <a:rPr lang="en-US" altLang="fr-FR"/>
              <a:t>Second level</a:t>
            </a:r>
          </a:p>
          <a:p>
            <a:pPr lvl="2"/>
            <a:r>
              <a:rPr lang="en-US" altLang="fr-FR"/>
              <a:t>Third level</a:t>
            </a:r>
          </a:p>
          <a:p>
            <a:pPr lvl="3"/>
            <a:r>
              <a:rPr lang="en-US" altLang="fr-FR"/>
              <a:t>Fourth level</a:t>
            </a:r>
          </a:p>
          <a:p>
            <a:pPr lvl="4"/>
            <a:r>
              <a:rPr lang="en-US" altLang="fr-FR"/>
              <a:t>Fifth level</a:t>
            </a:r>
          </a:p>
        </p:txBody>
      </p:sp>
      <p:sp>
        <p:nvSpPr>
          <p:cNvPr id="81926" name="Rectangle 6">
            <a:extLst>
              <a:ext uri="{FF2B5EF4-FFF2-40B4-BE49-F238E27FC236}">
                <a16:creationId xmlns:a16="http://schemas.microsoft.com/office/drawing/2014/main" id="{91B42C43-43AC-4121-B0F1-7358E47A4405}"/>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en-US" altLang="fr-FR"/>
          </a:p>
        </p:txBody>
      </p:sp>
      <p:sp>
        <p:nvSpPr>
          <p:cNvPr id="81927" name="Rectangle 7">
            <a:extLst>
              <a:ext uri="{FF2B5EF4-FFF2-40B4-BE49-F238E27FC236}">
                <a16:creationId xmlns:a16="http://schemas.microsoft.com/office/drawing/2014/main" id="{09A53BA1-DA24-4CF0-B380-B93DCE517AF6}"/>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FEE0845-FC85-4B77-9FFE-0A5F6A3623D7}" type="slidenum">
              <a:rPr lang="en-US" altLang="fr-FR"/>
              <a:pPr/>
              <a:t>‹N°›</a:t>
            </a:fld>
            <a:endParaRPr lang="en-US" altLang="fr-FR"/>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80976A0-3771-4451-B961-8C1513C0197F}"/>
              </a:ext>
            </a:extLst>
          </p:cNvPr>
          <p:cNvSpPr>
            <a:spLocks noGrp="1" noChangeArrowheads="1"/>
          </p:cNvSpPr>
          <p:nvPr>
            <p:ph type="sldNum" sz="quarter" idx="5"/>
          </p:nvPr>
        </p:nvSpPr>
        <p:spPr>
          <a:ln/>
        </p:spPr>
        <p:txBody>
          <a:bodyPr/>
          <a:lstStyle/>
          <a:p>
            <a:fld id="{DCB3418F-959B-4B6A-A8A0-AFA8645C7E1C}" type="slidenum">
              <a:rPr lang="en-US" altLang="fr-FR"/>
              <a:pPr/>
              <a:t>1</a:t>
            </a:fld>
            <a:endParaRPr lang="en-US" altLang="fr-FR"/>
          </a:p>
        </p:txBody>
      </p:sp>
      <p:sp>
        <p:nvSpPr>
          <p:cNvPr id="107522" name="Rectangle 2">
            <a:extLst>
              <a:ext uri="{FF2B5EF4-FFF2-40B4-BE49-F238E27FC236}">
                <a16:creationId xmlns:a16="http://schemas.microsoft.com/office/drawing/2014/main" id="{E31D1848-97FF-4F83-9295-BF0AE3A57CC6}"/>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4A2A5851-974D-4ABD-832D-E1A4DF06C094}"/>
              </a:ext>
            </a:extLst>
          </p:cNvPr>
          <p:cNvSpPr>
            <a:spLocks noGrp="1" noChangeArrowheads="1"/>
          </p:cNvSpPr>
          <p:nvPr>
            <p:ph type="body" idx="1"/>
          </p:nvPr>
        </p:nvSpPr>
        <p:spPr/>
        <p:txBody>
          <a:bodyPr/>
          <a:lstStyle/>
          <a:p>
            <a:endParaRPr lang="ru-RU" alt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962D018-4E33-4FB6-A488-D5C44C650D1F}"/>
              </a:ext>
            </a:extLst>
          </p:cNvPr>
          <p:cNvSpPr>
            <a:spLocks noGrp="1" noChangeArrowheads="1"/>
          </p:cNvSpPr>
          <p:nvPr>
            <p:ph type="sldNum" sz="quarter" idx="5"/>
          </p:nvPr>
        </p:nvSpPr>
        <p:spPr>
          <a:ln/>
        </p:spPr>
        <p:txBody>
          <a:bodyPr/>
          <a:lstStyle/>
          <a:p>
            <a:fld id="{2F1AF00A-B4BB-4421-A08D-1B310C88D687}" type="slidenum">
              <a:rPr lang="en-US" altLang="fr-FR"/>
              <a:pPr/>
              <a:t>2</a:t>
            </a:fld>
            <a:endParaRPr lang="en-US" altLang="fr-FR"/>
          </a:p>
        </p:txBody>
      </p:sp>
      <p:sp>
        <p:nvSpPr>
          <p:cNvPr id="112642" name="Rectangle 2">
            <a:extLst>
              <a:ext uri="{FF2B5EF4-FFF2-40B4-BE49-F238E27FC236}">
                <a16:creationId xmlns:a16="http://schemas.microsoft.com/office/drawing/2014/main" id="{6E16A3F4-5D99-4D74-BFBA-D9F9EDC10E87}"/>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5437B8BC-4A06-4F45-9069-F8EBF427B6D9}"/>
              </a:ext>
            </a:extLst>
          </p:cNvPr>
          <p:cNvSpPr>
            <a:spLocks noGrp="1" noChangeArrowheads="1"/>
          </p:cNvSpPr>
          <p:nvPr>
            <p:ph type="body" idx="1"/>
          </p:nvPr>
        </p:nvSpPr>
        <p:spPr/>
        <p:txBody>
          <a:bodyPr/>
          <a:lstStyle/>
          <a:p>
            <a:endParaRPr lang="ru-RU" alt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FB9CB91-7B4A-4B56-ACDB-0528E82B2258}"/>
              </a:ext>
            </a:extLst>
          </p:cNvPr>
          <p:cNvSpPr>
            <a:spLocks noGrp="1" noChangeArrowheads="1"/>
          </p:cNvSpPr>
          <p:nvPr>
            <p:ph type="sldNum" sz="quarter" idx="5"/>
          </p:nvPr>
        </p:nvSpPr>
        <p:spPr>
          <a:ln/>
        </p:spPr>
        <p:txBody>
          <a:bodyPr/>
          <a:lstStyle/>
          <a:p>
            <a:fld id="{F341D2CE-1945-4AC1-9975-D9896F8229E1}" type="slidenum">
              <a:rPr lang="en-US" altLang="fr-FR"/>
              <a:pPr/>
              <a:t>26</a:t>
            </a:fld>
            <a:endParaRPr lang="en-US" altLang="fr-FR"/>
          </a:p>
        </p:txBody>
      </p:sp>
      <p:sp>
        <p:nvSpPr>
          <p:cNvPr id="110594" name="Rectangle 2">
            <a:extLst>
              <a:ext uri="{FF2B5EF4-FFF2-40B4-BE49-F238E27FC236}">
                <a16:creationId xmlns:a16="http://schemas.microsoft.com/office/drawing/2014/main" id="{6D2C6A3E-FE9C-4D5D-AAB0-8AC7005F9CA7}"/>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BC53C594-6CBA-4865-A6C9-D7F16927657D}"/>
              </a:ext>
            </a:extLst>
          </p:cNvPr>
          <p:cNvSpPr>
            <a:spLocks noGrp="1" noChangeArrowheads="1"/>
          </p:cNvSpPr>
          <p:nvPr>
            <p:ph type="body" idx="1"/>
          </p:nvPr>
        </p:nvSpPr>
        <p:spPr/>
        <p:txBody>
          <a:bodyPr/>
          <a:lstStyle/>
          <a:p>
            <a:endParaRPr lang="ru-RU" altLang="fr-F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5F3FF37-895D-4DFA-963F-8C85B46A0959}"/>
              </a:ext>
            </a:extLst>
          </p:cNvPr>
          <p:cNvSpPr>
            <a:spLocks noGrp="1" noChangeArrowheads="1"/>
          </p:cNvSpPr>
          <p:nvPr>
            <p:ph type="ctrTitle"/>
          </p:nvPr>
        </p:nvSpPr>
        <p:spPr>
          <a:xfrm>
            <a:off x="762000" y="2847975"/>
            <a:ext cx="7772400" cy="704850"/>
          </a:xfrm>
          <a:extLst>
            <a:ext uri="{AF507438-7753-43E0-B8FC-AC1667EBCBE1}">
              <a14:hiddenEffects xmlns:a14="http://schemas.microsoft.com/office/drawing/2010/main">
                <a:effectLst>
                  <a:outerShdw dist="17961" dir="2700000" algn="ctr" rotWithShape="0">
                    <a:schemeClr val="bg1"/>
                  </a:outerShdw>
                </a:effectLst>
              </a14:hiddenEffects>
            </a:ext>
          </a:extLst>
        </p:spPr>
        <p:txBody>
          <a:bodyPr/>
          <a:lstStyle>
            <a:lvl1pPr algn="r">
              <a:defRPr sz="3600">
                <a:solidFill>
                  <a:schemeClr val="bg1"/>
                </a:solidFill>
              </a:defRPr>
            </a:lvl1pPr>
          </a:lstStyle>
          <a:p>
            <a:pPr lvl="0"/>
            <a:r>
              <a:rPr lang="fr-FR" altLang="fr-FR" noProof="0"/>
              <a:t>Modifiez le style du titre</a:t>
            </a:r>
            <a:endParaRPr lang="en-US" altLang="fr-FR" noProof="0"/>
          </a:p>
        </p:txBody>
      </p:sp>
      <p:sp>
        <p:nvSpPr>
          <p:cNvPr id="3075" name="Rectangle 3">
            <a:extLst>
              <a:ext uri="{FF2B5EF4-FFF2-40B4-BE49-F238E27FC236}">
                <a16:creationId xmlns:a16="http://schemas.microsoft.com/office/drawing/2014/main" id="{F83F8345-AFAF-4C4F-9A4E-F2A1F16116AF}"/>
              </a:ext>
            </a:extLst>
          </p:cNvPr>
          <p:cNvSpPr>
            <a:spLocks noGrp="1" noChangeArrowheads="1"/>
          </p:cNvSpPr>
          <p:nvPr>
            <p:ph type="subTitle" idx="1"/>
          </p:nvPr>
        </p:nvSpPr>
        <p:spPr>
          <a:xfrm>
            <a:off x="762000" y="3533775"/>
            <a:ext cx="7772400" cy="685800"/>
          </a:xfrm>
          <a:extLst>
            <a:ext uri="{AF507438-7753-43E0-B8FC-AC1667EBCBE1}">
              <a14:hiddenEffects xmlns:a14="http://schemas.microsoft.com/office/drawing/2010/main">
                <a:effectLst>
                  <a:outerShdw dist="17961" dir="2700000" algn="ctr" rotWithShape="0">
                    <a:schemeClr val="bg1"/>
                  </a:outerShdw>
                </a:effectLst>
              </a14:hiddenEffects>
            </a:ext>
          </a:extLst>
        </p:spPr>
        <p:txBody>
          <a:bodyPr/>
          <a:lstStyle>
            <a:lvl1pPr marL="0" indent="0" algn="r">
              <a:buFontTx/>
              <a:buNone/>
              <a:defRPr sz="2400">
                <a:solidFill>
                  <a:schemeClr val="bg1"/>
                </a:solidFill>
              </a:defRPr>
            </a:lvl1pPr>
          </a:lstStyle>
          <a:p>
            <a:pPr lvl="0"/>
            <a:r>
              <a:rPr lang="fr-FR" altLang="fr-FR" noProof="0"/>
              <a:t>Modifiez le style des sous-titres du masque</a:t>
            </a:r>
            <a:endParaRPr lang="en-US" altLang="fr-FR"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E643CD-4CCD-4CD2-BAF4-B7B64DB8FFE2}"/>
              </a:ext>
            </a:extLst>
          </p:cNvPr>
          <p:cNvSpPr>
            <a:spLocks noGrp="1"/>
          </p:cNvSpPr>
          <p:nvPr>
            <p:ph type="title"/>
          </p:nvPr>
        </p:nvSpPr>
        <p:spPr/>
        <p:txBody>
          <a:bodyPr/>
          <a:lstStyle/>
          <a:p>
            <a:r>
              <a:rPr lang="fr-FR"/>
              <a:t>Modifiez le style du titre</a:t>
            </a:r>
            <a:endParaRPr lang="fr-ML"/>
          </a:p>
        </p:txBody>
      </p:sp>
      <p:sp>
        <p:nvSpPr>
          <p:cNvPr id="3" name="Espace réservé du contenu 2">
            <a:extLst>
              <a:ext uri="{FF2B5EF4-FFF2-40B4-BE49-F238E27FC236}">
                <a16:creationId xmlns:a16="http://schemas.microsoft.com/office/drawing/2014/main" id="{5BB29993-BEAF-4A31-8EC8-0400C5BBA15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L"/>
          </a:p>
        </p:txBody>
      </p:sp>
    </p:spTree>
    <p:extLst>
      <p:ext uri="{BB962C8B-B14F-4D97-AF65-F5344CB8AC3E}">
        <p14:creationId xmlns:p14="http://schemas.microsoft.com/office/powerpoint/2010/main" val="4220157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099440-883F-4C8C-9174-C0E43E7BC4DE}"/>
              </a:ext>
            </a:extLst>
          </p:cNvPr>
          <p:cNvSpPr>
            <a:spLocks noGrp="1"/>
          </p:cNvSpPr>
          <p:nvPr>
            <p:ph type="title"/>
          </p:nvPr>
        </p:nvSpPr>
        <p:spPr>
          <a:xfrm>
            <a:off x="623888" y="1709738"/>
            <a:ext cx="7886700" cy="2852737"/>
          </a:xfrm>
        </p:spPr>
        <p:txBody>
          <a:bodyPr anchor="b"/>
          <a:lstStyle>
            <a:lvl1pPr>
              <a:defRPr sz="6000"/>
            </a:lvl1pPr>
          </a:lstStyle>
          <a:p>
            <a:r>
              <a:rPr lang="fr-FR"/>
              <a:t>Modifiez le style du titre</a:t>
            </a:r>
            <a:endParaRPr lang="fr-ML"/>
          </a:p>
        </p:txBody>
      </p:sp>
      <p:sp>
        <p:nvSpPr>
          <p:cNvPr id="3" name="Espace réservé du texte 2">
            <a:extLst>
              <a:ext uri="{FF2B5EF4-FFF2-40B4-BE49-F238E27FC236}">
                <a16:creationId xmlns:a16="http://schemas.microsoft.com/office/drawing/2014/main" id="{5DA2EF6E-8D94-4BB2-9CFD-246B4085D22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fr-FR"/>
              <a:t>Cliquez pour modifier les styles du texte du masque</a:t>
            </a:r>
          </a:p>
        </p:txBody>
      </p:sp>
    </p:spTree>
    <p:extLst>
      <p:ext uri="{BB962C8B-B14F-4D97-AF65-F5344CB8AC3E}">
        <p14:creationId xmlns:p14="http://schemas.microsoft.com/office/powerpoint/2010/main" val="993167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D7B77E-E3CE-4FD5-98F6-F322F084E1E3}"/>
              </a:ext>
            </a:extLst>
          </p:cNvPr>
          <p:cNvSpPr>
            <a:spLocks noGrp="1"/>
          </p:cNvSpPr>
          <p:nvPr>
            <p:ph type="title"/>
          </p:nvPr>
        </p:nvSpPr>
        <p:spPr/>
        <p:txBody>
          <a:bodyPr/>
          <a:lstStyle/>
          <a:p>
            <a:r>
              <a:rPr lang="fr-FR"/>
              <a:t>Modifiez le style du titre</a:t>
            </a:r>
            <a:endParaRPr lang="fr-ML"/>
          </a:p>
        </p:txBody>
      </p:sp>
      <p:sp>
        <p:nvSpPr>
          <p:cNvPr id="3" name="Espace réservé du contenu 2">
            <a:extLst>
              <a:ext uri="{FF2B5EF4-FFF2-40B4-BE49-F238E27FC236}">
                <a16:creationId xmlns:a16="http://schemas.microsoft.com/office/drawing/2014/main" id="{CFAA3554-BDD5-4906-BFF9-BDFB5BFCD121}"/>
              </a:ext>
            </a:extLst>
          </p:cNvPr>
          <p:cNvSpPr>
            <a:spLocks noGrp="1"/>
          </p:cNvSpPr>
          <p:nvPr>
            <p:ph sz="half" idx="1"/>
          </p:nvPr>
        </p:nvSpPr>
        <p:spPr>
          <a:xfrm>
            <a:off x="990600" y="2484438"/>
            <a:ext cx="3581400" cy="38703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L"/>
          </a:p>
        </p:txBody>
      </p:sp>
      <p:sp>
        <p:nvSpPr>
          <p:cNvPr id="4" name="Espace réservé du contenu 3">
            <a:extLst>
              <a:ext uri="{FF2B5EF4-FFF2-40B4-BE49-F238E27FC236}">
                <a16:creationId xmlns:a16="http://schemas.microsoft.com/office/drawing/2014/main" id="{336A3E9E-5A54-435C-A549-C2F56833F5DC}"/>
              </a:ext>
            </a:extLst>
          </p:cNvPr>
          <p:cNvSpPr>
            <a:spLocks noGrp="1"/>
          </p:cNvSpPr>
          <p:nvPr>
            <p:ph sz="half" idx="2"/>
          </p:nvPr>
        </p:nvSpPr>
        <p:spPr>
          <a:xfrm>
            <a:off x="4724400" y="2484438"/>
            <a:ext cx="3581400" cy="38703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L"/>
          </a:p>
        </p:txBody>
      </p:sp>
    </p:spTree>
    <p:extLst>
      <p:ext uri="{BB962C8B-B14F-4D97-AF65-F5344CB8AC3E}">
        <p14:creationId xmlns:p14="http://schemas.microsoft.com/office/powerpoint/2010/main" val="1425871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40CBA7-5257-4FF2-8511-D5F767EA59F5}"/>
              </a:ext>
            </a:extLst>
          </p:cNvPr>
          <p:cNvSpPr>
            <a:spLocks noGrp="1"/>
          </p:cNvSpPr>
          <p:nvPr>
            <p:ph type="title"/>
          </p:nvPr>
        </p:nvSpPr>
        <p:spPr>
          <a:xfrm>
            <a:off x="630238" y="365125"/>
            <a:ext cx="7886700" cy="1325563"/>
          </a:xfrm>
        </p:spPr>
        <p:txBody>
          <a:bodyPr/>
          <a:lstStyle/>
          <a:p>
            <a:r>
              <a:rPr lang="fr-FR"/>
              <a:t>Modifiez le style du titre</a:t>
            </a:r>
            <a:endParaRPr lang="fr-ML"/>
          </a:p>
        </p:txBody>
      </p:sp>
      <p:sp>
        <p:nvSpPr>
          <p:cNvPr id="3" name="Espace réservé du texte 2">
            <a:extLst>
              <a:ext uri="{FF2B5EF4-FFF2-40B4-BE49-F238E27FC236}">
                <a16:creationId xmlns:a16="http://schemas.microsoft.com/office/drawing/2014/main" id="{04278BF7-79D2-4A0A-86C2-C8F543FFA5E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E3D4960-7B54-48A8-8B22-AA2AD4BA44A6}"/>
              </a:ext>
            </a:extLst>
          </p:cNvPr>
          <p:cNvSpPr>
            <a:spLocks noGrp="1"/>
          </p:cNvSpPr>
          <p:nvPr>
            <p:ph sz="half" idx="2"/>
          </p:nvPr>
        </p:nvSpPr>
        <p:spPr>
          <a:xfrm>
            <a:off x="630238" y="2505075"/>
            <a:ext cx="386873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L"/>
          </a:p>
        </p:txBody>
      </p:sp>
      <p:sp>
        <p:nvSpPr>
          <p:cNvPr id="5" name="Espace réservé du texte 4">
            <a:extLst>
              <a:ext uri="{FF2B5EF4-FFF2-40B4-BE49-F238E27FC236}">
                <a16:creationId xmlns:a16="http://schemas.microsoft.com/office/drawing/2014/main" id="{82768FD8-264A-492A-A9A1-DEC19574C763}"/>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428A218-2E7B-4B1B-8D20-7F1CF30D0065}"/>
              </a:ext>
            </a:extLst>
          </p:cNvPr>
          <p:cNvSpPr>
            <a:spLocks noGrp="1"/>
          </p:cNvSpPr>
          <p:nvPr>
            <p:ph sz="quarter" idx="4"/>
          </p:nvPr>
        </p:nvSpPr>
        <p:spPr>
          <a:xfrm>
            <a:off x="4629150" y="2505075"/>
            <a:ext cx="38877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L"/>
          </a:p>
        </p:txBody>
      </p:sp>
    </p:spTree>
    <p:extLst>
      <p:ext uri="{BB962C8B-B14F-4D97-AF65-F5344CB8AC3E}">
        <p14:creationId xmlns:p14="http://schemas.microsoft.com/office/powerpoint/2010/main" val="1631146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9EF95D-8A60-4E06-B394-DD4263CE83AF}"/>
              </a:ext>
            </a:extLst>
          </p:cNvPr>
          <p:cNvSpPr>
            <a:spLocks noGrp="1"/>
          </p:cNvSpPr>
          <p:nvPr>
            <p:ph type="title"/>
          </p:nvPr>
        </p:nvSpPr>
        <p:spPr/>
        <p:txBody>
          <a:bodyPr/>
          <a:lstStyle/>
          <a:p>
            <a:r>
              <a:rPr lang="fr-FR"/>
              <a:t>Modifiez le style du titre</a:t>
            </a:r>
            <a:endParaRPr lang="fr-ML"/>
          </a:p>
        </p:txBody>
      </p:sp>
    </p:spTree>
    <p:extLst>
      <p:ext uri="{BB962C8B-B14F-4D97-AF65-F5344CB8AC3E}">
        <p14:creationId xmlns:p14="http://schemas.microsoft.com/office/powerpoint/2010/main" val="2264201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63848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013757-2801-479D-882E-A3096DE79427}"/>
              </a:ext>
            </a:extLst>
          </p:cNvPr>
          <p:cNvSpPr>
            <a:spLocks noGrp="1"/>
          </p:cNvSpPr>
          <p:nvPr>
            <p:ph type="title"/>
          </p:nvPr>
        </p:nvSpPr>
        <p:spPr>
          <a:xfrm>
            <a:off x="630238" y="457200"/>
            <a:ext cx="2949575" cy="1600200"/>
          </a:xfrm>
        </p:spPr>
        <p:txBody>
          <a:bodyPr anchor="b"/>
          <a:lstStyle>
            <a:lvl1pPr>
              <a:defRPr sz="3200"/>
            </a:lvl1pPr>
          </a:lstStyle>
          <a:p>
            <a:r>
              <a:rPr lang="fr-FR"/>
              <a:t>Modifiez le style du titre</a:t>
            </a:r>
            <a:endParaRPr lang="fr-ML"/>
          </a:p>
        </p:txBody>
      </p:sp>
      <p:sp>
        <p:nvSpPr>
          <p:cNvPr id="3" name="Espace réservé du contenu 2">
            <a:extLst>
              <a:ext uri="{FF2B5EF4-FFF2-40B4-BE49-F238E27FC236}">
                <a16:creationId xmlns:a16="http://schemas.microsoft.com/office/drawing/2014/main" id="{C18601B4-E614-452F-841A-7154E90AD707}"/>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L"/>
          </a:p>
        </p:txBody>
      </p:sp>
      <p:sp>
        <p:nvSpPr>
          <p:cNvPr id="4" name="Espace réservé du texte 3">
            <a:extLst>
              <a:ext uri="{FF2B5EF4-FFF2-40B4-BE49-F238E27FC236}">
                <a16:creationId xmlns:a16="http://schemas.microsoft.com/office/drawing/2014/main" id="{A1E08AF8-5928-4A5F-862C-ECF45590B14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Tree>
    <p:extLst>
      <p:ext uri="{BB962C8B-B14F-4D97-AF65-F5344CB8AC3E}">
        <p14:creationId xmlns:p14="http://schemas.microsoft.com/office/powerpoint/2010/main" val="1862029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0CDC56-237C-4F4E-AFEE-EE6B3EC8D2AC}"/>
              </a:ext>
            </a:extLst>
          </p:cNvPr>
          <p:cNvSpPr>
            <a:spLocks noGrp="1"/>
          </p:cNvSpPr>
          <p:nvPr>
            <p:ph type="title"/>
          </p:nvPr>
        </p:nvSpPr>
        <p:spPr>
          <a:xfrm>
            <a:off x="630238" y="457200"/>
            <a:ext cx="2949575" cy="1600200"/>
          </a:xfrm>
        </p:spPr>
        <p:txBody>
          <a:bodyPr anchor="b"/>
          <a:lstStyle>
            <a:lvl1pPr>
              <a:defRPr sz="3200"/>
            </a:lvl1pPr>
          </a:lstStyle>
          <a:p>
            <a:r>
              <a:rPr lang="fr-FR"/>
              <a:t>Modifiez le style du titre</a:t>
            </a:r>
            <a:endParaRPr lang="fr-ML"/>
          </a:p>
        </p:txBody>
      </p:sp>
      <p:sp>
        <p:nvSpPr>
          <p:cNvPr id="3" name="Espace réservé pour une image  2">
            <a:extLst>
              <a:ext uri="{FF2B5EF4-FFF2-40B4-BE49-F238E27FC236}">
                <a16:creationId xmlns:a16="http://schemas.microsoft.com/office/drawing/2014/main" id="{B6038C7A-51C8-46CE-838D-88788364742D}"/>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fr-ML"/>
          </a:p>
        </p:txBody>
      </p:sp>
      <p:sp>
        <p:nvSpPr>
          <p:cNvPr id="4" name="Espace réservé du texte 3">
            <a:extLst>
              <a:ext uri="{FF2B5EF4-FFF2-40B4-BE49-F238E27FC236}">
                <a16:creationId xmlns:a16="http://schemas.microsoft.com/office/drawing/2014/main" id="{3520569D-77E0-4A9F-8337-50CAE73E3D0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Tree>
    <p:extLst>
      <p:ext uri="{BB962C8B-B14F-4D97-AF65-F5344CB8AC3E}">
        <p14:creationId xmlns:p14="http://schemas.microsoft.com/office/powerpoint/2010/main" val="13159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1BF45E-A30C-42A9-B4A5-D80BCF0F6771}"/>
              </a:ext>
            </a:extLst>
          </p:cNvPr>
          <p:cNvSpPr>
            <a:spLocks noGrp="1"/>
          </p:cNvSpPr>
          <p:nvPr>
            <p:ph type="title"/>
          </p:nvPr>
        </p:nvSpPr>
        <p:spPr/>
        <p:txBody>
          <a:bodyPr/>
          <a:lstStyle/>
          <a:p>
            <a:r>
              <a:rPr lang="fr-FR"/>
              <a:t>Modifiez le style du titre</a:t>
            </a:r>
            <a:endParaRPr lang="fr-ML"/>
          </a:p>
        </p:txBody>
      </p:sp>
      <p:sp>
        <p:nvSpPr>
          <p:cNvPr id="3" name="Espace réservé du texte vertical 2">
            <a:extLst>
              <a:ext uri="{FF2B5EF4-FFF2-40B4-BE49-F238E27FC236}">
                <a16:creationId xmlns:a16="http://schemas.microsoft.com/office/drawing/2014/main" id="{CB72B971-EFE9-4C65-B5C3-1917B7FD798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L"/>
          </a:p>
        </p:txBody>
      </p:sp>
    </p:spTree>
    <p:extLst>
      <p:ext uri="{BB962C8B-B14F-4D97-AF65-F5344CB8AC3E}">
        <p14:creationId xmlns:p14="http://schemas.microsoft.com/office/powerpoint/2010/main" val="2602839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DAFB0E9-99CB-490A-8FB4-31B2957E74C3}"/>
              </a:ext>
            </a:extLst>
          </p:cNvPr>
          <p:cNvSpPr>
            <a:spLocks noGrp="1"/>
          </p:cNvSpPr>
          <p:nvPr>
            <p:ph type="title" orient="vert"/>
          </p:nvPr>
        </p:nvSpPr>
        <p:spPr>
          <a:xfrm>
            <a:off x="6477000" y="1524000"/>
            <a:ext cx="1828800" cy="4830763"/>
          </a:xfrm>
        </p:spPr>
        <p:txBody>
          <a:bodyPr vert="eaVert"/>
          <a:lstStyle/>
          <a:p>
            <a:r>
              <a:rPr lang="fr-FR"/>
              <a:t>Modifiez le style du titre</a:t>
            </a:r>
            <a:endParaRPr lang="fr-ML"/>
          </a:p>
        </p:txBody>
      </p:sp>
      <p:sp>
        <p:nvSpPr>
          <p:cNvPr id="3" name="Espace réservé du texte vertical 2">
            <a:extLst>
              <a:ext uri="{FF2B5EF4-FFF2-40B4-BE49-F238E27FC236}">
                <a16:creationId xmlns:a16="http://schemas.microsoft.com/office/drawing/2014/main" id="{D771F49D-1FF6-495B-B217-54F976032AE7}"/>
              </a:ext>
            </a:extLst>
          </p:cNvPr>
          <p:cNvSpPr>
            <a:spLocks noGrp="1"/>
          </p:cNvSpPr>
          <p:nvPr>
            <p:ph type="body" orient="vert" idx="1"/>
          </p:nvPr>
        </p:nvSpPr>
        <p:spPr>
          <a:xfrm>
            <a:off x="990600" y="1524000"/>
            <a:ext cx="5334000" cy="483076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L"/>
          </a:p>
        </p:txBody>
      </p:sp>
    </p:spTree>
    <p:extLst>
      <p:ext uri="{BB962C8B-B14F-4D97-AF65-F5344CB8AC3E}">
        <p14:creationId xmlns:p14="http://schemas.microsoft.com/office/powerpoint/2010/main" val="2447421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97112DD-1EA9-4ACC-A6EB-D713E9C66D71}"/>
              </a:ext>
            </a:extLst>
          </p:cNvPr>
          <p:cNvSpPr>
            <a:spLocks noGrp="1" noChangeArrowheads="1"/>
          </p:cNvSpPr>
          <p:nvPr>
            <p:ph type="title"/>
          </p:nvPr>
        </p:nvSpPr>
        <p:spPr bwMode="auto">
          <a:xfrm>
            <a:off x="990600" y="1524000"/>
            <a:ext cx="7315200"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ltLang="fr-FR"/>
              <a:t>Modifiez le style du titre</a:t>
            </a:r>
            <a:endParaRPr lang="en-US" altLang="fr-FR"/>
          </a:p>
        </p:txBody>
      </p:sp>
      <p:sp>
        <p:nvSpPr>
          <p:cNvPr id="1027" name="Rectangle 3">
            <a:extLst>
              <a:ext uri="{FF2B5EF4-FFF2-40B4-BE49-F238E27FC236}">
                <a16:creationId xmlns:a16="http://schemas.microsoft.com/office/drawing/2014/main" id="{45B2ADE2-9BE9-4571-96BC-AB9CB25E4664}"/>
              </a:ext>
            </a:extLst>
          </p:cNvPr>
          <p:cNvSpPr>
            <a:spLocks noGrp="1" noChangeArrowheads="1"/>
          </p:cNvSpPr>
          <p:nvPr>
            <p:ph type="body" idx="1"/>
          </p:nvPr>
        </p:nvSpPr>
        <p:spPr bwMode="auto">
          <a:xfrm>
            <a:off x="990600" y="2484438"/>
            <a:ext cx="7315200" cy="387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endParaRPr lang="en-US" alt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4.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a:extLst>
              <a:ext uri="{FF2B5EF4-FFF2-40B4-BE49-F238E27FC236}">
                <a16:creationId xmlns:a16="http://schemas.microsoft.com/office/drawing/2014/main" id="{938A5ACD-A741-4F8F-AA7B-92CD7BEECB7F}"/>
              </a:ext>
            </a:extLst>
          </p:cNvPr>
          <p:cNvSpPr>
            <a:spLocks noGrp="1" noChangeArrowheads="1"/>
          </p:cNvSpPr>
          <p:nvPr>
            <p:ph type="subTitle" idx="1"/>
          </p:nvPr>
        </p:nvSpPr>
        <p:spPr>
          <a:xfrm>
            <a:off x="2555776" y="4869160"/>
            <a:ext cx="4316016" cy="1800200"/>
          </a:xfrm>
          <a:solidFill>
            <a:srgbClr val="002060">
              <a:alpha val="10000"/>
            </a:srgbClr>
          </a:solidFill>
          <a:ln>
            <a:noFill/>
          </a:ln>
          <a:effectLst/>
          <a:scene3d>
            <a:camera prst="orthographicFront">
              <a:rot lat="0" lon="0" rev="0"/>
            </a:camera>
            <a:lightRig rig="contrasting" dir="t">
              <a:rot lat="0" lon="0" rev="7800000"/>
            </a:lightRig>
          </a:scene3d>
          <a:sp3d>
            <a:bevelT w="139700" h="139700"/>
          </a:sp3d>
        </p:spPr>
        <p:txBody>
          <a:bodyPr/>
          <a:lstStyle/>
          <a:p>
            <a:pPr algn="just"/>
            <a:r>
              <a:rPr lang="en-US" altLang="fr-FR" sz="3200" b="1" dirty="0">
                <a:latin typeface="Bodoni MT Black" panose="02070A03080606020203" pitchFamily="18" charset="0"/>
              </a:rPr>
              <a:t>Présenté par :</a:t>
            </a:r>
          </a:p>
          <a:p>
            <a:pPr algn="ctr"/>
            <a:r>
              <a:rPr lang="en-US" altLang="fr-FR" sz="3200" b="1" dirty="0">
                <a:latin typeface="Bodoni MT Black" panose="02070A03080606020203" pitchFamily="18" charset="0"/>
              </a:rPr>
              <a:t>Oumar TOURE</a:t>
            </a:r>
          </a:p>
        </p:txBody>
      </p:sp>
      <p:sp>
        <p:nvSpPr>
          <p:cNvPr id="2053" name="Rectangle 5">
            <a:extLst>
              <a:ext uri="{FF2B5EF4-FFF2-40B4-BE49-F238E27FC236}">
                <a16:creationId xmlns:a16="http://schemas.microsoft.com/office/drawing/2014/main" id="{DFD91585-7418-4371-8A44-C64FC7269C86}"/>
              </a:ext>
            </a:extLst>
          </p:cNvPr>
          <p:cNvSpPr>
            <a:spLocks noGrp="1" noChangeArrowheads="1"/>
          </p:cNvSpPr>
          <p:nvPr>
            <p:ph type="ctrTitle"/>
          </p:nvPr>
        </p:nvSpPr>
        <p:spPr>
          <a:xfrm>
            <a:off x="35496" y="2868166"/>
            <a:ext cx="8934053" cy="704850"/>
          </a:xfrm>
          <a:solidFill>
            <a:srgbClr val="002060"/>
          </a:solidFill>
          <a:ln>
            <a:noFill/>
          </a:ln>
          <a:effectLst/>
          <a:scene3d>
            <a:camera prst="orthographicFront">
              <a:rot lat="0" lon="0" rev="0"/>
            </a:camera>
            <a:lightRig rig="contrasting" dir="t">
              <a:rot lat="0" lon="0" rev="7800000"/>
            </a:lightRig>
          </a:scene3d>
          <a:sp3d>
            <a:bevelT w="139700" h="139700"/>
          </a:sp3d>
        </p:spPr>
        <p:txBody>
          <a:bodyPr/>
          <a:lstStyle/>
          <a:p>
            <a:r>
              <a:rPr lang="en-US" altLang="fr-FR" sz="3200" b="1" dirty="0">
                <a:latin typeface="Bodoni MT Black" panose="02070A03080606020203" pitchFamily="18" charset="0"/>
              </a:rPr>
              <a:t>Norme ISO 27001 et ISO 27002</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4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re 1">
            <a:extLst>
              <a:ext uri="{FF2B5EF4-FFF2-40B4-BE49-F238E27FC236}">
                <a16:creationId xmlns:a16="http://schemas.microsoft.com/office/drawing/2014/main" id="{52C470A3-618B-4DBB-B203-F558B0F88DC9}"/>
              </a:ext>
            </a:extLst>
          </p:cNvPr>
          <p:cNvSpPr>
            <a:spLocks noGrp="1"/>
          </p:cNvSpPr>
          <p:nvPr>
            <p:ph type="title"/>
          </p:nvPr>
        </p:nvSpPr>
        <p:spPr>
          <a:xfrm>
            <a:off x="4716016" y="188640"/>
            <a:ext cx="3168352" cy="715963"/>
          </a:xfrm>
        </p:spPr>
        <p:txBody>
          <a:bodyPr/>
          <a:lstStyle/>
          <a:p>
            <a:r>
              <a:rPr lang="fr-ML" sz="4800" b="1" dirty="0">
                <a:solidFill>
                  <a:schemeClr val="bg1"/>
                </a:solidFill>
              </a:rPr>
              <a:t>Plan</a:t>
            </a:r>
          </a:p>
        </p:txBody>
      </p:sp>
      <p:grpSp>
        <p:nvGrpSpPr>
          <p:cNvPr id="23" name="Groupe 22">
            <a:extLst>
              <a:ext uri="{FF2B5EF4-FFF2-40B4-BE49-F238E27FC236}">
                <a16:creationId xmlns:a16="http://schemas.microsoft.com/office/drawing/2014/main" id="{120ACE4C-E6E3-4700-A6A8-CF905DD06A34}"/>
              </a:ext>
            </a:extLst>
          </p:cNvPr>
          <p:cNvGrpSpPr/>
          <p:nvPr/>
        </p:nvGrpSpPr>
        <p:grpSpPr>
          <a:xfrm>
            <a:off x="715471" y="1323164"/>
            <a:ext cx="5448409" cy="715963"/>
            <a:chOff x="628688" y="1217003"/>
            <a:chExt cx="5448409" cy="715963"/>
          </a:xfrm>
        </p:grpSpPr>
        <p:sp>
          <p:nvSpPr>
            <p:cNvPr id="25" name="Titre 1">
              <a:extLst>
                <a:ext uri="{FF2B5EF4-FFF2-40B4-BE49-F238E27FC236}">
                  <a16:creationId xmlns:a16="http://schemas.microsoft.com/office/drawing/2014/main" id="{FBC534B1-1C81-4478-AC1E-8AD98C49D7CA}"/>
                </a:ext>
              </a:extLst>
            </p:cNvPr>
            <p:cNvSpPr txBox="1">
              <a:spLocks/>
            </p:cNvSpPr>
            <p:nvPr/>
          </p:nvSpPr>
          <p:spPr bwMode="auto">
            <a:xfrm>
              <a:off x="1468585" y="1217003"/>
              <a:ext cx="460851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r>
                <a:rPr lang="fr-ML" sz="2400" b="1" dirty="0">
                  <a:solidFill>
                    <a:srgbClr val="000000"/>
                  </a:solidFill>
                </a:rPr>
                <a:t>Historique</a:t>
              </a:r>
            </a:p>
          </p:txBody>
        </p:sp>
        <p:sp>
          <p:nvSpPr>
            <p:cNvPr id="5" name="Flèche : chevron 4">
              <a:extLst>
                <a:ext uri="{FF2B5EF4-FFF2-40B4-BE49-F238E27FC236}">
                  <a16:creationId xmlns:a16="http://schemas.microsoft.com/office/drawing/2014/main" id="{C0A1037C-0552-4965-A0E6-20822017CDF3}"/>
                </a:ext>
              </a:extLst>
            </p:cNvPr>
            <p:cNvSpPr/>
            <p:nvPr/>
          </p:nvSpPr>
          <p:spPr bwMode="auto">
            <a:xfrm>
              <a:off x="628688" y="1484784"/>
              <a:ext cx="648072" cy="255421"/>
            </a:xfrm>
            <a:prstGeom prst="chevron">
              <a:avLst/>
            </a:prstGeom>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ML" sz="2400" b="0" i="0" u="none" strike="noStrike" cap="none" normalizeH="0" baseline="0">
                <a:ln>
                  <a:noFill/>
                </a:ln>
                <a:solidFill>
                  <a:schemeClr val="tx1"/>
                </a:solidFill>
                <a:effectLst/>
                <a:latin typeface="Arial" panose="020B0604020202020204" pitchFamily="34" charset="0"/>
              </a:endParaRPr>
            </a:p>
          </p:txBody>
        </p:sp>
      </p:grpSp>
      <p:grpSp>
        <p:nvGrpSpPr>
          <p:cNvPr id="33" name="Groupe 32">
            <a:extLst>
              <a:ext uri="{FF2B5EF4-FFF2-40B4-BE49-F238E27FC236}">
                <a16:creationId xmlns:a16="http://schemas.microsoft.com/office/drawing/2014/main" id="{AC790DE8-95DF-4A25-B1A4-F2070FCC36F7}"/>
              </a:ext>
            </a:extLst>
          </p:cNvPr>
          <p:cNvGrpSpPr/>
          <p:nvPr/>
        </p:nvGrpSpPr>
        <p:grpSpPr>
          <a:xfrm>
            <a:off x="1065554" y="1883304"/>
            <a:ext cx="7195902" cy="715963"/>
            <a:chOff x="945816" y="1740205"/>
            <a:chExt cx="7195902" cy="715963"/>
          </a:xfrm>
        </p:grpSpPr>
        <p:sp>
          <p:nvSpPr>
            <p:cNvPr id="26" name="Titre 1">
              <a:extLst>
                <a:ext uri="{FF2B5EF4-FFF2-40B4-BE49-F238E27FC236}">
                  <a16:creationId xmlns:a16="http://schemas.microsoft.com/office/drawing/2014/main" id="{88705B5B-D286-4A0B-BA73-7B9981AE785B}"/>
                </a:ext>
              </a:extLst>
            </p:cNvPr>
            <p:cNvSpPr txBox="1">
              <a:spLocks/>
            </p:cNvSpPr>
            <p:nvPr/>
          </p:nvSpPr>
          <p:spPr bwMode="auto">
            <a:xfrm>
              <a:off x="1733006" y="1740205"/>
              <a:ext cx="640871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r>
                <a:rPr lang="fr-ML" sz="2400" b="1" dirty="0">
                  <a:solidFill>
                    <a:srgbClr val="000000"/>
                  </a:solidFill>
                </a:rPr>
                <a:t>Famille de ISO 27000</a:t>
              </a:r>
            </a:p>
          </p:txBody>
        </p:sp>
        <p:sp>
          <p:nvSpPr>
            <p:cNvPr id="34" name="Flèche : chevron 33">
              <a:extLst>
                <a:ext uri="{FF2B5EF4-FFF2-40B4-BE49-F238E27FC236}">
                  <a16:creationId xmlns:a16="http://schemas.microsoft.com/office/drawing/2014/main" id="{B2C1FBAA-7889-4816-BA3D-4DE9EE33677E}"/>
                </a:ext>
              </a:extLst>
            </p:cNvPr>
            <p:cNvSpPr/>
            <p:nvPr/>
          </p:nvSpPr>
          <p:spPr bwMode="auto">
            <a:xfrm>
              <a:off x="945816" y="1988840"/>
              <a:ext cx="648072" cy="255421"/>
            </a:xfrm>
            <a:prstGeom prst="chevron">
              <a:avLst/>
            </a:prstGeom>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ML" sz="2400" b="0" i="0" u="none" strike="noStrike" cap="none" normalizeH="0" baseline="0">
                <a:ln>
                  <a:noFill/>
                </a:ln>
                <a:solidFill>
                  <a:schemeClr val="tx1"/>
                </a:solidFill>
                <a:effectLst/>
                <a:latin typeface="Arial" panose="020B0604020202020204" pitchFamily="34" charset="0"/>
              </a:endParaRPr>
            </a:p>
          </p:txBody>
        </p:sp>
      </p:grpSp>
      <p:grpSp>
        <p:nvGrpSpPr>
          <p:cNvPr id="46" name="Groupe 45">
            <a:extLst>
              <a:ext uri="{FF2B5EF4-FFF2-40B4-BE49-F238E27FC236}">
                <a16:creationId xmlns:a16="http://schemas.microsoft.com/office/drawing/2014/main" id="{C402092B-4703-493A-93BD-BF8176847F2D}"/>
              </a:ext>
            </a:extLst>
          </p:cNvPr>
          <p:cNvGrpSpPr/>
          <p:nvPr/>
        </p:nvGrpSpPr>
        <p:grpSpPr>
          <a:xfrm>
            <a:off x="1621046" y="2422034"/>
            <a:ext cx="7231482" cy="715963"/>
            <a:chOff x="1475656" y="2217249"/>
            <a:chExt cx="7231482" cy="715963"/>
          </a:xfrm>
        </p:grpSpPr>
        <p:sp>
          <p:nvSpPr>
            <p:cNvPr id="27" name="Titre 1">
              <a:extLst>
                <a:ext uri="{FF2B5EF4-FFF2-40B4-BE49-F238E27FC236}">
                  <a16:creationId xmlns:a16="http://schemas.microsoft.com/office/drawing/2014/main" id="{83179217-8258-4850-B699-78A87E13984F}"/>
                </a:ext>
              </a:extLst>
            </p:cNvPr>
            <p:cNvSpPr txBox="1">
              <a:spLocks/>
            </p:cNvSpPr>
            <p:nvPr/>
          </p:nvSpPr>
          <p:spPr bwMode="auto">
            <a:xfrm>
              <a:off x="2298426" y="2217249"/>
              <a:ext cx="640871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r>
                <a:rPr lang="fr-ML" sz="2400" b="1" dirty="0">
                  <a:solidFill>
                    <a:srgbClr val="000000"/>
                  </a:solidFill>
                </a:rPr>
                <a:t>Introduction</a:t>
              </a:r>
            </a:p>
          </p:txBody>
        </p:sp>
        <p:sp>
          <p:nvSpPr>
            <p:cNvPr id="35" name="Flèche : chevron 34">
              <a:extLst>
                <a:ext uri="{FF2B5EF4-FFF2-40B4-BE49-F238E27FC236}">
                  <a16:creationId xmlns:a16="http://schemas.microsoft.com/office/drawing/2014/main" id="{E07A9436-DEF9-4944-B218-4185F376BBC4}"/>
                </a:ext>
              </a:extLst>
            </p:cNvPr>
            <p:cNvSpPr/>
            <p:nvPr/>
          </p:nvSpPr>
          <p:spPr bwMode="auto">
            <a:xfrm>
              <a:off x="1475656" y="2492896"/>
              <a:ext cx="648072" cy="255421"/>
            </a:xfrm>
            <a:prstGeom prst="chevron">
              <a:avLst/>
            </a:prstGeom>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ML" sz="2400" b="0" i="0" u="none" strike="noStrike" cap="none" normalizeH="0" baseline="0">
                <a:ln>
                  <a:noFill/>
                </a:ln>
                <a:solidFill>
                  <a:schemeClr val="tx1"/>
                </a:solidFill>
                <a:effectLst/>
                <a:latin typeface="Arial" panose="020B0604020202020204" pitchFamily="34" charset="0"/>
              </a:endParaRPr>
            </a:p>
          </p:txBody>
        </p:sp>
      </p:grpSp>
      <p:grpSp>
        <p:nvGrpSpPr>
          <p:cNvPr id="47" name="Groupe 46">
            <a:extLst>
              <a:ext uri="{FF2B5EF4-FFF2-40B4-BE49-F238E27FC236}">
                <a16:creationId xmlns:a16="http://schemas.microsoft.com/office/drawing/2014/main" id="{0D8D4520-96BE-4DEC-8079-D16C78BBF197}"/>
              </a:ext>
            </a:extLst>
          </p:cNvPr>
          <p:cNvGrpSpPr/>
          <p:nvPr/>
        </p:nvGrpSpPr>
        <p:grpSpPr>
          <a:xfrm>
            <a:off x="2071075" y="3084380"/>
            <a:ext cx="7200800" cy="715963"/>
            <a:chOff x="1835696" y="2768568"/>
            <a:chExt cx="7200800" cy="715963"/>
          </a:xfrm>
        </p:grpSpPr>
        <p:sp>
          <p:nvSpPr>
            <p:cNvPr id="28" name="Titre 1">
              <a:extLst>
                <a:ext uri="{FF2B5EF4-FFF2-40B4-BE49-F238E27FC236}">
                  <a16:creationId xmlns:a16="http://schemas.microsoft.com/office/drawing/2014/main" id="{8B408CC1-4444-457A-B517-D14B2A9B78CE}"/>
                </a:ext>
              </a:extLst>
            </p:cNvPr>
            <p:cNvSpPr txBox="1">
              <a:spLocks/>
            </p:cNvSpPr>
            <p:nvPr/>
          </p:nvSpPr>
          <p:spPr bwMode="auto">
            <a:xfrm>
              <a:off x="2627784" y="2768568"/>
              <a:ext cx="640871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Stratégie utilisées par la norme ISO 27001 </a:t>
              </a:r>
              <a:endParaRPr lang="fr-ML"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6" name="Flèche : chevron 35">
              <a:extLst>
                <a:ext uri="{FF2B5EF4-FFF2-40B4-BE49-F238E27FC236}">
                  <a16:creationId xmlns:a16="http://schemas.microsoft.com/office/drawing/2014/main" id="{9DB62CF7-D802-411C-90FE-215AF3366EF5}"/>
                </a:ext>
              </a:extLst>
            </p:cNvPr>
            <p:cNvSpPr/>
            <p:nvPr/>
          </p:nvSpPr>
          <p:spPr bwMode="auto">
            <a:xfrm>
              <a:off x="1835696" y="3020197"/>
              <a:ext cx="648072" cy="255421"/>
            </a:xfrm>
            <a:prstGeom prst="chevron">
              <a:avLst/>
            </a:prstGeom>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ML" sz="2400" b="0" i="0" u="none" strike="noStrike" cap="none" normalizeH="0" baseline="0">
                <a:ln>
                  <a:noFill/>
                </a:ln>
                <a:solidFill>
                  <a:schemeClr val="tx1"/>
                </a:solidFill>
                <a:effectLst/>
                <a:latin typeface="Arial" panose="020B0604020202020204" pitchFamily="34" charset="0"/>
              </a:endParaRPr>
            </a:p>
          </p:txBody>
        </p:sp>
      </p:grpSp>
      <p:grpSp>
        <p:nvGrpSpPr>
          <p:cNvPr id="48" name="Groupe 47">
            <a:extLst>
              <a:ext uri="{FF2B5EF4-FFF2-40B4-BE49-F238E27FC236}">
                <a16:creationId xmlns:a16="http://schemas.microsoft.com/office/drawing/2014/main" id="{7AE1D7F5-4741-405D-B691-F57391025603}"/>
              </a:ext>
            </a:extLst>
          </p:cNvPr>
          <p:cNvGrpSpPr/>
          <p:nvPr/>
        </p:nvGrpSpPr>
        <p:grpSpPr>
          <a:xfrm>
            <a:off x="2051720" y="3892718"/>
            <a:ext cx="7488832" cy="715963"/>
            <a:chOff x="1547664" y="3539245"/>
            <a:chExt cx="7488832" cy="715963"/>
          </a:xfrm>
        </p:grpSpPr>
        <p:sp>
          <p:nvSpPr>
            <p:cNvPr id="29" name="Titre 1">
              <a:extLst>
                <a:ext uri="{FF2B5EF4-FFF2-40B4-BE49-F238E27FC236}">
                  <a16:creationId xmlns:a16="http://schemas.microsoft.com/office/drawing/2014/main" id="{AEAB7654-A2EF-411C-B57D-AE3D44D6EF8D}"/>
                </a:ext>
              </a:extLst>
            </p:cNvPr>
            <p:cNvSpPr txBox="1">
              <a:spLocks/>
            </p:cNvSpPr>
            <p:nvPr/>
          </p:nvSpPr>
          <p:spPr bwMode="auto">
            <a:xfrm>
              <a:off x="2283152" y="3539245"/>
              <a:ext cx="6753344"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Système de Management de la sécurité de l’information (SMSI)</a:t>
              </a:r>
              <a:endParaRPr lang="fr-ML" sz="3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Flèche : chevron 36">
              <a:extLst>
                <a:ext uri="{FF2B5EF4-FFF2-40B4-BE49-F238E27FC236}">
                  <a16:creationId xmlns:a16="http://schemas.microsoft.com/office/drawing/2014/main" id="{1228D84C-CBE4-4D26-AC5F-11A292276C06}"/>
                </a:ext>
              </a:extLst>
            </p:cNvPr>
            <p:cNvSpPr/>
            <p:nvPr/>
          </p:nvSpPr>
          <p:spPr bwMode="auto">
            <a:xfrm>
              <a:off x="1547664" y="3605627"/>
              <a:ext cx="648072" cy="255421"/>
            </a:xfrm>
            <a:prstGeom prst="chevron">
              <a:avLst/>
            </a:prstGeom>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ML" sz="2400" b="0" i="0" u="none" strike="noStrike" cap="none" normalizeH="0" baseline="0">
                <a:ln>
                  <a:noFill/>
                </a:ln>
                <a:solidFill>
                  <a:schemeClr val="tx1"/>
                </a:solidFill>
                <a:effectLst/>
                <a:latin typeface="Arial" panose="020B0604020202020204" pitchFamily="34" charset="0"/>
              </a:endParaRPr>
            </a:p>
          </p:txBody>
        </p:sp>
      </p:grpSp>
      <p:grpSp>
        <p:nvGrpSpPr>
          <p:cNvPr id="49" name="Groupe 48">
            <a:extLst>
              <a:ext uri="{FF2B5EF4-FFF2-40B4-BE49-F238E27FC236}">
                <a16:creationId xmlns:a16="http://schemas.microsoft.com/office/drawing/2014/main" id="{AA4515B6-267F-40CF-B349-E6A4FE05E1E1}"/>
              </a:ext>
            </a:extLst>
          </p:cNvPr>
          <p:cNvGrpSpPr/>
          <p:nvPr/>
        </p:nvGrpSpPr>
        <p:grpSpPr>
          <a:xfrm>
            <a:off x="1621046" y="4608330"/>
            <a:ext cx="7138102" cy="715963"/>
            <a:chOff x="905690" y="4478596"/>
            <a:chExt cx="7138102" cy="715963"/>
          </a:xfrm>
        </p:grpSpPr>
        <p:sp>
          <p:nvSpPr>
            <p:cNvPr id="31" name="Titre 1">
              <a:extLst>
                <a:ext uri="{FF2B5EF4-FFF2-40B4-BE49-F238E27FC236}">
                  <a16:creationId xmlns:a16="http://schemas.microsoft.com/office/drawing/2014/main" id="{45B9A390-97C9-4D20-AA3A-A078E0070F1F}"/>
                </a:ext>
              </a:extLst>
            </p:cNvPr>
            <p:cNvSpPr txBox="1">
              <a:spLocks/>
            </p:cNvSpPr>
            <p:nvPr/>
          </p:nvSpPr>
          <p:spPr bwMode="auto">
            <a:xfrm>
              <a:off x="1635080" y="4478596"/>
              <a:ext cx="640871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Utilisation de la norme de ISO 27002 </a:t>
              </a:r>
              <a:endParaRPr lang="fr-ML" sz="4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0" name="Flèche : chevron 39">
              <a:extLst>
                <a:ext uri="{FF2B5EF4-FFF2-40B4-BE49-F238E27FC236}">
                  <a16:creationId xmlns:a16="http://schemas.microsoft.com/office/drawing/2014/main" id="{D039ED94-4192-42D0-AB11-B888BE822865}"/>
                </a:ext>
              </a:extLst>
            </p:cNvPr>
            <p:cNvSpPr/>
            <p:nvPr/>
          </p:nvSpPr>
          <p:spPr bwMode="auto">
            <a:xfrm>
              <a:off x="905690" y="4687114"/>
              <a:ext cx="648072" cy="255421"/>
            </a:xfrm>
            <a:prstGeom prst="chevron">
              <a:avLst/>
            </a:prstGeom>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ML" sz="2400" b="0" i="0" u="none" strike="noStrike" cap="none" normalizeH="0" baseline="0">
                <a:ln>
                  <a:noFill/>
                </a:ln>
                <a:solidFill>
                  <a:schemeClr val="tx1"/>
                </a:solidFill>
                <a:effectLst/>
                <a:latin typeface="Arial" panose="020B0604020202020204" pitchFamily="34" charset="0"/>
              </a:endParaRPr>
            </a:p>
          </p:txBody>
        </p:sp>
      </p:grpSp>
      <p:grpSp>
        <p:nvGrpSpPr>
          <p:cNvPr id="54" name="Groupe 53">
            <a:extLst>
              <a:ext uri="{FF2B5EF4-FFF2-40B4-BE49-F238E27FC236}">
                <a16:creationId xmlns:a16="http://schemas.microsoft.com/office/drawing/2014/main" id="{CF6C3109-20DA-49F4-80DE-F81595C2DE6B}"/>
              </a:ext>
            </a:extLst>
          </p:cNvPr>
          <p:cNvGrpSpPr/>
          <p:nvPr/>
        </p:nvGrpSpPr>
        <p:grpSpPr>
          <a:xfrm>
            <a:off x="1065554" y="5183064"/>
            <a:ext cx="7062439" cy="715963"/>
            <a:chOff x="899592" y="5024609"/>
            <a:chExt cx="7062439" cy="715963"/>
          </a:xfrm>
        </p:grpSpPr>
        <p:sp>
          <p:nvSpPr>
            <p:cNvPr id="41" name="Flèche : chevron 40">
              <a:extLst>
                <a:ext uri="{FF2B5EF4-FFF2-40B4-BE49-F238E27FC236}">
                  <a16:creationId xmlns:a16="http://schemas.microsoft.com/office/drawing/2014/main" id="{9C9F6371-E2B6-47C6-9B8A-DB4403D25210}"/>
                </a:ext>
              </a:extLst>
            </p:cNvPr>
            <p:cNvSpPr/>
            <p:nvPr/>
          </p:nvSpPr>
          <p:spPr bwMode="auto">
            <a:xfrm>
              <a:off x="899592" y="5229200"/>
              <a:ext cx="648072" cy="255421"/>
            </a:xfrm>
            <a:prstGeom prst="chevron">
              <a:avLst/>
            </a:prstGeom>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ML" sz="2400" b="0" i="0" u="none" strike="noStrike" cap="none" normalizeH="0" baseline="0">
                <a:ln>
                  <a:noFill/>
                </a:ln>
                <a:solidFill>
                  <a:schemeClr val="tx1"/>
                </a:solidFill>
                <a:effectLst/>
                <a:latin typeface="Arial" panose="020B0604020202020204" pitchFamily="34" charset="0"/>
              </a:endParaRPr>
            </a:p>
          </p:txBody>
        </p:sp>
        <p:sp>
          <p:nvSpPr>
            <p:cNvPr id="44" name="Titre 1">
              <a:extLst>
                <a:ext uri="{FF2B5EF4-FFF2-40B4-BE49-F238E27FC236}">
                  <a16:creationId xmlns:a16="http://schemas.microsoft.com/office/drawing/2014/main" id="{5CEA1A6C-4565-446D-890E-C6AE6043904F}"/>
                </a:ext>
              </a:extLst>
            </p:cNvPr>
            <p:cNvSpPr txBox="1">
              <a:spLocks/>
            </p:cNvSpPr>
            <p:nvPr/>
          </p:nvSpPr>
          <p:spPr bwMode="auto">
            <a:xfrm>
              <a:off x="1553319" y="5024609"/>
              <a:ext cx="640871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Les 11 objectifs principaux de ISO 27002</a:t>
              </a:r>
              <a:endParaRPr lang="fr-ML" sz="4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51" name="Groupe 50">
            <a:extLst>
              <a:ext uri="{FF2B5EF4-FFF2-40B4-BE49-F238E27FC236}">
                <a16:creationId xmlns:a16="http://schemas.microsoft.com/office/drawing/2014/main" id="{F71F221A-E980-4728-BBC6-89A0BE08473F}"/>
              </a:ext>
            </a:extLst>
          </p:cNvPr>
          <p:cNvGrpSpPr/>
          <p:nvPr/>
        </p:nvGrpSpPr>
        <p:grpSpPr>
          <a:xfrm>
            <a:off x="715471" y="5856431"/>
            <a:ext cx="7084585" cy="715963"/>
            <a:chOff x="899592" y="5949280"/>
            <a:chExt cx="7084585" cy="715963"/>
          </a:xfrm>
        </p:grpSpPr>
        <p:sp>
          <p:nvSpPr>
            <p:cNvPr id="42" name="Flèche : chevron 41">
              <a:extLst>
                <a:ext uri="{FF2B5EF4-FFF2-40B4-BE49-F238E27FC236}">
                  <a16:creationId xmlns:a16="http://schemas.microsoft.com/office/drawing/2014/main" id="{7B470831-0235-4097-9A16-E4EDAE369E46}"/>
                </a:ext>
              </a:extLst>
            </p:cNvPr>
            <p:cNvSpPr/>
            <p:nvPr/>
          </p:nvSpPr>
          <p:spPr bwMode="auto">
            <a:xfrm>
              <a:off x="899592" y="6195547"/>
              <a:ext cx="648072" cy="255421"/>
            </a:xfrm>
            <a:prstGeom prst="chevron">
              <a:avLst/>
            </a:prstGeom>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ML" sz="2400" b="0" i="0" u="none" strike="noStrike" cap="none" normalizeH="0" baseline="0">
                <a:ln>
                  <a:noFill/>
                </a:ln>
                <a:solidFill>
                  <a:schemeClr val="tx1"/>
                </a:solidFill>
                <a:effectLst/>
                <a:latin typeface="Arial" panose="020B0604020202020204" pitchFamily="34" charset="0"/>
              </a:endParaRPr>
            </a:p>
          </p:txBody>
        </p:sp>
        <p:sp>
          <p:nvSpPr>
            <p:cNvPr id="45" name="Titre 1">
              <a:extLst>
                <a:ext uri="{FF2B5EF4-FFF2-40B4-BE49-F238E27FC236}">
                  <a16:creationId xmlns:a16="http://schemas.microsoft.com/office/drawing/2014/main" id="{EF33408C-1352-43B1-B1F7-F9D3DAC97CA8}"/>
                </a:ext>
              </a:extLst>
            </p:cNvPr>
            <p:cNvSpPr txBox="1">
              <a:spLocks/>
            </p:cNvSpPr>
            <p:nvPr/>
          </p:nvSpPr>
          <p:spPr bwMode="auto">
            <a:xfrm>
              <a:off x="1575465" y="5949280"/>
              <a:ext cx="640871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Conclusion</a:t>
              </a:r>
              <a:endParaRPr lang="fr-ML" sz="4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additive="base">
                                        <p:cTn id="13" dur="500" fill="hold"/>
                                        <p:tgtEl>
                                          <p:spTgt spid="33"/>
                                        </p:tgtEl>
                                        <p:attrNameLst>
                                          <p:attrName>ppt_x</p:attrName>
                                        </p:attrNameLst>
                                      </p:cBhvr>
                                      <p:tavLst>
                                        <p:tav tm="0">
                                          <p:val>
                                            <p:strVal val="0-#ppt_w/2"/>
                                          </p:val>
                                        </p:tav>
                                        <p:tav tm="100000">
                                          <p:val>
                                            <p:strVal val="#ppt_x"/>
                                          </p:val>
                                        </p:tav>
                                      </p:tavLst>
                                    </p:anim>
                                    <p:anim calcmode="lin" valueType="num">
                                      <p:cBhvr additive="base">
                                        <p:cTn id="14" dur="500" fill="hold"/>
                                        <p:tgtEl>
                                          <p:spTgt spid="33"/>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anim calcmode="lin" valueType="num">
                                      <p:cBhvr additive="base">
                                        <p:cTn id="19" dur="500" fill="hold"/>
                                        <p:tgtEl>
                                          <p:spTgt spid="46"/>
                                        </p:tgtEl>
                                        <p:attrNameLst>
                                          <p:attrName>ppt_x</p:attrName>
                                        </p:attrNameLst>
                                      </p:cBhvr>
                                      <p:tavLst>
                                        <p:tav tm="0">
                                          <p:val>
                                            <p:strVal val="0-#ppt_w/2"/>
                                          </p:val>
                                        </p:tav>
                                        <p:tav tm="100000">
                                          <p:val>
                                            <p:strVal val="#ppt_x"/>
                                          </p:val>
                                        </p:tav>
                                      </p:tavLst>
                                    </p:anim>
                                    <p:anim calcmode="lin" valueType="num">
                                      <p:cBhvr additive="base">
                                        <p:cTn id="20" dur="500" fill="hold"/>
                                        <p:tgtEl>
                                          <p:spTgt spid="46"/>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500" fill="hold"/>
                                        <p:tgtEl>
                                          <p:spTgt spid="47"/>
                                        </p:tgtEl>
                                        <p:attrNameLst>
                                          <p:attrName>ppt_x</p:attrName>
                                        </p:attrNameLst>
                                      </p:cBhvr>
                                      <p:tavLst>
                                        <p:tav tm="0">
                                          <p:val>
                                            <p:strVal val="0-#ppt_w/2"/>
                                          </p:val>
                                        </p:tav>
                                        <p:tav tm="100000">
                                          <p:val>
                                            <p:strVal val="#ppt_x"/>
                                          </p:val>
                                        </p:tav>
                                      </p:tavLst>
                                    </p:anim>
                                    <p:anim calcmode="lin" valueType="num">
                                      <p:cBhvr additive="base">
                                        <p:cTn id="26"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anim calcmode="lin" valueType="num">
                                      <p:cBhvr additive="base">
                                        <p:cTn id="31" dur="500" fill="hold"/>
                                        <p:tgtEl>
                                          <p:spTgt spid="48"/>
                                        </p:tgtEl>
                                        <p:attrNameLst>
                                          <p:attrName>ppt_x</p:attrName>
                                        </p:attrNameLst>
                                      </p:cBhvr>
                                      <p:tavLst>
                                        <p:tav tm="0">
                                          <p:val>
                                            <p:strVal val="0-#ppt_w/2"/>
                                          </p:val>
                                        </p:tav>
                                        <p:tav tm="100000">
                                          <p:val>
                                            <p:strVal val="#ppt_x"/>
                                          </p:val>
                                        </p:tav>
                                      </p:tavLst>
                                    </p:anim>
                                    <p:anim calcmode="lin" valueType="num">
                                      <p:cBhvr additive="base">
                                        <p:cTn id="32"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2" fill="hold" nodeType="clickEffect">
                                  <p:stCondLst>
                                    <p:cond delay="0"/>
                                  </p:stCondLst>
                                  <p:childTnLst>
                                    <p:set>
                                      <p:cBhvr>
                                        <p:cTn id="36" dur="1" fill="hold">
                                          <p:stCondLst>
                                            <p:cond delay="0"/>
                                          </p:stCondLst>
                                        </p:cTn>
                                        <p:tgtEl>
                                          <p:spTgt spid="49"/>
                                        </p:tgtEl>
                                        <p:attrNameLst>
                                          <p:attrName>style.visibility</p:attrName>
                                        </p:attrNameLst>
                                      </p:cBhvr>
                                      <p:to>
                                        <p:strVal val="visible"/>
                                      </p:to>
                                    </p:set>
                                    <p:anim calcmode="lin" valueType="num">
                                      <p:cBhvr additive="base">
                                        <p:cTn id="37" dur="500" fill="hold"/>
                                        <p:tgtEl>
                                          <p:spTgt spid="49"/>
                                        </p:tgtEl>
                                        <p:attrNameLst>
                                          <p:attrName>ppt_x</p:attrName>
                                        </p:attrNameLst>
                                      </p:cBhvr>
                                      <p:tavLst>
                                        <p:tav tm="0">
                                          <p:val>
                                            <p:strVal val="0-#ppt_w/2"/>
                                          </p:val>
                                        </p:tav>
                                        <p:tav tm="100000">
                                          <p:val>
                                            <p:strVal val="#ppt_x"/>
                                          </p:val>
                                        </p:tav>
                                      </p:tavLst>
                                    </p:anim>
                                    <p:anim calcmode="lin" valueType="num">
                                      <p:cBhvr additive="base">
                                        <p:cTn id="38"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2" fill="hold" nodeType="clickEffect">
                                  <p:stCondLst>
                                    <p:cond delay="0"/>
                                  </p:stCondLst>
                                  <p:childTnLst>
                                    <p:set>
                                      <p:cBhvr>
                                        <p:cTn id="42" dur="1" fill="hold">
                                          <p:stCondLst>
                                            <p:cond delay="0"/>
                                          </p:stCondLst>
                                        </p:cTn>
                                        <p:tgtEl>
                                          <p:spTgt spid="54"/>
                                        </p:tgtEl>
                                        <p:attrNameLst>
                                          <p:attrName>style.visibility</p:attrName>
                                        </p:attrNameLst>
                                      </p:cBhvr>
                                      <p:to>
                                        <p:strVal val="visible"/>
                                      </p:to>
                                    </p:set>
                                    <p:anim calcmode="lin" valueType="num">
                                      <p:cBhvr additive="base">
                                        <p:cTn id="43" dur="500" fill="hold"/>
                                        <p:tgtEl>
                                          <p:spTgt spid="54"/>
                                        </p:tgtEl>
                                        <p:attrNameLst>
                                          <p:attrName>ppt_x</p:attrName>
                                        </p:attrNameLst>
                                      </p:cBhvr>
                                      <p:tavLst>
                                        <p:tav tm="0">
                                          <p:val>
                                            <p:strVal val="0-#ppt_w/2"/>
                                          </p:val>
                                        </p:tav>
                                        <p:tav tm="100000">
                                          <p:val>
                                            <p:strVal val="#ppt_x"/>
                                          </p:val>
                                        </p:tav>
                                      </p:tavLst>
                                    </p:anim>
                                    <p:anim calcmode="lin" valueType="num">
                                      <p:cBhvr additive="base">
                                        <p:cTn id="44"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12" fill="hold" nodeType="clickEffect">
                                  <p:stCondLst>
                                    <p:cond delay="0"/>
                                  </p:stCondLst>
                                  <p:childTnLst>
                                    <p:set>
                                      <p:cBhvr>
                                        <p:cTn id="48" dur="1" fill="hold">
                                          <p:stCondLst>
                                            <p:cond delay="0"/>
                                          </p:stCondLst>
                                        </p:cTn>
                                        <p:tgtEl>
                                          <p:spTgt spid="51"/>
                                        </p:tgtEl>
                                        <p:attrNameLst>
                                          <p:attrName>style.visibility</p:attrName>
                                        </p:attrNameLst>
                                      </p:cBhvr>
                                      <p:to>
                                        <p:strVal val="visible"/>
                                      </p:to>
                                    </p:set>
                                    <p:anim calcmode="lin" valueType="num">
                                      <p:cBhvr additive="base">
                                        <p:cTn id="49" dur="500" fill="hold"/>
                                        <p:tgtEl>
                                          <p:spTgt spid="51"/>
                                        </p:tgtEl>
                                        <p:attrNameLst>
                                          <p:attrName>ppt_x</p:attrName>
                                        </p:attrNameLst>
                                      </p:cBhvr>
                                      <p:tavLst>
                                        <p:tav tm="0">
                                          <p:val>
                                            <p:strVal val="0-#ppt_w/2"/>
                                          </p:val>
                                        </p:tav>
                                        <p:tav tm="100000">
                                          <p:val>
                                            <p:strVal val="#ppt_x"/>
                                          </p:val>
                                        </p:tav>
                                      </p:tavLst>
                                    </p:anim>
                                    <p:anim calcmode="lin" valueType="num">
                                      <p:cBhvr additive="base">
                                        <p:cTn id="50"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39DCD5D4-3940-4F76-AC6C-29CA1082592F}"/>
              </a:ext>
            </a:extLst>
          </p:cNvPr>
          <p:cNvSpPr>
            <a:spLocks noGrp="1"/>
          </p:cNvSpPr>
          <p:nvPr>
            <p:ph type="title"/>
          </p:nvPr>
        </p:nvSpPr>
        <p:spPr>
          <a:xfrm>
            <a:off x="251520" y="1124744"/>
            <a:ext cx="8442960" cy="732155"/>
          </a:xfrm>
        </p:spPr>
        <p:txBody>
          <a:bodyPr>
            <a:normAutofit fontScale="90000"/>
          </a:bodyPr>
          <a:lstStyle/>
          <a:p>
            <a:r>
              <a:rPr lang="fr-ML" b="1" dirty="0">
                <a:solidFill>
                  <a:srgbClr val="000000"/>
                </a:solidFill>
                <a:latin typeface="Calibri" panose="020F0502020204030204" pitchFamily="34" charset="0"/>
                <a:cs typeface="Calibri" panose="020F0502020204030204" pitchFamily="34" charset="0"/>
              </a:rPr>
              <a:t>Historique de la série Iso 27000</a:t>
            </a:r>
          </a:p>
        </p:txBody>
      </p:sp>
      <p:sp>
        <p:nvSpPr>
          <p:cNvPr id="10" name="Rectangle 9">
            <a:extLst>
              <a:ext uri="{FF2B5EF4-FFF2-40B4-BE49-F238E27FC236}">
                <a16:creationId xmlns:a16="http://schemas.microsoft.com/office/drawing/2014/main" id="{D8F25B64-A4EC-45D3-A561-2569CADD2FD8}"/>
              </a:ext>
            </a:extLst>
          </p:cNvPr>
          <p:cNvSpPr/>
          <p:nvPr/>
        </p:nvSpPr>
        <p:spPr>
          <a:xfrm>
            <a:off x="223853" y="3042149"/>
            <a:ext cx="8765234" cy="2206198"/>
          </a:xfrm>
          <a:prstGeom prst="rect">
            <a:avLst/>
          </a:prstGeom>
          <a:solidFill>
            <a:srgbClr val="A5A5A5">
              <a:lumMod val="20000"/>
              <a:lumOff val="8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92573602-7F41-4668-8C06-CB4CE3C3C2F5}"/>
              </a:ext>
            </a:extLst>
          </p:cNvPr>
          <p:cNvGrpSpPr/>
          <p:nvPr/>
        </p:nvGrpSpPr>
        <p:grpSpPr>
          <a:xfrm>
            <a:off x="249516" y="3188671"/>
            <a:ext cx="1402894" cy="2835376"/>
            <a:chOff x="205175" y="3332687"/>
            <a:chExt cx="1402894" cy="2835376"/>
          </a:xfrm>
        </p:grpSpPr>
        <p:sp>
          <p:nvSpPr>
            <p:cNvPr id="30" name="Ellipse 29">
              <a:extLst>
                <a:ext uri="{FF2B5EF4-FFF2-40B4-BE49-F238E27FC236}">
                  <a16:creationId xmlns:a16="http://schemas.microsoft.com/office/drawing/2014/main" id="{0BCEB48B-8578-4DD5-B7B1-894FB2B443E6}"/>
                </a:ext>
              </a:extLst>
            </p:cNvPr>
            <p:cNvSpPr/>
            <p:nvPr/>
          </p:nvSpPr>
          <p:spPr>
            <a:xfrm>
              <a:off x="383388" y="3332687"/>
              <a:ext cx="1123456" cy="1120456"/>
            </a:xfrm>
            <a:prstGeom prst="ellipse">
              <a:avLst/>
            </a:prstGeom>
            <a:solidFill>
              <a:sysClr val="windowText" lastClr="000000"/>
            </a:solidFill>
            <a:ln w="12700" cap="flat" cmpd="sng" algn="ctr">
              <a:noFill/>
              <a:prstDash val="solid"/>
              <a:miter lim="800000"/>
            </a:ln>
            <a:effectLst>
              <a:outerShdw blurRad="152400" dist="152400" dir="5400000" sx="90000" sy="-19000" rotWithShape="0">
                <a:prstClr val="black">
                  <a:alpha val="15000"/>
                </a:prstClr>
              </a:outerShdw>
            </a:effectLst>
            <a:scene3d>
              <a:camera prst="orthographicFront">
                <a:rot lat="0" lon="0" rev="0"/>
              </a:camera>
              <a:lightRig rig="contrasting" dir="t">
                <a:rot lat="0" lon="0" rev="1500000"/>
              </a:lightRig>
            </a:scene3d>
            <a:sp3d prstMaterial="metal">
              <a:bevelT w="88900" h="889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1990</a:t>
              </a:r>
            </a:p>
          </p:txBody>
        </p:sp>
        <p:sp>
          <p:nvSpPr>
            <p:cNvPr id="31" name="Rectangle 30">
              <a:extLst>
                <a:ext uri="{FF2B5EF4-FFF2-40B4-BE49-F238E27FC236}">
                  <a16:creationId xmlns:a16="http://schemas.microsoft.com/office/drawing/2014/main" id="{854D7BBA-9CC9-4AD0-A7F0-1FA2D4A41913}"/>
                </a:ext>
              </a:extLst>
            </p:cNvPr>
            <p:cNvSpPr/>
            <p:nvPr/>
          </p:nvSpPr>
          <p:spPr>
            <a:xfrm>
              <a:off x="205175" y="4599665"/>
              <a:ext cx="1402894" cy="1568398"/>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Code de bonne pratique (publié par un groupe d’entreprises)</a:t>
              </a:r>
            </a:p>
          </p:txBody>
        </p:sp>
      </p:grpSp>
      <p:grpSp>
        <p:nvGrpSpPr>
          <p:cNvPr id="12" name="Groupe 11">
            <a:extLst>
              <a:ext uri="{FF2B5EF4-FFF2-40B4-BE49-F238E27FC236}">
                <a16:creationId xmlns:a16="http://schemas.microsoft.com/office/drawing/2014/main" id="{05F5F923-FEDE-4AD1-BE3D-3811261554FE}"/>
              </a:ext>
            </a:extLst>
          </p:cNvPr>
          <p:cNvGrpSpPr/>
          <p:nvPr/>
        </p:nvGrpSpPr>
        <p:grpSpPr>
          <a:xfrm>
            <a:off x="1482451" y="3024912"/>
            <a:ext cx="1402894" cy="2395571"/>
            <a:chOff x="1438110" y="3168928"/>
            <a:chExt cx="1402894" cy="2395571"/>
          </a:xfrm>
        </p:grpSpPr>
        <p:sp>
          <p:nvSpPr>
            <p:cNvPr id="28" name="Ellipse 27">
              <a:extLst>
                <a:ext uri="{FF2B5EF4-FFF2-40B4-BE49-F238E27FC236}">
                  <a16:creationId xmlns:a16="http://schemas.microsoft.com/office/drawing/2014/main" id="{F0930A03-488D-4D44-808F-D14AB4EA4AE7}"/>
                </a:ext>
              </a:extLst>
            </p:cNvPr>
            <p:cNvSpPr/>
            <p:nvPr/>
          </p:nvSpPr>
          <p:spPr>
            <a:xfrm>
              <a:off x="1639434" y="3168928"/>
              <a:ext cx="1123456" cy="1120456"/>
            </a:xfrm>
            <a:prstGeom prst="ellipse">
              <a:avLst/>
            </a:prstGeom>
            <a:solidFill>
              <a:sysClr val="windowText" lastClr="000000"/>
            </a:solidFill>
            <a:ln w="12700" cap="flat" cmpd="sng" algn="ctr">
              <a:noFill/>
              <a:prstDash val="solid"/>
              <a:miter lim="800000"/>
            </a:ln>
            <a:effectLst>
              <a:outerShdw blurRad="152400" dist="152400" dir="5400000" sx="90000" sy="-19000" rotWithShape="0">
                <a:prstClr val="black">
                  <a:alpha val="15000"/>
                </a:prstClr>
              </a:outerShdw>
            </a:effectLst>
            <a:scene3d>
              <a:camera prst="orthographicFront">
                <a:rot lat="0" lon="0" rev="0"/>
              </a:camera>
              <a:lightRig rig="contrasting" dir="t">
                <a:rot lat="0" lon="0" rev="1500000"/>
              </a:lightRig>
            </a:scene3d>
            <a:sp3d prstMaterial="metal">
              <a:bevelT w="88900" h="889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1995</a:t>
              </a:r>
            </a:p>
          </p:txBody>
        </p:sp>
        <p:sp>
          <p:nvSpPr>
            <p:cNvPr id="29" name="Rectangle 28">
              <a:extLst>
                <a:ext uri="{FF2B5EF4-FFF2-40B4-BE49-F238E27FC236}">
                  <a16:creationId xmlns:a16="http://schemas.microsoft.com/office/drawing/2014/main" id="{D11CCC03-3FA7-4981-9070-8EF6BD71E81E}"/>
                </a:ext>
              </a:extLst>
            </p:cNvPr>
            <p:cNvSpPr/>
            <p:nvPr/>
          </p:nvSpPr>
          <p:spPr>
            <a:xfrm>
              <a:off x="1438110" y="4392329"/>
              <a:ext cx="1402894" cy="117217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BS7799-1</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code de bonne pratique</a:t>
              </a:r>
            </a:p>
          </p:txBody>
        </p:sp>
      </p:grpSp>
      <p:grpSp>
        <p:nvGrpSpPr>
          <p:cNvPr id="13" name="Groupe 12">
            <a:extLst>
              <a:ext uri="{FF2B5EF4-FFF2-40B4-BE49-F238E27FC236}">
                <a16:creationId xmlns:a16="http://schemas.microsoft.com/office/drawing/2014/main" id="{CFE87DDE-BA7B-4E25-A951-CA76C3855053}"/>
              </a:ext>
            </a:extLst>
          </p:cNvPr>
          <p:cNvGrpSpPr/>
          <p:nvPr/>
        </p:nvGrpSpPr>
        <p:grpSpPr>
          <a:xfrm>
            <a:off x="2807231" y="2869770"/>
            <a:ext cx="1354420" cy="2550713"/>
            <a:chOff x="2762889" y="3013787"/>
            <a:chExt cx="1354420" cy="2550713"/>
          </a:xfrm>
        </p:grpSpPr>
        <p:sp>
          <p:nvSpPr>
            <p:cNvPr id="26" name="Ellipse 25">
              <a:extLst>
                <a:ext uri="{FF2B5EF4-FFF2-40B4-BE49-F238E27FC236}">
                  <a16:creationId xmlns:a16="http://schemas.microsoft.com/office/drawing/2014/main" id="{DE3D6C0F-A30E-4709-A45D-72D2695ED95B}"/>
                </a:ext>
              </a:extLst>
            </p:cNvPr>
            <p:cNvSpPr/>
            <p:nvPr/>
          </p:nvSpPr>
          <p:spPr>
            <a:xfrm>
              <a:off x="2842729" y="3013787"/>
              <a:ext cx="1123456" cy="1120456"/>
            </a:xfrm>
            <a:prstGeom prst="ellipse">
              <a:avLst/>
            </a:prstGeom>
            <a:solidFill>
              <a:sysClr val="windowText" lastClr="000000"/>
            </a:solidFill>
            <a:ln w="12700" cap="flat" cmpd="sng" algn="ctr">
              <a:noFill/>
              <a:prstDash val="solid"/>
              <a:miter lim="800000"/>
            </a:ln>
            <a:effectLst>
              <a:outerShdw blurRad="152400" dist="152400" dir="5400000" sx="90000" sy="-19000" rotWithShape="0">
                <a:prstClr val="black">
                  <a:alpha val="15000"/>
                </a:prstClr>
              </a:outerShdw>
            </a:effectLst>
            <a:scene3d>
              <a:camera prst="orthographicFront">
                <a:rot lat="0" lon="0" rev="0"/>
              </a:camera>
              <a:lightRig rig="contrasting" dir="t">
                <a:rot lat="0" lon="0" rev="1500000"/>
              </a:lightRig>
            </a:scene3d>
            <a:sp3d prstMaterial="metal">
              <a:bevelT w="88900" h="889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1998</a:t>
              </a:r>
            </a:p>
          </p:txBody>
        </p:sp>
        <p:sp>
          <p:nvSpPr>
            <p:cNvPr id="27" name="Rectangle 26">
              <a:extLst>
                <a:ext uri="{FF2B5EF4-FFF2-40B4-BE49-F238E27FC236}">
                  <a16:creationId xmlns:a16="http://schemas.microsoft.com/office/drawing/2014/main" id="{FE970B84-B3DD-460A-90B7-8CD30EF69C7D}"/>
                </a:ext>
              </a:extLst>
            </p:cNvPr>
            <p:cNvSpPr/>
            <p:nvPr/>
          </p:nvSpPr>
          <p:spPr>
            <a:xfrm>
              <a:off x="2762889" y="4392330"/>
              <a:ext cx="1354420" cy="117217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BS7799-2</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Schéma de certification du SMSI</a:t>
              </a:r>
            </a:p>
          </p:txBody>
        </p:sp>
      </p:grpSp>
      <p:grpSp>
        <p:nvGrpSpPr>
          <p:cNvPr id="14" name="Groupe 13">
            <a:extLst>
              <a:ext uri="{FF2B5EF4-FFF2-40B4-BE49-F238E27FC236}">
                <a16:creationId xmlns:a16="http://schemas.microsoft.com/office/drawing/2014/main" id="{DEE89559-A441-452B-A9A8-15981EA82828}"/>
              </a:ext>
            </a:extLst>
          </p:cNvPr>
          <p:cNvGrpSpPr/>
          <p:nvPr/>
        </p:nvGrpSpPr>
        <p:grpSpPr>
          <a:xfrm>
            <a:off x="4087514" y="2628442"/>
            <a:ext cx="1328757" cy="2447647"/>
            <a:chOff x="4043173" y="2772458"/>
            <a:chExt cx="1328757" cy="2447647"/>
          </a:xfrm>
        </p:grpSpPr>
        <p:sp>
          <p:nvSpPr>
            <p:cNvPr id="24" name="Ellipse 23">
              <a:extLst>
                <a:ext uri="{FF2B5EF4-FFF2-40B4-BE49-F238E27FC236}">
                  <a16:creationId xmlns:a16="http://schemas.microsoft.com/office/drawing/2014/main" id="{EDD07C4B-731D-4D1E-AD95-223510BE835A}"/>
                </a:ext>
              </a:extLst>
            </p:cNvPr>
            <p:cNvSpPr/>
            <p:nvPr/>
          </p:nvSpPr>
          <p:spPr>
            <a:xfrm>
              <a:off x="4094498" y="2772458"/>
              <a:ext cx="1123456" cy="1120456"/>
            </a:xfrm>
            <a:prstGeom prst="ellipse">
              <a:avLst/>
            </a:prstGeom>
            <a:solidFill>
              <a:srgbClr val="002060"/>
            </a:solidFill>
            <a:ln w="12700" cap="flat" cmpd="sng" algn="ctr">
              <a:noFill/>
              <a:prstDash val="solid"/>
              <a:miter lim="800000"/>
            </a:ln>
            <a:effectLst>
              <a:outerShdw blurRad="152400" dist="152400" dir="5400000" sx="90000" sy="-19000" rotWithShape="0">
                <a:prstClr val="black">
                  <a:alpha val="15000"/>
                </a:prstClr>
              </a:outerShdw>
            </a:effectLst>
            <a:scene3d>
              <a:camera prst="orthographicFront">
                <a:rot lat="0" lon="0" rev="0"/>
              </a:camera>
              <a:lightRig rig="contrasting" dir="t">
                <a:rot lat="0" lon="0" rev="1500000"/>
              </a:lightRig>
            </a:scene3d>
            <a:sp3d prstMaterial="metal">
              <a:bevelT w="88900" h="889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2000</a:t>
              </a:r>
            </a:p>
          </p:txBody>
        </p:sp>
        <p:sp>
          <p:nvSpPr>
            <p:cNvPr id="25" name="Rectangle 24">
              <a:extLst>
                <a:ext uri="{FF2B5EF4-FFF2-40B4-BE49-F238E27FC236}">
                  <a16:creationId xmlns:a16="http://schemas.microsoft.com/office/drawing/2014/main" id="{6A2E1B30-95F5-49F2-85BA-3E2E9A50D54C}"/>
                </a:ext>
              </a:extLst>
            </p:cNvPr>
            <p:cNvSpPr/>
            <p:nvPr/>
          </p:nvSpPr>
          <p:spPr>
            <a:xfrm>
              <a:off x="4043173" y="4047935"/>
              <a:ext cx="1328757" cy="117217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ISO 17799</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Code de bonne pratiques</a:t>
              </a:r>
            </a:p>
          </p:txBody>
        </p:sp>
      </p:grpSp>
      <p:grpSp>
        <p:nvGrpSpPr>
          <p:cNvPr id="15" name="Groupe 14">
            <a:extLst>
              <a:ext uri="{FF2B5EF4-FFF2-40B4-BE49-F238E27FC236}">
                <a16:creationId xmlns:a16="http://schemas.microsoft.com/office/drawing/2014/main" id="{C2D82AD1-8E14-4EC4-96E8-82B60BCC2669}"/>
              </a:ext>
            </a:extLst>
          </p:cNvPr>
          <p:cNvGrpSpPr/>
          <p:nvPr/>
        </p:nvGrpSpPr>
        <p:grpSpPr>
          <a:xfrm>
            <a:off x="5309343" y="2464684"/>
            <a:ext cx="1328757" cy="2559812"/>
            <a:chOff x="5265002" y="2608700"/>
            <a:chExt cx="1328757" cy="2559812"/>
          </a:xfrm>
        </p:grpSpPr>
        <p:sp>
          <p:nvSpPr>
            <p:cNvPr id="22" name="Ellipse 21">
              <a:extLst>
                <a:ext uri="{FF2B5EF4-FFF2-40B4-BE49-F238E27FC236}">
                  <a16:creationId xmlns:a16="http://schemas.microsoft.com/office/drawing/2014/main" id="{A3AE8D27-B0E0-445D-BA64-E6A04E842D56}"/>
                </a:ext>
              </a:extLst>
            </p:cNvPr>
            <p:cNvSpPr/>
            <p:nvPr/>
          </p:nvSpPr>
          <p:spPr>
            <a:xfrm>
              <a:off x="5306347" y="2608700"/>
              <a:ext cx="1123456" cy="1120456"/>
            </a:xfrm>
            <a:prstGeom prst="ellipse">
              <a:avLst/>
            </a:prstGeom>
            <a:solidFill>
              <a:srgbClr val="002060"/>
            </a:solidFill>
            <a:ln w="12700" cap="flat" cmpd="sng" algn="ctr">
              <a:noFill/>
              <a:prstDash val="solid"/>
              <a:miter lim="800000"/>
            </a:ln>
            <a:effectLst>
              <a:outerShdw blurRad="152400" dist="152400" dir="5400000" sx="90000" sy="-19000" rotWithShape="0">
                <a:prstClr val="black">
                  <a:alpha val="15000"/>
                </a:prstClr>
              </a:outerShdw>
            </a:effectLst>
            <a:scene3d>
              <a:camera prst="orthographicFront">
                <a:rot lat="0" lon="0" rev="0"/>
              </a:camera>
              <a:lightRig rig="contrasting" dir="t">
                <a:rot lat="0" lon="0" rev="1500000"/>
              </a:lightRig>
            </a:scene3d>
            <a:sp3d prstMaterial="metal">
              <a:bevelT w="88900" h="889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2005</a:t>
              </a:r>
            </a:p>
          </p:txBody>
        </p:sp>
        <p:sp>
          <p:nvSpPr>
            <p:cNvPr id="23" name="Rectangle 22">
              <a:extLst>
                <a:ext uri="{FF2B5EF4-FFF2-40B4-BE49-F238E27FC236}">
                  <a16:creationId xmlns:a16="http://schemas.microsoft.com/office/drawing/2014/main" id="{D9B92031-B365-4779-A86F-1748601B42D6}"/>
                </a:ext>
              </a:extLst>
            </p:cNvPr>
            <p:cNvSpPr/>
            <p:nvPr/>
          </p:nvSpPr>
          <p:spPr>
            <a:xfrm>
              <a:off x="5265002" y="3996342"/>
              <a:ext cx="1328757" cy="117217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Nouvelle version de ISO 17799</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Publication d’ISO 27001</a:t>
              </a:r>
            </a:p>
          </p:txBody>
        </p:sp>
      </p:grpSp>
      <p:grpSp>
        <p:nvGrpSpPr>
          <p:cNvPr id="16" name="Groupe 15">
            <a:extLst>
              <a:ext uri="{FF2B5EF4-FFF2-40B4-BE49-F238E27FC236}">
                <a16:creationId xmlns:a16="http://schemas.microsoft.com/office/drawing/2014/main" id="{3BC1D050-FD2A-4DE9-9030-53E41D97FF10}"/>
              </a:ext>
            </a:extLst>
          </p:cNvPr>
          <p:cNvGrpSpPr/>
          <p:nvPr/>
        </p:nvGrpSpPr>
        <p:grpSpPr>
          <a:xfrm>
            <a:off x="6562538" y="2266449"/>
            <a:ext cx="1328757" cy="2534197"/>
            <a:chOff x="6518197" y="2410465"/>
            <a:chExt cx="1328757" cy="2534197"/>
          </a:xfrm>
        </p:grpSpPr>
        <p:sp>
          <p:nvSpPr>
            <p:cNvPr id="20" name="Ellipse 19">
              <a:extLst>
                <a:ext uri="{FF2B5EF4-FFF2-40B4-BE49-F238E27FC236}">
                  <a16:creationId xmlns:a16="http://schemas.microsoft.com/office/drawing/2014/main" id="{317F3768-9979-4F05-AE62-9719E5BCB95C}"/>
                </a:ext>
              </a:extLst>
            </p:cNvPr>
            <p:cNvSpPr/>
            <p:nvPr/>
          </p:nvSpPr>
          <p:spPr>
            <a:xfrm>
              <a:off x="6559543" y="2410465"/>
              <a:ext cx="1123456" cy="1120456"/>
            </a:xfrm>
            <a:prstGeom prst="ellipse">
              <a:avLst/>
            </a:prstGeom>
            <a:solidFill>
              <a:srgbClr val="0070C0"/>
            </a:solidFill>
            <a:ln w="12700" cap="flat" cmpd="sng" algn="ctr">
              <a:noFill/>
              <a:prstDash val="solid"/>
              <a:miter lim="800000"/>
            </a:ln>
            <a:effectLst>
              <a:outerShdw blurRad="152400" dist="152400" dir="5400000" sx="90000" sy="-19000" rotWithShape="0">
                <a:prstClr val="black">
                  <a:alpha val="15000"/>
                </a:prstClr>
              </a:outerShdw>
            </a:effectLst>
            <a:scene3d>
              <a:camera prst="orthographicFront">
                <a:rot lat="0" lon="0" rev="0"/>
              </a:camera>
              <a:lightRig rig="contrasting" dir="t">
                <a:rot lat="0" lon="0" rev="1500000"/>
              </a:lightRig>
            </a:scene3d>
            <a:sp3d prstMaterial="metal">
              <a:bevelT w="88900" h="889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2007</a:t>
              </a:r>
            </a:p>
          </p:txBody>
        </p:sp>
        <p:sp>
          <p:nvSpPr>
            <p:cNvPr id="21" name="Rectangle 20">
              <a:extLst>
                <a:ext uri="{FF2B5EF4-FFF2-40B4-BE49-F238E27FC236}">
                  <a16:creationId xmlns:a16="http://schemas.microsoft.com/office/drawing/2014/main" id="{561C7FB2-5236-4916-AF3F-77463A793560}"/>
                </a:ext>
              </a:extLst>
            </p:cNvPr>
            <p:cNvSpPr/>
            <p:nvPr/>
          </p:nvSpPr>
          <p:spPr>
            <a:xfrm>
              <a:off x="6518197" y="3772492"/>
              <a:ext cx="1328757" cy="117217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ISO 27006</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Exigences pour les organisme de certification</a:t>
              </a:r>
            </a:p>
          </p:txBody>
        </p:sp>
      </p:grpSp>
      <p:grpSp>
        <p:nvGrpSpPr>
          <p:cNvPr id="17" name="Groupe 16">
            <a:extLst>
              <a:ext uri="{FF2B5EF4-FFF2-40B4-BE49-F238E27FC236}">
                <a16:creationId xmlns:a16="http://schemas.microsoft.com/office/drawing/2014/main" id="{D98033A4-7C4F-44F8-9447-14DBE929C2C4}"/>
              </a:ext>
            </a:extLst>
          </p:cNvPr>
          <p:cNvGrpSpPr/>
          <p:nvPr/>
        </p:nvGrpSpPr>
        <p:grpSpPr>
          <a:xfrm>
            <a:off x="7754427" y="2132856"/>
            <a:ext cx="1328757" cy="2426219"/>
            <a:chOff x="7710086" y="2276872"/>
            <a:chExt cx="1328757" cy="2426219"/>
          </a:xfrm>
        </p:grpSpPr>
        <p:sp>
          <p:nvSpPr>
            <p:cNvPr id="18" name="Ellipse 17">
              <a:extLst>
                <a:ext uri="{FF2B5EF4-FFF2-40B4-BE49-F238E27FC236}">
                  <a16:creationId xmlns:a16="http://schemas.microsoft.com/office/drawing/2014/main" id="{854456B1-1A60-4A46-9936-7D80C8556D34}"/>
                </a:ext>
              </a:extLst>
            </p:cNvPr>
            <p:cNvSpPr/>
            <p:nvPr/>
          </p:nvSpPr>
          <p:spPr>
            <a:xfrm>
              <a:off x="7769024" y="2276872"/>
              <a:ext cx="1123456" cy="1120456"/>
            </a:xfrm>
            <a:prstGeom prst="ellipse">
              <a:avLst/>
            </a:prstGeom>
            <a:solidFill>
              <a:srgbClr val="0070C0"/>
            </a:solidFill>
            <a:ln w="12700" cap="flat" cmpd="sng" algn="ctr">
              <a:noFill/>
              <a:prstDash val="solid"/>
              <a:miter lim="800000"/>
            </a:ln>
            <a:effectLst>
              <a:outerShdw blurRad="152400" dist="152400" dir="5400000" sx="90000" sy="-19000" rotWithShape="0">
                <a:prstClr val="black">
                  <a:alpha val="15000"/>
                </a:prstClr>
              </a:outerShdw>
            </a:effectLst>
            <a:scene3d>
              <a:camera prst="orthographicFront">
                <a:rot lat="0" lon="0" rev="0"/>
              </a:camera>
              <a:lightRig rig="contrasting" dir="t">
                <a:rot lat="0" lon="0" rev="1500000"/>
              </a:lightRig>
            </a:scene3d>
            <a:sp3d prstMaterial="metal">
              <a:bevelT w="88900" h="889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2014</a:t>
              </a:r>
            </a:p>
          </p:txBody>
        </p:sp>
        <p:sp>
          <p:nvSpPr>
            <p:cNvPr id="19" name="Rectangle 18">
              <a:extLst>
                <a:ext uri="{FF2B5EF4-FFF2-40B4-BE49-F238E27FC236}">
                  <a16:creationId xmlns:a16="http://schemas.microsoft.com/office/drawing/2014/main" id="{289BC8ED-00FC-4C08-B906-9C29AD9DCD2A}"/>
                </a:ext>
              </a:extLst>
            </p:cNvPr>
            <p:cNvSpPr/>
            <p:nvPr/>
          </p:nvSpPr>
          <p:spPr>
            <a:xfrm>
              <a:off x="7710086" y="3530921"/>
              <a:ext cx="1328757" cy="117217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ISO </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srgbClr val="002060"/>
                  </a:solidFill>
                  <a:effectLst/>
                  <a:uLnTx/>
                  <a:uFillTx/>
                  <a:latin typeface="Calibri" panose="020F0502020204030204"/>
                  <a:ea typeface="+mn-ea"/>
                  <a:cs typeface="+mn-cs"/>
                </a:rPr>
                <a:t>27001:2014</a:t>
              </a:r>
            </a:p>
          </p:txBody>
        </p:sp>
      </p:grpSp>
    </p:spTree>
    <p:extLst>
      <p:ext uri="{BB962C8B-B14F-4D97-AF65-F5344CB8AC3E}">
        <p14:creationId xmlns:p14="http://schemas.microsoft.com/office/powerpoint/2010/main" val="14776094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8)">
                                      <p:cBhvr>
                                        <p:cTn id="7" dur="1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heel(4)">
                                      <p:cBhvr>
                                        <p:cTn id="12" dur="10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3"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heel(3)">
                                      <p:cBhvr>
                                        <p:cTn id="17" dur="10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2"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heel(2)">
                                      <p:cBhvr>
                                        <p:cTn id="22" dur="10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heel(8)">
                                      <p:cBhvr>
                                        <p:cTn id="27" dur="10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4"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heel(4)">
                                      <p:cBhvr>
                                        <p:cTn id="32" dur="10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3"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heel(3)">
                                      <p:cBhvr>
                                        <p:cTn id="3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53332B18-45F9-480C-BE9C-9D804BB60573}"/>
              </a:ext>
            </a:extLst>
          </p:cNvPr>
          <p:cNvSpPr>
            <a:spLocks noGrp="1"/>
          </p:cNvSpPr>
          <p:nvPr>
            <p:ph type="title"/>
          </p:nvPr>
        </p:nvSpPr>
        <p:spPr>
          <a:xfrm>
            <a:off x="1691680" y="908720"/>
            <a:ext cx="6568440" cy="1006475"/>
          </a:xfrm>
        </p:spPr>
        <p:txBody>
          <a:bodyPr/>
          <a:lstStyle/>
          <a:p>
            <a:r>
              <a:rPr lang="fr-ML" b="1" dirty="0">
                <a:solidFill>
                  <a:srgbClr val="000000"/>
                </a:solidFill>
                <a:latin typeface="Calibri" panose="020F0502020204030204" pitchFamily="34" charset="0"/>
                <a:cs typeface="Calibri" panose="020F0502020204030204" pitchFamily="34" charset="0"/>
              </a:rPr>
              <a:t>Famille de ISO 27000</a:t>
            </a:r>
          </a:p>
        </p:txBody>
      </p:sp>
      <p:sp>
        <p:nvSpPr>
          <p:cNvPr id="46" name="Rectangle 45">
            <a:extLst>
              <a:ext uri="{FF2B5EF4-FFF2-40B4-BE49-F238E27FC236}">
                <a16:creationId xmlns:a16="http://schemas.microsoft.com/office/drawing/2014/main" id="{3C107370-AB25-4010-B1EF-1319DE5C3D45}"/>
              </a:ext>
            </a:extLst>
          </p:cNvPr>
          <p:cNvSpPr/>
          <p:nvPr/>
        </p:nvSpPr>
        <p:spPr>
          <a:xfrm>
            <a:off x="65379" y="1941390"/>
            <a:ext cx="9043125" cy="1040943"/>
          </a:xfrm>
          <a:prstGeom prst="rect">
            <a:avLst/>
          </a:prstGeom>
          <a:solidFill>
            <a:srgbClr val="A5A5A5">
              <a:lumMod val="20000"/>
              <a:lumOff val="80000"/>
            </a:srgbClr>
          </a:solidFill>
          <a:ln w="12700" cap="flat" cmpd="sng" algn="ctr">
            <a:solidFill>
              <a:srgbClr val="A5A5A5">
                <a:lumMod val="60000"/>
                <a:lumOff val="4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2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7" name="Rectangle 46">
            <a:extLst>
              <a:ext uri="{FF2B5EF4-FFF2-40B4-BE49-F238E27FC236}">
                <a16:creationId xmlns:a16="http://schemas.microsoft.com/office/drawing/2014/main" id="{C82B8A9D-5EF1-47DE-A308-DE9A1103EC0B}"/>
              </a:ext>
            </a:extLst>
          </p:cNvPr>
          <p:cNvSpPr/>
          <p:nvPr/>
        </p:nvSpPr>
        <p:spPr>
          <a:xfrm>
            <a:off x="65379" y="2928636"/>
            <a:ext cx="9043125" cy="1111255"/>
          </a:xfrm>
          <a:prstGeom prst="rect">
            <a:avLst/>
          </a:prstGeom>
          <a:solidFill>
            <a:srgbClr val="A5A5A5">
              <a:lumMod val="40000"/>
              <a:lumOff val="60000"/>
            </a:srgbClr>
          </a:solidFill>
          <a:ln w="12700" cap="flat" cmpd="sng" algn="ctr">
            <a:solidFill>
              <a:srgbClr val="A5A5A5">
                <a:lumMod val="60000"/>
                <a:lumOff val="4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F110D0BB-21C4-41A0-B834-959F6A72C877}"/>
              </a:ext>
            </a:extLst>
          </p:cNvPr>
          <p:cNvSpPr/>
          <p:nvPr/>
        </p:nvSpPr>
        <p:spPr>
          <a:xfrm>
            <a:off x="65379" y="3969580"/>
            <a:ext cx="9043125" cy="1300035"/>
          </a:xfrm>
          <a:prstGeom prst="rect">
            <a:avLst/>
          </a:prstGeom>
          <a:solidFill>
            <a:srgbClr val="A5A5A5">
              <a:lumMod val="20000"/>
              <a:lumOff val="80000"/>
            </a:srgbClr>
          </a:solidFill>
          <a:ln w="12700" cap="flat" cmpd="sng" algn="ctr">
            <a:solidFill>
              <a:srgbClr val="A5A5A5">
                <a:lumMod val="60000"/>
                <a:lumOff val="4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0947CEDC-A400-441F-8C0F-1756374FE467}"/>
              </a:ext>
            </a:extLst>
          </p:cNvPr>
          <p:cNvSpPr/>
          <p:nvPr/>
        </p:nvSpPr>
        <p:spPr>
          <a:xfrm>
            <a:off x="65379" y="5253757"/>
            <a:ext cx="9043125" cy="1090787"/>
          </a:xfrm>
          <a:prstGeom prst="rect">
            <a:avLst/>
          </a:prstGeom>
          <a:solidFill>
            <a:srgbClr val="A5A5A5">
              <a:lumMod val="40000"/>
              <a:lumOff val="60000"/>
            </a:srgbClr>
          </a:solidFill>
          <a:ln w="12700" cap="flat" cmpd="sng" algn="ctr">
            <a:solidFill>
              <a:srgbClr val="A5A5A5">
                <a:lumMod val="60000"/>
                <a:lumOff val="4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2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2" name="Groupe 1">
            <a:extLst>
              <a:ext uri="{FF2B5EF4-FFF2-40B4-BE49-F238E27FC236}">
                <a16:creationId xmlns:a16="http://schemas.microsoft.com/office/drawing/2014/main" id="{5AC5B549-6414-4DB3-8CA6-48CF2729ADDE}"/>
              </a:ext>
            </a:extLst>
          </p:cNvPr>
          <p:cNvGrpSpPr/>
          <p:nvPr/>
        </p:nvGrpSpPr>
        <p:grpSpPr>
          <a:xfrm>
            <a:off x="65379" y="1941389"/>
            <a:ext cx="5618041" cy="987247"/>
            <a:chOff x="65379" y="1941389"/>
            <a:chExt cx="5618041" cy="987247"/>
          </a:xfrm>
        </p:grpSpPr>
        <p:sp>
          <p:nvSpPr>
            <p:cNvPr id="50" name="Rectangle 9">
              <a:extLst>
                <a:ext uri="{FF2B5EF4-FFF2-40B4-BE49-F238E27FC236}">
                  <a16:creationId xmlns:a16="http://schemas.microsoft.com/office/drawing/2014/main" id="{110DA3E4-0770-428E-B725-316298169B9F}"/>
                </a:ext>
              </a:extLst>
            </p:cNvPr>
            <p:cNvSpPr/>
            <p:nvPr/>
          </p:nvSpPr>
          <p:spPr>
            <a:xfrm>
              <a:off x="4106525" y="1941389"/>
              <a:ext cx="1576895" cy="763310"/>
            </a:xfrm>
            <a:custGeom>
              <a:avLst/>
              <a:gdLst>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184408"/>
                <a:gd name="connsiteX1" fmla="*/ 2125980 w 2125980"/>
                <a:gd name="connsiteY1" fmla="*/ 0 h 1184408"/>
                <a:gd name="connsiteX2" fmla="*/ 2125980 w 2125980"/>
                <a:gd name="connsiteY2" fmla="*/ 1006475 h 1184408"/>
                <a:gd name="connsiteX3" fmla="*/ 0 w 2125980"/>
                <a:gd name="connsiteY3" fmla="*/ 1006475 h 1184408"/>
                <a:gd name="connsiteX4" fmla="*/ 0 w 2125980"/>
                <a:gd name="connsiteY4" fmla="*/ 0 h 1184408"/>
                <a:gd name="connsiteX0" fmla="*/ 0 w 2125980"/>
                <a:gd name="connsiteY0" fmla="*/ 0 h 1156499"/>
                <a:gd name="connsiteX1" fmla="*/ 2125980 w 2125980"/>
                <a:gd name="connsiteY1" fmla="*/ 0 h 1156499"/>
                <a:gd name="connsiteX2" fmla="*/ 2125980 w 2125980"/>
                <a:gd name="connsiteY2" fmla="*/ 1006475 h 1156499"/>
                <a:gd name="connsiteX3" fmla="*/ 0 w 2125980"/>
                <a:gd name="connsiteY3" fmla="*/ 1006475 h 1156499"/>
                <a:gd name="connsiteX4" fmla="*/ 0 w 2125980"/>
                <a:gd name="connsiteY4" fmla="*/ 0 h 1156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5980" h="1156499">
                  <a:moveTo>
                    <a:pt x="0" y="0"/>
                  </a:moveTo>
                  <a:lnTo>
                    <a:pt x="2125980" y="0"/>
                  </a:lnTo>
                  <a:lnTo>
                    <a:pt x="2125980" y="1006475"/>
                  </a:lnTo>
                  <a:cubicBezTo>
                    <a:pt x="1371600" y="280262"/>
                    <a:pt x="1028700" y="1577975"/>
                    <a:pt x="0" y="1006475"/>
                  </a:cubicBezTo>
                  <a:lnTo>
                    <a:pt x="0" y="0"/>
                  </a:lnTo>
                  <a:close/>
                </a:path>
              </a:pathLst>
            </a:custGeom>
            <a:solidFill>
              <a:sysClr val="windowText" lastClr="000000"/>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ISO 27000</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Vocabulaire</a:t>
              </a:r>
            </a:p>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FD3091C1-C64D-4374-9968-5BEB7E86EEA8}"/>
                </a:ext>
              </a:extLst>
            </p:cNvPr>
            <p:cNvSpPr/>
            <p:nvPr/>
          </p:nvSpPr>
          <p:spPr>
            <a:xfrm rot="16200000">
              <a:off x="-145647" y="2152415"/>
              <a:ext cx="987247" cy="565195"/>
            </a:xfrm>
            <a:prstGeom prst="rect">
              <a:avLst/>
            </a:prstGeom>
            <a:solidFill>
              <a:srgbClr val="4472C4">
                <a:lumMod val="75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200" b="1" i="0" u="none" strike="noStrike" kern="0" cap="none" spc="0" normalizeH="0" baseline="0" noProof="0" dirty="0">
                  <a:ln>
                    <a:noFill/>
                  </a:ln>
                  <a:solidFill>
                    <a:prstClr val="white"/>
                  </a:solidFill>
                  <a:effectLst/>
                  <a:uLnTx/>
                  <a:uFillTx/>
                  <a:latin typeface="Calibri" panose="020F0502020204030204"/>
                  <a:ea typeface="+mn-ea"/>
                  <a:cs typeface="+mn-cs"/>
                </a:rPr>
                <a:t>Vocabulaire</a:t>
              </a:r>
            </a:p>
          </p:txBody>
        </p:sp>
      </p:grpSp>
      <p:grpSp>
        <p:nvGrpSpPr>
          <p:cNvPr id="3" name="Groupe 2">
            <a:extLst>
              <a:ext uri="{FF2B5EF4-FFF2-40B4-BE49-F238E27FC236}">
                <a16:creationId xmlns:a16="http://schemas.microsoft.com/office/drawing/2014/main" id="{646AF0CC-562B-4AC4-899C-80EB046C06A1}"/>
              </a:ext>
            </a:extLst>
          </p:cNvPr>
          <p:cNvGrpSpPr/>
          <p:nvPr/>
        </p:nvGrpSpPr>
        <p:grpSpPr>
          <a:xfrm>
            <a:off x="65379" y="2978612"/>
            <a:ext cx="8477930" cy="990968"/>
            <a:chOff x="65379" y="2978612"/>
            <a:chExt cx="8477930" cy="990968"/>
          </a:xfrm>
        </p:grpSpPr>
        <p:sp>
          <p:nvSpPr>
            <p:cNvPr id="51" name="Rectangle 9">
              <a:extLst>
                <a:ext uri="{FF2B5EF4-FFF2-40B4-BE49-F238E27FC236}">
                  <a16:creationId xmlns:a16="http://schemas.microsoft.com/office/drawing/2014/main" id="{FC85E680-7309-4E0B-9213-0C26EF2D4753}"/>
                </a:ext>
              </a:extLst>
            </p:cNvPr>
            <p:cNvSpPr/>
            <p:nvPr/>
          </p:nvSpPr>
          <p:spPr>
            <a:xfrm>
              <a:off x="4106525" y="3015562"/>
              <a:ext cx="1576895" cy="763310"/>
            </a:xfrm>
            <a:custGeom>
              <a:avLst/>
              <a:gdLst>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184408"/>
                <a:gd name="connsiteX1" fmla="*/ 2125980 w 2125980"/>
                <a:gd name="connsiteY1" fmla="*/ 0 h 1184408"/>
                <a:gd name="connsiteX2" fmla="*/ 2125980 w 2125980"/>
                <a:gd name="connsiteY2" fmla="*/ 1006475 h 1184408"/>
                <a:gd name="connsiteX3" fmla="*/ 0 w 2125980"/>
                <a:gd name="connsiteY3" fmla="*/ 1006475 h 1184408"/>
                <a:gd name="connsiteX4" fmla="*/ 0 w 2125980"/>
                <a:gd name="connsiteY4" fmla="*/ 0 h 1184408"/>
                <a:gd name="connsiteX0" fmla="*/ 0 w 2125980"/>
                <a:gd name="connsiteY0" fmla="*/ 0 h 1156499"/>
                <a:gd name="connsiteX1" fmla="*/ 2125980 w 2125980"/>
                <a:gd name="connsiteY1" fmla="*/ 0 h 1156499"/>
                <a:gd name="connsiteX2" fmla="*/ 2125980 w 2125980"/>
                <a:gd name="connsiteY2" fmla="*/ 1006475 h 1156499"/>
                <a:gd name="connsiteX3" fmla="*/ 0 w 2125980"/>
                <a:gd name="connsiteY3" fmla="*/ 1006475 h 1156499"/>
                <a:gd name="connsiteX4" fmla="*/ 0 w 2125980"/>
                <a:gd name="connsiteY4" fmla="*/ 0 h 1156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5980" h="1156499">
                  <a:moveTo>
                    <a:pt x="0" y="0"/>
                  </a:moveTo>
                  <a:lnTo>
                    <a:pt x="2125980" y="0"/>
                  </a:lnTo>
                  <a:lnTo>
                    <a:pt x="2125980" y="1006475"/>
                  </a:lnTo>
                  <a:cubicBezTo>
                    <a:pt x="1371600" y="280262"/>
                    <a:pt x="1028700" y="1577975"/>
                    <a:pt x="0" y="1006475"/>
                  </a:cubicBezTo>
                  <a:lnTo>
                    <a:pt x="0" y="0"/>
                  </a:lnTo>
                  <a:close/>
                </a:path>
              </a:pathLst>
            </a:custGeom>
            <a:solidFill>
              <a:sysClr val="windowText" lastClr="000000">
                <a:lumMod val="85000"/>
                <a:lumOff val="15000"/>
              </a:sys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ISO 27001</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Exigences SMSI</a:t>
              </a:r>
            </a:p>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2" name="Rectangle 9">
              <a:extLst>
                <a:ext uri="{FF2B5EF4-FFF2-40B4-BE49-F238E27FC236}">
                  <a16:creationId xmlns:a16="http://schemas.microsoft.com/office/drawing/2014/main" id="{F319DA3D-C262-4AF4-AE71-115EB1CA0AE3}"/>
                </a:ext>
              </a:extLst>
            </p:cNvPr>
            <p:cNvSpPr/>
            <p:nvPr/>
          </p:nvSpPr>
          <p:spPr>
            <a:xfrm>
              <a:off x="6449260" y="2997984"/>
              <a:ext cx="2094049" cy="908439"/>
            </a:xfrm>
            <a:custGeom>
              <a:avLst/>
              <a:gdLst>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184408"/>
                <a:gd name="connsiteX1" fmla="*/ 2125980 w 2125980"/>
                <a:gd name="connsiteY1" fmla="*/ 0 h 1184408"/>
                <a:gd name="connsiteX2" fmla="*/ 2125980 w 2125980"/>
                <a:gd name="connsiteY2" fmla="*/ 1006475 h 1184408"/>
                <a:gd name="connsiteX3" fmla="*/ 0 w 2125980"/>
                <a:gd name="connsiteY3" fmla="*/ 1006475 h 1184408"/>
                <a:gd name="connsiteX4" fmla="*/ 0 w 2125980"/>
                <a:gd name="connsiteY4" fmla="*/ 0 h 1184408"/>
                <a:gd name="connsiteX0" fmla="*/ 0 w 2125980"/>
                <a:gd name="connsiteY0" fmla="*/ 0 h 1156499"/>
                <a:gd name="connsiteX1" fmla="*/ 2125980 w 2125980"/>
                <a:gd name="connsiteY1" fmla="*/ 0 h 1156499"/>
                <a:gd name="connsiteX2" fmla="*/ 2125980 w 2125980"/>
                <a:gd name="connsiteY2" fmla="*/ 1006475 h 1156499"/>
                <a:gd name="connsiteX3" fmla="*/ 0 w 2125980"/>
                <a:gd name="connsiteY3" fmla="*/ 1006475 h 1156499"/>
                <a:gd name="connsiteX4" fmla="*/ 0 w 2125980"/>
                <a:gd name="connsiteY4" fmla="*/ 0 h 1156499"/>
                <a:gd name="connsiteX0" fmla="*/ 0 w 2125980"/>
                <a:gd name="connsiteY0" fmla="*/ 0 h 1187572"/>
                <a:gd name="connsiteX1" fmla="*/ 2125980 w 2125980"/>
                <a:gd name="connsiteY1" fmla="*/ 0 h 1187572"/>
                <a:gd name="connsiteX2" fmla="*/ 2125980 w 2125980"/>
                <a:gd name="connsiteY2" fmla="*/ 1006475 h 1187572"/>
                <a:gd name="connsiteX3" fmla="*/ 0 w 2125980"/>
                <a:gd name="connsiteY3" fmla="*/ 1006475 h 1187572"/>
                <a:gd name="connsiteX4" fmla="*/ 0 w 2125980"/>
                <a:gd name="connsiteY4" fmla="*/ 0 h 1187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5980" h="1187572">
                  <a:moveTo>
                    <a:pt x="0" y="0"/>
                  </a:moveTo>
                  <a:lnTo>
                    <a:pt x="2125980" y="0"/>
                  </a:lnTo>
                  <a:lnTo>
                    <a:pt x="2125980" y="1006475"/>
                  </a:lnTo>
                  <a:cubicBezTo>
                    <a:pt x="872382" y="574895"/>
                    <a:pt x="1028700" y="1577975"/>
                    <a:pt x="0" y="1006475"/>
                  </a:cubicBezTo>
                  <a:lnTo>
                    <a:pt x="0" y="0"/>
                  </a:lnTo>
                  <a:close/>
                </a:path>
              </a:pathLst>
            </a:custGeom>
            <a:solidFill>
              <a:sysClr val="windowText" lastClr="000000">
                <a:lumMod val="85000"/>
                <a:lumOff val="15000"/>
              </a:sys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ISO 27006</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Exigences organisme de certification</a:t>
              </a:r>
            </a:p>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cxnSp>
          <p:nvCxnSpPr>
            <p:cNvPr id="71" name="Connecteur droit avec flèche 70">
              <a:extLst>
                <a:ext uri="{FF2B5EF4-FFF2-40B4-BE49-F238E27FC236}">
                  <a16:creationId xmlns:a16="http://schemas.microsoft.com/office/drawing/2014/main" id="{429C1BE8-A1AC-46A8-B212-9F97B69B3E13}"/>
                </a:ext>
              </a:extLst>
            </p:cNvPr>
            <p:cNvCxnSpPr>
              <a:cxnSpLocks/>
            </p:cNvCxnSpPr>
            <p:nvPr/>
          </p:nvCxnSpPr>
          <p:spPr>
            <a:xfrm flipH="1">
              <a:off x="5683420" y="3356181"/>
              <a:ext cx="765840" cy="1"/>
            </a:xfrm>
            <a:prstGeom prst="straightConnector1">
              <a:avLst/>
            </a:prstGeom>
            <a:noFill/>
            <a:ln w="63500" cap="flat" cmpd="sng" algn="ctr">
              <a:solidFill>
                <a:sysClr val="windowText" lastClr="000000"/>
              </a:solidFill>
              <a:prstDash val="solid"/>
              <a:miter lim="800000"/>
              <a:tailEnd type="triangle"/>
            </a:ln>
            <a:effectLst/>
          </p:spPr>
        </p:cxnSp>
        <p:sp>
          <p:nvSpPr>
            <p:cNvPr id="43" name="Rectangle 42">
              <a:extLst>
                <a:ext uri="{FF2B5EF4-FFF2-40B4-BE49-F238E27FC236}">
                  <a16:creationId xmlns:a16="http://schemas.microsoft.com/office/drawing/2014/main" id="{1EB03B0A-C746-4234-91CF-FC350F434D14}"/>
                </a:ext>
              </a:extLst>
            </p:cNvPr>
            <p:cNvSpPr/>
            <p:nvPr/>
          </p:nvSpPr>
          <p:spPr>
            <a:xfrm rot="16200000">
              <a:off x="-147507" y="3191498"/>
              <a:ext cx="990968" cy="565195"/>
            </a:xfrm>
            <a:prstGeom prst="rect">
              <a:avLst/>
            </a:prstGeom>
            <a:solidFill>
              <a:srgbClr val="4472C4">
                <a:lumMod val="5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200" b="1" i="0" u="none" strike="noStrike" kern="0" cap="none" spc="0" normalizeH="0" baseline="0" noProof="0" dirty="0">
                  <a:ln>
                    <a:noFill/>
                  </a:ln>
                  <a:solidFill>
                    <a:prstClr val="white"/>
                  </a:solidFill>
                  <a:effectLst/>
                  <a:uLnTx/>
                  <a:uFillTx/>
                  <a:latin typeface="Calibri" panose="020F0502020204030204"/>
                  <a:ea typeface="+mn-ea"/>
                  <a:cs typeface="+mn-cs"/>
                </a:rPr>
                <a:t>Exigences</a:t>
              </a:r>
            </a:p>
          </p:txBody>
        </p:sp>
      </p:grpSp>
      <p:grpSp>
        <p:nvGrpSpPr>
          <p:cNvPr id="7" name="Groupe 6">
            <a:extLst>
              <a:ext uri="{FF2B5EF4-FFF2-40B4-BE49-F238E27FC236}">
                <a16:creationId xmlns:a16="http://schemas.microsoft.com/office/drawing/2014/main" id="{8DF1D5C9-3A48-4642-9497-779A8D020EFD}"/>
              </a:ext>
            </a:extLst>
          </p:cNvPr>
          <p:cNvGrpSpPr/>
          <p:nvPr/>
        </p:nvGrpSpPr>
        <p:grpSpPr>
          <a:xfrm>
            <a:off x="65379" y="3744559"/>
            <a:ext cx="8783135" cy="1498930"/>
            <a:chOff x="65379" y="3744559"/>
            <a:chExt cx="8783135" cy="1498930"/>
          </a:xfrm>
        </p:grpSpPr>
        <p:cxnSp>
          <p:nvCxnSpPr>
            <p:cNvPr id="62" name="Connecteur droit 61">
              <a:extLst>
                <a:ext uri="{FF2B5EF4-FFF2-40B4-BE49-F238E27FC236}">
                  <a16:creationId xmlns:a16="http://schemas.microsoft.com/office/drawing/2014/main" id="{09B1A890-8249-4E25-ACFD-035A555DE49C}"/>
                </a:ext>
              </a:extLst>
            </p:cNvPr>
            <p:cNvCxnSpPr>
              <a:cxnSpLocks/>
            </p:cNvCxnSpPr>
            <p:nvPr/>
          </p:nvCxnSpPr>
          <p:spPr>
            <a:xfrm>
              <a:off x="1600777" y="4047596"/>
              <a:ext cx="0" cy="310261"/>
            </a:xfrm>
            <a:prstGeom prst="line">
              <a:avLst/>
            </a:prstGeom>
            <a:noFill/>
            <a:ln w="63500" cap="flat" cmpd="sng" algn="ctr">
              <a:solidFill>
                <a:sysClr val="windowText" lastClr="000000"/>
              </a:solidFill>
              <a:prstDash val="solid"/>
              <a:miter lim="800000"/>
            </a:ln>
            <a:effectLst/>
          </p:spPr>
        </p:cxnSp>
        <p:grpSp>
          <p:nvGrpSpPr>
            <p:cNvPr id="5" name="Groupe 4">
              <a:extLst>
                <a:ext uri="{FF2B5EF4-FFF2-40B4-BE49-F238E27FC236}">
                  <a16:creationId xmlns:a16="http://schemas.microsoft.com/office/drawing/2014/main" id="{B4748736-6D8A-4989-998B-502171673E39}"/>
                </a:ext>
              </a:extLst>
            </p:cNvPr>
            <p:cNvGrpSpPr/>
            <p:nvPr/>
          </p:nvGrpSpPr>
          <p:grpSpPr>
            <a:xfrm>
              <a:off x="65379" y="3744559"/>
              <a:ext cx="8783135" cy="1498930"/>
              <a:chOff x="65379" y="3744559"/>
              <a:chExt cx="8783135" cy="1498930"/>
            </a:xfrm>
          </p:grpSpPr>
          <p:sp>
            <p:nvSpPr>
              <p:cNvPr id="53" name="Rectangle 9">
                <a:extLst>
                  <a:ext uri="{FF2B5EF4-FFF2-40B4-BE49-F238E27FC236}">
                    <a16:creationId xmlns:a16="http://schemas.microsoft.com/office/drawing/2014/main" id="{7DACC2D6-AB0D-4F3B-A763-CB99313FDA10}"/>
                  </a:ext>
                </a:extLst>
              </p:cNvPr>
              <p:cNvSpPr/>
              <p:nvPr/>
            </p:nvSpPr>
            <p:spPr>
              <a:xfrm>
                <a:off x="845349" y="4349549"/>
                <a:ext cx="1458204" cy="884910"/>
              </a:xfrm>
              <a:custGeom>
                <a:avLst/>
                <a:gdLst>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184408"/>
                  <a:gd name="connsiteX1" fmla="*/ 2125980 w 2125980"/>
                  <a:gd name="connsiteY1" fmla="*/ 0 h 1184408"/>
                  <a:gd name="connsiteX2" fmla="*/ 2125980 w 2125980"/>
                  <a:gd name="connsiteY2" fmla="*/ 1006475 h 1184408"/>
                  <a:gd name="connsiteX3" fmla="*/ 0 w 2125980"/>
                  <a:gd name="connsiteY3" fmla="*/ 1006475 h 1184408"/>
                  <a:gd name="connsiteX4" fmla="*/ 0 w 2125980"/>
                  <a:gd name="connsiteY4" fmla="*/ 0 h 1184408"/>
                  <a:gd name="connsiteX0" fmla="*/ 0 w 2125980"/>
                  <a:gd name="connsiteY0" fmla="*/ 0 h 1156499"/>
                  <a:gd name="connsiteX1" fmla="*/ 2125980 w 2125980"/>
                  <a:gd name="connsiteY1" fmla="*/ 0 h 1156499"/>
                  <a:gd name="connsiteX2" fmla="*/ 2125980 w 2125980"/>
                  <a:gd name="connsiteY2" fmla="*/ 1006475 h 1156499"/>
                  <a:gd name="connsiteX3" fmla="*/ 0 w 2125980"/>
                  <a:gd name="connsiteY3" fmla="*/ 1006475 h 1156499"/>
                  <a:gd name="connsiteX4" fmla="*/ 0 w 2125980"/>
                  <a:gd name="connsiteY4" fmla="*/ 0 h 1156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5980" h="1156499">
                    <a:moveTo>
                      <a:pt x="0" y="0"/>
                    </a:moveTo>
                    <a:lnTo>
                      <a:pt x="2125980" y="0"/>
                    </a:lnTo>
                    <a:lnTo>
                      <a:pt x="2125980" y="1006475"/>
                    </a:lnTo>
                    <a:cubicBezTo>
                      <a:pt x="1371600" y="280262"/>
                      <a:pt x="1028700" y="1577975"/>
                      <a:pt x="0" y="1006475"/>
                    </a:cubicBezTo>
                    <a:lnTo>
                      <a:pt x="0" y="0"/>
                    </a:lnTo>
                    <a:close/>
                  </a:path>
                </a:pathLst>
              </a:custGeom>
              <a:solidFill>
                <a:srgbClr val="4472C4">
                  <a:lumMod val="50000"/>
                </a:srgb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ISO 27002</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Code de Pratiques</a:t>
                </a:r>
              </a:p>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4" name="Rectangle 9">
                <a:extLst>
                  <a:ext uri="{FF2B5EF4-FFF2-40B4-BE49-F238E27FC236}">
                    <a16:creationId xmlns:a16="http://schemas.microsoft.com/office/drawing/2014/main" id="{1718C043-114B-4916-AFCD-B2DBECC93723}"/>
                  </a:ext>
                </a:extLst>
              </p:cNvPr>
              <p:cNvSpPr/>
              <p:nvPr/>
            </p:nvSpPr>
            <p:spPr>
              <a:xfrm>
                <a:off x="2523979" y="4357856"/>
                <a:ext cx="1458204" cy="885633"/>
              </a:xfrm>
              <a:custGeom>
                <a:avLst/>
                <a:gdLst>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184408"/>
                  <a:gd name="connsiteX1" fmla="*/ 2125980 w 2125980"/>
                  <a:gd name="connsiteY1" fmla="*/ 0 h 1184408"/>
                  <a:gd name="connsiteX2" fmla="*/ 2125980 w 2125980"/>
                  <a:gd name="connsiteY2" fmla="*/ 1006475 h 1184408"/>
                  <a:gd name="connsiteX3" fmla="*/ 0 w 2125980"/>
                  <a:gd name="connsiteY3" fmla="*/ 1006475 h 1184408"/>
                  <a:gd name="connsiteX4" fmla="*/ 0 w 2125980"/>
                  <a:gd name="connsiteY4" fmla="*/ 0 h 1184408"/>
                  <a:gd name="connsiteX0" fmla="*/ 0 w 2125980"/>
                  <a:gd name="connsiteY0" fmla="*/ 0 h 1156499"/>
                  <a:gd name="connsiteX1" fmla="*/ 2125980 w 2125980"/>
                  <a:gd name="connsiteY1" fmla="*/ 0 h 1156499"/>
                  <a:gd name="connsiteX2" fmla="*/ 2125980 w 2125980"/>
                  <a:gd name="connsiteY2" fmla="*/ 1006475 h 1156499"/>
                  <a:gd name="connsiteX3" fmla="*/ 0 w 2125980"/>
                  <a:gd name="connsiteY3" fmla="*/ 1006475 h 1156499"/>
                  <a:gd name="connsiteX4" fmla="*/ 0 w 2125980"/>
                  <a:gd name="connsiteY4" fmla="*/ 0 h 1156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5980" h="1156499">
                    <a:moveTo>
                      <a:pt x="0" y="0"/>
                    </a:moveTo>
                    <a:lnTo>
                      <a:pt x="2125980" y="0"/>
                    </a:lnTo>
                    <a:lnTo>
                      <a:pt x="2125980" y="1006475"/>
                    </a:lnTo>
                    <a:cubicBezTo>
                      <a:pt x="1371600" y="280262"/>
                      <a:pt x="1028700" y="1577975"/>
                      <a:pt x="0" y="1006475"/>
                    </a:cubicBezTo>
                    <a:lnTo>
                      <a:pt x="0" y="0"/>
                    </a:lnTo>
                    <a:close/>
                  </a:path>
                </a:pathLst>
              </a:custGeom>
              <a:solidFill>
                <a:srgbClr val="4472C4">
                  <a:lumMod val="50000"/>
                </a:srgb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ISO 27003</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Guide de mise en œuvre</a:t>
                </a:r>
              </a:p>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5" name="Rectangle 9">
                <a:extLst>
                  <a:ext uri="{FF2B5EF4-FFF2-40B4-BE49-F238E27FC236}">
                    <a16:creationId xmlns:a16="http://schemas.microsoft.com/office/drawing/2014/main" id="{977E11ED-D2E9-43F0-84A8-EB4DCD77B4DC}"/>
                  </a:ext>
                </a:extLst>
              </p:cNvPr>
              <p:cNvSpPr/>
              <p:nvPr/>
            </p:nvSpPr>
            <p:spPr>
              <a:xfrm>
                <a:off x="4199783" y="4349549"/>
                <a:ext cx="1240604" cy="763310"/>
              </a:xfrm>
              <a:custGeom>
                <a:avLst/>
                <a:gdLst>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184408"/>
                  <a:gd name="connsiteX1" fmla="*/ 2125980 w 2125980"/>
                  <a:gd name="connsiteY1" fmla="*/ 0 h 1184408"/>
                  <a:gd name="connsiteX2" fmla="*/ 2125980 w 2125980"/>
                  <a:gd name="connsiteY2" fmla="*/ 1006475 h 1184408"/>
                  <a:gd name="connsiteX3" fmla="*/ 0 w 2125980"/>
                  <a:gd name="connsiteY3" fmla="*/ 1006475 h 1184408"/>
                  <a:gd name="connsiteX4" fmla="*/ 0 w 2125980"/>
                  <a:gd name="connsiteY4" fmla="*/ 0 h 1184408"/>
                  <a:gd name="connsiteX0" fmla="*/ 0 w 2125980"/>
                  <a:gd name="connsiteY0" fmla="*/ 0 h 1156499"/>
                  <a:gd name="connsiteX1" fmla="*/ 2125980 w 2125980"/>
                  <a:gd name="connsiteY1" fmla="*/ 0 h 1156499"/>
                  <a:gd name="connsiteX2" fmla="*/ 2125980 w 2125980"/>
                  <a:gd name="connsiteY2" fmla="*/ 1006475 h 1156499"/>
                  <a:gd name="connsiteX3" fmla="*/ 0 w 2125980"/>
                  <a:gd name="connsiteY3" fmla="*/ 1006475 h 1156499"/>
                  <a:gd name="connsiteX4" fmla="*/ 0 w 2125980"/>
                  <a:gd name="connsiteY4" fmla="*/ 0 h 1156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5980" h="1156499">
                    <a:moveTo>
                      <a:pt x="0" y="0"/>
                    </a:moveTo>
                    <a:lnTo>
                      <a:pt x="2125980" y="0"/>
                    </a:lnTo>
                    <a:lnTo>
                      <a:pt x="2125980" y="1006475"/>
                    </a:lnTo>
                    <a:cubicBezTo>
                      <a:pt x="1371600" y="280262"/>
                      <a:pt x="1028700" y="1577975"/>
                      <a:pt x="0" y="1006475"/>
                    </a:cubicBezTo>
                    <a:lnTo>
                      <a:pt x="0" y="0"/>
                    </a:lnTo>
                    <a:close/>
                  </a:path>
                </a:pathLst>
              </a:custGeom>
              <a:solidFill>
                <a:srgbClr val="4472C4">
                  <a:lumMod val="50000"/>
                </a:srgb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ISO 27004</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Mesure           </a:t>
                </a:r>
              </a:p>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6" name="Rectangle 9">
                <a:extLst>
                  <a:ext uri="{FF2B5EF4-FFF2-40B4-BE49-F238E27FC236}">
                    <a16:creationId xmlns:a16="http://schemas.microsoft.com/office/drawing/2014/main" id="{CFCCB0D1-7EC8-4504-8514-9F4E396F222C}"/>
                  </a:ext>
                </a:extLst>
              </p:cNvPr>
              <p:cNvSpPr/>
              <p:nvPr/>
            </p:nvSpPr>
            <p:spPr>
              <a:xfrm>
                <a:off x="5663639" y="4349549"/>
                <a:ext cx="1540157" cy="763310"/>
              </a:xfrm>
              <a:custGeom>
                <a:avLst/>
                <a:gdLst>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184408"/>
                  <a:gd name="connsiteX1" fmla="*/ 2125980 w 2125980"/>
                  <a:gd name="connsiteY1" fmla="*/ 0 h 1184408"/>
                  <a:gd name="connsiteX2" fmla="*/ 2125980 w 2125980"/>
                  <a:gd name="connsiteY2" fmla="*/ 1006475 h 1184408"/>
                  <a:gd name="connsiteX3" fmla="*/ 0 w 2125980"/>
                  <a:gd name="connsiteY3" fmla="*/ 1006475 h 1184408"/>
                  <a:gd name="connsiteX4" fmla="*/ 0 w 2125980"/>
                  <a:gd name="connsiteY4" fmla="*/ 0 h 1184408"/>
                  <a:gd name="connsiteX0" fmla="*/ 0 w 2125980"/>
                  <a:gd name="connsiteY0" fmla="*/ 0 h 1156499"/>
                  <a:gd name="connsiteX1" fmla="*/ 2125980 w 2125980"/>
                  <a:gd name="connsiteY1" fmla="*/ 0 h 1156499"/>
                  <a:gd name="connsiteX2" fmla="*/ 2125980 w 2125980"/>
                  <a:gd name="connsiteY2" fmla="*/ 1006475 h 1156499"/>
                  <a:gd name="connsiteX3" fmla="*/ 0 w 2125980"/>
                  <a:gd name="connsiteY3" fmla="*/ 1006475 h 1156499"/>
                  <a:gd name="connsiteX4" fmla="*/ 0 w 2125980"/>
                  <a:gd name="connsiteY4" fmla="*/ 0 h 1156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5980" h="1156499">
                    <a:moveTo>
                      <a:pt x="0" y="0"/>
                    </a:moveTo>
                    <a:lnTo>
                      <a:pt x="2125980" y="0"/>
                    </a:lnTo>
                    <a:lnTo>
                      <a:pt x="2125980" y="1006475"/>
                    </a:lnTo>
                    <a:cubicBezTo>
                      <a:pt x="1371600" y="280262"/>
                      <a:pt x="1028700" y="1577975"/>
                      <a:pt x="0" y="1006475"/>
                    </a:cubicBezTo>
                    <a:lnTo>
                      <a:pt x="0" y="0"/>
                    </a:lnTo>
                    <a:close/>
                  </a:path>
                </a:pathLst>
              </a:custGeom>
              <a:solidFill>
                <a:srgbClr val="4472C4">
                  <a:lumMod val="50000"/>
                </a:srgb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ISO 27005</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Gestion du risque</a:t>
                </a:r>
              </a:p>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60" name="Rectangle 9">
                <a:extLst>
                  <a:ext uri="{FF2B5EF4-FFF2-40B4-BE49-F238E27FC236}">
                    <a16:creationId xmlns:a16="http://schemas.microsoft.com/office/drawing/2014/main" id="{4185980A-5E13-42C3-B1FD-B518EF9B2259}"/>
                  </a:ext>
                </a:extLst>
              </p:cNvPr>
              <p:cNvSpPr/>
              <p:nvPr/>
            </p:nvSpPr>
            <p:spPr>
              <a:xfrm>
                <a:off x="7427048" y="4349549"/>
                <a:ext cx="1421466" cy="763310"/>
              </a:xfrm>
              <a:custGeom>
                <a:avLst/>
                <a:gdLst>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184408"/>
                  <a:gd name="connsiteX1" fmla="*/ 2125980 w 2125980"/>
                  <a:gd name="connsiteY1" fmla="*/ 0 h 1184408"/>
                  <a:gd name="connsiteX2" fmla="*/ 2125980 w 2125980"/>
                  <a:gd name="connsiteY2" fmla="*/ 1006475 h 1184408"/>
                  <a:gd name="connsiteX3" fmla="*/ 0 w 2125980"/>
                  <a:gd name="connsiteY3" fmla="*/ 1006475 h 1184408"/>
                  <a:gd name="connsiteX4" fmla="*/ 0 w 2125980"/>
                  <a:gd name="connsiteY4" fmla="*/ 0 h 1184408"/>
                  <a:gd name="connsiteX0" fmla="*/ 0 w 2125980"/>
                  <a:gd name="connsiteY0" fmla="*/ 0 h 1156499"/>
                  <a:gd name="connsiteX1" fmla="*/ 2125980 w 2125980"/>
                  <a:gd name="connsiteY1" fmla="*/ 0 h 1156499"/>
                  <a:gd name="connsiteX2" fmla="*/ 2125980 w 2125980"/>
                  <a:gd name="connsiteY2" fmla="*/ 1006475 h 1156499"/>
                  <a:gd name="connsiteX3" fmla="*/ 0 w 2125980"/>
                  <a:gd name="connsiteY3" fmla="*/ 1006475 h 1156499"/>
                  <a:gd name="connsiteX4" fmla="*/ 0 w 2125980"/>
                  <a:gd name="connsiteY4" fmla="*/ 0 h 1156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5980" h="1156499">
                    <a:moveTo>
                      <a:pt x="0" y="0"/>
                    </a:moveTo>
                    <a:lnTo>
                      <a:pt x="2125980" y="0"/>
                    </a:lnTo>
                    <a:lnTo>
                      <a:pt x="2125980" y="1006475"/>
                    </a:lnTo>
                    <a:cubicBezTo>
                      <a:pt x="1371600" y="280262"/>
                      <a:pt x="1028700" y="1577975"/>
                      <a:pt x="0" y="1006475"/>
                    </a:cubicBezTo>
                    <a:lnTo>
                      <a:pt x="0" y="0"/>
                    </a:lnTo>
                    <a:close/>
                  </a:path>
                </a:pathLst>
              </a:custGeom>
              <a:solidFill>
                <a:srgbClr val="4472C4">
                  <a:lumMod val="50000"/>
                </a:srgb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ISO 27007</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Guide d’audit</a:t>
                </a:r>
              </a:p>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cxnSp>
            <p:nvCxnSpPr>
              <p:cNvPr id="61" name="Connecteur droit 60">
                <a:extLst>
                  <a:ext uri="{FF2B5EF4-FFF2-40B4-BE49-F238E27FC236}">
                    <a16:creationId xmlns:a16="http://schemas.microsoft.com/office/drawing/2014/main" id="{BC3EF5B4-9E0B-44A7-9673-65B93F8BF82A}"/>
                  </a:ext>
                </a:extLst>
              </p:cNvPr>
              <p:cNvCxnSpPr/>
              <p:nvPr/>
            </p:nvCxnSpPr>
            <p:spPr>
              <a:xfrm>
                <a:off x="1574450" y="4039891"/>
                <a:ext cx="6714520" cy="0"/>
              </a:xfrm>
              <a:prstGeom prst="line">
                <a:avLst/>
              </a:prstGeom>
              <a:noFill/>
              <a:ln w="63500" cap="flat" cmpd="sng" algn="ctr">
                <a:solidFill>
                  <a:sysClr val="windowText" lastClr="000000"/>
                </a:solidFill>
                <a:prstDash val="solid"/>
                <a:miter lim="800000"/>
              </a:ln>
              <a:effectLst/>
            </p:spPr>
          </p:cxnSp>
          <p:cxnSp>
            <p:nvCxnSpPr>
              <p:cNvPr id="63" name="Connecteur droit 62">
                <a:extLst>
                  <a:ext uri="{FF2B5EF4-FFF2-40B4-BE49-F238E27FC236}">
                    <a16:creationId xmlns:a16="http://schemas.microsoft.com/office/drawing/2014/main" id="{DF482749-7886-4DC6-80D6-D6B3A28B1FB2}"/>
                  </a:ext>
                </a:extLst>
              </p:cNvPr>
              <p:cNvCxnSpPr>
                <a:cxnSpLocks/>
              </p:cNvCxnSpPr>
              <p:nvPr/>
            </p:nvCxnSpPr>
            <p:spPr>
              <a:xfrm>
                <a:off x="3397205" y="4039288"/>
                <a:ext cx="0" cy="310261"/>
              </a:xfrm>
              <a:prstGeom prst="line">
                <a:avLst/>
              </a:prstGeom>
              <a:noFill/>
              <a:ln w="63500" cap="flat" cmpd="sng" algn="ctr">
                <a:solidFill>
                  <a:sysClr val="windowText" lastClr="000000"/>
                </a:solidFill>
                <a:prstDash val="solid"/>
                <a:miter lim="800000"/>
              </a:ln>
              <a:effectLst/>
            </p:spPr>
          </p:cxnSp>
          <p:cxnSp>
            <p:nvCxnSpPr>
              <p:cNvPr id="64" name="Connecteur droit 63">
                <a:extLst>
                  <a:ext uri="{FF2B5EF4-FFF2-40B4-BE49-F238E27FC236}">
                    <a16:creationId xmlns:a16="http://schemas.microsoft.com/office/drawing/2014/main" id="{DA853090-3614-4B90-9033-587A6C31C33A}"/>
                  </a:ext>
                </a:extLst>
              </p:cNvPr>
              <p:cNvCxnSpPr>
                <a:cxnSpLocks/>
              </p:cNvCxnSpPr>
              <p:nvPr/>
            </p:nvCxnSpPr>
            <p:spPr>
              <a:xfrm>
                <a:off x="6449260" y="4047596"/>
                <a:ext cx="0" cy="310261"/>
              </a:xfrm>
              <a:prstGeom prst="line">
                <a:avLst/>
              </a:prstGeom>
              <a:noFill/>
              <a:ln w="63500" cap="flat" cmpd="sng" algn="ctr">
                <a:solidFill>
                  <a:sysClr val="windowText" lastClr="000000"/>
                </a:solidFill>
                <a:prstDash val="solid"/>
                <a:miter lim="800000"/>
              </a:ln>
              <a:effectLst/>
            </p:spPr>
          </p:cxnSp>
          <p:cxnSp>
            <p:nvCxnSpPr>
              <p:cNvPr id="65" name="Connecteur droit 64">
                <a:extLst>
                  <a:ext uri="{FF2B5EF4-FFF2-40B4-BE49-F238E27FC236}">
                    <a16:creationId xmlns:a16="http://schemas.microsoft.com/office/drawing/2014/main" id="{8834C6AC-482D-48B9-98D6-15010C7661FC}"/>
                  </a:ext>
                </a:extLst>
              </p:cNvPr>
              <p:cNvCxnSpPr>
                <a:cxnSpLocks/>
              </p:cNvCxnSpPr>
              <p:nvPr/>
            </p:nvCxnSpPr>
            <p:spPr>
              <a:xfrm>
                <a:off x="8276031" y="4047596"/>
                <a:ext cx="0" cy="310261"/>
              </a:xfrm>
              <a:prstGeom prst="line">
                <a:avLst/>
              </a:prstGeom>
              <a:noFill/>
              <a:ln w="63500" cap="flat" cmpd="sng" algn="ctr">
                <a:solidFill>
                  <a:sysClr val="windowText" lastClr="000000"/>
                </a:solidFill>
                <a:prstDash val="solid"/>
                <a:miter lim="800000"/>
              </a:ln>
              <a:effectLst/>
            </p:spPr>
          </p:cxnSp>
          <p:cxnSp>
            <p:nvCxnSpPr>
              <p:cNvPr id="69" name="Connecteur droit avec flèche 68">
                <a:extLst>
                  <a:ext uri="{FF2B5EF4-FFF2-40B4-BE49-F238E27FC236}">
                    <a16:creationId xmlns:a16="http://schemas.microsoft.com/office/drawing/2014/main" id="{597BCA03-D16E-401B-8156-5A0A2BA11E41}"/>
                  </a:ext>
                </a:extLst>
              </p:cNvPr>
              <p:cNvCxnSpPr>
                <a:cxnSpLocks/>
              </p:cNvCxnSpPr>
              <p:nvPr/>
            </p:nvCxnSpPr>
            <p:spPr>
              <a:xfrm flipV="1">
                <a:off x="4779108" y="3744559"/>
                <a:ext cx="0" cy="604990"/>
              </a:xfrm>
              <a:prstGeom prst="straightConnector1">
                <a:avLst/>
              </a:prstGeom>
              <a:noFill/>
              <a:ln w="63500" cap="flat" cmpd="sng" algn="ctr">
                <a:solidFill>
                  <a:sysClr val="windowText" lastClr="000000"/>
                </a:solidFill>
                <a:prstDash val="solid"/>
                <a:miter lim="800000"/>
                <a:tailEnd type="triangle"/>
              </a:ln>
              <a:effectLst/>
            </p:spPr>
          </p:cxnSp>
          <p:sp>
            <p:nvSpPr>
              <p:cNvPr id="44" name="Rectangle 43">
                <a:extLst>
                  <a:ext uri="{FF2B5EF4-FFF2-40B4-BE49-F238E27FC236}">
                    <a16:creationId xmlns:a16="http://schemas.microsoft.com/office/drawing/2014/main" id="{EF9A1D7E-1DBA-4E6D-8727-B66DA9374B0F}"/>
                  </a:ext>
                </a:extLst>
              </p:cNvPr>
              <p:cNvSpPr/>
              <p:nvPr/>
            </p:nvSpPr>
            <p:spPr>
              <a:xfrm rot="16200000">
                <a:off x="-253641" y="4350243"/>
                <a:ext cx="1203235" cy="565195"/>
              </a:xfrm>
              <a:prstGeom prst="rect">
                <a:avLst/>
              </a:prstGeom>
              <a:solidFill>
                <a:srgbClr val="4472C4">
                  <a:lumMod val="5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200" b="1" i="0" u="none" strike="noStrike" kern="0" cap="none" spc="0" normalizeH="0" baseline="0" noProof="0" dirty="0">
                    <a:ln>
                      <a:noFill/>
                    </a:ln>
                    <a:solidFill>
                      <a:prstClr val="white"/>
                    </a:solidFill>
                    <a:effectLst/>
                    <a:uLnTx/>
                    <a:uFillTx/>
                    <a:latin typeface="Calibri" panose="020F0502020204030204"/>
                    <a:ea typeface="+mn-ea"/>
                    <a:cs typeface="+mn-cs"/>
                  </a:rPr>
                  <a:t>Guides </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200" b="1" i="0" u="none" strike="noStrike" kern="0" cap="none" spc="0" normalizeH="0" baseline="0" noProof="0" dirty="0">
                    <a:ln>
                      <a:noFill/>
                    </a:ln>
                    <a:solidFill>
                      <a:prstClr val="white"/>
                    </a:solidFill>
                    <a:effectLst/>
                    <a:uLnTx/>
                    <a:uFillTx/>
                    <a:latin typeface="Calibri" panose="020F0502020204030204"/>
                    <a:ea typeface="+mn-ea"/>
                    <a:cs typeface="+mn-cs"/>
                  </a:rPr>
                  <a:t>généraux</a:t>
                </a:r>
              </a:p>
            </p:txBody>
          </p:sp>
        </p:grpSp>
      </p:grpSp>
      <p:grpSp>
        <p:nvGrpSpPr>
          <p:cNvPr id="6" name="Groupe 5">
            <a:extLst>
              <a:ext uri="{FF2B5EF4-FFF2-40B4-BE49-F238E27FC236}">
                <a16:creationId xmlns:a16="http://schemas.microsoft.com/office/drawing/2014/main" id="{8F6101E7-0E40-41CB-B967-072751B1FA4E}"/>
              </a:ext>
            </a:extLst>
          </p:cNvPr>
          <p:cNvGrpSpPr/>
          <p:nvPr/>
        </p:nvGrpSpPr>
        <p:grpSpPr>
          <a:xfrm>
            <a:off x="65378" y="5138742"/>
            <a:ext cx="7070594" cy="1242586"/>
            <a:chOff x="65378" y="5138742"/>
            <a:chExt cx="7070594" cy="1242586"/>
          </a:xfrm>
        </p:grpSpPr>
        <p:sp>
          <p:nvSpPr>
            <p:cNvPr id="57" name="Rectangle 9">
              <a:extLst>
                <a:ext uri="{FF2B5EF4-FFF2-40B4-BE49-F238E27FC236}">
                  <a16:creationId xmlns:a16="http://schemas.microsoft.com/office/drawing/2014/main" id="{F4D14989-256B-4B53-AC63-0537621CA8A0}"/>
                </a:ext>
              </a:extLst>
            </p:cNvPr>
            <p:cNvSpPr/>
            <p:nvPr/>
          </p:nvSpPr>
          <p:spPr>
            <a:xfrm>
              <a:off x="845348" y="5596368"/>
              <a:ext cx="1918839" cy="763310"/>
            </a:xfrm>
            <a:custGeom>
              <a:avLst/>
              <a:gdLst>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184408"/>
                <a:gd name="connsiteX1" fmla="*/ 2125980 w 2125980"/>
                <a:gd name="connsiteY1" fmla="*/ 0 h 1184408"/>
                <a:gd name="connsiteX2" fmla="*/ 2125980 w 2125980"/>
                <a:gd name="connsiteY2" fmla="*/ 1006475 h 1184408"/>
                <a:gd name="connsiteX3" fmla="*/ 0 w 2125980"/>
                <a:gd name="connsiteY3" fmla="*/ 1006475 h 1184408"/>
                <a:gd name="connsiteX4" fmla="*/ 0 w 2125980"/>
                <a:gd name="connsiteY4" fmla="*/ 0 h 1184408"/>
                <a:gd name="connsiteX0" fmla="*/ 0 w 2125980"/>
                <a:gd name="connsiteY0" fmla="*/ 0 h 1156499"/>
                <a:gd name="connsiteX1" fmla="*/ 2125980 w 2125980"/>
                <a:gd name="connsiteY1" fmla="*/ 0 h 1156499"/>
                <a:gd name="connsiteX2" fmla="*/ 2125980 w 2125980"/>
                <a:gd name="connsiteY2" fmla="*/ 1006475 h 1156499"/>
                <a:gd name="connsiteX3" fmla="*/ 0 w 2125980"/>
                <a:gd name="connsiteY3" fmla="*/ 1006475 h 1156499"/>
                <a:gd name="connsiteX4" fmla="*/ 0 w 2125980"/>
                <a:gd name="connsiteY4" fmla="*/ 0 h 1156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5980" h="1156499">
                  <a:moveTo>
                    <a:pt x="0" y="0"/>
                  </a:moveTo>
                  <a:lnTo>
                    <a:pt x="2125980" y="0"/>
                  </a:lnTo>
                  <a:lnTo>
                    <a:pt x="2125980" y="1006475"/>
                  </a:lnTo>
                  <a:cubicBezTo>
                    <a:pt x="1371600" y="280262"/>
                    <a:pt x="1028700" y="1577975"/>
                    <a:pt x="0" y="1006475"/>
                  </a:cubicBezTo>
                  <a:lnTo>
                    <a:pt x="0" y="0"/>
                  </a:lnTo>
                  <a:close/>
                </a:path>
              </a:pathLst>
            </a:custGeom>
            <a:solidFill>
              <a:srgbClr val="002060"/>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ISO 27011</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Télécommunications</a:t>
              </a:r>
            </a:p>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8" name="Rectangle 9">
              <a:extLst>
                <a:ext uri="{FF2B5EF4-FFF2-40B4-BE49-F238E27FC236}">
                  <a16:creationId xmlns:a16="http://schemas.microsoft.com/office/drawing/2014/main" id="{511FA2F1-C8CA-4A86-85F9-A9BE33F335C1}"/>
                </a:ext>
              </a:extLst>
            </p:cNvPr>
            <p:cNvSpPr/>
            <p:nvPr/>
          </p:nvSpPr>
          <p:spPr>
            <a:xfrm>
              <a:off x="3202213" y="5579273"/>
              <a:ext cx="1576895" cy="763310"/>
            </a:xfrm>
            <a:custGeom>
              <a:avLst/>
              <a:gdLst>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184408"/>
                <a:gd name="connsiteX1" fmla="*/ 2125980 w 2125980"/>
                <a:gd name="connsiteY1" fmla="*/ 0 h 1184408"/>
                <a:gd name="connsiteX2" fmla="*/ 2125980 w 2125980"/>
                <a:gd name="connsiteY2" fmla="*/ 1006475 h 1184408"/>
                <a:gd name="connsiteX3" fmla="*/ 0 w 2125980"/>
                <a:gd name="connsiteY3" fmla="*/ 1006475 h 1184408"/>
                <a:gd name="connsiteX4" fmla="*/ 0 w 2125980"/>
                <a:gd name="connsiteY4" fmla="*/ 0 h 1184408"/>
                <a:gd name="connsiteX0" fmla="*/ 0 w 2125980"/>
                <a:gd name="connsiteY0" fmla="*/ 0 h 1156499"/>
                <a:gd name="connsiteX1" fmla="*/ 2125980 w 2125980"/>
                <a:gd name="connsiteY1" fmla="*/ 0 h 1156499"/>
                <a:gd name="connsiteX2" fmla="*/ 2125980 w 2125980"/>
                <a:gd name="connsiteY2" fmla="*/ 1006475 h 1156499"/>
                <a:gd name="connsiteX3" fmla="*/ 0 w 2125980"/>
                <a:gd name="connsiteY3" fmla="*/ 1006475 h 1156499"/>
                <a:gd name="connsiteX4" fmla="*/ 0 w 2125980"/>
                <a:gd name="connsiteY4" fmla="*/ 0 h 1156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5980" h="1156499">
                  <a:moveTo>
                    <a:pt x="0" y="0"/>
                  </a:moveTo>
                  <a:lnTo>
                    <a:pt x="2125980" y="0"/>
                  </a:lnTo>
                  <a:lnTo>
                    <a:pt x="2125980" y="1006475"/>
                  </a:lnTo>
                  <a:cubicBezTo>
                    <a:pt x="1371600" y="280262"/>
                    <a:pt x="1028700" y="1577975"/>
                    <a:pt x="0" y="1006475"/>
                  </a:cubicBezTo>
                  <a:lnTo>
                    <a:pt x="0" y="0"/>
                  </a:lnTo>
                  <a:close/>
                </a:path>
              </a:pathLst>
            </a:custGeom>
            <a:solidFill>
              <a:srgbClr val="002060"/>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ISO 27799</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Santé</a:t>
              </a:r>
            </a:p>
          </p:txBody>
        </p:sp>
        <p:sp>
          <p:nvSpPr>
            <p:cNvPr id="59" name="Rectangle 9">
              <a:extLst>
                <a:ext uri="{FF2B5EF4-FFF2-40B4-BE49-F238E27FC236}">
                  <a16:creationId xmlns:a16="http://schemas.microsoft.com/office/drawing/2014/main" id="{DD075F54-CB6D-4DD0-AABC-FE88ABE7DE1E}"/>
                </a:ext>
              </a:extLst>
            </p:cNvPr>
            <p:cNvSpPr/>
            <p:nvPr/>
          </p:nvSpPr>
          <p:spPr>
            <a:xfrm>
              <a:off x="5559077" y="5560354"/>
              <a:ext cx="1576895" cy="820974"/>
            </a:xfrm>
            <a:custGeom>
              <a:avLst/>
              <a:gdLst>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006475"/>
                <a:gd name="connsiteX1" fmla="*/ 2125980 w 2125980"/>
                <a:gd name="connsiteY1" fmla="*/ 0 h 1006475"/>
                <a:gd name="connsiteX2" fmla="*/ 2125980 w 2125980"/>
                <a:gd name="connsiteY2" fmla="*/ 1006475 h 1006475"/>
                <a:gd name="connsiteX3" fmla="*/ 0 w 2125980"/>
                <a:gd name="connsiteY3" fmla="*/ 1006475 h 1006475"/>
                <a:gd name="connsiteX4" fmla="*/ 0 w 2125980"/>
                <a:gd name="connsiteY4" fmla="*/ 0 h 1006475"/>
                <a:gd name="connsiteX0" fmla="*/ 0 w 2125980"/>
                <a:gd name="connsiteY0" fmla="*/ 0 h 1184408"/>
                <a:gd name="connsiteX1" fmla="*/ 2125980 w 2125980"/>
                <a:gd name="connsiteY1" fmla="*/ 0 h 1184408"/>
                <a:gd name="connsiteX2" fmla="*/ 2125980 w 2125980"/>
                <a:gd name="connsiteY2" fmla="*/ 1006475 h 1184408"/>
                <a:gd name="connsiteX3" fmla="*/ 0 w 2125980"/>
                <a:gd name="connsiteY3" fmla="*/ 1006475 h 1184408"/>
                <a:gd name="connsiteX4" fmla="*/ 0 w 2125980"/>
                <a:gd name="connsiteY4" fmla="*/ 0 h 1184408"/>
                <a:gd name="connsiteX0" fmla="*/ 0 w 2125980"/>
                <a:gd name="connsiteY0" fmla="*/ 0 h 1156499"/>
                <a:gd name="connsiteX1" fmla="*/ 2125980 w 2125980"/>
                <a:gd name="connsiteY1" fmla="*/ 0 h 1156499"/>
                <a:gd name="connsiteX2" fmla="*/ 2125980 w 2125980"/>
                <a:gd name="connsiteY2" fmla="*/ 1006475 h 1156499"/>
                <a:gd name="connsiteX3" fmla="*/ 0 w 2125980"/>
                <a:gd name="connsiteY3" fmla="*/ 1006475 h 1156499"/>
                <a:gd name="connsiteX4" fmla="*/ 0 w 2125980"/>
                <a:gd name="connsiteY4" fmla="*/ 0 h 1156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5980" h="1156499">
                  <a:moveTo>
                    <a:pt x="0" y="0"/>
                  </a:moveTo>
                  <a:lnTo>
                    <a:pt x="2125980" y="0"/>
                  </a:lnTo>
                  <a:lnTo>
                    <a:pt x="2125980" y="1006475"/>
                  </a:lnTo>
                  <a:cubicBezTo>
                    <a:pt x="1371600" y="280262"/>
                    <a:pt x="1028700" y="1577975"/>
                    <a:pt x="0" y="1006475"/>
                  </a:cubicBezTo>
                  <a:lnTo>
                    <a:pt x="0" y="0"/>
                  </a:lnTo>
                  <a:close/>
                </a:path>
              </a:pathLst>
            </a:custGeom>
            <a:solidFill>
              <a:srgbClr val="002060"/>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ISO 270XX</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rPr>
                <a:t>Autres  </a:t>
              </a:r>
            </a:p>
          </p:txBody>
        </p:sp>
        <p:cxnSp>
          <p:nvCxnSpPr>
            <p:cNvPr id="66" name="Connecteur droit 65">
              <a:extLst>
                <a:ext uri="{FF2B5EF4-FFF2-40B4-BE49-F238E27FC236}">
                  <a16:creationId xmlns:a16="http://schemas.microsoft.com/office/drawing/2014/main" id="{12AC20AA-4DFD-40D8-BDCA-CB95CEB35281}"/>
                </a:ext>
              </a:extLst>
            </p:cNvPr>
            <p:cNvCxnSpPr>
              <a:cxnSpLocks/>
            </p:cNvCxnSpPr>
            <p:nvPr/>
          </p:nvCxnSpPr>
          <p:spPr>
            <a:xfrm>
              <a:off x="1458585" y="5419267"/>
              <a:ext cx="4888939" cy="0"/>
            </a:xfrm>
            <a:prstGeom prst="line">
              <a:avLst/>
            </a:prstGeom>
            <a:noFill/>
            <a:ln w="63500" cap="flat" cmpd="sng" algn="ctr">
              <a:solidFill>
                <a:sysClr val="windowText" lastClr="000000"/>
              </a:solidFill>
              <a:prstDash val="solid"/>
              <a:miter lim="800000"/>
            </a:ln>
            <a:effectLst/>
          </p:spPr>
        </p:cxnSp>
        <p:cxnSp>
          <p:nvCxnSpPr>
            <p:cNvPr id="67" name="Connecteur droit 66">
              <a:extLst>
                <a:ext uri="{FF2B5EF4-FFF2-40B4-BE49-F238E27FC236}">
                  <a16:creationId xmlns:a16="http://schemas.microsoft.com/office/drawing/2014/main" id="{5176B39A-ABCB-446F-BCA0-73D86FF32A6E}"/>
                </a:ext>
              </a:extLst>
            </p:cNvPr>
            <p:cNvCxnSpPr>
              <a:cxnSpLocks/>
            </p:cNvCxnSpPr>
            <p:nvPr/>
          </p:nvCxnSpPr>
          <p:spPr>
            <a:xfrm>
              <a:off x="3982183" y="5441237"/>
              <a:ext cx="8478" cy="174636"/>
            </a:xfrm>
            <a:prstGeom prst="line">
              <a:avLst/>
            </a:prstGeom>
            <a:noFill/>
            <a:ln w="63500" cap="flat" cmpd="sng" algn="ctr">
              <a:solidFill>
                <a:sysClr val="windowText" lastClr="000000"/>
              </a:solidFill>
              <a:prstDash val="solid"/>
              <a:miter lim="800000"/>
            </a:ln>
            <a:effectLst/>
          </p:spPr>
        </p:cxnSp>
        <p:cxnSp>
          <p:nvCxnSpPr>
            <p:cNvPr id="68" name="Connecteur droit 67">
              <a:extLst>
                <a:ext uri="{FF2B5EF4-FFF2-40B4-BE49-F238E27FC236}">
                  <a16:creationId xmlns:a16="http://schemas.microsoft.com/office/drawing/2014/main" id="{80B53998-C916-4BB5-899F-9AD479DA7DF4}"/>
                </a:ext>
              </a:extLst>
            </p:cNvPr>
            <p:cNvCxnSpPr>
              <a:cxnSpLocks/>
            </p:cNvCxnSpPr>
            <p:nvPr/>
          </p:nvCxnSpPr>
          <p:spPr>
            <a:xfrm>
              <a:off x="6313613" y="5419267"/>
              <a:ext cx="0" cy="196606"/>
            </a:xfrm>
            <a:prstGeom prst="line">
              <a:avLst/>
            </a:prstGeom>
            <a:noFill/>
            <a:ln w="63500" cap="flat" cmpd="sng" algn="ctr">
              <a:solidFill>
                <a:sysClr val="windowText" lastClr="000000"/>
              </a:solidFill>
              <a:prstDash val="solid"/>
              <a:miter lim="800000"/>
            </a:ln>
            <a:effectLst/>
          </p:spPr>
        </p:cxnSp>
        <p:cxnSp>
          <p:nvCxnSpPr>
            <p:cNvPr id="70" name="Connecteur droit avec flèche 69">
              <a:extLst>
                <a:ext uri="{FF2B5EF4-FFF2-40B4-BE49-F238E27FC236}">
                  <a16:creationId xmlns:a16="http://schemas.microsoft.com/office/drawing/2014/main" id="{A45EB394-3F0B-4B95-AB89-17AAE4ED169C}"/>
                </a:ext>
              </a:extLst>
            </p:cNvPr>
            <p:cNvCxnSpPr>
              <a:cxnSpLocks/>
            </p:cNvCxnSpPr>
            <p:nvPr/>
          </p:nvCxnSpPr>
          <p:spPr>
            <a:xfrm flipV="1">
              <a:off x="1458585" y="5138742"/>
              <a:ext cx="0" cy="477131"/>
            </a:xfrm>
            <a:prstGeom prst="straightConnector1">
              <a:avLst/>
            </a:prstGeom>
            <a:noFill/>
            <a:ln w="63500" cap="flat" cmpd="sng" algn="ctr">
              <a:solidFill>
                <a:sysClr val="windowText" lastClr="000000"/>
              </a:solidFill>
              <a:prstDash val="solid"/>
              <a:miter lim="800000"/>
              <a:tailEnd type="triangle"/>
            </a:ln>
            <a:effectLst/>
          </p:spPr>
        </p:cxnSp>
        <p:sp>
          <p:nvSpPr>
            <p:cNvPr id="45" name="Rectangle 44">
              <a:extLst>
                <a:ext uri="{FF2B5EF4-FFF2-40B4-BE49-F238E27FC236}">
                  <a16:creationId xmlns:a16="http://schemas.microsoft.com/office/drawing/2014/main" id="{3E75141F-DFAF-4F44-BA79-0522A6B78249}"/>
                </a:ext>
              </a:extLst>
            </p:cNvPr>
            <p:cNvSpPr/>
            <p:nvPr/>
          </p:nvSpPr>
          <p:spPr>
            <a:xfrm rot="16200000">
              <a:off x="-187695" y="5541410"/>
              <a:ext cx="1071342" cy="565195"/>
            </a:xfrm>
            <a:prstGeom prst="rect">
              <a:avLst/>
            </a:prstGeom>
            <a:solidFill>
              <a:srgbClr val="4472C4">
                <a:lumMod val="5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200" b="1" i="0" u="none" strike="noStrike" kern="0" cap="none" spc="0" normalizeH="0" baseline="0" noProof="0" dirty="0">
                  <a:ln>
                    <a:noFill/>
                  </a:ln>
                  <a:solidFill>
                    <a:prstClr val="white"/>
                  </a:solidFill>
                  <a:effectLst/>
                  <a:uLnTx/>
                  <a:uFillTx/>
                  <a:latin typeface="Calibri" panose="020F0502020204030204"/>
                  <a:ea typeface="+mn-ea"/>
                  <a:cs typeface="+mn-cs"/>
                </a:rPr>
                <a:t>Guides</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1200" b="1" i="0" u="none" strike="noStrike" kern="0" cap="none" spc="0" normalizeH="0" baseline="0" noProof="0" dirty="0">
                  <a:ln>
                    <a:noFill/>
                  </a:ln>
                  <a:solidFill>
                    <a:prstClr val="white"/>
                  </a:solidFill>
                  <a:effectLst/>
                  <a:uLnTx/>
                  <a:uFillTx/>
                  <a:latin typeface="Calibri" panose="020F0502020204030204"/>
                  <a:ea typeface="+mn-ea"/>
                  <a:cs typeface="+mn-cs"/>
                </a:rPr>
                <a:t>d’industrie</a:t>
              </a:r>
            </a:p>
          </p:txBody>
        </p:sp>
      </p:grpSp>
    </p:spTree>
    <p:extLst>
      <p:ext uri="{BB962C8B-B14F-4D97-AF65-F5344CB8AC3E}">
        <p14:creationId xmlns:p14="http://schemas.microsoft.com/office/powerpoint/2010/main" val="3429262069"/>
      </p:ext>
    </p:extLst>
  </p:cSld>
  <p:clrMapOvr>
    <a:masterClrMapping/>
  </p:clrMapOvr>
  <p:transition spd="slow">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re 1">
            <a:extLst>
              <a:ext uri="{FF2B5EF4-FFF2-40B4-BE49-F238E27FC236}">
                <a16:creationId xmlns:a16="http://schemas.microsoft.com/office/drawing/2014/main" id="{24903AEF-C1AE-41A9-A2FC-D861BE5D20BF}"/>
              </a:ext>
            </a:extLst>
          </p:cNvPr>
          <p:cNvSpPr>
            <a:spLocks noGrp="1"/>
          </p:cNvSpPr>
          <p:nvPr>
            <p:ph type="title"/>
          </p:nvPr>
        </p:nvSpPr>
        <p:spPr>
          <a:xfrm>
            <a:off x="3347864" y="0"/>
            <a:ext cx="5688632" cy="1006475"/>
          </a:xfrm>
        </p:spPr>
        <p:txBody>
          <a:bodyPr/>
          <a:lstStyle/>
          <a:p>
            <a:r>
              <a:rPr lang="fr-ML" b="1" dirty="0">
                <a:solidFill>
                  <a:schemeClr val="bg1"/>
                </a:solidFill>
                <a:latin typeface="Calibri" panose="020F0502020204030204" pitchFamily="34" charset="0"/>
                <a:cs typeface="Calibri" panose="020F0502020204030204" pitchFamily="34" charset="0"/>
              </a:rPr>
              <a:t>Introduction</a:t>
            </a:r>
          </a:p>
        </p:txBody>
      </p:sp>
      <p:sp>
        <p:nvSpPr>
          <p:cNvPr id="29" name="Espace réservé du contenu 2">
            <a:extLst>
              <a:ext uri="{FF2B5EF4-FFF2-40B4-BE49-F238E27FC236}">
                <a16:creationId xmlns:a16="http://schemas.microsoft.com/office/drawing/2014/main" id="{D770E258-8BF6-4F5A-947A-8C742C80A71B}"/>
              </a:ext>
            </a:extLst>
          </p:cNvPr>
          <p:cNvSpPr>
            <a:spLocks noGrp="1"/>
          </p:cNvSpPr>
          <p:nvPr>
            <p:ph idx="1"/>
          </p:nvPr>
        </p:nvSpPr>
        <p:spPr>
          <a:xfrm>
            <a:off x="179512" y="1915195"/>
            <a:ext cx="8964488" cy="1693006"/>
          </a:xfrm>
        </p:spPr>
        <p:txBody>
          <a:body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Dans les années 1990, la sécurité des SI est devenue un enjeu important pour les entreprises, les référentiels se sont multipliés. On ne comptait plus les guides de sécurité, les méthodologies d’appréciation des risques, les manuels de recommandations, etc. </a:t>
            </a:r>
            <a:endParaRPr lang="fr-ML" sz="3600" dirty="0">
              <a:solidFill>
                <a:srgbClr val="000000"/>
              </a:solidFill>
            </a:endParaRPr>
          </a:p>
        </p:txBody>
      </p:sp>
      <p:sp>
        <p:nvSpPr>
          <p:cNvPr id="31" name="Espace réservé du contenu 2">
            <a:extLst>
              <a:ext uri="{FF2B5EF4-FFF2-40B4-BE49-F238E27FC236}">
                <a16:creationId xmlns:a16="http://schemas.microsoft.com/office/drawing/2014/main" id="{5BA2C495-DC1E-4436-AEA6-ACFE40B23DA2}"/>
              </a:ext>
            </a:extLst>
          </p:cNvPr>
          <p:cNvSpPr txBox="1">
            <a:spLocks/>
          </p:cNvSpPr>
          <p:nvPr/>
        </p:nvSpPr>
        <p:spPr bwMode="auto">
          <a:xfrm>
            <a:off x="163038" y="3761218"/>
            <a:ext cx="8873458" cy="1937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Chaque administration, chaque grand constructeur ou éditeur publiait des ouvrages liés à la sécurité des SI. Le RSSI avait l’embarras de choix. Ces guides étaient le plus souvent orientés technique, donnant des directives sur comment sécuriser tels systèmes, tels réseaux et telles applications. D’autres avaient une approche plus organisationnelle.</a:t>
            </a:r>
          </a:p>
        </p:txBody>
      </p:sp>
      <p:sp>
        <p:nvSpPr>
          <p:cNvPr id="32" name="Titre 1">
            <a:extLst>
              <a:ext uri="{FF2B5EF4-FFF2-40B4-BE49-F238E27FC236}">
                <a16:creationId xmlns:a16="http://schemas.microsoft.com/office/drawing/2014/main" id="{1E71E271-AE2F-4E26-BC30-7550A331585B}"/>
              </a:ext>
            </a:extLst>
          </p:cNvPr>
          <p:cNvSpPr txBox="1">
            <a:spLocks/>
          </p:cNvSpPr>
          <p:nvPr/>
        </p:nvSpPr>
        <p:spPr bwMode="auto">
          <a:xfrm>
            <a:off x="270542" y="1061737"/>
            <a:ext cx="6568440" cy="700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r>
              <a:rPr lang="fr-ML" b="1">
                <a:solidFill>
                  <a:srgbClr val="000000"/>
                </a:solidFill>
                <a:latin typeface="Calibri" panose="020F0502020204030204" pitchFamily="34" charset="0"/>
                <a:cs typeface="Calibri" panose="020F0502020204030204" pitchFamily="34" charset="0"/>
              </a:rPr>
              <a:t>ISO 27001</a:t>
            </a:r>
            <a:endParaRPr lang="fr-ML" b="1" dirty="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4007251"/>
      </p:ext>
    </p:extLst>
  </p:cSld>
  <p:clrMapOvr>
    <a:masterClrMapping/>
  </p:clrMapOvr>
  <mc:AlternateContent xmlns:mc="http://schemas.openxmlformats.org/markup-compatibility/2006">
    <mc:Choice xmlns:p14="http://schemas.microsoft.com/office/powerpoint/2010/main" Requires="p14">
      <p:transition spd="slow" p14:dur="800">
        <p:diamond/>
      </p:transition>
    </mc:Choice>
    <mc:Fallback>
      <p:transition spd="slow">
        <p:diamon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barn(inVertical)">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left)">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P spid="3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1E83B3AC-8388-4441-9E33-9EEC52E5B332}"/>
              </a:ext>
            </a:extLst>
          </p:cNvPr>
          <p:cNvSpPr>
            <a:spLocks noGrp="1"/>
          </p:cNvSpPr>
          <p:nvPr>
            <p:ph type="title"/>
          </p:nvPr>
        </p:nvSpPr>
        <p:spPr>
          <a:xfrm>
            <a:off x="3059832" y="119960"/>
            <a:ext cx="5851670" cy="790627"/>
          </a:xfrm>
        </p:spPr>
        <p:txBody>
          <a:bodyPr/>
          <a:lstStyle/>
          <a:p>
            <a:r>
              <a:rPr lang="fr-ML" b="1" dirty="0">
                <a:solidFill>
                  <a:schemeClr val="bg1"/>
                </a:solidFill>
                <a:latin typeface="Calibri" panose="020F0502020204030204" pitchFamily="34" charset="0"/>
                <a:cs typeface="Calibri" panose="020F0502020204030204" pitchFamily="34" charset="0"/>
              </a:rPr>
              <a:t>Introduction….</a:t>
            </a:r>
          </a:p>
        </p:txBody>
      </p:sp>
      <p:sp>
        <p:nvSpPr>
          <p:cNvPr id="5" name="Espace réservé du contenu 2">
            <a:extLst>
              <a:ext uri="{FF2B5EF4-FFF2-40B4-BE49-F238E27FC236}">
                <a16:creationId xmlns:a16="http://schemas.microsoft.com/office/drawing/2014/main" id="{0C86CD32-53B4-4431-A2F7-E169143C2345}"/>
              </a:ext>
            </a:extLst>
          </p:cNvPr>
          <p:cNvSpPr>
            <a:spLocks noGrp="1"/>
          </p:cNvSpPr>
          <p:nvPr>
            <p:ph idx="1"/>
          </p:nvPr>
        </p:nvSpPr>
        <p:spPr>
          <a:xfrm>
            <a:off x="270542" y="1741748"/>
            <a:ext cx="8640960" cy="1296144"/>
          </a:xfrm>
        </p:spPr>
        <p:txBody>
          <a:body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Il manquait cependant un référentiel qui présente comment s’organiser afin d’assurer une amélioration continue du niveau de sécurité du SI. L’ISO 27001 a apporté une réponse à ce besoin.</a:t>
            </a:r>
          </a:p>
          <a:p>
            <a:pPr>
              <a:buBlip>
                <a:blip r:embed="rId2"/>
              </a:buBlip>
            </a:pPr>
            <a:endParaRPr lang="fr-ML" sz="4000" dirty="0">
              <a:solidFill>
                <a:srgbClr val="000000"/>
              </a:solidFill>
            </a:endParaRPr>
          </a:p>
        </p:txBody>
      </p:sp>
      <p:sp>
        <p:nvSpPr>
          <p:cNvPr id="6" name="Espace réservé du contenu 2">
            <a:extLst>
              <a:ext uri="{FF2B5EF4-FFF2-40B4-BE49-F238E27FC236}">
                <a16:creationId xmlns:a16="http://schemas.microsoft.com/office/drawing/2014/main" id="{7E6F9686-D4BE-4D6D-809A-D732DE79E8AB}"/>
              </a:ext>
            </a:extLst>
          </p:cNvPr>
          <p:cNvSpPr txBox="1">
            <a:spLocks/>
          </p:cNvSpPr>
          <p:nvPr/>
        </p:nvSpPr>
        <p:spPr bwMode="auto">
          <a:xfrm>
            <a:off x="251520" y="2937739"/>
            <a:ext cx="8640960"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La toute première version de la norme date 1995. Elle fut conçue par l’organisation britannique de normalisation (le BSI) sous la référence BS 7799. Reprise depuis 2005 par l’ISO, la norme s’appelle désormais ISO 27001. Elle s’est rapidement imposée comme référentiel pour organiser la sécurité des SI.</a:t>
            </a:r>
          </a:p>
          <a:p>
            <a:pPr>
              <a:buBlip>
                <a:blip r:embed="rId2"/>
              </a:buBlip>
            </a:pPr>
            <a:endParaRPr lang="fr-ML" sz="24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Espace réservé du contenu 2">
            <a:extLst>
              <a:ext uri="{FF2B5EF4-FFF2-40B4-BE49-F238E27FC236}">
                <a16:creationId xmlns:a16="http://schemas.microsoft.com/office/drawing/2014/main" id="{4C238E39-4B90-43F4-B3E5-D377F58C7628}"/>
              </a:ext>
            </a:extLst>
          </p:cNvPr>
          <p:cNvSpPr txBox="1">
            <a:spLocks/>
          </p:cNvSpPr>
          <p:nvPr/>
        </p:nvSpPr>
        <p:spPr bwMode="auto">
          <a:xfrm>
            <a:off x="270542" y="4537657"/>
            <a:ext cx="8640960" cy="1570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L’ISO 27001 impose la mise en place d’un système de management de la sécurité de l’information (SMSI). L’entité implémentant le SMSI peut le faire certifier par des auditeurs indépendants. Le but premier de la certification est de fournir de la confiance en matière de sécurité aux principales parties prenantes de l’organisme.</a:t>
            </a:r>
          </a:p>
          <a:p>
            <a:pPr>
              <a:buBlip>
                <a:blip r:embed="rId2"/>
              </a:buBlip>
            </a:pPr>
            <a:endParaRPr lang="fr-ML"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Titre 1">
            <a:extLst>
              <a:ext uri="{FF2B5EF4-FFF2-40B4-BE49-F238E27FC236}">
                <a16:creationId xmlns:a16="http://schemas.microsoft.com/office/drawing/2014/main" id="{1E24A1A1-22C3-43C2-8ED0-AE8A9EB55B5C}"/>
              </a:ext>
            </a:extLst>
          </p:cNvPr>
          <p:cNvSpPr txBox="1">
            <a:spLocks/>
          </p:cNvSpPr>
          <p:nvPr/>
        </p:nvSpPr>
        <p:spPr bwMode="auto">
          <a:xfrm>
            <a:off x="125233" y="1020154"/>
            <a:ext cx="6568440" cy="700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r>
              <a:rPr lang="fr-ML" b="1" dirty="0">
                <a:solidFill>
                  <a:srgbClr val="000000"/>
                </a:solidFill>
                <a:latin typeface="Calibri" panose="020F0502020204030204" pitchFamily="34" charset="0"/>
                <a:cs typeface="Calibri" panose="020F0502020204030204" pitchFamily="34" charset="0"/>
              </a:rPr>
              <a:t>ISO 27001…</a:t>
            </a:r>
          </a:p>
        </p:txBody>
      </p:sp>
    </p:spTree>
    <p:extLst>
      <p:ext uri="{BB962C8B-B14F-4D97-AF65-F5344CB8AC3E}">
        <p14:creationId xmlns:p14="http://schemas.microsoft.com/office/powerpoint/2010/main" val="39135797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heel(1)">
                                      <p:cBhvr>
                                        <p:cTn id="2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38067CE-205D-4C46-B51A-08B277F058D2}"/>
              </a:ext>
            </a:extLst>
          </p:cNvPr>
          <p:cNvSpPr>
            <a:spLocks noGrp="1"/>
          </p:cNvSpPr>
          <p:nvPr>
            <p:ph type="title"/>
          </p:nvPr>
        </p:nvSpPr>
        <p:spPr>
          <a:xfrm>
            <a:off x="270542" y="1017577"/>
            <a:ext cx="3888432" cy="790628"/>
          </a:xfrm>
        </p:spPr>
        <p:txBody>
          <a:bodyPr/>
          <a:lstStyle/>
          <a:p>
            <a:r>
              <a:rPr lang="fr-ML" b="1" dirty="0">
                <a:solidFill>
                  <a:srgbClr val="000000"/>
                </a:solidFill>
                <a:latin typeface="Calibri" panose="020F0502020204030204" pitchFamily="34" charset="0"/>
                <a:cs typeface="Calibri" panose="020F0502020204030204" pitchFamily="34" charset="0"/>
              </a:rPr>
              <a:t>ISO 27002</a:t>
            </a:r>
          </a:p>
        </p:txBody>
      </p:sp>
      <p:sp>
        <p:nvSpPr>
          <p:cNvPr id="5" name="Espace réservé du contenu 2">
            <a:extLst>
              <a:ext uri="{FF2B5EF4-FFF2-40B4-BE49-F238E27FC236}">
                <a16:creationId xmlns:a16="http://schemas.microsoft.com/office/drawing/2014/main" id="{E23C0296-AFE6-419E-B4BC-0C271BE1D6A0}"/>
              </a:ext>
            </a:extLst>
          </p:cNvPr>
          <p:cNvSpPr>
            <a:spLocks noGrp="1"/>
          </p:cNvSpPr>
          <p:nvPr>
            <p:ph idx="1"/>
          </p:nvPr>
        </p:nvSpPr>
        <p:spPr>
          <a:xfrm>
            <a:off x="179512" y="2078543"/>
            <a:ext cx="8856984" cy="1512167"/>
          </a:xfrm>
        </p:spPr>
        <p:txBody>
          <a:body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La toute première version de la norme ISO 27002 date de 1995. Depuis, elle a connu des mises à jour régulières. La norme compose de 11 chapitres importants. Ils abordent des questions aussi variées que le contrôle de la qualité des mots de passe, la gestion des identités, la sécurité réseau ou les audits.</a:t>
            </a:r>
          </a:p>
          <a:p>
            <a:pPr>
              <a:buBlip>
                <a:blip r:embed="rId2"/>
              </a:buBlip>
            </a:pPr>
            <a:endParaRPr lang="fr-ML" sz="4400" dirty="0">
              <a:solidFill>
                <a:srgbClr val="000000"/>
              </a:solidFill>
            </a:endParaRPr>
          </a:p>
        </p:txBody>
      </p:sp>
      <p:sp>
        <p:nvSpPr>
          <p:cNvPr id="6" name="Espace réservé du contenu 2">
            <a:extLst>
              <a:ext uri="{FF2B5EF4-FFF2-40B4-BE49-F238E27FC236}">
                <a16:creationId xmlns:a16="http://schemas.microsoft.com/office/drawing/2014/main" id="{77411BA8-1FE0-4652-9DB0-2FFA24B63506}"/>
              </a:ext>
            </a:extLst>
          </p:cNvPr>
          <p:cNvSpPr txBox="1">
            <a:spLocks/>
          </p:cNvSpPr>
          <p:nvPr/>
        </p:nvSpPr>
        <p:spPr bwMode="auto">
          <a:xfrm>
            <a:off x="179512" y="3861048"/>
            <a:ext cx="8640960" cy="133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Comme son titre l’indique, la norme est un </a:t>
            </a:r>
            <a:r>
              <a:rPr lang="fr-ML" sz="2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code de bonnes pratiques</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Elle a donc pour vocation d’aider les équipes à sécuriser le système d’information. Naturellement, la norme s’adresse essentiellement aux équipes informatiques, mais il ne faut la limiter à ce périmètre. </a:t>
            </a:r>
            <a:endParaRPr lang="fr-ML" sz="28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Titre 1">
            <a:extLst>
              <a:ext uri="{FF2B5EF4-FFF2-40B4-BE49-F238E27FC236}">
                <a16:creationId xmlns:a16="http://schemas.microsoft.com/office/drawing/2014/main" id="{DE5845CD-3795-4F95-B6A9-3430F4ACD73B}"/>
              </a:ext>
            </a:extLst>
          </p:cNvPr>
          <p:cNvSpPr txBox="1">
            <a:spLocks/>
          </p:cNvSpPr>
          <p:nvPr/>
        </p:nvSpPr>
        <p:spPr bwMode="auto">
          <a:xfrm>
            <a:off x="3059832" y="119960"/>
            <a:ext cx="5851670" cy="790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r>
              <a:rPr lang="fr-ML" b="1" dirty="0">
                <a:solidFill>
                  <a:schemeClr val="bg1"/>
                </a:solidFill>
                <a:latin typeface="Calibri" panose="020F0502020204030204" pitchFamily="34" charset="0"/>
                <a:cs typeface="Calibri" panose="020F0502020204030204" pitchFamily="34" charset="0"/>
              </a:rPr>
              <a:t>Introduction….</a:t>
            </a:r>
          </a:p>
        </p:txBody>
      </p:sp>
    </p:spTree>
    <p:extLst>
      <p:ext uri="{BB962C8B-B14F-4D97-AF65-F5344CB8AC3E}">
        <p14:creationId xmlns:p14="http://schemas.microsoft.com/office/powerpoint/2010/main" val="1310090075"/>
      </p:ext>
    </p:extLst>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532FA5F5-8214-4F55-A6DE-2A51AD7A26FA}"/>
              </a:ext>
            </a:extLst>
          </p:cNvPr>
          <p:cNvSpPr>
            <a:spLocks noGrp="1"/>
          </p:cNvSpPr>
          <p:nvPr>
            <p:ph type="title"/>
          </p:nvPr>
        </p:nvSpPr>
        <p:spPr>
          <a:xfrm>
            <a:off x="270542" y="1017577"/>
            <a:ext cx="3888432" cy="790628"/>
          </a:xfrm>
        </p:spPr>
        <p:txBody>
          <a:bodyPr/>
          <a:lstStyle/>
          <a:p>
            <a:r>
              <a:rPr lang="fr-ML" b="1" dirty="0">
                <a:solidFill>
                  <a:srgbClr val="000000"/>
                </a:solidFill>
                <a:latin typeface="Calibri" panose="020F0502020204030204" pitchFamily="34" charset="0"/>
                <a:cs typeface="Calibri" panose="020F0502020204030204" pitchFamily="34" charset="0"/>
              </a:rPr>
              <a:t>ISO 27002…</a:t>
            </a:r>
          </a:p>
        </p:txBody>
      </p:sp>
      <p:sp>
        <p:nvSpPr>
          <p:cNvPr id="5" name="Titre 1">
            <a:extLst>
              <a:ext uri="{FF2B5EF4-FFF2-40B4-BE49-F238E27FC236}">
                <a16:creationId xmlns:a16="http://schemas.microsoft.com/office/drawing/2014/main" id="{D588070C-B63E-4D5D-88F6-9A4C5C2794B1}"/>
              </a:ext>
            </a:extLst>
          </p:cNvPr>
          <p:cNvSpPr txBox="1">
            <a:spLocks/>
          </p:cNvSpPr>
          <p:nvPr/>
        </p:nvSpPr>
        <p:spPr bwMode="auto">
          <a:xfrm>
            <a:off x="3059832" y="119960"/>
            <a:ext cx="5851670" cy="790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r>
              <a:rPr lang="fr-ML" b="1" dirty="0">
                <a:solidFill>
                  <a:schemeClr val="bg1"/>
                </a:solidFill>
                <a:latin typeface="Calibri" panose="020F0502020204030204" pitchFamily="34" charset="0"/>
                <a:cs typeface="Calibri" panose="020F0502020204030204" pitchFamily="34" charset="0"/>
              </a:rPr>
              <a:t>Introduction….</a:t>
            </a:r>
          </a:p>
        </p:txBody>
      </p:sp>
      <p:sp>
        <p:nvSpPr>
          <p:cNvPr id="7" name="Espace réservé du contenu 2">
            <a:extLst>
              <a:ext uri="{FF2B5EF4-FFF2-40B4-BE49-F238E27FC236}">
                <a16:creationId xmlns:a16="http://schemas.microsoft.com/office/drawing/2014/main" id="{A4B7F19B-C83D-4BA9-83CC-5A76D0870803}"/>
              </a:ext>
            </a:extLst>
          </p:cNvPr>
          <p:cNvSpPr txBox="1">
            <a:spLocks/>
          </p:cNvSpPr>
          <p:nvPr/>
        </p:nvSpPr>
        <p:spPr bwMode="auto">
          <a:xfrm>
            <a:off x="135271" y="4149080"/>
            <a:ext cx="8911502" cy="1287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Notons enfin que, contrairement à une idée reçue, la norme ISO 27002 n’est pas certifiante. Si on peut se faire certifier ISO 27002, on ne trouvera pas de certificat ISO 27002. Ceci s’explique par le fait que la norme ne formule pas d’exigences. </a:t>
            </a:r>
            <a:endParaRPr lang="fr-ML" sz="4800" dirty="0">
              <a:solidFill>
                <a:srgbClr val="000000"/>
              </a:solidFill>
            </a:endParaRPr>
          </a:p>
        </p:txBody>
      </p:sp>
      <p:sp>
        <p:nvSpPr>
          <p:cNvPr id="11" name="Espace réservé du contenu 2">
            <a:extLst>
              <a:ext uri="{FF2B5EF4-FFF2-40B4-BE49-F238E27FC236}">
                <a16:creationId xmlns:a16="http://schemas.microsoft.com/office/drawing/2014/main" id="{4C788C3D-AC88-46AA-A909-A41802332935}"/>
              </a:ext>
            </a:extLst>
          </p:cNvPr>
          <p:cNvSpPr txBox="1">
            <a:spLocks/>
          </p:cNvSpPr>
          <p:nvPr/>
        </p:nvSpPr>
        <p:spPr bwMode="auto">
          <a:xfrm>
            <a:off x="135271" y="2011317"/>
            <a:ext cx="8640960" cy="1829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On trouve en effet des mesures d’organisation et gouvernance qui seront principalement portées par la direction, des mesures relatives à la sécurité des ressources humaines, concernant ainsi la DRH, et des mesures liées au contrôle d’accès physique, domaine généralement porté par les moyens généraux.</a:t>
            </a:r>
          </a:p>
          <a:p>
            <a:pPr>
              <a:buBlip>
                <a:blip r:embed="rId2"/>
              </a:buBlip>
            </a:pPr>
            <a:endParaRPr lang="fr-ML" sz="28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4415720"/>
      </p:ext>
    </p:extLst>
  </p:cSld>
  <p:clrMapOvr>
    <a:masterClrMapping/>
  </p:clrMapOvr>
  <mc:AlternateContent xmlns:mc="http://schemas.openxmlformats.org/markup-compatibility/2006">
    <mc:Choice xmlns:p14="http://schemas.microsoft.com/office/powerpoint/2010/main" Requires="p14">
      <p:transition spd="slow" p14:dur="1400">
        <p:blinds/>
      </p:transition>
    </mc:Choice>
    <mc:Fallback>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290">
                                          <p:stCondLst>
                                            <p:cond delay="0"/>
                                          </p:stCondLst>
                                        </p:cTn>
                                        <p:tgtEl>
                                          <p:spTgt spid="7"/>
                                        </p:tgtEl>
                                      </p:cBhvr>
                                    </p:animEffect>
                                    <p:anim calcmode="lin" valueType="num">
                                      <p:cBhvr>
                                        <p:cTn id="13" dur="911"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4" dur="332"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5" dur="332" tmFilter="0, 0; 0.125,0.2665; 0.25,0.4; 0.375,0.465; 0.5,0.5;  0.625,0.535; 0.75,0.6; 0.875,0.7335; 1,1">
                                          <p:stCondLst>
                                            <p:cond delay="332"/>
                                          </p:stCondLst>
                                        </p:cTn>
                                        <p:tgtEl>
                                          <p:spTgt spid="7"/>
                                        </p:tgtEl>
                                        <p:attrNameLst>
                                          <p:attrName>ppt_y</p:attrName>
                                        </p:attrNameLst>
                                      </p:cBhvr>
                                      <p:tavLst>
                                        <p:tav tm="0" fmla="#ppt_y-sin(pi*$)/9">
                                          <p:val>
                                            <p:fltVal val="0"/>
                                          </p:val>
                                        </p:tav>
                                        <p:tav tm="100000">
                                          <p:val>
                                            <p:fltVal val="1"/>
                                          </p:val>
                                        </p:tav>
                                      </p:tavLst>
                                    </p:anim>
                                    <p:anim calcmode="lin" valueType="num">
                                      <p:cBhvr>
                                        <p:cTn id="16" dur="166" tmFilter="0, 0; 0.125,0.2665; 0.25,0.4; 0.375,0.465; 0.5,0.5;  0.625,0.535; 0.75,0.6; 0.875,0.7335; 1,1">
                                          <p:stCondLst>
                                            <p:cond delay="662"/>
                                          </p:stCondLst>
                                        </p:cTn>
                                        <p:tgtEl>
                                          <p:spTgt spid="7"/>
                                        </p:tgtEl>
                                        <p:attrNameLst>
                                          <p:attrName>ppt_y</p:attrName>
                                        </p:attrNameLst>
                                      </p:cBhvr>
                                      <p:tavLst>
                                        <p:tav tm="0" fmla="#ppt_y-sin(pi*$)/27">
                                          <p:val>
                                            <p:fltVal val="0"/>
                                          </p:val>
                                        </p:tav>
                                        <p:tav tm="100000">
                                          <p:val>
                                            <p:fltVal val="1"/>
                                          </p:val>
                                        </p:tav>
                                      </p:tavLst>
                                    </p:anim>
                                    <p:anim calcmode="lin" valueType="num">
                                      <p:cBhvr>
                                        <p:cTn id="17" dur="82" tmFilter="0, 0; 0.125,0.2665; 0.25,0.4; 0.375,0.465; 0.5,0.5;  0.625,0.535; 0.75,0.6; 0.875,0.7335; 1,1">
                                          <p:stCondLst>
                                            <p:cond delay="828"/>
                                          </p:stCondLst>
                                        </p:cTn>
                                        <p:tgtEl>
                                          <p:spTgt spid="7"/>
                                        </p:tgtEl>
                                        <p:attrNameLst>
                                          <p:attrName>ppt_y</p:attrName>
                                        </p:attrNameLst>
                                      </p:cBhvr>
                                      <p:tavLst>
                                        <p:tav tm="0" fmla="#ppt_y-sin(pi*$)/81">
                                          <p:val>
                                            <p:fltVal val="0"/>
                                          </p:val>
                                        </p:tav>
                                        <p:tav tm="100000">
                                          <p:val>
                                            <p:fltVal val="1"/>
                                          </p:val>
                                        </p:tav>
                                      </p:tavLst>
                                    </p:anim>
                                    <p:animScale>
                                      <p:cBhvr>
                                        <p:cTn id="18" dur="13">
                                          <p:stCondLst>
                                            <p:cond delay="325"/>
                                          </p:stCondLst>
                                        </p:cTn>
                                        <p:tgtEl>
                                          <p:spTgt spid="7"/>
                                        </p:tgtEl>
                                      </p:cBhvr>
                                      <p:to x="100000" y="60000"/>
                                    </p:animScale>
                                    <p:animScale>
                                      <p:cBhvr>
                                        <p:cTn id="19" dur="83" decel="50000">
                                          <p:stCondLst>
                                            <p:cond delay="338"/>
                                          </p:stCondLst>
                                        </p:cTn>
                                        <p:tgtEl>
                                          <p:spTgt spid="7"/>
                                        </p:tgtEl>
                                      </p:cBhvr>
                                      <p:to x="100000" y="100000"/>
                                    </p:animScale>
                                    <p:animScale>
                                      <p:cBhvr>
                                        <p:cTn id="20" dur="13">
                                          <p:stCondLst>
                                            <p:cond delay="656"/>
                                          </p:stCondLst>
                                        </p:cTn>
                                        <p:tgtEl>
                                          <p:spTgt spid="7"/>
                                        </p:tgtEl>
                                      </p:cBhvr>
                                      <p:to x="100000" y="80000"/>
                                    </p:animScale>
                                    <p:animScale>
                                      <p:cBhvr>
                                        <p:cTn id="21" dur="83" decel="50000">
                                          <p:stCondLst>
                                            <p:cond delay="669"/>
                                          </p:stCondLst>
                                        </p:cTn>
                                        <p:tgtEl>
                                          <p:spTgt spid="7"/>
                                        </p:tgtEl>
                                      </p:cBhvr>
                                      <p:to x="100000" y="100000"/>
                                    </p:animScale>
                                    <p:animScale>
                                      <p:cBhvr>
                                        <p:cTn id="22" dur="13">
                                          <p:stCondLst>
                                            <p:cond delay="821"/>
                                          </p:stCondLst>
                                        </p:cTn>
                                        <p:tgtEl>
                                          <p:spTgt spid="7"/>
                                        </p:tgtEl>
                                      </p:cBhvr>
                                      <p:to x="100000" y="90000"/>
                                    </p:animScale>
                                    <p:animScale>
                                      <p:cBhvr>
                                        <p:cTn id="23" dur="83" decel="50000">
                                          <p:stCondLst>
                                            <p:cond delay="834"/>
                                          </p:stCondLst>
                                        </p:cTn>
                                        <p:tgtEl>
                                          <p:spTgt spid="7"/>
                                        </p:tgtEl>
                                      </p:cBhvr>
                                      <p:to x="100000" y="100000"/>
                                    </p:animScale>
                                    <p:animScale>
                                      <p:cBhvr>
                                        <p:cTn id="24" dur="13">
                                          <p:stCondLst>
                                            <p:cond delay="904"/>
                                          </p:stCondLst>
                                        </p:cTn>
                                        <p:tgtEl>
                                          <p:spTgt spid="7"/>
                                        </p:tgtEl>
                                      </p:cBhvr>
                                      <p:to x="100000" y="95000"/>
                                    </p:animScale>
                                    <p:animScale>
                                      <p:cBhvr>
                                        <p:cTn id="25" dur="83" decel="50000">
                                          <p:stCondLst>
                                            <p:cond delay="917"/>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07F95E-9F9A-4F5A-84EC-47A7B07E642D}"/>
              </a:ext>
            </a:extLst>
          </p:cNvPr>
          <p:cNvSpPr>
            <a:spLocks noGrp="1"/>
          </p:cNvSpPr>
          <p:nvPr>
            <p:ph type="title"/>
          </p:nvPr>
        </p:nvSpPr>
        <p:spPr>
          <a:xfrm>
            <a:off x="323528" y="494298"/>
            <a:ext cx="7704856" cy="715963"/>
          </a:xfrm>
        </p:spPr>
        <p:txBody>
          <a:bodyPr/>
          <a:lstStyle/>
          <a:p>
            <a:r>
              <a:rPr lang="fr-ML" sz="3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Stratégie utilisées par la norme ISO 27001 </a:t>
            </a:r>
            <a:br>
              <a:rPr lang="fr-ML" sz="3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endParaRPr lang="fr-ML" sz="3200" b="1" dirty="0">
              <a:solidFill>
                <a:schemeClr val="bg1"/>
              </a:solidFill>
            </a:endParaRPr>
          </a:p>
        </p:txBody>
      </p:sp>
      <p:sp>
        <p:nvSpPr>
          <p:cNvPr id="5" name="Espace réservé du contenu 2">
            <a:extLst>
              <a:ext uri="{FF2B5EF4-FFF2-40B4-BE49-F238E27FC236}">
                <a16:creationId xmlns:a16="http://schemas.microsoft.com/office/drawing/2014/main" id="{BDEAE746-D9E1-416E-B2C6-29C77AA72D85}"/>
              </a:ext>
            </a:extLst>
          </p:cNvPr>
          <p:cNvSpPr txBox="1">
            <a:spLocks/>
          </p:cNvSpPr>
          <p:nvPr/>
        </p:nvSpPr>
        <p:spPr bwMode="auto">
          <a:xfrm>
            <a:off x="251520" y="1212643"/>
            <a:ext cx="8640960" cy="1057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Les premiers chapitres de la norme demandent à cadrer le SMSI par rapport à son contexte et ses parties prenantes. Le périmètre doit être précisé, les responsabilités bien réparties et une politique de sécurité formalisée</a:t>
            </a:r>
            <a:endParaRPr lang="fr-ML"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grpSp>
        <p:nvGrpSpPr>
          <p:cNvPr id="3" name="Groupe 2">
            <a:extLst>
              <a:ext uri="{FF2B5EF4-FFF2-40B4-BE49-F238E27FC236}">
                <a16:creationId xmlns:a16="http://schemas.microsoft.com/office/drawing/2014/main" id="{77E11DA5-F7CD-462E-AC6F-1DE91D463C0B}"/>
              </a:ext>
            </a:extLst>
          </p:cNvPr>
          <p:cNvGrpSpPr/>
          <p:nvPr/>
        </p:nvGrpSpPr>
        <p:grpSpPr>
          <a:xfrm>
            <a:off x="323528" y="2475288"/>
            <a:ext cx="9289032" cy="1426990"/>
            <a:chOff x="323528" y="2475288"/>
            <a:chExt cx="9289032" cy="1426990"/>
          </a:xfrm>
        </p:grpSpPr>
        <p:sp>
          <p:nvSpPr>
            <p:cNvPr id="6" name="Espace réservé du contenu 2">
              <a:extLst>
                <a:ext uri="{FF2B5EF4-FFF2-40B4-BE49-F238E27FC236}">
                  <a16:creationId xmlns:a16="http://schemas.microsoft.com/office/drawing/2014/main" id="{9BE8A785-85D5-448F-87DF-E8AEF0FB9125}"/>
                </a:ext>
              </a:extLst>
            </p:cNvPr>
            <p:cNvSpPr txBox="1">
              <a:spLocks/>
            </p:cNvSpPr>
            <p:nvPr/>
          </p:nvSpPr>
          <p:spPr bwMode="auto">
            <a:xfrm>
              <a:off x="323528" y="2475288"/>
              <a:ext cx="3816424" cy="480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Contexte de l’entreprise :</a:t>
              </a:r>
              <a:endParaRPr lang="fr-ML"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Espace réservé du contenu 2">
              <a:extLst>
                <a:ext uri="{FF2B5EF4-FFF2-40B4-BE49-F238E27FC236}">
                  <a16:creationId xmlns:a16="http://schemas.microsoft.com/office/drawing/2014/main" id="{0F85DFF4-409A-422B-9C4A-0319620BCDB4}"/>
                </a:ext>
              </a:extLst>
            </p:cNvPr>
            <p:cNvSpPr txBox="1">
              <a:spLocks/>
            </p:cNvSpPr>
            <p:nvPr/>
          </p:nvSpPr>
          <p:spPr bwMode="auto">
            <a:xfrm>
              <a:off x="971600" y="2844635"/>
              <a:ext cx="8640960" cy="1057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ML"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L</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 premier point que la norme demande d’aborder est la formalisation du contexte de l’entreprise. Il s’agit ici de décrire le secteur de l’entreprise, son métier</a:t>
              </a:r>
              <a:endParaRPr lang="fr-ML"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4" name="Groupe 3">
            <a:extLst>
              <a:ext uri="{FF2B5EF4-FFF2-40B4-BE49-F238E27FC236}">
                <a16:creationId xmlns:a16="http://schemas.microsoft.com/office/drawing/2014/main" id="{C46D9CE5-9BA5-4141-81DE-DAABB82B5040}"/>
              </a:ext>
            </a:extLst>
          </p:cNvPr>
          <p:cNvGrpSpPr/>
          <p:nvPr/>
        </p:nvGrpSpPr>
        <p:grpSpPr>
          <a:xfrm>
            <a:off x="251520" y="3871080"/>
            <a:ext cx="9145018" cy="1836252"/>
            <a:chOff x="251520" y="3871080"/>
            <a:chExt cx="9145018" cy="1836252"/>
          </a:xfrm>
        </p:grpSpPr>
        <p:sp>
          <p:nvSpPr>
            <p:cNvPr id="8" name="Espace réservé du contenu 2">
              <a:extLst>
                <a:ext uri="{FF2B5EF4-FFF2-40B4-BE49-F238E27FC236}">
                  <a16:creationId xmlns:a16="http://schemas.microsoft.com/office/drawing/2014/main" id="{DE1A7315-3DA9-4FB4-8E00-F14C6E7AEE97}"/>
                </a:ext>
              </a:extLst>
            </p:cNvPr>
            <p:cNvSpPr txBox="1">
              <a:spLocks/>
            </p:cNvSpPr>
            <p:nvPr/>
          </p:nvSpPr>
          <p:spPr bwMode="auto">
            <a:xfrm>
              <a:off x="251520" y="3871080"/>
              <a:ext cx="3816424" cy="480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Parties prenantes : </a:t>
              </a:r>
              <a:endParaRPr lang="fr-ML" sz="3600"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1" name="Espace réservé du contenu 2">
              <a:extLst>
                <a:ext uri="{FF2B5EF4-FFF2-40B4-BE49-F238E27FC236}">
                  <a16:creationId xmlns:a16="http://schemas.microsoft.com/office/drawing/2014/main" id="{7925AA71-5E52-459B-BA3A-2806A0914C9E}"/>
                </a:ext>
              </a:extLst>
            </p:cNvPr>
            <p:cNvSpPr txBox="1">
              <a:spLocks/>
            </p:cNvSpPr>
            <p:nvPr/>
          </p:nvSpPr>
          <p:spPr bwMode="auto">
            <a:xfrm>
              <a:off x="755578" y="4111297"/>
              <a:ext cx="8640960" cy="159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ML"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L</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 raison d’être des systèmes de management est de fournir de la confiance aux parties prenantes. Il est donc important de savoir précisément pour quelles parties prenantes de l’entreprise le système de management est en train d’être construit. L’</a:t>
              </a:r>
              <a:r>
                <a:rPr lang="fr-ML" sz="20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implémenteur</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doit donc décrire clairement quelles sont les parties prenantes.</a:t>
              </a:r>
              <a:endParaRPr lang="fr-ML" sz="3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239915799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righ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D46A84F8-3CC3-4031-BB3D-AC4D1D90E071}"/>
              </a:ext>
            </a:extLst>
          </p:cNvPr>
          <p:cNvSpPr>
            <a:spLocks noGrp="1"/>
          </p:cNvSpPr>
          <p:nvPr>
            <p:ph type="title"/>
          </p:nvPr>
        </p:nvSpPr>
        <p:spPr>
          <a:xfrm>
            <a:off x="260831" y="391728"/>
            <a:ext cx="7704856" cy="715963"/>
          </a:xfrm>
        </p:spPr>
        <p:txBody>
          <a:bodyPr/>
          <a:lstStyle/>
          <a:p>
            <a:r>
              <a:rPr lang="fr-ML" sz="3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Stratégie utilisées par la norme ISO 27001… </a:t>
            </a:r>
            <a:br>
              <a:rPr lang="fr-ML" sz="3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endParaRPr lang="fr-ML" sz="3200" b="1" dirty="0">
              <a:solidFill>
                <a:schemeClr val="bg1"/>
              </a:solidFill>
            </a:endParaRPr>
          </a:p>
        </p:txBody>
      </p:sp>
      <p:grpSp>
        <p:nvGrpSpPr>
          <p:cNvPr id="2" name="Groupe 1">
            <a:extLst>
              <a:ext uri="{FF2B5EF4-FFF2-40B4-BE49-F238E27FC236}">
                <a16:creationId xmlns:a16="http://schemas.microsoft.com/office/drawing/2014/main" id="{D530A8C2-FBB9-49E1-A72A-65F6FFCA2161}"/>
              </a:ext>
            </a:extLst>
          </p:cNvPr>
          <p:cNvGrpSpPr/>
          <p:nvPr/>
        </p:nvGrpSpPr>
        <p:grpSpPr>
          <a:xfrm>
            <a:off x="251520" y="1412776"/>
            <a:ext cx="9001000" cy="1578261"/>
            <a:chOff x="251520" y="1412776"/>
            <a:chExt cx="9001000" cy="1578261"/>
          </a:xfrm>
        </p:grpSpPr>
        <p:sp>
          <p:nvSpPr>
            <p:cNvPr id="5" name="Espace réservé du contenu 2">
              <a:extLst>
                <a:ext uri="{FF2B5EF4-FFF2-40B4-BE49-F238E27FC236}">
                  <a16:creationId xmlns:a16="http://schemas.microsoft.com/office/drawing/2014/main" id="{EDB1DC64-2DD4-4133-8F8C-76875A04A73F}"/>
                </a:ext>
              </a:extLst>
            </p:cNvPr>
            <p:cNvSpPr txBox="1">
              <a:spLocks/>
            </p:cNvSpPr>
            <p:nvPr/>
          </p:nvSpPr>
          <p:spPr bwMode="auto">
            <a:xfrm>
              <a:off x="251520" y="1412776"/>
              <a:ext cx="3816424" cy="480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Périmètre du SMSI : </a:t>
              </a:r>
              <a:endParaRPr lang="fr-ML" sz="3600"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Espace réservé du contenu 2">
              <a:extLst>
                <a:ext uri="{FF2B5EF4-FFF2-40B4-BE49-F238E27FC236}">
                  <a16:creationId xmlns:a16="http://schemas.microsoft.com/office/drawing/2014/main" id="{98C0D675-B6E7-44D6-A64D-4DEC57B7888A}"/>
                </a:ext>
              </a:extLst>
            </p:cNvPr>
            <p:cNvSpPr txBox="1">
              <a:spLocks/>
            </p:cNvSpPr>
            <p:nvPr/>
          </p:nvSpPr>
          <p:spPr bwMode="auto">
            <a:xfrm>
              <a:off x="791072" y="1778693"/>
              <a:ext cx="8461448" cy="1212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Rien n’oblige l’</a:t>
              </a:r>
              <a:r>
                <a:rPr lang="fr-ML" sz="20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implémenteur</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à faire porter le SMSI sur l’ensemble des activités de l’organisme. Il est parfaitement possible de focaliser le périmètre sur un aspect particulier. Il est donc très important de spécifier le plus clairement possible ce périmètre.</a:t>
              </a:r>
              <a:endParaRPr lang="fr-ML" sz="3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3" name="Groupe 2">
            <a:extLst>
              <a:ext uri="{FF2B5EF4-FFF2-40B4-BE49-F238E27FC236}">
                <a16:creationId xmlns:a16="http://schemas.microsoft.com/office/drawing/2014/main" id="{0D9F984E-2669-42C1-B14D-E4BFBD3EFF00}"/>
              </a:ext>
            </a:extLst>
          </p:cNvPr>
          <p:cNvGrpSpPr/>
          <p:nvPr/>
        </p:nvGrpSpPr>
        <p:grpSpPr>
          <a:xfrm>
            <a:off x="227267" y="3209421"/>
            <a:ext cx="9025253" cy="1989372"/>
            <a:chOff x="227267" y="3209421"/>
            <a:chExt cx="9025253" cy="1989372"/>
          </a:xfrm>
        </p:grpSpPr>
        <p:sp>
          <p:nvSpPr>
            <p:cNvPr id="6" name="Espace réservé du contenu 2">
              <a:extLst>
                <a:ext uri="{FF2B5EF4-FFF2-40B4-BE49-F238E27FC236}">
                  <a16:creationId xmlns:a16="http://schemas.microsoft.com/office/drawing/2014/main" id="{3D9D89EE-82A0-4278-B5D5-912014F3C775}"/>
                </a:ext>
              </a:extLst>
            </p:cNvPr>
            <p:cNvSpPr txBox="1">
              <a:spLocks/>
            </p:cNvSpPr>
            <p:nvPr/>
          </p:nvSpPr>
          <p:spPr bwMode="auto">
            <a:xfrm>
              <a:off x="227267" y="3209421"/>
              <a:ext cx="6273408" cy="480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Politique de sécurité du système d’information (PSSI):</a:t>
              </a:r>
              <a:endParaRPr lang="fr-ML"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Espace réservé du contenu 2">
              <a:extLst>
                <a:ext uri="{FF2B5EF4-FFF2-40B4-BE49-F238E27FC236}">
                  <a16:creationId xmlns:a16="http://schemas.microsoft.com/office/drawing/2014/main" id="{AF88DC1E-370F-455F-9FB4-9E79DBAF3A53}"/>
                </a:ext>
              </a:extLst>
            </p:cNvPr>
            <p:cNvSpPr txBox="1">
              <a:spLocks/>
            </p:cNvSpPr>
            <p:nvPr/>
          </p:nvSpPr>
          <p:spPr bwMode="auto">
            <a:xfrm>
              <a:off x="791072" y="3689856"/>
              <a:ext cx="8461448" cy="150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ML"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R</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édiger une politique de sécurité des systèmes d’information est obligatoire. Même si la norme n’impose aucun plan particulier, il convient que ce document aborde les points suivants : rappel des enjeux, engament de la direction en matière de sécurité de l’information et principales lignes directrices à respecter, tant d’un point de vue technique qu’organisationnel.</a:t>
              </a:r>
              <a:endParaRPr lang="fr-ML" sz="40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4" name="Groupe 3">
            <a:extLst>
              <a:ext uri="{FF2B5EF4-FFF2-40B4-BE49-F238E27FC236}">
                <a16:creationId xmlns:a16="http://schemas.microsoft.com/office/drawing/2014/main" id="{1D34C9ED-9FAD-42E6-9801-DB78851E9153}"/>
              </a:ext>
            </a:extLst>
          </p:cNvPr>
          <p:cNvGrpSpPr/>
          <p:nvPr/>
        </p:nvGrpSpPr>
        <p:grpSpPr>
          <a:xfrm>
            <a:off x="242808" y="5432182"/>
            <a:ext cx="9009712" cy="1130324"/>
            <a:chOff x="242808" y="5432182"/>
            <a:chExt cx="9009712" cy="1130324"/>
          </a:xfrm>
        </p:grpSpPr>
        <p:sp>
          <p:nvSpPr>
            <p:cNvPr id="7" name="Espace réservé du contenu 2">
              <a:extLst>
                <a:ext uri="{FF2B5EF4-FFF2-40B4-BE49-F238E27FC236}">
                  <a16:creationId xmlns:a16="http://schemas.microsoft.com/office/drawing/2014/main" id="{E8D5F3FC-FD43-426E-8012-8638DAF73A31}"/>
                </a:ext>
              </a:extLst>
            </p:cNvPr>
            <p:cNvSpPr txBox="1">
              <a:spLocks/>
            </p:cNvSpPr>
            <p:nvPr/>
          </p:nvSpPr>
          <p:spPr bwMode="auto">
            <a:xfrm>
              <a:off x="242808" y="5432182"/>
              <a:ext cx="3816424" cy="480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Répartir les responsabilités :</a:t>
              </a:r>
              <a:endParaRPr lang="fr-ML" sz="3600"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1" name="Espace réservé du contenu 2">
              <a:extLst>
                <a:ext uri="{FF2B5EF4-FFF2-40B4-BE49-F238E27FC236}">
                  <a16:creationId xmlns:a16="http://schemas.microsoft.com/office/drawing/2014/main" id="{3455C5E0-1903-4390-8D8E-555F311C52C9}"/>
                </a:ext>
              </a:extLst>
            </p:cNvPr>
            <p:cNvSpPr txBox="1">
              <a:spLocks/>
            </p:cNvSpPr>
            <p:nvPr/>
          </p:nvSpPr>
          <p:spPr bwMode="auto">
            <a:xfrm>
              <a:off x="791072" y="5851570"/>
              <a:ext cx="8461448" cy="710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la norme exige que les rôles et responsabilités en matière de sécurité soient clairement répartir.</a:t>
              </a:r>
              <a:endParaRPr lang="fr-ML" sz="40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38393093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out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298F9065-E6D2-4A0C-A469-B0BDFEB52FD9}"/>
              </a:ext>
            </a:extLst>
          </p:cNvPr>
          <p:cNvSpPr txBox="1">
            <a:spLocks/>
          </p:cNvSpPr>
          <p:nvPr/>
        </p:nvSpPr>
        <p:spPr bwMode="auto">
          <a:xfrm>
            <a:off x="4572000" y="188640"/>
            <a:ext cx="406845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SMSI</a:t>
            </a:r>
            <a:endParaRPr lang="fr-ML"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itre 1">
            <a:extLst>
              <a:ext uri="{FF2B5EF4-FFF2-40B4-BE49-F238E27FC236}">
                <a16:creationId xmlns:a16="http://schemas.microsoft.com/office/drawing/2014/main" id="{914F688F-0793-48B1-BDB9-CB15A371812D}"/>
              </a:ext>
            </a:extLst>
          </p:cNvPr>
          <p:cNvSpPr txBox="1">
            <a:spLocks/>
          </p:cNvSpPr>
          <p:nvPr/>
        </p:nvSpPr>
        <p:spPr bwMode="auto">
          <a:xfrm>
            <a:off x="323528" y="3163681"/>
            <a:ext cx="532859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La politique du SMSI </a:t>
            </a:r>
            <a:endParaRPr lang="fr-ML" sz="3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itre 1">
            <a:extLst>
              <a:ext uri="{FF2B5EF4-FFF2-40B4-BE49-F238E27FC236}">
                <a16:creationId xmlns:a16="http://schemas.microsoft.com/office/drawing/2014/main" id="{F596F54B-5912-489D-86BF-9A7C8C57A67D}"/>
              </a:ext>
            </a:extLst>
          </p:cNvPr>
          <p:cNvSpPr txBox="1">
            <a:spLocks/>
          </p:cNvSpPr>
          <p:nvPr/>
        </p:nvSpPr>
        <p:spPr bwMode="auto">
          <a:xfrm>
            <a:off x="179512" y="1272877"/>
            <a:ext cx="532859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Qu’est-ce que le SMSI ?</a:t>
            </a:r>
            <a:endParaRPr lang="fr-ML"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itre 1">
            <a:extLst>
              <a:ext uri="{FF2B5EF4-FFF2-40B4-BE49-F238E27FC236}">
                <a16:creationId xmlns:a16="http://schemas.microsoft.com/office/drawing/2014/main" id="{2EAF908D-F43A-43A4-A494-465FC1CFB172}"/>
              </a:ext>
            </a:extLst>
          </p:cNvPr>
          <p:cNvSpPr txBox="1">
            <a:spLocks/>
          </p:cNvSpPr>
          <p:nvPr/>
        </p:nvSpPr>
        <p:spPr bwMode="auto">
          <a:xfrm>
            <a:off x="875673" y="1876190"/>
            <a:ext cx="8280920" cy="122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C’est un système de gestion global, basée sur une approche du risque commercial, pour établir, mettre en œuvre, exploiter, surveiller, examiner, maintenir et améliorer la sécurité de l'information.</a:t>
            </a:r>
          </a:p>
        </p:txBody>
      </p:sp>
      <p:sp>
        <p:nvSpPr>
          <p:cNvPr id="11" name="Espace réservé du contenu 2">
            <a:extLst>
              <a:ext uri="{FF2B5EF4-FFF2-40B4-BE49-F238E27FC236}">
                <a16:creationId xmlns:a16="http://schemas.microsoft.com/office/drawing/2014/main" id="{2C592201-A4EC-4A60-B98A-60CB20D0B2FD}"/>
              </a:ext>
            </a:extLst>
          </p:cNvPr>
          <p:cNvSpPr txBox="1">
            <a:spLocks/>
          </p:cNvSpPr>
          <p:nvPr/>
        </p:nvSpPr>
        <p:spPr bwMode="auto">
          <a:xfrm>
            <a:off x="611560" y="4077072"/>
            <a:ext cx="8461448"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Inclure un cadre pour fixer les objectifs et indiquer une orientation générale et des principes d’action concernant la sécurité de l’information </a:t>
            </a:r>
            <a:endParaRPr lang="fr-ML" sz="4000"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3" name="Espace réservé du contenu 2">
            <a:extLst>
              <a:ext uri="{FF2B5EF4-FFF2-40B4-BE49-F238E27FC236}">
                <a16:creationId xmlns:a16="http://schemas.microsoft.com/office/drawing/2014/main" id="{0BE0B22C-3F7B-496E-B6F3-710D06ED436F}"/>
              </a:ext>
            </a:extLst>
          </p:cNvPr>
          <p:cNvSpPr txBox="1">
            <a:spLocks/>
          </p:cNvSpPr>
          <p:nvPr/>
        </p:nvSpPr>
        <p:spPr bwMode="auto">
          <a:xfrm>
            <a:off x="611560" y="5187890"/>
            <a:ext cx="8461448"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Tenir</a:t>
            </a:r>
            <a:r>
              <a:rPr lang="fr-ML"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compte des exigences liées à l’activité et des exigences légales ou réglementaires, ainsi que des obligations de sécurité contractuelles</a:t>
            </a:r>
            <a:endParaRPr lang="fr-ML" sz="4400"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4031444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750">
        <p15:prstTrans prst="origami"/>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out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circle(in)">
                                      <p:cBhvr>
                                        <p:cTn id="16" dur="12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3" presetClass="entr" presetSubtype="16"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plus(in)">
                                      <p:cBhvr>
                                        <p:cTn id="21" dur="1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contenu 2">
            <a:extLst>
              <a:ext uri="{FF2B5EF4-FFF2-40B4-BE49-F238E27FC236}">
                <a16:creationId xmlns:a16="http://schemas.microsoft.com/office/drawing/2014/main" id="{9548373E-2167-4001-AC22-6A0A95AADBE0}"/>
              </a:ext>
            </a:extLst>
          </p:cNvPr>
          <p:cNvSpPr txBox="1">
            <a:spLocks/>
          </p:cNvSpPr>
          <p:nvPr/>
        </p:nvSpPr>
        <p:spPr bwMode="auto">
          <a:xfrm>
            <a:off x="587040" y="2492896"/>
            <a:ext cx="8461448" cy="1012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S’aligner sur le contexte de gestion du risque stratégique auquel est exposé l’organisme, dans lequel se dérouleront l’établissement et la mise à jour du SMSI</a:t>
            </a:r>
          </a:p>
          <a:p>
            <a:pPr marL="0" indent="0">
              <a:buNone/>
            </a:pPr>
            <a:endParaRPr lang="fr-ML" sz="4400"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3" name="Espace réservé du contenu 2">
            <a:extLst>
              <a:ext uri="{FF2B5EF4-FFF2-40B4-BE49-F238E27FC236}">
                <a16:creationId xmlns:a16="http://schemas.microsoft.com/office/drawing/2014/main" id="{6107C8F4-7699-497C-BD65-92522EB59152}"/>
              </a:ext>
            </a:extLst>
          </p:cNvPr>
          <p:cNvSpPr txBox="1">
            <a:spLocks/>
          </p:cNvSpPr>
          <p:nvPr/>
        </p:nvSpPr>
        <p:spPr bwMode="auto">
          <a:xfrm>
            <a:off x="611560" y="3861048"/>
            <a:ext cx="7227868" cy="56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Etablir les critères d’évaluation future du risque</a:t>
            </a:r>
          </a:p>
        </p:txBody>
      </p:sp>
      <p:sp>
        <p:nvSpPr>
          <p:cNvPr id="14" name="Espace réservé du contenu 2">
            <a:extLst>
              <a:ext uri="{FF2B5EF4-FFF2-40B4-BE49-F238E27FC236}">
                <a16:creationId xmlns:a16="http://schemas.microsoft.com/office/drawing/2014/main" id="{3D7BDCAA-6AF0-45CD-A50B-9FD3AF2BE8C0}"/>
              </a:ext>
            </a:extLst>
          </p:cNvPr>
          <p:cNvSpPr txBox="1">
            <a:spLocks/>
          </p:cNvSpPr>
          <p:nvPr/>
        </p:nvSpPr>
        <p:spPr bwMode="auto">
          <a:xfrm>
            <a:off x="556225" y="4903976"/>
            <a:ext cx="7976215" cy="427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Êt</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 approuvée par la direction</a:t>
            </a:r>
            <a:endParaRPr lang="fr-ML" sz="4800"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6" name="Titre 1">
            <a:extLst>
              <a:ext uri="{FF2B5EF4-FFF2-40B4-BE49-F238E27FC236}">
                <a16:creationId xmlns:a16="http://schemas.microsoft.com/office/drawing/2014/main" id="{A0B6A770-BBA1-497F-8DAB-A532845D5608}"/>
              </a:ext>
            </a:extLst>
          </p:cNvPr>
          <p:cNvSpPr txBox="1">
            <a:spLocks/>
          </p:cNvSpPr>
          <p:nvPr/>
        </p:nvSpPr>
        <p:spPr bwMode="auto">
          <a:xfrm>
            <a:off x="323528" y="1412776"/>
            <a:ext cx="532859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La politique du SMSI… </a:t>
            </a:r>
            <a:endParaRPr lang="fr-ML" sz="3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Titre 1">
            <a:extLst>
              <a:ext uri="{FF2B5EF4-FFF2-40B4-BE49-F238E27FC236}">
                <a16:creationId xmlns:a16="http://schemas.microsoft.com/office/drawing/2014/main" id="{4DDA5049-2D1C-42E3-AF3F-8A06E89A203D}"/>
              </a:ext>
            </a:extLst>
          </p:cNvPr>
          <p:cNvSpPr txBox="1">
            <a:spLocks/>
          </p:cNvSpPr>
          <p:nvPr/>
        </p:nvSpPr>
        <p:spPr bwMode="auto">
          <a:xfrm>
            <a:off x="4572000" y="188640"/>
            <a:ext cx="406845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SMSI…</a:t>
            </a:r>
            <a:endParaRPr lang="fr-ML"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2" name="Espace réservé du contenu 3">
            <a:extLst>
              <a:ext uri="{FF2B5EF4-FFF2-40B4-BE49-F238E27FC236}">
                <a16:creationId xmlns:a16="http://schemas.microsoft.com/office/drawing/2014/main" id="{B26E5B78-57D4-475A-BBA7-A7FFD58FF8DF}"/>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5940152" y="4196497"/>
            <a:ext cx="2394647" cy="1699827"/>
          </a:xfrm>
          <a:prstGeom prst="rect">
            <a:avLst/>
          </a:prstGeom>
        </p:spPr>
      </p:pic>
    </p:spTree>
    <p:extLst>
      <p:ext uri="{BB962C8B-B14F-4D97-AF65-F5344CB8AC3E}">
        <p14:creationId xmlns:p14="http://schemas.microsoft.com/office/powerpoint/2010/main" val="4150620222"/>
      </p:ext>
    </p:extLst>
  </p:cSld>
  <p:clrMapOvr>
    <a:masterClrMapping/>
  </p:clrMapOvr>
  <mc:AlternateContent xmlns:mc="http://schemas.openxmlformats.org/markup-compatibility/2006">
    <mc:Choice xmlns:p14="http://schemas.microsoft.com/office/powerpoint/2010/main" Requires="p14">
      <p:transition spd="slow" p14:dur="1250">
        <p14:rippl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FF6BC2D7-35FB-4A7C-83D2-295F652DB9F7}"/>
              </a:ext>
            </a:extLst>
          </p:cNvPr>
          <p:cNvSpPr txBox="1">
            <a:spLocks/>
          </p:cNvSpPr>
          <p:nvPr/>
        </p:nvSpPr>
        <p:spPr bwMode="auto">
          <a:xfrm>
            <a:off x="251520" y="1124744"/>
            <a:ext cx="640871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2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Avantage de SMSI</a:t>
            </a:r>
            <a:endParaRPr lang="fr-ML" sz="3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itre 1">
            <a:extLst>
              <a:ext uri="{FF2B5EF4-FFF2-40B4-BE49-F238E27FC236}">
                <a16:creationId xmlns:a16="http://schemas.microsoft.com/office/drawing/2014/main" id="{29A54174-2A20-4392-91B6-B81EEE45C091}"/>
              </a:ext>
            </a:extLst>
          </p:cNvPr>
          <p:cNvSpPr txBox="1">
            <a:spLocks/>
          </p:cNvSpPr>
          <p:nvPr/>
        </p:nvSpPr>
        <p:spPr bwMode="auto">
          <a:xfrm>
            <a:off x="4572000" y="188640"/>
            <a:ext cx="406845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SMSI…</a:t>
            </a:r>
            <a:endParaRPr lang="fr-ML"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Espace réservé du contenu 2">
            <a:extLst>
              <a:ext uri="{FF2B5EF4-FFF2-40B4-BE49-F238E27FC236}">
                <a16:creationId xmlns:a16="http://schemas.microsoft.com/office/drawing/2014/main" id="{6072A8BE-4661-42BB-9914-3FE9FDEAB05B}"/>
              </a:ext>
            </a:extLst>
          </p:cNvPr>
          <p:cNvSpPr txBox="1">
            <a:spLocks/>
          </p:cNvSpPr>
          <p:nvPr/>
        </p:nvSpPr>
        <p:spPr bwMode="auto">
          <a:xfrm>
            <a:off x="549530" y="2171551"/>
            <a:ext cx="8461448" cy="1012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Protéger les actifs informationnels d'une organisation afin de : assurer la continuité des activités, minimiser les dommages et maximiser le retour sur investissement</a:t>
            </a:r>
            <a:endParaRPr lang="fr-ML" sz="4800"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1" name="Espace réservé du contenu 2">
            <a:extLst>
              <a:ext uri="{FF2B5EF4-FFF2-40B4-BE49-F238E27FC236}">
                <a16:creationId xmlns:a16="http://schemas.microsoft.com/office/drawing/2014/main" id="{E2D23EAA-E077-4001-B43C-D8640F5BE831}"/>
              </a:ext>
            </a:extLst>
          </p:cNvPr>
          <p:cNvSpPr txBox="1">
            <a:spLocks/>
          </p:cNvSpPr>
          <p:nvPr/>
        </p:nvSpPr>
        <p:spPr bwMode="auto">
          <a:xfrm>
            <a:off x="827584" y="3404265"/>
            <a:ext cx="7227868" cy="56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M</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éthodologie structurée et reconnue internationalement</a:t>
            </a:r>
            <a:endParaRPr lang="fr-ML"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Espace réservé du contenu 2">
            <a:extLst>
              <a:ext uri="{FF2B5EF4-FFF2-40B4-BE49-F238E27FC236}">
                <a16:creationId xmlns:a16="http://schemas.microsoft.com/office/drawing/2014/main" id="{0AD97B84-A215-4517-9659-39B1A057C958}"/>
              </a:ext>
            </a:extLst>
          </p:cNvPr>
          <p:cNvSpPr txBox="1">
            <a:spLocks/>
          </p:cNvSpPr>
          <p:nvPr/>
        </p:nvSpPr>
        <p:spPr bwMode="auto">
          <a:xfrm>
            <a:off x="571900" y="5305327"/>
            <a:ext cx="7976215" cy="427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Po</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litiques, normes, procédures et directives adaptées</a:t>
            </a:r>
            <a:endParaRPr lang="fr-ML" sz="5400"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4" name="Espace réservé du contenu 2">
            <a:extLst>
              <a:ext uri="{FF2B5EF4-FFF2-40B4-BE49-F238E27FC236}">
                <a16:creationId xmlns:a16="http://schemas.microsoft.com/office/drawing/2014/main" id="{0657C456-B224-43F3-86DD-8DF6A7AD35DE}"/>
              </a:ext>
            </a:extLst>
          </p:cNvPr>
          <p:cNvSpPr txBox="1">
            <a:spLocks/>
          </p:cNvSpPr>
          <p:nvPr/>
        </p:nvSpPr>
        <p:spPr bwMode="auto">
          <a:xfrm>
            <a:off x="827584" y="4196872"/>
            <a:ext cx="7976215" cy="788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Processus défini pour évaluer, mettre en œuvre, maintenir et gérer la sécurité de l'information</a:t>
            </a:r>
          </a:p>
        </p:txBody>
      </p:sp>
    </p:spTree>
    <p:extLst>
      <p:ext uri="{BB962C8B-B14F-4D97-AF65-F5344CB8AC3E}">
        <p14:creationId xmlns:p14="http://schemas.microsoft.com/office/powerpoint/2010/main" val="3001852867"/>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6C19AC8D-B502-4E93-87B5-CFCD481313BD}"/>
              </a:ext>
            </a:extLst>
          </p:cNvPr>
          <p:cNvSpPr txBox="1">
            <a:spLocks/>
          </p:cNvSpPr>
          <p:nvPr/>
        </p:nvSpPr>
        <p:spPr bwMode="auto">
          <a:xfrm>
            <a:off x="251520" y="1124744"/>
            <a:ext cx="640871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2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Avantage de SMSI…</a:t>
            </a:r>
            <a:endParaRPr lang="fr-ML" sz="3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itre 1">
            <a:extLst>
              <a:ext uri="{FF2B5EF4-FFF2-40B4-BE49-F238E27FC236}">
                <a16:creationId xmlns:a16="http://schemas.microsoft.com/office/drawing/2014/main" id="{49019D61-CBAD-4A24-8E4A-D94DC4B3E265}"/>
              </a:ext>
            </a:extLst>
          </p:cNvPr>
          <p:cNvSpPr txBox="1">
            <a:spLocks/>
          </p:cNvSpPr>
          <p:nvPr/>
        </p:nvSpPr>
        <p:spPr bwMode="auto">
          <a:xfrm>
            <a:off x="4572000" y="188640"/>
            <a:ext cx="406845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SMSI…</a:t>
            </a:r>
            <a:endParaRPr lang="fr-ML"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Espace réservé du contenu 2">
            <a:extLst>
              <a:ext uri="{FF2B5EF4-FFF2-40B4-BE49-F238E27FC236}">
                <a16:creationId xmlns:a16="http://schemas.microsoft.com/office/drawing/2014/main" id="{4292FA8F-AB7F-495F-AB35-89AAD0771C87}"/>
              </a:ext>
            </a:extLst>
          </p:cNvPr>
          <p:cNvSpPr txBox="1">
            <a:spLocks/>
          </p:cNvSpPr>
          <p:nvPr/>
        </p:nvSpPr>
        <p:spPr bwMode="auto">
          <a:xfrm>
            <a:off x="701708" y="2168859"/>
            <a:ext cx="8461448"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Un</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 planification et une gestion de la sécurité efficaces</a:t>
            </a:r>
            <a:endParaRPr lang="fr-ML" sz="5400"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1" name="Espace réservé du contenu 2">
            <a:extLst>
              <a:ext uri="{FF2B5EF4-FFF2-40B4-BE49-F238E27FC236}">
                <a16:creationId xmlns:a16="http://schemas.microsoft.com/office/drawing/2014/main" id="{E2BDACFB-EA17-482F-A9F6-9793D7F84C24}"/>
              </a:ext>
            </a:extLst>
          </p:cNvPr>
          <p:cNvSpPr txBox="1">
            <a:spLocks/>
          </p:cNvSpPr>
          <p:nvPr/>
        </p:nvSpPr>
        <p:spPr bwMode="auto">
          <a:xfrm>
            <a:off x="958066" y="3123440"/>
            <a:ext cx="7227868" cy="56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A</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ugmentation de la crédibilité, de la confiance des partenaires et des clients</a:t>
            </a:r>
          </a:p>
          <a:p>
            <a:pPr>
              <a:buBlip>
                <a:blip r:embed="rId2"/>
              </a:buBlip>
            </a:pPr>
            <a:endParaRPr lang="fr-ML"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Espace réservé du contenu 2">
            <a:extLst>
              <a:ext uri="{FF2B5EF4-FFF2-40B4-BE49-F238E27FC236}">
                <a16:creationId xmlns:a16="http://schemas.microsoft.com/office/drawing/2014/main" id="{9261C46D-7080-4968-8914-3F11D946BAA6}"/>
              </a:ext>
            </a:extLst>
          </p:cNvPr>
          <p:cNvSpPr txBox="1">
            <a:spLocks/>
          </p:cNvSpPr>
          <p:nvPr/>
        </p:nvSpPr>
        <p:spPr bwMode="auto">
          <a:xfrm>
            <a:off x="701708" y="5133027"/>
            <a:ext cx="7976215" cy="427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Compatibilité avec d'autres standards</a:t>
            </a:r>
            <a:endParaRPr lang="fr-ML" sz="5400" b="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5" name="Espace réservé du contenu 2">
            <a:extLst>
              <a:ext uri="{FF2B5EF4-FFF2-40B4-BE49-F238E27FC236}">
                <a16:creationId xmlns:a16="http://schemas.microsoft.com/office/drawing/2014/main" id="{016ED1D7-F5D9-4E98-8FDA-ACEDE4AC3148}"/>
              </a:ext>
            </a:extLst>
          </p:cNvPr>
          <p:cNvSpPr txBox="1">
            <a:spLocks/>
          </p:cNvSpPr>
          <p:nvPr/>
        </p:nvSpPr>
        <p:spPr bwMode="auto">
          <a:xfrm>
            <a:off x="958066" y="4228752"/>
            <a:ext cx="7976215" cy="788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L</a:t>
            </a:r>
            <a:r>
              <a:rPr lang="fr-ML"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 respect de tous les engagements valables</a:t>
            </a:r>
          </a:p>
        </p:txBody>
      </p:sp>
    </p:spTree>
    <p:extLst>
      <p:ext uri="{BB962C8B-B14F-4D97-AF65-F5344CB8AC3E}">
        <p14:creationId xmlns:p14="http://schemas.microsoft.com/office/powerpoint/2010/main" val="4051743296"/>
      </p:ext>
    </p:extLst>
  </p:cSld>
  <p:clrMapOvr>
    <a:masterClrMapping/>
  </p:clrMapOvr>
  <mc:AlternateContent xmlns:mc="http://schemas.openxmlformats.org/markup-compatibility/2006">
    <mc:Choice xmlns:p14="http://schemas.microsoft.com/office/powerpoint/2010/main" Requires="p14">
      <p:transition spd="slow" p14:dur="2000">
        <p14:honeycomb/>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34372661-5D72-4AC4-871A-C0DDF4AD5F3F}"/>
              </a:ext>
            </a:extLst>
          </p:cNvPr>
          <p:cNvSpPr txBox="1">
            <a:spLocks/>
          </p:cNvSpPr>
          <p:nvPr/>
        </p:nvSpPr>
        <p:spPr bwMode="auto">
          <a:xfrm>
            <a:off x="4572000" y="188640"/>
            <a:ext cx="406845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SMSI…</a:t>
            </a:r>
            <a:endParaRPr lang="fr-ML"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C61FC9A4-4FD3-41D1-B75D-655FDDAD01E7}"/>
              </a:ext>
            </a:extLst>
          </p:cNvPr>
          <p:cNvSpPr/>
          <p:nvPr/>
        </p:nvSpPr>
        <p:spPr>
          <a:xfrm>
            <a:off x="0" y="1144011"/>
            <a:ext cx="6841694" cy="8001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ML" sz="2800"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Concepts de sécurité de l’information</a:t>
            </a:r>
            <a:endParaRPr lang="fr-ML"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0" name="Groupe 29">
            <a:extLst>
              <a:ext uri="{FF2B5EF4-FFF2-40B4-BE49-F238E27FC236}">
                <a16:creationId xmlns:a16="http://schemas.microsoft.com/office/drawing/2014/main" id="{4FE0C732-1AA2-4E08-9817-D68D61096D95}"/>
              </a:ext>
            </a:extLst>
          </p:cNvPr>
          <p:cNvGrpSpPr/>
          <p:nvPr/>
        </p:nvGrpSpPr>
        <p:grpSpPr>
          <a:xfrm>
            <a:off x="501784" y="2251096"/>
            <a:ext cx="3260026" cy="3672102"/>
            <a:chOff x="1724166" y="1807168"/>
            <a:chExt cx="3246570" cy="3925859"/>
          </a:xfrm>
        </p:grpSpPr>
        <p:grpSp>
          <p:nvGrpSpPr>
            <p:cNvPr id="31" name="Groupe 30">
              <a:extLst>
                <a:ext uri="{FF2B5EF4-FFF2-40B4-BE49-F238E27FC236}">
                  <a16:creationId xmlns:a16="http://schemas.microsoft.com/office/drawing/2014/main" id="{B763FD3D-6D9B-4D59-8160-4A2A54DDE8F7}"/>
                </a:ext>
              </a:extLst>
            </p:cNvPr>
            <p:cNvGrpSpPr/>
            <p:nvPr/>
          </p:nvGrpSpPr>
          <p:grpSpPr>
            <a:xfrm>
              <a:off x="1829915" y="2048767"/>
              <a:ext cx="2875906" cy="2760466"/>
              <a:chOff x="8164761" y="1524931"/>
              <a:chExt cx="2494545" cy="2390942"/>
            </a:xfrm>
          </p:grpSpPr>
          <p:pic>
            <p:nvPicPr>
              <p:cNvPr id="35" name="Image 34">
                <a:extLst>
                  <a:ext uri="{FF2B5EF4-FFF2-40B4-BE49-F238E27FC236}">
                    <a16:creationId xmlns:a16="http://schemas.microsoft.com/office/drawing/2014/main" id="{46150993-05E8-4A91-AFF5-5609B91F9C94}"/>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Effect>
                          <a14:brightnessContrast bright="40000" contrast="-40000"/>
                        </a14:imgEffect>
                      </a14:imgLayer>
                    </a14:imgProps>
                  </a:ext>
                </a:extLst>
              </a:blip>
              <a:stretch>
                <a:fillRect/>
              </a:stretch>
            </p:blipFill>
            <p:spPr>
              <a:xfrm>
                <a:off x="8969006" y="2330459"/>
                <a:ext cx="723900" cy="1066800"/>
              </a:xfrm>
              <a:prstGeom prst="rect">
                <a:avLst/>
              </a:prstGeom>
              <a:ln>
                <a:noFill/>
              </a:ln>
              <a:effectLst/>
              <a:scene3d>
                <a:camera prst="orthographicFront">
                  <a:rot lat="0" lon="0" rev="0"/>
                </a:camera>
                <a:lightRig rig="contrasting" dir="t">
                  <a:rot lat="0" lon="0" rev="7800000"/>
                </a:lightRig>
              </a:scene3d>
              <a:sp3d>
                <a:bevelT w="139700" h="139700"/>
              </a:sp3d>
            </p:spPr>
          </p:pic>
          <p:sp>
            <p:nvSpPr>
              <p:cNvPr id="36" name="Flèche : virage 35">
                <a:extLst>
                  <a:ext uri="{FF2B5EF4-FFF2-40B4-BE49-F238E27FC236}">
                    <a16:creationId xmlns:a16="http://schemas.microsoft.com/office/drawing/2014/main" id="{8916C838-B60E-4F31-88D0-FD40559D5DE6}"/>
                  </a:ext>
                </a:extLst>
              </p:cNvPr>
              <p:cNvSpPr/>
              <p:nvPr/>
            </p:nvSpPr>
            <p:spPr>
              <a:xfrm rot="2366340">
                <a:off x="8693402" y="1524931"/>
                <a:ext cx="1411590" cy="1342444"/>
              </a:xfrm>
              <a:prstGeom prst="bentArrow">
                <a:avLst>
                  <a:gd name="adj1" fmla="val 27054"/>
                  <a:gd name="adj2" fmla="val 27214"/>
                  <a:gd name="adj3" fmla="val 25000"/>
                  <a:gd name="adj4" fmla="val 78912"/>
                </a:avLst>
              </a:prstGeom>
              <a:solidFill>
                <a:sysClr val="window" lastClr="FFFFFF">
                  <a:lumMod val="95000"/>
                </a:sys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7" name="Flèche : virage 36">
                <a:extLst>
                  <a:ext uri="{FF2B5EF4-FFF2-40B4-BE49-F238E27FC236}">
                    <a16:creationId xmlns:a16="http://schemas.microsoft.com/office/drawing/2014/main" id="{E1282280-B345-43FE-8723-E1C538D831BF}"/>
                  </a:ext>
                </a:extLst>
              </p:cNvPr>
              <p:cNvSpPr/>
              <p:nvPr/>
            </p:nvSpPr>
            <p:spPr>
              <a:xfrm rot="8923678">
                <a:off x="9431008" y="2783109"/>
                <a:ext cx="1228298" cy="1064525"/>
              </a:xfrm>
              <a:prstGeom prst="bentArrow">
                <a:avLst>
                  <a:gd name="adj1" fmla="val 35257"/>
                  <a:gd name="adj2" fmla="val 34615"/>
                  <a:gd name="adj3" fmla="val 25000"/>
                  <a:gd name="adj4" fmla="val 83494"/>
                </a:avLst>
              </a:prstGeom>
              <a:solidFill>
                <a:sysClr val="window" lastClr="FFFFFF">
                  <a:lumMod val="95000"/>
                </a:sys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8" name="Flèche : virage 37">
                <a:extLst>
                  <a:ext uri="{FF2B5EF4-FFF2-40B4-BE49-F238E27FC236}">
                    <a16:creationId xmlns:a16="http://schemas.microsoft.com/office/drawing/2014/main" id="{B5E4E60C-FF87-4E76-AFC0-A54A5B665FA4}"/>
                  </a:ext>
                </a:extLst>
              </p:cNvPr>
              <p:cNvSpPr/>
              <p:nvPr/>
            </p:nvSpPr>
            <p:spPr>
              <a:xfrm rot="16002010">
                <a:off x="8082875" y="2769461"/>
                <a:ext cx="1228298" cy="1064525"/>
              </a:xfrm>
              <a:prstGeom prst="bentArrow">
                <a:avLst>
                  <a:gd name="adj1" fmla="val 35257"/>
                  <a:gd name="adj2" fmla="val 34615"/>
                  <a:gd name="adj3" fmla="val 25000"/>
                  <a:gd name="adj4" fmla="val 83494"/>
                </a:avLst>
              </a:prstGeom>
              <a:solidFill>
                <a:sysClr val="window" lastClr="FFFFFF">
                  <a:lumMod val="95000"/>
                </a:sys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pic>
            <p:nvPicPr>
              <p:cNvPr id="39" name="Image 38">
                <a:extLst>
                  <a:ext uri="{FF2B5EF4-FFF2-40B4-BE49-F238E27FC236}">
                    <a16:creationId xmlns:a16="http://schemas.microsoft.com/office/drawing/2014/main" id="{07FC73F4-3065-4074-B23C-5BB652F1B12F}"/>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Lst>
              </a:blip>
              <a:stretch>
                <a:fillRect/>
              </a:stretch>
            </p:blipFill>
            <p:spPr>
              <a:xfrm>
                <a:off x="8427712" y="3177991"/>
                <a:ext cx="365963" cy="365963"/>
              </a:xfrm>
              <a:prstGeom prst="rect">
                <a:avLst/>
              </a:prstGeom>
            </p:spPr>
          </p:pic>
          <p:pic>
            <p:nvPicPr>
              <p:cNvPr id="40" name="Image 39">
                <a:extLst>
                  <a:ext uri="{FF2B5EF4-FFF2-40B4-BE49-F238E27FC236}">
                    <a16:creationId xmlns:a16="http://schemas.microsoft.com/office/drawing/2014/main" id="{8EBBAFEF-2B35-439D-A45F-67C6BA78C4EB}"/>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Lst>
              </a:blip>
              <a:stretch>
                <a:fillRect/>
              </a:stretch>
            </p:blipFill>
            <p:spPr>
              <a:xfrm>
                <a:off x="9147974" y="1782226"/>
                <a:ext cx="365963" cy="365963"/>
              </a:xfrm>
              <a:prstGeom prst="rect">
                <a:avLst/>
              </a:prstGeom>
            </p:spPr>
          </p:pic>
          <p:pic>
            <p:nvPicPr>
              <p:cNvPr id="41" name="Image 40">
                <a:extLst>
                  <a:ext uri="{FF2B5EF4-FFF2-40B4-BE49-F238E27FC236}">
                    <a16:creationId xmlns:a16="http://schemas.microsoft.com/office/drawing/2014/main" id="{3AA38E38-9F20-4693-BD16-5D7F0E6838A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Lst>
              </a:blip>
              <a:stretch>
                <a:fillRect/>
              </a:stretch>
            </p:blipFill>
            <p:spPr>
              <a:xfrm>
                <a:off x="10001047" y="3031296"/>
                <a:ext cx="365963" cy="365963"/>
              </a:xfrm>
              <a:prstGeom prst="rect">
                <a:avLst/>
              </a:prstGeom>
            </p:spPr>
          </p:pic>
        </p:grpSp>
        <p:sp>
          <p:nvSpPr>
            <p:cNvPr id="32" name="Rectangle 31">
              <a:extLst>
                <a:ext uri="{FF2B5EF4-FFF2-40B4-BE49-F238E27FC236}">
                  <a16:creationId xmlns:a16="http://schemas.microsoft.com/office/drawing/2014/main" id="{30D6BF71-FC6B-41E9-BD5A-2065A71B0970}"/>
                </a:ext>
              </a:extLst>
            </p:cNvPr>
            <p:cNvSpPr/>
            <p:nvPr/>
          </p:nvSpPr>
          <p:spPr>
            <a:xfrm>
              <a:off x="2116693" y="1807168"/>
              <a:ext cx="2115403" cy="559558"/>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srgbClr val="002060"/>
                  </a:solidFill>
                  <a:effectLst/>
                  <a:uLnTx/>
                  <a:uFillTx/>
                  <a:latin typeface="Calibri" panose="020F0502020204030204"/>
                  <a:ea typeface="+mn-ea"/>
                  <a:cs typeface="+mn-cs"/>
                </a:rPr>
                <a:t>Confidentialité</a:t>
              </a:r>
            </a:p>
          </p:txBody>
        </p:sp>
        <p:sp>
          <p:nvSpPr>
            <p:cNvPr id="33" name="Rectangle 32">
              <a:extLst>
                <a:ext uri="{FF2B5EF4-FFF2-40B4-BE49-F238E27FC236}">
                  <a16:creationId xmlns:a16="http://schemas.microsoft.com/office/drawing/2014/main" id="{413F22B7-876C-40E2-B2E9-98A6F626CAA3}"/>
                </a:ext>
              </a:extLst>
            </p:cNvPr>
            <p:cNvSpPr/>
            <p:nvPr/>
          </p:nvSpPr>
          <p:spPr>
            <a:xfrm rot="6364047">
              <a:off x="3565432" y="4031097"/>
              <a:ext cx="2294793" cy="515815"/>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srgbClr val="002060"/>
                  </a:solidFill>
                  <a:effectLst/>
                  <a:uLnTx/>
                  <a:uFillTx/>
                  <a:latin typeface="Calibri" panose="020F0502020204030204"/>
                  <a:ea typeface="+mn-ea"/>
                  <a:cs typeface="+mn-cs"/>
                </a:rPr>
                <a:t>Intégrité</a:t>
              </a:r>
            </a:p>
          </p:txBody>
        </p:sp>
        <p:sp>
          <p:nvSpPr>
            <p:cNvPr id="34" name="Rectangle 33">
              <a:extLst>
                <a:ext uri="{FF2B5EF4-FFF2-40B4-BE49-F238E27FC236}">
                  <a16:creationId xmlns:a16="http://schemas.microsoft.com/office/drawing/2014/main" id="{FE1BDA47-C7E0-4185-92AC-A5254F865854}"/>
                </a:ext>
              </a:extLst>
            </p:cNvPr>
            <p:cNvSpPr/>
            <p:nvPr/>
          </p:nvSpPr>
          <p:spPr>
            <a:xfrm rot="13713878">
              <a:off x="834677" y="4327723"/>
              <a:ext cx="2294793" cy="515815"/>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srgbClr val="002060"/>
                  </a:solidFill>
                  <a:effectLst/>
                  <a:uLnTx/>
                  <a:uFillTx/>
                  <a:latin typeface="Calibri" panose="020F0502020204030204"/>
                  <a:ea typeface="+mn-ea"/>
                  <a:cs typeface="+mn-cs"/>
                </a:rPr>
                <a:t>Disponibilité</a:t>
              </a:r>
            </a:p>
          </p:txBody>
        </p:sp>
      </p:grpSp>
      <p:grpSp>
        <p:nvGrpSpPr>
          <p:cNvPr id="43" name="Groupe 42">
            <a:extLst>
              <a:ext uri="{FF2B5EF4-FFF2-40B4-BE49-F238E27FC236}">
                <a16:creationId xmlns:a16="http://schemas.microsoft.com/office/drawing/2014/main" id="{910234C2-3DDE-4592-A15E-9A1447E0B550}"/>
              </a:ext>
            </a:extLst>
          </p:cNvPr>
          <p:cNvGrpSpPr/>
          <p:nvPr/>
        </p:nvGrpSpPr>
        <p:grpSpPr>
          <a:xfrm>
            <a:off x="4263594" y="1808358"/>
            <a:ext cx="4552070" cy="1364994"/>
            <a:chOff x="6662057" y="984704"/>
            <a:chExt cx="5029200" cy="1736725"/>
          </a:xfrm>
        </p:grpSpPr>
        <p:sp>
          <p:nvSpPr>
            <p:cNvPr id="50" name="Rectangle 49">
              <a:extLst>
                <a:ext uri="{FF2B5EF4-FFF2-40B4-BE49-F238E27FC236}">
                  <a16:creationId xmlns:a16="http://schemas.microsoft.com/office/drawing/2014/main" id="{B609C852-DB13-4374-8E7E-F67EA9F9D92C}"/>
                </a:ext>
              </a:extLst>
            </p:cNvPr>
            <p:cNvSpPr/>
            <p:nvPr/>
          </p:nvSpPr>
          <p:spPr>
            <a:xfrm>
              <a:off x="6662057" y="984704"/>
              <a:ext cx="5029200" cy="561067"/>
            </a:xfrm>
            <a:prstGeom prst="rect">
              <a:avLst/>
            </a:prstGeom>
            <a:solidFill>
              <a:srgbClr val="002060"/>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Confidentialité</a:t>
              </a:r>
            </a:p>
          </p:txBody>
        </p:sp>
        <p:sp>
          <p:nvSpPr>
            <p:cNvPr id="51" name="Rectangle 50">
              <a:extLst>
                <a:ext uri="{FF2B5EF4-FFF2-40B4-BE49-F238E27FC236}">
                  <a16:creationId xmlns:a16="http://schemas.microsoft.com/office/drawing/2014/main" id="{9C23E477-2358-4AA4-BE47-5DEB03DF7C44}"/>
                </a:ext>
              </a:extLst>
            </p:cNvPr>
            <p:cNvSpPr/>
            <p:nvPr/>
          </p:nvSpPr>
          <p:spPr>
            <a:xfrm>
              <a:off x="6662057" y="1545771"/>
              <a:ext cx="5029200" cy="1175658"/>
            </a:xfrm>
            <a:prstGeom prst="rect">
              <a:avLst/>
            </a:prstGeom>
            <a:solidFill>
              <a:sysClr val="window" lastClr="FFFFFF">
                <a:lumMod val="95000"/>
              </a:sys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000" b="1" i="1" u="none" strike="noStrike" kern="0" cap="none" spc="0" normalizeH="0" baseline="0" noProof="0" dirty="0">
                  <a:ln>
                    <a:noFill/>
                  </a:ln>
                  <a:solidFill>
                    <a:prstClr val="black"/>
                  </a:solidFill>
                  <a:effectLst/>
                  <a:uLnTx/>
                  <a:uFillTx/>
                  <a:latin typeface="Calibri" panose="020F0502020204030204"/>
                  <a:ea typeface="+mn-ea"/>
                  <a:cs typeface="+mn-cs"/>
                </a:rPr>
                <a:t>Il s’agit de s’assurer que l’information est seulement accessible à ceux qui ont l’autorisation d’y accéder</a:t>
              </a:r>
              <a:endParaRPr kumimoji="0" lang="fr-ML" sz="2000" b="1" i="1"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4" name="Groupe 43">
            <a:extLst>
              <a:ext uri="{FF2B5EF4-FFF2-40B4-BE49-F238E27FC236}">
                <a16:creationId xmlns:a16="http://schemas.microsoft.com/office/drawing/2014/main" id="{A562DB06-D2FA-4C9C-AE39-C779263F9E63}"/>
              </a:ext>
            </a:extLst>
          </p:cNvPr>
          <p:cNvGrpSpPr/>
          <p:nvPr/>
        </p:nvGrpSpPr>
        <p:grpSpPr>
          <a:xfrm>
            <a:off x="4263594" y="3368263"/>
            <a:ext cx="4552070" cy="1317092"/>
            <a:chOff x="6662057" y="984704"/>
            <a:chExt cx="5029200" cy="1574023"/>
          </a:xfrm>
        </p:grpSpPr>
        <p:sp>
          <p:nvSpPr>
            <p:cNvPr id="48" name="Rectangle 47">
              <a:extLst>
                <a:ext uri="{FF2B5EF4-FFF2-40B4-BE49-F238E27FC236}">
                  <a16:creationId xmlns:a16="http://schemas.microsoft.com/office/drawing/2014/main" id="{F08BBF15-6F36-4766-B79B-1529D9E3042E}"/>
                </a:ext>
              </a:extLst>
            </p:cNvPr>
            <p:cNvSpPr/>
            <p:nvPr/>
          </p:nvSpPr>
          <p:spPr>
            <a:xfrm>
              <a:off x="6662057" y="984704"/>
              <a:ext cx="5029200" cy="561067"/>
            </a:xfrm>
            <a:prstGeom prst="rect">
              <a:avLst/>
            </a:prstGeom>
            <a:solidFill>
              <a:srgbClr val="002060"/>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Intégrité</a:t>
              </a:r>
            </a:p>
          </p:txBody>
        </p:sp>
        <p:sp>
          <p:nvSpPr>
            <p:cNvPr id="49" name="Rectangle 48">
              <a:extLst>
                <a:ext uri="{FF2B5EF4-FFF2-40B4-BE49-F238E27FC236}">
                  <a16:creationId xmlns:a16="http://schemas.microsoft.com/office/drawing/2014/main" id="{B9F03E50-C06D-48A6-B919-0D8B85D67C13}"/>
                </a:ext>
              </a:extLst>
            </p:cNvPr>
            <p:cNvSpPr/>
            <p:nvPr/>
          </p:nvSpPr>
          <p:spPr>
            <a:xfrm>
              <a:off x="6662057" y="1545772"/>
              <a:ext cx="5029200" cy="1012955"/>
            </a:xfrm>
            <a:prstGeom prst="rect">
              <a:avLst/>
            </a:prstGeom>
            <a:solidFill>
              <a:sysClr val="window" lastClr="FFFFFF">
                <a:lumMod val="95000"/>
              </a:sys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000" b="1" i="1" u="none" strike="noStrike" kern="0" cap="none" spc="0" normalizeH="0" baseline="0" noProof="0" dirty="0">
                  <a:ln>
                    <a:noFill/>
                  </a:ln>
                  <a:solidFill>
                    <a:prstClr val="black"/>
                  </a:solidFill>
                  <a:effectLst/>
                  <a:uLnTx/>
                  <a:uFillTx/>
                  <a:latin typeface="Calibri" panose="020F0502020204030204"/>
                  <a:ea typeface="+mn-ea"/>
                  <a:cs typeface="+mn-cs"/>
                </a:rPr>
                <a:t>L’information doit être précise, complète et ne doit ni être altérée, ni altérable</a:t>
              </a:r>
              <a:endParaRPr kumimoji="0" lang="fr-ML" sz="2000" b="1" i="1"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5" name="Groupe 44">
            <a:extLst>
              <a:ext uri="{FF2B5EF4-FFF2-40B4-BE49-F238E27FC236}">
                <a16:creationId xmlns:a16="http://schemas.microsoft.com/office/drawing/2014/main" id="{27013816-B743-4C6E-AD47-5B2C11E20D83}"/>
              </a:ext>
            </a:extLst>
          </p:cNvPr>
          <p:cNvGrpSpPr/>
          <p:nvPr/>
        </p:nvGrpSpPr>
        <p:grpSpPr>
          <a:xfrm>
            <a:off x="4263594" y="4991758"/>
            <a:ext cx="4552070" cy="1386510"/>
            <a:chOff x="6662057" y="984705"/>
            <a:chExt cx="5029200" cy="1442919"/>
          </a:xfrm>
        </p:grpSpPr>
        <p:sp>
          <p:nvSpPr>
            <p:cNvPr id="46" name="Rectangle 45">
              <a:extLst>
                <a:ext uri="{FF2B5EF4-FFF2-40B4-BE49-F238E27FC236}">
                  <a16:creationId xmlns:a16="http://schemas.microsoft.com/office/drawing/2014/main" id="{79B88FEB-0253-492E-9DD3-2074AA0CB598}"/>
                </a:ext>
              </a:extLst>
            </p:cNvPr>
            <p:cNvSpPr/>
            <p:nvPr/>
          </p:nvSpPr>
          <p:spPr>
            <a:xfrm>
              <a:off x="6662057" y="984705"/>
              <a:ext cx="5029200" cy="451810"/>
            </a:xfrm>
            <a:prstGeom prst="rect">
              <a:avLst/>
            </a:prstGeom>
            <a:solidFill>
              <a:srgbClr val="002060"/>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Disponibilité</a:t>
              </a:r>
            </a:p>
          </p:txBody>
        </p:sp>
        <p:sp>
          <p:nvSpPr>
            <p:cNvPr id="47" name="Rectangle 46">
              <a:extLst>
                <a:ext uri="{FF2B5EF4-FFF2-40B4-BE49-F238E27FC236}">
                  <a16:creationId xmlns:a16="http://schemas.microsoft.com/office/drawing/2014/main" id="{48DFEF3A-CE2B-427F-90D6-363A38D37D6B}"/>
                </a:ext>
              </a:extLst>
            </p:cNvPr>
            <p:cNvSpPr/>
            <p:nvPr/>
          </p:nvSpPr>
          <p:spPr>
            <a:xfrm>
              <a:off x="6662057" y="1480457"/>
              <a:ext cx="5029200" cy="947167"/>
            </a:xfrm>
            <a:prstGeom prst="rect">
              <a:avLst/>
            </a:prstGeom>
            <a:solidFill>
              <a:sysClr val="window" lastClr="FFFFFF">
                <a:lumMod val="95000"/>
              </a:sys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000" b="1" i="1" u="none" strike="noStrike" kern="0" cap="none" spc="0" normalizeH="0" baseline="0" noProof="0" dirty="0">
                  <a:ln>
                    <a:noFill/>
                  </a:ln>
                  <a:solidFill>
                    <a:prstClr val="black"/>
                  </a:solidFill>
                  <a:effectLst/>
                  <a:uLnTx/>
                  <a:uFillTx/>
                  <a:latin typeface="Calibri" panose="020F0502020204030204"/>
                  <a:ea typeface="+mn-ea"/>
                  <a:cs typeface="+mn-cs"/>
                </a:rPr>
                <a:t>L’information doit être disponible à tout moment aux seules personnes qui ont accès à cette information précise</a:t>
              </a:r>
              <a:endParaRPr kumimoji="0" lang="fr-ML" sz="2000" b="1" i="1"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584230431"/>
      </p:ext>
    </p:extLst>
  </p:cSld>
  <p:clrMapOvr>
    <a:masterClrMapping/>
  </p:clrMapOvr>
  <mc:AlternateContent xmlns:mc="http://schemas.openxmlformats.org/markup-compatibility/2006">
    <mc:Choice xmlns:p14="http://schemas.microsoft.com/office/powerpoint/2010/main" Requires="p14">
      <p:transition spd="slow" p14:dur="800">
        <p14:flythrough dir="ou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arn(inVertic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barn(outHorizontal)">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barn(outVertical)">
                                      <p:cBhvr>
                                        <p:cTn id="2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91BEB96C-565B-4E11-99E7-D15F05571375}"/>
              </a:ext>
            </a:extLst>
          </p:cNvPr>
          <p:cNvSpPr txBox="1">
            <a:spLocks/>
          </p:cNvSpPr>
          <p:nvPr/>
        </p:nvSpPr>
        <p:spPr bwMode="auto">
          <a:xfrm>
            <a:off x="0" y="1056853"/>
            <a:ext cx="640871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2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Processus de mise en œuvre de SMSI </a:t>
            </a:r>
            <a:endParaRPr lang="fr-ML" sz="4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3" name="Groupe 32">
            <a:extLst>
              <a:ext uri="{FF2B5EF4-FFF2-40B4-BE49-F238E27FC236}">
                <a16:creationId xmlns:a16="http://schemas.microsoft.com/office/drawing/2014/main" id="{C3ABE73E-2107-49C0-B8C2-3AA1A4F22868}"/>
              </a:ext>
            </a:extLst>
          </p:cNvPr>
          <p:cNvGrpSpPr/>
          <p:nvPr/>
        </p:nvGrpSpPr>
        <p:grpSpPr>
          <a:xfrm>
            <a:off x="179512" y="1680259"/>
            <a:ext cx="8576892" cy="4989101"/>
            <a:chOff x="137644" y="822960"/>
            <a:chExt cx="11848855" cy="5943600"/>
          </a:xfrm>
        </p:grpSpPr>
        <p:grpSp>
          <p:nvGrpSpPr>
            <p:cNvPr id="36" name="Groupe 35">
              <a:extLst>
                <a:ext uri="{FF2B5EF4-FFF2-40B4-BE49-F238E27FC236}">
                  <a16:creationId xmlns:a16="http://schemas.microsoft.com/office/drawing/2014/main" id="{A465323C-EE90-46BE-9AB2-868DB7B88DBE}"/>
                </a:ext>
              </a:extLst>
            </p:cNvPr>
            <p:cNvGrpSpPr/>
            <p:nvPr/>
          </p:nvGrpSpPr>
          <p:grpSpPr>
            <a:xfrm>
              <a:off x="2175510" y="822960"/>
              <a:ext cx="7814310" cy="5943600"/>
              <a:chOff x="1946910" y="822960"/>
              <a:chExt cx="7814310" cy="5943600"/>
            </a:xfrm>
          </p:grpSpPr>
          <p:sp>
            <p:nvSpPr>
              <p:cNvPr id="43" name="Ellipse 42">
                <a:extLst>
                  <a:ext uri="{FF2B5EF4-FFF2-40B4-BE49-F238E27FC236}">
                    <a16:creationId xmlns:a16="http://schemas.microsoft.com/office/drawing/2014/main" id="{3013C95F-53B8-40F1-BBEA-BB728965A756}"/>
                  </a:ext>
                </a:extLst>
              </p:cNvPr>
              <p:cNvSpPr/>
              <p:nvPr/>
            </p:nvSpPr>
            <p:spPr>
              <a:xfrm>
                <a:off x="1946910" y="822960"/>
                <a:ext cx="7814310" cy="5943600"/>
              </a:xfrm>
              <a:prstGeom prst="ellipse">
                <a:avLst/>
              </a:prstGeom>
              <a:solidFill>
                <a:srgbClr val="A5A5A5">
                  <a:lumMod val="20000"/>
                  <a:lumOff val="80000"/>
                </a:srgbClr>
              </a:solidFill>
              <a:ln w="50800" cap="flat" cmpd="sng" algn="ctr">
                <a:solidFill>
                  <a:srgbClr val="4472C4">
                    <a:shade val="50000"/>
                  </a:srgbClr>
                </a:solidFill>
                <a:prstDash val="sysDash"/>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01B3ED31-801A-42FD-8725-79B2D6D7AAD6}"/>
                  </a:ext>
                </a:extLst>
              </p:cNvPr>
              <p:cNvSpPr/>
              <p:nvPr/>
            </p:nvSpPr>
            <p:spPr>
              <a:xfrm>
                <a:off x="4676774" y="1052272"/>
                <a:ext cx="2354580" cy="800100"/>
              </a:xfrm>
              <a:prstGeom prst="rect">
                <a:avLst/>
              </a:prstGeom>
              <a:solidFill>
                <a:srgbClr val="002060"/>
              </a:solidFill>
              <a:ln w="50800" cap="flat" cmpd="sng" algn="ctr">
                <a:solidFill>
                  <a:sysClr val="window" lastClr="FFFFFF"/>
                </a:solidFill>
                <a:prstDash val="solid"/>
                <a:miter lim="800000"/>
              </a:ln>
              <a:effectLst/>
              <a:scene3d>
                <a:camera prst="orthographicFront"/>
                <a:lightRig rig="threePt" dir="t"/>
              </a:scene3d>
              <a:sp3d>
                <a:bevelT w="114300" prst="artDeco"/>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800" b="1" i="0" u="none" strike="noStrike" kern="0" cap="none" spc="0" normalizeH="0" baseline="0" noProof="0" dirty="0">
                    <a:ln>
                      <a:noFill/>
                    </a:ln>
                    <a:solidFill>
                      <a:prstClr val="white"/>
                    </a:solidFill>
                    <a:effectLst/>
                    <a:uLnTx/>
                    <a:uFillTx/>
                    <a:latin typeface="Calibri" panose="020F0502020204030204"/>
                    <a:ea typeface="+mn-ea"/>
                    <a:cs typeface="+mn-cs"/>
                  </a:rPr>
                  <a:t>Planifier</a:t>
                </a:r>
                <a:endParaRPr kumimoji="0" lang="fr-ML" sz="14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CF222330-89A5-4487-BE38-667BC865445F}"/>
                  </a:ext>
                </a:extLst>
              </p:cNvPr>
              <p:cNvSpPr/>
              <p:nvPr/>
            </p:nvSpPr>
            <p:spPr>
              <a:xfrm>
                <a:off x="7281388" y="3394710"/>
                <a:ext cx="2354580" cy="800100"/>
              </a:xfrm>
              <a:prstGeom prst="rect">
                <a:avLst/>
              </a:prstGeom>
              <a:solidFill>
                <a:srgbClr val="002060"/>
              </a:solidFill>
              <a:ln w="50800" cap="flat" cmpd="sng" algn="ctr">
                <a:solidFill>
                  <a:sysClr val="window" lastClr="FFFFFF"/>
                </a:solidFill>
                <a:prstDash val="solid"/>
                <a:miter lim="800000"/>
              </a:ln>
              <a:effectLst/>
              <a:scene3d>
                <a:camera prst="orthographicFront"/>
                <a:lightRig rig="threePt" dir="t"/>
              </a:scene3d>
              <a:sp3d>
                <a:bevelT w="114300" prst="artDeco"/>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800" b="1" i="0" u="none" strike="noStrike" kern="0" cap="none" spc="0" normalizeH="0" baseline="0" noProof="0" dirty="0">
                    <a:ln>
                      <a:noFill/>
                    </a:ln>
                    <a:solidFill>
                      <a:prstClr val="white"/>
                    </a:solidFill>
                    <a:effectLst/>
                    <a:uLnTx/>
                    <a:uFillTx/>
                    <a:latin typeface="Calibri" panose="020F0502020204030204"/>
                    <a:ea typeface="+mn-ea"/>
                    <a:cs typeface="+mn-cs"/>
                  </a:rPr>
                  <a:t>Déployer</a:t>
                </a:r>
                <a:endParaRPr kumimoji="0" lang="fr-ML" sz="14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6" name="Rectangle 45">
                <a:extLst>
                  <a:ext uri="{FF2B5EF4-FFF2-40B4-BE49-F238E27FC236}">
                    <a16:creationId xmlns:a16="http://schemas.microsoft.com/office/drawing/2014/main" id="{134F9AF9-3BEE-4F78-B996-BD7429CBADAA}"/>
                  </a:ext>
                </a:extLst>
              </p:cNvPr>
              <p:cNvSpPr/>
              <p:nvPr/>
            </p:nvSpPr>
            <p:spPr>
              <a:xfrm>
                <a:off x="4676774" y="5712668"/>
                <a:ext cx="2354580" cy="800100"/>
              </a:xfrm>
              <a:prstGeom prst="rect">
                <a:avLst/>
              </a:prstGeom>
              <a:solidFill>
                <a:srgbClr val="002060"/>
              </a:solidFill>
              <a:ln w="50800" cap="flat" cmpd="sng" algn="ctr">
                <a:solidFill>
                  <a:sysClr val="window" lastClr="FFFFFF"/>
                </a:solidFill>
                <a:prstDash val="solid"/>
                <a:miter lim="800000"/>
              </a:ln>
              <a:effectLst/>
              <a:scene3d>
                <a:camera prst="orthographicFront"/>
                <a:lightRig rig="threePt" dir="t"/>
              </a:scene3d>
              <a:sp3d>
                <a:bevelT w="114300" prst="artDeco"/>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800" b="1" i="0" u="none" strike="noStrike" kern="0" cap="none" spc="0" normalizeH="0" baseline="0" noProof="0" dirty="0">
                    <a:ln>
                      <a:noFill/>
                    </a:ln>
                    <a:solidFill>
                      <a:prstClr val="white"/>
                    </a:solidFill>
                    <a:effectLst/>
                    <a:uLnTx/>
                    <a:uFillTx/>
                    <a:latin typeface="Calibri" panose="020F0502020204030204"/>
                    <a:ea typeface="+mn-ea"/>
                    <a:cs typeface="+mn-cs"/>
                  </a:rPr>
                  <a:t>Contrôler</a:t>
                </a:r>
                <a:endParaRPr kumimoji="0" lang="fr-ML" sz="14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7" name="Rectangle 46">
                <a:extLst>
                  <a:ext uri="{FF2B5EF4-FFF2-40B4-BE49-F238E27FC236}">
                    <a16:creationId xmlns:a16="http://schemas.microsoft.com/office/drawing/2014/main" id="{3C8BD5BE-C86E-4C7A-BBAF-7FE21C6326CE}"/>
                  </a:ext>
                </a:extLst>
              </p:cNvPr>
              <p:cNvSpPr/>
              <p:nvPr/>
            </p:nvSpPr>
            <p:spPr>
              <a:xfrm>
                <a:off x="2141423" y="3394710"/>
                <a:ext cx="2354580" cy="800100"/>
              </a:xfrm>
              <a:prstGeom prst="rect">
                <a:avLst/>
              </a:prstGeom>
              <a:solidFill>
                <a:srgbClr val="002060"/>
              </a:solidFill>
              <a:ln w="50800" cap="flat" cmpd="sng" algn="ctr">
                <a:solidFill>
                  <a:sysClr val="window" lastClr="FFFFFF"/>
                </a:solidFill>
                <a:prstDash val="solid"/>
                <a:miter lim="800000"/>
              </a:ln>
              <a:effectLst/>
              <a:scene3d>
                <a:camera prst="orthographicFront"/>
                <a:lightRig rig="threePt" dir="t"/>
              </a:scene3d>
              <a:sp3d>
                <a:bevelT w="114300" prst="artDeco"/>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800" b="1" i="0" u="none" strike="noStrike" kern="0" cap="none" spc="0" normalizeH="0" baseline="0" noProof="0" dirty="0">
                    <a:ln>
                      <a:noFill/>
                    </a:ln>
                    <a:solidFill>
                      <a:prstClr val="white"/>
                    </a:solidFill>
                    <a:effectLst/>
                    <a:uLnTx/>
                    <a:uFillTx/>
                    <a:latin typeface="Calibri" panose="020F0502020204030204"/>
                    <a:ea typeface="+mn-ea"/>
                    <a:cs typeface="+mn-cs"/>
                  </a:rPr>
                  <a:t>Agir</a:t>
                </a:r>
                <a:endParaRPr kumimoji="0" lang="fr-ML" sz="14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8" name="Flèche : droite 47">
                <a:extLst>
                  <a:ext uri="{FF2B5EF4-FFF2-40B4-BE49-F238E27FC236}">
                    <a16:creationId xmlns:a16="http://schemas.microsoft.com/office/drawing/2014/main" id="{6ABE8141-F5A5-4048-83BD-F6B87D2FBD93}"/>
                  </a:ext>
                </a:extLst>
              </p:cNvPr>
              <p:cNvSpPr/>
              <p:nvPr/>
            </p:nvSpPr>
            <p:spPr>
              <a:xfrm rot="18709146">
                <a:off x="2723198" y="1889905"/>
                <a:ext cx="1177290" cy="800100"/>
              </a:xfrm>
              <a:prstGeom prst="rightArrow">
                <a:avLst/>
              </a:prstGeom>
              <a:noFill/>
              <a:ln w="50800" cap="flat" cmpd="sng" algn="ctr">
                <a:solidFill>
                  <a:srgbClr val="00206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9" name="Flèche : droite 48">
                <a:extLst>
                  <a:ext uri="{FF2B5EF4-FFF2-40B4-BE49-F238E27FC236}">
                    <a16:creationId xmlns:a16="http://schemas.microsoft.com/office/drawing/2014/main" id="{E4720458-AB90-4236-A643-E492FA715588}"/>
                  </a:ext>
                </a:extLst>
              </p:cNvPr>
              <p:cNvSpPr/>
              <p:nvPr/>
            </p:nvSpPr>
            <p:spPr>
              <a:xfrm rot="2727324">
                <a:off x="7715177" y="1907480"/>
                <a:ext cx="1177290" cy="800100"/>
              </a:xfrm>
              <a:prstGeom prst="rightArrow">
                <a:avLst/>
              </a:prstGeom>
              <a:noFill/>
              <a:ln w="50800" cap="flat" cmpd="sng" algn="ctr">
                <a:solidFill>
                  <a:srgbClr val="00206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0" name="Flèche : droite 49">
                <a:extLst>
                  <a:ext uri="{FF2B5EF4-FFF2-40B4-BE49-F238E27FC236}">
                    <a16:creationId xmlns:a16="http://schemas.microsoft.com/office/drawing/2014/main" id="{63C9DD39-8D26-4B8D-B1DF-6A038B1BEF92}"/>
                  </a:ext>
                </a:extLst>
              </p:cNvPr>
              <p:cNvSpPr/>
              <p:nvPr/>
            </p:nvSpPr>
            <p:spPr>
              <a:xfrm rot="7992611">
                <a:off x="7466884" y="5194928"/>
                <a:ext cx="1177290" cy="800100"/>
              </a:xfrm>
              <a:prstGeom prst="rightArrow">
                <a:avLst/>
              </a:prstGeom>
              <a:noFill/>
              <a:ln w="50800" cap="flat" cmpd="sng" algn="ctr">
                <a:solidFill>
                  <a:srgbClr val="00206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1" name="Flèche : droite 50">
                <a:extLst>
                  <a:ext uri="{FF2B5EF4-FFF2-40B4-BE49-F238E27FC236}">
                    <a16:creationId xmlns:a16="http://schemas.microsoft.com/office/drawing/2014/main" id="{C852DFBB-DE10-4B6F-98D8-268BA899B5B9}"/>
                  </a:ext>
                </a:extLst>
              </p:cNvPr>
              <p:cNvSpPr/>
              <p:nvPr/>
            </p:nvSpPr>
            <p:spPr>
              <a:xfrm rot="13392494">
                <a:off x="3002556" y="5166566"/>
                <a:ext cx="1177290" cy="669649"/>
              </a:xfrm>
              <a:prstGeom prst="rightArrow">
                <a:avLst/>
              </a:prstGeom>
              <a:noFill/>
              <a:ln w="50800" cap="flat" cmpd="sng" algn="ctr">
                <a:solidFill>
                  <a:srgbClr val="00206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52" name="ZoneTexte 51">
                <a:extLst>
                  <a:ext uri="{FF2B5EF4-FFF2-40B4-BE49-F238E27FC236}">
                    <a16:creationId xmlns:a16="http://schemas.microsoft.com/office/drawing/2014/main" id="{D85D1225-36CD-40F1-A9C1-07871AFE92B4}"/>
                  </a:ext>
                </a:extLst>
              </p:cNvPr>
              <p:cNvSpPr txBox="1"/>
              <p:nvPr/>
            </p:nvSpPr>
            <p:spPr>
              <a:xfrm>
                <a:off x="4783440" y="1863090"/>
                <a:ext cx="3571643" cy="366660"/>
              </a:xfrm>
              <a:prstGeom prst="rect">
                <a:avLst/>
              </a:prstGeom>
              <a:noFill/>
              <a:ln>
                <a:noFill/>
              </a:ln>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fr-ML" sz="1400" b="1" i="1" u="none" strike="noStrike" kern="0" cap="none" spc="0" normalizeH="0" baseline="0" noProof="0" dirty="0">
                    <a:ln>
                      <a:noFill/>
                    </a:ln>
                    <a:solidFill>
                      <a:srgbClr val="002060"/>
                    </a:solidFill>
                    <a:effectLst/>
                    <a:uLnTx/>
                    <a:uFillTx/>
                    <a:latin typeface="Calibri" panose="020F0502020204030204"/>
                  </a:rPr>
                  <a:t>Etablir le SMSI</a:t>
                </a:r>
              </a:p>
            </p:txBody>
          </p:sp>
          <p:sp>
            <p:nvSpPr>
              <p:cNvPr id="53" name="ZoneTexte 52">
                <a:extLst>
                  <a:ext uri="{FF2B5EF4-FFF2-40B4-BE49-F238E27FC236}">
                    <a16:creationId xmlns:a16="http://schemas.microsoft.com/office/drawing/2014/main" id="{EF250739-D3A0-4674-A282-2C6665E2EC33}"/>
                  </a:ext>
                </a:extLst>
              </p:cNvPr>
              <p:cNvSpPr txBox="1"/>
              <p:nvPr/>
            </p:nvSpPr>
            <p:spPr>
              <a:xfrm>
                <a:off x="7263181" y="4166339"/>
                <a:ext cx="2480428" cy="623321"/>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1" u="none" strike="noStrike" kern="0" cap="none" spc="0" normalizeH="0" baseline="0" noProof="0" dirty="0">
                    <a:ln>
                      <a:noFill/>
                    </a:ln>
                    <a:solidFill>
                      <a:srgbClr val="002060"/>
                    </a:solidFill>
                    <a:effectLst/>
                    <a:uLnTx/>
                    <a:uFillTx/>
                    <a:latin typeface="Calibri" panose="020F0502020204030204"/>
                  </a:rPr>
                  <a:t>Mettre en œuvre le SMSI</a:t>
                </a:r>
              </a:p>
            </p:txBody>
          </p:sp>
          <p:sp>
            <p:nvSpPr>
              <p:cNvPr id="54" name="ZoneTexte 53">
                <a:extLst>
                  <a:ext uri="{FF2B5EF4-FFF2-40B4-BE49-F238E27FC236}">
                    <a16:creationId xmlns:a16="http://schemas.microsoft.com/office/drawing/2014/main" id="{EC624378-C2B3-4EE9-8429-B6397DF13F90}"/>
                  </a:ext>
                </a:extLst>
              </p:cNvPr>
              <p:cNvSpPr txBox="1"/>
              <p:nvPr/>
            </p:nvSpPr>
            <p:spPr>
              <a:xfrm>
                <a:off x="4539731" y="4937970"/>
                <a:ext cx="2964182" cy="623321"/>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1" u="none" strike="noStrike" kern="0" cap="none" spc="0" normalizeH="0" baseline="0" noProof="0" dirty="0">
                    <a:ln>
                      <a:noFill/>
                    </a:ln>
                    <a:solidFill>
                      <a:srgbClr val="002060"/>
                    </a:solidFill>
                    <a:effectLst/>
                    <a:uLnTx/>
                    <a:uFillTx/>
                    <a:latin typeface="Calibri" panose="020F0502020204030204"/>
                  </a:rPr>
                  <a:t>Surveiller et réexaminer le SMSI</a:t>
                </a:r>
              </a:p>
            </p:txBody>
          </p:sp>
          <p:sp>
            <p:nvSpPr>
              <p:cNvPr id="55" name="ZoneTexte 54">
                <a:extLst>
                  <a:ext uri="{FF2B5EF4-FFF2-40B4-BE49-F238E27FC236}">
                    <a16:creationId xmlns:a16="http://schemas.microsoft.com/office/drawing/2014/main" id="{69A86B79-DE99-4A4D-992B-349A07260269}"/>
                  </a:ext>
                </a:extLst>
              </p:cNvPr>
              <p:cNvSpPr txBox="1"/>
              <p:nvPr/>
            </p:nvSpPr>
            <p:spPr>
              <a:xfrm>
                <a:off x="1946910" y="4166339"/>
                <a:ext cx="3196590" cy="623321"/>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1" u="none" strike="noStrike" kern="0" cap="none" spc="0" normalizeH="0" baseline="0" noProof="0" dirty="0">
                    <a:ln>
                      <a:noFill/>
                    </a:ln>
                    <a:solidFill>
                      <a:srgbClr val="002060"/>
                    </a:solidFill>
                    <a:effectLst/>
                    <a:uLnTx/>
                    <a:uFillTx/>
                    <a:latin typeface="Calibri" panose="020F0502020204030204"/>
                  </a:rPr>
                  <a:t>Maintenir et améliorer le SMSI</a:t>
                </a:r>
              </a:p>
            </p:txBody>
          </p:sp>
        </p:grpSp>
        <p:sp>
          <p:nvSpPr>
            <p:cNvPr id="39" name="Rectangle 38">
              <a:extLst>
                <a:ext uri="{FF2B5EF4-FFF2-40B4-BE49-F238E27FC236}">
                  <a16:creationId xmlns:a16="http://schemas.microsoft.com/office/drawing/2014/main" id="{962791E8-50CC-4EF2-BD5F-92B2667B1409}"/>
                </a:ext>
              </a:extLst>
            </p:cNvPr>
            <p:cNvSpPr/>
            <p:nvPr/>
          </p:nvSpPr>
          <p:spPr>
            <a:xfrm>
              <a:off x="137644" y="1195060"/>
              <a:ext cx="1912453" cy="901719"/>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prstClr val="white"/>
                  </a:solidFill>
                  <a:effectLst/>
                  <a:uLnTx/>
                  <a:uFillTx/>
                  <a:latin typeface="Calibri" panose="020F0502020204030204"/>
                  <a:ea typeface="+mn-ea"/>
                  <a:cs typeface="+mn-cs"/>
                </a:rPr>
                <a:t>Parties intéressées</a:t>
              </a:r>
            </a:p>
          </p:txBody>
        </p:sp>
        <p:sp>
          <p:nvSpPr>
            <p:cNvPr id="40" name="Rectangle 39">
              <a:extLst>
                <a:ext uri="{FF2B5EF4-FFF2-40B4-BE49-F238E27FC236}">
                  <a16:creationId xmlns:a16="http://schemas.microsoft.com/office/drawing/2014/main" id="{69953B51-4808-42D1-80E4-7CA342E1E640}"/>
                </a:ext>
              </a:extLst>
            </p:cNvPr>
            <p:cNvSpPr/>
            <p:nvPr/>
          </p:nvSpPr>
          <p:spPr>
            <a:xfrm>
              <a:off x="10016490" y="1195060"/>
              <a:ext cx="1912453" cy="901719"/>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prstClr val="white"/>
                  </a:solidFill>
                  <a:effectLst/>
                  <a:uLnTx/>
                  <a:uFillTx/>
                  <a:latin typeface="Calibri" panose="020F0502020204030204"/>
                  <a:ea typeface="+mn-ea"/>
                  <a:cs typeface="+mn-cs"/>
                </a:rPr>
                <a:t>Parties intéressées</a:t>
              </a:r>
            </a:p>
          </p:txBody>
        </p:sp>
        <p:sp>
          <p:nvSpPr>
            <p:cNvPr id="41" name="Rectangle 40">
              <a:extLst>
                <a:ext uri="{FF2B5EF4-FFF2-40B4-BE49-F238E27FC236}">
                  <a16:creationId xmlns:a16="http://schemas.microsoft.com/office/drawing/2014/main" id="{BA16C270-BEC2-44CF-8DE1-4C882E9EF35C}"/>
                </a:ext>
              </a:extLst>
            </p:cNvPr>
            <p:cNvSpPr/>
            <p:nvPr/>
          </p:nvSpPr>
          <p:spPr>
            <a:xfrm>
              <a:off x="10074046" y="5051099"/>
              <a:ext cx="1912453" cy="1290339"/>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prstClr val="white"/>
                  </a:solidFill>
                  <a:effectLst/>
                  <a:uLnTx/>
                  <a:uFillTx/>
                  <a:latin typeface="Calibri" panose="020F0502020204030204"/>
                  <a:ea typeface="+mn-ea"/>
                  <a:cs typeface="+mn-cs"/>
                </a:rPr>
                <a:t>Sécurité de l’information gérée</a:t>
              </a:r>
            </a:p>
          </p:txBody>
        </p:sp>
        <p:sp>
          <p:nvSpPr>
            <p:cNvPr id="42" name="Rectangle 41">
              <a:extLst>
                <a:ext uri="{FF2B5EF4-FFF2-40B4-BE49-F238E27FC236}">
                  <a16:creationId xmlns:a16="http://schemas.microsoft.com/office/drawing/2014/main" id="{19D7221D-F9EE-44FD-A40C-CE3137B40485}"/>
                </a:ext>
              </a:extLst>
            </p:cNvPr>
            <p:cNvSpPr/>
            <p:nvPr/>
          </p:nvSpPr>
          <p:spPr>
            <a:xfrm>
              <a:off x="167300" y="4821881"/>
              <a:ext cx="1912453" cy="1748776"/>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prstClr val="white"/>
                  </a:solidFill>
                  <a:effectLst/>
                  <a:uLnTx/>
                  <a:uFillTx/>
                  <a:latin typeface="Calibri" panose="020F0502020204030204"/>
                  <a:ea typeface="+mn-ea"/>
                  <a:cs typeface="+mn-cs"/>
                </a:rPr>
                <a:t>Exigences et attentes de sécurités de l’information</a:t>
              </a:r>
            </a:p>
          </p:txBody>
        </p:sp>
      </p:grpSp>
      <p:sp>
        <p:nvSpPr>
          <p:cNvPr id="57" name="Titre 1">
            <a:extLst>
              <a:ext uri="{FF2B5EF4-FFF2-40B4-BE49-F238E27FC236}">
                <a16:creationId xmlns:a16="http://schemas.microsoft.com/office/drawing/2014/main" id="{193F23BB-DBA6-459C-A1FD-67D0ABA0E548}"/>
              </a:ext>
            </a:extLst>
          </p:cNvPr>
          <p:cNvSpPr txBox="1">
            <a:spLocks/>
          </p:cNvSpPr>
          <p:nvPr/>
        </p:nvSpPr>
        <p:spPr bwMode="auto">
          <a:xfrm>
            <a:off x="4572000" y="188640"/>
            <a:ext cx="406845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SMSI…</a:t>
            </a:r>
            <a:endParaRPr lang="fr-ML"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67639859"/>
      </p:ext>
    </p:extLst>
  </p:cSld>
  <p:clrMapOvr>
    <a:masterClrMapping/>
  </p:clrMapOvr>
  <p:transition spd="slow">
    <p:comb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86EF6F82-434A-4979-894A-75A208BC4D93}"/>
              </a:ext>
            </a:extLst>
          </p:cNvPr>
          <p:cNvSpPr>
            <a:spLocks noGrp="1"/>
          </p:cNvSpPr>
          <p:nvPr>
            <p:ph type="title"/>
          </p:nvPr>
        </p:nvSpPr>
        <p:spPr>
          <a:xfrm>
            <a:off x="-172419" y="1131189"/>
            <a:ext cx="7812360" cy="962932"/>
          </a:xfrm>
        </p:spPr>
        <p:txBody>
          <a:bodyPr>
            <a:noAutofit/>
          </a:bodyPr>
          <a:lstStyle/>
          <a:p>
            <a:pPr algn="ctr"/>
            <a:r>
              <a:rPr lang="fr-ML" sz="3200" b="1" dirty="0">
                <a:solidFill>
                  <a:srgbClr val="000000"/>
                </a:solidFill>
              </a:rPr>
              <a:t>Méthode d’identification des risques</a:t>
            </a:r>
          </a:p>
        </p:txBody>
      </p:sp>
      <p:grpSp>
        <p:nvGrpSpPr>
          <p:cNvPr id="2" name="Groupe 1">
            <a:extLst>
              <a:ext uri="{FF2B5EF4-FFF2-40B4-BE49-F238E27FC236}">
                <a16:creationId xmlns:a16="http://schemas.microsoft.com/office/drawing/2014/main" id="{F22B4C18-D1B5-45DC-9EE6-2069877759D7}"/>
              </a:ext>
            </a:extLst>
          </p:cNvPr>
          <p:cNvGrpSpPr/>
          <p:nvPr/>
        </p:nvGrpSpPr>
        <p:grpSpPr>
          <a:xfrm>
            <a:off x="107504" y="2591732"/>
            <a:ext cx="2024742" cy="3135079"/>
            <a:chOff x="107504" y="2591732"/>
            <a:chExt cx="2024742" cy="3135079"/>
          </a:xfrm>
        </p:grpSpPr>
        <p:sp>
          <p:nvSpPr>
            <p:cNvPr id="17" name="Flèche : pentagone 16">
              <a:extLst>
                <a:ext uri="{FF2B5EF4-FFF2-40B4-BE49-F238E27FC236}">
                  <a16:creationId xmlns:a16="http://schemas.microsoft.com/office/drawing/2014/main" id="{75A34ABC-F720-4209-A007-AC6CB9D07B50}"/>
                </a:ext>
              </a:extLst>
            </p:cNvPr>
            <p:cNvSpPr/>
            <p:nvPr/>
          </p:nvSpPr>
          <p:spPr>
            <a:xfrm>
              <a:off x="129275" y="2591732"/>
              <a:ext cx="2002971" cy="783768"/>
            </a:xfrm>
            <a:prstGeom prst="homePlate">
              <a:avLst/>
            </a:prstGeom>
            <a:solidFill>
              <a:srgbClr val="002060"/>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Identifier </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les actifs</a:t>
              </a:r>
            </a:p>
          </p:txBody>
        </p:sp>
        <p:sp>
          <p:nvSpPr>
            <p:cNvPr id="21" name="Rectangle 20">
              <a:extLst>
                <a:ext uri="{FF2B5EF4-FFF2-40B4-BE49-F238E27FC236}">
                  <a16:creationId xmlns:a16="http://schemas.microsoft.com/office/drawing/2014/main" id="{7CFF8142-2B73-449B-A0C9-2105B3BAB856}"/>
                </a:ext>
              </a:extLst>
            </p:cNvPr>
            <p:cNvSpPr/>
            <p:nvPr/>
          </p:nvSpPr>
          <p:spPr>
            <a:xfrm>
              <a:off x="107504" y="3419040"/>
              <a:ext cx="1632834" cy="2307771"/>
            </a:xfrm>
            <a:prstGeom prst="rect">
              <a:avLst/>
            </a:prstGeom>
            <a:solidFill>
              <a:srgbClr val="A5A5A5">
                <a:lumMod val="40000"/>
                <a:lumOff val="6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800" b="1" i="0" u="none" strike="noStrike" kern="0" cap="none" spc="0" normalizeH="0" baseline="0" noProof="0" dirty="0">
                  <a:ln>
                    <a:noFill/>
                  </a:ln>
                  <a:solidFill>
                    <a:prstClr val="black"/>
                  </a:solidFill>
                  <a:effectLst/>
                  <a:uLnTx/>
                  <a:uFillTx/>
                  <a:latin typeface="Calibri" panose="020F0502020204030204"/>
                  <a:ea typeface="+mn-ea"/>
                  <a:cs typeface="+mn-cs"/>
                </a:rPr>
                <a:t>Identifier les actifs révélant du domaine d’application du SMSI, ainsi que leurs propriétaires</a:t>
              </a:r>
            </a:p>
          </p:txBody>
        </p:sp>
      </p:grpSp>
      <p:grpSp>
        <p:nvGrpSpPr>
          <p:cNvPr id="3" name="Groupe 2">
            <a:extLst>
              <a:ext uri="{FF2B5EF4-FFF2-40B4-BE49-F238E27FC236}">
                <a16:creationId xmlns:a16="http://schemas.microsoft.com/office/drawing/2014/main" id="{9E92A899-1509-4703-8E3A-82E16FD22E5B}"/>
              </a:ext>
            </a:extLst>
          </p:cNvPr>
          <p:cNvGrpSpPr/>
          <p:nvPr/>
        </p:nvGrpSpPr>
        <p:grpSpPr>
          <a:xfrm>
            <a:off x="1979712" y="2591732"/>
            <a:ext cx="2373086" cy="3135079"/>
            <a:chOff x="1979712" y="2591732"/>
            <a:chExt cx="2373086" cy="3135079"/>
          </a:xfrm>
        </p:grpSpPr>
        <p:sp>
          <p:nvSpPr>
            <p:cNvPr id="18" name="Flèche : chevron 17">
              <a:extLst>
                <a:ext uri="{FF2B5EF4-FFF2-40B4-BE49-F238E27FC236}">
                  <a16:creationId xmlns:a16="http://schemas.microsoft.com/office/drawing/2014/main" id="{CF4E8A5E-28C6-4349-81D8-0A050BCC1741}"/>
                </a:ext>
              </a:extLst>
            </p:cNvPr>
            <p:cNvSpPr/>
            <p:nvPr/>
          </p:nvSpPr>
          <p:spPr>
            <a:xfrm>
              <a:off x="1979712" y="2591732"/>
              <a:ext cx="2373086" cy="783768"/>
            </a:xfrm>
            <a:prstGeom prst="chevron">
              <a:avLst/>
            </a:prstGeom>
            <a:solidFill>
              <a:srgbClr val="002060"/>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Identifier </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les menaces </a:t>
              </a:r>
            </a:p>
          </p:txBody>
        </p:sp>
        <p:sp>
          <p:nvSpPr>
            <p:cNvPr id="22" name="Rectangle 21">
              <a:extLst>
                <a:ext uri="{FF2B5EF4-FFF2-40B4-BE49-F238E27FC236}">
                  <a16:creationId xmlns:a16="http://schemas.microsoft.com/office/drawing/2014/main" id="{D2C9D5EA-2EA8-47CB-A4BA-42612378B1B7}"/>
                </a:ext>
              </a:extLst>
            </p:cNvPr>
            <p:cNvSpPr/>
            <p:nvPr/>
          </p:nvSpPr>
          <p:spPr>
            <a:xfrm>
              <a:off x="1979712" y="3419040"/>
              <a:ext cx="1959420" cy="2307771"/>
            </a:xfrm>
            <a:prstGeom prst="rect">
              <a:avLst/>
            </a:prstGeom>
            <a:solidFill>
              <a:srgbClr val="A5A5A5">
                <a:lumMod val="40000"/>
                <a:lumOff val="6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800" b="1" i="0" u="none" strike="noStrike" kern="0" cap="none" spc="0" normalizeH="0" baseline="0" noProof="0" dirty="0">
                  <a:ln>
                    <a:noFill/>
                  </a:ln>
                  <a:solidFill>
                    <a:prstClr val="black"/>
                  </a:solidFill>
                  <a:effectLst/>
                  <a:uLnTx/>
                  <a:uFillTx/>
                  <a:latin typeface="Calibri" panose="020F0502020204030204"/>
                  <a:ea typeface="+mn-ea"/>
                  <a:cs typeface="+mn-cs"/>
                </a:rPr>
                <a:t>Identifier les menaces auxquelles sont confrontés ces actifs</a:t>
              </a:r>
            </a:p>
          </p:txBody>
        </p:sp>
      </p:grpSp>
      <p:grpSp>
        <p:nvGrpSpPr>
          <p:cNvPr id="4" name="Groupe 3">
            <a:extLst>
              <a:ext uri="{FF2B5EF4-FFF2-40B4-BE49-F238E27FC236}">
                <a16:creationId xmlns:a16="http://schemas.microsoft.com/office/drawing/2014/main" id="{55D7DDDB-B83E-4A1B-90CF-CA8FAE044AF9}"/>
              </a:ext>
            </a:extLst>
          </p:cNvPr>
          <p:cNvGrpSpPr/>
          <p:nvPr/>
        </p:nvGrpSpPr>
        <p:grpSpPr>
          <a:xfrm>
            <a:off x="4211960" y="2591732"/>
            <a:ext cx="2590801" cy="3156850"/>
            <a:chOff x="4211960" y="2591732"/>
            <a:chExt cx="2590801" cy="3156850"/>
          </a:xfrm>
        </p:grpSpPr>
        <p:sp>
          <p:nvSpPr>
            <p:cNvPr id="20" name="Flèche : chevron 19">
              <a:extLst>
                <a:ext uri="{FF2B5EF4-FFF2-40B4-BE49-F238E27FC236}">
                  <a16:creationId xmlns:a16="http://schemas.microsoft.com/office/drawing/2014/main" id="{7933676C-CBF6-4001-9CA8-11C90374921F}"/>
                </a:ext>
              </a:extLst>
            </p:cNvPr>
            <p:cNvSpPr/>
            <p:nvPr/>
          </p:nvSpPr>
          <p:spPr>
            <a:xfrm>
              <a:off x="4211960" y="2591732"/>
              <a:ext cx="2590801" cy="783768"/>
            </a:xfrm>
            <a:prstGeom prst="chevron">
              <a:avLst/>
            </a:prstGeom>
            <a:solidFill>
              <a:srgbClr val="002060"/>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Identifier les vulnérabilités</a:t>
              </a:r>
            </a:p>
          </p:txBody>
        </p:sp>
        <p:sp>
          <p:nvSpPr>
            <p:cNvPr id="23" name="Rectangle 22">
              <a:extLst>
                <a:ext uri="{FF2B5EF4-FFF2-40B4-BE49-F238E27FC236}">
                  <a16:creationId xmlns:a16="http://schemas.microsoft.com/office/drawing/2014/main" id="{0FC24C55-150C-4D2E-9CC7-A5749C6AD04B}"/>
                </a:ext>
              </a:extLst>
            </p:cNvPr>
            <p:cNvSpPr/>
            <p:nvPr/>
          </p:nvSpPr>
          <p:spPr>
            <a:xfrm>
              <a:off x="4211960" y="3440811"/>
              <a:ext cx="2177153" cy="2307771"/>
            </a:xfrm>
            <a:prstGeom prst="rect">
              <a:avLst/>
            </a:prstGeom>
            <a:solidFill>
              <a:srgbClr val="A5A5A5">
                <a:lumMod val="40000"/>
                <a:lumOff val="6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800" b="1" i="0" u="none" strike="noStrike" kern="0" cap="none" spc="0" normalizeH="0" baseline="0" noProof="0" dirty="0">
                  <a:ln>
                    <a:noFill/>
                  </a:ln>
                  <a:solidFill>
                    <a:prstClr val="black"/>
                  </a:solidFill>
                  <a:effectLst/>
                  <a:uLnTx/>
                  <a:uFillTx/>
                  <a:latin typeface="Calibri" panose="020F0502020204030204"/>
                  <a:ea typeface="+mn-ea"/>
                  <a:cs typeface="+mn-cs"/>
                </a:rPr>
                <a:t>Identifier les vulnérabilités qui pourraient être exploitées par les menaces</a:t>
              </a:r>
            </a:p>
          </p:txBody>
        </p:sp>
      </p:grpSp>
      <p:grpSp>
        <p:nvGrpSpPr>
          <p:cNvPr id="5" name="Groupe 4">
            <a:extLst>
              <a:ext uri="{FF2B5EF4-FFF2-40B4-BE49-F238E27FC236}">
                <a16:creationId xmlns:a16="http://schemas.microsoft.com/office/drawing/2014/main" id="{F1A0E51D-7F04-41B4-BBEB-F102C6D74B05}"/>
              </a:ext>
            </a:extLst>
          </p:cNvPr>
          <p:cNvGrpSpPr/>
          <p:nvPr/>
        </p:nvGrpSpPr>
        <p:grpSpPr>
          <a:xfrm>
            <a:off x="6660232" y="2591732"/>
            <a:ext cx="2373086" cy="3135079"/>
            <a:chOff x="6660232" y="2591732"/>
            <a:chExt cx="2373086" cy="3135079"/>
          </a:xfrm>
        </p:grpSpPr>
        <p:sp>
          <p:nvSpPr>
            <p:cNvPr id="19" name="Flèche : chevron 18">
              <a:extLst>
                <a:ext uri="{FF2B5EF4-FFF2-40B4-BE49-F238E27FC236}">
                  <a16:creationId xmlns:a16="http://schemas.microsoft.com/office/drawing/2014/main" id="{C973A06B-0E35-4A44-BD7D-4A679AF4BB01}"/>
                </a:ext>
              </a:extLst>
            </p:cNvPr>
            <p:cNvSpPr/>
            <p:nvPr/>
          </p:nvSpPr>
          <p:spPr>
            <a:xfrm>
              <a:off x="6660232" y="2591732"/>
              <a:ext cx="2373086" cy="783768"/>
            </a:xfrm>
            <a:prstGeom prst="chevron">
              <a:avLst/>
            </a:prstGeom>
            <a:solidFill>
              <a:srgbClr val="002060"/>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Identifier </a:t>
              </a:r>
            </a:p>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les impacts </a:t>
              </a:r>
            </a:p>
          </p:txBody>
        </p:sp>
        <p:sp>
          <p:nvSpPr>
            <p:cNvPr id="24" name="Rectangle 23">
              <a:extLst>
                <a:ext uri="{FF2B5EF4-FFF2-40B4-BE49-F238E27FC236}">
                  <a16:creationId xmlns:a16="http://schemas.microsoft.com/office/drawing/2014/main" id="{6AAD280A-FFD3-4105-AEE9-4995FD86370A}"/>
                </a:ext>
              </a:extLst>
            </p:cNvPr>
            <p:cNvSpPr/>
            <p:nvPr/>
          </p:nvSpPr>
          <p:spPr>
            <a:xfrm>
              <a:off x="6660232" y="3419040"/>
              <a:ext cx="1959419" cy="2307771"/>
            </a:xfrm>
            <a:prstGeom prst="rect">
              <a:avLst/>
            </a:prstGeom>
            <a:solidFill>
              <a:srgbClr val="A5A5A5">
                <a:lumMod val="40000"/>
                <a:lumOff val="6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800" b="1" i="0" u="none" strike="noStrike" kern="0" cap="none" spc="0" normalizeH="0" baseline="0" noProof="0" dirty="0">
                  <a:ln>
                    <a:noFill/>
                  </a:ln>
                  <a:solidFill>
                    <a:prstClr val="black"/>
                  </a:solidFill>
                  <a:effectLst/>
                  <a:uLnTx/>
                  <a:uFillTx/>
                  <a:latin typeface="Calibri" panose="020F0502020204030204"/>
                  <a:ea typeface="+mn-ea"/>
                  <a:cs typeface="+mn-cs"/>
                </a:rPr>
                <a:t>Identifier les impacts que les pertes de confidentialité,  d’intégrité et de disponibilité peuvent avoir sur les actifs</a:t>
              </a:r>
            </a:p>
          </p:txBody>
        </p:sp>
      </p:grpSp>
      <p:sp>
        <p:nvSpPr>
          <p:cNvPr id="26" name="Titre 1">
            <a:extLst>
              <a:ext uri="{FF2B5EF4-FFF2-40B4-BE49-F238E27FC236}">
                <a16:creationId xmlns:a16="http://schemas.microsoft.com/office/drawing/2014/main" id="{83D0CF96-B7FE-4AF5-99A8-4D27D1D29DD5}"/>
              </a:ext>
            </a:extLst>
          </p:cNvPr>
          <p:cNvSpPr txBox="1">
            <a:spLocks/>
          </p:cNvSpPr>
          <p:nvPr/>
        </p:nvSpPr>
        <p:spPr bwMode="auto">
          <a:xfrm>
            <a:off x="4572000" y="188640"/>
            <a:ext cx="406845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SMSI…</a:t>
            </a:r>
            <a:endParaRPr lang="fr-ML"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62009913"/>
      </p:ext>
    </p:extLst>
  </p:cSld>
  <p:clrMapOvr>
    <a:masterClrMapping/>
  </p:clrMapOvr>
  <mc:AlternateContent xmlns:mc="http://schemas.openxmlformats.org/markup-compatibility/2006">
    <mc:Choice xmlns:p14="http://schemas.microsoft.com/office/powerpoint/2010/main" Requires="p14">
      <p:transition spd="slow" p14:dur="125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1+#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F2A3559E-B282-4833-8EA0-EE902B0E2B0F}"/>
              </a:ext>
            </a:extLst>
          </p:cNvPr>
          <p:cNvSpPr txBox="1">
            <a:spLocks/>
          </p:cNvSpPr>
          <p:nvPr/>
        </p:nvSpPr>
        <p:spPr>
          <a:xfrm>
            <a:off x="-609265" y="1202430"/>
            <a:ext cx="7106966" cy="9629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pPr>
            <a:r>
              <a:rPr lang="fr-ML" sz="3600" b="1" dirty="0">
                <a:solidFill>
                  <a:srgbClr val="000000"/>
                </a:solidFill>
                <a:latin typeface="Calibri Light" panose="020F0302020204030204"/>
              </a:rPr>
              <a:t>Analyser et évaluer les risques</a:t>
            </a:r>
          </a:p>
        </p:txBody>
      </p:sp>
      <p:grpSp>
        <p:nvGrpSpPr>
          <p:cNvPr id="2" name="Groupe 1">
            <a:extLst>
              <a:ext uri="{FF2B5EF4-FFF2-40B4-BE49-F238E27FC236}">
                <a16:creationId xmlns:a16="http://schemas.microsoft.com/office/drawing/2014/main" id="{8FAB47A9-499D-4A17-A1E4-8448C94DD5D5}"/>
              </a:ext>
            </a:extLst>
          </p:cNvPr>
          <p:cNvGrpSpPr/>
          <p:nvPr/>
        </p:nvGrpSpPr>
        <p:grpSpPr>
          <a:xfrm>
            <a:off x="107504" y="2463189"/>
            <a:ext cx="2024742" cy="3135079"/>
            <a:chOff x="107504" y="2463189"/>
            <a:chExt cx="2024742" cy="3135079"/>
          </a:xfrm>
        </p:grpSpPr>
        <p:sp>
          <p:nvSpPr>
            <p:cNvPr id="8" name="Flèche : pentagone 7">
              <a:extLst>
                <a:ext uri="{FF2B5EF4-FFF2-40B4-BE49-F238E27FC236}">
                  <a16:creationId xmlns:a16="http://schemas.microsoft.com/office/drawing/2014/main" id="{1C6E174F-9C10-44B5-A77A-3367EBC94F6E}"/>
                </a:ext>
              </a:extLst>
            </p:cNvPr>
            <p:cNvSpPr/>
            <p:nvPr/>
          </p:nvSpPr>
          <p:spPr>
            <a:xfrm>
              <a:off x="129275" y="2463189"/>
              <a:ext cx="2002971" cy="783768"/>
            </a:xfrm>
            <a:prstGeom prst="homePlate">
              <a:avLst/>
            </a:prstGeom>
            <a:solidFill>
              <a:srgbClr val="002060"/>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800" b="1" i="0" u="none" strike="noStrike" kern="0" cap="none" spc="0" normalizeH="0" baseline="0" noProof="0" dirty="0">
                  <a:ln>
                    <a:noFill/>
                  </a:ln>
                  <a:solidFill>
                    <a:prstClr val="white"/>
                  </a:solidFill>
                  <a:effectLst/>
                  <a:uLnTx/>
                  <a:uFillTx/>
                  <a:latin typeface="Calibri" panose="020F0502020204030204"/>
                  <a:ea typeface="+mn-ea"/>
                  <a:cs typeface="+mn-cs"/>
                </a:rPr>
                <a:t>Evaluer les impacts</a:t>
              </a:r>
            </a:p>
          </p:txBody>
        </p:sp>
        <p:sp>
          <p:nvSpPr>
            <p:cNvPr id="12" name="Rectangle 11">
              <a:extLst>
                <a:ext uri="{FF2B5EF4-FFF2-40B4-BE49-F238E27FC236}">
                  <a16:creationId xmlns:a16="http://schemas.microsoft.com/office/drawing/2014/main" id="{14AB0FF0-3A43-4F0D-9E4A-1981BDABBD88}"/>
                </a:ext>
              </a:extLst>
            </p:cNvPr>
            <p:cNvSpPr/>
            <p:nvPr/>
          </p:nvSpPr>
          <p:spPr>
            <a:xfrm>
              <a:off x="107504" y="3290497"/>
              <a:ext cx="1632834" cy="2307771"/>
            </a:xfrm>
            <a:prstGeom prst="rect">
              <a:avLst/>
            </a:prstGeom>
            <a:solidFill>
              <a:srgbClr val="A5A5A5">
                <a:lumMod val="40000"/>
                <a:lumOff val="6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200" b="1" i="0" u="none" strike="noStrike" kern="0" cap="none" spc="0" normalizeH="0" baseline="0" noProof="0" dirty="0">
                  <a:ln>
                    <a:noFill/>
                  </a:ln>
                  <a:solidFill>
                    <a:prstClr val="black"/>
                  </a:solidFill>
                  <a:effectLst/>
                  <a:uLnTx/>
                  <a:uFillTx/>
                  <a:latin typeface="Calibri" panose="020F0502020204030204"/>
                  <a:ea typeface="+mn-ea"/>
                  <a:cs typeface="+mn-cs"/>
                </a:rPr>
                <a:t>Évaluer l’impact sur l’activité de l’organisme qui pourrait découler d’une défaillance de la sécurité, en tenant compte des conséquences d’une perte de confidentialité, l’intégrité ou disponibilité des actifs</a:t>
              </a:r>
            </a:p>
          </p:txBody>
        </p:sp>
      </p:grpSp>
      <p:grpSp>
        <p:nvGrpSpPr>
          <p:cNvPr id="3" name="Groupe 2">
            <a:extLst>
              <a:ext uri="{FF2B5EF4-FFF2-40B4-BE49-F238E27FC236}">
                <a16:creationId xmlns:a16="http://schemas.microsoft.com/office/drawing/2014/main" id="{ECDE4134-F6AF-4A3B-BB3E-B81FF119CE88}"/>
              </a:ext>
            </a:extLst>
          </p:cNvPr>
          <p:cNvGrpSpPr/>
          <p:nvPr/>
        </p:nvGrpSpPr>
        <p:grpSpPr>
          <a:xfrm>
            <a:off x="1964508" y="2463189"/>
            <a:ext cx="2388290" cy="3135079"/>
            <a:chOff x="1964508" y="2463189"/>
            <a:chExt cx="2388290" cy="3135079"/>
          </a:xfrm>
        </p:grpSpPr>
        <p:sp>
          <p:nvSpPr>
            <p:cNvPr id="9" name="Flèche : chevron 8">
              <a:extLst>
                <a:ext uri="{FF2B5EF4-FFF2-40B4-BE49-F238E27FC236}">
                  <a16:creationId xmlns:a16="http://schemas.microsoft.com/office/drawing/2014/main" id="{F8581167-DD23-4D18-98D2-6BCC9907F4A2}"/>
                </a:ext>
              </a:extLst>
            </p:cNvPr>
            <p:cNvSpPr/>
            <p:nvPr/>
          </p:nvSpPr>
          <p:spPr>
            <a:xfrm>
              <a:off x="1979712" y="2463189"/>
              <a:ext cx="2373086" cy="783768"/>
            </a:xfrm>
            <a:prstGeom prst="chevron">
              <a:avLst/>
            </a:prstGeom>
            <a:solidFill>
              <a:srgbClr val="002060"/>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800" b="1" i="0" u="none" strike="noStrike" kern="0" cap="none" spc="0" normalizeH="0" baseline="0" noProof="0" dirty="0">
                  <a:ln>
                    <a:noFill/>
                  </a:ln>
                  <a:solidFill>
                    <a:prstClr val="white"/>
                  </a:solidFill>
                  <a:effectLst/>
                  <a:uLnTx/>
                  <a:uFillTx/>
                  <a:latin typeface="Calibri" panose="020F0502020204030204"/>
                  <a:ea typeface="+mn-ea"/>
                  <a:cs typeface="+mn-cs"/>
                </a:rPr>
                <a:t>Calculer la probabilité d’occurrence</a:t>
              </a:r>
            </a:p>
          </p:txBody>
        </p:sp>
        <p:sp>
          <p:nvSpPr>
            <p:cNvPr id="13" name="Rectangle 12">
              <a:extLst>
                <a:ext uri="{FF2B5EF4-FFF2-40B4-BE49-F238E27FC236}">
                  <a16:creationId xmlns:a16="http://schemas.microsoft.com/office/drawing/2014/main" id="{9228F3A9-F228-48A5-A4BE-C7129D8C95C2}"/>
                </a:ext>
              </a:extLst>
            </p:cNvPr>
            <p:cNvSpPr/>
            <p:nvPr/>
          </p:nvSpPr>
          <p:spPr>
            <a:xfrm>
              <a:off x="1964508" y="3290497"/>
              <a:ext cx="1959420" cy="2307771"/>
            </a:xfrm>
            <a:prstGeom prst="rect">
              <a:avLst/>
            </a:prstGeom>
            <a:solidFill>
              <a:srgbClr val="A5A5A5">
                <a:lumMod val="40000"/>
                <a:lumOff val="6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200" b="1" i="0" u="none" strike="noStrike" kern="0" cap="none" spc="0" normalizeH="0" baseline="0" noProof="0" dirty="0">
                  <a:ln>
                    <a:noFill/>
                  </a:ln>
                  <a:solidFill>
                    <a:prstClr val="black"/>
                  </a:solidFill>
                  <a:effectLst/>
                  <a:uLnTx/>
                  <a:uFillTx/>
                  <a:latin typeface="Calibri" panose="020F0502020204030204"/>
                  <a:ea typeface="+mn-ea"/>
                  <a:cs typeface="+mn-cs"/>
                </a:rPr>
                <a:t>Évaluer l’impact sur l’activité de l’organisme réaliste d’une défaillance de sécurité de cette nature au vu des menaces et des vulnérabilités, des impacts associés à ces actifs et des mesures actuellement mises en œuvre</a:t>
              </a:r>
            </a:p>
          </p:txBody>
        </p:sp>
      </p:grpSp>
      <p:grpSp>
        <p:nvGrpSpPr>
          <p:cNvPr id="5" name="Groupe 4">
            <a:extLst>
              <a:ext uri="{FF2B5EF4-FFF2-40B4-BE49-F238E27FC236}">
                <a16:creationId xmlns:a16="http://schemas.microsoft.com/office/drawing/2014/main" id="{554641D9-6517-4C03-A41C-FF174BA5B68A}"/>
              </a:ext>
            </a:extLst>
          </p:cNvPr>
          <p:cNvGrpSpPr/>
          <p:nvPr/>
        </p:nvGrpSpPr>
        <p:grpSpPr>
          <a:xfrm>
            <a:off x="4211960" y="2463189"/>
            <a:ext cx="2590801" cy="3156850"/>
            <a:chOff x="4211960" y="2463189"/>
            <a:chExt cx="2590801" cy="3156850"/>
          </a:xfrm>
        </p:grpSpPr>
        <p:sp>
          <p:nvSpPr>
            <p:cNvPr id="11" name="Flèche : chevron 10">
              <a:extLst>
                <a:ext uri="{FF2B5EF4-FFF2-40B4-BE49-F238E27FC236}">
                  <a16:creationId xmlns:a16="http://schemas.microsoft.com/office/drawing/2014/main" id="{8F7FFAA1-0357-4E2F-AE90-7EE2A5F0B9AE}"/>
                </a:ext>
              </a:extLst>
            </p:cNvPr>
            <p:cNvSpPr/>
            <p:nvPr/>
          </p:nvSpPr>
          <p:spPr>
            <a:xfrm>
              <a:off x="4211960" y="2463189"/>
              <a:ext cx="2590801" cy="783768"/>
            </a:xfrm>
            <a:prstGeom prst="chevron">
              <a:avLst/>
            </a:prstGeom>
            <a:solidFill>
              <a:srgbClr val="002060"/>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800" b="1" i="0" u="none" strike="noStrike" kern="0" cap="none" spc="0" normalizeH="0" baseline="0" noProof="0" dirty="0">
                  <a:ln>
                    <a:noFill/>
                  </a:ln>
                  <a:solidFill>
                    <a:prstClr val="white"/>
                  </a:solidFill>
                  <a:effectLst/>
                  <a:uLnTx/>
                  <a:uFillTx/>
                  <a:latin typeface="Calibri" panose="020F0502020204030204"/>
                  <a:ea typeface="+mn-ea"/>
                  <a:cs typeface="+mn-cs"/>
                </a:rPr>
                <a:t>Estimer les niveaux de risques</a:t>
              </a:r>
            </a:p>
          </p:txBody>
        </p:sp>
        <p:sp>
          <p:nvSpPr>
            <p:cNvPr id="14" name="Rectangle 13">
              <a:extLst>
                <a:ext uri="{FF2B5EF4-FFF2-40B4-BE49-F238E27FC236}">
                  <a16:creationId xmlns:a16="http://schemas.microsoft.com/office/drawing/2014/main" id="{FA0E38B0-CA56-4713-83E7-A06D5C873D12}"/>
                </a:ext>
              </a:extLst>
            </p:cNvPr>
            <p:cNvSpPr/>
            <p:nvPr/>
          </p:nvSpPr>
          <p:spPr>
            <a:xfrm>
              <a:off x="4211960" y="3312268"/>
              <a:ext cx="2177153" cy="2307771"/>
            </a:xfrm>
            <a:prstGeom prst="rect">
              <a:avLst/>
            </a:prstGeom>
            <a:solidFill>
              <a:srgbClr val="A5A5A5">
                <a:lumMod val="40000"/>
                <a:lumOff val="6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prstClr val="black"/>
                  </a:solidFill>
                  <a:effectLst/>
                  <a:uLnTx/>
                  <a:uFillTx/>
                  <a:latin typeface="Calibri" panose="020F0502020204030204"/>
                  <a:ea typeface="+mn-ea"/>
                  <a:cs typeface="+mn-cs"/>
                </a:rPr>
                <a:t>Estimer les niveaux des risques</a:t>
              </a:r>
            </a:p>
          </p:txBody>
        </p:sp>
      </p:grpSp>
      <p:grpSp>
        <p:nvGrpSpPr>
          <p:cNvPr id="6" name="Groupe 5">
            <a:extLst>
              <a:ext uri="{FF2B5EF4-FFF2-40B4-BE49-F238E27FC236}">
                <a16:creationId xmlns:a16="http://schemas.microsoft.com/office/drawing/2014/main" id="{741D63A9-5DBE-403E-8677-AACA083A7DE3}"/>
              </a:ext>
            </a:extLst>
          </p:cNvPr>
          <p:cNvGrpSpPr/>
          <p:nvPr/>
        </p:nvGrpSpPr>
        <p:grpSpPr>
          <a:xfrm>
            <a:off x="6660232" y="2463189"/>
            <a:ext cx="2373086" cy="3135079"/>
            <a:chOff x="6660232" y="2463189"/>
            <a:chExt cx="2373086" cy="3135079"/>
          </a:xfrm>
        </p:grpSpPr>
        <p:sp>
          <p:nvSpPr>
            <p:cNvPr id="10" name="Flèche : chevron 9">
              <a:extLst>
                <a:ext uri="{FF2B5EF4-FFF2-40B4-BE49-F238E27FC236}">
                  <a16:creationId xmlns:a16="http://schemas.microsoft.com/office/drawing/2014/main" id="{AA5CF7F6-E6B1-4A55-9031-81A121BCEA51}"/>
                </a:ext>
              </a:extLst>
            </p:cNvPr>
            <p:cNvSpPr/>
            <p:nvPr/>
          </p:nvSpPr>
          <p:spPr>
            <a:xfrm>
              <a:off x="6660232" y="2463189"/>
              <a:ext cx="2373086" cy="783768"/>
            </a:xfrm>
            <a:prstGeom prst="chevron">
              <a:avLst/>
            </a:prstGeom>
            <a:solidFill>
              <a:srgbClr val="002060"/>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800" b="1" i="0" u="none" strike="noStrike" kern="0" cap="none" spc="0" normalizeH="0" baseline="0" noProof="0" dirty="0">
                  <a:ln>
                    <a:noFill/>
                  </a:ln>
                  <a:solidFill>
                    <a:prstClr val="white"/>
                  </a:solidFill>
                  <a:effectLst/>
                  <a:uLnTx/>
                  <a:uFillTx/>
                  <a:latin typeface="Calibri" panose="020F0502020204030204"/>
                  <a:ea typeface="+mn-ea"/>
                  <a:cs typeface="+mn-cs"/>
                </a:rPr>
                <a:t>Déterminer si le risque est acceptable</a:t>
              </a:r>
            </a:p>
          </p:txBody>
        </p:sp>
        <p:sp>
          <p:nvSpPr>
            <p:cNvPr id="15" name="Rectangle 14">
              <a:extLst>
                <a:ext uri="{FF2B5EF4-FFF2-40B4-BE49-F238E27FC236}">
                  <a16:creationId xmlns:a16="http://schemas.microsoft.com/office/drawing/2014/main" id="{5BA8DF65-5F84-406C-8988-65F2DEB100F5}"/>
                </a:ext>
              </a:extLst>
            </p:cNvPr>
            <p:cNvSpPr/>
            <p:nvPr/>
          </p:nvSpPr>
          <p:spPr>
            <a:xfrm>
              <a:off x="6660232" y="3290497"/>
              <a:ext cx="1959419" cy="2307771"/>
            </a:xfrm>
            <a:prstGeom prst="rect">
              <a:avLst/>
            </a:prstGeom>
            <a:solidFill>
              <a:srgbClr val="A5A5A5">
                <a:lumMod val="40000"/>
                <a:lumOff val="6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prstClr val="black"/>
                  </a:solidFill>
                  <a:effectLst/>
                  <a:uLnTx/>
                  <a:uFillTx/>
                  <a:latin typeface="Calibri" panose="020F0502020204030204"/>
                  <a:ea typeface="+mn-ea"/>
                  <a:cs typeface="+mn-cs"/>
                </a:rPr>
                <a:t>Déterminer si les risques sont acceptables ou nécessitent un traitement, en utilisant les critères d’acceptation des risques établis en traitement de risque </a:t>
              </a:r>
            </a:p>
          </p:txBody>
        </p:sp>
      </p:grpSp>
      <p:sp>
        <p:nvSpPr>
          <p:cNvPr id="17" name="Titre 1">
            <a:extLst>
              <a:ext uri="{FF2B5EF4-FFF2-40B4-BE49-F238E27FC236}">
                <a16:creationId xmlns:a16="http://schemas.microsoft.com/office/drawing/2014/main" id="{C0476B63-7A50-44BF-A083-83C353B93661}"/>
              </a:ext>
            </a:extLst>
          </p:cNvPr>
          <p:cNvSpPr txBox="1">
            <a:spLocks/>
          </p:cNvSpPr>
          <p:nvPr/>
        </p:nvSpPr>
        <p:spPr bwMode="auto">
          <a:xfrm>
            <a:off x="4572000" y="188640"/>
            <a:ext cx="406845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SMSI…</a:t>
            </a:r>
            <a:endParaRPr lang="fr-ML"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63453967"/>
      </p:ext>
    </p:extLst>
  </p:cSld>
  <p:clrMapOvr>
    <a:masterClrMapping/>
  </p:clrMapOvr>
  <mc:AlternateContent xmlns:mc="http://schemas.openxmlformats.org/markup-compatibility/2006">
    <mc:Choice xmlns:p14="http://schemas.microsoft.com/office/powerpoint/2010/main" Requires="p14">
      <p:transition spd="slow" p14:dur="1500">
        <p14:conveyor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3"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1+#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04B0E29E-589D-4A0B-B7F1-D31639ECA92F}"/>
              </a:ext>
            </a:extLst>
          </p:cNvPr>
          <p:cNvSpPr txBox="1">
            <a:spLocks/>
          </p:cNvSpPr>
          <p:nvPr/>
        </p:nvSpPr>
        <p:spPr>
          <a:xfrm>
            <a:off x="179512" y="1052736"/>
            <a:ext cx="9111343" cy="9847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ML" sz="3200" b="1" i="0" u="none" strike="noStrike" kern="1200" cap="none" spc="0" normalizeH="0" baseline="0" noProof="0" dirty="0">
                <a:ln>
                  <a:noFill/>
                </a:ln>
                <a:solidFill>
                  <a:srgbClr val="000000"/>
                </a:solidFill>
                <a:effectLst/>
                <a:uLnTx/>
                <a:uFillTx/>
                <a:latin typeface="Calibri Light" panose="020F0302020204030204"/>
                <a:ea typeface="+mj-ea"/>
                <a:cs typeface="+mj-cs"/>
              </a:rPr>
              <a:t>Évaluation des options de traitement</a:t>
            </a:r>
          </a:p>
        </p:txBody>
      </p:sp>
      <p:grpSp>
        <p:nvGrpSpPr>
          <p:cNvPr id="36" name="Groupe 35">
            <a:extLst>
              <a:ext uri="{FF2B5EF4-FFF2-40B4-BE49-F238E27FC236}">
                <a16:creationId xmlns:a16="http://schemas.microsoft.com/office/drawing/2014/main" id="{8A312284-D7B0-4844-AE22-E77C5729CC1B}"/>
              </a:ext>
            </a:extLst>
          </p:cNvPr>
          <p:cNvGrpSpPr/>
          <p:nvPr/>
        </p:nvGrpSpPr>
        <p:grpSpPr>
          <a:xfrm>
            <a:off x="107504" y="2325472"/>
            <a:ext cx="3613659" cy="3551800"/>
            <a:chOff x="201392" y="1062832"/>
            <a:chExt cx="4675406" cy="4404748"/>
          </a:xfrm>
        </p:grpSpPr>
        <p:sp>
          <p:nvSpPr>
            <p:cNvPr id="37" name="Ellipse 36">
              <a:extLst>
                <a:ext uri="{FF2B5EF4-FFF2-40B4-BE49-F238E27FC236}">
                  <a16:creationId xmlns:a16="http://schemas.microsoft.com/office/drawing/2014/main" id="{BBFBD34B-D7EB-4BB3-9C9B-E91949EF1E0F}"/>
                </a:ext>
              </a:extLst>
            </p:cNvPr>
            <p:cNvSpPr/>
            <p:nvPr/>
          </p:nvSpPr>
          <p:spPr>
            <a:xfrm>
              <a:off x="2373084" y="2187519"/>
              <a:ext cx="2503714" cy="2373085"/>
            </a:xfrm>
            <a:prstGeom prst="ellipse">
              <a:avLst/>
            </a:prstGeom>
            <a:solidFill>
              <a:srgbClr val="002060">
                <a:alpha val="40000"/>
              </a:srgb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800" b="0" i="0" u="none" strike="noStrike" kern="0" cap="none" spc="0" normalizeH="0" baseline="0" noProof="0">
                <a:ln>
                  <a:noFill/>
                </a:ln>
                <a:solidFill>
                  <a:prstClr val="white">
                    <a:alpha val="0"/>
                  </a:prstClr>
                </a:solidFill>
                <a:effectLst/>
                <a:uLnTx/>
                <a:uFillTx/>
                <a:latin typeface="Calibri" panose="020F0502020204030204"/>
                <a:ea typeface="+mn-ea"/>
                <a:cs typeface="+mn-cs"/>
              </a:endParaRPr>
            </a:p>
          </p:txBody>
        </p:sp>
        <p:sp>
          <p:nvSpPr>
            <p:cNvPr id="38" name="Ellipse 37">
              <a:extLst>
                <a:ext uri="{FF2B5EF4-FFF2-40B4-BE49-F238E27FC236}">
                  <a16:creationId xmlns:a16="http://schemas.microsoft.com/office/drawing/2014/main" id="{DC6ECE6C-6112-4B42-8535-D352788D9C15}"/>
                </a:ext>
              </a:extLst>
            </p:cNvPr>
            <p:cNvSpPr/>
            <p:nvPr/>
          </p:nvSpPr>
          <p:spPr>
            <a:xfrm>
              <a:off x="206832" y="2242457"/>
              <a:ext cx="2503714" cy="2373085"/>
            </a:xfrm>
            <a:prstGeom prst="ellipse">
              <a:avLst/>
            </a:prstGeom>
            <a:solidFill>
              <a:srgbClr val="002060">
                <a:alpha val="40000"/>
              </a:srgb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800" b="1" i="0" u="none" strike="noStrike" kern="0" cap="none" spc="0" normalizeH="0" baseline="0" noProof="0">
                <a:ln>
                  <a:noFill/>
                </a:ln>
                <a:solidFill>
                  <a:prstClr val="white">
                    <a:alpha val="0"/>
                  </a:prstClr>
                </a:solidFill>
                <a:effectLst/>
                <a:uLnTx/>
                <a:uFillTx/>
                <a:latin typeface="Calibri" panose="020F0502020204030204"/>
                <a:ea typeface="+mn-ea"/>
                <a:cs typeface="+mn-cs"/>
              </a:endParaRPr>
            </a:p>
          </p:txBody>
        </p:sp>
        <p:sp>
          <p:nvSpPr>
            <p:cNvPr id="39" name="Ellipse 38">
              <a:extLst>
                <a:ext uri="{FF2B5EF4-FFF2-40B4-BE49-F238E27FC236}">
                  <a16:creationId xmlns:a16="http://schemas.microsoft.com/office/drawing/2014/main" id="{501F9BA8-24C0-4067-9A64-2456709104CC}"/>
                </a:ext>
              </a:extLst>
            </p:cNvPr>
            <p:cNvSpPr/>
            <p:nvPr/>
          </p:nvSpPr>
          <p:spPr>
            <a:xfrm>
              <a:off x="1338941" y="1062832"/>
              <a:ext cx="2503714" cy="2373085"/>
            </a:xfrm>
            <a:prstGeom prst="ellipse">
              <a:avLst/>
            </a:prstGeom>
            <a:solidFill>
              <a:srgbClr val="E7E6E6">
                <a:lumMod val="75000"/>
                <a:alpha val="40000"/>
              </a:srgb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Ellipse 39">
              <a:extLst>
                <a:ext uri="{FF2B5EF4-FFF2-40B4-BE49-F238E27FC236}">
                  <a16:creationId xmlns:a16="http://schemas.microsoft.com/office/drawing/2014/main" id="{CC7C3942-3521-4B44-81D6-E25F9C80A1E8}"/>
                </a:ext>
              </a:extLst>
            </p:cNvPr>
            <p:cNvSpPr/>
            <p:nvPr/>
          </p:nvSpPr>
          <p:spPr>
            <a:xfrm>
              <a:off x="1333501" y="3094495"/>
              <a:ext cx="2503714" cy="2373085"/>
            </a:xfrm>
            <a:prstGeom prst="ellipse">
              <a:avLst/>
            </a:prstGeom>
            <a:solidFill>
              <a:srgbClr val="E7E6E6">
                <a:lumMod val="75000"/>
                <a:alpha val="30000"/>
              </a:srgbClr>
            </a:solidFill>
            <a:ln w="12700" cap="flat" cmpd="sng" algn="ctr">
              <a:noFill/>
              <a:prstDash val="solid"/>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800" b="0" i="0" u="none" strike="noStrike" kern="0" cap="none" spc="0" normalizeH="0" baseline="0" noProof="0">
                <a:ln>
                  <a:noFill/>
                </a:ln>
                <a:solidFill>
                  <a:prstClr val="white">
                    <a:alpha val="0"/>
                  </a:prstClr>
                </a:solidFill>
                <a:effectLst/>
                <a:uLnTx/>
                <a:uFillTx/>
                <a:latin typeface="Calibri" panose="020F0502020204030204"/>
                <a:ea typeface="+mn-ea"/>
                <a:cs typeface="+mn-cs"/>
              </a:endParaRPr>
            </a:p>
          </p:txBody>
        </p:sp>
        <p:sp>
          <p:nvSpPr>
            <p:cNvPr id="41" name="Rectangle 40">
              <a:extLst>
                <a:ext uri="{FF2B5EF4-FFF2-40B4-BE49-F238E27FC236}">
                  <a16:creationId xmlns:a16="http://schemas.microsoft.com/office/drawing/2014/main" id="{E5CC586A-B17B-457D-975D-D80A4F26DC8E}"/>
                </a:ext>
              </a:extLst>
            </p:cNvPr>
            <p:cNvSpPr/>
            <p:nvPr/>
          </p:nvSpPr>
          <p:spPr>
            <a:xfrm>
              <a:off x="1899555" y="1280542"/>
              <a:ext cx="1371603" cy="78275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800" b="1" i="0" u="none" strike="noStrike" kern="0" cap="none" spc="0" normalizeH="0" baseline="0" noProof="0" dirty="0">
                  <a:ln>
                    <a:noFill/>
                  </a:ln>
                  <a:solidFill>
                    <a:prstClr val="black"/>
                  </a:solidFill>
                  <a:effectLst/>
                  <a:uLnTx/>
                  <a:uFillTx/>
                  <a:latin typeface="Calibri" panose="020F0502020204030204"/>
                  <a:ea typeface="+mn-ea"/>
                  <a:cs typeface="+mn-cs"/>
                </a:rPr>
                <a:t>Traiter le risque</a:t>
              </a:r>
            </a:p>
          </p:txBody>
        </p:sp>
        <p:sp>
          <p:nvSpPr>
            <p:cNvPr id="42" name="Rectangle 41">
              <a:extLst>
                <a:ext uri="{FF2B5EF4-FFF2-40B4-BE49-F238E27FC236}">
                  <a16:creationId xmlns:a16="http://schemas.microsoft.com/office/drawing/2014/main" id="{45FC05ED-E287-4117-BE68-DB497B3DA80F}"/>
                </a:ext>
              </a:extLst>
            </p:cNvPr>
            <p:cNvSpPr/>
            <p:nvPr/>
          </p:nvSpPr>
          <p:spPr>
            <a:xfrm>
              <a:off x="1709187" y="4476470"/>
              <a:ext cx="1561970" cy="782751"/>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600" b="1" i="0" u="none" strike="noStrike" kern="0" cap="none" spc="0" normalizeH="0" baseline="0" noProof="0" dirty="0">
                  <a:ln>
                    <a:noFill/>
                  </a:ln>
                  <a:solidFill>
                    <a:prstClr val="black"/>
                  </a:solidFill>
                  <a:effectLst/>
                  <a:uLnTx/>
                  <a:uFillTx/>
                  <a:latin typeface="Calibri" panose="020F0502020204030204"/>
                  <a:ea typeface="+mn-ea"/>
                  <a:cs typeface="+mn-cs"/>
                </a:rPr>
                <a:t>Transférer le risque</a:t>
              </a:r>
            </a:p>
          </p:txBody>
        </p:sp>
        <p:sp>
          <p:nvSpPr>
            <p:cNvPr id="43" name="Rectangle 42">
              <a:extLst>
                <a:ext uri="{FF2B5EF4-FFF2-40B4-BE49-F238E27FC236}">
                  <a16:creationId xmlns:a16="http://schemas.microsoft.com/office/drawing/2014/main" id="{34197E16-D102-4DE7-84E8-8A5459CF7211}"/>
                </a:ext>
              </a:extLst>
            </p:cNvPr>
            <p:cNvSpPr/>
            <p:nvPr/>
          </p:nvSpPr>
          <p:spPr>
            <a:xfrm>
              <a:off x="3499753" y="2962391"/>
              <a:ext cx="1371603" cy="78275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800" b="1" i="0" u="none" strike="noStrike" kern="0" cap="none" spc="0" normalizeH="0" baseline="0" noProof="0" dirty="0">
                  <a:ln>
                    <a:noFill/>
                  </a:ln>
                  <a:solidFill>
                    <a:prstClr val="white"/>
                  </a:solidFill>
                  <a:effectLst/>
                  <a:uLnTx/>
                  <a:uFillTx/>
                  <a:latin typeface="Calibri" panose="020F0502020204030204"/>
                  <a:ea typeface="+mn-ea"/>
                  <a:cs typeface="+mn-cs"/>
                </a:rPr>
                <a:t>Accepter le risque</a:t>
              </a:r>
            </a:p>
          </p:txBody>
        </p:sp>
        <p:sp>
          <p:nvSpPr>
            <p:cNvPr id="44" name="Rectangle 43">
              <a:extLst>
                <a:ext uri="{FF2B5EF4-FFF2-40B4-BE49-F238E27FC236}">
                  <a16:creationId xmlns:a16="http://schemas.microsoft.com/office/drawing/2014/main" id="{F8A277CF-8B00-471F-B8AC-DF45C4166C4D}"/>
                </a:ext>
              </a:extLst>
            </p:cNvPr>
            <p:cNvSpPr/>
            <p:nvPr/>
          </p:nvSpPr>
          <p:spPr>
            <a:xfrm>
              <a:off x="201392" y="2962391"/>
              <a:ext cx="1371603" cy="78275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800" b="1" i="0" u="none" strike="noStrike" kern="0" cap="none" spc="0" normalizeH="0" baseline="0" noProof="0" dirty="0">
                  <a:ln>
                    <a:noFill/>
                  </a:ln>
                  <a:solidFill>
                    <a:prstClr val="white"/>
                  </a:solidFill>
                  <a:effectLst/>
                  <a:uLnTx/>
                  <a:uFillTx/>
                  <a:latin typeface="Calibri" panose="020F0502020204030204"/>
                  <a:ea typeface="+mn-ea"/>
                  <a:cs typeface="+mn-cs"/>
                </a:rPr>
                <a:t>Éviter le risque</a:t>
              </a:r>
            </a:p>
          </p:txBody>
        </p:sp>
      </p:grpSp>
      <p:grpSp>
        <p:nvGrpSpPr>
          <p:cNvPr id="46" name="Groupe 45">
            <a:extLst>
              <a:ext uri="{FF2B5EF4-FFF2-40B4-BE49-F238E27FC236}">
                <a16:creationId xmlns:a16="http://schemas.microsoft.com/office/drawing/2014/main" id="{2BAD52D3-E26C-4AAF-8262-07D3009AC496}"/>
              </a:ext>
            </a:extLst>
          </p:cNvPr>
          <p:cNvGrpSpPr/>
          <p:nvPr/>
        </p:nvGrpSpPr>
        <p:grpSpPr>
          <a:xfrm>
            <a:off x="3897290" y="2143104"/>
            <a:ext cx="5125409" cy="973346"/>
            <a:chOff x="6662057" y="984704"/>
            <a:chExt cx="5029200" cy="1736725"/>
          </a:xfrm>
        </p:grpSpPr>
        <p:sp>
          <p:nvSpPr>
            <p:cNvPr id="56" name="Rectangle 55">
              <a:extLst>
                <a:ext uri="{FF2B5EF4-FFF2-40B4-BE49-F238E27FC236}">
                  <a16:creationId xmlns:a16="http://schemas.microsoft.com/office/drawing/2014/main" id="{E0750163-30CE-4AC8-9A3A-789A2C5E560D}"/>
                </a:ext>
              </a:extLst>
            </p:cNvPr>
            <p:cNvSpPr/>
            <p:nvPr/>
          </p:nvSpPr>
          <p:spPr>
            <a:xfrm>
              <a:off x="6662057" y="984704"/>
              <a:ext cx="5029200" cy="561067"/>
            </a:xfrm>
            <a:prstGeom prst="rect">
              <a:avLst/>
            </a:prstGeom>
            <a:solidFill>
              <a:srgbClr val="E7E6E6">
                <a:lumMod val="5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Traiter le risque</a:t>
              </a:r>
            </a:p>
          </p:txBody>
        </p:sp>
        <p:sp>
          <p:nvSpPr>
            <p:cNvPr id="57" name="Rectangle 56">
              <a:extLst>
                <a:ext uri="{FF2B5EF4-FFF2-40B4-BE49-F238E27FC236}">
                  <a16:creationId xmlns:a16="http://schemas.microsoft.com/office/drawing/2014/main" id="{DD150722-3AEF-4625-8885-5A9A70E1193F}"/>
                </a:ext>
              </a:extLst>
            </p:cNvPr>
            <p:cNvSpPr/>
            <p:nvPr/>
          </p:nvSpPr>
          <p:spPr>
            <a:xfrm>
              <a:off x="6662057" y="1545771"/>
              <a:ext cx="5029200" cy="1175658"/>
            </a:xfrm>
            <a:prstGeom prst="rect">
              <a:avLst/>
            </a:prstGeom>
            <a:solidFill>
              <a:sysClr val="window" lastClr="FFFFFF">
                <a:lumMod val="95000"/>
              </a:sys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1" u="none" strike="noStrike" kern="0" cap="none" spc="0" normalizeH="0" baseline="0" noProof="0" dirty="0">
                  <a:ln>
                    <a:noFill/>
                  </a:ln>
                  <a:solidFill>
                    <a:prstClr val="black"/>
                  </a:solidFill>
                  <a:effectLst/>
                  <a:uLnTx/>
                  <a:uFillTx/>
                  <a:latin typeface="Calibri" panose="020F0502020204030204"/>
                  <a:ea typeface="+mn-ea"/>
                  <a:cs typeface="+mn-cs"/>
                </a:rPr>
                <a:t>Mesures de sécurité sélectionnées pour diminuer le risque</a:t>
              </a:r>
            </a:p>
          </p:txBody>
        </p:sp>
      </p:grpSp>
      <p:grpSp>
        <p:nvGrpSpPr>
          <p:cNvPr id="47" name="Groupe 46">
            <a:extLst>
              <a:ext uri="{FF2B5EF4-FFF2-40B4-BE49-F238E27FC236}">
                <a16:creationId xmlns:a16="http://schemas.microsoft.com/office/drawing/2014/main" id="{0E5505A5-DE90-49F0-A271-8D220D79885B}"/>
              </a:ext>
            </a:extLst>
          </p:cNvPr>
          <p:cNvGrpSpPr/>
          <p:nvPr/>
        </p:nvGrpSpPr>
        <p:grpSpPr>
          <a:xfrm>
            <a:off x="3897290" y="3199327"/>
            <a:ext cx="5125409" cy="939189"/>
            <a:chOff x="6662057" y="984704"/>
            <a:chExt cx="5029200" cy="1574024"/>
          </a:xfrm>
        </p:grpSpPr>
        <p:sp>
          <p:nvSpPr>
            <p:cNvPr id="54" name="Rectangle 53">
              <a:extLst>
                <a:ext uri="{FF2B5EF4-FFF2-40B4-BE49-F238E27FC236}">
                  <a16:creationId xmlns:a16="http://schemas.microsoft.com/office/drawing/2014/main" id="{35AE9358-BC0F-417C-8A5E-B2DD259B40C4}"/>
                </a:ext>
              </a:extLst>
            </p:cNvPr>
            <p:cNvSpPr/>
            <p:nvPr/>
          </p:nvSpPr>
          <p:spPr>
            <a:xfrm>
              <a:off x="6662057" y="984704"/>
              <a:ext cx="5029200" cy="561067"/>
            </a:xfrm>
            <a:prstGeom prst="rect">
              <a:avLst/>
            </a:prstGeom>
            <a:solidFill>
              <a:srgbClr val="002060"/>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Accepter le risque</a:t>
              </a:r>
            </a:p>
          </p:txBody>
        </p:sp>
        <p:sp>
          <p:nvSpPr>
            <p:cNvPr id="55" name="Rectangle 54">
              <a:extLst>
                <a:ext uri="{FF2B5EF4-FFF2-40B4-BE49-F238E27FC236}">
                  <a16:creationId xmlns:a16="http://schemas.microsoft.com/office/drawing/2014/main" id="{DCB1BEA4-C340-4100-B465-B694B41DAEAC}"/>
                </a:ext>
              </a:extLst>
            </p:cNvPr>
            <p:cNvSpPr/>
            <p:nvPr/>
          </p:nvSpPr>
          <p:spPr>
            <a:xfrm>
              <a:off x="6662057" y="1545772"/>
              <a:ext cx="5029200" cy="1012956"/>
            </a:xfrm>
            <a:prstGeom prst="rect">
              <a:avLst/>
            </a:prstGeom>
            <a:solidFill>
              <a:sysClr val="window" lastClr="FFFFFF">
                <a:lumMod val="95000"/>
              </a:sys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1" u="none" strike="noStrike" kern="0" cap="none" spc="0" normalizeH="0" baseline="0" noProof="0" dirty="0">
                  <a:ln>
                    <a:noFill/>
                  </a:ln>
                  <a:solidFill>
                    <a:prstClr val="black"/>
                  </a:solidFill>
                  <a:effectLst/>
                  <a:uLnTx/>
                  <a:uFillTx/>
                  <a:latin typeface="Calibri" panose="020F0502020204030204"/>
                  <a:ea typeface="+mn-ea"/>
                  <a:cs typeface="+mn-cs"/>
                </a:rPr>
                <a:t>La direction décide d’assumer le risque</a:t>
              </a:r>
            </a:p>
          </p:txBody>
        </p:sp>
      </p:grpSp>
      <p:grpSp>
        <p:nvGrpSpPr>
          <p:cNvPr id="48" name="Groupe 47">
            <a:extLst>
              <a:ext uri="{FF2B5EF4-FFF2-40B4-BE49-F238E27FC236}">
                <a16:creationId xmlns:a16="http://schemas.microsoft.com/office/drawing/2014/main" id="{413B909B-CA31-49A8-9697-CDE3C0C9712B}"/>
              </a:ext>
            </a:extLst>
          </p:cNvPr>
          <p:cNvGrpSpPr/>
          <p:nvPr/>
        </p:nvGrpSpPr>
        <p:grpSpPr>
          <a:xfrm>
            <a:off x="3897290" y="4226085"/>
            <a:ext cx="5125409" cy="988689"/>
            <a:chOff x="6662057" y="984705"/>
            <a:chExt cx="5029200" cy="1442919"/>
          </a:xfrm>
        </p:grpSpPr>
        <p:sp>
          <p:nvSpPr>
            <p:cNvPr id="52" name="Rectangle 51">
              <a:extLst>
                <a:ext uri="{FF2B5EF4-FFF2-40B4-BE49-F238E27FC236}">
                  <a16:creationId xmlns:a16="http://schemas.microsoft.com/office/drawing/2014/main" id="{7F9312F9-11D1-478E-9715-F116F23AB278}"/>
                </a:ext>
              </a:extLst>
            </p:cNvPr>
            <p:cNvSpPr/>
            <p:nvPr/>
          </p:nvSpPr>
          <p:spPr>
            <a:xfrm>
              <a:off x="6662057" y="984705"/>
              <a:ext cx="5029200" cy="451810"/>
            </a:xfrm>
            <a:prstGeom prst="rect">
              <a:avLst/>
            </a:prstGeom>
            <a:solidFill>
              <a:srgbClr val="E7E6E6">
                <a:lumMod val="5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Transférer le risque</a:t>
              </a:r>
            </a:p>
          </p:txBody>
        </p:sp>
        <p:sp>
          <p:nvSpPr>
            <p:cNvPr id="53" name="Rectangle 52">
              <a:extLst>
                <a:ext uri="{FF2B5EF4-FFF2-40B4-BE49-F238E27FC236}">
                  <a16:creationId xmlns:a16="http://schemas.microsoft.com/office/drawing/2014/main" id="{3F238AAD-2DE9-42B7-9972-391288463D33}"/>
                </a:ext>
              </a:extLst>
            </p:cNvPr>
            <p:cNvSpPr/>
            <p:nvPr/>
          </p:nvSpPr>
          <p:spPr>
            <a:xfrm>
              <a:off x="6662057" y="1480457"/>
              <a:ext cx="5029200" cy="947167"/>
            </a:xfrm>
            <a:prstGeom prst="rect">
              <a:avLst/>
            </a:prstGeom>
            <a:solidFill>
              <a:sysClr val="window" lastClr="FFFFFF">
                <a:lumMod val="95000"/>
              </a:sys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1" u="none" strike="noStrike" kern="0" cap="none" spc="0" normalizeH="0" baseline="0" noProof="0" dirty="0">
                  <a:ln>
                    <a:noFill/>
                  </a:ln>
                  <a:solidFill>
                    <a:prstClr val="black"/>
                  </a:solidFill>
                  <a:effectLst/>
                  <a:uLnTx/>
                  <a:uFillTx/>
                  <a:latin typeface="Calibri" panose="020F0502020204030204"/>
                  <a:ea typeface="+mn-ea"/>
                  <a:cs typeface="+mn-cs"/>
                </a:rPr>
                <a:t>Décision de partager certains risques avec parties externe: assurance ou infogérance</a:t>
              </a:r>
            </a:p>
          </p:txBody>
        </p:sp>
      </p:grpSp>
      <p:grpSp>
        <p:nvGrpSpPr>
          <p:cNvPr id="49" name="Groupe 48">
            <a:extLst>
              <a:ext uri="{FF2B5EF4-FFF2-40B4-BE49-F238E27FC236}">
                <a16:creationId xmlns:a16="http://schemas.microsoft.com/office/drawing/2014/main" id="{460E277B-088A-4CF7-87CF-2CEC774DC13A}"/>
              </a:ext>
            </a:extLst>
          </p:cNvPr>
          <p:cNvGrpSpPr/>
          <p:nvPr/>
        </p:nvGrpSpPr>
        <p:grpSpPr>
          <a:xfrm>
            <a:off x="3897290" y="5293933"/>
            <a:ext cx="5125409" cy="871371"/>
            <a:chOff x="6662057" y="984704"/>
            <a:chExt cx="5029200" cy="1271703"/>
          </a:xfrm>
        </p:grpSpPr>
        <p:sp>
          <p:nvSpPr>
            <p:cNvPr id="50" name="Rectangle 49">
              <a:extLst>
                <a:ext uri="{FF2B5EF4-FFF2-40B4-BE49-F238E27FC236}">
                  <a16:creationId xmlns:a16="http://schemas.microsoft.com/office/drawing/2014/main" id="{99FE9D6B-E247-4B22-BD98-6D537879EB76}"/>
                </a:ext>
              </a:extLst>
            </p:cNvPr>
            <p:cNvSpPr/>
            <p:nvPr/>
          </p:nvSpPr>
          <p:spPr>
            <a:xfrm>
              <a:off x="6662057" y="984704"/>
              <a:ext cx="5029200" cy="382263"/>
            </a:xfrm>
            <a:prstGeom prst="rect">
              <a:avLst/>
            </a:prstGeom>
            <a:solidFill>
              <a:srgbClr val="002060"/>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0" u="none" strike="noStrike" kern="0" cap="none" spc="0" normalizeH="0" baseline="0" noProof="0" dirty="0">
                  <a:ln>
                    <a:noFill/>
                  </a:ln>
                  <a:solidFill>
                    <a:prstClr val="white"/>
                  </a:solidFill>
                  <a:effectLst/>
                  <a:uLnTx/>
                  <a:uFillTx/>
                  <a:latin typeface="Calibri" panose="020F0502020204030204"/>
                  <a:ea typeface="+mn-ea"/>
                  <a:cs typeface="+mn-cs"/>
                </a:rPr>
                <a:t>Éviter le risque </a:t>
              </a:r>
            </a:p>
          </p:txBody>
        </p:sp>
        <p:sp>
          <p:nvSpPr>
            <p:cNvPr id="51" name="Rectangle 50">
              <a:extLst>
                <a:ext uri="{FF2B5EF4-FFF2-40B4-BE49-F238E27FC236}">
                  <a16:creationId xmlns:a16="http://schemas.microsoft.com/office/drawing/2014/main" id="{91B785F1-5A37-4070-A790-CD6185F12EEB}"/>
                </a:ext>
              </a:extLst>
            </p:cNvPr>
            <p:cNvSpPr/>
            <p:nvPr/>
          </p:nvSpPr>
          <p:spPr>
            <a:xfrm>
              <a:off x="6662057" y="1415145"/>
              <a:ext cx="5029200" cy="841262"/>
            </a:xfrm>
            <a:prstGeom prst="rect">
              <a:avLst/>
            </a:prstGeom>
            <a:solidFill>
              <a:sysClr val="window" lastClr="FFFFFF">
                <a:lumMod val="95000"/>
              </a:sys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2000" b="1" i="1" u="none" strike="noStrike" kern="0" cap="none" spc="0" normalizeH="0" baseline="0" noProof="0" dirty="0">
                  <a:ln>
                    <a:noFill/>
                  </a:ln>
                  <a:solidFill>
                    <a:prstClr val="black"/>
                  </a:solidFill>
                  <a:effectLst/>
                  <a:uLnTx/>
                  <a:uFillTx/>
                  <a:latin typeface="Calibri" panose="020F0502020204030204"/>
                  <a:ea typeface="+mn-ea"/>
                  <a:cs typeface="+mn-cs"/>
                </a:rPr>
                <a:t>Annulation ou modification d’une activité ou d’un ensemble d’activités reliées au risque</a:t>
              </a:r>
            </a:p>
          </p:txBody>
        </p:sp>
      </p:grpSp>
      <p:sp>
        <p:nvSpPr>
          <p:cNvPr id="59" name="Titre 1">
            <a:extLst>
              <a:ext uri="{FF2B5EF4-FFF2-40B4-BE49-F238E27FC236}">
                <a16:creationId xmlns:a16="http://schemas.microsoft.com/office/drawing/2014/main" id="{05A1D013-919D-4CFD-83EC-67E6327CA4EC}"/>
              </a:ext>
            </a:extLst>
          </p:cNvPr>
          <p:cNvSpPr txBox="1">
            <a:spLocks/>
          </p:cNvSpPr>
          <p:nvPr/>
        </p:nvSpPr>
        <p:spPr bwMode="auto">
          <a:xfrm>
            <a:off x="4572000" y="188640"/>
            <a:ext cx="4068452"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SMSI…</a:t>
            </a:r>
            <a:endParaRPr lang="fr-ML"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57650327"/>
      </p:ext>
    </p:extLst>
  </p:cSld>
  <p:clrMapOvr>
    <a:masterClrMapping/>
  </p:clrMapOvr>
  <mc:AlternateContent xmlns:mc="http://schemas.openxmlformats.org/markup-compatibility/2006">
    <mc:Choice xmlns:p14="http://schemas.microsoft.com/office/powerpoint/2010/main" Requires="p14">
      <p:transition spd="slow" p14:dur="2000">
        <p14:ferris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additive="base">
                                        <p:cTn id="12" dur="500" fill="hold"/>
                                        <p:tgtEl>
                                          <p:spTgt spid="46"/>
                                        </p:tgtEl>
                                        <p:attrNameLst>
                                          <p:attrName>ppt_x</p:attrName>
                                        </p:attrNameLst>
                                      </p:cBhvr>
                                      <p:tavLst>
                                        <p:tav tm="0">
                                          <p:val>
                                            <p:strVal val="#ppt_x"/>
                                          </p:val>
                                        </p:tav>
                                        <p:tav tm="100000">
                                          <p:val>
                                            <p:strVal val="#ppt_x"/>
                                          </p:val>
                                        </p:tav>
                                      </p:tavLst>
                                    </p:anim>
                                    <p:anim calcmode="lin" valueType="num">
                                      <p:cBhvr additive="base">
                                        <p:cTn id="13" dur="500" fill="hold"/>
                                        <p:tgtEl>
                                          <p:spTgt spid="46"/>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47"/>
                                        </p:tgtEl>
                                        <p:attrNameLst>
                                          <p:attrName>style.visibility</p:attrName>
                                        </p:attrNameLst>
                                      </p:cBhvr>
                                      <p:to>
                                        <p:strVal val="visible"/>
                                      </p:to>
                                    </p:set>
                                    <p:anim calcmode="lin" valueType="num">
                                      <p:cBhvr additive="base">
                                        <p:cTn id="18" dur="500" fill="hold"/>
                                        <p:tgtEl>
                                          <p:spTgt spid="47"/>
                                        </p:tgtEl>
                                        <p:attrNameLst>
                                          <p:attrName>ppt_x</p:attrName>
                                        </p:attrNameLst>
                                      </p:cBhvr>
                                      <p:tavLst>
                                        <p:tav tm="0">
                                          <p:val>
                                            <p:strVal val="0-#ppt_w/2"/>
                                          </p:val>
                                        </p:tav>
                                        <p:tav tm="100000">
                                          <p:val>
                                            <p:strVal val="#ppt_x"/>
                                          </p:val>
                                        </p:tav>
                                      </p:tavLst>
                                    </p:anim>
                                    <p:anim calcmode="lin" valueType="num">
                                      <p:cBhvr additive="base">
                                        <p:cTn id="19"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48"/>
                                        </p:tgtEl>
                                        <p:attrNameLst>
                                          <p:attrName>style.visibility</p:attrName>
                                        </p:attrNameLst>
                                      </p:cBhvr>
                                      <p:to>
                                        <p:strVal val="visible"/>
                                      </p:to>
                                    </p:set>
                                    <p:anim calcmode="lin" valueType="num">
                                      <p:cBhvr additive="base">
                                        <p:cTn id="24" dur="500" fill="hold"/>
                                        <p:tgtEl>
                                          <p:spTgt spid="48"/>
                                        </p:tgtEl>
                                        <p:attrNameLst>
                                          <p:attrName>ppt_x</p:attrName>
                                        </p:attrNameLst>
                                      </p:cBhvr>
                                      <p:tavLst>
                                        <p:tav tm="0">
                                          <p:val>
                                            <p:strVal val="1+#ppt_w/2"/>
                                          </p:val>
                                        </p:tav>
                                        <p:tav tm="100000">
                                          <p:val>
                                            <p:strVal val="#ppt_x"/>
                                          </p:val>
                                        </p:tav>
                                      </p:tavLst>
                                    </p:anim>
                                    <p:anim calcmode="lin" valueType="num">
                                      <p:cBhvr additive="base">
                                        <p:cTn id="25"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 calcmode="lin" valueType="num">
                                      <p:cBhvr additive="base">
                                        <p:cTn id="30" dur="500" fill="hold"/>
                                        <p:tgtEl>
                                          <p:spTgt spid="49"/>
                                        </p:tgtEl>
                                        <p:attrNameLst>
                                          <p:attrName>ppt_x</p:attrName>
                                        </p:attrNameLst>
                                      </p:cBhvr>
                                      <p:tavLst>
                                        <p:tav tm="0">
                                          <p:val>
                                            <p:strVal val="#ppt_x"/>
                                          </p:val>
                                        </p:tav>
                                        <p:tav tm="100000">
                                          <p:val>
                                            <p:strVal val="#ppt_x"/>
                                          </p:val>
                                        </p:tav>
                                      </p:tavLst>
                                    </p:anim>
                                    <p:anim calcmode="lin" valueType="num">
                                      <p:cBhvr additive="base">
                                        <p:cTn id="31"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itre 1">
            <a:extLst>
              <a:ext uri="{FF2B5EF4-FFF2-40B4-BE49-F238E27FC236}">
                <a16:creationId xmlns:a16="http://schemas.microsoft.com/office/drawing/2014/main" id="{C1DD24AC-4F71-450F-A9ED-C7C7C412E2D9}"/>
              </a:ext>
            </a:extLst>
          </p:cNvPr>
          <p:cNvSpPr txBox="1">
            <a:spLocks/>
          </p:cNvSpPr>
          <p:nvPr/>
        </p:nvSpPr>
        <p:spPr bwMode="auto">
          <a:xfrm>
            <a:off x="1043608" y="188640"/>
            <a:ext cx="7056784"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Utilisation de la norme de ISO 27002 </a:t>
            </a:r>
            <a:endParaRPr lang="fr-ML" sz="6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6" name="Espace réservé du contenu 2">
            <a:extLst>
              <a:ext uri="{FF2B5EF4-FFF2-40B4-BE49-F238E27FC236}">
                <a16:creationId xmlns:a16="http://schemas.microsoft.com/office/drawing/2014/main" id="{08FCCC16-A754-42BC-B70C-203CFE8B927F}"/>
              </a:ext>
            </a:extLst>
          </p:cNvPr>
          <p:cNvSpPr>
            <a:spLocks noGrp="1"/>
          </p:cNvSpPr>
          <p:nvPr>
            <p:ph idx="1"/>
          </p:nvPr>
        </p:nvSpPr>
        <p:spPr>
          <a:xfrm>
            <a:off x="179512" y="3068960"/>
            <a:ext cx="5490356" cy="504056"/>
          </a:xfrm>
        </p:spPr>
        <p:txBody>
          <a:bodyPr/>
          <a:lstStyle/>
          <a:p>
            <a:pPr>
              <a:buBlip>
                <a:blip r:embed="rId2"/>
              </a:buBlip>
            </a:pPr>
            <a:r>
              <a:rPr lang="fr-ML"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Guide de référence en sécurité des SI :</a:t>
            </a:r>
            <a:endParaRPr lang="fr-ML" sz="3600" b="1" dirty="0">
              <a:solidFill>
                <a:srgbClr val="000000"/>
              </a:solidFill>
            </a:endParaRPr>
          </a:p>
        </p:txBody>
      </p:sp>
      <p:sp>
        <p:nvSpPr>
          <p:cNvPr id="87" name="Espace réservé du contenu 2">
            <a:extLst>
              <a:ext uri="{FF2B5EF4-FFF2-40B4-BE49-F238E27FC236}">
                <a16:creationId xmlns:a16="http://schemas.microsoft.com/office/drawing/2014/main" id="{300AF2BE-D9CA-4FD0-A0FB-8D01A9C67768}"/>
              </a:ext>
            </a:extLst>
          </p:cNvPr>
          <p:cNvSpPr txBox="1">
            <a:spLocks/>
          </p:cNvSpPr>
          <p:nvPr/>
        </p:nvSpPr>
        <p:spPr bwMode="auto">
          <a:xfrm>
            <a:off x="269268" y="1628800"/>
            <a:ext cx="8874732"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ML" sz="1800" dirty="0">
                <a:solidFill>
                  <a:srgbClr val="000000"/>
                </a:solidFill>
                <a:latin typeface="Calibri" panose="020F0502020204030204" pitchFamily="34" charset="0"/>
                <a:cs typeface="Calibri" panose="020F0502020204030204" pitchFamily="34" charset="0"/>
              </a:rPr>
              <a:t>Il est difficile de résumer en une phrase l’usage de la norme ISO 27002, tellement ses usages sont nombreux et variés. Rarement une norme en sécurité des SI a connu une telle acceptation. Voici toutefois les principaux usages. </a:t>
            </a:r>
          </a:p>
        </p:txBody>
      </p:sp>
      <p:sp>
        <p:nvSpPr>
          <p:cNvPr id="88" name="Espace réservé du contenu 2">
            <a:extLst>
              <a:ext uri="{FF2B5EF4-FFF2-40B4-BE49-F238E27FC236}">
                <a16:creationId xmlns:a16="http://schemas.microsoft.com/office/drawing/2014/main" id="{E1A6FAAB-8EB6-4B36-AE2A-5F33DB194DC9}"/>
              </a:ext>
            </a:extLst>
          </p:cNvPr>
          <p:cNvSpPr txBox="1">
            <a:spLocks/>
          </p:cNvSpPr>
          <p:nvPr/>
        </p:nvSpPr>
        <p:spPr bwMode="auto">
          <a:xfrm>
            <a:off x="795160" y="3501008"/>
            <a:ext cx="8169327"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ML"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La première utilisé de la norme est de présenter un panorama complet des mesures de sécurité pouvant être déployées pour sécuriser un SI. C’est même la fonction première de la norme.</a:t>
            </a:r>
          </a:p>
        </p:txBody>
      </p:sp>
      <p:grpSp>
        <p:nvGrpSpPr>
          <p:cNvPr id="2" name="Groupe 1">
            <a:extLst>
              <a:ext uri="{FF2B5EF4-FFF2-40B4-BE49-F238E27FC236}">
                <a16:creationId xmlns:a16="http://schemas.microsoft.com/office/drawing/2014/main" id="{674C6E66-4248-4CF2-AE1F-75563B45BE6C}"/>
              </a:ext>
            </a:extLst>
          </p:cNvPr>
          <p:cNvGrpSpPr/>
          <p:nvPr/>
        </p:nvGrpSpPr>
        <p:grpSpPr>
          <a:xfrm>
            <a:off x="179512" y="4725144"/>
            <a:ext cx="8784974" cy="1656184"/>
            <a:chOff x="179512" y="4725144"/>
            <a:chExt cx="8784974" cy="1656184"/>
          </a:xfrm>
        </p:grpSpPr>
        <p:sp>
          <p:nvSpPr>
            <p:cNvPr id="89" name="Espace réservé du contenu 2">
              <a:extLst>
                <a:ext uri="{FF2B5EF4-FFF2-40B4-BE49-F238E27FC236}">
                  <a16:creationId xmlns:a16="http://schemas.microsoft.com/office/drawing/2014/main" id="{EE9D537D-9280-481D-8075-C05FDB7770B7}"/>
                </a:ext>
              </a:extLst>
            </p:cNvPr>
            <p:cNvSpPr txBox="1">
              <a:spLocks/>
            </p:cNvSpPr>
            <p:nvPr/>
          </p:nvSpPr>
          <p:spPr bwMode="auto">
            <a:xfrm>
              <a:off x="179512" y="4725144"/>
              <a:ext cx="5490356"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Blip>
                  <a:blip r:embed="rId2"/>
                </a:buBlip>
              </a:pPr>
              <a:r>
                <a:rPr lang="fr-ML"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Aide à l’implémentation de mesures de sécurité : </a:t>
              </a:r>
              <a:endParaRPr lang="fr-ML" sz="3600" b="1" dirty="0">
                <a:solidFill>
                  <a:srgbClr val="000000"/>
                </a:solidFill>
              </a:endParaRPr>
            </a:p>
          </p:txBody>
        </p:sp>
        <p:sp>
          <p:nvSpPr>
            <p:cNvPr id="90" name="Espace réservé du contenu 2">
              <a:extLst>
                <a:ext uri="{FF2B5EF4-FFF2-40B4-BE49-F238E27FC236}">
                  <a16:creationId xmlns:a16="http://schemas.microsoft.com/office/drawing/2014/main" id="{1257D9EB-692E-493A-9F12-E96F0BA99E05}"/>
                </a:ext>
              </a:extLst>
            </p:cNvPr>
            <p:cNvSpPr txBox="1">
              <a:spLocks/>
            </p:cNvSpPr>
            <p:nvPr/>
          </p:nvSpPr>
          <p:spPr bwMode="auto">
            <a:xfrm>
              <a:off x="795159" y="5163654"/>
              <a:ext cx="8169327" cy="121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7000"/>
                </a:lnSpc>
                <a:spcAft>
                  <a:spcPts val="800"/>
                </a:spcAft>
                <a:buNone/>
              </a:pPr>
              <a:r>
                <a:rPr lang="fr-ML" sz="1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C</a:t>
              </a:r>
              <a:r>
                <a:rPr lang="fr-ML"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haque mesure de sécurité est détaillée. La norme formule de nombreuses suggestions pour faciliter l’implémentation des mesures. Aussi, si le RSSI ne sait pas comment appliquer une mesure de sécurité, il pleut se référer à la norme qui lui donnera les points de repère nécessaires.</a:t>
              </a:r>
            </a:p>
          </p:txBody>
        </p:sp>
      </p:grpSp>
    </p:spTree>
    <p:extLst>
      <p:ext uri="{BB962C8B-B14F-4D97-AF65-F5344CB8AC3E}">
        <p14:creationId xmlns:p14="http://schemas.microsoft.com/office/powerpoint/2010/main" val="1487933381"/>
      </p:ext>
    </p:extLst>
  </p:cSld>
  <p:clrMapOvr>
    <a:masterClrMapping/>
  </p:clrMapOvr>
  <mc:AlternateContent xmlns:mc="http://schemas.openxmlformats.org/markup-compatibility/2006">
    <mc:Choice xmlns:p14="http://schemas.microsoft.com/office/powerpoint/2010/main" Requires="p14">
      <p:transition spd="slow" p14:dur="1500">
        <p14:prism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6">
                                            <p:txEl>
                                              <p:pRg st="0" end="0"/>
                                            </p:txEl>
                                          </p:spTgt>
                                        </p:tgtEl>
                                        <p:attrNameLst>
                                          <p:attrName>style.visibility</p:attrName>
                                        </p:attrNameLst>
                                      </p:cBhvr>
                                      <p:to>
                                        <p:strVal val="visible"/>
                                      </p:to>
                                    </p:set>
                                    <p:anim calcmode="lin" valueType="num">
                                      <p:cBhvr>
                                        <p:cTn id="7" dur="500" fill="hold"/>
                                        <p:tgtEl>
                                          <p:spTgt spid="8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6">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8"/>
                                        </p:tgtEl>
                                        <p:attrNameLst>
                                          <p:attrName>style.visibility</p:attrName>
                                        </p:attrNameLst>
                                      </p:cBhvr>
                                      <p:to>
                                        <p:strVal val="visible"/>
                                      </p:to>
                                    </p:set>
                                    <p:anim calcmode="lin" valueType="num">
                                      <p:cBhvr>
                                        <p:cTn id="12" dur="500" fill="hold"/>
                                        <p:tgtEl>
                                          <p:spTgt spid="88"/>
                                        </p:tgtEl>
                                        <p:attrNameLst>
                                          <p:attrName>ppt_w</p:attrName>
                                        </p:attrNameLst>
                                      </p:cBhvr>
                                      <p:tavLst>
                                        <p:tav tm="0">
                                          <p:val>
                                            <p:fltVal val="0"/>
                                          </p:val>
                                        </p:tav>
                                        <p:tav tm="100000">
                                          <p:val>
                                            <p:strVal val="#ppt_w"/>
                                          </p:val>
                                        </p:tav>
                                      </p:tavLst>
                                    </p:anim>
                                    <p:anim calcmode="lin" valueType="num">
                                      <p:cBhvr>
                                        <p:cTn id="13" dur="500" fill="hold"/>
                                        <p:tgtEl>
                                          <p:spTgt spid="88"/>
                                        </p:tgtEl>
                                        <p:attrNameLst>
                                          <p:attrName>ppt_h</p:attrName>
                                        </p:attrNameLst>
                                      </p:cBhvr>
                                      <p:tavLst>
                                        <p:tav tm="0">
                                          <p:val>
                                            <p:fltVal val="0"/>
                                          </p:val>
                                        </p:tav>
                                        <p:tav tm="100000">
                                          <p:val>
                                            <p:strVal val="#ppt_h"/>
                                          </p:val>
                                        </p:tav>
                                      </p:tavLst>
                                    </p:anim>
                                    <p:animEffect transition="in" filter="fade">
                                      <p:cBhvr>
                                        <p:cTn id="14" dur="500"/>
                                        <p:tgtEl>
                                          <p:spTgt spid="88"/>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inVertic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build="p"/>
      <p:bldP spid="8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1">
            <a:extLst>
              <a:ext uri="{FF2B5EF4-FFF2-40B4-BE49-F238E27FC236}">
                <a16:creationId xmlns:a16="http://schemas.microsoft.com/office/drawing/2014/main" id="{84E7A4B4-1CC6-437A-A6FE-054066A48F44}"/>
              </a:ext>
            </a:extLst>
          </p:cNvPr>
          <p:cNvSpPr txBox="1">
            <a:spLocks/>
          </p:cNvSpPr>
          <p:nvPr/>
        </p:nvSpPr>
        <p:spPr bwMode="auto">
          <a:xfrm>
            <a:off x="820211" y="192757"/>
            <a:ext cx="7056784"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Utilisation de la norme de ISO 27002… </a:t>
            </a:r>
            <a:endParaRPr lang="fr-ML" sz="6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Espace réservé du contenu 2">
            <a:extLst>
              <a:ext uri="{FF2B5EF4-FFF2-40B4-BE49-F238E27FC236}">
                <a16:creationId xmlns:a16="http://schemas.microsoft.com/office/drawing/2014/main" id="{2F1D37B5-9463-4A1E-A825-3A9887DCFE9E}"/>
              </a:ext>
            </a:extLst>
          </p:cNvPr>
          <p:cNvSpPr txBox="1">
            <a:spLocks/>
          </p:cNvSpPr>
          <p:nvPr/>
        </p:nvSpPr>
        <p:spPr bwMode="auto">
          <a:xfrm>
            <a:off x="207979" y="3114556"/>
            <a:ext cx="5490356"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Blip>
                <a:blip r:embed="rId2"/>
              </a:buBlip>
            </a:pPr>
            <a:r>
              <a:rPr lang="fr-ML" sz="2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Politiques de sécurité : </a:t>
            </a:r>
            <a:endParaRPr lang="fr-ML" sz="4400" b="1" dirty="0">
              <a:solidFill>
                <a:srgbClr val="000000"/>
              </a:solidFill>
            </a:endParaRPr>
          </a:p>
        </p:txBody>
      </p:sp>
      <p:sp>
        <p:nvSpPr>
          <p:cNvPr id="11" name="Espace réservé du contenu 2">
            <a:extLst>
              <a:ext uri="{FF2B5EF4-FFF2-40B4-BE49-F238E27FC236}">
                <a16:creationId xmlns:a16="http://schemas.microsoft.com/office/drawing/2014/main" id="{3D645DAA-811C-4889-B273-6ACA930CB036}"/>
              </a:ext>
            </a:extLst>
          </p:cNvPr>
          <p:cNvSpPr txBox="1">
            <a:spLocks/>
          </p:cNvSpPr>
          <p:nvPr/>
        </p:nvSpPr>
        <p:spPr bwMode="auto">
          <a:xfrm>
            <a:off x="679612" y="3503716"/>
            <a:ext cx="8169327" cy="1123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7000"/>
              </a:lnSpc>
              <a:spcAft>
                <a:spcPts val="800"/>
              </a:spcAft>
              <a:buNone/>
            </a:pPr>
            <a:r>
              <a:rPr lang="fr-ML" sz="1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D</a:t>
            </a:r>
            <a:r>
              <a:rPr lang="fr-ML"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 nombreuses politiques de sécurité suivent scrupuleusement le plan de l’ISO 27002. Si cette démarche consistant à coller à la norme n’est pas forcément la plus pertinente, elle permet néanmoins d’être sûr de ne rien avoir oublié dans la politique.</a:t>
            </a:r>
          </a:p>
        </p:txBody>
      </p:sp>
      <p:sp>
        <p:nvSpPr>
          <p:cNvPr id="12" name="Espace réservé du contenu 2">
            <a:extLst>
              <a:ext uri="{FF2B5EF4-FFF2-40B4-BE49-F238E27FC236}">
                <a16:creationId xmlns:a16="http://schemas.microsoft.com/office/drawing/2014/main" id="{6F7171D8-74B2-4937-8109-BF0E820BAA8C}"/>
              </a:ext>
            </a:extLst>
          </p:cNvPr>
          <p:cNvSpPr txBox="1">
            <a:spLocks/>
          </p:cNvSpPr>
          <p:nvPr/>
        </p:nvSpPr>
        <p:spPr bwMode="auto">
          <a:xfrm>
            <a:off x="268130" y="4763855"/>
            <a:ext cx="5490356"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Blip>
                <a:blip r:embed="rId2"/>
              </a:buBlip>
            </a:pPr>
            <a:r>
              <a:rPr lang="fr-ML" sz="2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Référentiel d’audit : </a:t>
            </a:r>
            <a:endParaRPr lang="fr-ML" sz="4400" b="1" dirty="0">
              <a:solidFill>
                <a:srgbClr val="000000"/>
              </a:solidFill>
            </a:endParaRPr>
          </a:p>
        </p:txBody>
      </p:sp>
      <p:sp>
        <p:nvSpPr>
          <p:cNvPr id="13" name="Espace réservé du contenu 2">
            <a:extLst>
              <a:ext uri="{FF2B5EF4-FFF2-40B4-BE49-F238E27FC236}">
                <a16:creationId xmlns:a16="http://schemas.microsoft.com/office/drawing/2014/main" id="{B0A85768-A7F1-41DC-B16A-D1A71B75ADBD}"/>
              </a:ext>
            </a:extLst>
          </p:cNvPr>
          <p:cNvSpPr txBox="1">
            <a:spLocks/>
          </p:cNvSpPr>
          <p:nvPr/>
        </p:nvSpPr>
        <p:spPr bwMode="auto">
          <a:xfrm>
            <a:off x="701782" y="5175948"/>
            <a:ext cx="8169327" cy="1123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7000"/>
              </a:lnSpc>
              <a:spcAft>
                <a:spcPts val="800"/>
              </a:spcAft>
              <a:buNone/>
            </a:pPr>
            <a:r>
              <a:rPr lang="fr-ML" sz="1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L</a:t>
            </a:r>
            <a:r>
              <a:rPr lang="fr-ML"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 norme est très utilisée par les auditeurs pour vérifier les pratiques de sécurité. Lors des audits, ils passent en revue les mesures de sécurité et vérifient, mesure par mesure, comment elles sont implémentées chez l’auditer.</a:t>
            </a:r>
          </a:p>
        </p:txBody>
      </p:sp>
      <p:sp>
        <p:nvSpPr>
          <p:cNvPr id="17" name="Espace réservé du contenu 2">
            <a:extLst>
              <a:ext uri="{FF2B5EF4-FFF2-40B4-BE49-F238E27FC236}">
                <a16:creationId xmlns:a16="http://schemas.microsoft.com/office/drawing/2014/main" id="{8E0D11A8-C6DF-46AF-980E-6F40F9227319}"/>
              </a:ext>
            </a:extLst>
          </p:cNvPr>
          <p:cNvSpPr txBox="1">
            <a:spLocks/>
          </p:cNvSpPr>
          <p:nvPr/>
        </p:nvSpPr>
        <p:spPr bwMode="auto">
          <a:xfrm>
            <a:off x="179512" y="1517860"/>
            <a:ext cx="5490356"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Blip>
                <a:blip r:embed="rId2"/>
              </a:buBlip>
            </a:pPr>
            <a:r>
              <a:rPr lang="fr-ML" sz="2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Appels d’offres : </a:t>
            </a:r>
            <a:endParaRPr lang="fr-ML" sz="4000" b="1" dirty="0">
              <a:solidFill>
                <a:srgbClr val="000000"/>
              </a:solidFill>
            </a:endParaRPr>
          </a:p>
        </p:txBody>
      </p:sp>
      <p:sp>
        <p:nvSpPr>
          <p:cNvPr id="19" name="Espace réservé du contenu 2">
            <a:extLst>
              <a:ext uri="{FF2B5EF4-FFF2-40B4-BE49-F238E27FC236}">
                <a16:creationId xmlns:a16="http://schemas.microsoft.com/office/drawing/2014/main" id="{4A269A7C-FF60-46AE-8FE3-48BE918D8292}"/>
              </a:ext>
            </a:extLst>
          </p:cNvPr>
          <p:cNvSpPr txBox="1">
            <a:spLocks/>
          </p:cNvSpPr>
          <p:nvPr/>
        </p:nvSpPr>
        <p:spPr bwMode="auto">
          <a:xfrm>
            <a:off x="820211" y="1928026"/>
            <a:ext cx="8169327" cy="780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7000"/>
              </a:lnSpc>
              <a:spcAft>
                <a:spcPts val="800"/>
              </a:spcAft>
              <a:buNone/>
            </a:pPr>
            <a:r>
              <a:rPr lang="fr-ML" sz="1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S</a:t>
            </a:r>
            <a:r>
              <a:rPr lang="fr-ML"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 la norme n’a pas été créée dans cette intention, elle est très utilisée pour rédiger les clauses de sécurité dans les appels d’offres.</a:t>
            </a:r>
          </a:p>
        </p:txBody>
      </p:sp>
    </p:spTree>
    <p:extLst>
      <p:ext uri="{BB962C8B-B14F-4D97-AF65-F5344CB8AC3E}">
        <p14:creationId xmlns:p14="http://schemas.microsoft.com/office/powerpoint/2010/main" val="3346289109"/>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outVertical)">
                                      <p:cBhvr>
                                        <p:cTn id="7" dur="500"/>
                                        <p:tgtEl>
                                          <p:spTgt spid="19"/>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arn(outVertical)">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42"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outHorizontal)">
                                      <p:cBhvr>
                                        <p:cTn id="15" dur="500"/>
                                        <p:tgtEl>
                                          <p:spTgt spid="11"/>
                                        </p:tgtEl>
                                      </p:cBhvr>
                                    </p:animEffect>
                                  </p:childTnLst>
                                </p:cTn>
                              </p:par>
                              <p:par>
                                <p:cTn id="16" presetID="16" presetClass="entr" presetSubtype="42"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arn(outHorizontal)">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arn(inVertical)">
                                      <p:cBhvr>
                                        <p:cTn id="23" dur="500"/>
                                        <p:tgtEl>
                                          <p:spTgt spid="13"/>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arn(inVertical)">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7" grpId="0"/>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81D249A4-B4F4-443B-BD4C-A701E721B9E7}"/>
              </a:ext>
            </a:extLst>
          </p:cNvPr>
          <p:cNvSpPr txBox="1">
            <a:spLocks/>
          </p:cNvSpPr>
          <p:nvPr/>
        </p:nvSpPr>
        <p:spPr bwMode="auto">
          <a:xfrm>
            <a:off x="820211" y="192757"/>
            <a:ext cx="7056784"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Utilisation de la norme de ISO 27002… </a:t>
            </a:r>
            <a:endParaRPr lang="fr-ML" sz="6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Espace réservé du contenu 2">
            <a:extLst>
              <a:ext uri="{FF2B5EF4-FFF2-40B4-BE49-F238E27FC236}">
                <a16:creationId xmlns:a16="http://schemas.microsoft.com/office/drawing/2014/main" id="{5FA15BFB-1C9B-46B8-AE4B-B85FC46F8946}"/>
              </a:ext>
            </a:extLst>
          </p:cNvPr>
          <p:cNvSpPr txBox="1">
            <a:spLocks/>
          </p:cNvSpPr>
          <p:nvPr/>
        </p:nvSpPr>
        <p:spPr bwMode="auto">
          <a:xfrm>
            <a:off x="323528" y="1628800"/>
            <a:ext cx="5490356"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Blip>
                <a:blip r:embed="rId2"/>
              </a:buBlip>
            </a:pPr>
            <a:r>
              <a:rPr lang="fr-ML" sz="2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Comparaisons : </a:t>
            </a:r>
            <a:endParaRPr lang="fr-ML" sz="4400" b="1" dirty="0">
              <a:solidFill>
                <a:srgbClr val="000000"/>
              </a:solidFill>
            </a:endParaRPr>
          </a:p>
        </p:txBody>
      </p:sp>
      <p:sp>
        <p:nvSpPr>
          <p:cNvPr id="9" name="Espace réservé du contenu 2">
            <a:extLst>
              <a:ext uri="{FF2B5EF4-FFF2-40B4-BE49-F238E27FC236}">
                <a16:creationId xmlns:a16="http://schemas.microsoft.com/office/drawing/2014/main" id="{43E77E4B-79B3-4A3E-9EE0-8440BFA69A07}"/>
              </a:ext>
            </a:extLst>
          </p:cNvPr>
          <p:cNvSpPr txBox="1">
            <a:spLocks/>
          </p:cNvSpPr>
          <p:nvPr/>
        </p:nvSpPr>
        <p:spPr bwMode="auto">
          <a:xfrm>
            <a:off x="820211" y="2132856"/>
            <a:ext cx="8169327" cy="167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7000"/>
              </a:lnSpc>
              <a:spcAft>
                <a:spcPts val="800"/>
              </a:spcAft>
              <a:buNone/>
            </a:pPr>
            <a:r>
              <a:rPr lang="fr-ML" sz="1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C</a:t>
            </a:r>
            <a:r>
              <a:rPr lang="fr-ML"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onséquence directe du point précédent, c’est référentiel est très utilisé pour comparer le niveau de sécurité de différentes entités. Il est en effet très courant que les groupes fassent auditer toutes leurs filiales par rapport à ce référentiel. Cela leur donne rapidement une vision claire sur les entités les plus matures dans le domaine et sur celles où il faudra faire plus attention.</a:t>
            </a:r>
          </a:p>
        </p:txBody>
      </p:sp>
      <p:sp>
        <p:nvSpPr>
          <p:cNvPr id="10" name="Espace réservé du contenu 2">
            <a:extLst>
              <a:ext uri="{FF2B5EF4-FFF2-40B4-BE49-F238E27FC236}">
                <a16:creationId xmlns:a16="http://schemas.microsoft.com/office/drawing/2014/main" id="{5121E27D-D267-47F0-8042-2FC677CDE9E4}"/>
              </a:ext>
            </a:extLst>
          </p:cNvPr>
          <p:cNvSpPr txBox="1">
            <a:spLocks/>
          </p:cNvSpPr>
          <p:nvPr/>
        </p:nvSpPr>
        <p:spPr bwMode="auto">
          <a:xfrm>
            <a:off x="323528" y="4221089"/>
            <a:ext cx="5490356"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Blip>
                <a:blip r:embed="rId2"/>
              </a:buBlip>
            </a:pPr>
            <a:r>
              <a:rPr lang="fr-ML" sz="2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Aide à l’implémentation de ISO 27001 : </a:t>
            </a:r>
            <a:endParaRPr lang="fr-ML" sz="4800" b="1" dirty="0">
              <a:solidFill>
                <a:srgbClr val="000000"/>
              </a:solidFill>
            </a:endParaRPr>
          </a:p>
        </p:txBody>
      </p:sp>
      <p:sp>
        <p:nvSpPr>
          <p:cNvPr id="11" name="Espace réservé du contenu 2">
            <a:extLst>
              <a:ext uri="{FF2B5EF4-FFF2-40B4-BE49-F238E27FC236}">
                <a16:creationId xmlns:a16="http://schemas.microsoft.com/office/drawing/2014/main" id="{1F5A3823-8846-434A-9D95-E11FDE381002}"/>
              </a:ext>
            </a:extLst>
          </p:cNvPr>
          <p:cNvSpPr txBox="1">
            <a:spLocks/>
          </p:cNvSpPr>
          <p:nvPr/>
        </p:nvSpPr>
        <p:spPr bwMode="auto">
          <a:xfrm>
            <a:off x="820210" y="4725145"/>
            <a:ext cx="8169327"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7000"/>
              </a:lnSpc>
              <a:spcAft>
                <a:spcPts val="800"/>
              </a:spcAft>
              <a:buNone/>
            </a:pPr>
            <a:r>
              <a:rPr lang="fr-ML" sz="1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L</a:t>
            </a:r>
            <a:r>
              <a:rPr lang="fr-ML"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 numérotation de la norme ISO 27002 en dit long sur son utilité. Elle est bien le complément de la norme ISO 27001. En fait, si celle-ci présente les exigences pour mettre en place un système de management de sécurité de l’information, celle-là sert à décliner concrètement les mesures de sécurité dans le système. </a:t>
            </a:r>
          </a:p>
        </p:txBody>
      </p:sp>
    </p:spTree>
    <p:extLst>
      <p:ext uri="{BB962C8B-B14F-4D97-AF65-F5344CB8AC3E}">
        <p14:creationId xmlns:p14="http://schemas.microsoft.com/office/powerpoint/2010/main" val="191218751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right)">
                                      <p:cBhvr>
                                        <p:cTn id="15" dur="500"/>
                                        <p:tgtEl>
                                          <p:spTgt spid="10"/>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BAE4A0A5-0277-4869-93AD-0B0FB47A8EA8}"/>
              </a:ext>
            </a:extLst>
          </p:cNvPr>
          <p:cNvSpPr txBox="1">
            <a:spLocks/>
          </p:cNvSpPr>
          <p:nvPr/>
        </p:nvSpPr>
        <p:spPr bwMode="auto">
          <a:xfrm>
            <a:off x="611560" y="188640"/>
            <a:ext cx="7272808"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hlink"/>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nSpc>
                <a:spcPct val="107000"/>
              </a:lnSpc>
              <a:spcAft>
                <a:spcPts val="800"/>
              </a:spcAft>
            </a:pPr>
            <a:r>
              <a:rPr lang="fr-ML" sz="3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Les 11 objectifs principaux de ISO 27002</a:t>
            </a:r>
            <a:endParaRPr lang="fr-ML" sz="6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6" name="Groupe 5">
            <a:extLst>
              <a:ext uri="{FF2B5EF4-FFF2-40B4-BE49-F238E27FC236}">
                <a16:creationId xmlns:a16="http://schemas.microsoft.com/office/drawing/2014/main" id="{81984EE1-DF96-4C75-86CB-B895177BD90E}"/>
              </a:ext>
            </a:extLst>
          </p:cNvPr>
          <p:cNvGrpSpPr/>
          <p:nvPr/>
        </p:nvGrpSpPr>
        <p:grpSpPr>
          <a:xfrm>
            <a:off x="-180528" y="1285014"/>
            <a:ext cx="8851920" cy="5085020"/>
            <a:chOff x="-182342" y="752910"/>
            <a:chExt cx="12129467" cy="5759452"/>
          </a:xfrm>
        </p:grpSpPr>
        <p:sp>
          <p:nvSpPr>
            <p:cNvPr id="7" name="Triangle isocèle 6">
              <a:extLst>
                <a:ext uri="{FF2B5EF4-FFF2-40B4-BE49-F238E27FC236}">
                  <a16:creationId xmlns:a16="http://schemas.microsoft.com/office/drawing/2014/main" id="{75A5F73C-64D8-40A5-8B3F-E34F1E797FAD}"/>
                </a:ext>
              </a:extLst>
            </p:cNvPr>
            <p:cNvSpPr/>
            <p:nvPr/>
          </p:nvSpPr>
          <p:spPr>
            <a:xfrm>
              <a:off x="3088541" y="1168538"/>
              <a:ext cx="8469085" cy="5232262"/>
            </a:xfrm>
            <a:prstGeom prst="triangle">
              <a:avLst>
                <a:gd name="adj" fmla="val 48161"/>
              </a:avLst>
            </a:prstGeom>
            <a:solidFill>
              <a:srgbClr val="4472C4">
                <a:lumMod val="20000"/>
                <a:lumOff val="80000"/>
                <a:alpha val="0"/>
              </a:srgbClr>
            </a:solidFill>
            <a:ln w="38100" cap="flat" cmpd="sng" algn="ctr">
              <a:solidFill>
                <a:srgbClr val="002060">
                  <a:alpha val="7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ML" sz="12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1F8B0BA3-4418-4EDB-974D-A902DD6E8A52}"/>
                </a:ext>
              </a:extLst>
            </p:cNvPr>
            <p:cNvSpPr/>
            <p:nvPr/>
          </p:nvSpPr>
          <p:spPr>
            <a:xfrm>
              <a:off x="5611581" y="752910"/>
              <a:ext cx="3135086" cy="60960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La politique de sécurité</a:t>
              </a:r>
            </a:p>
          </p:txBody>
        </p:sp>
        <p:sp>
          <p:nvSpPr>
            <p:cNvPr id="9" name="Rectangle 8">
              <a:extLst>
                <a:ext uri="{FF2B5EF4-FFF2-40B4-BE49-F238E27FC236}">
                  <a16:creationId xmlns:a16="http://schemas.microsoft.com/office/drawing/2014/main" id="{A6DBFF07-EFD9-4ACF-BE1E-6ECFB76B51D4}"/>
                </a:ext>
              </a:extLst>
            </p:cNvPr>
            <p:cNvSpPr/>
            <p:nvPr/>
          </p:nvSpPr>
          <p:spPr>
            <a:xfrm>
              <a:off x="5758540" y="1822356"/>
              <a:ext cx="3135086" cy="60960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Organisation de la sécurité de l’information </a:t>
              </a:r>
            </a:p>
          </p:txBody>
        </p:sp>
        <p:sp>
          <p:nvSpPr>
            <p:cNvPr id="10" name="Rectangle 9">
              <a:extLst>
                <a:ext uri="{FF2B5EF4-FFF2-40B4-BE49-F238E27FC236}">
                  <a16:creationId xmlns:a16="http://schemas.microsoft.com/office/drawing/2014/main" id="{E4E4959A-5000-47A4-A293-0E9FEDD1F729}"/>
                </a:ext>
              </a:extLst>
            </p:cNvPr>
            <p:cNvSpPr/>
            <p:nvPr/>
          </p:nvSpPr>
          <p:spPr>
            <a:xfrm>
              <a:off x="5834733" y="2665370"/>
              <a:ext cx="3135086" cy="60960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Gestion des actifs</a:t>
              </a:r>
            </a:p>
          </p:txBody>
        </p:sp>
        <p:sp>
          <p:nvSpPr>
            <p:cNvPr id="11" name="Rectangle 10">
              <a:extLst>
                <a:ext uri="{FF2B5EF4-FFF2-40B4-BE49-F238E27FC236}">
                  <a16:creationId xmlns:a16="http://schemas.microsoft.com/office/drawing/2014/main" id="{6115C226-9F21-429B-9275-978E9927A4BF}"/>
                </a:ext>
              </a:extLst>
            </p:cNvPr>
            <p:cNvSpPr/>
            <p:nvPr/>
          </p:nvSpPr>
          <p:spPr>
            <a:xfrm>
              <a:off x="7663537" y="3458907"/>
              <a:ext cx="3135086" cy="60960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Sécurité liée aux ressources humaines</a:t>
              </a:r>
            </a:p>
          </p:txBody>
        </p:sp>
        <p:sp>
          <p:nvSpPr>
            <p:cNvPr id="12" name="Rectangle 11">
              <a:extLst>
                <a:ext uri="{FF2B5EF4-FFF2-40B4-BE49-F238E27FC236}">
                  <a16:creationId xmlns:a16="http://schemas.microsoft.com/office/drawing/2014/main" id="{CE15F4CB-B54F-4E98-AFAE-C47A4F9E98D6}"/>
                </a:ext>
              </a:extLst>
            </p:cNvPr>
            <p:cNvSpPr/>
            <p:nvPr/>
          </p:nvSpPr>
          <p:spPr>
            <a:xfrm>
              <a:off x="5497277" y="5709569"/>
              <a:ext cx="2503715" cy="60960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Gestion des communications et de l’exploitation</a:t>
              </a:r>
            </a:p>
          </p:txBody>
        </p:sp>
        <p:sp>
          <p:nvSpPr>
            <p:cNvPr id="13" name="Rectangle 12">
              <a:extLst>
                <a:ext uri="{FF2B5EF4-FFF2-40B4-BE49-F238E27FC236}">
                  <a16:creationId xmlns:a16="http://schemas.microsoft.com/office/drawing/2014/main" id="{4791D46F-B43E-4DD6-969F-93C6CFAF2C66}"/>
                </a:ext>
              </a:extLst>
            </p:cNvPr>
            <p:cNvSpPr/>
            <p:nvPr/>
          </p:nvSpPr>
          <p:spPr>
            <a:xfrm>
              <a:off x="3853537" y="4429384"/>
              <a:ext cx="3135086" cy="60960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Contrôles d’accès</a:t>
              </a:r>
            </a:p>
          </p:txBody>
        </p:sp>
        <p:sp>
          <p:nvSpPr>
            <p:cNvPr id="14" name="Rectangle 13">
              <a:extLst>
                <a:ext uri="{FF2B5EF4-FFF2-40B4-BE49-F238E27FC236}">
                  <a16:creationId xmlns:a16="http://schemas.microsoft.com/office/drawing/2014/main" id="{B0330A83-A58B-45A1-AD59-07F1A3D44A62}"/>
                </a:ext>
              </a:extLst>
            </p:cNvPr>
            <p:cNvSpPr/>
            <p:nvPr/>
          </p:nvSpPr>
          <p:spPr>
            <a:xfrm>
              <a:off x="2373077" y="5709569"/>
              <a:ext cx="2895599" cy="802793"/>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Acquisition, développement et maintenance des systèmes d’information</a:t>
              </a:r>
            </a:p>
          </p:txBody>
        </p:sp>
        <p:sp>
          <p:nvSpPr>
            <p:cNvPr id="15" name="Rectangle 14">
              <a:extLst>
                <a:ext uri="{FF2B5EF4-FFF2-40B4-BE49-F238E27FC236}">
                  <a16:creationId xmlns:a16="http://schemas.microsoft.com/office/drawing/2014/main" id="{2868256E-0475-4A59-AB7F-3DC0EC53D618}"/>
                </a:ext>
              </a:extLst>
            </p:cNvPr>
            <p:cNvSpPr/>
            <p:nvPr/>
          </p:nvSpPr>
          <p:spPr>
            <a:xfrm>
              <a:off x="9682897" y="5872686"/>
              <a:ext cx="2264228" cy="60960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Gestion des incidents liés à la sécurité de l’information</a:t>
              </a:r>
            </a:p>
          </p:txBody>
        </p:sp>
        <p:sp>
          <p:nvSpPr>
            <p:cNvPr id="16" name="Rectangle 15">
              <a:extLst>
                <a:ext uri="{FF2B5EF4-FFF2-40B4-BE49-F238E27FC236}">
                  <a16:creationId xmlns:a16="http://schemas.microsoft.com/office/drawing/2014/main" id="{7FFBB06C-0350-4084-9ABB-D1B3B1B5E200}"/>
                </a:ext>
              </a:extLst>
            </p:cNvPr>
            <p:cNvSpPr/>
            <p:nvPr/>
          </p:nvSpPr>
          <p:spPr>
            <a:xfrm>
              <a:off x="7761506" y="5709569"/>
              <a:ext cx="2220687" cy="60960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Gestion de la continuité d’activité</a:t>
              </a:r>
            </a:p>
          </p:txBody>
        </p:sp>
        <p:sp>
          <p:nvSpPr>
            <p:cNvPr id="17" name="Rectangle 16">
              <a:extLst>
                <a:ext uri="{FF2B5EF4-FFF2-40B4-BE49-F238E27FC236}">
                  <a16:creationId xmlns:a16="http://schemas.microsoft.com/office/drawing/2014/main" id="{A839DD7A-27D1-4E8D-AD3A-AEAE863E94DB}"/>
                </a:ext>
              </a:extLst>
            </p:cNvPr>
            <p:cNvSpPr/>
            <p:nvPr/>
          </p:nvSpPr>
          <p:spPr>
            <a:xfrm>
              <a:off x="4044039" y="3501403"/>
              <a:ext cx="3135086" cy="60960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Conformité légale et réglementaire</a:t>
              </a:r>
            </a:p>
          </p:txBody>
        </p:sp>
        <p:sp>
          <p:nvSpPr>
            <p:cNvPr id="18" name="Rectangle 17">
              <a:extLst>
                <a:ext uri="{FF2B5EF4-FFF2-40B4-BE49-F238E27FC236}">
                  <a16:creationId xmlns:a16="http://schemas.microsoft.com/office/drawing/2014/main" id="{B98F0863-CE82-4C1A-9EF5-A24F1EBB4D50}"/>
                </a:ext>
              </a:extLst>
            </p:cNvPr>
            <p:cNvSpPr/>
            <p:nvPr/>
          </p:nvSpPr>
          <p:spPr>
            <a:xfrm>
              <a:off x="7641769" y="4252444"/>
              <a:ext cx="2503715" cy="793538"/>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Sécurité physique et environnementale</a:t>
              </a:r>
            </a:p>
          </p:txBody>
        </p:sp>
        <p:cxnSp>
          <p:nvCxnSpPr>
            <p:cNvPr id="19" name="Connecteur droit avec flèche 18">
              <a:extLst>
                <a:ext uri="{FF2B5EF4-FFF2-40B4-BE49-F238E27FC236}">
                  <a16:creationId xmlns:a16="http://schemas.microsoft.com/office/drawing/2014/main" id="{4FD63530-AC73-4FDD-A992-C025C18887E8}"/>
                </a:ext>
              </a:extLst>
            </p:cNvPr>
            <p:cNvCxnSpPr>
              <a:cxnSpLocks/>
            </p:cNvCxnSpPr>
            <p:nvPr/>
          </p:nvCxnSpPr>
          <p:spPr>
            <a:xfrm>
              <a:off x="1513114" y="1799502"/>
              <a:ext cx="0" cy="3991699"/>
            </a:xfrm>
            <a:prstGeom prst="straightConnector1">
              <a:avLst/>
            </a:prstGeom>
            <a:noFill/>
            <a:ln w="127000" cap="flat" cmpd="sng" algn="ctr">
              <a:solidFill>
                <a:srgbClr val="0070C0"/>
              </a:solidFill>
              <a:prstDash val="solid"/>
              <a:miter lim="800000"/>
              <a:tailEnd type="triangle"/>
            </a:ln>
            <a:effectLst/>
          </p:spPr>
        </p:cxnSp>
        <p:sp>
          <p:nvSpPr>
            <p:cNvPr id="20" name="Rectangle 19">
              <a:extLst>
                <a:ext uri="{FF2B5EF4-FFF2-40B4-BE49-F238E27FC236}">
                  <a16:creationId xmlns:a16="http://schemas.microsoft.com/office/drawing/2014/main" id="{257737B4-7AA8-422A-BBEB-CA85DA75F28E}"/>
                </a:ext>
              </a:extLst>
            </p:cNvPr>
            <p:cNvSpPr/>
            <p:nvPr/>
          </p:nvSpPr>
          <p:spPr>
            <a:xfrm>
              <a:off x="65308" y="1037630"/>
              <a:ext cx="3135086" cy="60960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Organisationnel</a:t>
              </a:r>
            </a:p>
          </p:txBody>
        </p:sp>
        <p:sp>
          <p:nvSpPr>
            <p:cNvPr id="21" name="Rectangle 20">
              <a:extLst>
                <a:ext uri="{FF2B5EF4-FFF2-40B4-BE49-F238E27FC236}">
                  <a16:creationId xmlns:a16="http://schemas.microsoft.com/office/drawing/2014/main" id="{E3F4655A-EEFF-4E2B-B0F2-B0C7A85416BF}"/>
                </a:ext>
              </a:extLst>
            </p:cNvPr>
            <p:cNvSpPr/>
            <p:nvPr/>
          </p:nvSpPr>
          <p:spPr>
            <a:xfrm>
              <a:off x="-182342" y="5864003"/>
              <a:ext cx="3135086" cy="609600"/>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fr-ML" sz="1400" b="1" i="0" u="none" strike="noStrike" kern="0" cap="none" spc="0" normalizeH="0" baseline="0" noProof="0" dirty="0">
                  <a:ln>
                    <a:noFill/>
                  </a:ln>
                  <a:solidFill>
                    <a:srgbClr val="002060"/>
                  </a:solidFill>
                  <a:effectLst/>
                  <a:uLnTx/>
                  <a:uFillTx/>
                  <a:latin typeface="Calibri" panose="020F0502020204030204"/>
                  <a:ea typeface="+mn-ea"/>
                  <a:cs typeface="+mn-cs"/>
                </a:rPr>
                <a:t>Opérationnel</a:t>
              </a:r>
            </a:p>
          </p:txBody>
        </p:sp>
      </p:grpSp>
    </p:spTree>
    <p:extLst>
      <p:ext uri="{BB962C8B-B14F-4D97-AF65-F5344CB8AC3E}">
        <p14:creationId xmlns:p14="http://schemas.microsoft.com/office/powerpoint/2010/main" val="250831707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ppt_w</p:attrName>
                                        </p:attrNameLst>
                                      </p:cBhvr>
                                      <p:tavLst>
                                        <p:tav tm="0" fmla="#ppt_w*sin(2.5*pi*$)">
                                          <p:val>
                                            <p:fltVal val="0"/>
                                          </p:val>
                                        </p:tav>
                                        <p:tav tm="100000">
                                          <p:val>
                                            <p:fltVal val="1"/>
                                          </p:val>
                                        </p:tav>
                                      </p:tavLst>
                                    </p:anim>
                                    <p:anim calcmode="lin" valueType="num">
                                      <p:cBhvr>
                                        <p:cTn id="9" dur="2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F10804-F3D9-4724-B2F6-7B2FA3D9A982}"/>
              </a:ext>
            </a:extLst>
          </p:cNvPr>
          <p:cNvSpPr>
            <a:spLocks noGrp="1"/>
          </p:cNvSpPr>
          <p:nvPr>
            <p:ph type="title"/>
          </p:nvPr>
        </p:nvSpPr>
        <p:spPr>
          <a:xfrm>
            <a:off x="107504" y="1196752"/>
            <a:ext cx="7315200" cy="896888"/>
          </a:xfrm>
        </p:spPr>
        <p:txBody>
          <a:bodyPr/>
          <a:lstStyle/>
          <a:p>
            <a:r>
              <a:rPr lang="fr-ML" sz="4000" b="1" dirty="0">
                <a:solidFill>
                  <a:srgbClr val="000000"/>
                </a:solidFill>
                <a:latin typeface="Calibri" panose="020F0502020204030204" pitchFamily="34" charset="0"/>
                <a:cs typeface="Calibri" panose="020F0502020204030204" pitchFamily="34" charset="0"/>
              </a:rPr>
              <a:t>Relation avec ISO / CEI 27001</a:t>
            </a:r>
          </a:p>
        </p:txBody>
      </p:sp>
      <p:sp>
        <p:nvSpPr>
          <p:cNvPr id="3" name="Espace réservé du contenu 2">
            <a:extLst>
              <a:ext uri="{FF2B5EF4-FFF2-40B4-BE49-F238E27FC236}">
                <a16:creationId xmlns:a16="http://schemas.microsoft.com/office/drawing/2014/main" id="{7AA6FD49-C119-4CAB-B11E-E0F436B609C4}"/>
              </a:ext>
            </a:extLst>
          </p:cNvPr>
          <p:cNvSpPr>
            <a:spLocks noGrp="1"/>
          </p:cNvSpPr>
          <p:nvPr>
            <p:ph idx="1"/>
          </p:nvPr>
        </p:nvSpPr>
        <p:spPr>
          <a:xfrm>
            <a:off x="125760" y="2397358"/>
            <a:ext cx="8892480" cy="1304190"/>
          </a:xfrm>
        </p:spPr>
        <p:txBody>
          <a:bodyPr/>
          <a:lstStyle/>
          <a:p>
            <a:pPr>
              <a:buBlip>
                <a:blip r:embed="rId2"/>
              </a:buBlip>
            </a:pPr>
            <a:r>
              <a:rPr lang="fr-ML" sz="2000" dirty="0">
                <a:solidFill>
                  <a:srgbClr val="000000"/>
                </a:solidFill>
                <a:latin typeface="Calibri" panose="020F0502020204030204" pitchFamily="34" charset="0"/>
                <a:cs typeface="Calibri" panose="020F0502020204030204" pitchFamily="34" charset="0"/>
              </a:rPr>
              <a:t>Le système de gestion de la sécurité de l'information formellement défini par l'ISO / CEI 27001 utilise un résumé de l'ISO / CEI 27002 dans l'Annexe A pour suggérer des contrôles potentiels de la sécurité de l'information à considérer. </a:t>
            </a:r>
            <a:endParaRPr lang="fr-ML" sz="2400" dirty="0">
              <a:solidFill>
                <a:srgbClr val="000000"/>
              </a:solidFill>
              <a:latin typeface="Calibri" panose="020F0502020204030204" pitchFamily="34" charset="0"/>
              <a:cs typeface="Calibri" panose="020F0502020204030204" pitchFamily="34" charset="0"/>
            </a:endParaRPr>
          </a:p>
        </p:txBody>
      </p:sp>
      <p:sp>
        <p:nvSpPr>
          <p:cNvPr id="4" name="Espace réservé du contenu 2">
            <a:extLst>
              <a:ext uri="{FF2B5EF4-FFF2-40B4-BE49-F238E27FC236}">
                <a16:creationId xmlns:a16="http://schemas.microsoft.com/office/drawing/2014/main" id="{CDEBA11B-0410-441A-BA27-CD358AB81F6F}"/>
              </a:ext>
            </a:extLst>
          </p:cNvPr>
          <p:cNvSpPr txBox="1">
            <a:spLocks/>
          </p:cNvSpPr>
          <p:nvPr/>
        </p:nvSpPr>
        <p:spPr bwMode="auto">
          <a:xfrm>
            <a:off x="107504" y="3977410"/>
            <a:ext cx="8892480" cy="189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Blip>
                <a:blip r:embed="rId2"/>
              </a:buBlip>
            </a:pPr>
            <a:r>
              <a:rPr lang="fr-ML" sz="2000" dirty="0">
                <a:solidFill>
                  <a:srgbClr val="000000"/>
                </a:solidFill>
                <a:latin typeface="Calibri" panose="020F0502020204030204" pitchFamily="34" charset="0"/>
                <a:cs typeface="Calibri" panose="020F0502020204030204" pitchFamily="34" charset="0"/>
              </a:rPr>
              <a:t>Cependant, les organisations sont libres de sélectionner et de mettre en œuvre d'autres contrôles comme elles l'entendent. Dans la pratique, la plupart des organisations qui adoptent l'ISO / CEI 27001 utilisent également l'ISO / CEI 27002 comme cadre ou point de départ pour leurs contrôles, apportant diverses modifications si nécessaire pour répondre à leurs exigences en matière de traitement des risques liés à l'information.</a:t>
            </a:r>
            <a:endParaRPr lang="fr-ML" sz="1600" dirty="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3105036"/>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C08891C-4722-49CD-B35E-98729D574C6A}"/>
              </a:ext>
            </a:extLst>
          </p:cNvPr>
          <p:cNvSpPr>
            <a:spLocks noGrp="1" noChangeArrowheads="1"/>
          </p:cNvSpPr>
          <p:nvPr>
            <p:ph type="title"/>
          </p:nvPr>
        </p:nvSpPr>
        <p:spPr>
          <a:xfrm>
            <a:off x="3923928" y="188640"/>
            <a:ext cx="3987179" cy="715963"/>
          </a:xfrm>
        </p:spPr>
        <p:txBody>
          <a:bodyPr/>
          <a:lstStyle/>
          <a:p>
            <a:r>
              <a:rPr lang="en-US" altLang="fr-FR" b="1" dirty="0">
                <a:solidFill>
                  <a:schemeClr val="bg1"/>
                </a:solidFill>
                <a:latin typeface="Calibri" panose="020F0502020204030204" pitchFamily="34" charset="0"/>
                <a:cs typeface="Calibri" panose="020F0502020204030204" pitchFamily="34" charset="0"/>
              </a:rPr>
              <a:t>Conclusion</a:t>
            </a:r>
          </a:p>
        </p:txBody>
      </p:sp>
      <p:sp>
        <p:nvSpPr>
          <p:cNvPr id="5" name="Espace réservé du contenu 2">
            <a:extLst>
              <a:ext uri="{FF2B5EF4-FFF2-40B4-BE49-F238E27FC236}">
                <a16:creationId xmlns:a16="http://schemas.microsoft.com/office/drawing/2014/main" id="{1003BDEC-5F5F-4845-9672-D231E5748184}"/>
              </a:ext>
            </a:extLst>
          </p:cNvPr>
          <p:cNvSpPr>
            <a:spLocks noGrp="1"/>
          </p:cNvSpPr>
          <p:nvPr>
            <p:ph idx="1"/>
          </p:nvPr>
        </p:nvSpPr>
        <p:spPr>
          <a:xfrm>
            <a:off x="125760" y="1700808"/>
            <a:ext cx="8892480" cy="2160240"/>
          </a:xfrm>
        </p:spPr>
        <p:txBody>
          <a:bodyPr/>
          <a:lstStyle/>
          <a:p>
            <a:pPr>
              <a:buBlip>
                <a:blip r:embed="rId2"/>
              </a:buBlip>
            </a:pPr>
            <a:r>
              <a:rPr lang="fr-ML"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La particularité de la </a:t>
            </a:r>
            <a:r>
              <a:rPr lang="fr-ML"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norme ISO 27001</a:t>
            </a:r>
            <a:r>
              <a:rPr lang="fr-ML"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c’est qu’elle traite la sécurité par les risques. Une entreprise certifiée ISO 27001 montre qu’elle a conscience des risques pesant sur ses données sensibles, qu’elle les prend en compte et qu’elle s’en protège. En revanche, par la mise en place d’indicateurs, d’audits et de revues, ainsi que par l’obligation de suivre les actions correctives, la norme fait en sorte que le niveau de sécurité s’améliore de façon continue ? c’est ce point fort qui fait de la norme ISO 27001 un référentiel incontournable pour faire monter en maturité la sécurité du SI.</a:t>
            </a:r>
          </a:p>
          <a:p>
            <a:pPr marL="0" indent="0">
              <a:buNone/>
            </a:pPr>
            <a:endParaRPr lang="fr-ML" sz="3600" dirty="0">
              <a:solidFill>
                <a:srgbClr val="000000"/>
              </a:solidFill>
            </a:endParaRPr>
          </a:p>
        </p:txBody>
      </p:sp>
      <p:sp>
        <p:nvSpPr>
          <p:cNvPr id="6" name="Espace réservé du contenu 2">
            <a:extLst>
              <a:ext uri="{FF2B5EF4-FFF2-40B4-BE49-F238E27FC236}">
                <a16:creationId xmlns:a16="http://schemas.microsoft.com/office/drawing/2014/main" id="{B68923FA-45A5-49F3-AADD-BC179F3B9A44}"/>
              </a:ext>
            </a:extLst>
          </p:cNvPr>
          <p:cNvSpPr txBox="1">
            <a:spLocks/>
          </p:cNvSpPr>
          <p:nvPr/>
        </p:nvSpPr>
        <p:spPr bwMode="auto">
          <a:xfrm>
            <a:off x="86684" y="4221088"/>
            <a:ext cx="8892479"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fr-ML"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La </a:t>
            </a:r>
            <a:r>
              <a:rPr lang="fr-ML"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norme ISO 27002 </a:t>
            </a:r>
            <a:r>
              <a:rPr lang="fr-ML"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donne des recommandations pour gérer la sécurité de l’information à l’intention de ceux qui sont responsables de définir, d’implémenter ou de maintenir la sécurité dans leur organisation. Elle est conçue pour constituer une base commune de développement de normes de sécurité organisationnelle et de pratiques efficaces de gestion de la sécurité, et pour introduire un niveau de confiance dans les relations interentreprises.</a:t>
            </a:r>
          </a:p>
          <a:p>
            <a:pPr marL="0" indent="0">
              <a:buNone/>
            </a:pPr>
            <a:endParaRPr lang="fr-ML" sz="20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0218066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80">
                                          <p:stCondLst>
                                            <p:cond delay="0"/>
                                          </p:stCondLst>
                                        </p:cTn>
                                        <p:tgtEl>
                                          <p:spTgt spid="6"/>
                                        </p:tgtEl>
                                      </p:cBhvr>
                                    </p:animEffect>
                                    <p:anim calcmode="lin" valueType="num">
                                      <p:cBhvr>
                                        <p:cTn id="1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1" dur="26">
                                          <p:stCondLst>
                                            <p:cond delay="650"/>
                                          </p:stCondLst>
                                        </p:cTn>
                                        <p:tgtEl>
                                          <p:spTgt spid="6"/>
                                        </p:tgtEl>
                                      </p:cBhvr>
                                      <p:to x="100000" y="60000"/>
                                    </p:animScale>
                                    <p:animScale>
                                      <p:cBhvr>
                                        <p:cTn id="22" dur="166" decel="50000">
                                          <p:stCondLst>
                                            <p:cond delay="676"/>
                                          </p:stCondLst>
                                        </p:cTn>
                                        <p:tgtEl>
                                          <p:spTgt spid="6"/>
                                        </p:tgtEl>
                                      </p:cBhvr>
                                      <p:to x="100000" y="100000"/>
                                    </p:animScale>
                                    <p:animScale>
                                      <p:cBhvr>
                                        <p:cTn id="23" dur="26">
                                          <p:stCondLst>
                                            <p:cond delay="1312"/>
                                          </p:stCondLst>
                                        </p:cTn>
                                        <p:tgtEl>
                                          <p:spTgt spid="6"/>
                                        </p:tgtEl>
                                      </p:cBhvr>
                                      <p:to x="100000" y="80000"/>
                                    </p:animScale>
                                    <p:animScale>
                                      <p:cBhvr>
                                        <p:cTn id="24" dur="166" decel="50000">
                                          <p:stCondLst>
                                            <p:cond delay="1338"/>
                                          </p:stCondLst>
                                        </p:cTn>
                                        <p:tgtEl>
                                          <p:spTgt spid="6"/>
                                        </p:tgtEl>
                                      </p:cBhvr>
                                      <p:to x="100000" y="100000"/>
                                    </p:animScale>
                                    <p:animScale>
                                      <p:cBhvr>
                                        <p:cTn id="25" dur="26">
                                          <p:stCondLst>
                                            <p:cond delay="1642"/>
                                          </p:stCondLst>
                                        </p:cTn>
                                        <p:tgtEl>
                                          <p:spTgt spid="6"/>
                                        </p:tgtEl>
                                      </p:cBhvr>
                                      <p:to x="100000" y="90000"/>
                                    </p:animScale>
                                    <p:animScale>
                                      <p:cBhvr>
                                        <p:cTn id="26" dur="166" decel="50000">
                                          <p:stCondLst>
                                            <p:cond delay="1668"/>
                                          </p:stCondLst>
                                        </p:cTn>
                                        <p:tgtEl>
                                          <p:spTgt spid="6"/>
                                        </p:tgtEl>
                                      </p:cBhvr>
                                      <p:to x="100000" y="100000"/>
                                    </p:animScale>
                                    <p:animScale>
                                      <p:cBhvr>
                                        <p:cTn id="27" dur="26">
                                          <p:stCondLst>
                                            <p:cond delay="1808"/>
                                          </p:stCondLst>
                                        </p:cTn>
                                        <p:tgtEl>
                                          <p:spTgt spid="6"/>
                                        </p:tgtEl>
                                      </p:cBhvr>
                                      <p:to x="100000" y="95000"/>
                                    </p:animScale>
                                    <p:animScale>
                                      <p:cBhvr>
                                        <p:cTn id="28"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3">
            <a:extLst>
              <a:ext uri="{BEBA8EAE-BF5A-486C-A8C5-ECC9F3942E4B}">
                <a14:imgProps xmlns:a14="http://schemas.microsoft.com/office/drawing/2010/main">
                  <a14:imgLayer r:embed="rId4">
                    <a14:imgEffect>
                      <a14:colorTemperature colorTemp="11200"/>
                    </a14:imgEffect>
                    <a14:imgEffect>
                      <a14:saturation sat="80000"/>
                    </a14:imgEffect>
                    <a14:imgEffect>
                      <a14:brightnessContrast bright="40000" contrast="2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8F86B9B3-9446-4BD9-A606-72883C6FFEE1}"/>
              </a:ext>
            </a:extLst>
          </p:cNvPr>
          <p:cNvSpPr txBox="1">
            <a:spLocks/>
          </p:cNvSpPr>
          <p:nvPr/>
        </p:nvSpPr>
        <p:spPr>
          <a:xfrm>
            <a:off x="1259632" y="1556792"/>
            <a:ext cx="7632848" cy="9629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pPr>
            <a:r>
              <a:rPr lang="fr-ML" sz="3600" b="1" dirty="0">
                <a:solidFill>
                  <a:srgbClr val="000000"/>
                </a:solidFill>
                <a:latin typeface="Bodoni MT Black" panose="02070A03080606020203" pitchFamily="18" charset="0"/>
              </a:rPr>
              <a:t>Merci pour votre aimable attention!</a:t>
            </a:r>
          </a:p>
        </p:txBody>
      </p:sp>
      <p:sp>
        <p:nvSpPr>
          <p:cNvPr id="11" name="Titre 1">
            <a:extLst>
              <a:ext uri="{FF2B5EF4-FFF2-40B4-BE49-F238E27FC236}">
                <a16:creationId xmlns:a16="http://schemas.microsoft.com/office/drawing/2014/main" id="{1F87087E-D964-4C4C-810B-AF183125F93A}"/>
              </a:ext>
            </a:extLst>
          </p:cNvPr>
          <p:cNvSpPr txBox="1">
            <a:spLocks/>
          </p:cNvSpPr>
          <p:nvPr/>
        </p:nvSpPr>
        <p:spPr>
          <a:xfrm>
            <a:off x="1511152" y="4005064"/>
            <a:ext cx="7632848" cy="9629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pPr>
            <a:r>
              <a:rPr lang="fr-ML" sz="3600" b="1" dirty="0">
                <a:solidFill>
                  <a:srgbClr val="000000"/>
                </a:solidFill>
                <a:latin typeface="Bodoni MT Black" panose="02070A03080606020203" pitchFamily="18" charset="0"/>
              </a:rPr>
              <a:t>Questions et Suggestions ?</a:t>
            </a: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theme/theme1.xml><?xml version="1.0" encoding="utf-8"?>
<a:theme xmlns:a="http://schemas.openxmlformats.org/drawingml/2006/main" name="powerpoint-template-24">
  <a:themeElements>
    <a:clrScheme name="powerpoint-template-24 11">
      <a:dk1>
        <a:srgbClr val="4D4D4D"/>
      </a:dk1>
      <a:lt1>
        <a:srgbClr val="FFFFFF"/>
      </a:lt1>
      <a:dk2>
        <a:srgbClr val="4D4D4D"/>
      </a:dk2>
      <a:lt2>
        <a:srgbClr val="0581C9"/>
      </a:lt2>
      <a:accent1>
        <a:srgbClr val="0486D6"/>
      </a:accent1>
      <a:accent2>
        <a:srgbClr val="04A1EE"/>
      </a:accent2>
      <a:accent3>
        <a:srgbClr val="FFFFFF"/>
      </a:accent3>
      <a:accent4>
        <a:srgbClr val="404040"/>
      </a:accent4>
      <a:accent5>
        <a:srgbClr val="AAC3E8"/>
      </a:accent5>
      <a:accent6>
        <a:srgbClr val="0391D8"/>
      </a:accent6>
      <a:hlink>
        <a:srgbClr val="0B69B8"/>
      </a:hlink>
      <a:folHlink>
        <a:srgbClr val="DDDDDD"/>
      </a:folHlink>
    </a:clrScheme>
    <a:fontScheme name="powerpoint-template-24">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1">
          <a:gsLst>
            <a:gs pos="0">
              <a:schemeClr val="bg2">
                <a:gamma/>
                <a:tint val="26667"/>
                <a:invGamma/>
              </a:schemeClr>
            </a:gs>
            <a:gs pos="100000">
              <a:schemeClr val="bg2">
                <a:alpha val="14999"/>
              </a:schemeClr>
            </a:gs>
          </a:gsLst>
          <a:lin ang="5400000" scaled="1"/>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fr-FR"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gradFill rotWithShape="1">
          <a:gsLst>
            <a:gs pos="0">
              <a:schemeClr val="bg2">
                <a:gamma/>
                <a:tint val="26667"/>
                <a:invGamma/>
              </a:schemeClr>
            </a:gs>
            <a:gs pos="100000">
              <a:schemeClr val="bg2">
                <a:alpha val="14999"/>
              </a:schemeClr>
            </a:gs>
          </a:gsLst>
          <a:lin ang="5400000" scaled="1"/>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fr-FR"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powerpoint-template-24 1">
        <a:dk1>
          <a:srgbClr val="4D4D4D"/>
        </a:dk1>
        <a:lt1>
          <a:srgbClr val="FFFFFF"/>
        </a:lt1>
        <a:dk2>
          <a:srgbClr val="4D4D4D"/>
        </a:dk2>
        <a:lt2>
          <a:srgbClr val="0C209B"/>
        </a:lt2>
        <a:accent1>
          <a:srgbClr val="2167BF"/>
        </a:accent1>
        <a:accent2>
          <a:srgbClr val="C60C0D"/>
        </a:accent2>
        <a:accent3>
          <a:srgbClr val="FFFFFF"/>
        </a:accent3>
        <a:accent4>
          <a:srgbClr val="404040"/>
        </a:accent4>
        <a:accent5>
          <a:srgbClr val="ABB8DC"/>
        </a:accent5>
        <a:accent6>
          <a:srgbClr val="B30A0B"/>
        </a:accent6>
        <a:hlink>
          <a:srgbClr val="4793C7"/>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2">
        <a:dk1>
          <a:srgbClr val="4D4D4D"/>
        </a:dk1>
        <a:lt1>
          <a:srgbClr val="FFFFFF"/>
        </a:lt1>
        <a:dk2>
          <a:srgbClr val="4D4D4D"/>
        </a:dk2>
        <a:lt2>
          <a:srgbClr val="CC0000"/>
        </a:lt2>
        <a:accent1>
          <a:srgbClr val="FF9933"/>
        </a:accent1>
        <a:accent2>
          <a:srgbClr val="009900"/>
        </a:accent2>
        <a:accent3>
          <a:srgbClr val="FFFFFF"/>
        </a:accent3>
        <a:accent4>
          <a:srgbClr val="404040"/>
        </a:accent4>
        <a:accent5>
          <a:srgbClr val="FFCAAD"/>
        </a:accent5>
        <a:accent6>
          <a:srgbClr val="008A00"/>
        </a:accent6>
        <a:hlink>
          <a:srgbClr val="3366FF"/>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3">
        <a:dk1>
          <a:srgbClr val="4D4D4D"/>
        </a:dk1>
        <a:lt1>
          <a:srgbClr val="FFFFFF"/>
        </a:lt1>
        <a:dk2>
          <a:srgbClr val="4D4D4D"/>
        </a:dk2>
        <a:lt2>
          <a:srgbClr val="0E0F83"/>
        </a:lt2>
        <a:accent1>
          <a:srgbClr val="4049D2"/>
        </a:accent1>
        <a:accent2>
          <a:srgbClr val="494FD9"/>
        </a:accent2>
        <a:accent3>
          <a:srgbClr val="FFFFFF"/>
        </a:accent3>
        <a:accent4>
          <a:srgbClr val="404040"/>
        </a:accent4>
        <a:accent5>
          <a:srgbClr val="AFB1E5"/>
        </a:accent5>
        <a:accent6>
          <a:srgbClr val="4147C4"/>
        </a:accent6>
        <a:hlink>
          <a:srgbClr val="757DDF"/>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4">
        <a:dk1>
          <a:srgbClr val="4D4D4D"/>
        </a:dk1>
        <a:lt1>
          <a:srgbClr val="FFFFFF"/>
        </a:lt1>
        <a:dk2>
          <a:srgbClr val="4D4D4D"/>
        </a:dk2>
        <a:lt2>
          <a:srgbClr val="4B8ACD"/>
        </a:lt2>
        <a:accent1>
          <a:srgbClr val="5C98C2"/>
        </a:accent1>
        <a:accent2>
          <a:srgbClr val="93BAD6"/>
        </a:accent2>
        <a:accent3>
          <a:srgbClr val="FFFFFF"/>
        </a:accent3>
        <a:accent4>
          <a:srgbClr val="404040"/>
        </a:accent4>
        <a:accent5>
          <a:srgbClr val="B5CADD"/>
        </a:accent5>
        <a:accent6>
          <a:srgbClr val="85A8C2"/>
        </a:accent6>
        <a:hlink>
          <a:srgbClr val="AECDE1"/>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5">
        <a:dk1>
          <a:srgbClr val="4D4D4D"/>
        </a:dk1>
        <a:lt1>
          <a:srgbClr val="FFFFFF"/>
        </a:lt1>
        <a:dk2>
          <a:srgbClr val="4D4D4D"/>
        </a:dk2>
        <a:lt2>
          <a:srgbClr val="114682"/>
        </a:lt2>
        <a:accent1>
          <a:srgbClr val="295B99"/>
        </a:accent1>
        <a:accent2>
          <a:srgbClr val="406DA6"/>
        </a:accent2>
        <a:accent3>
          <a:srgbClr val="FFFFFF"/>
        </a:accent3>
        <a:accent4>
          <a:srgbClr val="404040"/>
        </a:accent4>
        <a:accent5>
          <a:srgbClr val="ACB5CA"/>
        </a:accent5>
        <a:accent6>
          <a:srgbClr val="396296"/>
        </a:accent6>
        <a:hlink>
          <a:srgbClr val="5F84B5"/>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6">
        <a:dk1>
          <a:srgbClr val="4D4D4D"/>
        </a:dk1>
        <a:lt1>
          <a:srgbClr val="FFFFFF"/>
        </a:lt1>
        <a:dk2>
          <a:srgbClr val="4D4D4D"/>
        </a:dk2>
        <a:lt2>
          <a:srgbClr val="1984CC"/>
        </a:lt2>
        <a:accent1>
          <a:srgbClr val="0960AF"/>
        </a:accent1>
        <a:accent2>
          <a:srgbClr val="05438C"/>
        </a:accent2>
        <a:accent3>
          <a:srgbClr val="FFFFFF"/>
        </a:accent3>
        <a:accent4>
          <a:srgbClr val="404040"/>
        </a:accent4>
        <a:accent5>
          <a:srgbClr val="AAB6D4"/>
        </a:accent5>
        <a:accent6>
          <a:srgbClr val="043C7E"/>
        </a:accent6>
        <a:hlink>
          <a:srgbClr val="023069"/>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7">
        <a:dk1>
          <a:srgbClr val="4D4D4D"/>
        </a:dk1>
        <a:lt1>
          <a:srgbClr val="FFFFFF"/>
        </a:lt1>
        <a:dk2>
          <a:srgbClr val="4D4D4D"/>
        </a:dk2>
        <a:lt2>
          <a:srgbClr val="116DE4"/>
        </a:lt2>
        <a:accent1>
          <a:srgbClr val="235CAF"/>
        </a:accent1>
        <a:accent2>
          <a:srgbClr val="54A1EE"/>
        </a:accent2>
        <a:accent3>
          <a:srgbClr val="FFFFFF"/>
        </a:accent3>
        <a:accent4>
          <a:srgbClr val="404040"/>
        </a:accent4>
        <a:accent5>
          <a:srgbClr val="ACB5D4"/>
        </a:accent5>
        <a:accent6>
          <a:srgbClr val="4B91D8"/>
        </a:accent6>
        <a:hlink>
          <a:srgbClr val="1391EF"/>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8">
        <a:dk1>
          <a:srgbClr val="4D4D4D"/>
        </a:dk1>
        <a:lt1>
          <a:srgbClr val="FFFFFF"/>
        </a:lt1>
        <a:dk2>
          <a:srgbClr val="4D4D4D"/>
        </a:dk2>
        <a:lt2>
          <a:srgbClr val="246DD8"/>
        </a:lt2>
        <a:accent1>
          <a:srgbClr val="2FC5F1"/>
        </a:accent1>
        <a:accent2>
          <a:srgbClr val="218DEB"/>
        </a:accent2>
        <a:accent3>
          <a:srgbClr val="FFFFFF"/>
        </a:accent3>
        <a:accent4>
          <a:srgbClr val="404040"/>
        </a:accent4>
        <a:accent5>
          <a:srgbClr val="ADDFF7"/>
        </a:accent5>
        <a:accent6>
          <a:srgbClr val="1D7FD5"/>
        </a:accent6>
        <a:hlink>
          <a:srgbClr val="39A1EB"/>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9">
        <a:dk1>
          <a:srgbClr val="4D4D4D"/>
        </a:dk1>
        <a:lt1>
          <a:srgbClr val="FFFFFF"/>
        </a:lt1>
        <a:dk2>
          <a:srgbClr val="4D4D4D"/>
        </a:dk2>
        <a:lt2>
          <a:srgbClr val="031479"/>
        </a:lt2>
        <a:accent1>
          <a:srgbClr val="033A9D"/>
        </a:accent1>
        <a:accent2>
          <a:srgbClr val="0756B2"/>
        </a:accent2>
        <a:accent3>
          <a:srgbClr val="FFFFFF"/>
        </a:accent3>
        <a:accent4>
          <a:srgbClr val="404040"/>
        </a:accent4>
        <a:accent5>
          <a:srgbClr val="AAAECC"/>
        </a:accent5>
        <a:accent6>
          <a:srgbClr val="064DA1"/>
        </a:accent6>
        <a:hlink>
          <a:srgbClr val="0B69B8"/>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0">
        <a:dk1>
          <a:srgbClr val="4D4D4D"/>
        </a:dk1>
        <a:lt1>
          <a:srgbClr val="FFFFFF"/>
        </a:lt1>
        <a:dk2>
          <a:srgbClr val="4D4D4D"/>
        </a:dk2>
        <a:lt2>
          <a:srgbClr val="0581C9"/>
        </a:lt2>
        <a:accent1>
          <a:srgbClr val="0486D6"/>
        </a:accent1>
        <a:accent2>
          <a:srgbClr val="04A1EE"/>
        </a:accent2>
        <a:accent3>
          <a:srgbClr val="FFFFFF"/>
        </a:accent3>
        <a:accent4>
          <a:srgbClr val="404040"/>
        </a:accent4>
        <a:accent5>
          <a:srgbClr val="AAC3E8"/>
        </a:accent5>
        <a:accent6>
          <a:srgbClr val="0391D8"/>
        </a:accent6>
        <a:hlink>
          <a:srgbClr val="04BDF7"/>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1">
        <a:dk1>
          <a:srgbClr val="4D4D4D"/>
        </a:dk1>
        <a:lt1>
          <a:srgbClr val="FFFFFF"/>
        </a:lt1>
        <a:dk2>
          <a:srgbClr val="4D4D4D"/>
        </a:dk2>
        <a:lt2>
          <a:srgbClr val="0581C9"/>
        </a:lt2>
        <a:accent1>
          <a:srgbClr val="0486D6"/>
        </a:accent1>
        <a:accent2>
          <a:srgbClr val="04A1EE"/>
        </a:accent2>
        <a:accent3>
          <a:srgbClr val="FFFFFF"/>
        </a:accent3>
        <a:accent4>
          <a:srgbClr val="404040"/>
        </a:accent4>
        <a:accent5>
          <a:srgbClr val="AAC3E8"/>
        </a:accent5>
        <a:accent6>
          <a:srgbClr val="0391D8"/>
        </a:accent6>
        <a:hlink>
          <a:srgbClr val="0B69B8"/>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2">
        <a:dk1>
          <a:srgbClr val="4D4D4D"/>
        </a:dk1>
        <a:lt1>
          <a:srgbClr val="FFFFFF"/>
        </a:lt1>
        <a:dk2>
          <a:srgbClr val="4D4D4D"/>
        </a:dk2>
        <a:lt2>
          <a:srgbClr val="031479"/>
        </a:lt2>
        <a:accent1>
          <a:srgbClr val="033A9D"/>
        </a:accent1>
        <a:accent2>
          <a:srgbClr val="0756B2"/>
        </a:accent2>
        <a:accent3>
          <a:srgbClr val="FFFFFF"/>
        </a:accent3>
        <a:accent4>
          <a:srgbClr val="404040"/>
        </a:accent4>
        <a:accent5>
          <a:srgbClr val="AAAECC"/>
        </a:accent5>
        <a:accent6>
          <a:srgbClr val="064DA1"/>
        </a:accent6>
        <a:hlink>
          <a:srgbClr val="04BDF7"/>
        </a:hlink>
        <a:folHlink>
          <a:srgbClr val="DDDDD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powerpoint-template</Template>
  <TotalTime>3729</TotalTime>
  <Words>2289</Words>
  <Application>Microsoft Office PowerPoint</Application>
  <PresentationFormat>Affichage à l'écran (4:3)</PresentationFormat>
  <Paragraphs>220</Paragraphs>
  <Slides>26</Slides>
  <Notes>3</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26</vt:i4>
      </vt:variant>
    </vt:vector>
  </HeadingPairs>
  <TitlesOfParts>
    <vt:vector size="32" baseType="lpstr">
      <vt:lpstr>Arial</vt:lpstr>
      <vt:lpstr>Bodoni MT Black</vt:lpstr>
      <vt:lpstr>Calibri</vt:lpstr>
      <vt:lpstr>Calibri Light</vt:lpstr>
      <vt:lpstr>Microsoft Sans Serif</vt:lpstr>
      <vt:lpstr>powerpoint-template-24</vt:lpstr>
      <vt:lpstr>Norme ISO 27001 et ISO 27002</vt:lpstr>
      <vt:lpstr>Plan</vt:lpstr>
      <vt:lpstr>Historique de la série Iso 27000</vt:lpstr>
      <vt:lpstr>Famille de ISO 27000</vt:lpstr>
      <vt:lpstr>Introduction</vt:lpstr>
      <vt:lpstr>Introduction….</vt:lpstr>
      <vt:lpstr>ISO 27002</vt:lpstr>
      <vt:lpstr>ISO 27002…</vt:lpstr>
      <vt:lpstr>Stratégie utilisées par la norme ISO 27001  </vt:lpstr>
      <vt:lpstr>Stratégie utilisées par la norme ISO 27001…  </vt:lpstr>
      <vt:lpstr>Présentation PowerPoint</vt:lpstr>
      <vt:lpstr>Présentation PowerPoint</vt:lpstr>
      <vt:lpstr>Présentation PowerPoint</vt:lpstr>
      <vt:lpstr>Présentation PowerPoint</vt:lpstr>
      <vt:lpstr>Présentation PowerPoint</vt:lpstr>
      <vt:lpstr>Présentation PowerPoint</vt:lpstr>
      <vt:lpstr>Méthode d’identification des risques</vt:lpstr>
      <vt:lpstr>Présentation PowerPoint</vt:lpstr>
      <vt:lpstr>Présentation PowerPoint</vt:lpstr>
      <vt:lpstr>Présentation PowerPoint</vt:lpstr>
      <vt:lpstr>Présentation PowerPoint</vt:lpstr>
      <vt:lpstr>Présentation PowerPoint</vt:lpstr>
      <vt:lpstr>Présentation PowerPoint</vt:lpstr>
      <vt:lpstr>Relation avec ISO / CEI 27001</vt:lpstr>
      <vt:lpstr>Conclusion</vt:lpstr>
      <vt:lpstr>Présentation PowerPoint</vt:lpstr>
    </vt:vector>
  </TitlesOfParts>
  <Company>Templates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of presentation</dc:title>
  <dc:creator>Gaspar</dc:creator>
  <cp:lastModifiedBy>Gaspar</cp:lastModifiedBy>
  <cp:revision>59</cp:revision>
  <dcterms:created xsi:type="dcterms:W3CDTF">2020-10-11T21:55:02Z</dcterms:created>
  <dcterms:modified xsi:type="dcterms:W3CDTF">2020-10-14T22:35:19Z</dcterms:modified>
</cp:coreProperties>
</file>
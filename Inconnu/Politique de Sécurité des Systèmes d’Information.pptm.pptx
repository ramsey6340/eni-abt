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ms-powerpoint.presentation.macroEnabled.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4"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300" r:id="rId40"/>
    <p:sldId id="301" r:id="rId41"/>
    <p:sldId id="302" r:id="rId42"/>
    <p:sldId id="303" r:id="rId43"/>
    <p:sldId id="28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86F077B-A50F-4D64-8574-E2D6A98A5553}" type="datetimeFigureOut">
              <a:rPr lang="en-US" dirty="0"/>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4/16/2023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4/16/2023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4/16/2023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4/16/2023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5B747F8-9654-4282-85D2-65F41AAE7A75}" type="datetimeFigureOut">
              <a:rPr lang="en-US" dirty="0"/>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4/16/2023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www.iso.org/" TargetMode="External"/><Relationship Id="rId7" Type="http://schemas.openxmlformats.org/officeDocument/2006/relationships/hyperlink" Target="https://www.bu.edu/tech/services/security/"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uit.stanford.edu/security" TargetMode="External"/><Relationship Id="rId5" Type="http://schemas.openxmlformats.org/officeDocument/2006/relationships/hyperlink" Target="https://www.sans.org/" TargetMode="External"/><Relationship Id="rId4" Type="http://schemas.openxmlformats.org/officeDocument/2006/relationships/hyperlink" Target="https://www.nist.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117566" y="398417"/>
            <a:ext cx="11586754" cy="6061165"/>
          </a:xfrm>
          <a:prstGeom prst="rect">
            <a:avLst/>
          </a:prstGeom>
        </p:spPr>
      </p:pic>
      <p:sp>
        <p:nvSpPr>
          <p:cNvPr id="2" name="Titre 1">
            <a:extLst>
              <a:ext uri="{FF2B5EF4-FFF2-40B4-BE49-F238E27FC236}">
                <a16:creationId xmlns:a16="http://schemas.microsoft.com/office/drawing/2014/main" id="{7E5C1C56-04EE-13AF-3BF2-64B6429AA35F}"/>
              </a:ext>
            </a:extLst>
          </p:cNvPr>
          <p:cNvSpPr>
            <a:spLocks noGrp="1"/>
          </p:cNvSpPr>
          <p:nvPr>
            <p:ph type="ctrTitle"/>
          </p:nvPr>
        </p:nvSpPr>
        <p:spPr>
          <a:xfrm>
            <a:off x="877387" y="2535501"/>
            <a:ext cx="10437223" cy="1370294"/>
          </a:xfrm>
        </p:spPr>
        <p:txBody>
          <a:bodyPr>
            <a:normAutofit fontScale="90000"/>
          </a:bodyPr>
          <a:lstStyle/>
          <a:p>
            <a:r>
              <a:rPr lang="fr-ML" sz="4400" b="1" dirty="0">
                <a:solidFill>
                  <a:schemeClr val="accent2"/>
                </a:solidFill>
                <a:effectLst/>
                <a:latin typeface="Calibri" panose="020F0502020204030204" pitchFamily="34" charset="0"/>
                <a:ea typeface="Calibri" panose="020F0502020204030204" pitchFamily="34" charset="0"/>
              </a:rPr>
              <a:t>Politique de Sécurité des Systèmes d’Information </a:t>
            </a:r>
            <a:br>
              <a:rPr lang="fr-ML" sz="1800" dirty="0">
                <a:solidFill>
                  <a:schemeClr val="accent2"/>
                </a:solidFill>
                <a:effectLst/>
                <a:latin typeface="Calibri" panose="020F0502020204030204" pitchFamily="34" charset="0"/>
                <a:ea typeface="Calibri" panose="020F0502020204030204" pitchFamily="34" charset="0"/>
              </a:rPr>
            </a:br>
            <a:endParaRPr lang="fr-ML" dirty="0">
              <a:solidFill>
                <a:schemeClr val="accent2"/>
              </a:solidFill>
            </a:endParaRPr>
          </a:p>
        </p:txBody>
      </p:sp>
      <p:sp>
        <p:nvSpPr>
          <p:cNvPr id="6" name="ZoneTexte 5">
            <a:extLst>
              <a:ext uri="{FF2B5EF4-FFF2-40B4-BE49-F238E27FC236}">
                <a16:creationId xmlns:a16="http://schemas.microsoft.com/office/drawing/2014/main" id="{AA7DFDCD-0472-196E-9186-86E708A8638C}"/>
              </a:ext>
            </a:extLst>
          </p:cNvPr>
          <p:cNvSpPr txBox="1"/>
          <p:nvPr/>
        </p:nvSpPr>
        <p:spPr>
          <a:xfrm>
            <a:off x="6453052" y="5667715"/>
            <a:ext cx="3944982" cy="584775"/>
          </a:xfrm>
          <a:prstGeom prst="rect">
            <a:avLst/>
          </a:prstGeom>
          <a:noFill/>
        </p:spPr>
        <p:txBody>
          <a:bodyPr wrap="square" rtlCol="0">
            <a:spAutoFit/>
          </a:bodyPr>
          <a:lstStyle/>
          <a:p>
            <a:r>
              <a:rPr lang="fr-ML" sz="3200" b="1" spc="-50" dirty="0">
                <a:solidFill>
                  <a:schemeClr val="accent2"/>
                </a:solidFill>
                <a:latin typeface="Calibri" panose="020F0502020204030204" pitchFamily="34" charset="0"/>
                <a:cs typeface="+mj-cs"/>
              </a:rPr>
              <a:t>OUZAIROU DJIRE</a:t>
            </a:r>
          </a:p>
        </p:txBody>
      </p:sp>
      <p:sp>
        <p:nvSpPr>
          <p:cNvPr id="7" name="ZoneTexte 6">
            <a:extLst>
              <a:ext uri="{FF2B5EF4-FFF2-40B4-BE49-F238E27FC236}">
                <a16:creationId xmlns:a16="http://schemas.microsoft.com/office/drawing/2014/main" id="{A586221F-7B52-727D-0814-1C841CD882C3}"/>
              </a:ext>
            </a:extLst>
          </p:cNvPr>
          <p:cNvSpPr txBox="1"/>
          <p:nvPr/>
        </p:nvSpPr>
        <p:spPr>
          <a:xfrm>
            <a:off x="2965268" y="5667716"/>
            <a:ext cx="3130731" cy="584775"/>
          </a:xfrm>
          <a:prstGeom prst="rect">
            <a:avLst/>
          </a:prstGeom>
          <a:noFill/>
        </p:spPr>
        <p:txBody>
          <a:bodyPr wrap="square" rtlCol="0">
            <a:spAutoFit/>
          </a:bodyPr>
          <a:lstStyle/>
          <a:p>
            <a:r>
              <a:rPr lang="fr-ML" sz="3200" b="1" spc="-50" dirty="0">
                <a:solidFill>
                  <a:schemeClr val="accent2"/>
                </a:solidFill>
                <a:latin typeface="Calibri" panose="020F0502020204030204" pitchFamily="34" charset="0"/>
                <a:cs typeface="+mj-cs"/>
              </a:rPr>
              <a:t>Présenté par</a:t>
            </a:r>
          </a:p>
        </p:txBody>
      </p:sp>
    </p:spTree>
    <p:extLst>
      <p:ext uri="{BB962C8B-B14F-4D97-AF65-F5344CB8AC3E}">
        <p14:creationId xmlns:p14="http://schemas.microsoft.com/office/powerpoint/2010/main" val="125163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2" name="Titre 1">
            <a:extLst>
              <a:ext uri="{FF2B5EF4-FFF2-40B4-BE49-F238E27FC236}">
                <a16:creationId xmlns:a16="http://schemas.microsoft.com/office/drawing/2014/main" id="{7E5C1C56-04EE-13AF-3BF2-64B6429AA35F}"/>
              </a:ext>
            </a:extLst>
          </p:cNvPr>
          <p:cNvSpPr>
            <a:spLocks noGrp="1"/>
          </p:cNvSpPr>
          <p:nvPr>
            <p:ph type="ctrTitle"/>
          </p:nvPr>
        </p:nvSpPr>
        <p:spPr>
          <a:xfrm>
            <a:off x="1154781" y="-71845"/>
            <a:ext cx="8671561" cy="770708"/>
          </a:xfrm>
        </p:spPr>
        <p:txBody>
          <a:bodyPr>
            <a:noAutofit/>
          </a:bodyPr>
          <a:lstStyle/>
          <a:p>
            <a:br>
              <a:rPr lang="fr-ML" sz="700" dirty="0">
                <a:solidFill>
                  <a:schemeClr val="accent2"/>
                </a:solidFill>
                <a:effectLst/>
                <a:latin typeface="Calibri" panose="020F0502020204030204" pitchFamily="34" charset="0"/>
                <a:ea typeface="Calibri" panose="020F0502020204030204" pitchFamily="34" charset="0"/>
              </a:rPr>
            </a:br>
            <a:r>
              <a:rPr lang="fr-ML" sz="3200" b="1" dirty="0">
                <a:solidFill>
                  <a:schemeClr val="accent2"/>
                </a:solidFill>
                <a:effectLst/>
                <a:latin typeface="Calibri" panose="020F0502020204030204" pitchFamily="34" charset="0"/>
                <a:ea typeface="Calibri" panose="020F0502020204030204" pitchFamily="34" charset="0"/>
              </a:rPr>
              <a:t>Politique de Sécurité des Systèmes d’Information</a:t>
            </a:r>
            <a:endParaRPr lang="fr-ML" sz="3200" dirty="0">
              <a:solidFill>
                <a:schemeClr val="accent2"/>
              </a:solidFill>
            </a:endParaRPr>
          </a:p>
        </p:txBody>
      </p:sp>
      <p:sp>
        <p:nvSpPr>
          <p:cNvPr id="7" name="ZoneTexte 6">
            <a:extLst>
              <a:ext uri="{FF2B5EF4-FFF2-40B4-BE49-F238E27FC236}">
                <a16:creationId xmlns:a16="http://schemas.microsoft.com/office/drawing/2014/main" id="{59F3D8CD-5B2B-B728-DA6E-71C02AB48877}"/>
              </a:ext>
            </a:extLst>
          </p:cNvPr>
          <p:cNvSpPr txBox="1"/>
          <p:nvPr/>
        </p:nvSpPr>
        <p:spPr>
          <a:xfrm>
            <a:off x="1260566" y="698863"/>
            <a:ext cx="5429793" cy="646331"/>
          </a:xfrm>
          <a:prstGeom prst="rect">
            <a:avLst/>
          </a:prstGeom>
          <a:noFill/>
        </p:spPr>
        <p:txBody>
          <a:bodyPr wrap="square" rtlCol="0">
            <a:spAutoFit/>
          </a:bodyPr>
          <a:lstStyle/>
          <a:p>
            <a:r>
              <a:rPr lang="fr-ML" sz="3600" b="1" dirty="0">
                <a:solidFill>
                  <a:schemeClr val="accent2"/>
                </a:solidFill>
                <a:effectLst/>
                <a:latin typeface="Calibri" panose="020F0502020204030204" pitchFamily="34" charset="0"/>
                <a:ea typeface="Calibri" panose="020F0502020204030204" pitchFamily="34" charset="0"/>
              </a:rPr>
              <a:t>1.Introduction</a:t>
            </a:r>
            <a:endParaRPr lang="fr-ML" sz="3600" b="1" dirty="0">
              <a:solidFill>
                <a:schemeClr val="accent2"/>
              </a:solidFill>
            </a:endParaRPr>
          </a:p>
        </p:txBody>
      </p:sp>
      <p:sp>
        <p:nvSpPr>
          <p:cNvPr id="3" name="ZoneTexte 2">
            <a:extLst>
              <a:ext uri="{FF2B5EF4-FFF2-40B4-BE49-F238E27FC236}">
                <a16:creationId xmlns:a16="http://schemas.microsoft.com/office/drawing/2014/main" id="{055A01A7-0EDA-275E-B084-EB9D363BF8B8}"/>
              </a:ext>
            </a:extLst>
          </p:cNvPr>
          <p:cNvSpPr txBox="1"/>
          <p:nvPr/>
        </p:nvSpPr>
        <p:spPr>
          <a:xfrm>
            <a:off x="404949" y="1187717"/>
            <a:ext cx="11038114" cy="3860416"/>
          </a:xfrm>
          <a:prstGeom prst="rect">
            <a:avLst/>
          </a:prstGeom>
          <a:noFill/>
        </p:spPr>
        <p:txBody>
          <a:bodyPr wrap="square" rtlCol="0">
            <a:spAutoFit/>
          </a:bodyPr>
          <a:lstStyle/>
          <a:p>
            <a:pPr marL="227330" marR="314325" indent="1270" algn="just">
              <a:lnSpc>
                <a:spcPct val="110000"/>
              </a:lnSpc>
              <a:spcAft>
                <a:spcPts val="1345"/>
              </a:spcAft>
            </a:pPr>
            <a:r>
              <a:rPr lang="fr-ML" sz="2800">
                <a:solidFill>
                  <a:srgbClr val="000000"/>
                </a:solidFill>
                <a:effectLst/>
                <a:latin typeface="Calibri" panose="020F0502020204030204" pitchFamily="34" charset="0"/>
                <a:ea typeface="Calibri" panose="020F0502020204030204" pitchFamily="34" charset="0"/>
              </a:rPr>
              <a:t>A l’ère de la révolution numérique, l'information constitue une véritable richesse qui attise la convoitise des cybercriminels. Elle peut également être exposée à des menaces involontaires, qu’elles soient humaines, matérielles (panne…) ou naturelles (inondations…). La protection de l’information est par conséquent devenue un enjeu majeur pour les organisations, que vient renforcer l’entrée en vigueur en mai 2018 du Règlement général sur la protection des données personnelles. </a:t>
            </a:r>
          </a:p>
        </p:txBody>
      </p:sp>
    </p:spTree>
    <p:extLst>
      <p:ext uri="{BB962C8B-B14F-4D97-AF65-F5344CB8AC3E}">
        <p14:creationId xmlns:p14="http://schemas.microsoft.com/office/powerpoint/2010/main" val="3624892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822268" y="469902"/>
            <a:ext cx="9359538" cy="646331"/>
          </a:xfrm>
          <a:prstGeom prst="rect">
            <a:avLst/>
          </a:prstGeom>
          <a:noFill/>
        </p:spPr>
        <p:txBody>
          <a:bodyPr wrap="square" rtlCol="0">
            <a:spAutoFit/>
          </a:bodyPr>
          <a:lstStyle/>
          <a:p>
            <a:r>
              <a:rPr lang="fr-ML" sz="3600" b="1" dirty="0">
                <a:solidFill>
                  <a:schemeClr val="accent2"/>
                </a:solidFill>
                <a:latin typeface="Calibri" panose="020F0502020204030204" pitchFamily="34" charset="0"/>
              </a:rPr>
              <a:t>2.Protection des données et des outils de travail </a:t>
            </a:r>
          </a:p>
        </p:txBody>
      </p:sp>
      <p:sp>
        <p:nvSpPr>
          <p:cNvPr id="5" name="ZoneTexte 4">
            <a:extLst>
              <a:ext uri="{FF2B5EF4-FFF2-40B4-BE49-F238E27FC236}">
                <a16:creationId xmlns:a16="http://schemas.microsoft.com/office/drawing/2014/main" id="{BBFED1E8-51D7-2F9B-9CC5-8BB310C77C35}"/>
              </a:ext>
            </a:extLst>
          </p:cNvPr>
          <p:cNvSpPr txBox="1"/>
          <p:nvPr/>
        </p:nvSpPr>
        <p:spPr>
          <a:xfrm>
            <a:off x="195943" y="1187718"/>
            <a:ext cx="11586754" cy="5013232"/>
          </a:xfrm>
          <a:prstGeom prst="rect">
            <a:avLst/>
          </a:prstGeom>
          <a:noFill/>
        </p:spPr>
        <p:txBody>
          <a:bodyPr wrap="square" rtlCol="0">
            <a:spAutoFit/>
          </a:bodyPr>
          <a:lstStyle/>
          <a:p>
            <a:pPr marL="447675" marR="314325" indent="1270" algn="just">
              <a:lnSpc>
                <a:spcPct val="110000"/>
              </a:lnSpc>
              <a:spcAft>
                <a:spcPts val="940"/>
              </a:spcAft>
            </a:pPr>
            <a:r>
              <a:rPr lang="fr-ML" sz="2400" dirty="0">
                <a:solidFill>
                  <a:srgbClr val="000000"/>
                </a:solidFill>
                <a:effectLst/>
                <a:latin typeface="Calibri" panose="020F0502020204030204" pitchFamily="34" charset="0"/>
                <a:ea typeface="Calibri" panose="020F0502020204030204" pitchFamily="34" charset="0"/>
              </a:rPr>
              <a:t>La sécurité de l’information répond à quatre besoins principaux : </a:t>
            </a:r>
          </a:p>
          <a:p>
            <a:pPr marL="733425" marR="314325" indent="-285750" algn="just">
              <a:lnSpc>
                <a:spcPct val="110000"/>
              </a:lnSpc>
              <a:spcAft>
                <a:spcPts val="940"/>
              </a:spcAft>
              <a:buFont typeface="Wingdings" panose="05000000000000000000" pitchFamily="2" charset="2"/>
              <a:buChar char="Ø"/>
            </a:pPr>
            <a:r>
              <a:rPr lang="fr-ML" sz="2400" b="1" dirty="0">
                <a:solidFill>
                  <a:srgbClr val="000000"/>
                </a:solidFill>
                <a:effectLst/>
                <a:latin typeface="Calibri" panose="020F0502020204030204" pitchFamily="34" charset="0"/>
                <a:ea typeface="Calibri" panose="020F0502020204030204" pitchFamily="34" charset="0"/>
              </a:rPr>
              <a:t>la confidentialité</a:t>
            </a:r>
            <a:r>
              <a:rPr lang="fr-ML" sz="2400" dirty="0">
                <a:solidFill>
                  <a:srgbClr val="000000"/>
                </a:solidFill>
                <a:effectLst/>
                <a:latin typeface="Calibri" panose="020F0502020204030204" pitchFamily="34" charset="0"/>
                <a:ea typeface="Calibri" panose="020F0502020204030204" pitchFamily="34" charset="0"/>
              </a:rPr>
              <a:t>, ou la garantie que seules les personnes autorisées ont accès aux éléments considérés (applications, fichiers,…) ; </a:t>
            </a:r>
          </a:p>
          <a:p>
            <a:pPr marL="733425" marR="314325" indent="-285750" algn="just">
              <a:lnSpc>
                <a:spcPct val="110000"/>
              </a:lnSpc>
              <a:spcAft>
                <a:spcPts val="940"/>
              </a:spcAft>
              <a:buFont typeface="Wingdings" panose="05000000000000000000" pitchFamily="2" charset="2"/>
              <a:buChar char="Ø"/>
            </a:pPr>
            <a:r>
              <a:rPr lang="fr-ML" sz="2400" b="1" dirty="0">
                <a:solidFill>
                  <a:srgbClr val="000000"/>
                </a:solidFill>
                <a:effectLst/>
                <a:latin typeface="Calibri" panose="020F0502020204030204" pitchFamily="34" charset="0"/>
                <a:ea typeface="Calibri" panose="020F0502020204030204" pitchFamily="34" charset="0"/>
              </a:rPr>
              <a:t>l’intégrité</a:t>
            </a:r>
            <a:r>
              <a:rPr lang="fr-ML" sz="2400" dirty="0">
                <a:solidFill>
                  <a:srgbClr val="000000"/>
                </a:solidFill>
                <a:effectLst/>
                <a:latin typeface="Calibri" panose="020F0502020204030204" pitchFamily="34" charset="0"/>
                <a:ea typeface="Calibri" panose="020F0502020204030204" pitchFamily="34" charset="0"/>
              </a:rPr>
              <a:t>, ou la garantie que les éléments considérés (données, messages,…) sont exacts et complets et qu’il n’ont pas été modifiés ou perdus ; </a:t>
            </a:r>
          </a:p>
          <a:p>
            <a:pPr marL="733425" marR="314325" indent="-285750" algn="just">
              <a:lnSpc>
                <a:spcPct val="110000"/>
              </a:lnSpc>
              <a:spcAft>
                <a:spcPts val="940"/>
              </a:spcAft>
              <a:buFont typeface="Wingdings" panose="05000000000000000000" pitchFamily="2" charset="2"/>
              <a:buChar char="Ø"/>
            </a:pPr>
            <a:r>
              <a:rPr lang="fr-ML" sz="2400" b="1" dirty="0">
                <a:solidFill>
                  <a:srgbClr val="000000"/>
                </a:solidFill>
                <a:effectLst/>
                <a:latin typeface="Calibri" panose="020F0502020204030204" pitchFamily="34" charset="0"/>
                <a:ea typeface="Calibri" panose="020F0502020204030204" pitchFamily="34" charset="0"/>
              </a:rPr>
              <a:t>la disponibilité</a:t>
            </a:r>
            <a:r>
              <a:rPr lang="fr-ML" sz="2400" dirty="0">
                <a:solidFill>
                  <a:srgbClr val="000000"/>
                </a:solidFill>
                <a:effectLst/>
                <a:latin typeface="Calibri" panose="020F0502020204030204" pitchFamily="34" charset="0"/>
                <a:ea typeface="Calibri" panose="020F0502020204030204" pitchFamily="34" charset="0"/>
              </a:rPr>
              <a:t>, ou la garantie que les éléments considérés (fichiers, messages, applications, services) sont accessibles au moment voulu par les personnes autorisées ; </a:t>
            </a:r>
          </a:p>
          <a:p>
            <a:pPr marL="733425" marR="314325" indent="-285750" algn="just">
              <a:lnSpc>
                <a:spcPct val="110000"/>
              </a:lnSpc>
              <a:spcAft>
                <a:spcPts val="940"/>
              </a:spcAft>
              <a:buFont typeface="Wingdings" panose="05000000000000000000" pitchFamily="2" charset="2"/>
              <a:buChar char="Ø"/>
            </a:pPr>
            <a:r>
              <a:rPr lang="fr-ML" sz="2400" b="1" dirty="0">
                <a:solidFill>
                  <a:srgbClr val="000000"/>
                </a:solidFill>
                <a:effectLst/>
                <a:latin typeface="Calibri" panose="020F0502020204030204" pitchFamily="34" charset="0"/>
                <a:ea typeface="Calibri" panose="020F0502020204030204" pitchFamily="34" charset="0"/>
              </a:rPr>
              <a:t>la traçabilité</a:t>
            </a:r>
            <a:r>
              <a:rPr lang="fr-ML" sz="2400" dirty="0">
                <a:solidFill>
                  <a:srgbClr val="000000"/>
                </a:solidFill>
                <a:effectLst/>
                <a:latin typeface="Calibri" panose="020F0502020204030204" pitchFamily="34" charset="0"/>
                <a:ea typeface="Calibri" panose="020F0502020204030204" pitchFamily="34" charset="0"/>
              </a:rPr>
              <a:t>, ou la garantie que les accès et tentatives d’accès aux informations sont tracés et que les traces sont conservées et exploitables en temps voulu. </a:t>
            </a:r>
          </a:p>
          <a:p>
            <a:pPr marL="447675" marR="314325" indent="1270" algn="just">
              <a:lnSpc>
                <a:spcPct val="110000"/>
              </a:lnSpc>
              <a:spcAft>
                <a:spcPts val="940"/>
              </a:spcAft>
            </a:pPr>
            <a:endParaRPr lang="fr-ML" sz="1800" u="none" strike="noStrike"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1999973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822268" y="469902"/>
            <a:ext cx="9359538" cy="646331"/>
          </a:xfrm>
          <a:prstGeom prst="rect">
            <a:avLst/>
          </a:prstGeom>
          <a:noFill/>
        </p:spPr>
        <p:txBody>
          <a:bodyPr wrap="square" rtlCol="0">
            <a:spAutoFit/>
          </a:bodyPr>
          <a:lstStyle/>
          <a:p>
            <a:r>
              <a:rPr lang="fr-ML" sz="3600" b="1" dirty="0">
                <a:solidFill>
                  <a:schemeClr val="accent2"/>
                </a:solidFill>
                <a:latin typeface="Calibri" panose="020F0502020204030204" pitchFamily="34" charset="0"/>
              </a:rPr>
              <a:t>3. Protection de la réputation</a:t>
            </a:r>
          </a:p>
        </p:txBody>
      </p:sp>
      <p:sp>
        <p:nvSpPr>
          <p:cNvPr id="5" name="ZoneTexte 4">
            <a:extLst>
              <a:ext uri="{FF2B5EF4-FFF2-40B4-BE49-F238E27FC236}">
                <a16:creationId xmlns:a16="http://schemas.microsoft.com/office/drawing/2014/main" id="{BBFED1E8-51D7-2F9B-9CC5-8BB310C77C35}"/>
              </a:ext>
            </a:extLst>
          </p:cNvPr>
          <p:cNvSpPr txBox="1"/>
          <p:nvPr/>
        </p:nvSpPr>
        <p:spPr>
          <a:xfrm>
            <a:off x="195943" y="1187718"/>
            <a:ext cx="11586754" cy="4991559"/>
          </a:xfrm>
          <a:prstGeom prst="rect">
            <a:avLst/>
          </a:prstGeom>
          <a:noFill/>
        </p:spPr>
        <p:txBody>
          <a:bodyPr wrap="square" rtlCol="0">
            <a:spAutoFit/>
          </a:bodyPr>
          <a:lstStyle/>
          <a:p>
            <a:pPr marL="447675" marR="314325" indent="1270" algn="just">
              <a:lnSpc>
                <a:spcPct val="110000"/>
              </a:lnSpc>
              <a:spcAft>
                <a:spcPts val="935"/>
              </a:spcAft>
            </a:pPr>
            <a:r>
              <a:rPr lang="fr-ML" sz="2400" dirty="0">
                <a:solidFill>
                  <a:srgbClr val="000000"/>
                </a:solidFill>
                <a:effectLst/>
                <a:latin typeface="Calibri" panose="020F0502020204030204" pitchFamily="34" charset="0"/>
                <a:ea typeface="Calibri" panose="020F0502020204030204" pitchFamily="34" charset="0"/>
              </a:rPr>
              <a:t>L’estime et la confiance accordées à la structure par ses différents publics se basent sur la réputation de celle-ci. Une atteinte à cette réputation pourrait impacter négativement : </a:t>
            </a:r>
          </a:p>
          <a:p>
            <a:pPr marL="571500" marR="314325" indent="-342900" algn="just">
              <a:lnSpc>
                <a:spcPct val="110000"/>
              </a:lnSpc>
              <a:spcAft>
                <a:spcPts val="120"/>
              </a:spcAft>
              <a:buFont typeface="Wingdings" panose="05000000000000000000" pitchFamily="2" charset="2"/>
              <a:buChar char="§"/>
            </a:pPr>
            <a:r>
              <a:rPr lang="fr-ML" sz="2400" dirty="0">
                <a:solidFill>
                  <a:srgbClr val="000000"/>
                </a:solidFill>
                <a:effectLst/>
                <a:latin typeface="Calibri" panose="020F0502020204030204" pitchFamily="34" charset="0"/>
                <a:ea typeface="Calibri" panose="020F0502020204030204" pitchFamily="34" charset="0"/>
              </a:rPr>
              <a:t>la capacité de la structure à recruter du personnel de qualité ; </a:t>
            </a:r>
          </a:p>
          <a:p>
            <a:pPr marL="571500" marR="314325" indent="-342900" algn="just">
              <a:lnSpc>
                <a:spcPct val="110000"/>
              </a:lnSpc>
              <a:spcAft>
                <a:spcPts val="120"/>
              </a:spcAft>
              <a:buFont typeface="Wingdings" panose="05000000000000000000" pitchFamily="2" charset="2"/>
              <a:buChar char="§"/>
            </a:pPr>
            <a:r>
              <a:rPr lang="fr-ML" sz="2400" dirty="0">
                <a:solidFill>
                  <a:srgbClr val="000000"/>
                </a:solidFill>
                <a:effectLst/>
                <a:latin typeface="Calibri" panose="020F0502020204030204" pitchFamily="34" charset="0"/>
                <a:ea typeface="Calibri" panose="020F0502020204030204" pitchFamily="34" charset="0"/>
              </a:rPr>
              <a:t>les opportunités de contrats dans le cadre de la recherche ; </a:t>
            </a:r>
          </a:p>
          <a:p>
            <a:pPr marL="571500" marR="314325" indent="-342900" algn="just">
              <a:lnSpc>
                <a:spcPct val="110000"/>
              </a:lnSpc>
              <a:spcAft>
                <a:spcPts val="120"/>
              </a:spcAft>
              <a:buFont typeface="Wingdings" panose="05000000000000000000" pitchFamily="2" charset="2"/>
              <a:buChar char="§"/>
            </a:pPr>
            <a:r>
              <a:rPr lang="fr-ML" sz="2400" dirty="0">
                <a:solidFill>
                  <a:srgbClr val="000000"/>
                </a:solidFill>
                <a:effectLst/>
                <a:latin typeface="Calibri" panose="020F0502020204030204" pitchFamily="34" charset="0"/>
                <a:ea typeface="Calibri" panose="020F0502020204030204" pitchFamily="34" charset="0"/>
              </a:rPr>
              <a:t>les projets de collaborations interinstitutionnelles, y compris internationales </a:t>
            </a:r>
          </a:p>
          <a:p>
            <a:pPr marL="228600" marR="314325" indent="1270" algn="just">
              <a:lnSpc>
                <a:spcPct val="110000"/>
              </a:lnSpc>
              <a:spcAft>
                <a:spcPts val="785"/>
              </a:spcAft>
            </a:pPr>
            <a:r>
              <a:rPr lang="fr-ML" sz="2400" dirty="0">
                <a:solidFill>
                  <a:srgbClr val="000000"/>
                </a:solidFill>
                <a:effectLst/>
                <a:latin typeface="Calibri" panose="020F0502020204030204" pitchFamily="34" charset="0"/>
                <a:ea typeface="Calibri" panose="020F0502020204030204" pitchFamily="34" charset="0"/>
              </a:rPr>
              <a:t>… </a:t>
            </a:r>
          </a:p>
          <a:p>
            <a:pPr marL="228600" marR="314325" indent="1270" algn="just">
              <a:lnSpc>
                <a:spcPct val="110000"/>
              </a:lnSpc>
              <a:spcAft>
                <a:spcPts val="1575"/>
              </a:spcAft>
            </a:pPr>
            <a:r>
              <a:rPr lang="fr-ML" sz="2400" dirty="0">
                <a:solidFill>
                  <a:srgbClr val="000000"/>
                </a:solidFill>
                <a:effectLst/>
                <a:latin typeface="Calibri" panose="020F0502020204030204" pitchFamily="34" charset="0"/>
                <a:ea typeface="Calibri" panose="020F0502020204030204" pitchFamily="34" charset="0"/>
              </a:rPr>
              <a:t>Une prévention contrôlée des risques et une gestion cadrée des incidents de sécurité de l’information permettent de protéger l’image de la structure, tant en interne qu’à l’extérieur. </a:t>
            </a:r>
          </a:p>
          <a:p>
            <a:pPr marL="447675" marR="314325" indent="1270" algn="just">
              <a:lnSpc>
                <a:spcPct val="110000"/>
              </a:lnSpc>
              <a:spcAft>
                <a:spcPts val="940"/>
              </a:spcAft>
            </a:pPr>
            <a:endParaRPr lang="fr-ML" sz="2400" u="none" strike="noStrike"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2946159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926770" y="398417"/>
            <a:ext cx="9359538" cy="646331"/>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r>
              <a:rPr lang="fr-ML" dirty="0"/>
              <a:t>3. Objectifs</a:t>
            </a:r>
          </a:p>
        </p:txBody>
      </p:sp>
      <p:sp>
        <p:nvSpPr>
          <p:cNvPr id="5" name="ZoneTexte 4">
            <a:extLst>
              <a:ext uri="{FF2B5EF4-FFF2-40B4-BE49-F238E27FC236}">
                <a16:creationId xmlns:a16="http://schemas.microsoft.com/office/drawing/2014/main" id="{BBFED1E8-51D7-2F9B-9CC5-8BB310C77C35}"/>
              </a:ext>
            </a:extLst>
          </p:cNvPr>
          <p:cNvSpPr txBox="1"/>
          <p:nvPr/>
        </p:nvSpPr>
        <p:spPr>
          <a:xfrm>
            <a:off x="195943" y="1187718"/>
            <a:ext cx="11586754" cy="1698863"/>
          </a:xfrm>
          <a:prstGeom prst="rect">
            <a:avLst/>
          </a:prstGeom>
          <a:noFill/>
        </p:spPr>
        <p:txBody>
          <a:bodyPr wrap="square" rtlCol="0">
            <a:spAutoFit/>
          </a:bodyPr>
          <a:lstStyle/>
          <a:p>
            <a:pPr marL="22733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La Politique de Sécurité des Systèmes d’Information définit la vision stratégique de la structure en termes de sécurité des données. Elle fixe les objectifs et standards de sécurité, le périmètre d’application et traduit l’engagement de la structure à mettre en œuvre les mesures de protection adaptées à son contexte ainsi qu’au cadre juridique en vigueur. </a:t>
            </a:r>
          </a:p>
          <a:p>
            <a:pPr marL="447675" marR="314325" indent="1270" algn="just">
              <a:lnSpc>
                <a:spcPct val="110000"/>
              </a:lnSpc>
              <a:spcAft>
                <a:spcPts val="940"/>
              </a:spcAft>
            </a:pPr>
            <a:endParaRPr lang="fr-ML" sz="2400" u="none" strike="noStrike"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pic>
        <p:nvPicPr>
          <p:cNvPr id="6" name="Picture 1106">
            <a:extLst>
              <a:ext uri="{FF2B5EF4-FFF2-40B4-BE49-F238E27FC236}">
                <a16:creationId xmlns:a16="http://schemas.microsoft.com/office/drawing/2014/main" id="{67BE0114-1A57-F292-9907-55A7E61B64B4}"/>
              </a:ext>
            </a:extLst>
          </p:cNvPr>
          <p:cNvPicPr/>
          <p:nvPr/>
        </p:nvPicPr>
        <p:blipFill>
          <a:blip r:embed="rId3"/>
          <a:stretch>
            <a:fillRect/>
          </a:stretch>
        </p:blipFill>
        <p:spPr>
          <a:xfrm>
            <a:off x="1247503" y="2148839"/>
            <a:ext cx="9483634" cy="4127863"/>
          </a:xfrm>
          <a:prstGeom prst="rect">
            <a:avLst/>
          </a:prstGeom>
        </p:spPr>
      </p:pic>
    </p:spTree>
    <p:extLst>
      <p:ext uri="{BB962C8B-B14F-4D97-AF65-F5344CB8AC3E}">
        <p14:creationId xmlns:p14="http://schemas.microsoft.com/office/powerpoint/2010/main" val="3815762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926770" y="-14105"/>
            <a:ext cx="9359538" cy="646331"/>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r>
              <a:rPr lang="fr-ML" dirty="0"/>
              <a:t>3. Objectifs …</a:t>
            </a:r>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551063"/>
            <a:ext cx="11586754" cy="6263702"/>
          </a:xfrm>
          <a:prstGeom prst="rect">
            <a:avLst/>
          </a:prstGeom>
          <a:noFill/>
        </p:spPr>
        <p:txBody>
          <a:bodyPr wrap="square" rtlCol="0">
            <a:spAutoFit/>
          </a:bodyPr>
          <a:lstStyle/>
          <a:p>
            <a:pPr marL="227330" marR="314325" indent="1270" algn="just">
              <a:lnSpc>
                <a:spcPct val="110000"/>
              </a:lnSpc>
              <a:spcAft>
                <a:spcPts val="940"/>
              </a:spcAft>
            </a:pPr>
            <a:r>
              <a:rPr lang="fr-ML" sz="2000" dirty="0">
                <a:solidFill>
                  <a:srgbClr val="000000"/>
                </a:solidFill>
                <a:effectLst/>
                <a:latin typeface="Calibri" panose="020F0502020204030204" pitchFamily="34" charset="0"/>
                <a:ea typeface="Calibri" panose="020F0502020204030204" pitchFamily="34" charset="0"/>
              </a:rPr>
              <a:t>Au-delà d’une mise en conformité de la structure à la législation nationale et supranationale, il s’agit pour la structure de se rapprocher des standards internationaux et : </a:t>
            </a:r>
          </a:p>
          <a:p>
            <a:pPr marL="571500"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de réduire les incidents ainsi que leurs impacts sur le fonctionnement de la structure ; </a:t>
            </a:r>
          </a:p>
          <a:p>
            <a:pPr marL="571500"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de réduire les risques et leurs conséquences potentielles (ex : amendes sévères en cas d’infraction au RGPD, impact sur la réputation) ; </a:t>
            </a:r>
          </a:p>
          <a:p>
            <a:pPr marL="571500"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de prioriser efficacement les actions à entreprendre; </a:t>
            </a:r>
          </a:p>
          <a:p>
            <a:pPr marL="571500"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de rationaliser les coûts et ressources à engager dans le cadre de la mise en œuvre des objectifs et mesures de sécurité;  </a:t>
            </a:r>
          </a:p>
          <a:p>
            <a:pPr marL="571500"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d’apporter la garantie d’un traitement sécurisé des données et dès lors d’améliorer la confiance dans le cadre de partenariats (contrats de recherche, conventions interinstitutionnelles…); </a:t>
            </a:r>
          </a:p>
          <a:p>
            <a:pPr marL="228600" marR="314325" indent="1270" algn="just">
              <a:lnSpc>
                <a:spcPct val="110000"/>
              </a:lnSpc>
              <a:spcAft>
                <a:spcPts val="935"/>
              </a:spcAft>
            </a:pPr>
            <a:r>
              <a:rPr lang="fr-ML" sz="2000" dirty="0">
                <a:solidFill>
                  <a:srgbClr val="000000"/>
                </a:solidFill>
                <a:effectLst/>
                <a:latin typeface="Calibri" panose="020F0502020204030204" pitchFamily="34" charset="0"/>
                <a:ea typeface="Calibri" panose="020F0502020204030204" pitchFamily="34" charset="0"/>
              </a:rPr>
              <a:t>La Politique de Sécurité des Systèmes d’Information s’accompagne de : </a:t>
            </a:r>
          </a:p>
          <a:p>
            <a:pPr marL="228600" marR="314325"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règlements, qui arrêtent les instructions et décisions ; </a:t>
            </a:r>
          </a:p>
          <a:p>
            <a:pPr marL="228600" marR="314325" indent="1270" algn="just">
              <a:lnSpc>
                <a:spcPct val="110000"/>
              </a:lnSpc>
              <a:spcAft>
                <a:spcPts val="750"/>
              </a:spcAft>
            </a:pPr>
            <a:r>
              <a:rPr lang="fr-ML" sz="2000" dirty="0">
                <a:solidFill>
                  <a:srgbClr val="000000"/>
                </a:solidFill>
                <a:effectLst/>
                <a:latin typeface="Calibri" panose="020F0502020204030204" pitchFamily="34" charset="0"/>
                <a:ea typeface="Calibri" panose="020F0502020204030204" pitchFamily="34" charset="0"/>
              </a:rPr>
              <a:t>procédures et bonnes pratiques, qui précisent et détaillent les modalités de mise en œuvre. </a:t>
            </a:r>
          </a:p>
          <a:p>
            <a:pPr marL="227330" marR="314325" indent="1270" algn="just">
              <a:lnSpc>
                <a:spcPct val="110000"/>
              </a:lnSpc>
              <a:spcAft>
                <a:spcPts val="2375"/>
              </a:spcAft>
            </a:pPr>
            <a:r>
              <a:rPr lang="fr-ML" sz="2000" dirty="0">
                <a:solidFill>
                  <a:srgbClr val="000000"/>
                </a:solidFill>
                <a:effectLst/>
                <a:latin typeface="Calibri" panose="020F0502020204030204" pitchFamily="34" charset="0"/>
                <a:ea typeface="Calibri" panose="020F0502020204030204" pitchFamily="34" charset="0"/>
              </a:rPr>
              <a:t>La PSSI s’applique à l’ensemble des utilisateurs des systèmes d’information de la structure. Elle est sujette à des mises à jour périodiques et approuvée par les autorités. </a:t>
            </a:r>
          </a:p>
          <a:p>
            <a:pPr marL="447675" marR="314325" indent="1270" algn="just">
              <a:lnSpc>
                <a:spcPct val="110000"/>
              </a:lnSpc>
              <a:spcAft>
                <a:spcPts val="940"/>
              </a:spcAft>
            </a:pPr>
            <a:endParaRPr lang="fr-ML" sz="2400" u="none" strike="noStrike"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972444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926770" y="-14105"/>
            <a:ext cx="9359538" cy="646331"/>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r>
              <a:rPr lang="fr-ML" dirty="0"/>
              <a:t>3. Cadre législatif et normatif </a:t>
            </a:r>
          </a:p>
        </p:txBody>
      </p:sp>
      <p:sp>
        <p:nvSpPr>
          <p:cNvPr id="5" name="ZoneTexte 4">
            <a:extLst>
              <a:ext uri="{FF2B5EF4-FFF2-40B4-BE49-F238E27FC236}">
                <a16:creationId xmlns:a16="http://schemas.microsoft.com/office/drawing/2014/main" id="{BBFED1E8-51D7-2F9B-9CC5-8BB310C77C35}"/>
              </a:ext>
            </a:extLst>
          </p:cNvPr>
          <p:cNvSpPr txBox="1"/>
          <p:nvPr/>
        </p:nvSpPr>
        <p:spPr>
          <a:xfrm>
            <a:off x="1926770" y="1426275"/>
            <a:ext cx="7870373" cy="3857082"/>
          </a:xfrm>
          <a:prstGeom prst="rect">
            <a:avLst/>
          </a:prstGeom>
          <a:noFill/>
        </p:spPr>
        <p:txBody>
          <a:bodyPr wrap="square" rtlCol="0">
            <a:spAutoFit/>
          </a:bodyPr>
          <a:lstStyle/>
          <a:p>
            <a:pPr marR="314325" indent="1270" algn="just">
              <a:lnSpc>
                <a:spcPct val="110000"/>
              </a:lnSpc>
              <a:spcAft>
                <a:spcPts val="1040"/>
              </a:spcAft>
            </a:pPr>
            <a:r>
              <a:rPr lang="fr-ML" sz="3200" dirty="0">
                <a:solidFill>
                  <a:srgbClr val="000000"/>
                </a:solidFill>
                <a:effectLst/>
                <a:latin typeface="Calibri" panose="020F0502020204030204" pitchFamily="34" charset="0"/>
                <a:ea typeface="Calibri" panose="020F0502020204030204" pitchFamily="34" charset="0"/>
              </a:rPr>
              <a:t>La mise en œuvre de systèmes d’information est soumise à des obligations relevant de dispositions législatives et réglementaires qui confèrent un enjeu juridique important à cette activité. L’institution doit s’assurer de la conformité permanente de la PSSI à celles-ci.  </a:t>
            </a:r>
          </a:p>
        </p:txBody>
      </p:sp>
    </p:spTree>
    <p:extLst>
      <p:ext uri="{BB962C8B-B14F-4D97-AF65-F5344CB8AC3E}">
        <p14:creationId xmlns:p14="http://schemas.microsoft.com/office/powerpoint/2010/main" val="1970198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926770" y="-14105"/>
            <a:ext cx="9359538" cy="646331"/>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r>
              <a:rPr lang="fr-ML" dirty="0"/>
              <a:t>3. Cadre législatif et normatif… </a:t>
            </a:r>
          </a:p>
        </p:txBody>
      </p:sp>
      <p:sp>
        <p:nvSpPr>
          <p:cNvPr id="5" name="ZoneTexte 4">
            <a:extLst>
              <a:ext uri="{FF2B5EF4-FFF2-40B4-BE49-F238E27FC236}">
                <a16:creationId xmlns:a16="http://schemas.microsoft.com/office/drawing/2014/main" id="{BBFED1E8-51D7-2F9B-9CC5-8BB310C77C35}"/>
              </a:ext>
            </a:extLst>
          </p:cNvPr>
          <p:cNvSpPr txBox="1"/>
          <p:nvPr/>
        </p:nvSpPr>
        <p:spPr>
          <a:xfrm>
            <a:off x="0" y="429752"/>
            <a:ext cx="11889377" cy="6565259"/>
          </a:xfrm>
          <a:prstGeom prst="rect">
            <a:avLst/>
          </a:prstGeom>
          <a:noFill/>
        </p:spPr>
        <p:txBody>
          <a:bodyPr wrap="square" rtlCol="0">
            <a:spAutoFit/>
          </a:bodyPr>
          <a:lstStyle/>
          <a:p>
            <a:pPr marL="225425" indent="-6350">
              <a:lnSpc>
                <a:spcPct val="107000"/>
              </a:lnSpc>
              <a:spcAft>
                <a:spcPts val="605"/>
              </a:spcAft>
            </a:pPr>
            <a:r>
              <a:rPr lang="fr-ML" sz="3600" b="1" dirty="0">
                <a:solidFill>
                  <a:schemeClr val="accent2"/>
                </a:solidFill>
                <a:latin typeface="Calibri" panose="020F0502020204030204" pitchFamily="34" charset="0"/>
              </a:rPr>
              <a:t>3.1Règlement Général sur la Protection des données (RGPD) </a:t>
            </a:r>
          </a:p>
          <a:p>
            <a:pPr marL="227330" marR="314325" indent="1270" algn="just">
              <a:lnSpc>
                <a:spcPct val="110000"/>
              </a:lnSpc>
              <a:spcAft>
                <a:spcPts val="1680"/>
              </a:spcAft>
            </a:pPr>
            <a:r>
              <a:rPr lang="fr-ML" sz="2800" dirty="0">
                <a:solidFill>
                  <a:srgbClr val="000000"/>
                </a:solidFill>
                <a:effectLst/>
                <a:latin typeface="Calibri" panose="020F0502020204030204" pitchFamily="34" charset="0"/>
                <a:ea typeface="Calibri" panose="020F0502020204030204" pitchFamily="34" charset="0"/>
              </a:rPr>
              <a:t>La PSSI incorpore les éléments RGPD qui concernent les données à caractère personnel sous format électronique uniquement. </a:t>
            </a:r>
          </a:p>
          <a:p>
            <a:pPr marL="225425" indent="-6350">
              <a:lnSpc>
                <a:spcPct val="107000"/>
              </a:lnSpc>
              <a:spcAft>
                <a:spcPts val="605"/>
              </a:spcAft>
            </a:pPr>
            <a:r>
              <a:rPr lang="fr-ML" sz="3600" b="1" dirty="0">
                <a:solidFill>
                  <a:schemeClr val="accent2"/>
                </a:solidFill>
                <a:latin typeface="Calibri" panose="020F0502020204030204" pitchFamily="34" charset="0"/>
              </a:rPr>
              <a:t>3.2. Protection de la propriété intellectuelle (PI) </a:t>
            </a:r>
          </a:p>
          <a:p>
            <a:pPr marL="227330" marR="314325" indent="1270" algn="just">
              <a:lnSpc>
                <a:spcPct val="110000"/>
              </a:lnSpc>
              <a:spcAft>
                <a:spcPts val="1565"/>
              </a:spcAft>
            </a:pPr>
            <a:r>
              <a:rPr lang="fr-ML" sz="2800" dirty="0">
                <a:solidFill>
                  <a:srgbClr val="000000"/>
                </a:solidFill>
                <a:effectLst/>
                <a:latin typeface="Calibri" panose="020F0502020204030204" pitchFamily="34" charset="0"/>
                <a:ea typeface="Calibri" panose="020F0502020204030204" pitchFamily="34" charset="0"/>
              </a:rPr>
              <a:t>La PSSI, bien qu’elle n’en couvre pas tous les aspects,</a:t>
            </a:r>
          </a:p>
          <a:p>
            <a:pPr marL="227330" marR="314325" indent="1270" algn="just">
              <a:lnSpc>
                <a:spcPct val="110000"/>
              </a:lnSpc>
              <a:spcAft>
                <a:spcPts val="1565"/>
              </a:spcAft>
            </a:pPr>
            <a:r>
              <a:rPr lang="fr-ML" sz="2800" dirty="0">
                <a:solidFill>
                  <a:srgbClr val="000000"/>
                </a:solidFill>
                <a:effectLst/>
                <a:latin typeface="Calibri" panose="020F0502020204030204" pitchFamily="34" charset="0"/>
                <a:ea typeface="Calibri" panose="020F0502020204030204" pitchFamily="34" charset="0"/>
              </a:rPr>
              <a:t> favorise la protection de la propriété intellectuelle. </a:t>
            </a:r>
          </a:p>
          <a:p>
            <a:pPr marL="225425" indent="-6350">
              <a:lnSpc>
                <a:spcPct val="107000"/>
              </a:lnSpc>
              <a:spcAft>
                <a:spcPts val="605"/>
              </a:spcAft>
            </a:pPr>
            <a:r>
              <a:rPr lang="fr-ML" sz="3600" b="1" dirty="0">
                <a:solidFill>
                  <a:schemeClr val="accent2"/>
                </a:solidFill>
                <a:latin typeface="Calibri" panose="020F0502020204030204" pitchFamily="34" charset="0"/>
              </a:rPr>
              <a:t>3.3. Normes ISO 27000 </a:t>
            </a:r>
          </a:p>
          <a:p>
            <a:pPr marL="227330" marR="314325" indent="1270" algn="just">
              <a:lnSpc>
                <a:spcPct val="110000"/>
              </a:lnSpc>
              <a:spcAft>
                <a:spcPts val="560"/>
              </a:spcAft>
            </a:pPr>
            <a:r>
              <a:rPr lang="fr-ML" sz="2800" dirty="0">
                <a:solidFill>
                  <a:srgbClr val="000000"/>
                </a:solidFill>
                <a:effectLst/>
                <a:latin typeface="Calibri" panose="020F0502020204030204" pitchFamily="34" charset="0"/>
                <a:ea typeface="Calibri" panose="020F0502020204030204" pitchFamily="34" charset="0"/>
              </a:rPr>
              <a:t>Les normes internationales de sécurité de la série ISO 27000 sont destinées à protéger l’information. Elles découlent d’une recherche de consensus dans le domaine et servent de base à la PSSI de la structure. </a:t>
            </a:r>
          </a:p>
          <a:p>
            <a:pPr marL="227330">
              <a:lnSpc>
                <a:spcPct val="107000"/>
              </a:lnSpc>
            </a:pPr>
            <a:r>
              <a:rPr lang="fr-ML" sz="2800" dirty="0">
                <a:solidFill>
                  <a:srgbClr val="000000"/>
                </a:solidFill>
                <a:effectLst/>
                <a:latin typeface="Calibri" panose="020F0502020204030204" pitchFamily="34" charset="0"/>
                <a:ea typeface="Calibri" panose="020F0502020204030204" pitchFamily="34" charset="0"/>
              </a:rPr>
              <a:t> </a:t>
            </a:r>
          </a:p>
        </p:txBody>
      </p:sp>
      <p:pic>
        <p:nvPicPr>
          <p:cNvPr id="2" name="Picture 1220">
            <a:extLst>
              <a:ext uri="{FF2B5EF4-FFF2-40B4-BE49-F238E27FC236}">
                <a16:creationId xmlns:a16="http://schemas.microsoft.com/office/drawing/2014/main" id="{2563C4F1-3CD5-027B-A424-BF400E85B64D}"/>
              </a:ext>
            </a:extLst>
          </p:cNvPr>
          <p:cNvPicPr/>
          <p:nvPr/>
        </p:nvPicPr>
        <p:blipFill>
          <a:blip r:embed="rId3"/>
          <a:stretch>
            <a:fillRect/>
          </a:stretch>
        </p:blipFill>
        <p:spPr>
          <a:xfrm>
            <a:off x="7853769" y="2495006"/>
            <a:ext cx="4035608" cy="2638697"/>
          </a:xfrm>
          <a:prstGeom prst="rect">
            <a:avLst/>
          </a:prstGeom>
        </p:spPr>
      </p:pic>
    </p:spTree>
    <p:extLst>
      <p:ext uri="{BB962C8B-B14F-4D97-AF65-F5344CB8AC3E}">
        <p14:creationId xmlns:p14="http://schemas.microsoft.com/office/powerpoint/2010/main" val="3572501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01748"/>
            <a:ext cx="11889377" cy="1200329"/>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r>
              <a:rPr lang="fr-ML" sz="2400" dirty="0"/>
              <a:t>4</a:t>
            </a:r>
            <a:r>
              <a:rPr lang="fr-ML" dirty="0"/>
              <a:t>. </a:t>
            </a:r>
            <a:r>
              <a:rPr lang="fr-ML" sz="2400" dirty="0"/>
              <a:t>Exigences pour un Système de Management de la Sécurité de l’Information - ISO 27001 </a:t>
            </a:r>
            <a:endParaRPr lang="fr-ML" sz="2000" dirty="0"/>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429752"/>
            <a:ext cx="11889377" cy="5254965"/>
          </a:xfrm>
          <a:prstGeom prst="rect">
            <a:avLst/>
          </a:prstGeom>
          <a:noFill/>
        </p:spPr>
        <p:txBody>
          <a:bodyPr wrap="square" rtlCol="0">
            <a:spAutoFit/>
          </a:bodyPr>
          <a:lstStyle/>
          <a:p>
            <a:pPr marL="447675" marR="314325" indent="1270" algn="just">
              <a:lnSpc>
                <a:spcPct val="110000"/>
              </a:lnSpc>
              <a:spcAft>
                <a:spcPts val="770"/>
              </a:spcAft>
            </a:pPr>
            <a:r>
              <a:rPr lang="fr-ML" sz="2400" dirty="0">
                <a:solidFill>
                  <a:srgbClr val="000000"/>
                </a:solidFill>
                <a:effectLst/>
                <a:latin typeface="Calibri" panose="020F0502020204030204" pitchFamily="34" charset="0"/>
                <a:ea typeface="Calibri" panose="020F0502020204030204" pitchFamily="34" charset="0"/>
              </a:rPr>
              <a:t>La norme ISO/CEI 27001 s’adresse à tous les types d’organismes (entreprises commerciales, ONG, administrations…) et définit les exigences pour la mise en place d'un système de management de la sécurité de l'information (SMSI). </a:t>
            </a:r>
          </a:p>
          <a:p>
            <a:pPr marL="447675" marR="314325" indent="1270" algn="just">
              <a:lnSpc>
                <a:spcPct val="110000"/>
              </a:lnSpc>
              <a:spcAft>
                <a:spcPts val="770"/>
              </a:spcAft>
            </a:pPr>
            <a:r>
              <a:rPr lang="fr-ML" sz="2400" dirty="0">
                <a:solidFill>
                  <a:srgbClr val="000000"/>
                </a:solidFill>
                <a:effectLst/>
                <a:latin typeface="Calibri" panose="020F0502020204030204" pitchFamily="34" charset="0"/>
                <a:ea typeface="Calibri" panose="020F0502020204030204" pitchFamily="34" charset="0"/>
              </a:rPr>
              <a:t>Le SMSI recense les mesures de sécurité, dans un périmètre défini, afin de garantir la protection des actifs de l'organisme. L’objectif est de protéger les informations de toute perte, vol ou altération, et les systèmes informatiques de toute intrusion et sinistre informatique. </a:t>
            </a:r>
          </a:p>
          <a:p>
            <a:pPr marL="447675" marR="314325" indent="1270" algn="just">
              <a:lnSpc>
                <a:spcPct val="110000"/>
              </a:lnSpc>
              <a:spcAft>
                <a:spcPts val="785"/>
              </a:spcAft>
            </a:pPr>
            <a:r>
              <a:rPr lang="fr-ML" sz="2400" dirty="0">
                <a:solidFill>
                  <a:srgbClr val="000000"/>
                </a:solidFill>
                <a:effectLst/>
                <a:latin typeface="Calibri" panose="020F0502020204030204" pitchFamily="34" charset="0"/>
                <a:ea typeface="Calibri" panose="020F0502020204030204" pitchFamily="34" charset="0"/>
              </a:rPr>
              <a:t>La norme précise que les exigences en matière de mesures de sécurité doivent être adéquates et proportionnées aux risques encourus et donc ne pas être ni trop laxistes, ni trop sévères. </a:t>
            </a:r>
          </a:p>
          <a:p>
            <a:pPr marL="447675"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Elle énumère un ensemble de points de contrôle à respecter pour s'assurer de la pertinence du SMSI, permettre de l'exploiter et de le faire évoluer.   </a:t>
            </a:r>
          </a:p>
        </p:txBody>
      </p:sp>
    </p:spTree>
    <p:extLst>
      <p:ext uri="{BB962C8B-B14F-4D97-AF65-F5344CB8AC3E}">
        <p14:creationId xmlns:p14="http://schemas.microsoft.com/office/powerpoint/2010/main" val="41632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01748"/>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429752"/>
            <a:ext cx="11889377" cy="5764335"/>
          </a:xfrm>
          <a:prstGeom prst="rect">
            <a:avLst/>
          </a:prstGeom>
          <a:noFill/>
        </p:spPr>
        <p:txBody>
          <a:bodyPr wrap="square" rtlCol="0">
            <a:spAutoFit/>
          </a:bodyPr>
          <a:lstStyle/>
          <a:p>
            <a:pPr marR="314325" indent="1270" algn="just">
              <a:lnSpc>
                <a:spcPct val="110000"/>
              </a:lnSpc>
              <a:spcAft>
                <a:spcPts val="1555"/>
              </a:spcAft>
            </a:pPr>
            <a:r>
              <a:rPr lang="fr-ML" sz="2200" dirty="0">
                <a:solidFill>
                  <a:srgbClr val="000000"/>
                </a:solidFill>
                <a:effectLst/>
                <a:latin typeface="Calibri" panose="020F0502020204030204" pitchFamily="34" charset="0"/>
                <a:ea typeface="Calibri" panose="020F0502020204030204" pitchFamily="34" charset="0"/>
              </a:rPr>
              <a:t>La mise en œuvre de la PSSI s’appuie sur une structure fonctionnelle interne spécialisée en sécurité des systèmes d’information.  </a:t>
            </a:r>
          </a:p>
          <a:p>
            <a:pPr marL="225425" indent="-6350">
              <a:lnSpc>
                <a:spcPct val="107000"/>
              </a:lnSpc>
              <a:spcAft>
                <a:spcPts val="605"/>
              </a:spcAft>
            </a:pPr>
            <a:r>
              <a:rPr lang="fr-ML" sz="2400" b="1" dirty="0">
                <a:solidFill>
                  <a:schemeClr val="accent2"/>
                </a:solidFill>
                <a:latin typeface="Calibri" panose="020F0502020204030204" pitchFamily="34" charset="0"/>
              </a:rPr>
              <a:t>4.1. RSSI </a:t>
            </a:r>
          </a:p>
          <a:p>
            <a:pPr marL="227330" marR="314325" indent="1270" algn="just">
              <a:lnSpc>
                <a:spcPct val="110000"/>
              </a:lnSpc>
              <a:spcAft>
                <a:spcPts val="930"/>
              </a:spcAft>
            </a:pPr>
            <a:r>
              <a:rPr lang="fr-ML" sz="2200" dirty="0">
                <a:solidFill>
                  <a:srgbClr val="000000"/>
                </a:solidFill>
                <a:effectLst/>
                <a:latin typeface="Calibri" panose="020F0502020204030204" pitchFamily="34" charset="0"/>
                <a:ea typeface="Calibri" panose="020F0502020204030204" pitchFamily="34" charset="0"/>
              </a:rPr>
              <a:t>Le Responsable de la Sécurité des Systèmes d’Information (RSSI, ou CISO en anglais) coordonne la mise en œuvre de la PSSI. Il : </a:t>
            </a:r>
          </a:p>
          <a:p>
            <a:pPr marL="790575" marR="314325" indent="-342900" algn="just">
              <a:lnSpc>
                <a:spcPct val="110000"/>
              </a:lnSpc>
              <a:spcAft>
                <a:spcPts val="120"/>
              </a:spcAft>
              <a:buFont typeface="Wingdings" panose="05000000000000000000" pitchFamily="2" charset="2"/>
              <a:buChar char="v"/>
            </a:pPr>
            <a:r>
              <a:rPr lang="fr-ML" sz="2200" dirty="0">
                <a:solidFill>
                  <a:srgbClr val="000000"/>
                </a:solidFill>
                <a:effectLst/>
                <a:latin typeface="Calibri" panose="020F0502020204030204" pitchFamily="34" charset="0"/>
                <a:ea typeface="Calibri" panose="020F0502020204030204" pitchFamily="34" charset="0"/>
              </a:rPr>
              <a:t>veille à la diffusion de l’information ainsi qu’à la formation/sensibilisation des membres de la structure ; </a:t>
            </a:r>
          </a:p>
          <a:p>
            <a:pPr marL="790575" marR="314325" indent="-342900" algn="just">
              <a:lnSpc>
                <a:spcPct val="110000"/>
              </a:lnSpc>
              <a:spcAft>
                <a:spcPts val="120"/>
              </a:spcAft>
              <a:buFont typeface="Wingdings" panose="05000000000000000000" pitchFamily="2" charset="2"/>
              <a:buChar char="v"/>
            </a:pPr>
            <a:r>
              <a:rPr lang="fr-ML" sz="2200" dirty="0">
                <a:solidFill>
                  <a:srgbClr val="000000"/>
                </a:solidFill>
                <a:effectLst/>
                <a:latin typeface="Calibri" panose="020F0502020204030204" pitchFamily="34" charset="0"/>
                <a:ea typeface="Calibri" panose="020F0502020204030204" pitchFamily="34" charset="0"/>
              </a:rPr>
              <a:t>assure un rôle de conseil et d’assistance à la bonne mise en œuvre de la sécurité de l’information ; </a:t>
            </a:r>
          </a:p>
          <a:p>
            <a:pPr marL="790575" marR="314325" indent="-342900" algn="just">
              <a:lnSpc>
                <a:spcPct val="110000"/>
              </a:lnSpc>
              <a:spcAft>
                <a:spcPts val="120"/>
              </a:spcAft>
              <a:buFont typeface="Wingdings" panose="05000000000000000000" pitchFamily="2" charset="2"/>
              <a:buChar char="v"/>
            </a:pPr>
            <a:r>
              <a:rPr lang="fr-ML" sz="2200" dirty="0">
                <a:solidFill>
                  <a:srgbClr val="000000"/>
                </a:solidFill>
                <a:effectLst/>
                <a:latin typeface="Calibri" panose="020F0502020204030204" pitchFamily="34" charset="0"/>
                <a:ea typeface="Calibri" panose="020F0502020204030204" pitchFamily="34" charset="0"/>
              </a:rPr>
              <a:t>est l’interface entre les intervenants internes et externes pour les problématiques de sécurité</a:t>
            </a:r>
          </a:p>
          <a:p>
            <a:pPr marL="790575" marR="314325" indent="-342900" algn="just">
              <a:lnSpc>
                <a:spcPct val="110000"/>
              </a:lnSpc>
              <a:spcAft>
                <a:spcPts val="120"/>
              </a:spcAft>
              <a:buFont typeface="Wingdings" panose="05000000000000000000" pitchFamily="2" charset="2"/>
              <a:buChar char="v"/>
            </a:pPr>
            <a:r>
              <a:rPr lang="fr-ML" sz="2200" dirty="0">
                <a:solidFill>
                  <a:srgbClr val="000000"/>
                </a:solidFill>
                <a:effectLst/>
                <a:latin typeface="Calibri" panose="020F0502020204030204" pitchFamily="34" charset="0"/>
                <a:ea typeface="Calibri" panose="020F0502020204030204" pitchFamily="34" charset="0"/>
              </a:rPr>
              <a:t>réalise des contrôles internes réguliers, détermine la périodicité des audits externes et les supervise ; </a:t>
            </a:r>
          </a:p>
          <a:p>
            <a:pPr marL="790575" marR="314325" indent="-342900" algn="just">
              <a:lnSpc>
                <a:spcPct val="110000"/>
              </a:lnSpc>
              <a:spcAft>
                <a:spcPts val="120"/>
              </a:spcAft>
              <a:buFont typeface="Wingdings" panose="05000000000000000000" pitchFamily="2" charset="2"/>
              <a:buChar char="v"/>
            </a:pPr>
            <a:r>
              <a:rPr lang="fr-ML" sz="2200" dirty="0">
                <a:solidFill>
                  <a:srgbClr val="000000"/>
                </a:solidFill>
                <a:effectLst/>
                <a:latin typeface="Calibri" panose="020F0502020204030204" pitchFamily="34" charset="0"/>
                <a:ea typeface="Calibri" panose="020F0502020204030204" pitchFamily="34" charset="0"/>
              </a:rPr>
              <a:t>effectue un travail de veille technologique. </a:t>
            </a:r>
          </a:p>
          <a:p>
            <a:pPr marL="227330">
              <a:lnSpc>
                <a:spcPct val="107000"/>
              </a:lnSpc>
            </a:pPr>
            <a:endParaRPr lang="fr-ML" sz="22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571060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01748"/>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429752"/>
            <a:ext cx="11889377" cy="5527732"/>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4.2. DPD </a:t>
            </a:r>
          </a:p>
          <a:p>
            <a:pPr marL="227330" marR="314325" indent="1270" algn="just">
              <a:lnSpc>
                <a:spcPct val="110000"/>
              </a:lnSpc>
              <a:spcAft>
                <a:spcPts val="930"/>
              </a:spcAft>
            </a:pPr>
            <a:r>
              <a:rPr lang="fr-ML" sz="2400" dirty="0">
                <a:solidFill>
                  <a:srgbClr val="000000"/>
                </a:solidFill>
                <a:effectLst/>
                <a:latin typeface="Calibri" panose="020F0502020204030204" pitchFamily="34" charset="0"/>
                <a:ea typeface="Calibri" panose="020F0502020204030204" pitchFamily="34" charset="0"/>
              </a:rPr>
              <a:t>Le Délégué à la Protection des données (DPD, ou DPO en anglais) a pour mission le contrôle des traitements de données à caractère personnel au sein de l’Université. Il : </a:t>
            </a:r>
          </a:p>
          <a:p>
            <a:pPr marL="447675"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collecte des informations pour identifier les activités de traitement ; </a:t>
            </a:r>
          </a:p>
          <a:p>
            <a:pPr marL="447675"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analyse et vérifie la conformité des activités de traitement au RGPD ; </a:t>
            </a:r>
          </a:p>
          <a:p>
            <a:pPr marL="447675" marR="314325" indent="1270" algn="just">
              <a:lnSpc>
                <a:spcPct val="110000"/>
              </a:lnSpc>
              <a:spcAft>
                <a:spcPts val="1545"/>
              </a:spcAft>
            </a:pPr>
            <a:r>
              <a:rPr lang="fr-ML" sz="2400" dirty="0">
                <a:solidFill>
                  <a:srgbClr val="000000"/>
                </a:solidFill>
                <a:effectLst/>
                <a:latin typeface="Calibri" panose="020F0502020204030204" pitchFamily="34" charset="0"/>
                <a:ea typeface="Calibri" panose="020F0502020204030204" pitchFamily="34" charset="0"/>
              </a:rPr>
              <a:t>informe, conseille ou adresse des recommandations au responsable du traitement ou au sous-traitant. </a:t>
            </a:r>
          </a:p>
          <a:p>
            <a:pPr marL="225425" indent="-6350">
              <a:lnSpc>
                <a:spcPct val="107000"/>
              </a:lnSpc>
              <a:spcAft>
                <a:spcPts val="605"/>
              </a:spcAft>
            </a:pPr>
            <a:r>
              <a:rPr lang="fr-ML" sz="2400" b="1" dirty="0">
                <a:solidFill>
                  <a:schemeClr val="accent2"/>
                </a:solidFill>
                <a:latin typeface="Calibri" panose="020F0502020204030204" pitchFamily="34" charset="0"/>
              </a:rPr>
              <a:t>4.3. SIRT </a:t>
            </a:r>
          </a:p>
          <a:p>
            <a:pPr marL="227330" marR="314325" indent="1270" algn="just">
              <a:lnSpc>
                <a:spcPct val="110000"/>
              </a:lnSpc>
              <a:spcAft>
                <a:spcPts val="875"/>
              </a:spcAft>
            </a:pPr>
            <a:r>
              <a:rPr lang="fr-ML" sz="2400" dirty="0">
                <a:solidFill>
                  <a:srgbClr val="000000"/>
                </a:solidFill>
                <a:effectLst/>
                <a:latin typeface="Calibri" panose="020F0502020204030204" pitchFamily="34" charset="0"/>
                <a:ea typeface="Calibri" panose="020F0502020204030204" pitchFamily="34" charset="0"/>
              </a:rPr>
              <a:t>La Security Incident </a:t>
            </a:r>
            <a:r>
              <a:rPr lang="fr-ML" sz="2400" dirty="0" err="1">
                <a:solidFill>
                  <a:srgbClr val="000000"/>
                </a:solidFill>
                <a:effectLst/>
                <a:latin typeface="Calibri" panose="020F0502020204030204" pitchFamily="34" charset="0"/>
                <a:ea typeface="Calibri" panose="020F0502020204030204" pitchFamily="34" charset="0"/>
              </a:rPr>
              <a:t>Response</a:t>
            </a:r>
            <a:r>
              <a:rPr lang="fr-ML" sz="2400" dirty="0">
                <a:solidFill>
                  <a:srgbClr val="000000"/>
                </a:solidFill>
                <a:effectLst/>
                <a:latin typeface="Calibri" panose="020F0502020204030204" pitchFamily="34" charset="0"/>
                <a:ea typeface="Calibri" panose="020F0502020204030204" pitchFamily="34" charset="0"/>
              </a:rPr>
              <a:t> Team (SIRT) a pour mission le traitement des incidents présentant un niveau de risque élevé, conformément au processus de gestion adopté par l’institution. </a:t>
            </a:r>
          </a:p>
          <a:p>
            <a:pPr marL="227330" marR="314325" indent="1270" algn="just">
              <a:lnSpc>
                <a:spcPct val="110000"/>
              </a:lnSpc>
              <a:spcAft>
                <a:spcPts val="770"/>
              </a:spcAft>
            </a:pPr>
            <a:r>
              <a:rPr lang="fr-ML" sz="2400" dirty="0">
                <a:solidFill>
                  <a:srgbClr val="000000"/>
                </a:solidFill>
                <a:effectLst/>
                <a:latin typeface="Calibri" panose="020F0502020204030204" pitchFamily="34" charset="0"/>
                <a:ea typeface="Calibri" panose="020F0502020204030204" pitchFamily="34" charset="0"/>
              </a:rPr>
              <a:t>Elle collabore étroitement avec le RSSI qui est systématiquement consulté.  </a:t>
            </a:r>
          </a:p>
        </p:txBody>
      </p:sp>
    </p:spTree>
    <p:extLst>
      <p:ext uri="{BB962C8B-B14F-4D97-AF65-F5344CB8AC3E}">
        <p14:creationId xmlns:p14="http://schemas.microsoft.com/office/powerpoint/2010/main" val="2006329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15457"/>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736291"/>
            <a:ext cx="11889377" cy="6031779"/>
          </a:xfrm>
          <a:prstGeom prst="rect">
            <a:avLst/>
          </a:prstGeom>
          <a:noFill/>
        </p:spPr>
        <p:txBody>
          <a:bodyPr wrap="square" rtlCol="0">
            <a:spAutoFit/>
          </a:bodyPr>
          <a:lstStyle/>
          <a:p>
            <a:pPr marL="227330" marR="314325" indent="1270" algn="just">
              <a:lnSpc>
                <a:spcPct val="110000"/>
              </a:lnSpc>
              <a:spcAft>
                <a:spcPts val="775"/>
              </a:spcAft>
            </a:pPr>
            <a:r>
              <a:rPr lang="fr-ML" sz="2200" dirty="0">
                <a:solidFill>
                  <a:srgbClr val="000000"/>
                </a:solidFill>
                <a:effectLst/>
                <a:latin typeface="Calibri" panose="020F0502020204030204" pitchFamily="34" charset="0"/>
                <a:ea typeface="Calibri" panose="020F0502020204030204" pitchFamily="34" charset="0"/>
              </a:rPr>
              <a:t>La SIRT a autorité pour prendre les décisions qu’elle estime nécessaire afin de réduire les conséquences d’un incident. Les mesures et actions prises par la SIRT doivent être proportionnées, et la responsabilité des conséquences liées à celles-ci est assumée par l’institution. </a:t>
            </a:r>
          </a:p>
          <a:p>
            <a:pPr marL="227330" marR="314325" indent="1270" algn="just">
              <a:lnSpc>
                <a:spcPct val="110000"/>
              </a:lnSpc>
              <a:spcAft>
                <a:spcPts val="935"/>
              </a:spcAft>
            </a:pPr>
            <a:r>
              <a:rPr lang="fr-ML" sz="2200" dirty="0">
                <a:solidFill>
                  <a:srgbClr val="000000"/>
                </a:solidFill>
                <a:effectLst/>
                <a:latin typeface="Calibri" panose="020F0502020204030204" pitchFamily="34" charset="0"/>
                <a:ea typeface="Calibri" panose="020F0502020204030204" pitchFamily="34" charset="0"/>
              </a:rPr>
              <a:t>Il appartient à la SIRT : </a:t>
            </a:r>
          </a:p>
          <a:p>
            <a:pPr marL="228600" marR="314325" indent="1270" algn="just">
              <a:lnSpc>
                <a:spcPct val="110000"/>
              </a:lnSpc>
              <a:spcAft>
                <a:spcPts val="120"/>
              </a:spcAft>
            </a:pPr>
            <a:r>
              <a:rPr lang="fr-ML" sz="2200" dirty="0">
                <a:solidFill>
                  <a:srgbClr val="000000"/>
                </a:solidFill>
                <a:effectLst/>
                <a:latin typeface="Calibri" panose="020F0502020204030204" pitchFamily="34" charset="0"/>
                <a:ea typeface="Calibri" panose="020F0502020204030204" pitchFamily="34" charset="0"/>
              </a:rPr>
              <a:t>d’établir un plan de réponse; </a:t>
            </a:r>
          </a:p>
          <a:p>
            <a:pPr marL="228600" marR="314325" indent="1270" algn="just">
              <a:lnSpc>
                <a:spcPct val="110000"/>
              </a:lnSpc>
              <a:spcAft>
                <a:spcPts val="120"/>
              </a:spcAft>
            </a:pPr>
            <a:r>
              <a:rPr lang="fr-ML" sz="2200" dirty="0">
                <a:solidFill>
                  <a:srgbClr val="000000"/>
                </a:solidFill>
                <a:effectLst/>
                <a:latin typeface="Calibri" panose="020F0502020204030204" pitchFamily="34" charset="0"/>
                <a:ea typeface="Calibri" panose="020F0502020204030204" pitchFamily="34" charset="0"/>
              </a:rPr>
              <a:t>lorsque l’incident implique des données à caractère personnel, de se coordonner avec la CPDD -dont le DPO fait partie- conformément au processus institutionnel de gestion des incidents de sécurité ; </a:t>
            </a:r>
          </a:p>
          <a:p>
            <a:pPr marL="228600" marR="314325" indent="1270" algn="just">
              <a:lnSpc>
                <a:spcPct val="110000"/>
              </a:lnSpc>
              <a:spcAft>
                <a:spcPts val="120"/>
              </a:spcAft>
            </a:pPr>
            <a:r>
              <a:rPr lang="fr-ML" sz="2200" dirty="0">
                <a:solidFill>
                  <a:srgbClr val="000000"/>
                </a:solidFill>
                <a:effectLst/>
                <a:latin typeface="Calibri" panose="020F0502020204030204" pitchFamily="34" charset="0"/>
                <a:ea typeface="Calibri" panose="020F0502020204030204" pitchFamily="34" charset="0"/>
              </a:rPr>
              <a:t>d’avertir les autorités fédérales (FCCU ou </a:t>
            </a:r>
            <a:r>
              <a:rPr lang="fr-ML" sz="2200" dirty="0" err="1">
                <a:solidFill>
                  <a:srgbClr val="000000"/>
                </a:solidFill>
                <a:effectLst/>
                <a:latin typeface="Calibri" panose="020F0502020204030204" pitchFamily="34" charset="0"/>
                <a:ea typeface="Calibri" panose="020F0502020204030204" pitchFamily="34" charset="0"/>
              </a:rPr>
              <a:t>Federal</a:t>
            </a:r>
            <a:r>
              <a:rPr lang="fr-ML" sz="2200" dirty="0">
                <a:solidFill>
                  <a:srgbClr val="000000"/>
                </a:solidFill>
                <a:effectLst/>
                <a:latin typeface="Calibri" panose="020F0502020204030204" pitchFamily="34" charset="0"/>
                <a:ea typeface="Calibri" panose="020F0502020204030204" pitchFamily="34" charset="0"/>
              </a:rPr>
              <a:t> Computer Crime Unit) si elle l’estime nécessaire ou si la loi l’y contraint ; </a:t>
            </a:r>
          </a:p>
          <a:p>
            <a:pPr marL="228600" marR="314325" indent="1270" algn="just">
              <a:lnSpc>
                <a:spcPct val="110000"/>
              </a:lnSpc>
              <a:spcAft>
                <a:spcPts val="120"/>
              </a:spcAft>
            </a:pPr>
            <a:r>
              <a:rPr lang="fr-ML" sz="2200" dirty="0">
                <a:solidFill>
                  <a:srgbClr val="000000"/>
                </a:solidFill>
                <a:effectLst/>
                <a:latin typeface="Calibri" panose="020F0502020204030204" pitchFamily="34" charset="0"/>
                <a:ea typeface="Calibri" panose="020F0502020204030204" pitchFamily="34" charset="0"/>
              </a:rPr>
              <a:t>d’établir des liens et communiquer avec le CERT (Cyber Emergency </a:t>
            </a:r>
            <a:r>
              <a:rPr lang="fr-ML" sz="2200" dirty="0" err="1">
                <a:solidFill>
                  <a:srgbClr val="000000"/>
                </a:solidFill>
                <a:effectLst/>
                <a:latin typeface="Calibri" panose="020F0502020204030204" pitchFamily="34" charset="0"/>
                <a:ea typeface="Calibri" panose="020F0502020204030204" pitchFamily="34" charset="0"/>
              </a:rPr>
              <a:t>Response</a:t>
            </a:r>
            <a:r>
              <a:rPr lang="fr-ML" sz="2200" dirty="0">
                <a:solidFill>
                  <a:srgbClr val="000000"/>
                </a:solidFill>
                <a:effectLst/>
                <a:latin typeface="Calibri" panose="020F0502020204030204" pitchFamily="34" charset="0"/>
                <a:ea typeface="Calibri" panose="020F0502020204030204" pitchFamily="34" charset="0"/>
              </a:rPr>
              <a:t> Team) ; </a:t>
            </a:r>
          </a:p>
          <a:p>
            <a:pPr marL="228600" marR="314325" indent="1270" algn="just">
              <a:lnSpc>
                <a:spcPct val="110000"/>
              </a:lnSpc>
              <a:spcAft>
                <a:spcPts val="760"/>
              </a:spcAft>
            </a:pPr>
            <a:r>
              <a:rPr lang="fr-ML" sz="2200" dirty="0">
                <a:solidFill>
                  <a:srgbClr val="000000"/>
                </a:solidFill>
                <a:effectLst/>
                <a:latin typeface="Calibri" panose="020F0502020204030204" pitchFamily="34" charset="0"/>
                <a:ea typeface="Calibri" panose="020F0502020204030204" pitchFamily="34" charset="0"/>
              </a:rPr>
              <a:t>de consigner chaque incident dans le registre des incidents et proposer des améliorations pour les systèmes, les infrastructures ou les procédures. </a:t>
            </a:r>
          </a:p>
          <a:p>
            <a:pPr marL="228600" marR="314325" indent="1270" algn="just">
              <a:lnSpc>
                <a:spcPct val="110000"/>
              </a:lnSpc>
              <a:spcAft>
                <a:spcPts val="1555"/>
              </a:spcAft>
            </a:pPr>
            <a:r>
              <a:rPr lang="fr-ML" sz="2200" dirty="0">
                <a:solidFill>
                  <a:srgbClr val="000000"/>
                </a:solidFill>
                <a:effectLst/>
                <a:latin typeface="Calibri" panose="020F0502020204030204" pitchFamily="34" charset="0"/>
                <a:ea typeface="Calibri" panose="020F0502020204030204" pitchFamily="34" charset="0"/>
              </a:rPr>
              <a:t>En cas de nécessité, elle participe à la gestion de la communication interne et/ou externe sur les incidents.  </a:t>
            </a:r>
          </a:p>
        </p:txBody>
      </p:sp>
      <p:sp>
        <p:nvSpPr>
          <p:cNvPr id="2" name="ZoneTexte 1">
            <a:extLst>
              <a:ext uri="{FF2B5EF4-FFF2-40B4-BE49-F238E27FC236}">
                <a16:creationId xmlns:a16="http://schemas.microsoft.com/office/drawing/2014/main" id="{D6EC9FA6-9EA1-C4B4-9185-AA0939CF96B4}"/>
              </a:ext>
            </a:extLst>
          </p:cNvPr>
          <p:cNvSpPr txBox="1"/>
          <p:nvPr/>
        </p:nvSpPr>
        <p:spPr>
          <a:xfrm>
            <a:off x="568410" y="398417"/>
            <a:ext cx="2557849" cy="375552"/>
          </a:xfrm>
          <a:prstGeom prst="rect">
            <a:avLst/>
          </a:prstGeom>
          <a:noFill/>
        </p:spPr>
        <p:txBody>
          <a:bodyPr wrap="square" rtlCol="0">
            <a:spAutoFit/>
          </a:bodyPr>
          <a:lstStyle/>
          <a:p>
            <a:pPr marL="225425" indent="-6350">
              <a:lnSpc>
                <a:spcPct val="107000"/>
              </a:lnSpc>
              <a:spcAft>
                <a:spcPts val="605"/>
              </a:spcAft>
            </a:pPr>
            <a:r>
              <a:rPr lang="fr-ML" sz="1800" b="1" dirty="0">
                <a:solidFill>
                  <a:schemeClr val="accent2"/>
                </a:solidFill>
                <a:latin typeface="Calibri" panose="020F0502020204030204" pitchFamily="34" charset="0"/>
              </a:rPr>
              <a:t>4.3. SIRT …</a:t>
            </a:r>
          </a:p>
        </p:txBody>
      </p:sp>
    </p:spTree>
    <p:extLst>
      <p:ext uri="{BB962C8B-B14F-4D97-AF65-F5344CB8AC3E}">
        <p14:creationId xmlns:p14="http://schemas.microsoft.com/office/powerpoint/2010/main" val="142164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15457"/>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398417"/>
            <a:ext cx="11889377" cy="6113148"/>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4.4. COSI </a:t>
            </a:r>
          </a:p>
          <a:p>
            <a:pPr marL="227330" marR="314325" indent="1270" algn="just">
              <a:lnSpc>
                <a:spcPct val="110000"/>
              </a:lnSpc>
              <a:spcAft>
                <a:spcPts val="785"/>
              </a:spcAft>
            </a:pPr>
            <a:r>
              <a:rPr lang="fr-ML" sz="2000" dirty="0">
                <a:solidFill>
                  <a:srgbClr val="000000"/>
                </a:solidFill>
                <a:effectLst/>
                <a:latin typeface="Calibri" panose="020F0502020204030204" pitchFamily="34" charset="0"/>
                <a:ea typeface="Calibri" panose="020F0502020204030204" pitchFamily="34" charset="0"/>
              </a:rPr>
              <a:t>Le Comité de l’Organisation de la Sécurité Informatique (COSI) définit, améliore et encourage de façon continue les politique et stratégie de sécurité, qu’il porte devant le Conseil d’Administration le cas échéant. Il fixe en outre les standards de contrôle et de sécurité de l’information, basés sur les recommandations du RSSI. </a:t>
            </a:r>
          </a:p>
          <a:p>
            <a:pPr marL="227330" marR="314325" indent="1270" algn="just">
              <a:lnSpc>
                <a:spcPct val="110000"/>
              </a:lnSpc>
              <a:spcAft>
                <a:spcPts val="930"/>
              </a:spcAft>
            </a:pPr>
            <a:r>
              <a:rPr lang="fr-ML" sz="2000" dirty="0">
                <a:solidFill>
                  <a:srgbClr val="000000"/>
                </a:solidFill>
                <a:effectLst/>
                <a:latin typeface="Calibri" panose="020F0502020204030204" pitchFamily="34" charset="0"/>
                <a:ea typeface="Calibri" panose="020F0502020204030204" pitchFamily="34" charset="0"/>
              </a:rPr>
              <a:t>Le COSI regroupe les fonctions suivantes :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Directeur Général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Directeur du Département informatique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DPO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Adjoint du Président aux matières informatiques et numériques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Conseiller à la sécurité de l’information </a:t>
            </a:r>
          </a:p>
          <a:p>
            <a:pPr marL="790575" marR="314325" indent="-342900" algn="just">
              <a:lnSpc>
                <a:spcPct val="110000"/>
              </a:lnSpc>
              <a:spcAft>
                <a:spcPts val="76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Responsable communication DI </a:t>
            </a:r>
          </a:p>
          <a:p>
            <a:pPr marL="227330" marR="314325" indent="1270" algn="just">
              <a:lnSpc>
                <a:spcPct val="110000"/>
              </a:lnSpc>
              <a:spcAft>
                <a:spcPts val="780"/>
              </a:spcAft>
            </a:pPr>
            <a:r>
              <a:rPr lang="fr-ML" sz="2000" dirty="0">
                <a:solidFill>
                  <a:srgbClr val="000000"/>
                </a:solidFill>
                <a:effectLst/>
                <a:latin typeface="Calibri" panose="020F0502020204030204" pitchFamily="34" charset="0"/>
                <a:ea typeface="Calibri" panose="020F0502020204030204" pitchFamily="34" charset="0"/>
              </a:rPr>
              <a:t>Sa composition transversale permet de fluidifier la transmission de l’information vers les parties concernées, particulièrement dans les situations de crise. </a:t>
            </a:r>
          </a:p>
          <a:p>
            <a:pPr marL="227330" marR="314325" indent="1270" algn="just">
              <a:lnSpc>
                <a:spcPct val="110000"/>
              </a:lnSpc>
              <a:spcAft>
                <a:spcPts val="1580"/>
              </a:spcAft>
            </a:pPr>
            <a:r>
              <a:rPr lang="fr-ML" sz="2000" dirty="0">
                <a:solidFill>
                  <a:srgbClr val="000000"/>
                </a:solidFill>
                <a:effectLst/>
                <a:latin typeface="Calibri" panose="020F0502020204030204" pitchFamily="34" charset="0"/>
                <a:ea typeface="Calibri" panose="020F0502020204030204" pitchFamily="34" charset="0"/>
              </a:rPr>
              <a:t>L’impartialité des analyses et des recommandations du RSSI est garantie par son indépendance. Il est néanmoins étroitement associé aux activités du COSI. </a:t>
            </a:r>
          </a:p>
        </p:txBody>
      </p:sp>
    </p:spTree>
    <p:extLst>
      <p:ext uri="{BB962C8B-B14F-4D97-AF65-F5344CB8AC3E}">
        <p14:creationId xmlns:p14="http://schemas.microsoft.com/office/powerpoint/2010/main" val="2339049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15457"/>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0" y="398417"/>
            <a:ext cx="11889377" cy="5958234"/>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4.5. Référents sécurité </a:t>
            </a:r>
          </a:p>
          <a:p>
            <a:pPr marL="227330" marR="314325" indent="1270" algn="just">
              <a:lnSpc>
                <a:spcPct val="110000"/>
              </a:lnSpc>
              <a:spcAft>
                <a:spcPts val="940"/>
              </a:spcAft>
            </a:pPr>
            <a:r>
              <a:rPr lang="fr-ML" sz="2000" dirty="0">
                <a:solidFill>
                  <a:srgbClr val="000000"/>
                </a:solidFill>
                <a:effectLst/>
                <a:latin typeface="Calibri" panose="020F0502020204030204" pitchFamily="34" charset="0"/>
                <a:ea typeface="Calibri" panose="020F0502020204030204" pitchFamily="34" charset="0"/>
              </a:rPr>
              <a:t>Au sein de chaque entité informatique, y compris hors administration générale, un Référent sécurité est désigné, qui assure le rôle d’interface entre celle-ci et le RSSI. Celui-ci :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assume la responsabilité de la sécurité de l’information dans son périmètre technique ;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veille à l’application des procédures et standards de sécurité pour la partie technique de l’exploitation de systèmes, réseaux, postes de travail et applicatifs ;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assure une veille (faille de sécurité, vulnérabilité, exploitations des vulnérabilités, etc.…) dans son périmètre d’intervention afin de garantir le maintien du niveau de sécurité (postes de travail, systèmes, réseaux, etc…) ; </a:t>
            </a:r>
          </a:p>
          <a:p>
            <a:pPr marL="790575" marR="314325" indent="-342900" algn="just">
              <a:lnSpc>
                <a:spcPct val="110000"/>
              </a:lnSpc>
              <a:spcAft>
                <a:spcPts val="120"/>
              </a:spcAft>
              <a:buFont typeface="Wingdings" panose="05000000000000000000" pitchFamily="2" charset="2"/>
              <a:buChar char="v"/>
            </a:pPr>
            <a:r>
              <a:rPr lang="fr-ML" sz="2000" dirty="0">
                <a:solidFill>
                  <a:srgbClr val="000000"/>
                </a:solidFill>
                <a:effectLst/>
                <a:latin typeface="Calibri" panose="020F0502020204030204" pitchFamily="34" charset="0"/>
                <a:ea typeface="Calibri" panose="020F0502020204030204" pitchFamily="34" charset="0"/>
              </a:rPr>
              <a:t>s’assure de la sécurité des locaux techniques et des environnements de travail et signale toute anomalie à l’Administration générale conformément au processus de gestion des incidents. </a:t>
            </a:r>
          </a:p>
          <a:p>
            <a:pPr marL="227330" indent="1270" algn="l">
              <a:lnSpc>
                <a:spcPct val="107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 </a:t>
            </a:r>
          </a:p>
          <a:p>
            <a:pPr marL="227330" marR="314325" indent="1270" algn="just">
              <a:lnSpc>
                <a:spcPct val="110000"/>
              </a:lnSpc>
              <a:spcAft>
                <a:spcPts val="1555"/>
              </a:spcAft>
            </a:pPr>
            <a:r>
              <a:rPr lang="fr-ML" sz="2000" dirty="0">
                <a:solidFill>
                  <a:srgbClr val="000000"/>
                </a:solidFill>
                <a:effectLst/>
                <a:latin typeface="Calibri" panose="020F0502020204030204" pitchFamily="34" charset="0"/>
                <a:ea typeface="Calibri" panose="020F0502020204030204" pitchFamily="34" charset="0"/>
              </a:rPr>
              <a:t>Les Référents sécurité sont désignés par les organisations locales des entités. Leur identité est déclarée auprès de l’Administration générale et des autorités académiques et de recherche.  </a:t>
            </a:r>
          </a:p>
          <a:p>
            <a:pPr marL="227330" marR="579120">
              <a:lnSpc>
                <a:spcPct val="102000"/>
              </a:lnSpc>
            </a:pPr>
            <a:r>
              <a:rPr lang="fr-ML" sz="2000" dirty="0">
                <a:solidFill>
                  <a:srgbClr val="000000"/>
                </a:solidFill>
                <a:effectLst/>
                <a:latin typeface="Calibri" panose="020F0502020204030204" pitchFamily="34" charset="0"/>
                <a:ea typeface="Calibri" panose="020F0502020204030204" pitchFamily="34" charset="0"/>
              </a:rPr>
              <a:t>« Entité » désigne ici tant les services IT des administrations générale et facultaires que les structures organisationnelles dynamiques telles que des unités de recherche, équipes projet…  </a:t>
            </a:r>
            <a:r>
              <a:rPr lang="fr-ML" sz="2000" baseline="30000" dirty="0">
                <a:solidFill>
                  <a:srgbClr val="000000"/>
                </a:solidFill>
                <a:effectLst/>
                <a:latin typeface="Calibri" panose="020F0502020204030204" pitchFamily="34" charset="0"/>
                <a:ea typeface="Calibri" panose="020F0502020204030204" pitchFamily="34" charset="0"/>
              </a:rPr>
              <a:t>8</a:t>
            </a:r>
            <a:r>
              <a:rPr lang="fr-ML" sz="2000" dirty="0">
                <a:solidFill>
                  <a:srgbClr val="000000"/>
                </a:solidFill>
                <a:effectLst/>
                <a:latin typeface="Calibri" panose="020F0502020204030204" pitchFamily="34" charset="0"/>
                <a:ea typeface="Calibri" panose="020F0502020204030204" pitchFamily="34" charset="0"/>
              </a:rPr>
              <a:t> Voir annexes </a:t>
            </a:r>
          </a:p>
        </p:txBody>
      </p:sp>
    </p:spTree>
    <p:extLst>
      <p:ext uri="{BB962C8B-B14F-4D97-AF65-F5344CB8AC3E}">
        <p14:creationId xmlns:p14="http://schemas.microsoft.com/office/powerpoint/2010/main" val="1178046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51311" y="-215457"/>
            <a:ext cx="11889377" cy="1290418"/>
          </a:xfrm>
          <a:prstGeom prst="rect">
            <a:avLst/>
          </a:prstGeom>
          <a:noFill/>
        </p:spPr>
        <p:txBody>
          <a:bodyPr wrap="square" rtlCol="0">
            <a:spAutoFit/>
          </a:bodyPr>
          <a:lstStyle>
            <a:defPPr>
              <a:defRPr lang="en-US"/>
            </a:defPPr>
            <a:lvl1pPr>
              <a:defRPr sz="3600" b="1">
                <a:solidFill>
                  <a:schemeClr val="accent2"/>
                </a:solidFill>
                <a:latin typeface="Calibri" panose="020F0502020204030204" pitchFamily="34" charset="0"/>
              </a:defRPr>
            </a:lvl1pPr>
          </a:lstStyle>
          <a:p>
            <a:pPr marL="6350" indent="-6350">
              <a:lnSpc>
                <a:spcPct val="107000"/>
              </a:lnSpc>
              <a:spcAft>
                <a:spcPts val="415"/>
              </a:spcAft>
            </a:pPr>
            <a:r>
              <a:rPr lang="fr-ML" sz="2400" dirty="0"/>
              <a:t>4</a:t>
            </a:r>
            <a:r>
              <a:rPr lang="fr-ML" dirty="0"/>
              <a:t>. </a:t>
            </a:r>
            <a:r>
              <a:rPr lang="fr-ML" sz="2400" dirty="0"/>
              <a:t>Structure organisationnelle…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481914" y="1074961"/>
            <a:ext cx="9761838" cy="3808800"/>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4.6. Administrateurs systèmes </a:t>
            </a:r>
          </a:p>
          <a:p>
            <a:pPr marL="227330"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Les administrateurs systèmes sont autorisés à agir rapidement pour protéger la sécurité de leurs systèmes. Les actions de protection qu’ils entreprennent, en particulier celles ayant un impact direct sur leurs utilisateurs, doivent être proportionnées.  </a:t>
            </a:r>
          </a:p>
          <a:p>
            <a:pPr marL="227330" indent="1270" algn="l">
              <a:lnSpc>
                <a:spcPct val="107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 </a:t>
            </a:r>
          </a:p>
          <a:p>
            <a:pPr marL="227330"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Les administrateurs système doivent immédiatement signaler tout incident de sécurité à haut niveau de risque à la SIRT, conformément au processus de gestion des incidents de sécurité. </a:t>
            </a:r>
          </a:p>
        </p:txBody>
      </p:sp>
    </p:spTree>
    <p:extLst>
      <p:ext uri="{BB962C8B-B14F-4D97-AF65-F5344CB8AC3E}">
        <p14:creationId xmlns:p14="http://schemas.microsoft.com/office/powerpoint/2010/main" val="952823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410774"/>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1003928" y="-91671"/>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864896"/>
            <a:ext cx="9761838" cy="5439566"/>
          </a:xfrm>
          <a:prstGeom prst="rect">
            <a:avLst/>
          </a:prstGeom>
          <a:noFill/>
        </p:spPr>
        <p:txBody>
          <a:bodyPr wrap="square" rtlCol="0">
            <a:spAutoFit/>
          </a:bodyPr>
          <a:lstStyle/>
          <a:p>
            <a:pPr marL="228600" marR="144145" indent="1270" algn="l">
              <a:lnSpc>
                <a:spcPct val="106000"/>
              </a:lnSpc>
              <a:spcAft>
                <a:spcPts val="185"/>
              </a:spcAft>
            </a:pPr>
            <a:r>
              <a:rPr lang="fr-ML" sz="2400" b="1" dirty="0">
                <a:solidFill>
                  <a:schemeClr val="accent2"/>
                </a:solidFill>
                <a:latin typeface="Calibri" panose="020F0502020204030204" pitchFamily="34" charset="0"/>
              </a:rPr>
              <a:t>Phase d’établissement (PLAN) : </a:t>
            </a:r>
          </a:p>
          <a:p>
            <a:pPr marL="685800" marR="424815" indent="1270" algn="l">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définir la politique de sécurité et le périmètre du SMSI ; </a:t>
            </a:r>
          </a:p>
          <a:p>
            <a:pPr marL="685800" marR="424815" indent="1270" algn="l">
              <a:lnSpc>
                <a:spcPct val="120000"/>
              </a:lnSpc>
              <a:spcAft>
                <a:spcPts val="35"/>
              </a:spcAft>
            </a:pPr>
            <a:r>
              <a:rPr lang="fr-ML" sz="2000" dirty="0">
                <a:solidFill>
                  <a:srgbClr val="000000"/>
                </a:solidFill>
                <a:effectLst/>
                <a:latin typeface="Calibri" panose="020F0502020204030204" pitchFamily="34" charset="0"/>
                <a:ea typeface="Calibri" panose="020F0502020204030204" pitchFamily="34" charset="0"/>
              </a:rPr>
              <a:t>identifier et évaluer les risques liés à la sécurité et élaborer la politique de sécurité</a:t>
            </a:r>
          </a:p>
          <a:p>
            <a:pPr marL="685800" marR="424815" indent="1270" algn="l">
              <a:lnSpc>
                <a:spcPct val="120000"/>
              </a:lnSpc>
              <a:spcAft>
                <a:spcPts val="35"/>
              </a:spcAft>
            </a:pP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traiter le risque par un plan de gestion  et identifier le risque résiduel; </a:t>
            </a:r>
            <a:r>
              <a:rPr lang="fr-ML" sz="2000" dirty="0">
                <a:solidFill>
                  <a:srgbClr val="000000"/>
                </a:solidFill>
                <a:effectLst/>
                <a:latin typeface="Courier New" panose="02070309020205020404" pitchFamily="49" charset="0"/>
                <a:ea typeface="Courier New" panose="02070309020205020404" pitchFamily="49" charset="0"/>
              </a:rPr>
              <a:t>o</a:t>
            </a: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choisir les mesures de sécurité à mettre en place (voir ISO 27002) ; </a:t>
            </a:r>
          </a:p>
          <a:p>
            <a:pPr marL="255905" indent="1270" algn="l">
              <a:lnSpc>
                <a:spcPct val="107000"/>
              </a:lnSpc>
              <a:spcAft>
                <a:spcPts val="165"/>
              </a:spcAft>
            </a:pPr>
            <a:r>
              <a:rPr lang="fr-ML" sz="2000" dirty="0">
                <a:solidFill>
                  <a:srgbClr val="000000"/>
                </a:solidFill>
                <a:effectLst/>
                <a:latin typeface="Calibri" panose="020F0502020204030204" pitchFamily="34" charset="0"/>
                <a:ea typeface="Calibri" panose="020F0502020204030204" pitchFamily="34" charset="0"/>
              </a:rPr>
              <a:t> </a:t>
            </a:r>
            <a:endParaRPr lang="fr-ML" sz="2400" b="1" dirty="0">
              <a:solidFill>
                <a:schemeClr val="accent2"/>
              </a:solidFill>
              <a:latin typeface="Calibri" panose="020F0502020204030204" pitchFamily="34" charset="0"/>
            </a:endParaRPr>
          </a:p>
          <a:p>
            <a:pPr marL="228600" marR="144145" indent="1270" algn="l">
              <a:lnSpc>
                <a:spcPct val="106000"/>
              </a:lnSpc>
              <a:spcAft>
                <a:spcPts val="175"/>
              </a:spcAft>
            </a:pPr>
            <a:r>
              <a:rPr lang="fr-ML" sz="2400" b="1" dirty="0">
                <a:solidFill>
                  <a:schemeClr val="accent2"/>
                </a:solidFill>
                <a:latin typeface="Calibri" panose="020F0502020204030204" pitchFamily="34" charset="0"/>
              </a:rPr>
              <a:t>Phase d’implémentation (DO) : </a:t>
            </a:r>
          </a:p>
          <a:p>
            <a:pPr marL="971550" marR="42481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établir un plan de traitement des risques ; </a:t>
            </a:r>
          </a:p>
          <a:p>
            <a:pPr marL="971550" marR="42481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déployer les mesures de sécurité ; </a:t>
            </a:r>
            <a:r>
              <a:rPr lang="fr-ML" sz="2000" dirty="0">
                <a:solidFill>
                  <a:srgbClr val="000000"/>
                </a:solidFill>
                <a:effectLst/>
                <a:latin typeface="Courier New" panose="02070309020205020404" pitchFamily="49" charset="0"/>
                <a:ea typeface="Courier New" panose="02070309020205020404" pitchFamily="49" charset="0"/>
              </a:rPr>
              <a:t>o</a:t>
            </a: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générer des indicateurs : </a:t>
            </a:r>
          </a:p>
          <a:p>
            <a:pPr marL="971550" marR="42481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 performance pour savoir si les mesures de sécurité sont efficaces ; </a:t>
            </a:r>
          </a:p>
          <a:p>
            <a:pPr marL="971550" marR="42481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 conformité qui mesurent l’adéquation des mesures aux normes ; </a:t>
            </a:r>
            <a:endParaRPr lang="fr-ML" sz="2000" dirty="0">
              <a:solidFill>
                <a:srgbClr val="000000"/>
              </a:solidFill>
              <a:latin typeface="Courier New" panose="02070309020205020404" pitchFamily="49" charset="0"/>
              <a:ea typeface="Calibri" panose="020F0502020204030204" pitchFamily="34" charset="0"/>
            </a:endParaRPr>
          </a:p>
          <a:p>
            <a:pPr marL="971550" marR="42481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former et sensibiliser les membres de la communauté </a:t>
            </a:r>
          </a:p>
          <a:p>
            <a:pPr marL="685800" marR="424815" algn="l">
              <a:lnSpc>
                <a:spcPct val="120000"/>
              </a:lnSpc>
              <a:spcAft>
                <a:spcPts val="35"/>
              </a:spcAft>
            </a:pPr>
            <a:endParaRPr lang="fr-ML" sz="2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720996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410774"/>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27106" y="-129932"/>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315527"/>
            <a:ext cx="11757572" cy="6195029"/>
          </a:xfrm>
          <a:prstGeom prst="rect">
            <a:avLst/>
          </a:prstGeom>
          <a:noFill/>
        </p:spPr>
        <p:txBody>
          <a:bodyPr wrap="square" rtlCol="0">
            <a:spAutoFit/>
          </a:bodyPr>
          <a:lstStyle/>
          <a:p>
            <a:pPr marL="228600" marR="144145" indent="1270" algn="l">
              <a:lnSpc>
                <a:spcPct val="106000"/>
              </a:lnSpc>
              <a:spcAft>
                <a:spcPts val="15"/>
              </a:spcAft>
            </a:pPr>
            <a:r>
              <a:rPr lang="fr-ML" sz="2800" b="1" dirty="0">
                <a:solidFill>
                  <a:schemeClr val="accent2"/>
                </a:solidFill>
                <a:latin typeface="Calibri" panose="020F0502020204030204" pitchFamily="34" charset="0"/>
              </a:rPr>
              <a:t>Phase de maintien (CHECK) : </a:t>
            </a:r>
          </a:p>
          <a:p>
            <a:pPr marL="228600" marR="314325" indent="1270"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Cette phase consiste à gérer le SMSI au quotidien et à détecter les incidents en permanence pour y réagir rapidement. Trois outils pour détecter ces incidents : </a:t>
            </a:r>
          </a:p>
          <a:p>
            <a:pPr marL="51435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 contrôle interne, qui consiste à s’assurer en permanence que les processus fonctionnent normalement ; </a:t>
            </a:r>
          </a:p>
          <a:p>
            <a:pPr marL="51435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les audits, internes ou externes, qui vérifient la conformité et l’efficacité du système de management. Ces audits sont ponctuels et planifiés ; </a:t>
            </a:r>
          </a:p>
          <a:p>
            <a:pPr marL="51435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les revues (ou réexamens) qui garantissent périodiquement l’adéquation du SMSI avec son environnement ; </a:t>
            </a:r>
          </a:p>
          <a:p>
            <a:pPr marL="228600" indent="1270" algn="l">
              <a:lnSpc>
                <a:spcPct val="106000"/>
              </a:lnSpc>
              <a:spcAft>
                <a:spcPts val="15"/>
              </a:spcAft>
              <a:tabLst>
                <a:tab pos="260985" algn="ctr"/>
                <a:tab pos="1281430" algn="ctr"/>
              </a:tabLst>
            </a:pPr>
            <a:r>
              <a:rPr lang="fr-ML" sz="2800" b="1" dirty="0">
                <a:solidFill>
                  <a:schemeClr val="accent2"/>
                </a:solidFill>
                <a:latin typeface="Calibri" panose="020F0502020204030204" pitchFamily="34" charset="0"/>
              </a:rPr>
              <a:t>Phase d'amélioration (ACT) : </a:t>
            </a:r>
          </a:p>
          <a:p>
            <a:pPr marL="228600" marR="314325" indent="1270"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Il s’agit à cette étape de mettre en place des actions correctives, préventives ou d’amélioration pour les incidents et écarts constatés lors de la phase de maintien (Check) : </a:t>
            </a:r>
          </a:p>
          <a:p>
            <a:pPr marL="971550" marR="86169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actions correctives : agir sur les effets pour corriger les écarts ;</a:t>
            </a:r>
          </a:p>
          <a:p>
            <a:pPr marL="971550" marR="86169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actions préventives : agir sur les causes avant que l’incident ne se produise ;</a:t>
            </a:r>
          </a:p>
          <a:p>
            <a:pPr marL="971550" marR="86169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actions d’amélioration : améliorer la performance d’un processus du SMSI. </a:t>
            </a:r>
          </a:p>
          <a:p>
            <a:pPr marL="314325" indent="-285750" algn="l">
              <a:lnSpc>
                <a:spcPct val="107000"/>
              </a:lnSpc>
              <a:spcAft>
                <a:spcPts val="120"/>
              </a:spcAft>
              <a:buFont typeface="Arial" panose="020B0604020202020204" pitchFamily="34" charset="0"/>
              <a:buChar char="•"/>
            </a:pPr>
            <a:endParaRPr lang="fr-ML" sz="2000" dirty="0">
              <a:solidFill>
                <a:srgbClr val="000000"/>
              </a:solidFill>
              <a:effectLst/>
              <a:latin typeface="Calibri" panose="020F0502020204030204" pitchFamily="34" charset="0"/>
              <a:ea typeface="Calibri" panose="020F0502020204030204" pitchFamily="34" charset="0"/>
            </a:endParaRPr>
          </a:p>
          <a:p>
            <a:pPr marL="228600" marR="314325" indent="1270" algn="just">
              <a:lnSpc>
                <a:spcPct val="110000"/>
              </a:lnSpc>
              <a:spcAft>
                <a:spcPts val="1555"/>
              </a:spcAft>
            </a:pPr>
            <a:r>
              <a:rPr lang="fr-ML" sz="2000" dirty="0">
                <a:solidFill>
                  <a:srgbClr val="000000"/>
                </a:solidFill>
                <a:effectLst/>
                <a:latin typeface="Calibri" panose="020F0502020204030204" pitchFamily="34" charset="0"/>
                <a:ea typeface="Calibri" panose="020F0502020204030204" pitchFamily="34" charset="0"/>
              </a:rPr>
              <a:t>Cette démarche adopte une spirale évolutive continue : la fin d'un cycle entraîne le début d'un nouveau. </a:t>
            </a:r>
          </a:p>
        </p:txBody>
      </p:sp>
    </p:spTree>
    <p:extLst>
      <p:ext uri="{BB962C8B-B14F-4D97-AF65-F5344CB8AC3E}">
        <p14:creationId xmlns:p14="http://schemas.microsoft.com/office/powerpoint/2010/main" val="243363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410774"/>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844671" y="-48870"/>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187884"/>
            <a:ext cx="11757572" cy="2384051"/>
          </a:xfrm>
          <a:prstGeom prst="rect">
            <a:avLst/>
          </a:prstGeom>
          <a:noFill/>
        </p:spPr>
        <p:txBody>
          <a:bodyPr wrap="square" rtlCol="0">
            <a:spAutoFit/>
          </a:bodyPr>
          <a:lstStyle/>
          <a:p>
            <a:pPr marL="225425" indent="-6350">
              <a:lnSpc>
                <a:spcPct val="107000"/>
              </a:lnSpc>
              <a:spcAft>
                <a:spcPts val="1170"/>
              </a:spcAft>
            </a:pPr>
            <a:r>
              <a:rPr lang="fr-ML" sz="1800" b="1" dirty="0">
                <a:solidFill>
                  <a:srgbClr val="000000"/>
                </a:solidFill>
                <a:effectLst/>
                <a:latin typeface="Calibri" panose="020F0502020204030204" pitchFamily="34" charset="0"/>
                <a:ea typeface="Calibri" panose="020F0502020204030204" pitchFamily="34" charset="0"/>
              </a:rPr>
              <a:t>.</a:t>
            </a:r>
            <a:r>
              <a:rPr lang="fr-ML" sz="1800" b="1" dirty="0">
                <a:solidFill>
                  <a:srgbClr val="000000"/>
                </a:solidFill>
                <a:effectLst/>
                <a:latin typeface="Arial" panose="020B0604020202020204" pitchFamily="34" charset="0"/>
                <a:ea typeface="Arial" panose="020B0604020202020204" pitchFamily="34" charset="0"/>
              </a:rPr>
              <a:t> </a:t>
            </a:r>
            <a:r>
              <a:rPr lang="fr-ML" sz="2400" b="1" dirty="0">
                <a:solidFill>
                  <a:schemeClr val="accent2"/>
                </a:solidFill>
                <a:latin typeface="Calibri" panose="020F0502020204030204" pitchFamily="34" charset="0"/>
              </a:rPr>
              <a:t>Phase d’établissement (PLAN) </a:t>
            </a:r>
          </a:p>
          <a:p>
            <a:pPr marL="454025" marR="144145" indent="-6350">
              <a:lnSpc>
                <a:spcPct val="106000"/>
              </a:lnSpc>
              <a:spcAft>
                <a:spcPts val="815"/>
              </a:spcAft>
            </a:pPr>
            <a:r>
              <a:rPr lang="fr-ML" sz="2400" b="1" dirty="0">
                <a:solidFill>
                  <a:schemeClr val="accent2"/>
                </a:solidFill>
                <a:latin typeface="Calibri" panose="020F0502020204030204" pitchFamily="34" charset="0"/>
              </a:rPr>
              <a:t>5.1.1. Périmètre </a:t>
            </a:r>
          </a:p>
          <a:p>
            <a:pPr marL="447675"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La PSSI de la structure s’applique à l’ensemble des processus qui touchent aux missions fondamentales de structure, traitent de données à caractère personnel ou précieuses pour la structure ou mettent en œuvre des technologies TIC sujettes à la cybercriminalité. </a:t>
            </a:r>
          </a:p>
          <a:p>
            <a:pPr marL="228600" marR="314325" indent="1270" algn="just">
              <a:lnSpc>
                <a:spcPct val="110000"/>
              </a:lnSpc>
              <a:spcAft>
                <a:spcPts val="1555"/>
              </a:spcAft>
            </a:pPr>
            <a:r>
              <a:rPr lang="fr-ML" sz="2000" dirty="0">
                <a:solidFill>
                  <a:srgbClr val="000000"/>
                </a:solidFill>
                <a:effectLst/>
                <a:latin typeface="Calibri" panose="020F0502020204030204" pitchFamily="34" charset="0"/>
                <a:ea typeface="Calibri" panose="020F0502020204030204" pitchFamily="34" charset="0"/>
              </a:rPr>
              <a:t> </a:t>
            </a:r>
          </a:p>
        </p:txBody>
      </p:sp>
      <p:pic>
        <p:nvPicPr>
          <p:cNvPr id="3" name="Image 2">
            <a:extLst>
              <a:ext uri="{FF2B5EF4-FFF2-40B4-BE49-F238E27FC236}">
                <a16:creationId xmlns:a16="http://schemas.microsoft.com/office/drawing/2014/main" id="{3C881172-7C41-0AC7-7BA0-7007738A46E6}"/>
              </a:ext>
            </a:extLst>
          </p:cNvPr>
          <p:cNvPicPr>
            <a:picLocks noChangeAspect="1"/>
          </p:cNvPicPr>
          <p:nvPr/>
        </p:nvPicPr>
        <p:blipFill>
          <a:blip r:embed="rId3"/>
          <a:stretch>
            <a:fillRect/>
          </a:stretch>
        </p:blipFill>
        <p:spPr>
          <a:xfrm>
            <a:off x="2382197" y="2072321"/>
            <a:ext cx="8579194" cy="4785679"/>
          </a:xfrm>
          <a:prstGeom prst="rect">
            <a:avLst/>
          </a:prstGeom>
        </p:spPr>
      </p:pic>
    </p:spTree>
    <p:extLst>
      <p:ext uri="{BB962C8B-B14F-4D97-AF65-F5344CB8AC3E}">
        <p14:creationId xmlns:p14="http://schemas.microsoft.com/office/powerpoint/2010/main" val="3559999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410774"/>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805483" y="0"/>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315527"/>
            <a:ext cx="11757572" cy="6912983"/>
          </a:xfrm>
          <a:prstGeom prst="rect">
            <a:avLst/>
          </a:prstGeom>
          <a:noFill/>
        </p:spPr>
        <p:txBody>
          <a:bodyPr wrap="square" rtlCol="0">
            <a:spAutoFit/>
          </a:bodyPr>
          <a:lstStyle/>
          <a:p>
            <a:pPr marL="447675" marR="314325" indent="1270" algn="just">
              <a:lnSpc>
                <a:spcPct val="110000"/>
              </a:lnSpc>
              <a:spcAft>
                <a:spcPts val="1335"/>
              </a:spcAft>
            </a:pPr>
            <a:r>
              <a:rPr lang="fr-ML" sz="2000" dirty="0">
                <a:solidFill>
                  <a:srgbClr val="000000"/>
                </a:solidFill>
                <a:effectLst/>
                <a:latin typeface="Calibri" panose="020F0502020204030204" pitchFamily="34" charset="0"/>
                <a:ea typeface="Calibri" panose="020F0502020204030204" pitchFamily="34" charset="0"/>
              </a:rPr>
              <a:t>Ce périmètre est à considérer comme point de départ, à élargir à terme aux processus annexes. </a:t>
            </a:r>
          </a:p>
          <a:p>
            <a:pPr marL="454025" marR="144145" indent="-6350">
              <a:lnSpc>
                <a:spcPct val="106000"/>
              </a:lnSpc>
              <a:spcAft>
                <a:spcPts val="815"/>
              </a:spcAft>
            </a:pPr>
            <a:r>
              <a:rPr lang="fr-ML" sz="2000" b="1" dirty="0">
                <a:solidFill>
                  <a:schemeClr val="accent2"/>
                </a:solidFill>
                <a:latin typeface="Calibri" panose="020F0502020204030204" pitchFamily="34" charset="0"/>
              </a:rPr>
              <a:t>5.1.2. Registre institutionnel des actifs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Le registre institutionnel des actifs constitue un outil de contrôle central qui permet de rationaliser les ressources et d’en optimiser la maintenance (ex : mises à jour des systèmes d’exploitation). </a:t>
            </a:r>
          </a:p>
          <a:p>
            <a:pPr marL="447675" marR="314325" indent="1270" algn="just">
              <a:lnSpc>
                <a:spcPct val="110000"/>
              </a:lnSpc>
              <a:spcAft>
                <a:spcPts val="930"/>
              </a:spcAft>
            </a:pPr>
            <a:r>
              <a:rPr lang="fr-ML" sz="2000" dirty="0">
                <a:solidFill>
                  <a:srgbClr val="000000"/>
                </a:solidFill>
                <a:effectLst/>
                <a:latin typeface="Calibri" panose="020F0502020204030204" pitchFamily="34" charset="0"/>
                <a:ea typeface="Calibri" panose="020F0502020204030204" pitchFamily="34" charset="0"/>
              </a:rPr>
              <a:t>Chaque actif, ainsi que ses propriétés, doit y être consigné : </a:t>
            </a:r>
          </a:p>
          <a:p>
            <a:pPr marL="1028700" marR="314325" indent="-34290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propriétaire </a:t>
            </a:r>
          </a:p>
          <a:p>
            <a:pPr marL="1028700" marR="314325" indent="-34290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finalité </a:t>
            </a:r>
          </a:p>
          <a:p>
            <a:pPr marL="1028700" marR="314325" indent="-34290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localisation  </a:t>
            </a:r>
          </a:p>
          <a:p>
            <a:pPr marL="1028700" marR="314325" indent="-34290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niveau de classification </a:t>
            </a:r>
          </a:p>
          <a:p>
            <a:pPr marL="1028700" marR="314325" indent="-34290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utilisations appropriées </a:t>
            </a:r>
            <a:endParaRPr lang="fr-ML" sz="2000" dirty="0">
              <a:solidFill>
                <a:srgbClr val="000000"/>
              </a:solidFill>
              <a:latin typeface="Calibri" panose="020F0502020204030204" pitchFamily="34" charset="0"/>
              <a:ea typeface="Calibri" panose="020F0502020204030204" pitchFamily="34" charset="0"/>
            </a:endParaRPr>
          </a:p>
          <a:p>
            <a:pPr marL="685800"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L’inscription d’un actif au registre institutionnel doit être effectué par son responsable, métier ou technique. </a:t>
            </a:r>
          </a:p>
          <a:p>
            <a:pPr marL="447675" marR="314325" indent="1270"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Pour les actifs de type applicatif, il convient d’enregistrer également la catégorie de données selon la classification adoptée par l’institution . Celle-ci permet de s’assurer que l’information reçoive un niveau de protection adapté à son importance. En cas de doute, la classification attribuée doit être la plus restrictive. </a:t>
            </a:r>
          </a:p>
          <a:p>
            <a:pPr marL="227330">
              <a:lnSpc>
                <a:spcPct val="107000"/>
              </a:lnSpc>
            </a:pPr>
            <a:endParaRPr lang="fr-ML" sz="20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120"/>
              </a:spcAft>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778788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410774"/>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53232" y="-116870"/>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315527"/>
            <a:ext cx="11757572" cy="6175986"/>
          </a:xfrm>
          <a:prstGeom prst="rect">
            <a:avLst/>
          </a:prstGeom>
          <a:noFill/>
        </p:spPr>
        <p:txBody>
          <a:bodyPr wrap="square" rtlCol="0">
            <a:spAutoFit/>
          </a:bodyPr>
          <a:lstStyle/>
          <a:p>
            <a:pPr marL="463550" indent="-6350">
              <a:lnSpc>
                <a:spcPct val="106000"/>
              </a:lnSpc>
              <a:spcAft>
                <a:spcPts val="815"/>
              </a:spcAft>
              <a:tabLst>
                <a:tab pos="619760" algn="ctr"/>
                <a:tab pos="1598930" algn="ctr"/>
              </a:tabLst>
            </a:pPr>
            <a:r>
              <a:rPr lang="fr-ML" sz="2400" b="1" dirty="0">
                <a:solidFill>
                  <a:srgbClr val="000000"/>
                </a:solidFill>
                <a:latin typeface="Calibri" panose="020F0502020204030204" pitchFamily="34" charset="0"/>
                <a:ea typeface="Calibri" panose="020F0502020204030204" pitchFamily="34" charset="0"/>
              </a:rPr>
              <a:t>5</a:t>
            </a:r>
            <a:r>
              <a:rPr lang="fr-ML" sz="2400" b="1" dirty="0">
                <a:solidFill>
                  <a:srgbClr val="000000"/>
                </a:solidFill>
                <a:effectLst/>
                <a:latin typeface="Calibri" panose="020F0502020204030204" pitchFamily="34" charset="0"/>
                <a:ea typeface="Calibri" panose="020F0502020204030204" pitchFamily="34" charset="0"/>
              </a:rPr>
              <a:t>.1.3.	Analyse de vulnérabilité </a:t>
            </a:r>
          </a:p>
          <a:p>
            <a:pPr marL="447675" marR="314325" indent="1270" algn="just">
              <a:lnSpc>
                <a:spcPct val="110000"/>
              </a:lnSpc>
              <a:spcAft>
                <a:spcPts val="1330"/>
              </a:spcAft>
            </a:pPr>
            <a:r>
              <a:rPr lang="fr-ML" sz="2400" dirty="0">
                <a:solidFill>
                  <a:srgbClr val="000000"/>
                </a:solidFill>
                <a:effectLst/>
                <a:latin typeface="Calibri" panose="020F0502020204030204" pitchFamily="34" charset="0"/>
                <a:ea typeface="Calibri" panose="020F0502020204030204" pitchFamily="34" charset="0"/>
              </a:rPr>
              <a:t>Tous les systèmes doivent être soumis à des analyses de vulnérabilité régulières. Ces analyses peuvent être effectuées par du personnel qualifié de l’Université ou par des évaluateurs externes agréés. Les systèmes critiques de l'entreprise et les autres systèmes utilisés pour traiter ou stocker des données classées comme critiques doivent être soumis à des tests d’intrusion réguliers réalisés par un évaluateur agréé. </a:t>
            </a:r>
          </a:p>
          <a:p>
            <a:pPr marL="454025" marR="144145" indent="-6350">
              <a:lnSpc>
                <a:spcPct val="106000"/>
              </a:lnSpc>
              <a:spcAft>
                <a:spcPts val="815"/>
              </a:spcAft>
            </a:pPr>
            <a:r>
              <a:rPr lang="fr-ML" sz="2400" b="1" dirty="0">
                <a:solidFill>
                  <a:srgbClr val="000000"/>
                </a:solidFill>
                <a:effectLst/>
                <a:latin typeface="Calibri" panose="020F0502020204030204" pitchFamily="34" charset="0"/>
                <a:ea typeface="Calibri" panose="020F0502020204030204" pitchFamily="34" charset="0"/>
              </a:rPr>
              <a:t>5.1.4.</a:t>
            </a:r>
            <a:r>
              <a:rPr lang="fr-ML" sz="2400" b="1" dirty="0">
                <a:solidFill>
                  <a:srgbClr val="000000"/>
                </a:solidFill>
                <a:effectLst/>
                <a:latin typeface="Arial" panose="020B0604020202020204" pitchFamily="34" charset="0"/>
                <a:ea typeface="Arial" panose="020B0604020202020204" pitchFamily="34" charset="0"/>
              </a:rPr>
              <a:t> </a:t>
            </a:r>
            <a:r>
              <a:rPr lang="fr-ML" sz="2400" b="1" dirty="0">
                <a:solidFill>
                  <a:srgbClr val="000000"/>
                </a:solidFill>
                <a:effectLst/>
                <a:latin typeface="Calibri" panose="020F0502020204030204" pitchFamily="34" charset="0"/>
                <a:ea typeface="Calibri" panose="020F0502020204030204" pitchFamily="34" charset="0"/>
              </a:rPr>
              <a:t>Analyse de risques </a:t>
            </a:r>
          </a:p>
          <a:p>
            <a:pPr marL="447675" marR="314325" indent="1270" algn="just">
              <a:lnSpc>
                <a:spcPct val="110000"/>
              </a:lnSpc>
              <a:spcAft>
                <a:spcPts val="935"/>
              </a:spcAft>
            </a:pPr>
            <a:r>
              <a:rPr lang="fr-ML" sz="2400" dirty="0">
                <a:solidFill>
                  <a:srgbClr val="000000"/>
                </a:solidFill>
                <a:effectLst/>
                <a:latin typeface="Calibri" panose="020F0502020204030204" pitchFamily="34" charset="0"/>
                <a:ea typeface="Calibri" panose="020F0502020204030204" pitchFamily="34" charset="0"/>
              </a:rPr>
              <a:t>L’ensemble du périmètre du système d’information de l’Université doit faire l’objet d’analyses de risques périodiques, basées sur les échelles institutionnelles. Ces analyses relèvent de la responsabilité :  </a:t>
            </a:r>
          </a:p>
          <a:p>
            <a:pPr marL="570230" indent="-342900">
              <a:lnSpc>
                <a:spcPct val="107000"/>
              </a:lnSpc>
              <a:buFont typeface="Wingdings" panose="05000000000000000000" pitchFamily="2" charset="2"/>
              <a:buChar char="v"/>
            </a:pPr>
            <a:r>
              <a:rPr lang="fr-ML" sz="2400" dirty="0">
                <a:solidFill>
                  <a:srgbClr val="000000"/>
                </a:solidFill>
                <a:effectLst/>
                <a:latin typeface="Calibri" panose="020F0502020204030204" pitchFamily="34" charset="0"/>
                <a:ea typeface="Calibri" panose="020F0502020204030204" pitchFamily="34" charset="0"/>
              </a:rPr>
              <a:t>du service de gestion du réseau , pour les ressources transversales systèmes et réseaux LAN, WAN et Internet mises à disposition des membres de la communauté universitaire, des tiers et des contractants ; </a:t>
            </a:r>
          </a:p>
          <a:p>
            <a:pPr marL="227330">
              <a:lnSpc>
                <a:spcPct val="107000"/>
              </a:lnSpc>
            </a:pPr>
            <a:endParaRPr lang="fr-ML" sz="24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959507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870797" y="-74162"/>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315527"/>
            <a:ext cx="10552611" cy="5385705"/>
          </a:xfrm>
          <a:prstGeom prst="rect">
            <a:avLst/>
          </a:prstGeom>
          <a:noFill/>
        </p:spPr>
        <p:txBody>
          <a:bodyPr wrap="square" rtlCol="0">
            <a:spAutoFit/>
          </a:bodyPr>
          <a:lstStyle/>
          <a:p>
            <a:pPr marL="454025" marR="144145" indent="-6350">
              <a:lnSpc>
                <a:spcPct val="106000"/>
              </a:lnSpc>
              <a:spcAft>
                <a:spcPts val="815"/>
              </a:spcAft>
            </a:pPr>
            <a:r>
              <a:rPr lang="fr-ML" sz="2800" b="1" dirty="0">
                <a:solidFill>
                  <a:srgbClr val="000000"/>
                </a:solidFill>
                <a:effectLst/>
                <a:latin typeface="Calibri" panose="020F0502020204030204" pitchFamily="34" charset="0"/>
                <a:ea typeface="Calibri" panose="020F0502020204030204" pitchFamily="34" charset="0"/>
              </a:rPr>
              <a:t>5.1.4.</a:t>
            </a:r>
            <a:r>
              <a:rPr lang="fr-ML" sz="2800" b="1" dirty="0">
                <a:solidFill>
                  <a:srgbClr val="000000"/>
                </a:solidFill>
                <a:effectLst/>
                <a:latin typeface="Arial" panose="020B0604020202020204" pitchFamily="34" charset="0"/>
                <a:ea typeface="Arial" panose="020B0604020202020204" pitchFamily="34" charset="0"/>
              </a:rPr>
              <a:t> </a:t>
            </a:r>
            <a:r>
              <a:rPr lang="fr-ML" sz="2800" b="1" dirty="0">
                <a:solidFill>
                  <a:srgbClr val="000000"/>
                </a:solidFill>
                <a:effectLst/>
                <a:latin typeface="Calibri" panose="020F0502020204030204" pitchFamily="34" charset="0"/>
                <a:ea typeface="Calibri" panose="020F0502020204030204" pitchFamily="34" charset="0"/>
              </a:rPr>
              <a:t>Analyse de risques </a:t>
            </a:r>
          </a:p>
          <a:p>
            <a:pPr marL="962660" marR="314325" indent="-285750" algn="just">
              <a:lnSpc>
                <a:spcPct val="110000"/>
              </a:lnSpc>
              <a:spcAft>
                <a:spcPts val="120"/>
              </a:spcAft>
              <a:buFont typeface="Wingdings" panose="05000000000000000000" pitchFamily="2" charset="2"/>
              <a:buChar char="v"/>
            </a:pPr>
            <a:r>
              <a:rPr lang="fr-ML" sz="2400" dirty="0">
                <a:solidFill>
                  <a:srgbClr val="000000"/>
                </a:solidFill>
                <a:effectLst/>
                <a:latin typeface="Calibri" panose="020F0502020204030204" pitchFamily="34" charset="0"/>
                <a:ea typeface="Calibri" panose="020F0502020204030204" pitchFamily="34" charset="0"/>
              </a:rPr>
              <a:t>des services informatiques centraux ou décentralisés, pour : </a:t>
            </a:r>
          </a:p>
          <a:p>
            <a:pPr marL="1421130" marR="314325" indent="-285750" algn="just">
              <a:lnSpc>
                <a:spcPct val="110000"/>
              </a:lnSpc>
              <a:spcAft>
                <a:spcPts val="12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les équipements et ressources informatiques mis à disposition des membres de la communauté universitaire ou de tiers dans le cadre de prestations contractuelles  ; </a:t>
            </a:r>
          </a:p>
          <a:p>
            <a:pPr marL="1421130" marR="314325" indent="-285750" algn="just">
              <a:lnSpc>
                <a:spcPct val="110000"/>
              </a:lnSpc>
              <a:spcAft>
                <a:spcPts val="12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les locaux techniques (salles informatiques, …) ; </a:t>
            </a:r>
          </a:p>
          <a:p>
            <a:pPr marL="962660" marR="314325" indent="-285750" algn="just">
              <a:lnSpc>
                <a:spcPct val="110000"/>
              </a:lnSpc>
              <a:spcAft>
                <a:spcPts val="12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des propriétaires de données, pour les applicatifs métiers mis à disposition des membres de la communauté universitaire ; </a:t>
            </a:r>
          </a:p>
          <a:p>
            <a:pPr marL="962660" marR="314325" indent="-285750" algn="just">
              <a:lnSpc>
                <a:spcPct val="110000"/>
              </a:lnSpc>
              <a:spcAft>
                <a:spcPts val="12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des Responsables hiérarchiques, pour le personnel IT ; </a:t>
            </a:r>
          </a:p>
          <a:p>
            <a:pPr marL="962660" marR="314325" indent="-285750" algn="just">
              <a:lnSpc>
                <a:spcPct val="110000"/>
              </a:lnSpc>
              <a:spcAft>
                <a:spcPts val="1335"/>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du Service Delivery Manager, pour les utilisateurs finaux du système d’information </a:t>
            </a:r>
          </a:p>
          <a:p>
            <a:pPr marL="227330">
              <a:lnSpc>
                <a:spcPct val="107000"/>
              </a:lnSpc>
            </a:pPr>
            <a:endParaRPr lang="fr-ML" sz="2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86046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79358" y="-103807"/>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302623" y="315527"/>
            <a:ext cx="10552611" cy="5603585"/>
          </a:xfrm>
          <a:prstGeom prst="rect">
            <a:avLst/>
          </a:prstGeom>
          <a:noFill/>
        </p:spPr>
        <p:txBody>
          <a:bodyPr wrap="square" rtlCol="0">
            <a:spAutoFit/>
          </a:bodyPr>
          <a:lstStyle/>
          <a:p>
            <a:pPr marL="890905" marR="144145" indent="-443230">
              <a:lnSpc>
                <a:spcPct val="106000"/>
              </a:lnSpc>
              <a:spcAft>
                <a:spcPts val="815"/>
              </a:spcAft>
            </a:pPr>
            <a:r>
              <a:rPr lang="fr-ML" sz="2000" b="1" dirty="0">
                <a:solidFill>
                  <a:srgbClr val="000000"/>
                </a:solidFill>
                <a:latin typeface="Calibri" panose="020F0502020204030204" pitchFamily="34" charset="0"/>
                <a:ea typeface="Calibri" panose="020F0502020204030204" pitchFamily="34" charset="0"/>
              </a:rPr>
              <a:t>5</a:t>
            </a:r>
            <a:r>
              <a:rPr lang="fr-ML" sz="2000" b="1" dirty="0">
                <a:solidFill>
                  <a:srgbClr val="000000"/>
                </a:solidFill>
                <a:effectLst/>
                <a:latin typeface="Calibri" panose="020F0502020204030204" pitchFamily="34" charset="0"/>
                <a:ea typeface="Calibri" panose="020F0502020204030204" pitchFamily="34" charset="0"/>
              </a:rPr>
              <a:t>.1.5.</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Plan de gestion : choix du mode de traitement du risque et identification du risque </a:t>
            </a:r>
          </a:p>
          <a:p>
            <a:pPr marL="890905" marR="144145" indent="-443230">
              <a:lnSpc>
                <a:spcPct val="106000"/>
              </a:lnSpc>
              <a:spcAft>
                <a:spcPts val="815"/>
              </a:spcAft>
            </a:pPr>
            <a:r>
              <a:rPr lang="fr-ML" sz="2000" b="1" dirty="0">
                <a:solidFill>
                  <a:srgbClr val="000000"/>
                </a:solidFill>
                <a:effectLst/>
                <a:latin typeface="Calibri" panose="020F0502020204030204" pitchFamily="34" charset="0"/>
                <a:ea typeface="Calibri" panose="020F0502020204030204" pitchFamily="34" charset="0"/>
              </a:rPr>
              <a:t>résiduel </a:t>
            </a:r>
          </a:p>
          <a:p>
            <a:pPr marL="447675" marR="314325" indent="1270" algn="just">
              <a:lnSpc>
                <a:spcPct val="110000"/>
              </a:lnSpc>
              <a:spcAft>
                <a:spcPts val="950"/>
              </a:spcAft>
            </a:pPr>
            <a:r>
              <a:rPr lang="fr-ML" sz="2000" dirty="0">
                <a:solidFill>
                  <a:srgbClr val="000000"/>
                </a:solidFill>
                <a:effectLst/>
                <a:latin typeface="Calibri" panose="020F0502020204030204" pitchFamily="34" charset="0"/>
                <a:ea typeface="Calibri" panose="020F0502020204030204" pitchFamily="34" charset="0"/>
              </a:rPr>
              <a:t>Le plan de gestion L’</a:t>
            </a:r>
            <a:r>
              <a:rPr lang="fr-ML" sz="2000" dirty="0" err="1">
                <a:solidFill>
                  <a:srgbClr val="000000"/>
                </a:solidFill>
                <a:effectLst/>
                <a:latin typeface="Calibri" panose="020F0502020204030204" pitchFamily="34" charset="0"/>
                <a:ea typeface="Calibri" panose="020F0502020204030204" pitchFamily="34" charset="0"/>
              </a:rPr>
              <a:t>universite</a:t>
            </a:r>
            <a:r>
              <a:rPr lang="fr-ML" sz="2000" dirty="0">
                <a:solidFill>
                  <a:srgbClr val="000000"/>
                </a:solidFill>
                <a:effectLst/>
                <a:latin typeface="Calibri" panose="020F0502020204030204" pitchFamily="34" charset="0"/>
                <a:ea typeface="Calibri" panose="020F0502020204030204" pitchFamily="34" charset="0"/>
              </a:rPr>
              <a:t> applique le modèle du « 4 T’s process » . Selon les cas, le RSSI recommande : </a:t>
            </a:r>
          </a:p>
          <a:p>
            <a:pPr marL="96266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 transférer le risque, lorsque l’institution ne peut pas faire y face par ses propres moyens (ex : souscription d’une assurance ou contrat de sous-traitances) </a:t>
            </a:r>
            <a:r>
              <a:rPr lang="fr-ML" sz="2000" dirty="0">
                <a:solidFill>
                  <a:srgbClr val="000000"/>
                </a:solidFill>
                <a:effectLst/>
                <a:latin typeface="Wingdings" panose="05000000000000000000" pitchFamily="2" charset="2"/>
                <a:ea typeface="Wingdings" panose="05000000000000000000" pitchFamily="2" charset="2"/>
                <a:cs typeface="Wingdings" panose="05000000000000000000" pitchFamily="2" charset="2"/>
              </a:rPr>
              <a:t>à</a:t>
            </a:r>
            <a:r>
              <a:rPr lang="fr-ML" sz="2000" dirty="0">
                <a:solidFill>
                  <a:srgbClr val="000000"/>
                </a:solidFill>
                <a:effectLst/>
                <a:latin typeface="Calibri" panose="020F0502020204030204" pitchFamily="34" charset="0"/>
                <a:ea typeface="Calibri" panose="020F0502020204030204" pitchFamily="34" charset="0"/>
              </a:rPr>
              <a:t> « </a:t>
            </a:r>
            <a:r>
              <a:rPr lang="fr-ML" sz="2000" b="1" dirty="0">
                <a:solidFill>
                  <a:srgbClr val="000000"/>
                </a:solidFill>
                <a:effectLst/>
                <a:latin typeface="Calibri" panose="020F0502020204030204" pitchFamily="34" charset="0"/>
                <a:ea typeface="Calibri" panose="020F0502020204030204" pitchFamily="34" charset="0"/>
              </a:rPr>
              <a:t>Transfer</a:t>
            </a:r>
            <a:r>
              <a:rPr lang="fr-ML" sz="2000" dirty="0">
                <a:solidFill>
                  <a:srgbClr val="000000"/>
                </a:solidFill>
                <a:effectLst/>
                <a:latin typeface="Calibri" panose="020F0502020204030204" pitchFamily="34" charset="0"/>
                <a:ea typeface="Calibri" panose="020F0502020204030204" pitchFamily="34" charset="0"/>
              </a:rPr>
              <a:t> » ; </a:t>
            </a:r>
          </a:p>
          <a:p>
            <a:pPr marL="96266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d’accepter le risque, si la survenance de celui-ci entraîne des répercussions acceptables pour l’institution </a:t>
            </a:r>
            <a:r>
              <a:rPr lang="fr-ML" sz="2000" dirty="0">
                <a:solidFill>
                  <a:srgbClr val="000000"/>
                </a:solidFill>
                <a:effectLst/>
                <a:latin typeface="Wingdings" panose="05000000000000000000" pitchFamily="2" charset="2"/>
                <a:ea typeface="Wingdings" panose="05000000000000000000" pitchFamily="2" charset="2"/>
                <a:cs typeface="Wingdings" panose="05000000000000000000" pitchFamily="2" charset="2"/>
              </a:rPr>
              <a:t>à</a:t>
            </a:r>
            <a:r>
              <a:rPr lang="fr-ML" sz="2000" dirty="0">
                <a:solidFill>
                  <a:srgbClr val="000000"/>
                </a:solidFill>
                <a:effectLst/>
                <a:latin typeface="Calibri" panose="020F0502020204030204" pitchFamily="34" charset="0"/>
                <a:ea typeface="Calibri" panose="020F0502020204030204" pitchFamily="34" charset="0"/>
              </a:rPr>
              <a:t> « </a:t>
            </a:r>
            <a:r>
              <a:rPr lang="fr-ML" sz="2000" b="1" dirty="0" err="1">
                <a:solidFill>
                  <a:srgbClr val="000000"/>
                </a:solidFill>
                <a:effectLst/>
                <a:latin typeface="Calibri" panose="020F0502020204030204" pitchFamily="34" charset="0"/>
                <a:ea typeface="Calibri" panose="020F0502020204030204" pitchFamily="34" charset="0"/>
              </a:rPr>
              <a:t>Tolerate</a:t>
            </a:r>
            <a:r>
              <a:rPr lang="fr-ML" sz="2000" dirty="0">
                <a:solidFill>
                  <a:srgbClr val="000000"/>
                </a:solidFill>
                <a:effectLst/>
                <a:latin typeface="Calibri" panose="020F0502020204030204" pitchFamily="34" charset="0"/>
                <a:ea typeface="Calibri" panose="020F0502020204030204" pitchFamily="34" charset="0"/>
              </a:rPr>
              <a:t> » ; </a:t>
            </a:r>
          </a:p>
          <a:p>
            <a:pPr marL="96266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 réduire le risque, de façon à le rendre acceptable </a:t>
            </a:r>
            <a:r>
              <a:rPr lang="fr-ML" sz="2000" dirty="0">
                <a:solidFill>
                  <a:srgbClr val="000000"/>
                </a:solidFill>
                <a:effectLst/>
                <a:latin typeface="Wingdings" panose="05000000000000000000" pitchFamily="2" charset="2"/>
                <a:ea typeface="Wingdings" panose="05000000000000000000" pitchFamily="2" charset="2"/>
                <a:cs typeface="Wingdings" panose="05000000000000000000" pitchFamily="2" charset="2"/>
              </a:rPr>
              <a:t>à</a:t>
            </a:r>
            <a:r>
              <a:rPr lang="fr-ML" sz="2000" dirty="0">
                <a:solidFill>
                  <a:srgbClr val="000000"/>
                </a:solidFill>
                <a:effectLst/>
                <a:latin typeface="Calibri" panose="020F0502020204030204" pitchFamily="34" charset="0"/>
                <a:ea typeface="Calibri" panose="020F0502020204030204" pitchFamily="34" charset="0"/>
              </a:rPr>
              <a:t> « </a:t>
            </a:r>
            <a:r>
              <a:rPr lang="fr-ML" sz="2000" b="1" dirty="0" err="1">
                <a:solidFill>
                  <a:srgbClr val="000000"/>
                </a:solidFill>
                <a:effectLst/>
                <a:latin typeface="Calibri" panose="020F0502020204030204" pitchFamily="34" charset="0"/>
                <a:ea typeface="Calibri" panose="020F0502020204030204" pitchFamily="34" charset="0"/>
              </a:rPr>
              <a:t>Treat</a:t>
            </a:r>
            <a:r>
              <a:rPr lang="fr-ML" sz="2000" dirty="0">
                <a:solidFill>
                  <a:srgbClr val="000000"/>
                </a:solidFill>
                <a:effectLst/>
                <a:latin typeface="Calibri" panose="020F0502020204030204" pitchFamily="34" charset="0"/>
                <a:ea typeface="Calibri" panose="020F0502020204030204" pitchFamily="34" charset="0"/>
              </a:rPr>
              <a:t> » ; </a:t>
            </a:r>
          </a:p>
          <a:p>
            <a:pPr marL="962660" marR="314325" indent="-285750" algn="just">
              <a:lnSpc>
                <a:spcPct val="110000"/>
              </a:lnSpc>
              <a:spcAft>
                <a:spcPts val="75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d’éviter le risque, lorsque les conséquences d’une attaque sont jugées trop périlleuses pour l’institution </a:t>
            </a:r>
            <a:r>
              <a:rPr lang="fr-ML" sz="2000" dirty="0">
                <a:solidFill>
                  <a:srgbClr val="000000"/>
                </a:solidFill>
                <a:effectLst/>
                <a:latin typeface="Wingdings" panose="05000000000000000000" pitchFamily="2" charset="2"/>
                <a:ea typeface="Wingdings" panose="05000000000000000000" pitchFamily="2" charset="2"/>
                <a:cs typeface="Wingdings" panose="05000000000000000000" pitchFamily="2" charset="2"/>
              </a:rPr>
              <a:t>à</a:t>
            </a:r>
            <a:r>
              <a:rPr lang="fr-ML" sz="2000" dirty="0">
                <a:solidFill>
                  <a:srgbClr val="000000"/>
                </a:solidFill>
                <a:effectLst/>
                <a:latin typeface="Calibri" panose="020F0502020204030204" pitchFamily="34" charset="0"/>
                <a:ea typeface="Calibri" panose="020F0502020204030204" pitchFamily="34" charset="0"/>
              </a:rPr>
              <a:t> « </a:t>
            </a:r>
            <a:r>
              <a:rPr lang="fr-ML" sz="2000" b="1" dirty="0" err="1">
                <a:solidFill>
                  <a:srgbClr val="000000"/>
                </a:solidFill>
                <a:effectLst/>
                <a:latin typeface="Calibri" panose="020F0502020204030204" pitchFamily="34" charset="0"/>
                <a:ea typeface="Calibri" panose="020F0502020204030204" pitchFamily="34" charset="0"/>
              </a:rPr>
              <a:t>Terminate</a:t>
            </a:r>
            <a:r>
              <a:rPr lang="fr-ML" sz="2000" dirty="0">
                <a:solidFill>
                  <a:srgbClr val="000000"/>
                </a:solidFill>
                <a:effectLst/>
                <a:latin typeface="Calibri" panose="020F0502020204030204" pitchFamily="34" charset="0"/>
                <a:ea typeface="Calibri" panose="020F0502020204030204" pitchFamily="34" charset="0"/>
              </a:rPr>
              <a:t> ». </a:t>
            </a:r>
          </a:p>
          <a:p>
            <a:pPr marL="447675" marR="314325" algn="just">
              <a:lnSpc>
                <a:spcPct val="110000"/>
              </a:lnSpc>
              <a:spcAft>
                <a:spcPts val="830"/>
              </a:spcAft>
            </a:pPr>
            <a:r>
              <a:rPr lang="fr-ML" sz="2000" dirty="0">
                <a:solidFill>
                  <a:srgbClr val="000000"/>
                </a:solidFill>
                <a:effectLst/>
                <a:latin typeface="Calibri" panose="020F0502020204030204" pitchFamily="34" charset="0"/>
                <a:ea typeface="Calibri" panose="020F0502020204030204" pitchFamily="34" charset="0"/>
              </a:rPr>
              <a:t>Les risques résiduels -c’est-à-dire ceux qui persistent après la mise en place des mesures de sécurité- doivent eux aussi être pris en compte. Des mesures complémentaires de protection doivent être appliquées pour les rendre acceptables. </a:t>
            </a:r>
          </a:p>
        </p:txBody>
      </p:sp>
    </p:spTree>
    <p:extLst>
      <p:ext uri="{BB962C8B-B14F-4D97-AF65-F5344CB8AC3E}">
        <p14:creationId xmlns:p14="http://schemas.microsoft.com/office/powerpoint/2010/main" val="1216768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929641" y="905199"/>
            <a:ext cx="8632371" cy="5047600"/>
          </a:xfrm>
          <a:prstGeom prst="rect">
            <a:avLst/>
          </a:prstGeom>
          <a:noFill/>
        </p:spPr>
        <p:txBody>
          <a:bodyPr wrap="square" rtlCol="0">
            <a:spAutoFit/>
          </a:bodyPr>
          <a:lstStyle/>
          <a:p>
            <a:pPr marL="463550" indent="-6350">
              <a:lnSpc>
                <a:spcPct val="106000"/>
              </a:lnSpc>
              <a:spcAft>
                <a:spcPts val="815"/>
              </a:spcAft>
              <a:tabLst>
                <a:tab pos="619760" algn="ctr"/>
                <a:tab pos="1878965" algn="ctr"/>
              </a:tabLst>
            </a:pPr>
            <a:r>
              <a:rPr lang="fr-ML" sz="2800" b="1" dirty="0">
                <a:solidFill>
                  <a:srgbClr val="000000"/>
                </a:solidFill>
                <a:latin typeface="Calibri" panose="020F0502020204030204" pitchFamily="34" charset="0"/>
                <a:ea typeface="Calibri" panose="020F0502020204030204" pitchFamily="34" charset="0"/>
              </a:rPr>
              <a:t>5</a:t>
            </a:r>
            <a:r>
              <a:rPr lang="fr-ML" sz="2800" b="1" dirty="0">
                <a:solidFill>
                  <a:srgbClr val="000000"/>
                </a:solidFill>
                <a:effectLst/>
                <a:latin typeface="Calibri" panose="020F0502020204030204" pitchFamily="34" charset="0"/>
                <a:ea typeface="Calibri" panose="020F0502020204030204" pitchFamily="34" charset="0"/>
              </a:rPr>
              <a:t>.1.6.	Sélection des mesures de sécurité </a:t>
            </a:r>
          </a:p>
          <a:p>
            <a:pPr marL="685800" marR="314325" indent="1270" algn="just">
              <a:lnSpc>
                <a:spcPct val="110000"/>
              </a:lnSpc>
              <a:spcAft>
                <a:spcPts val="940"/>
              </a:spcAft>
            </a:pPr>
            <a:r>
              <a:rPr lang="fr-ML" sz="2800" dirty="0">
                <a:solidFill>
                  <a:srgbClr val="000000"/>
                </a:solidFill>
                <a:effectLst/>
                <a:latin typeface="Calibri" panose="020F0502020204030204" pitchFamily="34" charset="0"/>
                <a:ea typeface="Calibri" panose="020F0502020204030204" pitchFamily="34" charset="0"/>
              </a:rPr>
              <a:t>Il convient à cette étape : </a:t>
            </a:r>
          </a:p>
          <a:p>
            <a:pPr marL="971550" marR="314325" indent="-285750" algn="just">
              <a:lnSpc>
                <a:spcPct val="110000"/>
              </a:lnSpc>
              <a:spcAft>
                <a:spcPts val="120"/>
              </a:spcAft>
              <a:buFont typeface="Arial" panose="020B0604020202020204" pitchFamily="34" charset="0"/>
              <a:buChar char="•"/>
            </a:pPr>
            <a:r>
              <a:rPr lang="fr-ML" sz="2800" dirty="0">
                <a:solidFill>
                  <a:srgbClr val="000000"/>
                </a:solidFill>
                <a:effectLst/>
                <a:latin typeface="Calibri" panose="020F0502020204030204" pitchFamily="34" charset="0"/>
                <a:ea typeface="Calibri" panose="020F0502020204030204" pitchFamily="34" charset="0"/>
              </a:rPr>
              <a:t>d’identifier les mesures de sécurité -nécessaires, suffisantes et proportionnées- à mettre en place ; </a:t>
            </a:r>
          </a:p>
          <a:p>
            <a:pPr marL="971550" marR="314325" indent="-285750" algn="just">
              <a:lnSpc>
                <a:spcPct val="110000"/>
              </a:lnSpc>
              <a:spcAft>
                <a:spcPts val="120"/>
              </a:spcAft>
              <a:buFont typeface="Arial" panose="020B0604020202020204" pitchFamily="34" charset="0"/>
              <a:buChar char="•"/>
            </a:pPr>
            <a:r>
              <a:rPr lang="fr-ML" sz="2800" dirty="0">
                <a:solidFill>
                  <a:srgbClr val="000000"/>
                </a:solidFill>
                <a:effectLst/>
                <a:latin typeface="Calibri" panose="020F0502020204030204" pitchFamily="34" charset="0"/>
                <a:ea typeface="Calibri" panose="020F0502020204030204" pitchFamily="34" charset="0"/>
              </a:rPr>
              <a:t>de réunir les intervenants internes et/ou externes ; </a:t>
            </a:r>
          </a:p>
          <a:p>
            <a:pPr marL="971550" marR="314325" indent="-285750" algn="just">
              <a:lnSpc>
                <a:spcPct val="110000"/>
              </a:lnSpc>
              <a:spcAft>
                <a:spcPts val="120"/>
              </a:spcAft>
              <a:buFont typeface="Arial" panose="020B0604020202020204" pitchFamily="34" charset="0"/>
              <a:buChar char="•"/>
            </a:pPr>
            <a:r>
              <a:rPr lang="fr-ML" sz="2800" dirty="0">
                <a:solidFill>
                  <a:srgbClr val="000000"/>
                </a:solidFill>
                <a:effectLst/>
                <a:latin typeface="Calibri" panose="020F0502020204030204" pitchFamily="34" charset="0"/>
                <a:ea typeface="Calibri" panose="020F0502020204030204" pitchFamily="34" charset="0"/>
              </a:rPr>
              <a:t>d’identifier, d’analyser et de sélectionner les solutions ; </a:t>
            </a:r>
          </a:p>
          <a:p>
            <a:pPr marL="971550" marR="314325" indent="-285750" algn="just">
              <a:lnSpc>
                <a:spcPct val="110000"/>
              </a:lnSpc>
              <a:spcAft>
                <a:spcPts val="1555"/>
              </a:spcAft>
              <a:buFont typeface="Arial" panose="020B0604020202020204" pitchFamily="34" charset="0"/>
              <a:buChar char="•"/>
            </a:pPr>
            <a:r>
              <a:rPr lang="fr-ML" sz="2800" dirty="0">
                <a:solidFill>
                  <a:srgbClr val="000000"/>
                </a:solidFill>
                <a:effectLst/>
                <a:latin typeface="Calibri" panose="020F0502020204030204" pitchFamily="34" charset="0"/>
                <a:ea typeface="Calibri" panose="020F0502020204030204" pitchFamily="34" charset="0"/>
              </a:rPr>
              <a:t>de consigner les points susmentionnés dans un rapport. </a:t>
            </a:r>
          </a:p>
        </p:txBody>
      </p:sp>
    </p:spTree>
    <p:extLst>
      <p:ext uri="{BB962C8B-B14F-4D97-AF65-F5344CB8AC3E}">
        <p14:creationId xmlns:p14="http://schemas.microsoft.com/office/powerpoint/2010/main" val="9829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290418"/>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Système de gestion de la sécurité de l’information (SMSI) </a:t>
            </a:r>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1732945" y="1290418"/>
            <a:ext cx="8090323" cy="4172040"/>
          </a:xfrm>
          <a:prstGeom prst="rect">
            <a:avLst/>
          </a:prstGeom>
          <a:noFill/>
        </p:spPr>
        <p:txBody>
          <a:bodyPr wrap="square" rtlCol="0">
            <a:spAutoFit/>
          </a:bodyPr>
          <a:lstStyle/>
          <a:p>
            <a:pPr marL="463550" indent="-6350">
              <a:lnSpc>
                <a:spcPct val="106000"/>
              </a:lnSpc>
              <a:spcAft>
                <a:spcPts val="815"/>
              </a:spcAft>
              <a:tabLst>
                <a:tab pos="619760" algn="ctr"/>
                <a:tab pos="1878965" algn="ctr"/>
              </a:tabLst>
            </a:pPr>
            <a:endParaRPr lang="fr-ML" sz="2800" dirty="0">
              <a:solidFill>
                <a:srgbClr val="000000"/>
              </a:solidFill>
              <a:effectLst/>
              <a:latin typeface="Calibri" panose="020F0502020204030204" pitchFamily="34" charset="0"/>
              <a:ea typeface="Calibri" panose="020F0502020204030204" pitchFamily="34" charset="0"/>
            </a:endParaRPr>
          </a:p>
          <a:p>
            <a:pPr marL="225425" indent="-6350">
              <a:lnSpc>
                <a:spcPct val="107000"/>
              </a:lnSpc>
              <a:spcAft>
                <a:spcPts val="1185"/>
              </a:spcAft>
            </a:pPr>
            <a:r>
              <a:rPr lang="fr-ML" sz="2800" dirty="0">
                <a:solidFill>
                  <a:srgbClr val="000000"/>
                </a:solidFill>
                <a:latin typeface="Calibri" panose="020F0502020204030204" pitchFamily="34" charset="0"/>
                <a:ea typeface="Calibri" panose="020F0502020204030204" pitchFamily="34" charset="0"/>
              </a:rPr>
              <a:t>5</a:t>
            </a:r>
            <a:r>
              <a:rPr lang="fr-ML" sz="2800" dirty="0">
                <a:solidFill>
                  <a:srgbClr val="000000"/>
                </a:solidFill>
                <a:effectLst/>
                <a:latin typeface="Calibri" panose="020F0502020204030204" pitchFamily="34" charset="0"/>
                <a:ea typeface="Calibri" panose="020F0502020204030204" pitchFamily="34" charset="0"/>
              </a:rPr>
              <a:t>.2.</a:t>
            </a:r>
            <a:r>
              <a:rPr lang="fr-ML" sz="2800" dirty="0">
                <a:solidFill>
                  <a:srgbClr val="000000"/>
                </a:solidFill>
                <a:effectLst/>
                <a:latin typeface="Arial" panose="020B0604020202020204" pitchFamily="34" charset="0"/>
                <a:ea typeface="Arial" panose="020B0604020202020204" pitchFamily="34" charset="0"/>
              </a:rPr>
              <a:t> </a:t>
            </a:r>
            <a:r>
              <a:rPr lang="fr-ML" sz="2800" dirty="0">
                <a:solidFill>
                  <a:srgbClr val="000000"/>
                </a:solidFill>
                <a:effectLst/>
                <a:latin typeface="Calibri" panose="020F0502020204030204" pitchFamily="34" charset="0"/>
                <a:ea typeface="Calibri" panose="020F0502020204030204" pitchFamily="34" charset="0"/>
              </a:rPr>
              <a:t>Phase d’implémentation (DO) </a:t>
            </a:r>
          </a:p>
          <a:p>
            <a:pPr marL="454025" marR="144145" indent="-6350">
              <a:lnSpc>
                <a:spcPct val="106000"/>
              </a:lnSpc>
              <a:spcAft>
                <a:spcPts val="815"/>
              </a:spcAft>
            </a:pPr>
            <a:r>
              <a:rPr lang="fr-ML" sz="2800" dirty="0">
                <a:solidFill>
                  <a:srgbClr val="000000"/>
                </a:solidFill>
                <a:latin typeface="Calibri" panose="020F0502020204030204" pitchFamily="34" charset="0"/>
                <a:ea typeface="Calibri" panose="020F0502020204030204" pitchFamily="34" charset="0"/>
              </a:rPr>
              <a:t>5</a:t>
            </a:r>
            <a:r>
              <a:rPr lang="fr-ML" sz="2800" dirty="0">
                <a:solidFill>
                  <a:srgbClr val="000000"/>
                </a:solidFill>
                <a:effectLst/>
                <a:latin typeface="Calibri" panose="020F0502020204030204" pitchFamily="34" charset="0"/>
                <a:ea typeface="Calibri" panose="020F0502020204030204" pitchFamily="34" charset="0"/>
              </a:rPr>
              <a:t>.2.1.</a:t>
            </a:r>
            <a:r>
              <a:rPr lang="fr-ML" sz="2800" dirty="0">
                <a:solidFill>
                  <a:srgbClr val="000000"/>
                </a:solidFill>
                <a:effectLst/>
                <a:latin typeface="Arial" panose="020B0604020202020204" pitchFamily="34" charset="0"/>
                <a:ea typeface="Arial" panose="020B0604020202020204" pitchFamily="34" charset="0"/>
              </a:rPr>
              <a:t> </a:t>
            </a:r>
            <a:r>
              <a:rPr lang="fr-ML" sz="2800" dirty="0">
                <a:solidFill>
                  <a:srgbClr val="000000"/>
                </a:solidFill>
                <a:effectLst/>
                <a:latin typeface="Calibri" panose="020F0502020204030204" pitchFamily="34" charset="0"/>
                <a:ea typeface="Calibri" panose="020F0502020204030204" pitchFamily="34" charset="0"/>
              </a:rPr>
              <a:t>Plan d’actions : traitement du risque </a:t>
            </a:r>
          </a:p>
          <a:p>
            <a:pPr marL="447675" marR="314325" indent="1270" algn="just">
              <a:lnSpc>
                <a:spcPct val="110000"/>
              </a:lnSpc>
              <a:spcAft>
                <a:spcPts val="1335"/>
              </a:spcAft>
            </a:pPr>
            <a:r>
              <a:rPr lang="fr-ML" sz="2800" dirty="0">
                <a:solidFill>
                  <a:srgbClr val="000000"/>
                </a:solidFill>
                <a:effectLst/>
                <a:latin typeface="Calibri" panose="020F0502020204030204" pitchFamily="34" charset="0"/>
                <a:ea typeface="Calibri" panose="020F0502020204030204" pitchFamily="34" charset="0"/>
              </a:rPr>
              <a:t>Le plan d’actions consiste à détailler l’organisation à mettre en place en vue du déploiement des solutions sélectionnées à l’étape précédente. Il définit les actions à entreprendre ainsi que les responsabilités. </a:t>
            </a:r>
          </a:p>
        </p:txBody>
      </p:sp>
    </p:spTree>
    <p:extLst>
      <p:ext uri="{BB962C8B-B14F-4D97-AF65-F5344CB8AC3E}">
        <p14:creationId xmlns:p14="http://schemas.microsoft.com/office/powerpoint/2010/main" val="4136276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362937"/>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2. Phase d’implémentation (DO) </a:t>
            </a:r>
          </a:p>
          <a:p>
            <a:endParaRPr lang="fr-ML" dirty="0"/>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766294" y="645209"/>
            <a:ext cx="10959736" cy="5755935"/>
          </a:xfrm>
          <a:prstGeom prst="rect">
            <a:avLst/>
          </a:prstGeom>
          <a:noFill/>
        </p:spPr>
        <p:txBody>
          <a:bodyPr wrap="square" rtlCol="0">
            <a:spAutoFit/>
          </a:bodyPr>
          <a:lstStyle/>
          <a:p>
            <a:pPr marL="447675" marR="2469515" indent="1270" algn="just">
              <a:lnSpc>
                <a:spcPct val="166000"/>
              </a:lnSpc>
              <a:spcAft>
                <a:spcPts val="120"/>
              </a:spcAft>
            </a:pPr>
            <a:r>
              <a:rPr lang="fr-ML" sz="2000" b="1" dirty="0">
                <a:solidFill>
                  <a:srgbClr val="000000"/>
                </a:solidFill>
                <a:effectLst/>
                <a:latin typeface="Calibri" panose="020F0502020204030204" pitchFamily="34" charset="0"/>
                <a:ea typeface="Calibri" panose="020F0502020204030204" pitchFamily="34" charset="0"/>
              </a:rPr>
              <a:t>5.2.2.</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Déploiement des mesures de sécurité  </a:t>
            </a:r>
          </a:p>
          <a:p>
            <a:pPr marL="447675" marR="2469515" indent="1270" algn="just">
              <a:lnSpc>
                <a:spcPct val="166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Le déploiement des mesures de sécurité met en œuvre: </a:t>
            </a:r>
          </a:p>
          <a:p>
            <a:pPr marL="96266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des moyens techniques, tels que : </a:t>
            </a:r>
          </a:p>
          <a:p>
            <a:pPr marL="971550" marR="314325" indent="-285750" algn="l">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 contrôle des accès au système d'information ; </a:t>
            </a:r>
          </a:p>
          <a:p>
            <a:pPr marL="971550" marR="314325" indent="-285750" algn="l">
              <a:lnSpc>
                <a:spcPct val="110000"/>
              </a:lnSpc>
              <a:spcAft>
                <a:spcPts val="120"/>
              </a:spcAft>
              <a:buFont typeface="Arial" panose="020B0604020202020204" pitchFamily="34" charset="0"/>
              <a:buChar char="•"/>
            </a:pP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la surveillance du réseau : système de détection d'intrusion… ; </a:t>
            </a:r>
          </a:p>
          <a:p>
            <a:pPr marL="971550" marR="314325" indent="-285750" algn="l">
              <a:lnSpc>
                <a:spcPct val="110000"/>
              </a:lnSpc>
              <a:spcAft>
                <a:spcPts val="120"/>
              </a:spcAft>
              <a:buFont typeface="Arial" panose="020B0604020202020204" pitchFamily="34" charset="0"/>
              <a:buChar char="•"/>
            </a:pP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la sécurité applicative : séparation des privilèges, audit de code, rétroingénierie, mises à jours conformément aux exigences ou recommandations des fournisseurs de logiciels ; </a:t>
            </a:r>
          </a:p>
          <a:p>
            <a:pPr marL="971550" marR="314325" indent="-285750" algn="l">
              <a:lnSpc>
                <a:spcPct val="107000"/>
              </a:lnSpc>
              <a:spcAft>
                <a:spcPts val="3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l’emploi de technologies ad hoc : pare-feu, UTM, anti-logiciels malveillants </a:t>
            </a:r>
          </a:p>
          <a:p>
            <a:pPr marL="97155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(antivirus, anti-spam, anti-logiciel espion) ; </a:t>
            </a:r>
          </a:p>
          <a:p>
            <a:pPr marL="1657350"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la cryptographie : authentification forte, infrastructure à clés publiques, chiffrement ; </a:t>
            </a:r>
          </a:p>
          <a:p>
            <a:pPr marL="971550" marR="314325" indent="-285750" algn="l">
              <a:lnSpc>
                <a:spcPct val="120000"/>
              </a:lnSpc>
              <a:spcAft>
                <a:spcPts val="3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 plan de continuité d'activité : sauvegarde et restauration de données, plan de reprise d'activité ; </a:t>
            </a:r>
            <a:r>
              <a:rPr lang="fr-ML" sz="2000" dirty="0">
                <a:solidFill>
                  <a:srgbClr val="000000"/>
                </a:solidFill>
                <a:effectLst/>
                <a:latin typeface="Arial" panose="020B0604020202020204" pitchFamily="34" charset="0"/>
                <a:ea typeface="Arial" panose="020B0604020202020204" pitchFamily="34" charset="0"/>
              </a:rPr>
              <a:t> </a:t>
            </a:r>
            <a:r>
              <a:rPr lang="fr-ML" sz="2000" dirty="0">
                <a:solidFill>
                  <a:srgbClr val="000000"/>
                </a:solidFill>
                <a:effectLst/>
                <a:latin typeface="Calibri" panose="020F0502020204030204" pitchFamily="34" charset="0"/>
                <a:ea typeface="Calibri" panose="020F0502020204030204" pitchFamily="34" charset="0"/>
              </a:rPr>
              <a:t>… </a:t>
            </a:r>
          </a:p>
          <a:p>
            <a:pPr marL="971550" marR="314325" indent="-285750" algn="just">
              <a:lnSpc>
                <a:spcPct val="110000"/>
              </a:lnSpc>
              <a:spcAft>
                <a:spcPts val="75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des moyens humains, dont principalement la sensibilisation/formation du public concerné. </a:t>
            </a:r>
          </a:p>
          <a:p>
            <a:pPr marL="447675" marR="314325" indent="1270" algn="just">
              <a:lnSpc>
                <a:spcPct val="110000"/>
              </a:lnSpc>
              <a:spcAft>
                <a:spcPts val="1350"/>
              </a:spcAft>
            </a:pPr>
            <a:r>
              <a:rPr lang="fr-ML" sz="2000" dirty="0">
                <a:solidFill>
                  <a:srgbClr val="000000"/>
                </a:solidFill>
                <a:effectLst/>
                <a:latin typeface="Calibri" panose="020F0502020204030204" pitchFamily="34" charset="0"/>
                <a:ea typeface="Calibri" panose="020F0502020204030204" pitchFamily="34" charset="0"/>
              </a:rPr>
              <a:t>L’équipe en charge de l’implémentation peut bénéficier sur demande de l’assistance et du conseil du RSSI. </a:t>
            </a:r>
          </a:p>
        </p:txBody>
      </p:sp>
    </p:spTree>
    <p:extLst>
      <p:ext uri="{BB962C8B-B14F-4D97-AF65-F5344CB8AC3E}">
        <p14:creationId xmlns:p14="http://schemas.microsoft.com/office/powerpoint/2010/main" val="843161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362937"/>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2. Phase d’implémentation (DO) </a:t>
            </a:r>
          </a:p>
          <a:p>
            <a:endParaRPr lang="fr-ML" dirty="0"/>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616132" y="398417"/>
            <a:ext cx="10959736" cy="6312241"/>
          </a:xfrm>
          <a:prstGeom prst="rect">
            <a:avLst/>
          </a:prstGeom>
          <a:noFill/>
        </p:spPr>
        <p:txBody>
          <a:bodyPr wrap="square" rtlCol="0">
            <a:spAutoFit/>
          </a:bodyPr>
          <a:lstStyle/>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5</a:t>
            </a:r>
            <a:r>
              <a:rPr lang="fr-ML" sz="1800" b="1" dirty="0">
                <a:solidFill>
                  <a:srgbClr val="000000"/>
                </a:solidFill>
                <a:effectLst/>
                <a:latin typeface="Calibri" panose="020F0502020204030204" pitchFamily="34" charset="0"/>
                <a:ea typeface="Calibri" panose="020F0502020204030204" pitchFamily="34" charset="0"/>
              </a:rPr>
              <a:t>.2.3.</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Vérification de la sécurité </a:t>
            </a:r>
          </a:p>
          <a:p>
            <a:pPr marL="455930" marR="312420" indent="-6350" algn="l">
              <a:lnSpc>
                <a:spcPct val="120000"/>
              </a:lnSpc>
              <a:spcAft>
                <a:spcPts val="660"/>
              </a:spcAft>
            </a:pPr>
            <a:r>
              <a:rPr lang="fr-ML" sz="1800" dirty="0">
                <a:solidFill>
                  <a:srgbClr val="000000"/>
                </a:solidFill>
                <a:effectLst/>
                <a:latin typeface="Calibri" panose="020F0502020204030204" pitchFamily="34" charset="0"/>
                <a:ea typeface="Calibri" panose="020F0502020204030204" pitchFamily="34" charset="0"/>
              </a:rPr>
              <a:t>Le RSSI a pour charge la vérification régulière de la sécurité du système d’information. A cette fin, il fait usage d’indicateurs de performance mesurant l’efficacité des solutions implémentées. </a:t>
            </a:r>
          </a:p>
          <a:p>
            <a:pPr marL="447675" marR="314325" indent="1270" algn="just">
              <a:lnSpc>
                <a:spcPct val="110000"/>
              </a:lnSpc>
              <a:spcAft>
                <a:spcPts val="840"/>
              </a:spcAft>
            </a:pPr>
            <a:r>
              <a:rPr lang="fr-ML" sz="1800" dirty="0">
                <a:solidFill>
                  <a:srgbClr val="000000"/>
                </a:solidFill>
                <a:effectLst/>
                <a:latin typeface="Calibri" panose="020F0502020204030204" pitchFamily="34" charset="0"/>
                <a:ea typeface="Calibri" panose="020F0502020204030204" pitchFamily="34" charset="0"/>
              </a:rPr>
              <a:t>Le RSSI vérifie également la conformité aux normes des mesures de sécurité. </a:t>
            </a:r>
          </a:p>
          <a:p>
            <a:pPr marL="227330" indent="1270" algn="l">
              <a:lnSpc>
                <a:spcPct val="107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 	</a:t>
            </a:r>
            <a:r>
              <a:rPr lang="fr-ML" sz="1800" b="1" dirty="0">
                <a:solidFill>
                  <a:srgbClr val="000000"/>
                </a:solidFill>
                <a:effectLst/>
                <a:latin typeface="Calibri" panose="020F0502020204030204" pitchFamily="34" charset="0"/>
                <a:ea typeface="Calibri" panose="020F0502020204030204" pitchFamily="34" charset="0"/>
              </a:rPr>
              <a:t> </a:t>
            </a:r>
            <a:endParaRPr lang="fr-ML" sz="1800" dirty="0">
              <a:solidFill>
                <a:srgbClr val="000000"/>
              </a:solidFill>
              <a:effectLst/>
              <a:latin typeface="Calibri" panose="020F0502020204030204" pitchFamily="34" charset="0"/>
              <a:ea typeface="Calibri" panose="020F0502020204030204" pitchFamily="34" charset="0"/>
            </a:endParaRPr>
          </a:p>
          <a:p>
            <a:pPr marL="463550" indent="-6350">
              <a:lnSpc>
                <a:spcPct val="106000"/>
              </a:lnSpc>
              <a:spcAft>
                <a:spcPts val="815"/>
              </a:spcAft>
              <a:tabLst>
                <a:tab pos="619760" algn="ctr"/>
                <a:tab pos="2060575" algn="ctr"/>
              </a:tabLst>
            </a:pPr>
            <a:r>
              <a:rPr lang="fr-ML" sz="1800" b="0" dirty="0">
                <a:solidFill>
                  <a:srgbClr val="000000"/>
                </a:solidFill>
                <a:effectLst/>
                <a:latin typeface="Calibri" panose="020F0502020204030204" pitchFamily="34" charset="0"/>
                <a:ea typeface="Calibri" panose="020F0502020204030204" pitchFamily="34" charset="0"/>
              </a:rPr>
              <a:t>	</a:t>
            </a:r>
            <a:r>
              <a:rPr lang="fr-ML" b="1" dirty="0">
                <a:solidFill>
                  <a:srgbClr val="000000"/>
                </a:solidFill>
                <a:latin typeface="Calibri" panose="020F0502020204030204" pitchFamily="34" charset="0"/>
                <a:ea typeface="Calibri" panose="020F0502020204030204" pitchFamily="34" charset="0"/>
              </a:rPr>
              <a:t>5</a:t>
            </a:r>
            <a:r>
              <a:rPr lang="fr-ML" sz="1800" b="1" dirty="0">
                <a:solidFill>
                  <a:srgbClr val="000000"/>
                </a:solidFill>
                <a:effectLst/>
                <a:latin typeface="Calibri" panose="020F0502020204030204" pitchFamily="34" charset="0"/>
                <a:ea typeface="Calibri" panose="020F0502020204030204" pitchFamily="34" charset="0"/>
              </a:rPr>
              <a:t>.2.4.	Gestion des incidents de sécurité avérés </a:t>
            </a:r>
          </a:p>
          <a:p>
            <a:pPr marL="447675" marR="314325" indent="1270" algn="just">
              <a:lnSpc>
                <a:spcPct val="110000"/>
              </a:lnSpc>
              <a:spcAft>
                <a:spcPts val="1430"/>
              </a:spcAft>
            </a:pPr>
            <a:r>
              <a:rPr lang="fr-ML" sz="1800" dirty="0">
                <a:solidFill>
                  <a:srgbClr val="000000"/>
                </a:solidFill>
                <a:effectLst/>
                <a:latin typeface="Calibri" panose="020F0502020204030204" pitchFamily="34" charset="0"/>
                <a:ea typeface="Calibri" panose="020F0502020204030204" pitchFamily="34" charset="0"/>
              </a:rPr>
              <a:t>La gestion des incidents de sécurité s’effectue conformément au processus de gestion des incidents de sécurité adopté par la structure. </a:t>
            </a:r>
          </a:p>
          <a:p>
            <a:pPr indent="1270" algn="l">
              <a:lnSpc>
                <a:spcPct val="107000"/>
              </a:lnSpc>
              <a:spcAft>
                <a:spcPts val="805"/>
              </a:spcAft>
              <a:tabLst>
                <a:tab pos="898525" algn="ctr"/>
                <a:tab pos="2065655" algn="ctr"/>
              </a:tabLst>
            </a:pPr>
            <a:r>
              <a:rPr lang="fr-ML" sz="1800" dirty="0">
                <a:solidFill>
                  <a:srgbClr val="3E4B70"/>
                </a:solidFill>
                <a:effectLst/>
                <a:latin typeface="Calibri" panose="020F0502020204030204" pitchFamily="34" charset="0"/>
                <a:ea typeface="Calibri" panose="020F0502020204030204" pitchFamily="34" charset="0"/>
              </a:rPr>
              <a:t>5.2.4.1.</a:t>
            </a:r>
            <a:r>
              <a:rPr lang="fr-ML" sz="1800" dirty="0">
                <a:solidFill>
                  <a:srgbClr val="3E4B70"/>
                </a:solidFill>
                <a:effectLst/>
                <a:latin typeface="Arial" panose="020B0604020202020204" pitchFamily="34" charset="0"/>
                <a:ea typeface="Arial" panose="020B0604020202020204" pitchFamily="34" charset="0"/>
              </a:rPr>
              <a:t> 	</a:t>
            </a:r>
            <a:r>
              <a:rPr lang="fr-ML" sz="2000" dirty="0">
                <a:solidFill>
                  <a:srgbClr val="3E4B70"/>
                </a:solidFill>
                <a:effectLst/>
                <a:latin typeface="Calibri" panose="020F0502020204030204" pitchFamily="34" charset="0"/>
                <a:ea typeface="Calibri" panose="020F0502020204030204" pitchFamily="34" charset="0"/>
              </a:rPr>
              <a:t>Détection et signalement </a:t>
            </a:r>
            <a:endParaRPr lang="fr-ML" sz="18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950"/>
              </a:spcAft>
            </a:pPr>
            <a:r>
              <a:rPr lang="fr-ML" sz="1800" dirty="0">
                <a:solidFill>
                  <a:srgbClr val="000000"/>
                </a:solidFill>
                <a:effectLst/>
                <a:latin typeface="Calibri" panose="020F0502020204030204" pitchFamily="34" charset="0"/>
                <a:ea typeface="Calibri" panose="020F0502020204030204" pitchFamily="34" charset="0"/>
              </a:rPr>
              <a:t>La sécurité de l’information est l’affaire de tous. Chaque membre de la communauté universitaire a le devoir de rapporter dans les meilleurs délais tout incident de sécurité dont il est témoin, au choix : </a:t>
            </a:r>
          </a:p>
          <a:p>
            <a:pPr marL="68580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via le formulaire en ligne disponible sur la plateforme Support ENI ; </a:t>
            </a:r>
          </a:p>
          <a:p>
            <a:pPr marL="68580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par email à l’adresse </a:t>
            </a:r>
            <a:r>
              <a:rPr lang="fr-ML" sz="1800" u="sng" dirty="0" err="1">
                <a:solidFill>
                  <a:srgbClr val="0563C1"/>
                </a:solidFill>
                <a:effectLst/>
                <a:uFill>
                  <a:solidFill>
                    <a:srgbClr val="0563C1"/>
                  </a:solidFill>
                </a:uFill>
                <a:latin typeface="Calibri" panose="020F0502020204030204" pitchFamily="34" charset="0"/>
                <a:ea typeface="Calibri" panose="020F0502020204030204" pitchFamily="34" charset="0"/>
              </a:rPr>
              <a:t>support.SSI@eni.abt</a:t>
            </a:r>
            <a:r>
              <a:rPr lang="fr-ML" sz="1800" dirty="0">
                <a:solidFill>
                  <a:srgbClr val="000000"/>
                </a:solidFill>
                <a:effectLst/>
                <a:latin typeface="Calibri" panose="020F0502020204030204" pitchFamily="34" charset="0"/>
                <a:ea typeface="Calibri" panose="020F0502020204030204" pitchFamily="34" charset="0"/>
              </a:rPr>
              <a:t> ; </a:t>
            </a:r>
          </a:p>
          <a:p>
            <a:pPr marL="68580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par email à l’adresse </a:t>
            </a:r>
            <a:r>
              <a:rPr lang="fr-ML" sz="1800" u="sng" dirty="0" err="1">
                <a:solidFill>
                  <a:srgbClr val="0563C1"/>
                </a:solidFill>
                <a:effectLst/>
                <a:uFill>
                  <a:solidFill>
                    <a:srgbClr val="0563C1"/>
                  </a:solidFill>
                </a:uFill>
                <a:latin typeface="Calibri" panose="020F0502020204030204" pitchFamily="34" charset="0"/>
                <a:ea typeface="Calibri" panose="020F0502020204030204" pitchFamily="34" charset="0"/>
              </a:rPr>
              <a:t>RGPD@eni.abt</a:t>
            </a:r>
            <a:r>
              <a:rPr lang="fr-ML" sz="1800" dirty="0">
                <a:solidFill>
                  <a:srgbClr val="000000"/>
                </a:solidFill>
                <a:effectLst/>
                <a:latin typeface="Calibri" panose="020F0502020204030204" pitchFamily="34" charset="0"/>
                <a:ea typeface="Calibri" panose="020F0502020204030204" pitchFamily="34" charset="0"/>
              </a:rPr>
              <a:t>, pour les incidents impliquant des données à caractère personnel ; </a:t>
            </a:r>
          </a:p>
          <a:p>
            <a:pPr marL="68580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par téléphone en formant le 37 37 ; </a:t>
            </a:r>
          </a:p>
          <a:p>
            <a:pPr marL="685800" marR="314325" indent="1270" algn="just">
              <a:lnSpc>
                <a:spcPct val="110000"/>
              </a:lnSpc>
              <a:spcAft>
                <a:spcPts val="1310"/>
              </a:spcAft>
            </a:pPr>
            <a:r>
              <a:rPr lang="fr-ML" sz="1800" dirty="0">
                <a:solidFill>
                  <a:srgbClr val="000000"/>
                </a:solidFill>
                <a:effectLst/>
                <a:latin typeface="Calibri" panose="020F0502020204030204" pitchFamily="34" charset="0"/>
                <a:ea typeface="Calibri" panose="020F0502020204030204" pitchFamily="34" charset="0"/>
              </a:rPr>
              <a:t>en contactant un responsable informatique ENI. </a:t>
            </a:r>
          </a:p>
          <a:p>
            <a:pPr marL="447675" marR="314325" indent="1270" algn="just">
              <a:lnSpc>
                <a:spcPct val="110000"/>
              </a:lnSpc>
              <a:spcAft>
                <a:spcPts val="1430"/>
              </a:spcAft>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550106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362937"/>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2. Phase d’implémentation (DO) </a:t>
            </a:r>
          </a:p>
          <a:p>
            <a:endParaRPr lang="fr-ML" dirty="0"/>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616132" y="398417"/>
            <a:ext cx="10959736" cy="6215804"/>
          </a:xfrm>
          <a:prstGeom prst="rect">
            <a:avLst/>
          </a:prstGeom>
          <a:noFill/>
        </p:spPr>
        <p:txBody>
          <a:bodyPr wrap="square" rtlCol="0">
            <a:spAutoFit/>
          </a:bodyPr>
          <a:lstStyle/>
          <a:p>
            <a:pPr indent="1270" algn="l">
              <a:lnSpc>
                <a:spcPct val="107000"/>
              </a:lnSpc>
              <a:spcAft>
                <a:spcPts val="805"/>
              </a:spcAft>
              <a:tabLst>
                <a:tab pos="898525" algn="ctr"/>
                <a:tab pos="1647825" algn="ctr"/>
              </a:tabLst>
            </a:pPr>
            <a:r>
              <a:rPr lang="fr-ML" dirty="0">
                <a:solidFill>
                  <a:srgbClr val="3E4B70"/>
                </a:solidFill>
                <a:latin typeface="Calibri" panose="020F0502020204030204" pitchFamily="34" charset="0"/>
                <a:ea typeface="Calibri" panose="020F0502020204030204" pitchFamily="34" charset="0"/>
              </a:rPr>
              <a:t>5</a:t>
            </a:r>
            <a:r>
              <a:rPr lang="fr-ML" sz="1800" dirty="0">
                <a:solidFill>
                  <a:srgbClr val="3E4B70"/>
                </a:solidFill>
                <a:effectLst/>
                <a:latin typeface="Calibri" panose="020F0502020204030204" pitchFamily="34" charset="0"/>
                <a:ea typeface="Calibri" panose="020F0502020204030204" pitchFamily="34" charset="0"/>
              </a:rPr>
              <a:t>.2.4.3.</a:t>
            </a:r>
            <a:r>
              <a:rPr lang="fr-ML" sz="1800" dirty="0">
                <a:solidFill>
                  <a:srgbClr val="3E4B70"/>
                </a:solidFill>
                <a:effectLst/>
                <a:latin typeface="Arial" panose="020B0604020202020204" pitchFamily="34" charset="0"/>
                <a:ea typeface="Arial" panose="020B0604020202020204" pitchFamily="34" charset="0"/>
              </a:rPr>
              <a:t> 	</a:t>
            </a:r>
            <a:r>
              <a:rPr lang="fr-ML" sz="1800" dirty="0">
                <a:solidFill>
                  <a:srgbClr val="3E4B70"/>
                </a:solidFill>
                <a:effectLst/>
                <a:latin typeface="Calibri" panose="020F0502020204030204" pitchFamily="34" charset="0"/>
                <a:ea typeface="Calibri" panose="020F0502020204030204" pitchFamily="34" charset="0"/>
              </a:rPr>
              <a:t>Evaluation </a:t>
            </a:r>
            <a:endParaRPr lang="fr-ML" sz="18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775"/>
              </a:spcAft>
            </a:pPr>
            <a:r>
              <a:rPr lang="fr-ML" sz="1800" dirty="0">
                <a:solidFill>
                  <a:srgbClr val="000000"/>
                </a:solidFill>
                <a:effectLst/>
                <a:latin typeface="Calibri" panose="020F0502020204030204" pitchFamily="34" charset="0"/>
                <a:ea typeface="Calibri" panose="020F0502020204030204" pitchFamily="34" charset="0"/>
              </a:rPr>
              <a:t>Le niveau de risque doit être évalué selon la grille d’évaluation officielle , par un agent IT et/ou un membre de la CPDD. </a:t>
            </a:r>
          </a:p>
          <a:p>
            <a:pPr marL="685800" marR="314325" indent="1270" algn="just">
              <a:lnSpc>
                <a:spcPct val="110000"/>
              </a:lnSpc>
              <a:spcAft>
                <a:spcPts val="1330"/>
              </a:spcAft>
            </a:pPr>
            <a:r>
              <a:rPr lang="fr-ML" sz="1800" dirty="0">
                <a:solidFill>
                  <a:srgbClr val="000000"/>
                </a:solidFill>
                <a:effectLst/>
                <a:latin typeface="Calibri" panose="020F0502020204030204" pitchFamily="34" charset="0"/>
                <a:ea typeface="Calibri" panose="020F0502020204030204" pitchFamily="34" charset="0"/>
              </a:rPr>
              <a:t>Le ticket est transféré à la SIRT et/ou au DPD en cas de risque potentiellement élevé. </a:t>
            </a:r>
          </a:p>
          <a:p>
            <a:pPr indent="1270" algn="l">
              <a:lnSpc>
                <a:spcPct val="107000"/>
              </a:lnSpc>
              <a:spcAft>
                <a:spcPts val="805"/>
              </a:spcAft>
              <a:tabLst>
                <a:tab pos="898525" algn="ctr"/>
                <a:tab pos="1569720" algn="ctr"/>
              </a:tabLst>
            </a:pPr>
            <a:r>
              <a:rPr lang="fr-ML" dirty="0">
                <a:solidFill>
                  <a:srgbClr val="3E4B70"/>
                </a:solidFill>
                <a:latin typeface="Calibri" panose="020F0502020204030204" pitchFamily="34" charset="0"/>
                <a:ea typeface="Calibri" panose="020F0502020204030204" pitchFamily="34" charset="0"/>
              </a:rPr>
              <a:t>5.</a:t>
            </a:r>
            <a:r>
              <a:rPr lang="fr-ML" sz="1800" dirty="0">
                <a:solidFill>
                  <a:srgbClr val="3E4B70"/>
                </a:solidFill>
                <a:effectLst/>
                <a:latin typeface="Calibri" panose="020F0502020204030204" pitchFamily="34" charset="0"/>
                <a:ea typeface="Calibri" panose="020F0502020204030204" pitchFamily="34" charset="0"/>
              </a:rPr>
              <a:t>2.4.4.</a:t>
            </a:r>
            <a:r>
              <a:rPr lang="fr-ML" sz="1800" dirty="0">
                <a:solidFill>
                  <a:srgbClr val="3E4B70"/>
                </a:solidFill>
                <a:effectLst/>
                <a:latin typeface="Arial" panose="020B0604020202020204" pitchFamily="34" charset="0"/>
                <a:ea typeface="Arial" panose="020B0604020202020204" pitchFamily="34" charset="0"/>
              </a:rPr>
              <a:t> 	</a:t>
            </a:r>
            <a:r>
              <a:rPr lang="fr-ML" sz="1800" dirty="0">
                <a:solidFill>
                  <a:srgbClr val="3E4B70"/>
                </a:solidFill>
                <a:effectLst/>
                <a:latin typeface="Calibri" panose="020F0502020204030204" pitchFamily="34" charset="0"/>
                <a:ea typeface="Calibri" panose="020F0502020204030204" pitchFamily="34" charset="0"/>
              </a:rPr>
              <a:t>Analyse </a:t>
            </a:r>
            <a:endParaRPr lang="fr-ML" sz="1800" dirty="0">
              <a:solidFill>
                <a:srgbClr val="000000"/>
              </a:solidFill>
              <a:effectLst/>
              <a:latin typeface="Calibri" panose="020F0502020204030204" pitchFamily="34" charset="0"/>
              <a:ea typeface="Calibri" panose="020F0502020204030204" pitchFamily="34" charset="0"/>
            </a:endParaRPr>
          </a:p>
          <a:p>
            <a:pPr marL="971550" marR="314325" indent="-285750" algn="just">
              <a:lnSpc>
                <a:spcPct val="110000"/>
              </a:lnSpc>
              <a:spcAft>
                <a:spcPts val="93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L’analyse de l’incident doit permettre : </a:t>
            </a:r>
          </a:p>
          <a:p>
            <a:pPr marL="971550" marR="314325" indent="-285750" algn="just">
              <a:lnSpc>
                <a:spcPct val="120000"/>
              </a:lnSpc>
              <a:spcAft>
                <a:spcPts val="63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d’identifier le fait générateur ; </a:t>
            </a:r>
          </a:p>
          <a:p>
            <a:pPr marL="971550" marR="314325" indent="-285750" algn="just">
              <a:lnSpc>
                <a:spcPct val="120000"/>
              </a:lnSpc>
              <a:spcAft>
                <a:spcPts val="63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de définir le périmètre concerné ; </a:t>
            </a:r>
          </a:p>
          <a:p>
            <a:pPr marL="971550" marR="314325" indent="-285750" algn="just">
              <a:lnSpc>
                <a:spcPct val="120000"/>
              </a:lnSpc>
              <a:spcAft>
                <a:spcPts val="63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d’analyser l’impact. </a:t>
            </a:r>
          </a:p>
          <a:p>
            <a:pPr marL="685800" marR="314325" indent="1270" algn="just">
              <a:lnSpc>
                <a:spcPct val="110000"/>
              </a:lnSpc>
              <a:spcAft>
                <a:spcPts val="1330"/>
              </a:spcAft>
            </a:pPr>
            <a:r>
              <a:rPr lang="fr-ML" sz="1800" dirty="0">
                <a:solidFill>
                  <a:srgbClr val="000000"/>
                </a:solidFill>
                <a:effectLst/>
                <a:latin typeface="Calibri" panose="020F0502020204030204" pitchFamily="34" charset="0"/>
                <a:ea typeface="Calibri" panose="020F0502020204030204" pitchFamily="34" charset="0"/>
              </a:rPr>
              <a:t>Le RSSI est associé à l’analyse des incidents à haut niveau de risque. </a:t>
            </a:r>
          </a:p>
          <a:p>
            <a:pPr indent="1270" algn="l">
              <a:lnSpc>
                <a:spcPct val="107000"/>
              </a:lnSpc>
              <a:spcAft>
                <a:spcPts val="805"/>
              </a:spcAft>
              <a:tabLst>
                <a:tab pos="898525" algn="ctr"/>
                <a:tab pos="1666240" algn="ctr"/>
              </a:tabLst>
            </a:pPr>
            <a:r>
              <a:rPr lang="fr-ML" dirty="0">
                <a:solidFill>
                  <a:srgbClr val="000000"/>
                </a:solidFill>
                <a:latin typeface="Calibri" panose="020F0502020204030204" pitchFamily="34" charset="0"/>
                <a:ea typeface="Calibri" panose="020F0502020204030204" pitchFamily="34" charset="0"/>
              </a:rPr>
              <a:t>5</a:t>
            </a:r>
            <a:r>
              <a:rPr lang="fr-ML" sz="1800" dirty="0">
                <a:solidFill>
                  <a:srgbClr val="3E4B70"/>
                </a:solidFill>
                <a:effectLst/>
                <a:latin typeface="Calibri" panose="020F0502020204030204" pitchFamily="34" charset="0"/>
                <a:ea typeface="Calibri" panose="020F0502020204030204" pitchFamily="34" charset="0"/>
              </a:rPr>
              <a:t>.2.4.5.</a:t>
            </a:r>
            <a:r>
              <a:rPr lang="fr-ML" sz="1800" dirty="0">
                <a:solidFill>
                  <a:srgbClr val="3E4B70"/>
                </a:solidFill>
                <a:effectLst/>
                <a:latin typeface="Arial" panose="020B0604020202020204" pitchFamily="34" charset="0"/>
                <a:ea typeface="Arial" panose="020B0604020202020204" pitchFamily="34" charset="0"/>
              </a:rPr>
              <a:t> 	</a:t>
            </a:r>
            <a:r>
              <a:rPr lang="fr-ML" sz="1800" dirty="0">
                <a:solidFill>
                  <a:srgbClr val="3E4B70"/>
                </a:solidFill>
                <a:effectLst/>
                <a:latin typeface="Calibri" panose="020F0502020204030204" pitchFamily="34" charset="0"/>
                <a:ea typeface="Calibri" panose="020F0502020204030204" pitchFamily="34" charset="0"/>
              </a:rPr>
              <a:t>Traitement </a:t>
            </a:r>
            <a:endParaRPr lang="fr-ML" sz="18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Des mesures de réponse immédiates, visant à éviter l’aggravation des conséquences, peuvent être prises dès l’évaluation du niveau de risque. Le cas échéant, un plan de continuité de l’activité (PCA, en anglais DRP) sera activé. </a:t>
            </a:r>
          </a:p>
          <a:p>
            <a:pPr marL="685800" marR="314325" indent="1270" algn="just">
              <a:lnSpc>
                <a:spcPct val="110000"/>
              </a:lnSpc>
              <a:spcAft>
                <a:spcPts val="755"/>
              </a:spcAft>
            </a:pPr>
            <a:r>
              <a:rPr lang="fr-ML" sz="1800" dirty="0">
                <a:solidFill>
                  <a:srgbClr val="000000"/>
                </a:solidFill>
                <a:effectLst/>
                <a:latin typeface="Calibri" panose="020F0502020204030204" pitchFamily="34" charset="0"/>
                <a:ea typeface="Calibri" panose="020F0502020204030204" pitchFamily="34" charset="0"/>
              </a:rPr>
              <a:t>La résolution de l’incident s’effectue selon le modèle du « 4 T’s process » . </a:t>
            </a:r>
          </a:p>
          <a:p>
            <a:pPr marL="685800" marR="314325" indent="1270" algn="just">
              <a:lnSpc>
                <a:spcPct val="110000"/>
              </a:lnSpc>
              <a:spcAft>
                <a:spcPts val="1330"/>
              </a:spcAft>
            </a:pPr>
            <a:r>
              <a:rPr lang="fr-ML" sz="1800" dirty="0">
                <a:solidFill>
                  <a:srgbClr val="000000"/>
                </a:solidFill>
                <a:effectLst/>
                <a:latin typeface="Calibri" panose="020F0502020204030204" pitchFamily="34" charset="0"/>
                <a:ea typeface="Calibri" panose="020F0502020204030204" pitchFamily="34" charset="0"/>
              </a:rPr>
              <a:t>Les mesures appliquées doivent être documentées. </a:t>
            </a:r>
          </a:p>
        </p:txBody>
      </p:sp>
    </p:spTree>
    <p:extLst>
      <p:ext uri="{BB962C8B-B14F-4D97-AF65-F5344CB8AC3E}">
        <p14:creationId xmlns:p14="http://schemas.microsoft.com/office/powerpoint/2010/main" val="64123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766294" y="0"/>
            <a:ext cx="11889377" cy="1362937"/>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5. 2. Phase d’implémentation (DO) </a:t>
            </a:r>
          </a:p>
          <a:p>
            <a:endParaRPr lang="fr-ML" dirty="0"/>
          </a:p>
          <a:p>
            <a:endParaRPr lang="fr-ML" dirty="0"/>
          </a:p>
        </p:txBody>
      </p:sp>
      <p:sp>
        <p:nvSpPr>
          <p:cNvPr id="5" name="ZoneTexte 4">
            <a:extLst>
              <a:ext uri="{FF2B5EF4-FFF2-40B4-BE49-F238E27FC236}">
                <a16:creationId xmlns:a16="http://schemas.microsoft.com/office/drawing/2014/main" id="{BBFED1E8-51D7-2F9B-9CC5-8BB310C77C35}"/>
              </a:ext>
            </a:extLst>
          </p:cNvPr>
          <p:cNvSpPr txBox="1"/>
          <p:nvPr/>
        </p:nvSpPr>
        <p:spPr>
          <a:xfrm>
            <a:off x="616132" y="398417"/>
            <a:ext cx="10959736" cy="5169364"/>
          </a:xfrm>
          <a:prstGeom prst="rect">
            <a:avLst/>
          </a:prstGeom>
          <a:noFill/>
        </p:spPr>
        <p:txBody>
          <a:bodyPr wrap="square" rtlCol="0">
            <a:spAutoFit/>
          </a:bodyPr>
          <a:lstStyle/>
          <a:p>
            <a:pPr indent="1270" algn="l">
              <a:lnSpc>
                <a:spcPct val="107000"/>
              </a:lnSpc>
              <a:spcAft>
                <a:spcPts val="805"/>
              </a:spcAft>
              <a:tabLst>
                <a:tab pos="898525" algn="ctr"/>
                <a:tab pos="1800860" algn="ctr"/>
              </a:tabLst>
            </a:pPr>
            <a:r>
              <a:rPr lang="fr-ML" sz="2000" dirty="0">
                <a:solidFill>
                  <a:srgbClr val="3E4B70"/>
                </a:solidFill>
                <a:effectLst/>
                <a:latin typeface="Calibri" panose="020F0502020204030204" pitchFamily="34" charset="0"/>
                <a:ea typeface="Calibri" panose="020F0502020204030204" pitchFamily="34" charset="0"/>
              </a:rPr>
              <a:t>5.2.4.6.</a:t>
            </a:r>
            <a:r>
              <a:rPr lang="fr-ML" sz="2000" dirty="0">
                <a:solidFill>
                  <a:srgbClr val="3E4B70"/>
                </a:solidFill>
                <a:effectLst/>
                <a:latin typeface="Arial" panose="020B0604020202020204" pitchFamily="34" charset="0"/>
                <a:ea typeface="Arial" panose="020B0604020202020204" pitchFamily="34" charset="0"/>
              </a:rPr>
              <a:t> 	</a:t>
            </a:r>
            <a:r>
              <a:rPr lang="fr-ML" sz="2000" dirty="0">
                <a:solidFill>
                  <a:srgbClr val="3E4B70"/>
                </a:solidFill>
                <a:effectLst/>
                <a:latin typeface="Calibri" panose="020F0502020204030204" pitchFamily="34" charset="0"/>
                <a:ea typeface="Calibri" panose="020F0502020204030204" pitchFamily="34" charset="0"/>
              </a:rPr>
              <a:t>Communication </a:t>
            </a:r>
            <a:endParaRPr lang="fr-ML" sz="20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940"/>
              </a:spcAft>
            </a:pPr>
            <a:r>
              <a:rPr lang="fr-ML" sz="2000" dirty="0">
                <a:solidFill>
                  <a:srgbClr val="000000"/>
                </a:solidFill>
                <a:effectLst/>
                <a:latin typeface="Calibri" panose="020F0502020204030204" pitchFamily="34" charset="0"/>
                <a:ea typeface="Calibri" panose="020F0502020204030204" pitchFamily="34" charset="0"/>
              </a:rPr>
              <a:t>L’analyse de risque sert d’appui à la définition d’un plan de communication. Selon la situation, la communication peut poursuivre divers objectifs : </a:t>
            </a:r>
          </a:p>
          <a:p>
            <a:pPr marL="914400" marR="314325" indent="1270"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gestion de l’incident : communication avec d’autres équipes en interne ou avec des équipes externes ; </a:t>
            </a:r>
          </a:p>
          <a:p>
            <a:pPr marL="914400" marR="314325" indent="1270" algn="just">
              <a:lnSpc>
                <a:spcPct val="110000"/>
              </a:lnSpc>
              <a:spcAft>
                <a:spcPts val="120"/>
              </a:spcAft>
            </a:pPr>
            <a:r>
              <a:rPr lang="fr-ML" sz="2000" dirty="0">
                <a:solidFill>
                  <a:srgbClr val="000000"/>
                </a:solidFill>
                <a:effectLst/>
                <a:latin typeface="Calibri" panose="020F0502020204030204" pitchFamily="34" charset="0"/>
                <a:ea typeface="Calibri" panose="020F0502020204030204" pitchFamily="34" charset="0"/>
              </a:rPr>
              <a:t>conformité : communication de l’incident aux clients concernés et/ou communication à destination des autorités concernées (APD, FCCU, CERT…) ; </a:t>
            </a:r>
          </a:p>
          <a:p>
            <a:pPr marL="914400" marR="314325" indent="1270" algn="just">
              <a:lnSpc>
                <a:spcPct val="110000"/>
              </a:lnSpc>
              <a:spcAft>
                <a:spcPts val="1315"/>
              </a:spcAft>
            </a:pPr>
            <a:r>
              <a:rPr lang="fr-ML" sz="2000" dirty="0">
                <a:solidFill>
                  <a:srgbClr val="000000"/>
                </a:solidFill>
                <a:effectLst/>
                <a:latin typeface="Calibri" panose="020F0502020204030204" pitchFamily="34" charset="0"/>
                <a:ea typeface="Calibri" panose="020F0502020204030204" pitchFamily="34" charset="0"/>
              </a:rPr>
              <a:t>réduction de l’atteinte à la réputation : communication vers les membres de la communauté, les partenaires, les médias… </a:t>
            </a:r>
          </a:p>
          <a:p>
            <a:pPr indent="1270" algn="l">
              <a:lnSpc>
                <a:spcPct val="107000"/>
              </a:lnSpc>
              <a:spcAft>
                <a:spcPts val="805"/>
              </a:spcAft>
              <a:tabLst>
                <a:tab pos="898525" algn="ctr"/>
                <a:tab pos="1677035" algn="ctr"/>
              </a:tabLst>
            </a:pPr>
            <a:r>
              <a:rPr lang="fr-ML" sz="2000" dirty="0">
                <a:solidFill>
                  <a:srgbClr val="000000"/>
                </a:solidFill>
                <a:latin typeface="Calibri" panose="020F0502020204030204" pitchFamily="34" charset="0"/>
                <a:ea typeface="Calibri" panose="020F0502020204030204" pitchFamily="34" charset="0"/>
              </a:rPr>
              <a:t>5</a:t>
            </a:r>
            <a:r>
              <a:rPr lang="fr-ML" sz="2000" dirty="0">
                <a:solidFill>
                  <a:srgbClr val="3E4B70"/>
                </a:solidFill>
                <a:effectLst/>
                <a:latin typeface="Calibri" panose="020F0502020204030204" pitchFamily="34" charset="0"/>
                <a:ea typeface="Calibri" panose="020F0502020204030204" pitchFamily="34" charset="0"/>
              </a:rPr>
              <a:t>.2.4.7.</a:t>
            </a:r>
            <a:r>
              <a:rPr lang="fr-ML" sz="2000" dirty="0">
                <a:solidFill>
                  <a:srgbClr val="3E4B70"/>
                </a:solidFill>
                <a:effectLst/>
                <a:latin typeface="Arial" panose="020B0604020202020204" pitchFamily="34" charset="0"/>
                <a:ea typeface="Arial" panose="020B0604020202020204" pitchFamily="34" charset="0"/>
              </a:rPr>
              <a:t> 	</a:t>
            </a:r>
            <a:r>
              <a:rPr lang="fr-ML" sz="2000" dirty="0">
                <a:solidFill>
                  <a:srgbClr val="3E4B70"/>
                </a:solidFill>
                <a:effectLst/>
                <a:latin typeface="Calibri" panose="020F0502020204030204" pitchFamily="34" charset="0"/>
                <a:ea typeface="Calibri" panose="020F0502020204030204" pitchFamily="34" charset="0"/>
              </a:rPr>
              <a:t>Vérification </a:t>
            </a:r>
            <a:endParaRPr lang="fr-ML" sz="2000" dirty="0">
              <a:solidFill>
                <a:srgbClr val="000000"/>
              </a:solidFill>
              <a:effectLst/>
              <a:latin typeface="Calibri" panose="020F0502020204030204" pitchFamily="34" charset="0"/>
              <a:ea typeface="Calibri" panose="020F0502020204030204" pitchFamily="34" charset="0"/>
            </a:endParaRPr>
          </a:p>
          <a:p>
            <a:pPr marL="685800" marR="314325" indent="1270" algn="just">
              <a:lnSpc>
                <a:spcPct val="110000"/>
              </a:lnSpc>
              <a:spcAft>
                <a:spcPts val="1580"/>
              </a:spcAft>
            </a:pPr>
            <a:r>
              <a:rPr lang="fr-ML" sz="2000" dirty="0">
                <a:solidFill>
                  <a:srgbClr val="000000"/>
                </a:solidFill>
                <a:effectLst/>
                <a:latin typeface="Calibri" panose="020F0502020204030204" pitchFamily="34" charset="0"/>
                <a:ea typeface="Calibri" panose="020F0502020204030204" pitchFamily="34" charset="0"/>
              </a:rPr>
              <a:t>Le RSSI et la SIRT s’assurent de la bonne résolution des incidents de sécurité à haut niveau de risque.   </a:t>
            </a:r>
          </a:p>
          <a:p>
            <a:pPr marL="227330">
              <a:lnSpc>
                <a:spcPct val="107000"/>
              </a:lnSpc>
            </a:pPr>
            <a:r>
              <a:rPr lang="fr-ML" sz="2000" dirty="0">
                <a:solidFill>
                  <a:srgbClr val="000000"/>
                </a:solidFill>
                <a:effectLst/>
                <a:latin typeface="Calibri" panose="020F0502020204030204" pitchFamily="34" charset="0"/>
                <a:ea typeface="Calibri" panose="020F0502020204030204" pitchFamily="34" charset="0"/>
              </a:rPr>
              <a:t>Autorité de Protection des Données </a:t>
            </a:r>
          </a:p>
        </p:txBody>
      </p:sp>
    </p:spTree>
    <p:extLst>
      <p:ext uri="{BB962C8B-B14F-4D97-AF65-F5344CB8AC3E}">
        <p14:creationId xmlns:p14="http://schemas.microsoft.com/office/powerpoint/2010/main" val="2280582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616132" y="398417"/>
            <a:ext cx="10959736" cy="6195542"/>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5.3. Phase de vérification (CHECK) </a:t>
            </a:r>
          </a:p>
          <a:p>
            <a:pPr marL="227330" marR="314325" indent="1270" algn="just">
              <a:lnSpc>
                <a:spcPct val="110000"/>
              </a:lnSpc>
              <a:spcAft>
                <a:spcPts val="950"/>
              </a:spcAft>
            </a:pPr>
            <a:r>
              <a:rPr lang="fr-ML" sz="2200" dirty="0">
                <a:solidFill>
                  <a:srgbClr val="000000"/>
                </a:solidFill>
                <a:effectLst/>
                <a:latin typeface="Calibri" panose="020F0502020204030204" pitchFamily="34" charset="0"/>
                <a:ea typeface="Calibri" panose="020F0502020204030204" pitchFamily="34" charset="0"/>
              </a:rPr>
              <a:t>La cohérence et l’efficacité du SMSI doivent faire l’objet d’une vérification régulière, par le biais :  </a:t>
            </a:r>
          </a:p>
          <a:p>
            <a:pPr marL="790575" marR="314325" indent="-342900" algn="just">
              <a:lnSpc>
                <a:spcPct val="110000"/>
              </a:lnSpc>
              <a:spcAft>
                <a:spcPts val="12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de contrôles internes, permettant de vérifier la bonne application des procédures au quotidien ; </a:t>
            </a:r>
          </a:p>
          <a:p>
            <a:pPr marL="790575" marR="314325" indent="-342900" algn="just">
              <a:lnSpc>
                <a:spcPct val="110000"/>
              </a:lnSpc>
              <a:spcAft>
                <a:spcPts val="12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d’audits internes ou externes ; </a:t>
            </a:r>
          </a:p>
          <a:p>
            <a:pPr marL="790575" marR="314325" indent="-342900" algn="just">
              <a:lnSpc>
                <a:spcPct val="110000"/>
              </a:lnSpc>
              <a:spcAft>
                <a:spcPts val="154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de revues de direction, dont l’objectif est de réexaminer avec recul l’adéquation du SMSI à son environnement. </a:t>
            </a:r>
          </a:p>
          <a:p>
            <a:pPr marL="225425" indent="-6350">
              <a:lnSpc>
                <a:spcPct val="107000"/>
              </a:lnSpc>
              <a:spcAft>
                <a:spcPts val="605"/>
              </a:spcAft>
            </a:pPr>
            <a:r>
              <a:rPr lang="fr-ML" sz="2400" b="1" dirty="0">
                <a:solidFill>
                  <a:schemeClr val="accent2"/>
                </a:solidFill>
                <a:latin typeface="Calibri" panose="020F0502020204030204" pitchFamily="34" charset="0"/>
              </a:rPr>
              <a:t>5.4. Phase d’amélioration (ACT) </a:t>
            </a:r>
          </a:p>
          <a:p>
            <a:pPr marL="227330" marR="314325" indent="1270" algn="just">
              <a:lnSpc>
                <a:spcPct val="110000"/>
              </a:lnSpc>
              <a:spcAft>
                <a:spcPts val="940"/>
              </a:spcAft>
            </a:pPr>
            <a:r>
              <a:rPr lang="fr-ML" sz="2200" dirty="0">
                <a:solidFill>
                  <a:srgbClr val="000000"/>
                </a:solidFill>
                <a:effectLst/>
                <a:latin typeface="Calibri" panose="020F0502020204030204" pitchFamily="34" charset="0"/>
                <a:ea typeface="Calibri" panose="020F0502020204030204" pitchFamily="34" charset="0"/>
              </a:rPr>
              <a:t>Cette phase inscrit l’institution dans une logique d’amélioration continue par la mise en place d’actions : </a:t>
            </a:r>
          </a:p>
          <a:p>
            <a:pPr marL="685800" marR="860425" indent="1270" algn="l">
              <a:lnSpc>
                <a:spcPct val="120000"/>
              </a:lnSpc>
              <a:spcAft>
                <a:spcPts val="630"/>
              </a:spcAft>
            </a:pPr>
            <a:r>
              <a:rPr lang="fr-ML" sz="2200" dirty="0">
                <a:solidFill>
                  <a:srgbClr val="000000"/>
                </a:solidFill>
                <a:effectLst/>
                <a:latin typeface="Calibri" panose="020F0502020204030204" pitchFamily="34" charset="0"/>
                <a:ea typeface="Calibri" panose="020F0502020204030204" pitchFamily="34" charset="0"/>
              </a:rPr>
              <a:t>correctives, visant à corriger les dysfonctionnements et en supprimer les effets ; </a:t>
            </a:r>
          </a:p>
          <a:p>
            <a:pPr marL="1028700" marR="860425" indent="-342900" algn="l">
              <a:lnSpc>
                <a:spcPct val="120000"/>
              </a:lnSpc>
              <a:spcAft>
                <a:spcPts val="63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préventives, visant à empêcher les incidents </a:t>
            </a:r>
          </a:p>
          <a:p>
            <a:pPr marL="1028700" marR="860425" indent="-342900" algn="l">
              <a:lnSpc>
                <a:spcPct val="120000"/>
              </a:lnSpc>
              <a:spcAft>
                <a:spcPts val="63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d'amélioration des performances des processus. </a:t>
            </a:r>
          </a:p>
        </p:txBody>
      </p:sp>
    </p:spTree>
    <p:extLst>
      <p:ext uri="{BB962C8B-B14F-4D97-AF65-F5344CB8AC3E}">
        <p14:creationId xmlns:p14="http://schemas.microsoft.com/office/powerpoint/2010/main" val="3587294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616132" y="398417"/>
            <a:ext cx="10959736" cy="4341253"/>
          </a:xfrm>
          <a:prstGeom prst="rect">
            <a:avLst/>
          </a:prstGeom>
          <a:noFill/>
        </p:spPr>
        <p:txBody>
          <a:bodyPr wrap="square" rtlCol="0">
            <a:spAutoFit/>
          </a:bodyPr>
          <a:lstStyle/>
          <a:p>
            <a:pPr marL="225425" indent="-6350">
              <a:lnSpc>
                <a:spcPct val="107000"/>
              </a:lnSpc>
              <a:spcAft>
                <a:spcPts val="605"/>
              </a:spcAft>
            </a:pPr>
            <a:r>
              <a:rPr lang="fr-ML" sz="2400" b="1" dirty="0">
                <a:solidFill>
                  <a:schemeClr val="accent2"/>
                </a:solidFill>
                <a:latin typeface="Calibri" panose="020F0502020204030204" pitchFamily="34" charset="0"/>
              </a:rPr>
              <a:t>5.4. Phase d’amélioration (ACT) </a:t>
            </a:r>
          </a:p>
          <a:p>
            <a:pPr marL="1028700" marR="860425" indent="-342900" algn="l">
              <a:lnSpc>
                <a:spcPct val="120000"/>
              </a:lnSpc>
              <a:spcAft>
                <a:spcPts val="63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correctives, visant à corriger les dysfonctionnements et en supprimer les effets ; </a:t>
            </a:r>
          </a:p>
          <a:p>
            <a:pPr marL="1028700" marR="860425" indent="-342900" algn="l">
              <a:lnSpc>
                <a:spcPct val="120000"/>
              </a:lnSpc>
              <a:spcAft>
                <a:spcPts val="63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préventives, visant à empêcher les incidents </a:t>
            </a:r>
          </a:p>
          <a:p>
            <a:pPr marL="1028700" marR="860425" indent="-342900" algn="l">
              <a:lnSpc>
                <a:spcPct val="120000"/>
              </a:lnSpc>
              <a:spcAft>
                <a:spcPts val="630"/>
              </a:spcAft>
              <a:buFont typeface="Arial" panose="020B0604020202020204" pitchFamily="34" charset="0"/>
              <a:buChar char="•"/>
            </a:pPr>
            <a:r>
              <a:rPr lang="fr-ML" sz="2400" dirty="0">
                <a:solidFill>
                  <a:srgbClr val="000000"/>
                </a:solidFill>
                <a:effectLst/>
                <a:latin typeface="Calibri" panose="020F0502020204030204" pitchFamily="34" charset="0"/>
                <a:ea typeface="Calibri" panose="020F0502020204030204" pitchFamily="34" charset="0"/>
              </a:rPr>
              <a:t>d'amélioration des performances des processus. </a:t>
            </a:r>
          </a:p>
          <a:p>
            <a:pPr marL="227330" marR="314325" indent="1270" algn="just">
              <a:lnSpc>
                <a:spcPct val="110000"/>
              </a:lnSpc>
              <a:spcAft>
                <a:spcPts val="770"/>
              </a:spcAft>
            </a:pPr>
            <a:r>
              <a:rPr lang="fr-ML" sz="2400" dirty="0">
                <a:solidFill>
                  <a:srgbClr val="000000"/>
                </a:solidFill>
                <a:effectLst/>
                <a:latin typeface="Calibri" panose="020F0502020204030204" pitchFamily="34" charset="0"/>
                <a:ea typeface="Calibri" panose="020F0502020204030204" pitchFamily="34" charset="0"/>
              </a:rPr>
              <a:t>Toutes les modifications apportées aux systèmes informatiques sont soumises aux processus et procédures de gestion des modifications des services informatiques.  </a:t>
            </a:r>
          </a:p>
          <a:p>
            <a:pPr marL="227330" marR="314325" indent="1270" algn="just">
              <a:lnSpc>
                <a:spcPct val="110000"/>
              </a:lnSpc>
              <a:spcAft>
                <a:spcPts val="1270"/>
              </a:spcAft>
            </a:pPr>
            <a:r>
              <a:rPr lang="fr-ML" sz="2400" dirty="0">
                <a:solidFill>
                  <a:srgbClr val="000000"/>
                </a:solidFill>
                <a:effectLst/>
                <a:latin typeface="Calibri" panose="020F0502020204030204" pitchFamily="34" charset="0"/>
                <a:ea typeface="Calibri" panose="020F0502020204030204" pitchFamily="34" charset="0"/>
              </a:rPr>
              <a:t>Un logiciel de surveillance de l'intégrité des fichiers doit être utilisé pour détecter les modifications non autorisées du système d’information. </a:t>
            </a:r>
          </a:p>
        </p:txBody>
      </p:sp>
    </p:spTree>
    <p:extLst>
      <p:ext uri="{BB962C8B-B14F-4D97-AF65-F5344CB8AC3E}">
        <p14:creationId xmlns:p14="http://schemas.microsoft.com/office/powerpoint/2010/main" val="2986933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616132" y="115917"/>
            <a:ext cx="11575868" cy="6568850"/>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R="314325" indent="1270" algn="just">
              <a:lnSpc>
                <a:spcPct val="110000"/>
              </a:lnSpc>
              <a:spcAft>
                <a:spcPts val="1570"/>
              </a:spcAft>
            </a:pPr>
            <a:r>
              <a:rPr lang="fr-ML" sz="1800" dirty="0">
                <a:solidFill>
                  <a:srgbClr val="000000"/>
                </a:solidFill>
                <a:effectLst/>
                <a:latin typeface="Calibri" panose="020F0502020204030204" pitchFamily="34" charset="0"/>
                <a:ea typeface="Calibri" panose="020F0502020204030204" pitchFamily="34" charset="0"/>
              </a:rPr>
              <a:t>La CSSI, sous la houlette du RSSI, définit les standards de sécurité de Université. Ceux-ci évoluent au rythme des avancées technologiques ainsi que du cadre normatif. </a:t>
            </a:r>
          </a:p>
          <a:p>
            <a:pPr marL="225425" indent="-6350">
              <a:lnSpc>
                <a:spcPct val="107000"/>
              </a:lnSpc>
              <a:spcAft>
                <a:spcPts val="117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.1.</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Gestion des identités et des accès </a:t>
            </a:r>
          </a:p>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.1.1.</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Gestion des identités et authentification </a:t>
            </a:r>
          </a:p>
          <a:p>
            <a:pPr marL="733425" marR="314325" indent="-285750" algn="just">
              <a:lnSpc>
                <a:spcPct val="110000"/>
              </a:lnSpc>
              <a:spcAft>
                <a:spcPts val="88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L’identité et les accès de chaque membre de la communauté universitaire ainsi que ceux des tiers devant accéder à des ressources l’université doivent être enregistrés dans le système central de gestion des identités et des accès. </a:t>
            </a:r>
          </a:p>
          <a:p>
            <a:pPr marL="733425" marR="314325" indent="-285750" algn="just">
              <a:lnSpc>
                <a:spcPct val="110000"/>
              </a:lnSpc>
              <a:spcAft>
                <a:spcPts val="78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A chaque identité enregistrée correspond un numéro d’identification unique (UID), à usage des systèmes. </a:t>
            </a:r>
          </a:p>
          <a:p>
            <a:pPr marL="733425" marR="314325" indent="-285750" algn="just">
              <a:lnSpc>
                <a:spcPct val="110000"/>
              </a:lnSpc>
              <a:spcAft>
                <a:spcPts val="77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A chaque IUD sont associés un ou plusieurs identifiants, destinés à l’authentification de l’utilisateur dans les systèmes de l’Université. Ce ou ces identifiants sont à usage personnel. Ils ne peuvent en aucun cas être utilisés par un autre utilisateur que celui auquel ils ont été attribués. </a:t>
            </a:r>
          </a:p>
          <a:p>
            <a:pPr marL="733425" marR="314325" indent="-285750" algn="just">
              <a:lnSpc>
                <a:spcPct val="110000"/>
              </a:lnSpc>
              <a:spcAft>
                <a:spcPts val="78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Chaque utilisateur se choisit un mot de passe associé à son compte de l’université, selon les critères établis. Ce mot de passe est secret. Il ne doit en aucun cas être divulgué -même au personnel IT- ni ne peut être utilisé comme mot de passe au sein de systèmes tiers. </a:t>
            </a:r>
          </a:p>
          <a:p>
            <a:pPr marL="733425" marR="314325" indent="-285750" algn="just">
              <a:lnSpc>
                <a:spcPct val="110000"/>
              </a:lnSpc>
              <a:spcAft>
                <a:spcPts val="1345"/>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Chaque membre de l’institution se voit également attribuer une adresse électronique unique pour son usage personnel et certains membres peuvent également être autorisés à utiliser une ou plusieurs adresses électroniques génériques (basées sur les rôles). </a:t>
            </a:r>
          </a:p>
        </p:txBody>
      </p:sp>
    </p:spTree>
    <p:extLst>
      <p:ext uri="{BB962C8B-B14F-4D97-AF65-F5344CB8AC3E}">
        <p14:creationId xmlns:p14="http://schemas.microsoft.com/office/powerpoint/2010/main" val="562904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616132" y="115917"/>
            <a:ext cx="11575868" cy="6938631"/>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454025" marR="144145" indent="-6350">
              <a:lnSpc>
                <a:spcPct val="106000"/>
              </a:lnSpc>
              <a:spcAft>
                <a:spcPts val="815"/>
              </a:spcAft>
            </a:pPr>
            <a:r>
              <a:rPr lang="fr-ML" sz="2000" b="1" dirty="0">
                <a:solidFill>
                  <a:srgbClr val="000000"/>
                </a:solidFill>
                <a:latin typeface="Calibri" panose="020F0502020204030204" pitchFamily="34" charset="0"/>
                <a:ea typeface="Calibri" panose="020F0502020204030204" pitchFamily="34" charset="0"/>
              </a:rPr>
              <a:t>6</a:t>
            </a:r>
            <a:r>
              <a:rPr lang="fr-ML" sz="2000" b="1" dirty="0">
                <a:solidFill>
                  <a:srgbClr val="000000"/>
                </a:solidFill>
                <a:effectLst/>
                <a:latin typeface="Calibri" panose="020F0502020204030204" pitchFamily="34" charset="0"/>
                <a:ea typeface="Calibri" panose="020F0502020204030204" pitchFamily="34" charset="0"/>
              </a:rPr>
              <a:t>.1.2.</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Contrôle des accès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A l'exception de celui en lecture seule aux informations publiques, l'accès à tous les systèmes d’information de l’universités doit s'effectuer via le processus d'authentification défini par l’institution. Sauf impossibilité technique, les comptes gérés localement doivent être évités. </a:t>
            </a:r>
          </a:p>
          <a:p>
            <a:pPr marL="454025" marR="144145" indent="-6350">
              <a:lnSpc>
                <a:spcPct val="106000"/>
              </a:lnSpc>
              <a:spcAft>
                <a:spcPts val="815"/>
              </a:spcAft>
            </a:pPr>
            <a:r>
              <a:rPr lang="fr-ML" sz="2000" b="1" dirty="0">
                <a:solidFill>
                  <a:srgbClr val="000000"/>
                </a:solidFill>
                <a:latin typeface="Calibri" panose="020F0502020204030204" pitchFamily="34" charset="0"/>
                <a:ea typeface="Calibri" panose="020F0502020204030204" pitchFamily="34" charset="0"/>
              </a:rPr>
              <a:t>6</a:t>
            </a:r>
            <a:r>
              <a:rPr lang="fr-ML" sz="2000" b="1" dirty="0">
                <a:solidFill>
                  <a:srgbClr val="000000"/>
                </a:solidFill>
                <a:effectLst/>
                <a:latin typeface="Calibri" panose="020F0502020204030204" pitchFamily="34" charset="0"/>
                <a:ea typeface="Calibri" panose="020F0502020204030204" pitchFamily="34" charset="0"/>
              </a:rPr>
              <a:t>.1.3.</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Surveillance et journalisation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Toute utilisation, ou tentative d'utilisation, des systèmes doit être consignée. Les données consignées (« log files ») doivent être suffisantes pour prendre en charge les exigences du système en matière de sécurité, de conformité et de planification de la capacité, sans pour autant être inutilement intrusives. Les utilisateurs de systèmes doivent recevoir des informations claires sur les informations enregistrées, leurs objectifs et le calendrier de conservation des données collectées. Ces informations doivent être mises à la disposition des utilisateurs sous la forme d'une politique de confidentialité spécifique au système.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Il est recommandé que les « log files » soient enregistrés sur un système différent du système surveillé. </a:t>
            </a:r>
          </a:p>
          <a:p>
            <a:pPr marL="447675" marR="314325" indent="1270" algn="just">
              <a:lnSpc>
                <a:spcPct val="110000"/>
              </a:lnSpc>
              <a:spcAft>
                <a:spcPts val="1570"/>
              </a:spcAft>
            </a:pPr>
            <a:r>
              <a:rPr lang="fr-ML" sz="2000" dirty="0">
                <a:solidFill>
                  <a:srgbClr val="000000"/>
                </a:solidFill>
                <a:effectLst/>
                <a:latin typeface="Calibri" panose="020F0502020204030204" pitchFamily="34" charset="0"/>
                <a:ea typeface="Calibri" panose="020F0502020204030204" pitchFamily="34" charset="0"/>
              </a:rPr>
              <a:t>Les logs d'audit doivent être configurés pour enregistrer toutes les actions entreprises à l'aide de privilèges d'administrateur. Les journaux d'audit doivent être sécurisés pour prévenir les modifications non autorisées. </a:t>
            </a:r>
          </a:p>
          <a:p>
            <a:pPr marL="447675" marR="314325" indent="1270" algn="just">
              <a:lnSpc>
                <a:spcPct val="110000"/>
              </a:lnSpc>
              <a:spcAft>
                <a:spcPts val="770"/>
              </a:spcAft>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42320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616132" y="115917"/>
            <a:ext cx="11575868" cy="6865919"/>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225425" indent="-6350">
              <a:lnSpc>
                <a:spcPct val="107000"/>
              </a:lnSpc>
              <a:spcAft>
                <a:spcPts val="605"/>
              </a:spcAft>
            </a:pPr>
            <a:r>
              <a:rPr lang="fr-ML" sz="2200" b="1" dirty="0">
                <a:solidFill>
                  <a:srgbClr val="000000"/>
                </a:solidFill>
                <a:effectLst/>
                <a:latin typeface="Calibri" panose="020F0502020204030204" pitchFamily="34" charset="0"/>
                <a:ea typeface="Calibri" panose="020F0502020204030204" pitchFamily="34" charset="0"/>
              </a:rPr>
              <a:t>6.2.</a:t>
            </a:r>
            <a:r>
              <a:rPr lang="fr-ML" sz="2200" b="1" dirty="0">
                <a:solidFill>
                  <a:srgbClr val="000000"/>
                </a:solidFill>
                <a:effectLst/>
                <a:latin typeface="Arial" panose="020B0604020202020204" pitchFamily="34" charset="0"/>
                <a:ea typeface="Arial" panose="020B0604020202020204" pitchFamily="34" charset="0"/>
              </a:rPr>
              <a:t> </a:t>
            </a:r>
            <a:r>
              <a:rPr lang="fr-ML" sz="2200" b="1" dirty="0">
                <a:solidFill>
                  <a:srgbClr val="000000"/>
                </a:solidFill>
                <a:effectLst/>
                <a:latin typeface="Calibri" panose="020F0502020204030204" pitchFamily="34" charset="0"/>
                <a:ea typeface="Calibri" panose="020F0502020204030204" pitchFamily="34" charset="0"/>
              </a:rPr>
              <a:t>Utilisation des installations à des fins privées </a:t>
            </a:r>
          </a:p>
          <a:p>
            <a:pPr marL="227330" marR="314325" indent="1270" algn="just">
              <a:lnSpc>
                <a:spcPct val="110000"/>
              </a:lnSpc>
              <a:spcAft>
                <a:spcPts val="950"/>
              </a:spcAft>
            </a:pPr>
            <a:r>
              <a:rPr lang="fr-ML" sz="2200" dirty="0">
                <a:solidFill>
                  <a:srgbClr val="000000"/>
                </a:solidFill>
                <a:effectLst/>
                <a:latin typeface="Calibri" panose="020F0502020204030204" pitchFamily="34" charset="0"/>
                <a:ea typeface="Calibri" panose="020F0502020204030204" pitchFamily="34" charset="0"/>
              </a:rPr>
              <a:t>Les installations d’information et de communication de l’Université, y compris les adresses électroniques et les ordinateurs, sont fournies à des fins d’administration, d’enseignement et de recherche et de service à la communauté. Une utilisation à des fins privées très occasionnelle est autorisée dans la mesure où elle :  </a:t>
            </a:r>
          </a:p>
          <a:p>
            <a:pPr marL="733425" marR="314325" indent="-285750" algn="just">
              <a:lnSpc>
                <a:spcPct val="110000"/>
              </a:lnSpc>
              <a:spcAft>
                <a:spcPts val="12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n’entrave pas la réalisation des tâches professionnelles des intéressés et ne perturbe pas le bon fonctionnement des installations ; </a:t>
            </a:r>
          </a:p>
          <a:p>
            <a:pPr marL="733425" marR="314325" indent="-285750" algn="just">
              <a:lnSpc>
                <a:spcPct val="110000"/>
              </a:lnSpc>
              <a:spcAft>
                <a:spcPts val="12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se fasse dans le respect de la loi et ne contrevienne pas aux bonnes mœurs ; </a:t>
            </a:r>
          </a:p>
          <a:p>
            <a:pPr marL="733425" marR="314325" indent="-285750" algn="just">
              <a:lnSpc>
                <a:spcPct val="110000"/>
              </a:lnSpc>
              <a:spcAft>
                <a:spcPts val="120"/>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ne contrevient à aucune politique de l'Université ; </a:t>
            </a:r>
          </a:p>
          <a:p>
            <a:pPr marL="733425" marR="314325" indent="-285750" algn="just">
              <a:lnSpc>
                <a:spcPct val="110000"/>
              </a:lnSpc>
              <a:spcAft>
                <a:spcPts val="755"/>
              </a:spcAft>
              <a:buFont typeface="Arial" panose="020B0604020202020204" pitchFamily="34" charset="0"/>
              <a:buChar char="•"/>
            </a:pPr>
            <a:r>
              <a:rPr lang="fr-ML" sz="2200" dirty="0">
                <a:solidFill>
                  <a:srgbClr val="000000"/>
                </a:solidFill>
                <a:effectLst/>
                <a:latin typeface="Calibri" panose="020F0502020204030204" pitchFamily="34" charset="0"/>
                <a:ea typeface="Calibri" panose="020F0502020204030204" pitchFamily="34" charset="0"/>
              </a:rPr>
              <a:t>est ponctuelle et se produit uniquement pendant les temps de pause ; </a:t>
            </a:r>
            <a:endParaRPr lang="fr-ML" sz="2200" dirty="0">
              <a:solidFill>
                <a:srgbClr val="000000"/>
              </a:solidFill>
              <a:latin typeface="Wingdings" panose="05000000000000000000" pitchFamily="2" charset="2"/>
              <a:ea typeface="Calibri" panose="020F0502020204030204" pitchFamily="34" charset="0"/>
            </a:endParaRPr>
          </a:p>
          <a:p>
            <a:pPr marL="733425" marR="314325" indent="-285750" algn="just">
              <a:lnSpc>
                <a:spcPct val="110000"/>
              </a:lnSpc>
              <a:spcAft>
                <a:spcPts val="755"/>
              </a:spcAft>
              <a:buFont typeface="Arial" panose="020B0604020202020204" pitchFamily="34" charset="0"/>
              <a:buChar char="•"/>
            </a:pPr>
            <a:r>
              <a:rPr lang="fr-ML" sz="2200" dirty="0">
                <a:solidFill>
                  <a:srgbClr val="000000"/>
                </a:solidFill>
                <a:effectLst/>
                <a:latin typeface="Arial" panose="020B0604020202020204" pitchFamily="34" charset="0"/>
                <a:ea typeface="Arial" panose="020B0604020202020204" pitchFamily="34" charset="0"/>
              </a:rPr>
              <a:t> 	</a:t>
            </a:r>
            <a:r>
              <a:rPr lang="fr-ML" sz="2200" dirty="0">
                <a:solidFill>
                  <a:srgbClr val="000000"/>
                </a:solidFill>
                <a:effectLst/>
                <a:latin typeface="Calibri" panose="020F0502020204030204" pitchFamily="34" charset="0"/>
                <a:ea typeface="Calibri" panose="020F0502020204030204" pitchFamily="34" charset="0"/>
              </a:rPr>
              <a:t>n’est pas excessive dans l’utilisation des ressources. </a:t>
            </a:r>
          </a:p>
          <a:p>
            <a:pPr marL="227330" marR="314325" indent="1270" algn="just">
              <a:lnSpc>
                <a:spcPct val="110000"/>
              </a:lnSpc>
              <a:spcAft>
                <a:spcPts val="120"/>
              </a:spcAft>
            </a:pPr>
            <a:r>
              <a:rPr lang="fr-ML" sz="2200" dirty="0">
                <a:solidFill>
                  <a:srgbClr val="000000"/>
                </a:solidFill>
                <a:effectLst/>
                <a:latin typeface="Calibri" panose="020F0502020204030204" pitchFamily="34" charset="0"/>
                <a:ea typeface="Calibri" panose="020F0502020204030204" pitchFamily="34" charset="0"/>
              </a:rPr>
              <a:t>Les membres de la communauté universitaire ne sont pas autorisés à utiliser un compte de messagerie personnel (non fourni par l'Université) pour mener à bien leurs activités à l'Université, et doivent conserver un compte de messagerie personnel et séparé pour leur correspondance privée. </a:t>
            </a:r>
          </a:p>
          <a:p>
            <a:pPr marL="447675" marR="314325" indent="1270" algn="just">
              <a:lnSpc>
                <a:spcPct val="110000"/>
              </a:lnSpc>
              <a:spcAft>
                <a:spcPts val="770"/>
              </a:spcAft>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105591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6651757"/>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225425" indent="-6350">
              <a:lnSpc>
                <a:spcPct val="107000"/>
              </a:lnSpc>
              <a:spcAft>
                <a:spcPts val="605"/>
              </a:spcAft>
            </a:pPr>
            <a:r>
              <a:rPr lang="fr-ML" sz="2000" b="1" dirty="0">
                <a:solidFill>
                  <a:srgbClr val="000000"/>
                </a:solidFill>
                <a:latin typeface="Calibri" panose="020F0502020204030204" pitchFamily="34" charset="0"/>
                <a:ea typeface="Calibri" panose="020F0502020204030204" pitchFamily="34" charset="0"/>
              </a:rPr>
              <a:t>6</a:t>
            </a:r>
            <a:r>
              <a:rPr lang="fr-ML" sz="2000" b="1" dirty="0">
                <a:solidFill>
                  <a:srgbClr val="000000"/>
                </a:solidFill>
                <a:effectLst/>
                <a:latin typeface="Calibri" panose="020F0502020204030204" pitchFamily="34" charset="0"/>
                <a:ea typeface="Calibri" panose="020F0502020204030204" pitchFamily="34" charset="0"/>
              </a:rPr>
              <a:t>.3.</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Utilisation de matériel personnel </a:t>
            </a:r>
          </a:p>
          <a:p>
            <a:pPr marL="227330" marR="314325" indent="1270" algn="just">
              <a:lnSpc>
                <a:spcPct val="110000"/>
              </a:lnSpc>
              <a:spcAft>
                <a:spcPts val="1575"/>
              </a:spcAft>
            </a:pPr>
            <a:r>
              <a:rPr lang="fr-ML" sz="2000" dirty="0">
                <a:solidFill>
                  <a:srgbClr val="000000"/>
                </a:solidFill>
                <a:effectLst/>
                <a:latin typeface="Calibri" panose="020F0502020204030204" pitchFamily="34" charset="0"/>
                <a:ea typeface="Calibri" panose="020F0502020204030204" pitchFamily="34" charset="0"/>
              </a:rPr>
              <a:t>L’utilisation de matériel personnel  est autorisée sous réserve de respecter les normes minimales de sécurité. Les utilisateurs doivent à tout moment tenir compte des risques liés à l'utilisation d'appareils personnels pour accéder aux informations de l'Université et, en particulier, aux informations classifiées comme confidentielles ou critiques. </a:t>
            </a:r>
          </a:p>
          <a:p>
            <a:pPr marL="225425" indent="-6350">
              <a:lnSpc>
                <a:spcPct val="107000"/>
              </a:lnSpc>
              <a:spcAft>
                <a:spcPts val="1160"/>
              </a:spcAft>
            </a:pPr>
            <a:r>
              <a:rPr lang="fr-ML" sz="2000" b="1" dirty="0">
                <a:solidFill>
                  <a:srgbClr val="000000"/>
                </a:solidFill>
                <a:latin typeface="Calibri" panose="020F0502020204030204" pitchFamily="34" charset="0"/>
                <a:ea typeface="Calibri" panose="020F0502020204030204" pitchFamily="34" charset="0"/>
              </a:rPr>
              <a:t>6</a:t>
            </a:r>
            <a:r>
              <a:rPr lang="fr-ML" sz="2000" b="1" dirty="0">
                <a:solidFill>
                  <a:srgbClr val="000000"/>
                </a:solidFill>
                <a:effectLst/>
                <a:latin typeface="Calibri" panose="020F0502020204030204" pitchFamily="34" charset="0"/>
                <a:ea typeface="Calibri" panose="020F0502020204030204" pitchFamily="34" charset="0"/>
              </a:rPr>
              <a:t>.4.</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Gestion et utilisation du réseau </a:t>
            </a:r>
          </a:p>
          <a:p>
            <a:pPr marL="454025" marR="144145" indent="-6350">
              <a:lnSpc>
                <a:spcPct val="106000"/>
              </a:lnSpc>
              <a:spcAft>
                <a:spcPts val="815"/>
              </a:spcAft>
            </a:pPr>
            <a:r>
              <a:rPr lang="fr-ML" sz="2000" b="1" dirty="0">
                <a:solidFill>
                  <a:srgbClr val="000000"/>
                </a:solidFill>
                <a:effectLst/>
                <a:latin typeface="Calibri" panose="020F0502020204030204" pitchFamily="34" charset="0"/>
                <a:ea typeface="Calibri" panose="020F0502020204030204" pitchFamily="34" charset="0"/>
              </a:rPr>
              <a:t>6.4.1.</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Gestion du réseau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Les réseaux de communication de l'Université sont gérés par un personnel spécialement qualifié pour superviser leur fonctionnement quotidien et assurer leur sécurité permanente (confidentialité, intégrité et disponibilité).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Les membres du personnel du Service réseau sont autorisés à agir promptement pour protéger la sécurité du réseau, mais doivent être proportionnés dans les actions qu’ils entreprennent, en particulier lorsque celles-ci ont un impact sur les utilisateurs.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Les membres du personnel du Service réseau doit immédiatement signaler tout incident de sécurité à haut niveau de risque à la SIRT qui, le cas échéant, avertira le DPO conformément au processus de gestion des incidents de sécurité. </a:t>
            </a:r>
          </a:p>
        </p:txBody>
      </p:sp>
    </p:spTree>
    <p:extLst>
      <p:ext uri="{BB962C8B-B14F-4D97-AF65-F5344CB8AC3E}">
        <p14:creationId xmlns:p14="http://schemas.microsoft.com/office/powerpoint/2010/main" val="643777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7032951"/>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.4.2.</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Conception et configuration du réseau </a:t>
            </a:r>
          </a:p>
          <a:p>
            <a:pPr marL="447675" marR="314325" indent="1270" algn="just">
              <a:lnSpc>
                <a:spcPct val="110000"/>
              </a:lnSpc>
              <a:spcAft>
                <a:spcPts val="785"/>
              </a:spcAft>
            </a:pPr>
            <a:r>
              <a:rPr lang="fr-ML" sz="1800" dirty="0">
                <a:solidFill>
                  <a:srgbClr val="000000"/>
                </a:solidFill>
                <a:effectLst/>
                <a:latin typeface="Calibri" panose="020F0502020204030204" pitchFamily="34" charset="0"/>
                <a:ea typeface="Calibri" panose="020F0502020204030204" pitchFamily="34" charset="0"/>
              </a:rPr>
              <a:t>Le réseau doit être conçu et configuré pour fournir des niveaux élevés de performance, de disponibilité et de fiabilité, adaptés aux besoins de l’Université, tout en offrant un degré élevé de contrôle de l’accès.  </a:t>
            </a:r>
          </a:p>
          <a:p>
            <a:pPr marL="447675" marR="314325" indent="1270" algn="just">
              <a:lnSpc>
                <a:spcPct val="110000"/>
              </a:lnSpc>
              <a:spcAft>
                <a:spcPts val="1345"/>
              </a:spcAft>
            </a:pPr>
            <a:r>
              <a:rPr lang="fr-ML" sz="1800" dirty="0">
                <a:solidFill>
                  <a:srgbClr val="000000"/>
                </a:solidFill>
                <a:effectLst/>
                <a:latin typeface="Calibri" panose="020F0502020204030204" pitchFamily="34" charset="0"/>
                <a:ea typeface="Calibri" panose="020F0502020204030204" pitchFamily="34" charset="0"/>
              </a:rPr>
              <a:t>Le réseau doit être séparé en domaines logiques distincts avec des contrôles de routage et d'accès mis en place entre les domaines afin d'empêcher tout accès non autorisé aux ressources du réseau, et afin d’éviter tout flux de trafic inutile entre les domaines.  </a:t>
            </a:r>
          </a:p>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.4.3.</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Sécurité physique et intégrité </a:t>
            </a:r>
          </a:p>
          <a:p>
            <a:pPr marL="447675"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Les installations de mise en réseau et de communication, y compris les armoires de câblage, les centres de données et les salles informatiques, doivent être correctement protégées contre les dommages accidentels (par exemple, incendie ou inondation), contre le vol ou tout autre acte malveillant. </a:t>
            </a:r>
          </a:p>
          <a:p>
            <a:pPr marL="447675" marR="314325" indent="1270" algn="just">
              <a:lnSpc>
                <a:spcPct val="110000"/>
              </a:lnSpc>
              <a:spcAft>
                <a:spcPts val="1335"/>
              </a:spcAft>
            </a:pPr>
            <a:r>
              <a:rPr lang="fr-ML" sz="1800" dirty="0">
                <a:solidFill>
                  <a:srgbClr val="000000"/>
                </a:solidFill>
                <a:effectLst/>
                <a:latin typeface="Calibri" panose="020F0502020204030204" pitchFamily="34" charset="0"/>
                <a:ea typeface="Calibri" panose="020F0502020204030204" pitchFamily="34" charset="0"/>
              </a:rPr>
              <a:t>Le réseau doit, le cas échéant, et dans la mesure du possible, être résilient afin d’atténuer les effets de la défaillance de ses composants.  </a:t>
            </a:r>
          </a:p>
          <a:p>
            <a:pPr marL="447675" marR="314325" indent="1270" algn="just">
              <a:lnSpc>
                <a:spcPct val="110000"/>
              </a:lnSpc>
              <a:spcAft>
                <a:spcPts val="1335"/>
              </a:spcAft>
            </a:pPr>
            <a:r>
              <a:rPr lang="fr-ML" sz="1800" dirty="0">
                <a:solidFill>
                  <a:srgbClr val="000000"/>
                </a:solidFill>
                <a:effectLst/>
                <a:latin typeface="Calibri" panose="020F0502020204030204" pitchFamily="34" charset="0"/>
                <a:ea typeface="Calibri" panose="020F0502020204030204" pitchFamily="34" charset="0"/>
              </a:rPr>
              <a:t>Le réseau doit, le cas échéant, et dans la mesure du possible, être résilient afin d’atténuer les effets de la défaillance de ses composants.  </a:t>
            </a:r>
          </a:p>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.4.4.</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Gestion du changement </a:t>
            </a:r>
          </a:p>
          <a:p>
            <a:pPr marL="447675"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Toutes les modifications apportées aux composants réseau (routeurs, pare-feu, etc.) sont soumises aux processus et procédures de gestion des modifications du service informatique.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38916668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5816592"/>
          </a:xfrm>
          <a:prstGeom prst="rect">
            <a:avLst/>
          </a:prstGeom>
          <a:noFill/>
        </p:spPr>
        <p:txBody>
          <a:bodyPr wrap="square" rtlCol="0">
            <a:spAutoFit/>
          </a:bodyPr>
          <a:lstStyle/>
          <a:p>
            <a:pPr marL="6350" indent="-6350">
              <a:lnSpc>
                <a:spcPct val="107000"/>
              </a:lnSpc>
              <a:spcAft>
                <a:spcPts val="415"/>
              </a:spcAft>
            </a:pPr>
            <a:r>
              <a:rPr lang="fr-ML" sz="2800" b="1" dirty="0">
                <a:solidFill>
                  <a:schemeClr val="accent2"/>
                </a:solidFill>
                <a:latin typeface="Calibri" panose="020F0502020204030204" pitchFamily="34" charset="0"/>
              </a:rPr>
              <a:t>6. Standards de sécurité </a:t>
            </a:r>
          </a:p>
          <a:p>
            <a:pPr marL="454025" marR="144145" indent="-6350">
              <a:lnSpc>
                <a:spcPct val="106000"/>
              </a:lnSpc>
              <a:spcAft>
                <a:spcPts val="815"/>
              </a:spcAft>
            </a:pPr>
            <a:r>
              <a:rPr lang="fr-ML" sz="2000" b="1" dirty="0">
                <a:solidFill>
                  <a:srgbClr val="000000"/>
                </a:solidFill>
                <a:effectLst/>
                <a:latin typeface="Calibri" panose="020F0502020204030204" pitchFamily="34" charset="0"/>
                <a:ea typeface="Calibri" panose="020F0502020204030204" pitchFamily="34" charset="0"/>
              </a:rPr>
              <a:t>6.4.5.</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Connexion de périphériques au réseau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Toute connexion de périphérique au réseau de l’Université doit se s’effectuer exclusivement au moyen de matériel fourni par l’équipe réseau.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Il est permis de connecter du matériel appartenant aux particuliers aux réseaux sans fil de l'université. </a:t>
            </a:r>
          </a:p>
          <a:p>
            <a:pPr marL="447675" marR="314325" indent="1270" algn="just">
              <a:lnSpc>
                <a:spcPct val="110000"/>
              </a:lnSpc>
              <a:spcAft>
                <a:spcPts val="1345"/>
              </a:spcAft>
            </a:pPr>
            <a:r>
              <a:rPr lang="fr-ML" sz="2000" dirty="0">
                <a:solidFill>
                  <a:srgbClr val="000000"/>
                </a:solidFill>
                <a:effectLst/>
                <a:latin typeface="Calibri" panose="020F0502020204030204" pitchFamily="34" charset="0"/>
                <a:ea typeface="Calibri" panose="020F0502020204030204" pitchFamily="34" charset="0"/>
              </a:rPr>
              <a:t>Tous les appareils connectés au réseau, quel que soit leur propriétaire, sont soumis à des tests de surveillance et de sécurité, conformément aux pratiques opérationnelles normales. </a:t>
            </a:r>
          </a:p>
          <a:p>
            <a:pPr marL="454025" marR="144145" indent="-6350">
              <a:lnSpc>
                <a:spcPct val="106000"/>
              </a:lnSpc>
              <a:spcAft>
                <a:spcPts val="815"/>
              </a:spcAft>
            </a:pPr>
            <a:r>
              <a:rPr lang="fr-ML" sz="2000" b="1" dirty="0">
                <a:solidFill>
                  <a:srgbClr val="000000"/>
                </a:solidFill>
                <a:latin typeface="Calibri" panose="020F0502020204030204" pitchFamily="34" charset="0"/>
                <a:ea typeface="Calibri" panose="020F0502020204030204" pitchFamily="34" charset="0"/>
              </a:rPr>
              <a:t>6</a:t>
            </a:r>
            <a:r>
              <a:rPr lang="fr-ML" sz="2000" b="1" dirty="0">
                <a:solidFill>
                  <a:srgbClr val="000000"/>
                </a:solidFill>
                <a:effectLst/>
                <a:latin typeface="Calibri" panose="020F0502020204030204" pitchFamily="34" charset="0"/>
                <a:ea typeface="Calibri" panose="020F0502020204030204" pitchFamily="34" charset="0"/>
              </a:rPr>
              <a:t>.4.6.</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Gestion des adresses réseau </a:t>
            </a:r>
          </a:p>
          <a:p>
            <a:pPr marL="447675"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L'attribution d'adresses utilisées sur les réseaux de l'Université doit être gérée par l'équipe réseau, qui peut déléguer la gestion de sous-ensembles de ces espaces d'adresses à d'autres équipes au sein des services informatiques.  </a:t>
            </a:r>
          </a:p>
          <a:p>
            <a:pPr marL="447675" marR="314325" indent="1270" algn="just">
              <a:lnSpc>
                <a:spcPct val="110000"/>
              </a:lnSpc>
              <a:spcAft>
                <a:spcPts val="1415"/>
              </a:spcAft>
            </a:pPr>
            <a:r>
              <a:rPr lang="fr-ML" sz="2000" dirty="0">
                <a:solidFill>
                  <a:srgbClr val="000000"/>
                </a:solidFill>
                <a:effectLst/>
                <a:latin typeface="Calibri" panose="020F0502020204030204" pitchFamily="34" charset="0"/>
                <a:ea typeface="Calibri" panose="020F0502020204030204" pitchFamily="34" charset="0"/>
              </a:rPr>
              <a:t>Les adresses réseau attribuées aux systèmes des utilisateurs finaux doivent, dans la mesure du possible, être attribuées de manière dynamique. </a:t>
            </a:r>
          </a:p>
          <a:p>
            <a:pPr marL="227330">
              <a:lnSpc>
                <a:spcPct val="107000"/>
              </a:lnSpc>
            </a:pPr>
            <a:endParaRPr lang="fr-ML" sz="20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0877937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5468035"/>
          </a:xfrm>
          <a:prstGeom prst="rect">
            <a:avLst/>
          </a:prstGeom>
          <a:noFill/>
        </p:spPr>
        <p:txBody>
          <a:bodyPr wrap="square" rtlCol="0">
            <a:spAutoFit/>
          </a:bodyPr>
          <a:lstStyle/>
          <a:p>
            <a:pPr marL="6350" indent="-6350">
              <a:lnSpc>
                <a:spcPct val="107000"/>
              </a:lnSpc>
              <a:spcAft>
                <a:spcPts val="415"/>
              </a:spcAft>
            </a:pPr>
            <a:r>
              <a:rPr lang="fr-ML" sz="3200" b="1" dirty="0">
                <a:solidFill>
                  <a:schemeClr val="accent2"/>
                </a:solidFill>
                <a:latin typeface="Calibri" panose="020F0502020204030204" pitchFamily="34" charset="0"/>
              </a:rPr>
              <a:t>6. Standards de sécurité </a:t>
            </a:r>
          </a:p>
          <a:p>
            <a:pPr marL="454025" marR="144145" indent="-6350">
              <a:lnSpc>
                <a:spcPct val="106000"/>
              </a:lnSpc>
              <a:spcAft>
                <a:spcPts val="815"/>
              </a:spcAft>
            </a:pPr>
            <a:r>
              <a:rPr lang="fr-ML" sz="2400" b="1" dirty="0">
                <a:solidFill>
                  <a:srgbClr val="000000"/>
                </a:solidFill>
                <a:latin typeface="Calibri" panose="020F0502020204030204" pitchFamily="34" charset="0"/>
                <a:ea typeface="Calibri" panose="020F0502020204030204" pitchFamily="34" charset="0"/>
              </a:rPr>
              <a:t>6</a:t>
            </a:r>
            <a:r>
              <a:rPr lang="fr-ML" sz="2400" b="1" dirty="0">
                <a:solidFill>
                  <a:srgbClr val="000000"/>
                </a:solidFill>
                <a:effectLst/>
                <a:latin typeface="Calibri" panose="020F0502020204030204" pitchFamily="34" charset="0"/>
                <a:ea typeface="Calibri" panose="020F0502020204030204" pitchFamily="34" charset="0"/>
              </a:rPr>
              <a:t>.4.7.</a:t>
            </a:r>
            <a:r>
              <a:rPr lang="fr-ML" sz="2400" b="1" dirty="0">
                <a:solidFill>
                  <a:srgbClr val="000000"/>
                </a:solidFill>
                <a:effectLst/>
                <a:latin typeface="Arial" panose="020B0604020202020204" pitchFamily="34" charset="0"/>
                <a:ea typeface="Arial" panose="020B0604020202020204" pitchFamily="34" charset="0"/>
              </a:rPr>
              <a:t> </a:t>
            </a:r>
            <a:r>
              <a:rPr lang="fr-ML" sz="2400" b="1" dirty="0">
                <a:solidFill>
                  <a:srgbClr val="000000"/>
                </a:solidFill>
                <a:effectLst/>
                <a:latin typeface="Calibri" panose="020F0502020204030204" pitchFamily="34" charset="0"/>
                <a:ea typeface="Calibri" panose="020F0502020204030204" pitchFamily="34" charset="0"/>
              </a:rPr>
              <a:t>Contrôles des accès au réseau </a:t>
            </a:r>
          </a:p>
          <a:p>
            <a:pPr marL="447675" marR="314325" indent="1270" algn="just">
              <a:lnSpc>
                <a:spcPct val="110000"/>
              </a:lnSpc>
              <a:spcAft>
                <a:spcPts val="770"/>
              </a:spcAft>
            </a:pPr>
            <a:r>
              <a:rPr lang="fr-ML" sz="2400" dirty="0">
                <a:solidFill>
                  <a:srgbClr val="000000"/>
                </a:solidFill>
                <a:effectLst/>
                <a:latin typeface="Calibri" panose="020F0502020204030204" pitchFamily="34" charset="0"/>
                <a:ea typeface="Calibri" panose="020F0502020204030204" pitchFamily="34" charset="0"/>
              </a:rPr>
              <a:t>L'accès aux ressources du réseau doit être strictement contrôlé pour empêcher tout accès non autorisé. Les procédures de contrôle d'accès doivent fournir des garanties adéquates grâce à des techniques d'identification et d'authentification robustes. </a:t>
            </a:r>
          </a:p>
          <a:p>
            <a:pPr marL="447675" marR="314325" indent="1270" algn="just">
              <a:lnSpc>
                <a:spcPct val="110000"/>
              </a:lnSpc>
              <a:spcAft>
                <a:spcPts val="1345"/>
              </a:spcAft>
            </a:pPr>
            <a:r>
              <a:rPr lang="fr-ML" sz="2400" dirty="0">
                <a:solidFill>
                  <a:srgbClr val="000000"/>
                </a:solidFill>
                <a:effectLst/>
                <a:latin typeface="Calibri" panose="020F0502020204030204" pitchFamily="34" charset="0"/>
                <a:ea typeface="Calibri" panose="020F0502020204030204" pitchFamily="34" charset="0"/>
              </a:rPr>
              <a:t>Le service réseau est responsable de la gestion des passerelles reliant le réseau de l'Université à Internet. Des contrôles seront appliqués à ces passerelles pour limiter l'exposition des systèmes universitaires à Internet et ainsi réduire les risques de piratage, d'attaque par déni de service, d'infection par un programme malveillant ou encore d'accès non autorisé à l'information. Les contrôles seront appliqués au trafic entrant et sortant. </a:t>
            </a:r>
          </a:p>
          <a:p>
            <a:pPr marL="227330">
              <a:lnSpc>
                <a:spcPct val="107000"/>
              </a:lnSpc>
            </a:pPr>
            <a:endParaRPr lang="fr-ML" sz="24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99712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7104830"/>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454025" marR="144145" indent="-6350">
              <a:lnSpc>
                <a:spcPct val="106000"/>
              </a:lnSpc>
              <a:spcAft>
                <a:spcPts val="81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.4.8.</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Règles de sécurité en matière d’utilisation du réseau </a:t>
            </a:r>
          </a:p>
          <a:p>
            <a:pPr marL="676910"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Cette politique définit les responsabilités et le comportement requis des utilisateurs du réseau de l'Université. Tout utilisateur du réseau de l'Université est soumis à cette politique, quel que soit son statut ou son affiliation à l’Université : </a:t>
            </a:r>
          </a:p>
          <a:p>
            <a:pPr marL="962660" marR="314325" indent="-285750" algn="just">
              <a:lnSpc>
                <a:spcPct val="110000"/>
              </a:lnSpc>
              <a:spcAft>
                <a:spcPts val="12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les utilisateurs ne doivent pas exploiter de services qui redistribuent les services du réseau ENI à d'autres personnes, de même que les utilisateurs ne doivent pas donner accès à des services à ceux qui n'y sont pas autorisés ; </a:t>
            </a:r>
          </a:p>
          <a:p>
            <a:pPr marL="962660" marR="314325" indent="-285750" algn="just">
              <a:lnSpc>
                <a:spcPct val="110000"/>
              </a:lnSpc>
              <a:spcAft>
                <a:spcPts val="12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aucun périphérique connecté au réseau de l'Université ne peut être configuré avec une adresse (IP ou MAC) autre que celle qui lui a été attribuée par les administrateurs du service réseau ;  </a:t>
            </a:r>
          </a:p>
          <a:p>
            <a:pPr marL="962660" marR="314325" indent="-285750" algn="just">
              <a:lnSpc>
                <a:spcPct val="110000"/>
              </a:lnSpc>
              <a:spcAft>
                <a:spcPts val="12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les ordinateurs ne doivent pas fonctionner en tant que serveurs à moins d'être enregistrés et autorisés. Les serveurs autorisés doivent répondre aux standards de sécurité définis par le service informatique ; </a:t>
            </a:r>
          </a:p>
          <a:p>
            <a:pPr marL="962660" marR="314325" indent="-285750" algn="just">
              <a:lnSpc>
                <a:spcPct val="110000"/>
              </a:lnSpc>
              <a:spcAft>
                <a:spcPts val="12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le réseau est une ressource partagée et doit être utilisé de manière responsable. Tout utilisateur qui persiste à générer un trafic excessif, après avoir été invité à ne pas le faire par le support réseau, enfreindra cette politique ; </a:t>
            </a:r>
          </a:p>
          <a:p>
            <a:pPr marL="962660" marR="314325" indent="-285750" algn="just">
              <a:lnSpc>
                <a:spcPct val="107000"/>
              </a:lnSpc>
              <a:spcAft>
                <a:spcPts val="17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toute utilisation du réseau l'Université doit être en totale conformité avec la loi ;  </a:t>
            </a:r>
          </a:p>
          <a:p>
            <a:pPr marL="962660" marR="314325" indent="-285750" algn="just">
              <a:lnSpc>
                <a:spcPct val="110000"/>
              </a:lnSpc>
              <a:spcAft>
                <a:spcPts val="12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les utilisateurs sont responsables de la sécurité de leurs ordinateurs, et doivent s'assurer que ceux-ci ne peuvent pas être utilisés de manière abusive ;  </a:t>
            </a:r>
          </a:p>
          <a:p>
            <a:pPr marL="962660" marR="314325" indent="-285750" algn="just">
              <a:lnSpc>
                <a:spcPct val="110000"/>
              </a:lnSpc>
              <a:spcAft>
                <a:spcPts val="1540"/>
              </a:spcAft>
              <a:buFont typeface="Arial" panose="020B0604020202020204" pitchFamily="34" charset="0"/>
              <a:buChar char="•"/>
            </a:pPr>
            <a:r>
              <a:rPr lang="fr-ML" sz="1800" dirty="0">
                <a:solidFill>
                  <a:srgbClr val="000000"/>
                </a:solidFill>
                <a:effectLst/>
                <a:latin typeface="Calibri" panose="020F0502020204030204" pitchFamily="34" charset="0"/>
                <a:ea typeface="Calibri" panose="020F0502020204030204" pitchFamily="34" charset="0"/>
              </a:rPr>
              <a:t>les utilisateurs doivent suivre les instructions du service informatique pour installer, reconfigurer ou mettre à niveau les logiciels nécessaires afin de garantir la sécurité de leurs ordinateurs. </a:t>
            </a:r>
          </a:p>
          <a:p>
            <a:pPr marL="447675" marR="314325" indent="1270" algn="just">
              <a:lnSpc>
                <a:spcPct val="110000"/>
              </a:lnSpc>
              <a:spcAft>
                <a:spcPts val="940"/>
              </a:spcAft>
            </a:pPr>
            <a:endParaRPr lang="fr-ML" sz="1800" dirty="0">
              <a:solidFill>
                <a:srgbClr val="000000"/>
              </a:solidFill>
              <a:effectLst/>
              <a:latin typeface="Calibri" panose="020F0502020204030204" pitchFamily="34" charset="0"/>
              <a:ea typeface="Calibri" panose="020F0502020204030204" pitchFamily="34" charset="0"/>
            </a:endParaRPr>
          </a:p>
          <a:p>
            <a:pPr marL="227330">
              <a:lnSpc>
                <a:spcPct val="107000"/>
              </a:lnSpc>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7820753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7406323"/>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6. Standards de sécurité </a:t>
            </a:r>
          </a:p>
          <a:p>
            <a:pPr marL="225425" indent="-6350">
              <a:lnSpc>
                <a:spcPct val="107000"/>
              </a:lnSpc>
              <a:spcAft>
                <a:spcPts val="605"/>
              </a:spcAft>
            </a:pPr>
            <a:r>
              <a:rPr lang="fr-ML" b="1" dirty="0">
                <a:solidFill>
                  <a:srgbClr val="000000"/>
                </a:solidFill>
                <a:latin typeface="Calibri" panose="020F0502020204030204" pitchFamily="34" charset="0"/>
                <a:ea typeface="Calibri" panose="020F0502020204030204" pitchFamily="34" charset="0"/>
              </a:rPr>
              <a:t>6</a:t>
            </a:r>
            <a:r>
              <a:rPr lang="fr-ML" sz="1800" b="1" dirty="0">
                <a:solidFill>
                  <a:srgbClr val="000000"/>
                </a:solidFill>
                <a:effectLst/>
                <a:latin typeface="Calibri" panose="020F0502020204030204" pitchFamily="34" charset="0"/>
                <a:ea typeface="Calibri" panose="020F0502020204030204" pitchFamily="34" charset="0"/>
              </a:rPr>
              <a:t>.5.</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Autres standards de sécurité </a:t>
            </a:r>
          </a:p>
          <a:p>
            <a:pPr marL="227330" marR="314325" indent="1270" algn="just">
              <a:lnSpc>
                <a:spcPct val="110000"/>
              </a:lnSpc>
              <a:spcAft>
                <a:spcPts val="2390"/>
              </a:spcAft>
            </a:pPr>
            <a:r>
              <a:rPr lang="fr-ML" sz="1800" dirty="0">
                <a:solidFill>
                  <a:srgbClr val="000000"/>
                </a:solidFill>
                <a:effectLst/>
                <a:latin typeface="Calibri" panose="020F0502020204030204" pitchFamily="34" charset="0"/>
                <a:ea typeface="Calibri" panose="020F0502020204030204" pitchFamily="34" charset="0"/>
              </a:rPr>
              <a:t>Tout utilisateur s’engage à faire usage du système d’information de l'Université en bon père de famille et à respecter les standards de sécurité définis dans la PSSI, les règlements, procédures et guides de bonnes pratique de l'Université. </a:t>
            </a:r>
          </a:p>
          <a:p>
            <a:pPr marL="6350" indent="-6350">
              <a:lnSpc>
                <a:spcPct val="107000"/>
              </a:lnSpc>
              <a:spcAft>
                <a:spcPts val="415"/>
              </a:spcAft>
            </a:pPr>
            <a:r>
              <a:rPr lang="fr-ML" sz="2400" b="1" dirty="0">
                <a:solidFill>
                  <a:schemeClr val="accent2"/>
                </a:solidFill>
                <a:latin typeface="Calibri" panose="020F0502020204030204" pitchFamily="34" charset="0"/>
              </a:rPr>
              <a:t>7. Sous-traitance et conformité des tiers </a:t>
            </a:r>
          </a:p>
          <a:p>
            <a:pPr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Avant d'externaliser ou de permettre à un tiers d'accéder aux informations ou systèmes non publiques de l'Université, le personnel possédant l’expérience appropriée doit prendre une décision indiquant que les risques encourus sont clairement identifiés et acceptables pour l'Université. Le niveau d'expérience du personnel dépendra de la nature et de l'ampleur de la sous-traitance. </a:t>
            </a:r>
          </a:p>
          <a:p>
            <a:pPr marR="314325" indent="1270" algn="just">
              <a:lnSpc>
                <a:spcPct val="110000"/>
              </a:lnSpc>
              <a:spcAft>
                <a:spcPts val="1575"/>
              </a:spcAft>
            </a:pPr>
            <a:r>
              <a:rPr lang="fr-ML" sz="1800" dirty="0">
                <a:solidFill>
                  <a:srgbClr val="000000"/>
                </a:solidFill>
                <a:effectLst/>
                <a:latin typeface="Calibri" panose="020F0502020204030204" pitchFamily="34" charset="0"/>
                <a:ea typeface="Calibri" panose="020F0502020204030204" pitchFamily="34" charset="0"/>
              </a:rPr>
              <a:t>Lorsqu'un service est officiellement externalisé par l'Université, les normes et les attentes en matière de sécurité de l'information doivent faire partie intégrante du cahier des charges et du contrat mis en place. </a:t>
            </a:r>
          </a:p>
          <a:p>
            <a:pPr marL="225425" indent="-6350">
              <a:lnSpc>
                <a:spcPct val="107000"/>
              </a:lnSpc>
              <a:spcAft>
                <a:spcPts val="605"/>
              </a:spcAft>
            </a:pPr>
            <a:r>
              <a:rPr lang="fr-ML" b="1" dirty="0">
                <a:solidFill>
                  <a:srgbClr val="000000"/>
                </a:solidFill>
                <a:latin typeface="Calibri" panose="020F0502020204030204" pitchFamily="34" charset="0"/>
                <a:ea typeface="Calibri" panose="020F0502020204030204" pitchFamily="34" charset="0"/>
              </a:rPr>
              <a:t>7</a:t>
            </a:r>
            <a:r>
              <a:rPr lang="fr-ML" sz="1800" b="1" dirty="0">
                <a:solidFill>
                  <a:srgbClr val="000000"/>
                </a:solidFill>
                <a:effectLst/>
                <a:latin typeface="Calibri" panose="020F0502020204030204" pitchFamily="34" charset="0"/>
                <a:ea typeface="Calibri" panose="020F0502020204030204" pitchFamily="34" charset="0"/>
              </a:rPr>
              <a:t>.1.</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Vérifications </a:t>
            </a:r>
          </a:p>
          <a:p>
            <a:pPr marL="227330" marR="314325" indent="1270" algn="just">
              <a:lnSpc>
                <a:spcPct val="110000"/>
              </a:lnSpc>
              <a:spcAft>
                <a:spcPts val="1565"/>
              </a:spcAft>
            </a:pPr>
            <a:r>
              <a:rPr lang="fr-ML" sz="1800" dirty="0">
                <a:solidFill>
                  <a:srgbClr val="000000"/>
                </a:solidFill>
                <a:effectLst/>
                <a:latin typeface="Calibri" panose="020F0502020204030204" pitchFamily="34" charset="0"/>
                <a:ea typeface="Calibri" panose="020F0502020204030204" pitchFamily="34" charset="0"/>
              </a:rPr>
              <a:t>Le processus de sélection d'un fournisseur de services doit inclure une vérification préalable du tiers en question, une évaluation des risques et un examen des conditions générales ; ceci afin de garantir que l'Université ne soit pas exposée à des risques sous-jacents. Ce processus peut impliquer les conseils de membres de l’Université experts en droit des contrats, en informatique, en sécurité de l’information, en protection des données à caractère personnel, en protection des données de recherche et de la propriété intellectuelle, et en ressources humaines. Ce processus doit également inclure la prise en compte de toute politique de sécurité des informations ou d'informations similaires disponibles auprès de la tierce partie. </a:t>
            </a:r>
          </a:p>
          <a:p>
            <a:pPr marL="227330">
              <a:lnSpc>
                <a:spcPct val="107000"/>
              </a:lnSpc>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381248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115917"/>
            <a:ext cx="12061371" cy="7002302"/>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7. Sous-traitance et conformité des tiers  </a:t>
            </a:r>
          </a:p>
          <a:p>
            <a:pPr marL="6350" indent="-6350">
              <a:lnSpc>
                <a:spcPct val="107000"/>
              </a:lnSpc>
              <a:spcAft>
                <a:spcPts val="415"/>
              </a:spcAft>
            </a:pPr>
            <a:r>
              <a:rPr lang="fr-ML" sz="2400" b="1" dirty="0">
                <a:solidFill>
                  <a:srgbClr val="000000"/>
                </a:solidFill>
                <a:latin typeface="Calibri" panose="020F0502020204030204" pitchFamily="34" charset="0"/>
              </a:rPr>
              <a:t>7</a:t>
            </a:r>
            <a:r>
              <a:rPr lang="fr-ML" sz="2400" b="1" dirty="0">
                <a:solidFill>
                  <a:srgbClr val="000000"/>
                </a:solidFill>
                <a:effectLst/>
                <a:latin typeface="Calibri" panose="020F0502020204030204" pitchFamily="34" charset="0"/>
                <a:ea typeface="Calibri" panose="020F0502020204030204" pitchFamily="34" charset="0"/>
              </a:rPr>
              <a:t>.2.</a:t>
            </a:r>
            <a:r>
              <a:rPr lang="fr-ML" sz="2400" b="1" dirty="0">
                <a:solidFill>
                  <a:srgbClr val="000000"/>
                </a:solidFill>
                <a:effectLst/>
                <a:latin typeface="Arial" panose="020B0604020202020204" pitchFamily="34" charset="0"/>
                <a:ea typeface="Arial" panose="020B0604020202020204" pitchFamily="34" charset="0"/>
              </a:rPr>
              <a:t> </a:t>
            </a:r>
            <a:r>
              <a:rPr lang="fr-ML" sz="2400" b="1" dirty="0">
                <a:solidFill>
                  <a:srgbClr val="000000"/>
                </a:solidFill>
                <a:effectLst/>
                <a:latin typeface="Calibri" panose="020F0502020204030204" pitchFamily="34" charset="0"/>
                <a:ea typeface="Calibri" panose="020F0502020204030204" pitchFamily="34" charset="0"/>
              </a:rPr>
              <a:t>Formalisation contractuelle  </a:t>
            </a:r>
          </a:p>
          <a:p>
            <a:pPr marL="227330" marR="314325" indent="1270" algn="just">
              <a:lnSpc>
                <a:spcPct val="110000"/>
              </a:lnSpc>
              <a:spcAft>
                <a:spcPts val="120"/>
              </a:spcAft>
            </a:pPr>
            <a:r>
              <a:rPr lang="fr-ML" sz="2400" dirty="0">
                <a:solidFill>
                  <a:srgbClr val="000000"/>
                </a:solidFill>
                <a:effectLst/>
                <a:latin typeface="Calibri" panose="020F0502020204030204" pitchFamily="34" charset="0"/>
                <a:ea typeface="Calibri" panose="020F0502020204030204" pitchFamily="34" charset="0"/>
              </a:rPr>
              <a:t>Tout sous-traitant ayant accès aux informations ou aux systèmes d’informations non publiques de l’Université doit accepter de respecter les règles de sécurité de l’information propres à l’Université. Les clauses de confidentialité doivent être utilisées lors de tout accord contractuel quand une tierce partie a accès aux informations non publiques de l'Université. </a:t>
            </a:r>
          </a:p>
          <a:p>
            <a:pPr marL="227330" marR="314325" indent="1270" algn="just">
              <a:lnSpc>
                <a:spcPct val="110000"/>
              </a:lnSpc>
              <a:spcAft>
                <a:spcPts val="785"/>
              </a:spcAft>
            </a:pPr>
            <a:r>
              <a:rPr lang="fr-ML" sz="2400" dirty="0">
                <a:solidFill>
                  <a:srgbClr val="000000"/>
                </a:solidFill>
                <a:effectLst/>
                <a:latin typeface="Calibri" panose="020F0502020204030204" pitchFamily="34" charset="0"/>
                <a:ea typeface="Calibri" panose="020F0502020204030204" pitchFamily="34" charset="0"/>
              </a:rPr>
              <a:t>Les contrats doivent également contenir des accords de support avec les parties tierces, notamment en cas d'atteinte à la sécurité. Celles-ci comprendront des heures d'assistance, des contacts d'urgence et des procédures d'escalade. </a:t>
            </a:r>
          </a:p>
          <a:p>
            <a:pPr marL="227330" marR="314325" indent="1270" algn="just">
              <a:lnSpc>
                <a:spcPct val="110000"/>
              </a:lnSpc>
              <a:spcAft>
                <a:spcPts val="1570"/>
              </a:spcAft>
            </a:pPr>
            <a:r>
              <a:rPr lang="fr-ML" sz="2400" dirty="0">
                <a:solidFill>
                  <a:srgbClr val="000000"/>
                </a:solidFill>
                <a:effectLst/>
                <a:latin typeface="Calibri" panose="020F0502020204030204" pitchFamily="34" charset="0"/>
                <a:ea typeface="Calibri" panose="020F0502020204030204" pitchFamily="34" charset="0"/>
              </a:rPr>
              <a:t>Par ailleurs, tous les contrats de sous-traitance à l'Université doivent faire l’objet de contrôles afin de garantir qu’ils respectent les exigences requises en matière de sécurité de l'information. Ceux ci doivent effectivement inclure des dispositions appropriées pour assurer la sécurité permanente des informations et des systèmes en cas de résiliation du contrat ou de transfert de ce dernier à un autre sous-traitant. </a:t>
            </a:r>
          </a:p>
          <a:p>
            <a:pPr marL="227330">
              <a:lnSpc>
                <a:spcPct val="107000"/>
              </a:lnSpc>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549738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0"/>
            <a:ext cx="12061371" cy="6612836"/>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7. Sous-traitance et conformité des tiers  </a:t>
            </a:r>
          </a:p>
          <a:p>
            <a:pPr marL="225425" indent="-6350">
              <a:lnSpc>
                <a:spcPct val="107000"/>
              </a:lnSpc>
              <a:spcAft>
                <a:spcPts val="605"/>
              </a:spcAft>
            </a:pPr>
            <a:r>
              <a:rPr lang="fr-ML" sz="2000" b="1" dirty="0">
                <a:solidFill>
                  <a:srgbClr val="000000"/>
                </a:solidFill>
                <a:latin typeface="Calibri" panose="020F0502020204030204" pitchFamily="34" charset="0"/>
                <a:ea typeface="Calibri" panose="020F0502020204030204" pitchFamily="34" charset="0"/>
              </a:rPr>
              <a:t>7</a:t>
            </a:r>
            <a:r>
              <a:rPr lang="fr-ML" sz="2000" b="1" dirty="0">
                <a:solidFill>
                  <a:srgbClr val="000000"/>
                </a:solidFill>
                <a:effectLst/>
                <a:latin typeface="Calibri" panose="020F0502020204030204" pitchFamily="34" charset="0"/>
                <a:ea typeface="Calibri" panose="020F0502020204030204" pitchFamily="34" charset="0"/>
              </a:rPr>
              <a:t>.3.</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Règlement général sur la protection des données </a:t>
            </a:r>
          </a:p>
          <a:p>
            <a:pPr marL="227330" marR="314325" indent="1270" algn="just">
              <a:lnSpc>
                <a:spcPct val="110000"/>
              </a:lnSpc>
              <a:spcAft>
                <a:spcPts val="770"/>
              </a:spcAft>
            </a:pPr>
            <a:r>
              <a:rPr lang="fr-ML" sz="2000" dirty="0">
                <a:solidFill>
                  <a:srgbClr val="000000"/>
                </a:solidFill>
                <a:effectLst/>
                <a:latin typeface="Calibri" panose="020F0502020204030204" pitchFamily="34" charset="0"/>
                <a:ea typeface="Calibri" panose="020F0502020204030204" pitchFamily="34" charset="0"/>
              </a:rPr>
              <a:t>Une évaluation des facteurs relatifs à la vie privée et à la protection des données à caractère personnel doit être réalisée au début de tout projet qui implique potentiellement l'accès à des données à caractère personnel par un tiers. Toute externalisation d’activité impliquant le transfert de données à caractère personnel à une tierce partie doit inclure l'acceptation des conditions standard de traitement des données à caractère personnel de l'Université. </a:t>
            </a:r>
          </a:p>
          <a:p>
            <a:pPr marL="225425" indent="-6350">
              <a:lnSpc>
                <a:spcPct val="107000"/>
              </a:lnSpc>
              <a:spcAft>
                <a:spcPts val="605"/>
              </a:spcAft>
            </a:pPr>
            <a:r>
              <a:rPr lang="fr-ML" sz="2000" b="1" dirty="0">
                <a:solidFill>
                  <a:srgbClr val="000000"/>
                </a:solidFill>
                <a:latin typeface="Calibri" panose="020F0502020204030204" pitchFamily="34" charset="0"/>
                <a:ea typeface="Calibri" panose="020F0502020204030204" pitchFamily="34" charset="0"/>
              </a:rPr>
              <a:t>7</a:t>
            </a:r>
            <a:r>
              <a:rPr lang="fr-ML" sz="2000" b="1" dirty="0">
                <a:solidFill>
                  <a:srgbClr val="000000"/>
                </a:solidFill>
                <a:effectLst/>
                <a:latin typeface="Calibri" panose="020F0502020204030204" pitchFamily="34" charset="0"/>
                <a:ea typeface="Calibri" panose="020F0502020204030204" pitchFamily="34" charset="0"/>
              </a:rPr>
              <a:t>.4.</a:t>
            </a:r>
            <a:r>
              <a:rPr lang="fr-ML" sz="2000" b="1" dirty="0">
                <a:solidFill>
                  <a:srgbClr val="000000"/>
                </a:solidFill>
                <a:effectLst/>
                <a:latin typeface="Arial" panose="020B0604020202020204" pitchFamily="34" charset="0"/>
                <a:ea typeface="Arial" panose="020B0604020202020204" pitchFamily="34" charset="0"/>
              </a:rPr>
              <a:t> </a:t>
            </a:r>
            <a:r>
              <a:rPr lang="fr-ML" sz="2000" b="1" dirty="0">
                <a:solidFill>
                  <a:srgbClr val="000000"/>
                </a:solidFill>
                <a:effectLst/>
                <a:latin typeface="Calibri" panose="020F0502020204030204" pitchFamily="34" charset="0"/>
                <a:ea typeface="Calibri" panose="020F0502020204030204" pitchFamily="34" charset="0"/>
              </a:rPr>
              <a:t>Accès physique par des tiers  </a:t>
            </a:r>
          </a:p>
          <a:p>
            <a:pPr marL="227330" marR="314325" indent="1270" algn="just">
              <a:lnSpc>
                <a:spcPct val="110000"/>
              </a:lnSpc>
              <a:spcAft>
                <a:spcPts val="940"/>
              </a:spcAft>
            </a:pPr>
            <a:r>
              <a:rPr lang="fr-ML" sz="2000" dirty="0">
                <a:solidFill>
                  <a:srgbClr val="000000"/>
                </a:solidFill>
                <a:effectLst/>
                <a:latin typeface="Calibri" panose="020F0502020204030204" pitchFamily="34" charset="0"/>
                <a:ea typeface="Calibri" panose="020F0502020204030204" pitchFamily="34" charset="0"/>
              </a:rPr>
              <a:t>Une évaluation des risques doit être effectuée avant de permettre à un service tiers l’accès à des zones sécurisées de l'Université, où des informations non publiques et des actifs peuvent être stockés ou traités. Cette évaluation doit prendre en considération :  </a:t>
            </a:r>
          </a:p>
          <a:p>
            <a:pPr marL="733425"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 matériel informatique auquel le tiers pourrait avoir accès ; </a:t>
            </a:r>
          </a:p>
          <a:p>
            <a:pPr marL="733425"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les informations auxquelles il pourrait potentiellement accéder ; </a:t>
            </a:r>
          </a:p>
          <a:p>
            <a:pPr marL="733425"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l’identité du tiers ; </a:t>
            </a:r>
          </a:p>
          <a:p>
            <a:pPr marL="733425" marR="314325" indent="-285750" algn="just">
              <a:lnSpc>
                <a:spcPct val="110000"/>
              </a:lnSpc>
              <a:spcAft>
                <a:spcPts val="120"/>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la nécessité ou non de superviser l’accès du tiers aux zones sécurisées ; </a:t>
            </a:r>
          </a:p>
          <a:p>
            <a:pPr marL="733425" marR="314325" indent="-285750" algn="just">
              <a:lnSpc>
                <a:spcPct val="110000"/>
              </a:lnSpc>
              <a:spcAft>
                <a:spcPts val="2385"/>
              </a:spcAft>
              <a:buFont typeface="Arial" panose="020B0604020202020204" pitchFamily="34" charset="0"/>
              <a:buChar char="•"/>
            </a:pPr>
            <a:r>
              <a:rPr lang="fr-ML" sz="2000" dirty="0">
                <a:solidFill>
                  <a:srgbClr val="000000"/>
                </a:solidFill>
                <a:effectLst/>
                <a:latin typeface="Calibri" panose="020F0502020204030204" pitchFamily="34" charset="0"/>
                <a:ea typeface="Calibri" panose="020F0502020204030204" pitchFamily="34" charset="0"/>
              </a:rPr>
              <a:t>les éventuelles mesures complémentaires visant à éviter des risques potentiels. </a:t>
            </a:r>
          </a:p>
          <a:p>
            <a:pPr marL="227330">
              <a:lnSpc>
                <a:spcPct val="107000"/>
              </a:lnSpc>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29418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5" name="ZoneTexte 4">
            <a:extLst>
              <a:ext uri="{FF2B5EF4-FFF2-40B4-BE49-F238E27FC236}">
                <a16:creationId xmlns:a16="http://schemas.microsoft.com/office/drawing/2014/main" id="{BBFED1E8-51D7-2F9B-9CC5-8BB310C77C35}"/>
              </a:ext>
            </a:extLst>
          </p:cNvPr>
          <p:cNvSpPr txBox="1"/>
          <p:nvPr/>
        </p:nvSpPr>
        <p:spPr>
          <a:xfrm>
            <a:off x="130629" y="0"/>
            <a:ext cx="12061371" cy="5986126"/>
          </a:xfrm>
          <a:prstGeom prst="rect">
            <a:avLst/>
          </a:prstGeom>
          <a:noFill/>
        </p:spPr>
        <p:txBody>
          <a:bodyPr wrap="square" rtlCol="0">
            <a:spAutoFit/>
          </a:bodyPr>
          <a:lstStyle/>
          <a:p>
            <a:pPr marL="6350" indent="-6350">
              <a:lnSpc>
                <a:spcPct val="107000"/>
              </a:lnSpc>
              <a:spcAft>
                <a:spcPts val="415"/>
              </a:spcAft>
            </a:pPr>
            <a:r>
              <a:rPr lang="fr-ML" sz="2400" b="1" dirty="0">
                <a:solidFill>
                  <a:schemeClr val="accent2"/>
                </a:solidFill>
                <a:latin typeface="Calibri" panose="020F0502020204030204" pitchFamily="34" charset="0"/>
              </a:rPr>
              <a:t>7. Sous-traitance et conformité des tiers  </a:t>
            </a:r>
          </a:p>
          <a:p>
            <a:pPr marL="6350" indent="-6350">
              <a:lnSpc>
                <a:spcPct val="107000"/>
              </a:lnSpc>
              <a:spcAft>
                <a:spcPts val="415"/>
              </a:spcAft>
            </a:pPr>
            <a:r>
              <a:rPr lang="fr-ML" sz="1800" b="1" kern="0" dirty="0">
                <a:solidFill>
                  <a:srgbClr val="000000"/>
                </a:solidFill>
                <a:effectLst/>
                <a:latin typeface="Calibri" panose="020F0502020204030204" pitchFamily="34" charset="0"/>
                <a:ea typeface="Calibri" panose="020F0502020204030204" pitchFamily="34" charset="0"/>
              </a:rPr>
              <a:t>7.5.</a:t>
            </a:r>
            <a:r>
              <a:rPr lang="fr-ML" sz="1800" b="1" kern="0" dirty="0">
                <a:solidFill>
                  <a:srgbClr val="000000"/>
                </a:solidFill>
                <a:effectLst/>
                <a:latin typeface="Arial" panose="020B0604020202020204" pitchFamily="34" charset="0"/>
                <a:ea typeface="Arial" panose="020B0604020202020204" pitchFamily="34" charset="0"/>
              </a:rPr>
              <a:t> </a:t>
            </a:r>
            <a:r>
              <a:rPr lang="fr-ML" sz="1800" b="1" kern="0" dirty="0">
                <a:solidFill>
                  <a:srgbClr val="000000"/>
                </a:solidFill>
                <a:effectLst/>
                <a:latin typeface="Calibri" panose="020F0502020204030204" pitchFamily="34" charset="0"/>
                <a:ea typeface="Calibri" panose="020F0502020204030204" pitchFamily="34" charset="0"/>
              </a:rPr>
              <a:t>Responsabilités </a:t>
            </a:r>
          </a:p>
          <a:p>
            <a:pPr marR="314325" indent="1270" algn="just">
              <a:lnSpc>
                <a:spcPct val="110000"/>
              </a:lnSpc>
              <a:spcAft>
                <a:spcPts val="1570"/>
              </a:spcAft>
            </a:pPr>
            <a:r>
              <a:rPr lang="fr-ML" sz="1800" dirty="0">
                <a:solidFill>
                  <a:srgbClr val="000000"/>
                </a:solidFill>
                <a:effectLst/>
                <a:latin typeface="Calibri" panose="020F0502020204030204" pitchFamily="34" charset="0"/>
                <a:ea typeface="Calibri" panose="020F0502020204030204" pitchFamily="34" charset="0"/>
              </a:rPr>
              <a:t>La sécurité de l’information est l’affaire de tous. Experts en sécurité, membres du personnel IT, responsables hiérarchiques, responsables métiers, administrateurs systèmes, utilisateurs finaux… en partagent -à différents degrés- la responsabilité.  </a:t>
            </a:r>
          </a:p>
          <a:p>
            <a:pPr marL="225425" indent="-6350">
              <a:lnSpc>
                <a:spcPct val="107000"/>
              </a:lnSpc>
              <a:spcAft>
                <a:spcPts val="605"/>
              </a:spcAft>
            </a:pPr>
            <a:r>
              <a:rPr lang="fr-ML" sz="1800" b="1" dirty="0">
                <a:solidFill>
                  <a:srgbClr val="000000"/>
                </a:solidFill>
                <a:effectLst/>
                <a:latin typeface="Calibri" panose="020F0502020204030204" pitchFamily="34" charset="0"/>
                <a:ea typeface="Calibri" panose="020F0502020204030204" pitchFamily="34" charset="0"/>
              </a:rPr>
              <a:t>7.6.</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Respect des standards de sécurité </a:t>
            </a:r>
          </a:p>
          <a:p>
            <a:pPr marL="227330" marR="314325" indent="1270" algn="just">
              <a:lnSpc>
                <a:spcPct val="110000"/>
              </a:lnSpc>
              <a:spcAft>
                <a:spcPts val="1570"/>
              </a:spcAft>
            </a:pPr>
            <a:r>
              <a:rPr lang="fr-ML" sz="1800" dirty="0">
                <a:solidFill>
                  <a:srgbClr val="000000"/>
                </a:solidFill>
                <a:effectLst/>
                <a:latin typeface="Calibri" panose="020F0502020204030204" pitchFamily="34" charset="0"/>
                <a:ea typeface="Calibri" panose="020F0502020204030204" pitchFamily="34" charset="0"/>
              </a:rPr>
              <a:t>Chaque membre de la communauté universitaire a le devoir de respecter les standards de sécurité définit dans la PSSI et les règlements de l’université. </a:t>
            </a:r>
          </a:p>
          <a:p>
            <a:pPr marL="225425" indent="-6350">
              <a:lnSpc>
                <a:spcPct val="107000"/>
              </a:lnSpc>
              <a:spcAft>
                <a:spcPts val="605"/>
              </a:spcAft>
            </a:pPr>
            <a:r>
              <a:rPr lang="fr-ML" sz="1800" b="1" dirty="0">
                <a:solidFill>
                  <a:srgbClr val="000000"/>
                </a:solidFill>
                <a:effectLst/>
                <a:latin typeface="Calibri" panose="020F0502020204030204" pitchFamily="34" charset="0"/>
                <a:ea typeface="Calibri" panose="020F0502020204030204" pitchFamily="34" charset="0"/>
              </a:rPr>
              <a:t>7.7.</a:t>
            </a:r>
            <a:r>
              <a:rPr lang="fr-ML" sz="1800" b="1" dirty="0">
                <a:solidFill>
                  <a:srgbClr val="000000"/>
                </a:solidFill>
                <a:effectLst/>
                <a:latin typeface="Arial" panose="020B0604020202020204" pitchFamily="34" charset="0"/>
                <a:ea typeface="Arial" panose="020B0604020202020204" pitchFamily="34" charset="0"/>
              </a:rPr>
              <a:t> </a:t>
            </a:r>
            <a:r>
              <a:rPr lang="fr-ML" sz="1800" b="1" dirty="0">
                <a:solidFill>
                  <a:srgbClr val="000000"/>
                </a:solidFill>
                <a:effectLst/>
                <a:latin typeface="Calibri" panose="020F0502020204030204" pitchFamily="34" charset="0"/>
                <a:ea typeface="Calibri" panose="020F0502020204030204" pitchFamily="34" charset="0"/>
              </a:rPr>
              <a:t>Mesures en cas de non-respect de la politique de sécurité </a:t>
            </a:r>
          </a:p>
          <a:p>
            <a:pPr marL="227330"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Les infractions mineures de la PSSI seront traitées par le COSI. Les supérieurs hiérarchiques peuvent en être informés, en fonction  de l’impact sur les activités de leurs équipe ou selon le besoin de mesures disciplinaires de leur ressort. </a:t>
            </a:r>
          </a:p>
          <a:p>
            <a:pPr marL="227330"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Les infractions graves (ou les infractions mineures répétées) sont traitées conformément aux procédures disciplinaires de l'Université. </a:t>
            </a:r>
          </a:p>
          <a:p>
            <a:pPr marL="227330"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En cas de suspicion d’une activité suspecte qui pourrait nécessiter une ingérence dans la vie privée du travailleur (ex : vérifier le contenu des fichiers, ou les sites web visités par ce travailleur), la Commission de la protection de la vie privée à de l’universit</a:t>
            </a:r>
            <a:r>
              <a:rPr lang="fr-ML" dirty="0">
                <a:solidFill>
                  <a:srgbClr val="000000"/>
                </a:solidFill>
                <a:latin typeface="Calibri" panose="020F0502020204030204" pitchFamily="34" charset="0"/>
                <a:ea typeface="Calibri" panose="020F0502020204030204" pitchFamily="34" charset="0"/>
              </a:rPr>
              <a:t>é</a:t>
            </a:r>
            <a:r>
              <a:rPr lang="fr-ML" sz="1800" dirty="0">
                <a:solidFill>
                  <a:srgbClr val="000000"/>
                </a:solidFill>
                <a:effectLst/>
                <a:latin typeface="Calibri" panose="020F0502020204030204" pitchFamily="34" charset="0"/>
                <a:ea typeface="Calibri" panose="020F0502020204030204" pitchFamily="34" charset="0"/>
              </a:rPr>
              <a:t> doit être saisie. </a:t>
            </a:r>
          </a:p>
          <a:p>
            <a:pPr marL="227330">
              <a:lnSpc>
                <a:spcPct val="107000"/>
              </a:lnSpc>
            </a:pPr>
            <a:endParaRPr lang="fr-ML"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511004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3207">
            <a:extLst>
              <a:ext uri="{FF2B5EF4-FFF2-40B4-BE49-F238E27FC236}">
                <a16:creationId xmlns:a16="http://schemas.microsoft.com/office/drawing/2014/main" id="{3151C1CE-BF5B-80CA-30B8-6D4663E73863}"/>
              </a:ext>
            </a:extLst>
          </p:cNvPr>
          <p:cNvPicPr/>
          <p:nvPr/>
        </p:nvPicPr>
        <p:blipFill>
          <a:blip r:embed="rId2"/>
          <a:stretch>
            <a:fillRect/>
          </a:stretch>
        </p:blipFill>
        <p:spPr>
          <a:xfrm>
            <a:off x="302623" y="398417"/>
            <a:ext cx="11586754" cy="6061165"/>
          </a:xfrm>
          <a:prstGeom prst="rect">
            <a:avLst/>
          </a:prstGeom>
        </p:spPr>
      </p:pic>
      <p:sp>
        <p:nvSpPr>
          <p:cNvPr id="7" name="ZoneTexte 6">
            <a:extLst>
              <a:ext uri="{FF2B5EF4-FFF2-40B4-BE49-F238E27FC236}">
                <a16:creationId xmlns:a16="http://schemas.microsoft.com/office/drawing/2014/main" id="{59F3D8CD-5B2B-B728-DA6E-71C02AB48877}"/>
              </a:ext>
            </a:extLst>
          </p:cNvPr>
          <p:cNvSpPr txBox="1"/>
          <p:nvPr/>
        </p:nvSpPr>
        <p:spPr>
          <a:xfrm>
            <a:off x="2670399" y="1129368"/>
            <a:ext cx="2332676" cy="470000"/>
          </a:xfrm>
          <a:prstGeom prst="rect">
            <a:avLst/>
          </a:prstGeom>
          <a:noFill/>
        </p:spPr>
        <p:txBody>
          <a:bodyPr wrap="square" rtlCol="0">
            <a:spAutoFit/>
          </a:bodyPr>
          <a:lstStyle>
            <a:defPPr>
              <a:defRPr lang="en-US"/>
            </a:defPPr>
            <a:lvl1pPr marL="6350" indent="-6350">
              <a:lnSpc>
                <a:spcPct val="107000"/>
              </a:lnSpc>
              <a:spcAft>
                <a:spcPts val="415"/>
              </a:spcAft>
              <a:defRPr sz="2400" b="1">
                <a:solidFill>
                  <a:schemeClr val="accent2"/>
                </a:solidFill>
                <a:latin typeface="Calibri" panose="020F0502020204030204" pitchFamily="34" charset="0"/>
              </a:defRPr>
            </a:lvl1pPr>
          </a:lstStyle>
          <a:p>
            <a:r>
              <a:rPr lang="fr-ML" dirty="0"/>
              <a:t> Les références</a:t>
            </a:r>
          </a:p>
        </p:txBody>
      </p:sp>
      <p:sp>
        <p:nvSpPr>
          <p:cNvPr id="5" name="ZoneTexte 4">
            <a:extLst>
              <a:ext uri="{FF2B5EF4-FFF2-40B4-BE49-F238E27FC236}">
                <a16:creationId xmlns:a16="http://schemas.microsoft.com/office/drawing/2014/main" id="{BBFED1E8-51D7-2F9B-9CC5-8BB310C77C35}"/>
              </a:ext>
            </a:extLst>
          </p:cNvPr>
          <p:cNvSpPr txBox="1"/>
          <p:nvPr/>
        </p:nvSpPr>
        <p:spPr>
          <a:xfrm>
            <a:off x="616132" y="2330318"/>
            <a:ext cx="10959736" cy="2929520"/>
          </a:xfrm>
          <a:prstGeom prst="rect">
            <a:avLst/>
          </a:prstGeom>
          <a:noFill/>
        </p:spPr>
        <p:txBody>
          <a:bodyPr wrap="square" rtlCol="0">
            <a:spAutoFit/>
          </a:bodyPr>
          <a:lstStyle/>
          <a:p>
            <a:pPr marR="314325" indent="1270" algn="just">
              <a:lnSpc>
                <a:spcPct val="110000"/>
              </a:lnSpc>
              <a:spcAft>
                <a:spcPts val="755"/>
              </a:spcAft>
            </a:pPr>
            <a:r>
              <a:rPr lang="fr-ML" sz="1800" dirty="0">
                <a:solidFill>
                  <a:srgbClr val="000000"/>
                </a:solidFill>
                <a:effectLst/>
                <a:latin typeface="Calibri" panose="020F0502020204030204" pitchFamily="34" charset="0"/>
                <a:ea typeface="Calibri" panose="020F0502020204030204" pitchFamily="34" charset="0"/>
              </a:rPr>
              <a:t>Les références utilisées dans la rédaction de ce document sont les suivantes : </a:t>
            </a:r>
          </a:p>
          <a:p>
            <a:pPr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Les Normes ISO – « famille » ISO 27 000 (</a:t>
            </a:r>
            <a:r>
              <a:rPr lang="fr-ML" sz="1800" u="sng" dirty="0">
                <a:solidFill>
                  <a:srgbClr val="0563C1"/>
                </a:solidFill>
                <a:effectLst/>
                <a:latin typeface="Calibri" panose="020F0502020204030204" pitchFamily="34" charset="0"/>
                <a:ea typeface="Calibri" panose="020F0502020204030204" pitchFamily="34" charset="0"/>
                <a:hlinkClick r:id="rId3"/>
              </a:rPr>
              <a:t>https://www.iso.org/</a:t>
            </a:r>
            <a:r>
              <a:rPr lang="fr-ML" sz="1800" u="none" strike="noStrike" dirty="0">
                <a:solidFill>
                  <a:srgbClr val="000000"/>
                </a:solidFill>
                <a:effectLst/>
                <a:latin typeface="Calibri" panose="020F0502020204030204" pitchFamily="34" charset="0"/>
                <a:ea typeface="Calibri" panose="020F0502020204030204" pitchFamily="34" charset="0"/>
                <a:hlinkClick r:id="rId3"/>
              </a:rPr>
              <a:t>)</a:t>
            </a:r>
            <a:r>
              <a:rPr lang="fr-ML" sz="1800" dirty="0">
                <a:solidFill>
                  <a:srgbClr val="000000"/>
                </a:solidFill>
                <a:effectLst/>
                <a:latin typeface="Calibri" panose="020F0502020204030204" pitchFamily="34" charset="0"/>
                <a:ea typeface="Calibri" panose="020F0502020204030204" pitchFamily="34" charset="0"/>
              </a:rPr>
              <a:t> </a:t>
            </a:r>
          </a:p>
          <a:p>
            <a:pPr marR="314325" indent="1270" algn="just">
              <a:lnSpc>
                <a:spcPct val="110000"/>
              </a:lnSpc>
              <a:spcAft>
                <a:spcPts val="120"/>
              </a:spcAft>
            </a:pPr>
            <a:r>
              <a:rPr lang="fr-ML" sz="1800" dirty="0">
                <a:solidFill>
                  <a:srgbClr val="000000"/>
                </a:solidFill>
                <a:effectLst/>
                <a:latin typeface="Calibri" panose="020F0502020204030204" pitchFamily="34" charset="0"/>
                <a:ea typeface="Calibri" panose="020F0502020204030204" pitchFamily="34" charset="0"/>
              </a:rPr>
              <a:t>NIST – National Institute for Standards and </a:t>
            </a:r>
            <a:r>
              <a:rPr lang="fr-ML" sz="1800" dirty="0" err="1">
                <a:solidFill>
                  <a:srgbClr val="000000"/>
                </a:solidFill>
                <a:effectLst/>
                <a:latin typeface="Calibri" panose="020F0502020204030204" pitchFamily="34" charset="0"/>
                <a:ea typeface="Calibri" panose="020F0502020204030204" pitchFamily="34" charset="0"/>
              </a:rPr>
              <a:t>Technology</a:t>
            </a:r>
            <a:r>
              <a:rPr lang="fr-ML" sz="1800" dirty="0">
                <a:solidFill>
                  <a:srgbClr val="000000"/>
                </a:solidFill>
                <a:effectLst/>
                <a:latin typeface="Calibri" panose="020F0502020204030204" pitchFamily="34" charset="0"/>
                <a:ea typeface="Calibri" panose="020F0502020204030204" pitchFamily="34" charset="0"/>
              </a:rPr>
              <a:t> (</a:t>
            </a:r>
            <a:r>
              <a:rPr lang="fr-ML" sz="1800" u="sng" dirty="0">
                <a:solidFill>
                  <a:srgbClr val="0563C1"/>
                </a:solidFill>
                <a:effectLst/>
                <a:latin typeface="Calibri" panose="020F0502020204030204" pitchFamily="34" charset="0"/>
                <a:ea typeface="Calibri" panose="020F0502020204030204" pitchFamily="34" charset="0"/>
                <a:hlinkClick r:id="rId4"/>
              </a:rPr>
              <a:t>https://www.nist.gov/</a:t>
            </a:r>
            <a:r>
              <a:rPr lang="fr-ML" sz="1800" u="none" strike="noStrike" dirty="0">
                <a:solidFill>
                  <a:srgbClr val="000000"/>
                </a:solidFill>
                <a:effectLst/>
                <a:latin typeface="Calibri" panose="020F0502020204030204" pitchFamily="34" charset="0"/>
                <a:ea typeface="Calibri" panose="020F0502020204030204" pitchFamily="34" charset="0"/>
                <a:hlinkClick r:id="rId4"/>
              </a:rPr>
              <a:t>)</a:t>
            </a:r>
            <a:r>
              <a:rPr lang="fr-ML" sz="1800" dirty="0">
                <a:solidFill>
                  <a:srgbClr val="000000"/>
                </a:solidFill>
                <a:effectLst/>
                <a:latin typeface="Calibri" panose="020F0502020204030204" pitchFamily="34" charset="0"/>
                <a:ea typeface="Calibri" panose="020F0502020204030204" pitchFamily="34" charset="0"/>
              </a:rPr>
              <a:t> </a:t>
            </a:r>
          </a:p>
          <a:p>
            <a:pPr indent="-6350" algn="l">
              <a:lnSpc>
                <a:spcPct val="107000"/>
              </a:lnSpc>
              <a:spcAft>
                <a:spcPts val="800"/>
              </a:spcAft>
            </a:pPr>
            <a:r>
              <a:rPr lang="fr-ML" sz="1800" dirty="0">
                <a:solidFill>
                  <a:srgbClr val="000000"/>
                </a:solidFill>
                <a:effectLst/>
                <a:latin typeface="Calibri" panose="020F0502020204030204" pitchFamily="34" charset="0"/>
                <a:ea typeface="Calibri" panose="020F0502020204030204" pitchFamily="34" charset="0"/>
              </a:rPr>
              <a:t>SANS Institute (</a:t>
            </a:r>
            <a:r>
              <a:rPr lang="fr-ML" sz="1800" u="sng" dirty="0">
                <a:solidFill>
                  <a:srgbClr val="0563C1"/>
                </a:solidFill>
                <a:effectLst/>
                <a:latin typeface="Calibri" panose="020F0502020204030204" pitchFamily="34" charset="0"/>
                <a:ea typeface="Calibri" panose="020F0502020204030204" pitchFamily="34" charset="0"/>
                <a:hlinkClick r:id="rId5"/>
              </a:rPr>
              <a:t>https://www.sans.org/</a:t>
            </a:r>
            <a:r>
              <a:rPr lang="fr-ML" sz="1800" u="none" strike="noStrike" dirty="0">
                <a:solidFill>
                  <a:srgbClr val="000000"/>
                </a:solidFill>
                <a:effectLst/>
                <a:latin typeface="Calibri" panose="020F0502020204030204" pitchFamily="34" charset="0"/>
                <a:ea typeface="Calibri" panose="020F0502020204030204" pitchFamily="34" charset="0"/>
                <a:hlinkClick r:id="rId5"/>
              </a:rPr>
              <a:t>)</a:t>
            </a:r>
            <a:r>
              <a:rPr lang="fr-ML" sz="1800" dirty="0">
                <a:solidFill>
                  <a:srgbClr val="000000"/>
                </a:solidFill>
                <a:effectLst/>
                <a:latin typeface="Calibri" panose="020F0502020204030204" pitchFamily="34" charset="0"/>
                <a:ea typeface="Calibri" panose="020F0502020204030204" pitchFamily="34" charset="0"/>
              </a:rPr>
              <a:t> </a:t>
            </a:r>
          </a:p>
          <a:p>
            <a:pPr marR="314325" indent="1270" algn="just">
              <a:lnSpc>
                <a:spcPct val="110000"/>
              </a:lnSpc>
              <a:spcAft>
                <a:spcPts val="770"/>
              </a:spcAft>
            </a:pPr>
            <a:r>
              <a:rPr lang="fr-ML" sz="1800" dirty="0">
                <a:solidFill>
                  <a:srgbClr val="000000"/>
                </a:solidFill>
                <a:effectLst/>
                <a:latin typeface="Calibri" panose="020F0502020204030204" pitchFamily="34" charset="0"/>
                <a:ea typeface="Calibri" panose="020F0502020204030204" pitchFamily="34" charset="0"/>
              </a:rPr>
              <a:t>Le standard de sécurité des systèmes d’information de l’Université de Stanford </a:t>
            </a:r>
            <a:r>
              <a:rPr lang="fr-ML" sz="1800" u="none" strike="noStrike" dirty="0">
                <a:solidFill>
                  <a:srgbClr val="000000"/>
                </a:solidFill>
                <a:effectLst/>
                <a:latin typeface="Calibri" panose="020F0502020204030204" pitchFamily="34" charset="0"/>
                <a:ea typeface="Calibri" panose="020F0502020204030204" pitchFamily="34" charset="0"/>
                <a:hlinkClick r:id="rId6"/>
              </a:rPr>
              <a:t>(</a:t>
            </a:r>
            <a:r>
              <a:rPr lang="fr-ML" sz="1800" u="sng" dirty="0">
                <a:solidFill>
                  <a:srgbClr val="0563C1"/>
                </a:solidFill>
                <a:effectLst/>
                <a:latin typeface="Calibri" panose="020F0502020204030204" pitchFamily="34" charset="0"/>
                <a:ea typeface="Calibri" panose="020F0502020204030204" pitchFamily="34" charset="0"/>
                <a:hlinkClick r:id="rId6"/>
              </a:rPr>
              <a:t>https://uit.stanford.edu/security</a:t>
            </a:r>
            <a:r>
              <a:rPr lang="fr-ML" sz="1800" u="none" strike="noStrike" dirty="0">
                <a:solidFill>
                  <a:srgbClr val="000000"/>
                </a:solidFill>
                <a:effectLst/>
                <a:latin typeface="Calibri" panose="020F0502020204030204" pitchFamily="34" charset="0"/>
                <a:ea typeface="Calibri" panose="020F0502020204030204" pitchFamily="34" charset="0"/>
                <a:hlinkClick r:id="rId6"/>
              </a:rPr>
              <a:t>)</a:t>
            </a:r>
            <a:r>
              <a:rPr lang="fr-ML" sz="1800" dirty="0">
                <a:solidFill>
                  <a:srgbClr val="000000"/>
                </a:solidFill>
                <a:effectLst/>
                <a:latin typeface="Calibri" panose="020F0502020204030204" pitchFamily="34" charset="0"/>
                <a:ea typeface="Calibri" panose="020F0502020204030204" pitchFamily="34" charset="0"/>
              </a:rPr>
              <a:t> </a:t>
            </a:r>
          </a:p>
          <a:p>
            <a:pPr marR="314325" indent="1270" algn="just">
              <a:lnSpc>
                <a:spcPct val="110000"/>
              </a:lnSpc>
              <a:spcAft>
                <a:spcPts val="760"/>
              </a:spcAft>
            </a:pPr>
            <a:r>
              <a:rPr lang="fr-ML" sz="1800" dirty="0">
                <a:solidFill>
                  <a:srgbClr val="000000"/>
                </a:solidFill>
                <a:effectLst/>
                <a:latin typeface="Calibri" panose="020F0502020204030204" pitchFamily="34" charset="0"/>
                <a:ea typeface="Calibri" panose="020F0502020204030204" pitchFamily="34" charset="0"/>
              </a:rPr>
              <a:t>Le standard de sécurité des systèmes d’information de l’Université de Boston </a:t>
            </a:r>
            <a:r>
              <a:rPr lang="fr-ML" sz="1800" u="none" strike="noStrike" dirty="0">
                <a:solidFill>
                  <a:srgbClr val="000000"/>
                </a:solidFill>
                <a:effectLst/>
                <a:latin typeface="Calibri" panose="020F0502020204030204" pitchFamily="34" charset="0"/>
                <a:ea typeface="Calibri" panose="020F0502020204030204" pitchFamily="34" charset="0"/>
                <a:hlinkClick r:id="rId7"/>
              </a:rPr>
              <a:t>(</a:t>
            </a:r>
            <a:r>
              <a:rPr lang="fr-ML" sz="1800" u="sng" dirty="0">
                <a:solidFill>
                  <a:srgbClr val="0563C1"/>
                </a:solidFill>
                <a:effectLst/>
                <a:latin typeface="Calibri" panose="020F0502020204030204" pitchFamily="34" charset="0"/>
                <a:ea typeface="Calibri" panose="020F0502020204030204" pitchFamily="34" charset="0"/>
                <a:hlinkClick r:id="rId7"/>
              </a:rPr>
              <a:t>https://www.bu.edu/tech/services/security/</a:t>
            </a:r>
            <a:r>
              <a:rPr lang="fr-ML" sz="1800" u="none" strike="noStrike" dirty="0">
                <a:solidFill>
                  <a:srgbClr val="000000"/>
                </a:solidFill>
                <a:effectLst/>
                <a:latin typeface="Calibri" panose="020F0502020204030204" pitchFamily="34" charset="0"/>
                <a:ea typeface="Calibri" panose="020F0502020204030204" pitchFamily="34" charset="0"/>
                <a:hlinkClick r:id="rId7"/>
              </a:rPr>
              <a:t>)</a:t>
            </a:r>
            <a:r>
              <a:rPr lang="fr-ML" sz="1800" dirty="0">
                <a:solidFill>
                  <a:srgbClr val="000000"/>
                </a:solidFill>
                <a:effectLst/>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2220843196"/>
      </p:ext>
    </p:extLst>
  </p:cSld>
  <p:clrMapOvr>
    <a:masterClrMapping/>
  </p:clrMapOvr>
</p:sld>
</file>

<file path=ppt/theme/theme1.xml><?xml version="1.0" encoding="utf-8"?>
<a:theme xmlns:a="http://schemas.openxmlformats.org/drawingml/2006/main" name="Rétrospective">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1175</TotalTime>
  <Words>6229</Words>
  <Application>Microsoft Office PowerPoint</Application>
  <PresentationFormat>Grand écran</PresentationFormat>
  <Paragraphs>351</Paragraphs>
  <Slides>43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43</vt:i4>
      </vt:variant>
    </vt:vector>
  </HeadingPairs>
  <TitlesOfParts>
    <vt:vector size="49" baseType="lpstr">
      <vt:lpstr>Arial</vt:lpstr>
      <vt:lpstr>Calibri</vt:lpstr>
      <vt:lpstr>Calibri Light</vt:lpstr>
      <vt:lpstr>Courier New</vt:lpstr>
      <vt:lpstr>Wingdings</vt:lpstr>
      <vt:lpstr>Rétrospective</vt:lpstr>
      <vt:lpstr>Politique de Sécurité des Systèmes d’Information  </vt:lpstr>
      <vt:lpstr> Politique de Sécurité des Systèmes d’Information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Politique de Sécurité des Systèmes d’Information</dc:title>
  <dc:creator>Djire Ouzairou</dc:creator>
  <cp:lastModifiedBy>Djire Ouzairou</cp:lastModifiedBy>
  <cp:revision>20</cp:revision>
  <dcterms:created xsi:type="dcterms:W3CDTF">2023-04-15T10:32:43Z</dcterms:created>
  <dcterms:modified xsi:type="dcterms:W3CDTF">2023-04-16T18:12:06Z</dcterms:modified>
</cp:coreProperties>
</file>
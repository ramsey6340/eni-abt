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3"/>
  </p:notesMasterIdLst>
  <p:sldIdLst>
    <p:sldId id="288" r:id="rId2"/>
    <p:sldId id="272" r:id="rId3"/>
    <p:sldId id="257" r:id="rId4"/>
    <p:sldId id="258" r:id="rId5"/>
    <p:sldId id="282" r:id="rId6"/>
    <p:sldId id="259" r:id="rId7"/>
    <p:sldId id="260" r:id="rId8"/>
    <p:sldId id="262" r:id="rId9"/>
    <p:sldId id="284" r:id="rId10"/>
    <p:sldId id="264" r:id="rId11"/>
    <p:sldId id="265" r:id="rId12"/>
    <p:sldId id="268" r:id="rId13"/>
    <p:sldId id="267" r:id="rId14"/>
    <p:sldId id="261" r:id="rId15"/>
    <p:sldId id="285" r:id="rId16"/>
    <p:sldId id="271" r:id="rId17"/>
    <p:sldId id="270" r:id="rId18"/>
    <p:sldId id="276" r:id="rId19"/>
    <p:sldId id="286" r:id="rId20"/>
    <p:sldId id="263" r:id="rId21"/>
    <p:sldId id="277" r:id="rId22"/>
    <p:sldId id="278" r:id="rId23"/>
    <p:sldId id="279" r:id="rId24"/>
    <p:sldId id="280" r:id="rId25"/>
    <p:sldId id="281" r:id="rId26"/>
    <p:sldId id="273" r:id="rId27"/>
    <p:sldId id="287" r:id="rId28"/>
    <p:sldId id="274" r:id="rId29"/>
    <p:sldId id="275" r:id="rId30"/>
    <p:sldId id="269" r:id="rId31"/>
    <p:sldId id="289"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150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ML"/>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7B438D-DA03-44B5-AB64-78A334449479}" type="datetimeFigureOut">
              <a:rPr lang="fr-ML" smtClean="0"/>
              <a:t>20/07/2023</a:t>
            </a:fld>
            <a:endParaRPr lang="fr-ML"/>
          </a:p>
        </p:txBody>
      </p:sp>
      <p:sp>
        <p:nvSpPr>
          <p:cNvPr id="4" name="Espace réservé de l'image des diapositives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fr-ML"/>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L"/>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ML"/>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D0F2D9-1D8C-412C-9EE8-F1DDC3CAE684}" type="slidenum">
              <a:rPr lang="fr-ML" smtClean="0"/>
              <a:t>‹N°›</a:t>
            </a:fld>
            <a:endParaRPr lang="fr-ML"/>
          </a:p>
        </p:txBody>
      </p:sp>
    </p:spTree>
    <p:extLst>
      <p:ext uri="{BB962C8B-B14F-4D97-AF65-F5344CB8AC3E}">
        <p14:creationId xmlns:p14="http://schemas.microsoft.com/office/powerpoint/2010/main" val="2091198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fr-FR"/>
              <a:t>Modifiez le style du titre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54E6CE50-9FD4-4FBC-B72A-F62CDACBC330}" type="datetime1">
              <a:rPr lang="fr-ML" smtClean="0"/>
              <a:t>20/07/2023</a:t>
            </a:fld>
            <a:endParaRPr lang="fr-ML"/>
          </a:p>
        </p:txBody>
      </p:sp>
      <p:sp>
        <p:nvSpPr>
          <p:cNvPr id="5" name="Footer Placeholder 4"/>
          <p:cNvSpPr>
            <a:spLocks noGrp="1"/>
          </p:cNvSpPr>
          <p:nvPr>
            <p:ph type="ftr" sz="quarter" idx="11"/>
          </p:nvPr>
        </p:nvSpPr>
        <p:spPr/>
        <p:txBody>
          <a:bodyPr/>
          <a:lstStyle/>
          <a:p>
            <a:endParaRPr lang="fr-ML"/>
          </a:p>
        </p:txBody>
      </p:sp>
      <p:sp>
        <p:nvSpPr>
          <p:cNvPr id="6" name="Slide Number Placeholder 5"/>
          <p:cNvSpPr>
            <a:spLocks noGrp="1"/>
          </p:cNvSpPr>
          <p:nvPr>
            <p:ph type="sldNum" sz="quarter" idx="12"/>
          </p:nvPr>
        </p:nvSpPr>
        <p:spPr/>
        <p:txBody>
          <a:bodyPr/>
          <a:lstStyle/>
          <a:p>
            <a:fld id="{257A4929-5DF1-4B28-B204-EBA112CCEBF5}" type="slidenum">
              <a:rPr lang="fr-ML" smtClean="0"/>
              <a:t>‹N°›</a:t>
            </a:fld>
            <a:endParaRPr lang="fr-ML"/>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041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4149D00-AAF3-4AC6-BA24-8848B5514FB5}" type="datetime1">
              <a:rPr lang="fr-ML" smtClean="0"/>
              <a:t>20/07/2023</a:t>
            </a:fld>
            <a:endParaRPr lang="fr-ML"/>
          </a:p>
        </p:txBody>
      </p:sp>
      <p:sp>
        <p:nvSpPr>
          <p:cNvPr id="5" name="Footer Placeholder 4"/>
          <p:cNvSpPr>
            <a:spLocks noGrp="1"/>
          </p:cNvSpPr>
          <p:nvPr>
            <p:ph type="ftr" sz="quarter" idx="11"/>
          </p:nvPr>
        </p:nvSpPr>
        <p:spPr/>
        <p:txBody>
          <a:bodyPr/>
          <a:lstStyle/>
          <a:p>
            <a:endParaRPr lang="fr-ML"/>
          </a:p>
        </p:txBody>
      </p:sp>
      <p:sp>
        <p:nvSpPr>
          <p:cNvPr id="6" name="Slide Number Placeholder 5"/>
          <p:cNvSpPr>
            <a:spLocks noGrp="1"/>
          </p:cNvSpPr>
          <p:nvPr>
            <p:ph type="sldNum" sz="quarter" idx="12"/>
          </p:nvPr>
        </p:nvSpPr>
        <p:spPr/>
        <p:txBody>
          <a:bodyPr/>
          <a:lstStyle/>
          <a:p>
            <a:fld id="{257A4929-5DF1-4B28-B204-EBA112CCEBF5}" type="slidenum">
              <a:rPr lang="fr-ML" smtClean="0"/>
              <a:t>‹N°›</a:t>
            </a:fld>
            <a:endParaRPr lang="fr-ML"/>
          </a:p>
        </p:txBody>
      </p:sp>
    </p:spTree>
    <p:extLst>
      <p:ext uri="{BB962C8B-B14F-4D97-AF65-F5344CB8AC3E}">
        <p14:creationId xmlns:p14="http://schemas.microsoft.com/office/powerpoint/2010/main" val="2317727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fr-FR"/>
              <a:t>Modifiez le style du titre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6C2BA3C-5C57-4792-9E14-5259B52E6610}" type="datetime1">
              <a:rPr lang="fr-ML" smtClean="0"/>
              <a:t>20/07/2023</a:t>
            </a:fld>
            <a:endParaRPr lang="fr-ML"/>
          </a:p>
        </p:txBody>
      </p:sp>
      <p:sp>
        <p:nvSpPr>
          <p:cNvPr id="5" name="Footer Placeholder 4"/>
          <p:cNvSpPr>
            <a:spLocks noGrp="1"/>
          </p:cNvSpPr>
          <p:nvPr>
            <p:ph type="ftr" sz="quarter" idx="11"/>
          </p:nvPr>
        </p:nvSpPr>
        <p:spPr/>
        <p:txBody>
          <a:bodyPr/>
          <a:lstStyle/>
          <a:p>
            <a:endParaRPr lang="fr-ML"/>
          </a:p>
        </p:txBody>
      </p:sp>
      <p:sp>
        <p:nvSpPr>
          <p:cNvPr id="6" name="Slide Number Placeholder 5"/>
          <p:cNvSpPr>
            <a:spLocks noGrp="1"/>
          </p:cNvSpPr>
          <p:nvPr>
            <p:ph type="sldNum" sz="quarter" idx="12"/>
          </p:nvPr>
        </p:nvSpPr>
        <p:spPr/>
        <p:txBody>
          <a:bodyPr/>
          <a:lstStyle/>
          <a:p>
            <a:fld id="{257A4929-5DF1-4B28-B204-EBA112CCEBF5}" type="slidenum">
              <a:rPr lang="fr-ML" smtClean="0"/>
              <a:t>‹N°›</a:t>
            </a:fld>
            <a:endParaRPr lang="fr-ML"/>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1063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fr-FR"/>
              <a:t>Modifiez le style du titre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3C3794E-4CB0-4FE0-BE9F-9AA96976340A}" type="datetime1">
              <a:rPr lang="fr-ML" smtClean="0"/>
              <a:t>20/07/2023</a:t>
            </a:fld>
            <a:endParaRPr lang="fr-ML"/>
          </a:p>
        </p:txBody>
      </p:sp>
      <p:sp>
        <p:nvSpPr>
          <p:cNvPr id="6" name="Footer Placeholder 5"/>
          <p:cNvSpPr>
            <a:spLocks noGrp="1"/>
          </p:cNvSpPr>
          <p:nvPr>
            <p:ph type="ftr" sz="quarter" idx="11"/>
          </p:nvPr>
        </p:nvSpPr>
        <p:spPr/>
        <p:txBody>
          <a:bodyPr/>
          <a:lstStyle/>
          <a:p>
            <a:endParaRPr lang="fr-ML"/>
          </a:p>
        </p:txBody>
      </p:sp>
      <p:sp>
        <p:nvSpPr>
          <p:cNvPr id="7" name="Slide Number Placeholder 6"/>
          <p:cNvSpPr>
            <a:spLocks noGrp="1"/>
          </p:cNvSpPr>
          <p:nvPr>
            <p:ph type="sldNum" sz="quarter" idx="12"/>
          </p:nvPr>
        </p:nvSpPr>
        <p:spPr/>
        <p:txBody>
          <a:bodyPr/>
          <a:lstStyle/>
          <a:p>
            <a:fld id="{257A4929-5DF1-4B28-B204-EBA112CCEBF5}" type="slidenum">
              <a:rPr lang="fr-ML" smtClean="0"/>
              <a:t>‹N°›</a:t>
            </a:fld>
            <a:endParaRPr lang="fr-ML"/>
          </a:p>
        </p:txBody>
      </p:sp>
    </p:spTree>
    <p:extLst>
      <p:ext uri="{BB962C8B-B14F-4D97-AF65-F5344CB8AC3E}">
        <p14:creationId xmlns:p14="http://schemas.microsoft.com/office/powerpoint/2010/main" val="2037772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fr-FR"/>
              <a:t>Modifiez le style du titre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22960" y="2582334"/>
            <a:ext cx="3703320" cy="32867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63440" y="2582334"/>
            <a:ext cx="3703320" cy="32867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32E7F59-E8F8-400F-A336-4709FED023A1}" type="datetime1">
              <a:rPr lang="fr-ML" smtClean="0"/>
              <a:t>20/07/2023</a:t>
            </a:fld>
            <a:endParaRPr lang="fr-ML"/>
          </a:p>
        </p:txBody>
      </p:sp>
      <p:sp>
        <p:nvSpPr>
          <p:cNvPr id="8" name="Footer Placeholder 7"/>
          <p:cNvSpPr>
            <a:spLocks noGrp="1"/>
          </p:cNvSpPr>
          <p:nvPr>
            <p:ph type="ftr" sz="quarter" idx="11"/>
          </p:nvPr>
        </p:nvSpPr>
        <p:spPr/>
        <p:txBody>
          <a:bodyPr/>
          <a:lstStyle/>
          <a:p>
            <a:endParaRPr lang="fr-ML"/>
          </a:p>
        </p:txBody>
      </p:sp>
      <p:sp>
        <p:nvSpPr>
          <p:cNvPr id="9" name="Slide Number Placeholder 8"/>
          <p:cNvSpPr>
            <a:spLocks noGrp="1"/>
          </p:cNvSpPr>
          <p:nvPr>
            <p:ph type="sldNum" sz="quarter" idx="12"/>
          </p:nvPr>
        </p:nvSpPr>
        <p:spPr/>
        <p:txBody>
          <a:bodyPr/>
          <a:lstStyle/>
          <a:p>
            <a:fld id="{257A4929-5DF1-4B28-B204-EBA112CCEBF5}" type="slidenum">
              <a:rPr lang="fr-ML" smtClean="0"/>
              <a:t>‹N°›</a:t>
            </a:fld>
            <a:endParaRPr lang="fr-ML"/>
          </a:p>
        </p:txBody>
      </p:sp>
    </p:spTree>
    <p:extLst>
      <p:ext uri="{BB962C8B-B14F-4D97-AF65-F5344CB8AC3E}">
        <p14:creationId xmlns:p14="http://schemas.microsoft.com/office/powerpoint/2010/main" val="3203531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F181E048-B3ED-4CE7-83CB-670BF85FDB9E}" type="datetime1">
              <a:rPr lang="fr-ML" smtClean="0"/>
              <a:t>20/07/2023</a:t>
            </a:fld>
            <a:endParaRPr lang="fr-ML"/>
          </a:p>
        </p:txBody>
      </p:sp>
      <p:sp>
        <p:nvSpPr>
          <p:cNvPr id="4" name="Footer Placeholder 3"/>
          <p:cNvSpPr>
            <a:spLocks noGrp="1"/>
          </p:cNvSpPr>
          <p:nvPr>
            <p:ph type="ftr" sz="quarter" idx="11"/>
          </p:nvPr>
        </p:nvSpPr>
        <p:spPr/>
        <p:txBody>
          <a:bodyPr/>
          <a:lstStyle/>
          <a:p>
            <a:endParaRPr lang="fr-ML"/>
          </a:p>
        </p:txBody>
      </p:sp>
      <p:sp>
        <p:nvSpPr>
          <p:cNvPr id="5" name="Slide Number Placeholder 4"/>
          <p:cNvSpPr>
            <a:spLocks noGrp="1"/>
          </p:cNvSpPr>
          <p:nvPr>
            <p:ph type="sldNum" sz="quarter" idx="12"/>
          </p:nvPr>
        </p:nvSpPr>
        <p:spPr/>
        <p:txBody>
          <a:bodyPr/>
          <a:lstStyle/>
          <a:p>
            <a:fld id="{257A4929-5DF1-4B28-B204-EBA112CCEBF5}" type="slidenum">
              <a:rPr lang="fr-ML" smtClean="0"/>
              <a:t>‹N°›</a:t>
            </a:fld>
            <a:endParaRPr lang="fr-ML"/>
          </a:p>
        </p:txBody>
      </p:sp>
    </p:spTree>
    <p:extLst>
      <p:ext uri="{BB962C8B-B14F-4D97-AF65-F5344CB8AC3E}">
        <p14:creationId xmlns:p14="http://schemas.microsoft.com/office/powerpoint/2010/main" val="573282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3E53CB4-DA1D-4C79-ABB2-99BE0F4B2D89}" type="datetime1">
              <a:rPr lang="fr-ML" smtClean="0"/>
              <a:t>20/07/2023</a:t>
            </a:fld>
            <a:endParaRPr lang="fr-ML"/>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fr-ML"/>
          </a:p>
        </p:txBody>
      </p:sp>
      <p:sp>
        <p:nvSpPr>
          <p:cNvPr id="9" name="Slide Number Placeholder 8"/>
          <p:cNvSpPr>
            <a:spLocks noGrp="1"/>
          </p:cNvSpPr>
          <p:nvPr>
            <p:ph type="sldNum" sz="quarter" idx="12"/>
          </p:nvPr>
        </p:nvSpPr>
        <p:spPr/>
        <p:txBody>
          <a:bodyPr/>
          <a:lstStyle/>
          <a:p>
            <a:fld id="{257A4929-5DF1-4B28-B204-EBA112CCEBF5}" type="slidenum">
              <a:rPr lang="fr-ML" smtClean="0"/>
              <a:t>‹N°›</a:t>
            </a:fld>
            <a:endParaRPr lang="fr-ML"/>
          </a:p>
        </p:txBody>
      </p:sp>
    </p:spTree>
    <p:extLst>
      <p:ext uri="{BB962C8B-B14F-4D97-AF65-F5344CB8AC3E}">
        <p14:creationId xmlns:p14="http://schemas.microsoft.com/office/powerpoint/2010/main" val="310815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fr-FR"/>
              <a:t>Modifiez le style du titre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7291E5A8-945B-436C-AA81-ECF3D3B8EA1D}" type="datetime1">
              <a:rPr lang="fr-ML" smtClean="0"/>
              <a:t>20/07/2023</a:t>
            </a:fld>
            <a:endParaRPr lang="fr-ML"/>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fr-ML"/>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57A4929-5DF1-4B28-B204-EBA112CCEBF5}" type="slidenum">
              <a:rPr lang="fr-ML" smtClean="0"/>
              <a:t>‹N°›</a:t>
            </a:fld>
            <a:endParaRPr lang="fr-ML"/>
          </a:p>
        </p:txBody>
      </p:sp>
    </p:spTree>
    <p:extLst>
      <p:ext uri="{BB962C8B-B14F-4D97-AF65-F5344CB8AC3E}">
        <p14:creationId xmlns:p14="http://schemas.microsoft.com/office/powerpoint/2010/main" val="2796879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fr-FR"/>
              <a:t>Modifiez le style du titre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BA12F76-275B-4F3A-AF47-77D2EFD02DFA}" type="datetime1">
              <a:rPr lang="fr-ML" smtClean="0"/>
              <a:t>20/07/2023</a:t>
            </a:fld>
            <a:endParaRPr lang="fr-ML"/>
          </a:p>
        </p:txBody>
      </p:sp>
      <p:sp>
        <p:nvSpPr>
          <p:cNvPr id="6" name="Footer Placeholder 5"/>
          <p:cNvSpPr>
            <a:spLocks noGrp="1"/>
          </p:cNvSpPr>
          <p:nvPr>
            <p:ph type="ftr" sz="quarter" idx="11"/>
          </p:nvPr>
        </p:nvSpPr>
        <p:spPr/>
        <p:txBody>
          <a:bodyPr/>
          <a:lstStyle/>
          <a:p>
            <a:endParaRPr lang="fr-ML"/>
          </a:p>
        </p:txBody>
      </p:sp>
      <p:sp>
        <p:nvSpPr>
          <p:cNvPr id="7" name="Slide Number Placeholder 6"/>
          <p:cNvSpPr>
            <a:spLocks noGrp="1"/>
          </p:cNvSpPr>
          <p:nvPr>
            <p:ph type="sldNum" sz="quarter" idx="12"/>
          </p:nvPr>
        </p:nvSpPr>
        <p:spPr/>
        <p:txBody>
          <a:bodyPr/>
          <a:lstStyle/>
          <a:p>
            <a:fld id="{257A4929-5DF1-4B28-B204-EBA112CCEBF5}" type="slidenum">
              <a:rPr lang="fr-ML" smtClean="0"/>
              <a:t>‹N°›</a:t>
            </a:fld>
            <a:endParaRPr lang="fr-ML"/>
          </a:p>
        </p:txBody>
      </p:sp>
    </p:spTree>
    <p:extLst>
      <p:ext uri="{BB962C8B-B14F-4D97-AF65-F5344CB8AC3E}">
        <p14:creationId xmlns:p14="http://schemas.microsoft.com/office/powerpoint/2010/main" val="1627806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46A5171-5F24-41B8-9648-41911F7F174C}" type="datetime1">
              <a:rPr lang="fr-ML" smtClean="0"/>
              <a:t>20/07/2023</a:t>
            </a:fld>
            <a:endParaRPr lang="fr-ML"/>
          </a:p>
        </p:txBody>
      </p:sp>
      <p:sp>
        <p:nvSpPr>
          <p:cNvPr id="5" name="Footer Placeholder 4"/>
          <p:cNvSpPr>
            <a:spLocks noGrp="1"/>
          </p:cNvSpPr>
          <p:nvPr>
            <p:ph type="ftr" sz="quarter" idx="11"/>
          </p:nvPr>
        </p:nvSpPr>
        <p:spPr/>
        <p:txBody>
          <a:bodyPr/>
          <a:lstStyle/>
          <a:p>
            <a:endParaRPr lang="fr-ML"/>
          </a:p>
        </p:txBody>
      </p:sp>
      <p:sp>
        <p:nvSpPr>
          <p:cNvPr id="6" name="Slide Number Placeholder 5"/>
          <p:cNvSpPr>
            <a:spLocks noGrp="1"/>
          </p:cNvSpPr>
          <p:nvPr>
            <p:ph type="sldNum" sz="quarter" idx="12"/>
          </p:nvPr>
        </p:nvSpPr>
        <p:spPr/>
        <p:txBody>
          <a:bodyPr/>
          <a:lstStyle/>
          <a:p>
            <a:fld id="{257A4929-5DF1-4B28-B204-EBA112CCEBF5}" type="slidenum">
              <a:rPr lang="fr-ML" smtClean="0"/>
              <a:t>‹N°›</a:t>
            </a:fld>
            <a:endParaRPr lang="fr-ML"/>
          </a:p>
        </p:txBody>
      </p:sp>
    </p:spTree>
    <p:extLst>
      <p:ext uri="{BB962C8B-B14F-4D97-AF65-F5344CB8AC3E}">
        <p14:creationId xmlns:p14="http://schemas.microsoft.com/office/powerpoint/2010/main" val="3277249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468DCF4E-48D9-43CA-B69A-0DF8E6A00441}" type="datetime1">
              <a:rPr lang="fr-ML" smtClean="0"/>
              <a:t>20/07/2023</a:t>
            </a:fld>
            <a:endParaRPr lang="fr-ML"/>
          </a:p>
        </p:txBody>
      </p:sp>
      <p:sp>
        <p:nvSpPr>
          <p:cNvPr id="5" name="Footer Placeholder 4"/>
          <p:cNvSpPr>
            <a:spLocks noGrp="1"/>
          </p:cNvSpPr>
          <p:nvPr>
            <p:ph type="ftr" sz="quarter" idx="11"/>
          </p:nvPr>
        </p:nvSpPr>
        <p:spPr/>
        <p:txBody>
          <a:bodyPr/>
          <a:lstStyle/>
          <a:p>
            <a:endParaRPr lang="fr-ML"/>
          </a:p>
        </p:txBody>
      </p:sp>
      <p:sp>
        <p:nvSpPr>
          <p:cNvPr id="6" name="Slide Number Placeholder 5"/>
          <p:cNvSpPr>
            <a:spLocks noGrp="1"/>
          </p:cNvSpPr>
          <p:nvPr>
            <p:ph type="sldNum" sz="quarter" idx="12"/>
          </p:nvPr>
        </p:nvSpPr>
        <p:spPr/>
        <p:txBody>
          <a:bodyPr/>
          <a:lstStyle/>
          <a:p>
            <a:fld id="{257A4929-5DF1-4B28-B204-EBA112CCEBF5}" type="slidenum">
              <a:rPr lang="fr-ML" smtClean="0"/>
              <a:t>‹N°›</a:t>
            </a:fld>
            <a:endParaRPr lang="fr-ML"/>
          </a:p>
        </p:txBody>
      </p:sp>
    </p:spTree>
    <p:extLst>
      <p:ext uri="{BB962C8B-B14F-4D97-AF65-F5344CB8AC3E}">
        <p14:creationId xmlns:p14="http://schemas.microsoft.com/office/powerpoint/2010/main" val="3560459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fr-FR"/>
              <a:t>Modifiez le style du titre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C2BB43C6-D2F3-41BE-9224-4B1628BC47B6}" type="datetime1">
              <a:rPr lang="fr-ML" smtClean="0"/>
              <a:t>20/07/2023</a:t>
            </a:fld>
            <a:endParaRPr lang="fr-ML"/>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fr-ML"/>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257A4929-5DF1-4B28-B204-EBA112CCEBF5}" type="slidenum">
              <a:rPr lang="fr-ML" smtClean="0"/>
              <a:t>‹N°›</a:t>
            </a:fld>
            <a:endParaRPr lang="fr-ML"/>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153441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perenne-it.fr/dsi-pour-pme/audit-informatique-si/" TargetMode="Externa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hyperlink" Target="https://www.perenne-it.fr/securite-pour-la-dsi/continuite-dactivite-pca-pra/" TargetMode="Externa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D1B4EB-53CB-A8A5-EA4B-BD468AFCFFB3}"/>
              </a:ext>
            </a:extLst>
          </p:cNvPr>
          <p:cNvSpPr>
            <a:spLocks noGrp="1"/>
          </p:cNvSpPr>
          <p:nvPr>
            <p:ph type="title"/>
          </p:nvPr>
        </p:nvSpPr>
        <p:spPr>
          <a:xfrm>
            <a:off x="0" y="286604"/>
            <a:ext cx="9144000" cy="1450757"/>
          </a:xfrm>
        </p:spPr>
        <p:txBody>
          <a:bodyPr>
            <a:normAutofit/>
          </a:bodyPr>
          <a:lstStyle/>
          <a:p>
            <a:r>
              <a:rPr lang="fr-FR" sz="4800" b="1" dirty="0">
                <a:solidFill>
                  <a:schemeClr val="accent1"/>
                </a:solidFill>
                <a:latin typeface="Times New Roman" panose="02020603050405020304" pitchFamily="18" charset="0"/>
                <a:cs typeface="Times New Roman" panose="02020603050405020304" pitchFamily="18" charset="0"/>
              </a:rPr>
              <a:t>LE ROLE DU RSSI DANS LA CONTINUITE DE SERVICE </a:t>
            </a:r>
            <a:endParaRPr lang="fr-ML" dirty="0"/>
          </a:p>
        </p:txBody>
      </p:sp>
      <p:sp>
        <p:nvSpPr>
          <p:cNvPr id="3" name="Espace réservé du texte 2">
            <a:extLst>
              <a:ext uri="{FF2B5EF4-FFF2-40B4-BE49-F238E27FC236}">
                <a16:creationId xmlns:a16="http://schemas.microsoft.com/office/drawing/2014/main" id="{732B853C-B42B-85DC-5470-00DB1B286A81}"/>
              </a:ext>
            </a:extLst>
          </p:cNvPr>
          <p:cNvSpPr>
            <a:spLocks noGrp="1"/>
          </p:cNvSpPr>
          <p:nvPr>
            <p:ph type="body" idx="1"/>
          </p:nvPr>
        </p:nvSpPr>
        <p:spPr>
          <a:xfrm>
            <a:off x="0" y="1846052"/>
            <a:ext cx="4526280" cy="736282"/>
          </a:xfrm>
          <a:solidFill>
            <a:srgbClr val="FFFF00"/>
          </a:solidFill>
        </p:spPr>
        <p:txBody>
          <a:bodyPr>
            <a:normAutofit fontScale="25000" lnSpcReduction="20000"/>
          </a:bodyPr>
          <a:lstStyle/>
          <a:p>
            <a:endParaRPr lang="fr-FR" sz="1400" dirty="0">
              <a:latin typeface="Times New Roman" panose="02020603050405020304" pitchFamily="18" charset="0"/>
              <a:cs typeface="Times New Roman" panose="02020603050405020304" pitchFamily="18" charset="0"/>
            </a:endParaRPr>
          </a:p>
          <a:p>
            <a:pPr>
              <a:lnSpc>
                <a:spcPct val="120000"/>
              </a:lnSpc>
            </a:pPr>
            <a:r>
              <a:rPr lang="fr-FR" sz="5600" dirty="0">
                <a:latin typeface="Times New Roman" panose="02020603050405020304" pitchFamily="18" charset="0"/>
                <a:cs typeface="Times New Roman" panose="02020603050405020304" pitchFamily="18" charset="0"/>
              </a:rPr>
              <a:t>Présenté par:   Amidou     BAGAYOGO </a:t>
            </a:r>
          </a:p>
          <a:p>
            <a:pPr>
              <a:lnSpc>
                <a:spcPct val="120000"/>
              </a:lnSpc>
            </a:pPr>
            <a:r>
              <a:rPr lang="fr-FR" sz="5600" dirty="0">
                <a:latin typeface="Times New Roman" panose="02020603050405020304" pitchFamily="18" charset="0"/>
                <a:cs typeface="Times New Roman" panose="02020603050405020304" pitchFamily="18" charset="0"/>
              </a:rPr>
              <a:t>  Etudiant en MSI eni-abt</a:t>
            </a:r>
            <a:endParaRPr lang="fr-ML" sz="5600" dirty="0">
              <a:latin typeface="Times New Roman" panose="02020603050405020304" pitchFamily="18" charset="0"/>
              <a:cs typeface="Times New Roman" panose="02020603050405020304" pitchFamily="18" charset="0"/>
            </a:endParaRPr>
          </a:p>
          <a:p>
            <a:endParaRPr lang="fr-ML" dirty="0"/>
          </a:p>
        </p:txBody>
      </p:sp>
      <p:pic>
        <p:nvPicPr>
          <p:cNvPr id="9" name="Espace réservé du contenu 8">
            <a:extLst>
              <a:ext uri="{FF2B5EF4-FFF2-40B4-BE49-F238E27FC236}">
                <a16:creationId xmlns:a16="http://schemas.microsoft.com/office/drawing/2014/main" id="{A82997AB-3D40-0B4B-DF3A-41E5AF86981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 y="2582229"/>
            <a:ext cx="4663441" cy="3286760"/>
          </a:xfrm>
        </p:spPr>
      </p:pic>
      <p:sp>
        <p:nvSpPr>
          <p:cNvPr id="5" name="Espace réservé du texte 4">
            <a:extLst>
              <a:ext uri="{FF2B5EF4-FFF2-40B4-BE49-F238E27FC236}">
                <a16:creationId xmlns:a16="http://schemas.microsoft.com/office/drawing/2014/main" id="{ED55ABD2-B814-0AAD-2670-680938773312}"/>
              </a:ext>
            </a:extLst>
          </p:cNvPr>
          <p:cNvSpPr>
            <a:spLocks noGrp="1"/>
          </p:cNvSpPr>
          <p:nvPr>
            <p:ph type="body" sz="quarter" idx="3"/>
          </p:nvPr>
        </p:nvSpPr>
        <p:spPr>
          <a:xfrm>
            <a:off x="4549140" y="1846052"/>
            <a:ext cx="4594860" cy="736282"/>
          </a:xfrm>
          <a:solidFill>
            <a:schemeClr val="accent1">
              <a:lumMod val="20000"/>
              <a:lumOff val="80000"/>
            </a:schemeClr>
          </a:solidFill>
          <a:ln>
            <a:solidFill>
              <a:schemeClr val="bg2">
                <a:lumMod val="90000"/>
              </a:schemeClr>
            </a:solidFill>
          </a:ln>
        </p:spPr>
        <p:txBody>
          <a:bodyPr>
            <a:noAutofit/>
          </a:bodyPr>
          <a:lstStyle/>
          <a:p>
            <a:r>
              <a:rPr lang="fr-FR" dirty="0">
                <a:latin typeface="Times New Roman" panose="02020603050405020304" pitchFamily="18" charset="0"/>
                <a:cs typeface="Times New Roman" panose="02020603050405020304" pitchFamily="18" charset="0"/>
              </a:rPr>
              <a:t>                Date: le 21/07/2023</a:t>
            </a:r>
            <a:endParaRPr lang="fr-ML" dirty="0">
              <a:latin typeface="Times New Roman" panose="02020603050405020304" pitchFamily="18" charset="0"/>
              <a:cs typeface="Times New Roman" panose="02020603050405020304" pitchFamily="18" charset="0"/>
            </a:endParaRPr>
          </a:p>
        </p:txBody>
      </p:sp>
      <p:pic>
        <p:nvPicPr>
          <p:cNvPr id="11" name="Espace réservé du contenu 10">
            <a:extLst>
              <a:ext uri="{FF2B5EF4-FFF2-40B4-BE49-F238E27FC236}">
                <a16:creationId xmlns:a16="http://schemas.microsoft.com/office/drawing/2014/main" id="{03707AEC-CF1E-83C2-B613-7F6DBF946EC1}"/>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4526280" y="2582863"/>
            <a:ext cx="4617719" cy="3286125"/>
          </a:xfrm>
        </p:spPr>
      </p:pic>
      <p:sp>
        <p:nvSpPr>
          <p:cNvPr id="7" name="Espace réservé du numéro de diapositive 6">
            <a:extLst>
              <a:ext uri="{FF2B5EF4-FFF2-40B4-BE49-F238E27FC236}">
                <a16:creationId xmlns:a16="http://schemas.microsoft.com/office/drawing/2014/main" id="{E0E32C36-63D5-31C7-4601-ACBB887FE344}"/>
              </a:ext>
            </a:extLst>
          </p:cNvPr>
          <p:cNvSpPr>
            <a:spLocks noGrp="1"/>
          </p:cNvSpPr>
          <p:nvPr>
            <p:ph type="sldNum" sz="quarter" idx="12"/>
          </p:nvPr>
        </p:nvSpPr>
        <p:spPr/>
        <p:txBody>
          <a:bodyPr/>
          <a:lstStyle/>
          <a:p>
            <a:endParaRPr lang="fr-ML" dirty="0"/>
          </a:p>
        </p:txBody>
      </p:sp>
    </p:spTree>
    <p:extLst>
      <p:ext uri="{BB962C8B-B14F-4D97-AF65-F5344CB8AC3E}">
        <p14:creationId xmlns:p14="http://schemas.microsoft.com/office/powerpoint/2010/main" val="1137759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266629-128C-6009-8BFC-E77D628863AD}"/>
              </a:ext>
            </a:extLst>
          </p:cNvPr>
          <p:cNvSpPr>
            <a:spLocks noGrp="1"/>
          </p:cNvSpPr>
          <p:nvPr>
            <p:ph type="title"/>
          </p:nvPr>
        </p:nvSpPr>
        <p:spPr>
          <a:xfrm>
            <a:off x="822960" y="731520"/>
            <a:ext cx="7543800" cy="1005841"/>
          </a:xfrm>
        </p:spPr>
        <p:txBody>
          <a:bodyPr>
            <a:norm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SOMMAIRE</a:t>
            </a:r>
            <a:endParaRPr lang="fr-ML" sz="3600" b="1" dirty="0">
              <a:solidFill>
                <a:schemeClr val="accent1"/>
              </a:solid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1CDC907C-27EC-47A1-5702-90280DB92A56}"/>
              </a:ext>
            </a:extLst>
          </p:cNvPr>
          <p:cNvSpPr>
            <a:spLocks noGrp="1"/>
          </p:cNvSpPr>
          <p:nvPr>
            <p:ph idx="1"/>
          </p:nvPr>
        </p:nvSpPr>
        <p:spPr/>
        <p:txBody>
          <a:bodyPr>
            <a:normAutofit fontScale="25000" lnSpcReduction="20000"/>
          </a:bodyPr>
          <a:lstStyle/>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Introduction </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Objectif et Définition </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Les principales rôle du RSSI dans la continuité de service</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Les objectifs principales du RSSI</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Les Missions du RSSI</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Les relations du RSSI</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Outil et Technologie utiliser par le RSSI</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Les nouveaux enjeux du RSSI</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Les types de personnalité du RSSI</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Les Avantages </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Les inconvénients du Métier RSSI</a:t>
            </a:r>
          </a:p>
          <a:p>
            <a:pPr>
              <a:buFont typeface="Arial" panose="020B0604020202020204" pitchFamily="34" charset="0"/>
              <a:buChar char="•"/>
            </a:pPr>
            <a:r>
              <a:rPr lang="fr-FR" sz="6400" dirty="0">
                <a:latin typeface="Times New Roman" panose="02020603050405020304" pitchFamily="18" charset="0"/>
                <a:cs typeface="Times New Roman" panose="02020603050405020304" pitchFamily="18" charset="0"/>
              </a:rPr>
              <a:t>Conclusion </a:t>
            </a:r>
          </a:p>
          <a:p>
            <a:endParaRPr lang="fr-FR" dirty="0"/>
          </a:p>
          <a:p>
            <a:endParaRPr lang="fr-FR" dirty="0"/>
          </a:p>
          <a:p>
            <a:endParaRPr lang="fr-FR" dirty="0"/>
          </a:p>
          <a:p>
            <a:endParaRPr lang="fr-FR" dirty="0"/>
          </a:p>
          <a:p>
            <a:endParaRPr lang="fr-ML" dirty="0"/>
          </a:p>
        </p:txBody>
      </p:sp>
      <p:sp>
        <p:nvSpPr>
          <p:cNvPr id="6" name="Espace réservé du numéro de diapositive 5">
            <a:extLst>
              <a:ext uri="{FF2B5EF4-FFF2-40B4-BE49-F238E27FC236}">
                <a16:creationId xmlns:a16="http://schemas.microsoft.com/office/drawing/2014/main" id="{58AEB179-4A9B-4E2E-B55D-7262761C88BE}"/>
              </a:ext>
            </a:extLst>
          </p:cNvPr>
          <p:cNvSpPr>
            <a:spLocks noGrp="1"/>
          </p:cNvSpPr>
          <p:nvPr>
            <p:ph type="sldNum" sz="quarter" idx="12"/>
          </p:nvPr>
        </p:nvSpPr>
        <p:spPr>
          <a:xfrm>
            <a:off x="6524533" y="5651145"/>
            <a:ext cx="2057400" cy="273844"/>
          </a:xfrm>
        </p:spPr>
        <p:txBody>
          <a:bodyPr/>
          <a:lstStyle/>
          <a:p>
            <a:endParaRPr lang="fr-ML" dirty="0"/>
          </a:p>
        </p:txBody>
      </p:sp>
    </p:spTree>
    <p:extLst>
      <p:ext uri="{BB962C8B-B14F-4D97-AF65-F5344CB8AC3E}">
        <p14:creationId xmlns:p14="http://schemas.microsoft.com/office/powerpoint/2010/main" val="1506000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062827-CB28-15FF-788C-0BC4569BC112}"/>
              </a:ext>
            </a:extLst>
          </p:cNvPr>
          <p:cNvSpPr>
            <a:spLocks noGrp="1"/>
          </p:cNvSpPr>
          <p:nvPr>
            <p:ph type="title"/>
          </p:nvPr>
        </p:nvSpPr>
        <p:spPr/>
        <p:txBody>
          <a:bodyPr>
            <a:norm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INTRODUCTION</a:t>
            </a:r>
            <a:r>
              <a:rPr lang="fr-FR" sz="3600" b="1" dirty="0">
                <a:solidFill>
                  <a:schemeClr val="accent1"/>
                </a:solidFill>
              </a:rPr>
              <a:t> </a:t>
            </a:r>
            <a:endParaRPr lang="fr-ML" sz="3600" b="1" dirty="0">
              <a:solidFill>
                <a:schemeClr val="accent1"/>
              </a:solidFill>
            </a:endParaRPr>
          </a:p>
        </p:txBody>
      </p:sp>
      <p:sp>
        <p:nvSpPr>
          <p:cNvPr id="3" name="Espace réservé du contenu 2">
            <a:extLst>
              <a:ext uri="{FF2B5EF4-FFF2-40B4-BE49-F238E27FC236}">
                <a16:creationId xmlns:a16="http://schemas.microsoft.com/office/drawing/2014/main" id="{5E91FC2C-46BF-EEF7-D84B-0B92D931B779}"/>
              </a:ext>
            </a:extLst>
          </p:cNvPr>
          <p:cNvSpPr>
            <a:spLocks noGrp="1"/>
          </p:cNvSpPr>
          <p:nvPr>
            <p:ph idx="1"/>
          </p:nvPr>
        </p:nvSpPr>
        <p:spPr>
          <a:xfrm>
            <a:off x="499771" y="2491740"/>
            <a:ext cx="8144459" cy="2766060"/>
          </a:xfrm>
        </p:spPr>
        <p:txBody>
          <a:bodyPr anchor="ctr">
            <a:noAutofit/>
          </a:bodyPr>
          <a:lstStyle/>
          <a:p>
            <a:pPr marL="0" indent="0" algn="just">
              <a:lnSpc>
                <a:spcPct val="160000"/>
              </a:lnSpc>
              <a:buNone/>
            </a:pPr>
            <a:r>
              <a:rPr lang="fr-FR" sz="1600" dirty="0">
                <a:latin typeface="Times New Roman" panose="02020603050405020304" pitchFamily="18" charset="0"/>
                <a:cs typeface="Times New Roman" panose="02020603050405020304" pitchFamily="18" charset="0"/>
              </a:rPr>
              <a:t>Le rôle du</a:t>
            </a:r>
            <a:r>
              <a:rPr lang="fr-FR" sz="1600" b="1" dirty="0">
                <a:latin typeface="Times New Roman" panose="02020603050405020304" pitchFamily="18" charset="0"/>
                <a:cs typeface="Times New Roman" panose="02020603050405020304" pitchFamily="18" charset="0"/>
              </a:rPr>
              <a:t> RSSI</a:t>
            </a:r>
            <a:r>
              <a:rPr lang="fr-FR" sz="1600" dirty="0">
                <a:latin typeface="Times New Roman" panose="02020603050405020304" pitchFamily="18" charset="0"/>
                <a:cs typeface="Times New Roman" panose="02020603050405020304" pitchFamily="18" charset="0"/>
              </a:rPr>
              <a:t>, ou Responsable de la Sécurité des Systèmes d'Information, est de garantir la protection des données et des systèmes informatiques d'une organisation. Cela inclut la mise en place de mesures de sécurité adaptées pour minimiser les risques de perturbation ou d'arrêt des services liés aux systèmes d'information. Dans ce contexte, la continuité de service est un enjeu majeur pour les entreprises, car elle assure la disponibilité permanente des services informatiques critiques pour le bon fonctionnement de l'activité. </a:t>
            </a:r>
            <a:r>
              <a:rPr lang="fr-FR" sz="1600" b="1" dirty="0">
                <a:latin typeface="Times New Roman" panose="02020603050405020304" pitchFamily="18" charset="0"/>
                <a:cs typeface="Times New Roman" panose="02020603050405020304" pitchFamily="18" charset="0"/>
              </a:rPr>
              <a:t>Le RSSI </a:t>
            </a:r>
            <a:r>
              <a:rPr lang="fr-FR" sz="1600" dirty="0">
                <a:latin typeface="Times New Roman" panose="02020603050405020304" pitchFamily="18" charset="0"/>
                <a:cs typeface="Times New Roman" panose="02020603050405020304" pitchFamily="18" charset="0"/>
              </a:rPr>
              <a:t>a donc un rôle clé à jouer dans la continuité de service, en définissant les politiques et les procédures de sécurité à appliquer pour garantir la résilience des systèmes d'information face aux risques et aux incidents éventuels. Dans cette introduction, nous allons donc explorer plus en détail le rôle du </a:t>
            </a:r>
            <a:r>
              <a:rPr lang="fr-FR" sz="1600" b="1" dirty="0">
                <a:latin typeface="Times New Roman" panose="02020603050405020304" pitchFamily="18" charset="0"/>
                <a:cs typeface="Times New Roman" panose="02020603050405020304" pitchFamily="18" charset="0"/>
              </a:rPr>
              <a:t>RSSI</a:t>
            </a:r>
            <a:r>
              <a:rPr lang="fr-FR" sz="1600" dirty="0">
                <a:latin typeface="Times New Roman" panose="02020603050405020304" pitchFamily="18" charset="0"/>
                <a:cs typeface="Times New Roman" panose="02020603050405020304" pitchFamily="18" charset="0"/>
              </a:rPr>
              <a:t> dans la continuité de service, en mettant en évidence les actions qu'il peut mettre en place pour assurer la disponibilité et la sécurité des systèmes d'information critiques.</a:t>
            </a:r>
            <a:endParaRPr lang="fr-ML" sz="1600" dirty="0">
              <a:latin typeface="Times New Roman" panose="02020603050405020304" pitchFamily="18" charset="0"/>
              <a:cs typeface="Times New Roman" panose="02020603050405020304" pitchFamily="18" charset="0"/>
            </a:endParaRPr>
          </a:p>
        </p:txBody>
      </p:sp>
      <p:sp>
        <p:nvSpPr>
          <p:cNvPr id="6" name="Espace réservé du numéro de diapositive 5">
            <a:extLst>
              <a:ext uri="{FF2B5EF4-FFF2-40B4-BE49-F238E27FC236}">
                <a16:creationId xmlns:a16="http://schemas.microsoft.com/office/drawing/2014/main" id="{677BF798-B06F-4861-9FB8-13FF798217C4}"/>
              </a:ext>
            </a:extLst>
          </p:cNvPr>
          <p:cNvSpPr>
            <a:spLocks noGrp="1"/>
          </p:cNvSpPr>
          <p:nvPr>
            <p:ph type="sldNum" sz="quarter" idx="12"/>
          </p:nvPr>
        </p:nvSpPr>
        <p:spPr/>
        <p:txBody>
          <a:bodyPr/>
          <a:lstStyle/>
          <a:p>
            <a:fld id="{257A4929-5DF1-4B28-B204-EBA112CCEBF5}" type="slidenum">
              <a:rPr lang="fr-ML" sz="2400" b="1">
                <a:solidFill>
                  <a:schemeClr val="accent1"/>
                </a:solidFill>
                <a:latin typeface="Times New Roman" panose="02020603050405020304" pitchFamily="18" charset="0"/>
                <a:cs typeface="Times New Roman" panose="02020603050405020304" pitchFamily="18" charset="0"/>
              </a:rPr>
              <a:t>3</a:t>
            </a:fld>
            <a:endParaRPr lang="fr-ML" sz="24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0696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ABBCEC-C6D2-9DAB-CAB6-F0D13CCB9284}"/>
              </a:ext>
            </a:extLst>
          </p:cNvPr>
          <p:cNvSpPr>
            <a:spLocks noGrp="1"/>
          </p:cNvSpPr>
          <p:nvPr>
            <p:ph type="title"/>
          </p:nvPr>
        </p:nvSpPr>
        <p:spPr>
          <a:xfrm>
            <a:off x="628650" y="363985"/>
            <a:ext cx="7886700" cy="1380995"/>
          </a:xfrm>
        </p:spPr>
        <p:txBody>
          <a:bodyPr>
            <a:normAutofit/>
          </a:bodyPr>
          <a:lstStyle/>
          <a:p>
            <a:pPr algn="ctr"/>
            <a:br>
              <a:rPr lang="fr-FR" sz="3600" b="1" dirty="0">
                <a:solidFill>
                  <a:schemeClr val="accent1"/>
                </a:solidFill>
                <a:latin typeface="Times New Roman" panose="02020603050405020304" pitchFamily="18" charset="0"/>
                <a:cs typeface="Times New Roman" panose="02020603050405020304" pitchFamily="18" charset="0"/>
              </a:rPr>
            </a:br>
            <a:r>
              <a:rPr lang="fr-FR" sz="3600" b="1" dirty="0">
                <a:solidFill>
                  <a:schemeClr val="accent1"/>
                </a:solidFill>
                <a:latin typeface="Times New Roman" panose="02020603050405020304" pitchFamily="18" charset="0"/>
                <a:cs typeface="Times New Roman" panose="02020603050405020304" pitchFamily="18" charset="0"/>
              </a:rPr>
              <a:t>OBJECTIF</a:t>
            </a:r>
            <a:r>
              <a:rPr lang="fr-FR" sz="3600" dirty="0">
                <a:solidFill>
                  <a:schemeClr val="accent1"/>
                </a:solidFill>
                <a:latin typeface="Times New Roman" panose="02020603050405020304" pitchFamily="18" charset="0"/>
                <a:cs typeface="Times New Roman" panose="02020603050405020304" pitchFamily="18" charset="0"/>
              </a:rPr>
              <a:t> </a:t>
            </a:r>
            <a:endParaRPr lang="fr-ML" sz="3600" dirty="0">
              <a:solidFill>
                <a:schemeClr val="accent1"/>
              </a:solid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CC1C2577-375A-6755-2A59-6297326B553F}"/>
              </a:ext>
            </a:extLst>
          </p:cNvPr>
          <p:cNvSpPr>
            <a:spLocks noGrp="1"/>
          </p:cNvSpPr>
          <p:nvPr>
            <p:ph idx="1"/>
          </p:nvPr>
        </p:nvSpPr>
        <p:spPr>
          <a:xfrm>
            <a:off x="470517" y="1811046"/>
            <a:ext cx="8044833" cy="4682970"/>
          </a:xfrm>
        </p:spPr>
        <p:txBody>
          <a:bodyPr anchor="ctr">
            <a:normAutofit fontScale="25000" lnSpcReduction="20000"/>
          </a:bodyPr>
          <a:lstStyle/>
          <a:p>
            <a:pPr marL="0" indent="0" algn="just">
              <a:lnSpc>
                <a:spcPct val="170000"/>
              </a:lnSpc>
              <a:buNone/>
            </a:pPr>
            <a:r>
              <a:rPr lang="fr-FR" sz="6400" dirty="0">
                <a:latin typeface="Times New Roman" panose="02020603050405020304" pitchFamily="18" charset="0"/>
                <a:cs typeface="Times New Roman" panose="02020603050405020304" pitchFamily="18" charset="0"/>
              </a:rPr>
              <a:t>L’objectif de cette intervention est d’essayer de démystifier de comprendre le rôle du Responsable de la Sécurité des Systèmes d'Information et de définir ce qu’est  l’essence de sa mission.</a:t>
            </a:r>
            <a:endParaRPr lang="fr-ML" sz="6400" b="1" dirty="0">
              <a:solidFill>
                <a:schemeClr val="accent1"/>
              </a:solidFill>
              <a:latin typeface="Times New Roman" panose="02020603050405020304" pitchFamily="18" charset="0"/>
              <a:cs typeface="Times New Roman" panose="02020603050405020304" pitchFamily="18" charset="0"/>
            </a:endParaRPr>
          </a:p>
          <a:p>
            <a:pPr marL="0" indent="0" algn="just">
              <a:lnSpc>
                <a:spcPct val="170000"/>
              </a:lnSpc>
              <a:buNone/>
            </a:pPr>
            <a:r>
              <a:rPr lang="fr-ML" sz="6400" b="1" dirty="0">
                <a:solidFill>
                  <a:schemeClr val="accent1"/>
                </a:solidFill>
                <a:latin typeface="Times New Roman" panose="02020603050405020304" pitchFamily="18" charset="0"/>
                <a:cs typeface="Times New Roman" panose="02020603050405020304" pitchFamily="18" charset="0"/>
              </a:rPr>
              <a:t>Définition: </a:t>
            </a:r>
          </a:p>
          <a:p>
            <a:pPr marL="0" indent="0" algn="just">
              <a:lnSpc>
                <a:spcPct val="170000"/>
              </a:lnSpc>
              <a:buNone/>
            </a:pPr>
            <a:r>
              <a:rPr lang="fr-FR" sz="6400" dirty="0">
                <a:latin typeface="Times New Roman" panose="02020603050405020304" pitchFamily="18" charset="0"/>
                <a:cs typeface="Times New Roman" panose="02020603050405020304" pitchFamily="18" charset="0"/>
              </a:rPr>
              <a:t>Le RSSI ( en anglais, Chief information Security office ou CISO) d'une organisation (entreprise, association ou institution) est l'expert qui garantit la sécurité du système d'information et assure la disponibilité, l'intégrité et la confidentialité des données.</a:t>
            </a:r>
            <a:r>
              <a:rPr lang="fr-FR" sz="6400" dirty="0">
                <a:latin typeface="Times New Roman" panose="02020603050405020304" pitchFamily="18" charset="0"/>
                <a:ea typeface="Calibri" panose="020F0502020204030204" pitchFamily="34" charset="0"/>
                <a:cs typeface="Times New Roman" panose="02020603050405020304" pitchFamily="18" charset="0"/>
              </a:rPr>
              <a:t>.</a:t>
            </a:r>
            <a:endParaRPr lang="fr-ML" sz="6400" b="1" dirty="0">
              <a:solidFill>
                <a:schemeClr val="accent1"/>
              </a:solidFill>
              <a:latin typeface="Times New Roman" panose="02020603050405020304" pitchFamily="18" charset="0"/>
              <a:cs typeface="Times New Roman" panose="02020603050405020304" pitchFamily="18" charset="0"/>
            </a:endParaRPr>
          </a:p>
          <a:p>
            <a:pPr marL="0" indent="0" algn="just">
              <a:lnSpc>
                <a:spcPct val="170000"/>
              </a:lnSpc>
              <a:buNone/>
            </a:pPr>
            <a:r>
              <a:rPr lang="fr-FR" sz="6400" dirty="0">
                <a:latin typeface="Times New Roman" panose="02020603050405020304" pitchFamily="18" charset="0"/>
                <a:cs typeface="Times New Roman" panose="02020603050405020304" pitchFamily="18" charset="0"/>
              </a:rPr>
              <a:t>Dans le contexte de la continuité de service, le RSSI est chargé de la planification, de la mise en place et de la gestion des stratégies de sécurité des systèmes d'information de l'entreprise. </a:t>
            </a:r>
            <a:endParaRPr lang="fr-ML" sz="6400" dirty="0">
              <a:solidFill>
                <a:schemeClr val="accent1"/>
              </a:solidFill>
              <a:latin typeface="Times New Roman" panose="02020603050405020304" pitchFamily="18" charset="0"/>
              <a:cs typeface="Times New Roman" panose="02020603050405020304" pitchFamily="18" charset="0"/>
            </a:endParaRPr>
          </a:p>
          <a:p>
            <a:pPr marL="0" indent="0">
              <a:buNone/>
            </a:pPr>
            <a:endParaRPr lang="fr-ML" dirty="0">
              <a:solidFill>
                <a:schemeClr val="accent1"/>
              </a:solidFill>
            </a:endParaRPr>
          </a:p>
        </p:txBody>
      </p:sp>
      <p:sp>
        <p:nvSpPr>
          <p:cNvPr id="6" name="Espace réservé du numéro de diapositive 5">
            <a:extLst>
              <a:ext uri="{FF2B5EF4-FFF2-40B4-BE49-F238E27FC236}">
                <a16:creationId xmlns:a16="http://schemas.microsoft.com/office/drawing/2014/main" id="{66BB6B1D-592B-4EAC-9565-D26F3A7C5513}"/>
              </a:ext>
            </a:extLst>
          </p:cNvPr>
          <p:cNvSpPr>
            <a:spLocks noGrp="1"/>
          </p:cNvSpPr>
          <p:nvPr>
            <p:ph type="sldNum" sz="quarter" idx="12"/>
          </p:nvPr>
        </p:nvSpPr>
        <p:spPr>
          <a:xfrm>
            <a:off x="7767960" y="6383044"/>
            <a:ext cx="1083077" cy="403935"/>
          </a:xfrm>
        </p:spPr>
        <p:txBody>
          <a:bodyPr/>
          <a:lstStyle/>
          <a:p>
            <a:r>
              <a:rPr lang="fr-ML" sz="2400" b="1" dirty="0">
                <a:solidFill>
                  <a:schemeClr val="accent1"/>
                </a:solidFill>
                <a:latin typeface="Times New Roman" panose="02020603050405020304" pitchFamily="18" charset="0"/>
                <a:cs typeface="Times New Roman" panose="02020603050405020304" pitchFamily="18" charset="0"/>
              </a:rPr>
              <a:t>      </a:t>
            </a:r>
            <a:fld id="{257A4929-5DF1-4B28-B204-EBA112CCEBF5}" type="slidenum">
              <a:rPr lang="fr-ML" sz="2400" b="1">
                <a:solidFill>
                  <a:schemeClr val="accent1"/>
                </a:solidFill>
                <a:latin typeface="Times New Roman" panose="02020603050405020304" pitchFamily="18" charset="0"/>
                <a:cs typeface="Times New Roman" panose="02020603050405020304" pitchFamily="18" charset="0"/>
              </a:rPr>
              <a:t>4</a:t>
            </a:fld>
            <a:endParaRPr lang="fr-ML" sz="24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1279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34980B3-E6CE-443D-8265-344868C4FF14}"/>
              </a:ext>
            </a:extLst>
          </p:cNvPr>
          <p:cNvSpPr>
            <a:spLocks noGrp="1"/>
          </p:cNvSpPr>
          <p:nvPr>
            <p:ph type="title"/>
          </p:nvPr>
        </p:nvSpPr>
        <p:spPr/>
        <p:txBody>
          <a:bodyPr>
            <a:norm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OBJECTIF</a:t>
            </a:r>
            <a:r>
              <a:rPr lang="fr-FR" sz="3600" dirty="0">
                <a:solidFill>
                  <a:schemeClr val="accent1"/>
                </a:solidFill>
                <a:latin typeface="Times New Roman" panose="02020603050405020304" pitchFamily="18" charset="0"/>
                <a:cs typeface="Times New Roman" panose="02020603050405020304" pitchFamily="18" charset="0"/>
              </a:rPr>
              <a:t> (suite)</a:t>
            </a:r>
            <a:endParaRPr lang="fr-ML" sz="3600" dirty="0"/>
          </a:p>
        </p:txBody>
      </p:sp>
      <p:sp>
        <p:nvSpPr>
          <p:cNvPr id="3" name="Espace réservé du numéro de diapositive 2">
            <a:extLst>
              <a:ext uri="{FF2B5EF4-FFF2-40B4-BE49-F238E27FC236}">
                <a16:creationId xmlns:a16="http://schemas.microsoft.com/office/drawing/2014/main" id="{5287C552-6168-44CB-B74A-0A25D1BDB2CD}"/>
              </a:ext>
            </a:extLst>
          </p:cNvPr>
          <p:cNvSpPr>
            <a:spLocks noGrp="1"/>
          </p:cNvSpPr>
          <p:nvPr>
            <p:ph type="sldNum" sz="quarter" idx="12"/>
          </p:nvPr>
        </p:nvSpPr>
        <p:spPr/>
        <p:txBody>
          <a:bodyPr/>
          <a:lstStyle/>
          <a:p>
            <a:fld id="{257A4929-5DF1-4B28-B204-EBA112CCEBF5}" type="slidenum">
              <a:rPr lang="fr-ML" sz="2400" b="1">
                <a:solidFill>
                  <a:schemeClr val="accent1"/>
                </a:solidFill>
                <a:latin typeface="Times New Roman" panose="02020603050405020304" pitchFamily="18" charset="0"/>
                <a:cs typeface="Times New Roman" panose="02020603050405020304" pitchFamily="18" charset="0"/>
              </a:rPr>
              <a:t>5</a:t>
            </a:fld>
            <a:endParaRPr lang="fr-ML" sz="2400" b="1" dirty="0">
              <a:solidFill>
                <a:schemeClr val="accent1"/>
              </a:solidFill>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A226F460-0858-4E3B-9BAF-7129405E17D0}"/>
              </a:ext>
            </a:extLst>
          </p:cNvPr>
          <p:cNvSpPr txBox="1"/>
          <p:nvPr/>
        </p:nvSpPr>
        <p:spPr>
          <a:xfrm>
            <a:off x="628650" y="2868587"/>
            <a:ext cx="7886699" cy="1292662"/>
          </a:xfrm>
          <a:prstGeom prst="rect">
            <a:avLst/>
          </a:prstGeom>
          <a:noFill/>
        </p:spPr>
        <p:txBody>
          <a:bodyPr wrap="square" anchor="ctr">
            <a:spAutoFit/>
          </a:bodyPr>
          <a:lstStyle/>
          <a:p>
            <a:pPr algn="just">
              <a:lnSpc>
                <a:spcPct val="150000"/>
              </a:lnSpc>
            </a:pPr>
            <a:r>
              <a:rPr lang="fr-FR" sz="1600" dirty="0">
                <a:latin typeface="Times New Roman" panose="02020603050405020304" pitchFamily="18" charset="0"/>
                <a:cs typeface="Times New Roman" panose="02020603050405020304" pitchFamily="18" charset="0"/>
              </a:rPr>
              <a:t>Cela implique l'évaluation des risques, la mise en place de politiques de sécurité, la sensibilisation des employés à la sécurité de l'information, la gestion des incidents de sécurité et la planification de la continuité de service en cas d'incident.</a:t>
            </a:r>
          </a:p>
          <a:p>
            <a:pPr algn="just"/>
            <a:endParaRPr lang="fr-ML" sz="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765629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36E565-CD6D-2453-D981-92360D0559F6}"/>
              </a:ext>
            </a:extLst>
          </p:cNvPr>
          <p:cNvSpPr>
            <a:spLocks noGrp="1"/>
          </p:cNvSpPr>
          <p:nvPr>
            <p:ph type="title"/>
          </p:nvPr>
        </p:nvSpPr>
        <p:spPr/>
        <p:txBody>
          <a:bodyPr>
            <a:noAutofit/>
          </a:bodyPr>
          <a:lstStyle/>
          <a:p>
            <a:r>
              <a:rPr lang="fr-FR" sz="3600" dirty="0">
                <a:solidFill>
                  <a:schemeClr val="accent1"/>
                </a:solidFill>
                <a:latin typeface="Times New Roman" panose="02020603050405020304" pitchFamily="18" charset="0"/>
                <a:cs typeface="Times New Roman" panose="02020603050405020304" pitchFamily="18" charset="0"/>
              </a:rPr>
              <a:t>LES PRINCIPALES RÔLES DU RSSI DANS LA CONTINUITÉ DE SERVICE </a:t>
            </a:r>
            <a:endParaRPr lang="fr-ML" sz="3600" dirty="0">
              <a:solidFill>
                <a:schemeClr val="accent1"/>
              </a:solid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F6E65BDC-32FD-896B-7D26-928F167932B6}"/>
              </a:ext>
            </a:extLst>
          </p:cNvPr>
          <p:cNvSpPr>
            <a:spLocks noGrp="1"/>
          </p:cNvSpPr>
          <p:nvPr>
            <p:ph idx="1"/>
          </p:nvPr>
        </p:nvSpPr>
        <p:spPr>
          <a:xfrm>
            <a:off x="628649" y="2226467"/>
            <a:ext cx="7991567" cy="3348709"/>
          </a:xfrm>
        </p:spPr>
        <p:txBody>
          <a:bodyPr>
            <a:normAutofit fontScale="25000" lnSpcReduction="20000"/>
          </a:bodyPr>
          <a:lstStyle/>
          <a:p>
            <a:pPr marL="0" indent="0" algn="just">
              <a:lnSpc>
                <a:spcPct val="170000"/>
              </a:lnSpc>
              <a:spcAft>
                <a:spcPts val="600"/>
              </a:spcAft>
              <a:buNone/>
            </a:pPr>
            <a:r>
              <a:rPr lang="fr-FR" sz="6400" dirty="0">
                <a:latin typeface="Times New Roman" panose="02020603050405020304" pitchFamily="18" charset="0"/>
                <a:ea typeface="Calibri" panose="020F0502020204030204" pitchFamily="34" charset="0"/>
                <a:cs typeface="Times New Roman" panose="02020603050405020304" pitchFamily="18" charset="0"/>
              </a:rPr>
              <a:t>Le RSSI (Responsable de la Sécurité des Systèmes d'Information) joue un rôle important dans la continuité de service de l'entreprise en assurant la sécurité de l'ensemble des systèmes d'information. Les rôles spécifiques du RSSI dans la continuité de service comprennent : </a:t>
            </a:r>
            <a:endParaRPr lang="fr-ML" sz="64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70000"/>
              </a:lnSpc>
              <a:spcAft>
                <a:spcPts val="600"/>
              </a:spcAft>
            </a:pPr>
            <a:r>
              <a:rPr lang="fr-FR" sz="64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Évaluation des risques : </a:t>
            </a:r>
            <a:r>
              <a:rPr lang="fr-FR" sz="6400" dirty="0">
                <a:latin typeface="Times New Roman" panose="02020603050405020304" pitchFamily="18" charset="0"/>
                <a:ea typeface="Calibri" panose="020F0502020204030204" pitchFamily="34" charset="0"/>
                <a:cs typeface="Times New Roman" panose="02020603050405020304" pitchFamily="18" charset="0"/>
              </a:rPr>
              <a:t>Le RSSI doit évaluer les risques de sécurité de l'information afin d'identifier les menaces et les vulnérabilités potentielles pour les systèmes d'information de l'entreprise. Cette évaluation doit être mise à jour régulièrement afin de garantir que les risques sont toujours pris en compte. </a:t>
            </a:r>
            <a:endParaRPr lang="fr-ML" sz="6400" dirty="0">
              <a:latin typeface="Times New Roman" panose="02020603050405020304" pitchFamily="18" charset="0"/>
              <a:ea typeface="Calibri" panose="020F0502020204030204" pitchFamily="34" charset="0"/>
              <a:cs typeface="Times New Roman" panose="02020603050405020304" pitchFamily="18" charset="0"/>
            </a:endParaRPr>
          </a:p>
          <a:p>
            <a:endParaRPr lang="fr-ML" dirty="0"/>
          </a:p>
        </p:txBody>
      </p:sp>
      <p:sp>
        <p:nvSpPr>
          <p:cNvPr id="6" name="Espace réservé du numéro de diapositive 5">
            <a:extLst>
              <a:ext uri="{FF2B5EF4-FFF2-40B4-BE49-F238E27FC236}">
                <a16:creationId xmlns:a16="http://schemas.microsoft.com/office/drawing/2014/main" id="{8448EEDF-C48E-48A4-8ED0-D0A53440228A}"/>
              </a:ext>
            </a:extLst>
          </p:cNvPr>
          <p:cNvSpPr>
            <a:spLocks noGrp="1"/>
          </p:cNvSpPr>
          <p:nvPr>
            <p:ph type="sldNum" sz="quarter" idx="12"/>
          </p:nvPr>
        </p:nvSpPr>
        <p:spPr/>
        <p:txBody>
          <a:bodyPr/>
          <a:lstStyle/>
          <a:p>
            <a:fld id="{257A4929-5DF1-4B28-B204-EBA112CCEBF5}" type="slidenum">
              <a:rPr lang="fr-ML" sz="2400" b="1">
                <a:solidFill>
                  <a:schemeClr val="accent1"/>
                </a:solidFill>
                <a:latin typeface="Times New Roman" panose="02020603050405020304" pitchFamily="18" charset="0"/>
                <a:cs typeface="Times New Roman" panose="02020603050405020304" pitchFamily="18" charset="0"/>
              </a:rPr>
              <a:t>6</a:t>
            </a:fld>
            <a:endParaRPr lang="fr-ML" sz="24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979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0BE1AF-C08A-84F6-4C94-0D020834271C}"/>
              </a:ext>
            </a:extLst>
          </p:cNvPr>
          <p:cNvSpPr>
            <a:spLocks noGrp="1"/>
          </p:cNvSpPr>
          <p:nvPr>
            <p:ph type="title"/>
          </p:nvPr>
        </p:nvSpPr>
        <p:spPr/>
        <p:txBody>
          <a:bodyPr>
            <a:noAutofit/>
          </a:bodyPr>
          <a:lstStyle/>
          <a:p>
            <a:r>
              <a:rPr lang="fr-FR" sz="3600" dirty="0">
                <a:solidFill>
                  <a:schemeClr val="accent1"/>
                </a:solidFill>
                <a:latin typeface="Times New Roman" panose="02020603050405020304" pitchFamily="18" charset="0"/>
                <a:cs typeface="Times New Roman" panose="02020603050405020304" pitchFamily="18" charset="0"/>
              </a:rPr>
              <a:t>LES PRINCIPALES RÔLES DU RSSI DANS LA CONTINUITÉ DE SERVICE </a:t>
            </a:r>
            <a:endParaRPr lang="fr-ML" sz="3600" dirty="0"/>
          </a:p>
        </p:txBody>
      </p:sp>
      <p:sp>
        <p:nvSpPr>
          <p:cNvPr id="3" name="Espace réservé du contenu 2">
            <a:extLst>
              <a:ext uri="{FF2B5EF4-FFF2-40B4-BE49-F238E27FC236}">
                <a16:creationId xmlns:a16="http://schemas.microsoft.com/office/drawing/2014/main" id="{A6AC862B-A31F-91FC-2715-54C7DBCB0ADF}"/>
              </a:ext>
            </a:extLst>
          </p:cNvPr>
          <p:cNvSpPr>
            <a:spLocks noGrp="1"/>
          </p:cNvSpPr>
          <p:nvPr>
            <p:ph idx="1"/>
          </p:nvPr>
        </p:nvSpPr>
        <p:spPr>
          <a:xfrm>
            <a:off x="701891" y="2211511"/>
            <a:ext cx="7886700" cy="3413002"/>
          </a:xfrm>
        </p:spPr>
        <p:txBody>
          <a:bodyPr>
            <a:normAutofit/>
          </a:bodyPr>
          <a:lstStyle/>
          <a:p>
            <a:pPr algn="just">
              <a:lnSpc>
                <a:spcPct val="170000"/>
              </a:lnSpc>
              <a:spcAft>
                <a:spcPts val="600"/>
              </a:spcAft>
            </a:pPr>
            <a:r>
              <a:rPr lang="fr-FR" sz="16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Gestion des incidents de sécurité : </a:t>
            </a:r>
            <a:r>
              <a:rPr lang="fr-FR" sz="1600" dirty="0">
                <a:latin typeface="Times New Roman" panose="02020603050405020304" pitchFamily="18" charset="0"/>
                <a:ea typeface="Calibri" panose="020F0502020204030204" pitchFamily="34" charset="0"/>
                <a:cs typeface="Times New Roman" panose="02020603050405020304" pitchFamily="18" charset="0"/>
              </a:rPr>
              <a:t>Le RSSI doit gérer les incidents de sécurité et mettre en œuvre les plans de continuité de service en cas d'incident. Le RSSI doit également être en mesure de réagir rapidement en cas d'incident pour minimiser les impacts sur l'entreprise.</a:t>
            </a:r>
            <a:endParaRPr lang="fr-FR" sz="1600" b="1"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r>
              <a:rPr lang="fr-FR" sz="160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Sensibilisation à la sécurité : </a:t>
            </a:r>
            <a:r>
              <a:rPr lang="fr-FR" sz="1600" dirty="0">
                <a:latin typeface="Times New Roman" panose="02020603050405020304" pitchFamily="18" charset="0"/>
                <a:ea typeface="Calibri" panose="020F0502020204030204" pitchFamily="34" charset="0"/>
                <a:cs typeface="Times New Roman" panose="02020603050405020304" pitchFamily="18" charset="0"/>
              </a:rPr>
              <a:t>Le RSSI est responsable de sensibiliser l'ensemble des employés de l'entreprise à la sécurité de l'information. Cela peut inclure la formation à la sécurité des données, la sensibilisation à la gestion des mots de passe, l'application des politiques de sécurité et la surveillance des activités suspectes.</a:t>
            </a:r>
            <a:endParaRPr lang="fr-ML" sz="16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fr-ML" dirty="0"/>
          </a:p>
        </p:txBody>
      </p:sp>
      <p:sp>
        <p:nvSpPr>
          <p:cNvPr id="6" name="Espace réservé du numéro de diapositive 5">
            <a:extLst>
              <a:ext uri="{FF2B5EF4-FFF2-40B4-BE49-F238E27FC236}">
                <a16:creationId xmlns:a16="http://schemas.microsoft.com/office/drawing/2014/main" id="{DFA4859B-6D99-4659-B7D0-5701427231F3}"/>
              </a:ext>
            </a:extLst>
          </p:cNvPr>
          <p:cNvSpPr>
            <a:spLocks noGrp="1"/>
          </p:cNvSpPr>
          <p:nvPr>
            <p:ph type="sldNum" sz="quarter" idx="12"/>
          </p:nvPr>
        </p:nvSpPr>
        <p:spPr/>
        <p:txBody>
          <a:bodyPr/>
          <a:lstStyle/>
          <a:p>
            <a:fld id="{257A4929-5DF1-4B28-B204-EBA112CCEBF5}" type="slidenum">
              <a:rPr lang="fr-ML" sz="2400" b="1">
                <a:solidFill>
                  <a:schemeClr val="accent1"/>
                </a:solidFill>
              </a:rPr>
              <a:t>7</a:t>
            </a:fld>
            <a:endParaRPr lang="fr-ML" sz="2400" b="1" dirty="0">
              <a:solidFill>
                <a:schemeClr val="accent1"/>
              </a:solidFill>
            </a:endParaRPr>
          </a:p>
        </p:txBody>
      </p:sp>
    </p:spTree>
    <p:extLst>
      <p:ext uri="{BB962C8B-B14F-4D97-AF65-F5344CB8AC3E}">
        <p14:creationId xmlns:p14="http://schemas.microsoft.com/office/powerpoint/2010/main" val="3801013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F6DA67-C090-5F91-85F4-64B8E4591AD0}"/>
              </a:ext>
            </a:extLst>
          </p:cNvPr>
          <p:cNvSpPr>
            <a:spLocks noGrp="1"/>
          </p:cNvSpPr>
          <p:nvPr>
            <p:ph type="title"/>
          </p:nvPr>
        </p:nvSpPr>
        <p:spPr/>
        <p:txBody>
          <a:bodyPr>
            <a:noAutofit/>
          </a:bodyPr>
          <a:lstStyle/>
          <a:p>
            <a:r>
              <a:rPr lang="fr-FR" sz="3600" dirty="0">
                <a:solidFill>
                  <a:schemeClr val="accent1"/>
                </a:solidFill>
                <a:latin typeface="Times New Roman" panose="02020603050405020304" pitchFamily="18" charset="0"/>
                <a:cs typeface="Times New Roman" panose="02020603050405020304" pitchFamily="18" charset="0"/>
              </a:rPr>
              <a:t>LES PRINCIPALES RÔLES DU RSSI DANS LA CONTINUITÉ DE SERVICE </a:t>
            </a:r>
            <a:endParaRPr lang="fr-ML" sz="3600" dirty="0"/>
          </a:p>
        </p:txBody>
      </p:sp>
      <p:sp>
        <p:nvSpPr>
          <p:cNvPr id="3" name="Espace réservé du contenu 2">
            <a:extLst>
              <a:ext uri="{FF2B5EF4-FFF2-40B4-BE49-F238E27FC236}">
                <a16:creationId xmlns:a16="http://schemas.microsoft.com/office/drawing/2014/main" id="{65767595-F436-2E00-D0B2-6922B0A05953}"/>
              </a:ext>
            </a:extLst>
          </p:cNvPr>
          <p:cNvSpPr>
            <a:spLocks noGrp="1"/>
          </p:cNvSpPr>
          <p:nvPr>
            <p:ph idx="1"/>
          </p:nvPr>
        </p:nvSpPr>
        <p:spPr>
          <a:xfrm>
            <a:off x="628650" y="2226469"/>
            <a:ext cx="7886700" cy="3151735"/>
          </a:xfrm>
        </p:spPr>
        <p:txBody>
          <a:bodyPr>
            <a:normAutofit fontScale="92500" lnSpcReduction="20000"/>
          </a:bodyPr>
          <a:lstStyle/>
          <a:p>
            <a:pPr algn="just">
              <a:lnSpc>
                <a:spcPct val="160000"/>
              </a:lnSpc>
            </a:pPr>
            <a:r>
              <a:rPr lang="fr-FR" sz="1650"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Mise en </a:t>
            </a:r>
            <a:r>
              <a:rPr lang="fr-FR" sz="1725"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place de politiques de sécurité : </a:t>
            </a:r>
            <a:r>
              <a:rPr lang="fr-FR" sz="1725" dirty="0">
                <a:latin typeface="Times New Roman" panose="02020603050405020304" pitchFamily="18" charset="0"/>
                <a:ea typeface="Calibri" panose="020F0502020204030204" pitchFamily="34" charset="0"/>
                <a:cs typeface="Times New Roman" panose="02020603050405020304" pitchFamily="18" charset="0"/>
              </a:rPr>
              <a:t>Le RSSI est responsable de la mise en place et de l'application des politiques de sécurité de l'information de l'entreprise. Cela peut inclure des politiques pour l'utilisation des ordinateurs et des appareils mobiles, la gestion des mots de passe, la gestion des accès aux données et des contrôles d'accès physiques aux bâtiments.</a:t>
            </a:r>
          </a:p>
          <a:p>
            <a:pPr algn="just">
              <a:lnSpc>
                <a:spcPct val="160000"/>
              </a:lnSpc>
            </a:pPr>
            <a:r>
              <a:rPr lang="fr-FR" sz="1725" b="1" dirty="0">
                <a:solidFill>
                  <a:schemeClr val="accent1"/>
                </a:solidFill>
                <a:latin typeface="Times New Roman" panose="02020603050405020304" pitchFamily="18" charset="0"/>
                <a:ea typeface="Calibri" panose="020F0502020204030204" pitchFamily="34" charset="0"/>
                <a:cs typeface="Times New Roman" panose="02020603050405020304" pitchFamily="18" charset="0"/>
              </a:rPr>
              <a:t>Planification de la continuité : </a:t>
            </a:r>
            <a:r>
              <a:rPr lang="fr-FR" sz="1725" dirty="0">
                <a:latin typeface="Times New Roman" panose="02020603050405020304" pitchFamily="18" charset="0"/>
                <a:ea typeface="Calibri" panose="020F0502020204030204" pitchFamily="34" charset="0"/>
                <a:cs typeface="Times New Roman" panose="02020603050405020304" pitchFamily="18" charset="0"/>
              </a:rPr>
              <a:t>Le RSSI est responsable de la planification de la continuité de service en cas d'incident de sécurité. Cette planification doit inclure des stratégies de sauvegarde et de récupération des données, ainsi que des plans d'urgence pour garantir la disponibilité continue des systèmes d'information.</a:t>
            </a:r>
            <a:endParaRPr lang="fr-ML" sz="1725"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endParaRPr lang="fr-FR" sz="165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6" name="Espace réservé du numéro de diapositive 5">
            <a:extLst>
              <a:ext uri="{FF2B5EF4-FFF2-40B4-BE49-F238E27FC236}">
                <a16:creationId xmlns:a16="http://schemas.microsoft.com/office/drawing/2014/main" id="{17FAD324-6D45-466E-AB1E-B6460E33F9BD}"/>
              </a:ext>
            </a:extLst>
          </p:cNvPr>
          <p:cNvSpPr>
            <a:spLocks noGrp="1"/>
          </p:cNvSpPr>
          <p:nvPr>
            <p:ph type="sldNum" sz="quarter" idx="12"/>
          </p:nvPr>
        </p:nvSpPr>
        <p:spPr>
          <a:xfrm>
            <a:off x="7528264" y="5761608"/>
            <a:ext cx="1367160" cy="1793288"/>
          </a:xfrm>
        </p:spPr>
        <p:txBody>
          <a:bodyPr/>
          <a:lstStyle/>
          <a:p>
            <a:fld id="{257A4929-5DF1-4B28-B204-EBA112CCEBF5}" type="slidenum">
              <a:rPr lang="fr-ML" sz="2400" b="1">
                <a:solidFill>
                  <a:schemeClr val="accent1"/>
                </a:solidFill>
              </a:rPr>
              <a:t>8</a:t>
            </a:fld>
            <a:endParaRPr lang="fr-ML" sz="2400" b="1" dirty="0">
              <a:solidFill>
                <a:schemeClr val="accent1"/>
              </a:solidFill>
            </a:endParaRPr>
          </a:p>
        </p:txBody>
      </p:sp>
    </p:spTree>
    <p:extLst>
      <p:ext uri="{BB962C8B-B14F-4D97-AF65-F5344CB8AC3E}">
        <p14:creationId xmlns:p14="http://schemas.microsoft.com/office/powerpoint/2010/main" val="3803769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AE07FB-7A16-40D9-8155-3F9B187EA169}"/>
              </a:ext>
            </a:extLst>
          </p:cNvPr>
          <p:cNvSpPr>
            <a:spLocks noGrp="1"/>
          </p:cNvSpPr>
          <p:nvPr>
            <p:ph type="title"/>
          </p:nvPr>
        </p:nvSpPr>
        <p:spPr>
          <a:xfrm>
            <a:off x="628650" y="1023707"/>
            <a:ext cx="7886700" cy="827716"/>
          </a:xfrm>
        </p:spPr>
        <p:txBody>
          <a:bodyPr>
            <a:normAutofit fontScale="90000"/>
          </a:bodyPr>
          <a:lstStyle/>
          <a:p>
            <a:pPr algn="ctr"/>
            <a:r>
              <a:rPr lang="fr-FR" sz="3600" dirty="0">
                <a:solidFill>
                  <a:schemeClr val="accent1"/>
                </a:solidFill>
                <a:latin typeface="Times New Roman" panose="02020603050405020304" pitchFamily="18" charset="0"/>
                <a:cs typeface="Times New Roman" panose="02020603050405020304" pitchFamily="18" charset="0"/>
              </a:rPr>
              <a:t>LES PRINCIPALES RÔLES DU RSSI DANS LA CONTINUITÉ DE SERVICE </a:t>
            </a:r>
            <a:endParaRPr lang="fr-ML" sz="3600" b="1" dirty="0">
              <a:solidFill>
                <a:schemeClr val="accent1"/>
              </a:solidFill>
            </a:endParaRPr>
          </a:p>
        </p:txBody>
      </p:sp>
      <p:sp>
        <p:nvSpPr>
          <p:cNvPr id="3" name="Espace réservé du numéro de diapositive 2">
            <a:extLst>
              <a:ext uri="{FF2B5EF4-FFF2-40B4-BE49-F238E27FC236}">
                <a16:creationId xmlns:a16="http://schemas.microsoft.com/office/drawing/2014/main" id="{ED2963DF-A425-44F0-BDD7-2652722540D1}"/>
              </a:ext>
            </a:extLst>
          </p:cNvPr>
          <p:cNvSpPr>
            <a:spLocks noGrp="1"/>
          </p:cNvSpPr>
          <p:nvPr>
            <p:ph type="sldNum" sz="quarter" idx="12"/>
          </p:nvPr>
        </p:nvSpPr>
        <p:spPr/>
        <p:txBody>
          <a:bodyPr/>
          <a:lstStyle/>
          <a:p>
            <a:fld id="{257A4929-5DF1-4B28-B204-EBA112CCEBF5}" type="slidenum">
              <a:rPr lang="fr-ML" sz="2400" b="1">
                <a:solidFill>
                  <a:schemeClr val="accent1"/>
                </a:solidFill>
              </a:rPr>
              <a:t>9</a:t>
            </a:fld>
            <a:endParaRPr lang="fr-ML" sz="2400" b="1" dirty="0">
              <a:solidFill>
                <a:schemeClr val="accent1"/>
              </a:solidFill>
            </a:endParaRPr>
          </a:p>
        </p:txBody>
      </p:sp>
      <p:sp>
        <p:nvSpPr>
          <p:cNvPr id="5" name="ZoneTexte 4">
            <a:extLst>
              <a:ext uri="{FF2B5EF4-FFF2-40B4-BE49-F238E27FC236}">
                <a16:creationId xmlns:a16="http://schemas.microsoft.com/office/drawing/2014/main" id="{AB48311B-CD8C-407E-9542-67631908F848}"/>
              </a:ext>
            </a:extLst>
          </p:cNvPr>
          <p:cNvSpPr txBox="1"/>
          <p:nvPr/>
        </p:nvSpPr>
        <p:spPr>
          <a:xfrm>
            <a:off x="628650" y="1856581"/>
            <a:ext cx="7886699" cy="2712859"/>
          </a:xfrm>
          <a:prstGeom prst="rect">
            <a:avLst/>
          </a:prstGeom>
          <a:noFill/>
        </p:spPr>
        <p:txBody>
          <a:bodyPr wrap="square">
            <a:spAutoFit/>
          </a:bodyPr>
          <a:lstStyle/>
          <a:p>
            <a:pPr algn="just">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La continuité de service:</a:t>
            </a:r>
          </a:p>
          <a:p>
            <a:pPr algn="just">
              <a:lnSpc>
                <a:spcPct val="150000"/>
              </a:lnSpc>
            </a:pPr>
            <a:r>
              <a:rPr lang="fr-FR" sz="1600" dirty="0">
                <a:latin typeface="Times New Roman" panose="02020603050405020304" pitchFamily="18" charset="0"/>
                <a:cs typeface="Times New Roman" panose="02020603050405020304" pitchFamily="18" charset="0"/>
              </a:rPr>
              <a:t>La continuité de service est un enjeu majeur pour les entreprises, qui doivent être capables de maintenir leur activité même en cas d'incident majeur. Dans ce contexte, le RSSI joue un rôle crucial pour garantir la disponibilité des systèmes d'information de l'entreprise.</a:t>
            </a:r>
          </a:p>
          <a:p>
            <a:pPr algn="just">
              <a:lnSpc>
                <a:spcPct val="150000"/>
              </a:lnSpc>
            </a:pPr>
            <a:r>
              <a:rPr lang="fr-FR" sz="1600" dirty="0">
                <a:latin typeface="Times New Roman" panose="02020603050405020304" pitchFamily="18" charset="0"/>
                <a:cs typeface="Times New Roman" panose="02020603050405020304" pitchFamily="18" charset="0"/>
              </a:rPr>
              <a:t>Le RSSI doit mettre en place des procédures de sauvegarde et de restauration des données, ainsi que des plans de continuité d'activité en cas d'incident majeur. Il doit également s'assurer que ces plans sont régulièrement testés et mis à jour pour garantir leur efficacité.</a:t>
            </a:r>
            <a:endParaRPr lang="fr-ML" sz="16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4827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0C59BE-A3CF-76F5-6889-2E67855ECE03}"/>
              </a:ext>
            </a:extLst>
          </p:cNvPr>
          <p:cNvSpPr>
            <a:spLocks noGrp="1"/>
          </p:cNvSpPr>
          <p:nvPr>
            <p:ph type="title"/>
          </p:nvPr>
        </p:nvSpPr>
        <p:spPr/>
        <p:txBody>
          <a:bodyPr>
            <a:noAutofit/>
          </a:bodyPr>
          <a:lstStyle/>
          <a:p>
            <a:pPr algn="ctr">
              <a:lnSpc>
                <a:spcPct val="100000"/>
              </a:lnSpc>
            </a:pPr>
            <a:r>
              <a:rPr lang="fr-FR" sz="3600" b="1" dirty="0">
                <a:solidFill>
                  <a:schemeClr val="accent1"/>
                </a:solidFill>
                <a:latin typeface="Times New Roman" panose="02020603050405020304" pitchFamily="18" charset="0"/>
                <a:cs typeface="Times New Roman" panose="02020603050405020304" pitchFamily="18" charset="0"/>
              </a:rPr>
              <a:t>LES OBJECTIFS PRINCIPAUX DU RSSI</a:t>
            </a:r>
            <a:endParaRPr lang="fr-ML" sz="3600" b="1" dirty="0">
              <a:solidFill>
                <a:schemeClr val="accent1"/>
              </a:solid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A84689EC-4E8F-DD16-9B0B-922E47379C03}"/>
              </a:ext>
            </a:extLst>
          </p:cNvPr>
          <p:cNvSpPr>
            <a:spLocks noGrp="1"/>
          </p:cNvSpPr>
          <p:nvPr>
            <p:ph idx="1"/>
          </p:nvPr>
        </p:nvSpPr>
        <p:spPr/>
        <p:txBody>
          <a:bodyPr>
            <a:normAutofit fontScale="92500" lnSpcReduction="10000"/>
          </a:bodyPr>
          <a:lstStyle/>
          <a:p>
            <a:pPr marL="0" indent="0" algn="just">
              <a:lnSpc>
                <a:spcPct val="150000"/>
              </a:lnSpc>
              <a:buNone/>
            </a:pPr>
            <a:r>
              <a:rPr lang="fr-FR" sz="1725" dirty="0">
                <a:latin typeface="Times New Roman" panose="02020603050405020304" pitchFamily="18" charset="0"/>
                <a:cs typeface="Times New Roman" panose="02020603050405020304" pitchFamily="18" charset="0"/>
              </a:rPr>
              <a:t>Ses principaux objectifs sont les suivants :</a:t>
            </a:r>
          </a:p>
          <a:p>
            <a:pPr algn="just">
              <a:lnSpc>
                <a:spcPct val="150000"/>
              </a:lnSpc>
              <a:buFont typeface="Wingdings" panose="05000000000000000000" pitchFamily="2" charset="2"/>
              <a:buChar char="q"/>
            </a:pPr>
            <a:r>
              <a:rPr lang="fr-FR" sz="1725" dirty="0">
                <a:latin typeface="Times New Roman" panose="02020603050405020304" pitchFamily="18" charset="0"/>
                <a:cs typeface="Times New Roman" panose="02020603050405020304" pitchFamily="18" charset="0"/>
              </a:rPr>
              <a:t> </a:t>
            </a:r>
            <a:r>
              <a:rPr lang="fr-FR" sz="1725" b="1" dirty="0">
                <a:solidFill>
                  <a:schemeClr val="accent1"/>
                </a:solidFill>
                <a:latin typeface="Times New Roman" panose="02020603050405020304" pitchFamily="18" charset="0"/>
                <a:cs typeface="Times New Roman" panose="02020603050405020304" pitchFamily="18" charset="0"/>
              </a:rPr>
              <a:t>Prévenir les risques dès les phases de développement de projets:</a:t>
            </a:r>
            <a:endParaRPr lang="fr-FR" sz="1725" dirty="0">
              <a:solidFill>
                <a:schemeClr val="accent1"/>
              </a:solidFill>
              <a:latin typeface="Times New Roman" panose="02020603050405020304" pitchFamily="18" charset="0"/>
              <a:cs typeface="Times New Roman" panose="02020603050405020304" pitchFamily="18" charset="0"/>
            </a:endParaRPr>
          </a:p>
          <a:p>
            <a:pPr marL="0" indent="0" algn="just">
              <a:lnSpc>
                <a:spcPct val="150000"/>
              </a:lnSpc>
              <a:buNone/>
            </a:pPr>
            <a:r>
              <a:rPr lang="fr-FR" sz="1725" dirty="0">
                <a:latin typeface="Times New Roman" panose="02020603050405020304" pitchFamily="18" charset="0"/>
                <a:cs typeface="Times New Roman" panose="02020603050405020304" pitchFamily="18" charset="0"/>
              </a:rPr>
              <a:t>Conseiller en amont les maitres d’ouvrages et les maitres d’œuvre sur tous les nouveaux projets en intégrant une dimension de sécurité. Identifier et évaluer les risques en production.</a:t>
            </a:r>
          </a:p>
          <a:p>
            <a:pPr algn="just">
              <a:lnSpc>
                <a:spcPct val="150000"/>
              </a:lnSpc>
              <a:buFont typeface="Wingdings" panose="05000000000000000000" pitchFamily="2" charset="2"/>
              <a:buChar char="q"/>
            </a:pPr>
            <a:r>
              <a:rPr lang="fr-FR" sz="1725" b="1" dirty="0">
                <a:solidFill>
                  <a:schemeClr val="accent1"/>
                </a:solidFill>
                <a:latin typeface="Times New Roman" panose="02020603050405020304" pitchFamily="18" charset="0"/>
                <a:cs typeface="Times New Roman" panose="02020603050405020304" pitchFamily="18" charset="0"/>
              </a:rPr>
              <a:t> Proposer des plans d’actions et de contrôle des risques:</a:t>
            </a:r>
            <a:endParaRPr lang="fr-FR" sz="1725" dirty="0">
              <a:solidFill>
                <a:schemeClr val="accent1"/>
              </a:solidFill>
              <a:latin typeface="Times New Roman" panose="02020603050405020304" pitchFamily="18" charset="0"/>
              <a:cs typeface="Times New Roman" panose="02020603050405020304" pitchFamily="18" charset="0"/>
            </a:endParaRPr>
          </a:p>
          <a:p>
            <a:pPr marL="0" indent="0" algn="just">
              <a:lnSpc>
                <a:spcPct val="150000"/>
              </a:lnSpc>
              <a:buNone/>
            </a:pPr>
            <a:r>
              <a:rPr lang="fr-FR" sz="1725" dirty="0">
                <a:latin typeface="Times New Roman" panose="02020603050405020304" pitchFamily="18" charset="0"/>
                <a:cs typeface="Times New Roman" panose="02020603050405020304" pitchFamily="18" charset="0"/>
              </a:rPr>
              <a:t>En fonction de l’évaluation précédente réalisé et des contraintes de l’entreprise, le RSSI présente les moyens à mettre en œuvre pour garantir un niveau de risque acceptable et accepté par l’entreprise.</a:t>
            </a:r>
          </a:p>
          <a:p>
            <a:pPr marL="0" indent="0">
              <a:buNone/>
            </a:pPr>
            <a:endParaRPr lang="fr-ML" dirty="0"/>
          </a:p>
        </p:txBody>
      </p:sp>
      <p:sp>
        <p:nvSpPr>
          <p:cNvPr id="6" name="Espace réservé du numéro de diapositive 5">
            <a:extLst>
              <a:ext uri="{FF2B5EF4-FFF2-40B4-BE49-F238E27FC236}">
                <a16:creationId xmlns:a16="http://schemas.microsoft.com/office/drawing/2014/main" id="{D5B209D4-C864-415E-99AA-C8A304BDB502}"/>
              </a:ext>
            </a:extLst>
          </p:cNvPr>
          <p:cNvSpPr>
            <a:spLocks noGrp="1"/>
          </p:cNvSpPr>
          <p:nvPr>
            <p:ph type="sldNum" sz="quarter" idx="12"/>
          </p:nvPr>
        </p:nvSpPr>
        <p:spPr/>
        <p:txBody>
          <a:bodyPr/>
          <a:lstStyle/>
          <a:p>
            <a:fld id="{257A4929-5DF1-4B28-B204-EBA112CCEBF5}" type="slidenum">
              <a:rPr lang="fr-ML" sz="2400" b="1">
                <a:solidFill>
                  <a:schemeClr val="accent1"/>
                </a:solidFill>
              </a:rPr>
              <a:t>10</a:t>
            </a:fld>
            <a:endParaRPr lang="fr-ML" sz="2400" b="1" dirty="0">
              <a:solidFill>
                <a:schemeClr val="accent1"/>
              </a:solidFill>
            </a:endParaRPr>
          </a:p>
        </p:txBody>
      </p:sp>
    </p:spTree>
    <p:extLst>
      <p:ext uri="{BB962C8B-B14F-4D97-AF65-F5344CB8AC3E}">
        <p14:creationId xmlns:p14="http://schemas.microsoft.com/office/powerpoint/2010/main" val="2866497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DF6E8DDC-25AA-3C89-53FC-1AB0932A7BBA}"/>
              </a:ext>
            </a:extLst>
          </p:cNvPr>
          <p:cNvSpPr txBox="1"/>
          <p:nvPr/>
        </p:nvSpPr>
        <p:spPr>
          <a:xfrm>
            <a:off x="674334" y="2123103"/>
            <a:ext cx="7370685" cy="4004943"/>
          </a:xfrm>
          <a:prstGeom prst="rect">
            <a:avLst/>
          </a:prstGeom>
          <a:noFill/>
        </p:spPr>
        <p:txBody>
          <a:bodyPr wrap="square">
            <a:spAutoFit/>
          </a:bodyPr>
          <a:lstStyle/>
          <a:p>
            <a:pPr marL="285750" indent="-285750" algn="just" fontAlgn="auto">
              <a:lnSpc>
                <a:spcPct val="150000"/>
              </a:lnSpc>
              <a:buFont typeface="Wingdings" panose="05000000000000000000" pitchFamily="2" charset="2"/>
              <a:buChar char="q"/>
            </a:pPr>
            <a:r>
              <a:rPr lang="fr-FR" sz="1600" b="1" dirty="0">
                <a:solidFill>
                  <a:schemeClr val="accent1"/>
                </a:solidFill>
                <a:latin typeface="Times New Roman" panose="02020603050405020304" pitchFamily="18" charset="0"/>
                <a:cs typeface="Times New Roman" panose="02020603050405020304" pitchFamily="18" charset="0"/>
              </a:rPr>
              <a:t>Suivre la mise en place des plans d’actions décidés:</a:t>
            </a:r>
          </a:p>
          <a:p>
            <a:pPr algn="just" fontAlgn="auto">
              <a:lnSpc>
                <a:spcPct val="150000"/>
              </a:lnSpc>
            </a:pPr>
            <a:r>
              <a:rPr lang="fr-FR" sz="1600" dirty="0">
                <a:latin typeface="Times New Roman" panose="02020603050405020304" pitchFamily="18" charset="0"/>
                <a:cs typeface="Times New Roman" panose="02020603050405020304" pitchFamily="18" charset="0"/>
              </a:rPr>
              <a:t>Le RSSI vérifie que les solutions mises en œuvre pour réduire le niveau de risque répondent aux contraintes sécuritaires et soient conforme au cahier des charges.</a:t>
            </a:r>
          </a:p>
          <a:p>
            <a:pPr marL="285750" indent="-285750" algn="just" fontAlgn="auto">
              <a:lnSpc>
                <a:spcPct val="150000"/>
              </a:lnSpc>
              <a:buFont typeface="Wingdings" panose="05000000000000000000" pitchFamily="2" charset="2"/>
              <a:buChar char="q"/>
            </a:pPr>
            <a:r>
              <a:rPr lang="fr-FR" sz="1600" b="1" dirty="0">
                <a:solidFill>
                  <a:schemeClr val="accent1"/>
                </a:solidFill>
                <a:latin typeface="Times New Roman" panose="02020603050405020304" pitchFamily="18" charset="0"/>
                <a:cs typeface="Times New Roman" panose="02020603050405020304" pitchFamily="18" charset="0"/>
              </a:rPr>
              <a:t>Vérifier la pertinence des mesures de sécurités dans le temps et dans l’espace:</a:t>
            </a:r>
          </a:p>
          <a:p>
            <a:pPr algn="just" fontAlgn="auto">
              <a:lnSpc>
                <a:spcPct val="150000"/>
              </a:lnSpc>
            </a:pPr>
            <a:r>
              <a:rPr lang="fr-FR" sz="1600" dirty="0">
                <a:latin typeface="Times New Roman" panose="02020603050405020304" pitchFamily="18" charset="0"/>
                <a:cs typeface="Times New Roman" panose="02020603050405020304" pitchFamily="18" charset="0"/>
              </a:rPr>
              <a:t>Afin de garantir l’efficacité des mesures préventives face à une évolution fonctionnelle et/ou technique permanente du système d’information, le RSSI vérifie le niveau de sécurité : contrôle des sauvegardes, tests d’intrusion, robustesse des mots de passe…</a:t>
            </a:r>
          </a:p>
          <a:p>
            <a:pPr marL="285750" indent="-285750" algn="just" fontAlgn="auto">
              <a:lnSpc>
                <a:spcPct val="150000"/>
              </a:lnSpc>
              <a:buFont typeface="Wingdings" panose="05000000000000000000" pitchFamily="2" charset="2"/>
              <a:buChar char="q"/>
            </a:pPr>
            <a:r>
              <a:rPr lang="fr-FR" sz="1600" b="1" dirty="0">
                <a:solidFill>
                  <a:schemeClr val="accent1"/>
                </a:solidFill>
                <a:latin typeface="Times New Roman" panose="02020603050405020304" pitchFamily="18" charset="0"/>
                <a:cs typeface="Times New Roman" panose="02020603050405020304" pitchFamily="18" charset="0"/>
              </a:rPr>
              <a:t>Sensibiliser les équipes à la sécurité du système d’information:</a:t>
            </a:r>
            <a:endParaRPr lang="fr-FR" sz="1600" dirty="0">
              <a:solidFill>
                <a:schemeClr val="accent1"/>
              </a:solidFill>
              <a:latin typeface="Times New Roman" panose="02020603050405020304" pitchFamily="18" charset="0"/>
              <a:cs typeface="Times New Roman" panose="02020603050405020304" pitchFamily="18" charset="0"/>
            </a:endParaRPr>
          </a:p>
          <a:p>
            <a:pPr algn="just" fontAlgn="auto">
              <a:lnSpc>
                <a:spcPct val="150000"/>
              </a:lnSpc>
            </a:pPr>
            <a:r>
              <a:rPr lang="fr-FR" sz="1600" dirty="0">
                <a:latin typeface="Times New Roman" panose="02020603050405020304" pitchFamily="18" charset="0"/>
                <a:cs typeface="Times New Roman" panose="02020603050405020304" pitchFamily="18" charset="0"/>
              </a:rPr>
              <a:t>Il conseille la Direction Générale et tous les utilisateurs aux aspects de sécurité de l’information : réunion, formation, action de communication.</a:t>
            </a:r>
          </a:p>
          <a:p>
            <a:pPr algn="just" fontAlgn="auto"/>
            <a:endParaRPr lang="fr-FR" sz="1350" dirty="0">
              <a:latin typeface="-apple-system"/>
            </a:endParaRPr>
          </a:p>
        </p:txBody>
      </p:sp>
      <p:sp>
        <p:nvSpPr>
          <p:cNvPr id="5" name="Espace réservé du numéro de diapositive 4">
            <a:extLst>
              <a:ext uri="{FF2B5EF4-FFF2-40B4-BE49-F238E27FC236}">
                <a16:creationId xmlns:a16="http://schemas.microsoft.com/office/drawing/2014/main" id="{CA658EE2-6AA7-4C2F-A0D2-90192CA0B422}"/>
              </a:ext>
            </a:extLst>
          </p:cNvPr>
          <p:cNvSpPr>
            <a:spLocks noGrp="1"/>
          </p:cNvSpPr>
          <p:nvPr>
            <p:ph type="sldNum" sz="quarter" idx="12"/>
          </p:nvPr>
        </p:nvSpPr>
        <p:spPr/>
        <p:txBody>
          <a:bodyPr/>
          <a:lstStyle/>
          <a:p>
            <a:fld id="{257A4929-5DF1-4B28-B204-EBA112CCEBF5}" type="slidenum">
              <a:rPr lang="fr-ML" sz="2400" b="1">
                <a:solidFill>
                  <a:schemeClr val="accent1"/>
                </a:solidFill>
              </a:rPr>
              <a:t>11</a:t>
            </a:fld>
            <a:endParaRPr lang="fr-ML" b="1" dirty="0">
              <a:solidFill>
                <a:schemeClr val="accent1"/>
              </a:solidFill>
            </a:endParaRPr>
          </a:p>
        </p:txBody>
      </p:sp>
      <p:sp>
        <p:nvSpPr>
          <p:cNvPr id="7" name="ZoneTexte 6">
            <a:extLst>
              <a:ext uri="{FF2B5EF4-FFF2-40B4-BE49-F238E27FC236}">
                <a16:creationId xmlns:a16="http://schemas.microsoft.com/office/drawing/2014/main" id="{866DA098-026E-46EF-D950-D562A7590CB0}"/>
              </a:ext>
            </a:extLst>
          </p:cNvPr>
          <p:cNvSpPr txBox="1"/>
          <p:nvPr/>
        </p:nvSpPr>
        <p:spPr>
          <a:xfrm>
            <a:off x="674334" y="571500"/>
            <a:ext cx="7735028" cy="1200329"/>
          </a:xfrm>
          <a:prstGeom prst="rect">
            <a:avLst/>
          </a:prstGeom>
          <a:noFill/>
        </p:spPr>
        <p:txBody>
          <a:bodyPr wrap="square">
            <a:sp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LES OBJECTIFS PRINCIPAUX DU RSSI</a:t>
            </a:r>
            <a:endParaRPr lang="fr-ML" sz="36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2433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CD7587-5B25-9821-E84C-A0C66ECDFA4D}"/>
              </a:ext>
            </a:extLst>
          </p:cNvPr>
          <p:cNvSpPr>
            <a:spLocks noGrp="1"/>
          </p:cNvSpPr>
          <p:nvPr>
            <p:ph type="title"/>
          </p:nvPr>
        </p:nvSpPr>
        <p:spPr/>
        <p:txBody>
          <a:bodyPr>
            <a:normAutofit/>
          </a:bodyPr>
          <a:lstStyle/>
          <a:p>
            <a:pPr algn="ctr"/>
            <a:r>
              <a:rPr lang="fr-ML" sz="3600" b="1" dirty="0">
                <a:solidFill>
                  <a:schemeClr val="accent1"/>
                </a:solidFill>
                <a:latin typeface="Times New Roman" panose="02020603050405020304" pitchFamily="18" charset="0"/>
                <a:cs typeface="Times New Roman" panose="02020603050405020304" pitchFamily="18" charset="0"/>
              </a:rPr>
              <a:t>LES MISSIONS DU RSSI</a:t>
            </a:r>
            <a:endParaRPr lang="fr-ML" sz="3600" dirty="0">
              <a:solidFill>
                <a:schemeClr val="accent1"/>
              </a:solid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DC7842C7-3B44-4AEA-6578-BC0ABEBE8DAB}"/>
              </a:ext>
            </a:extLst>
          </p:cNvPr>
          <p:cNvSpPr>
            <a:spLocks noGrp="1"/>
          </p:cNvSpPr>
          <p:nvPr>
            <p:ph idx="1"/>
          </p:nvPr>
        </p:nvSpPr>
        <p:spPr>
          <a:xfrm>
            <a:off x="533400" y="1842673"/>
            <a:ext cx="7981950" cy="4413347"/>
          </a:xfrm>
        </p:spPr>
        <p:txBody>
          <a:bodyPr>
            <a:normAutofit fontScale="25000" lnSpcReduction="20000"/>
          </a:bodyPr>
          <a:lstStyle/>
          <a:p>
            <a:pPr marL="0" indent="0" algn="just">
              <a:lnSpc>
                <a:spcPct val="170000"/>
              </a:lnSpc>
              <a:buNone/>
            </a:pPr>
            <a:r>
              <a:rPr lang="fr-FR" sz="6400" dirty="0">
                <a:latin typeface="Times New Roman" panose="02020603050405020304" pitchFamily="18" charset="0"/>
                <a:cs typeface="Times New Roman" panose="02020603050405020304" pitchFamily="18" charset="0"/>
              </a:rPr>
              <a:t>Pour réaliser ses objectifs le RSSI aura pour missions de :</a:t>
            </a:r>
          </a:p>
          <a:p>
            <a:pPr algn="just">
              <a:lnSpc>
                <a:spcPct val="170000"/>
              </a:lnSpc>
              <a:buFont typeface="Wingdings" panose="05000000000000000000" pitchFamily="2" charset="2"/>
              <a:buChar char="§"/>
            </a:pPr>
            <a:r>
              <a:rPr lang="fr-FR" sz="6400" dirty="0">
                <a:latin typeface="Times New Roman" panose="02020603050405020304" pitchFamily="18" charset="0"/>
                <a:cs typeface="Times New Roman" panose="02020603050405020304" pitchFamily="18" charset="0"/>
              </a:rPr>
              <a:t> </a:t>
            </a:r>
            <a:r>
              <a:rPr lang="fr-FR" sz="6400" b="1" dirty="0">
                <a:solidFill>
                  <a:schemeClr val="accent1"/>
                </a:solidFill>
                <a:latin typeface="Times New Roman" panose="02020603050405020304" pitchFamily="18" charset="0"/>
                <a:cs typeface="Times New Roman" panose="02020603050405020304" pitchFamily="18" charset="0"/>
              </a:rPr>
              <a:t>Définir et proposer la politique de sécurité du SI pour la faire approuver par la Direction Générale:</a:t>
            </a:r>
          </a:p>
          <a:p>
            <a:pPr marL="0" indent="0" algn="just">
              <a:lnSpc>
                <a:spcPct val="170000"/>
              </a:lnSpc>
              <a:buNone/>
            </a:pPr>
            <a:r>
              <a:rPr lang="fr-FR" sz="6400" dirty="0">
                <a:latin typeface="Times New Roman" panose="02020603050405020304" pitchFamily="18" charset="0"/>
                <a:cs typeface="Times New Roman" panose="02020603050405020304" pitchFamily="18" charset="0"/>
              </a:rPr>
              <a:t>Définition des grands principes de gestion de la sécurité du SI au sein de l’entreprise à travers la rédaction d’un document de politique général validé par la direction générale et communiqué à l’ensemble des utilisateurs via les ressources humaines.</a:t>
            </a:r>
          </a:p>
          <a:p>
            <a:pPr algn="just">
              <a:lnSpc>
                <a:spcPct val="170000"/>
              </a:lnSpc>
              <a:buFont typeface="Wingdings" panose="05000000000000000000" pitchFamily="2" charset="2"/>
              <a:buChar char="§"/>
            </a:pPr>
            <a:r>
              <a:rPr lang="fr-FR" sz="6400" b="1" dirty="0">
                <a:solidFill>
                  <a:schemeClr val="accent1"/>
                </a:solidFill>
                <a:latin typeface="Times New Roman" panose="02020603050405020304" pitchFamily="18" charset="0"/>
                <a:cs typeface="Times New Roman" panose="02020603050405020304" pitchFamily="18" charset="0"/>
              </a:rPr>
              <a:t> Définir les référentiels de sécurité de l’entreprise dont ceux relatifs aux bonnes pratiques:</a:t>
            </a:r>
            <a:endParaRPr lang="fr-FR" sz="6400" dirty="0">
              <a:solidFill>
                <a:schemeClr val="accent1"/>
              </a:solidFill>
              <a:latin typeface="Times New Roman" panose="02020603050405020304" pitchFamily="18" charset="0"/>
              <a:cs typeface="Times New Roman" panose="02020603050405020304" pitchFamily="18" charset="0"/>
            </a:endParaRPr>
          </a:p>
          <a:p>
            <a:pPr marL="0" indent="0" algn="just">
              <a:lnSpc>
                <a:spcPct val="170000"/>
              </a:lnSpc>
              <a:buNone/>
            </a:pPr>
            <a:r>
              <a:rPr lang="fr-FR" sz="6400" dirty="0">
                <a:latin typeface="Times New Roman" panose="02020603050405020304" pitchFamily="18" charset="0"/>
                <a:cs typeface="Times New Roman" panose="02020603050405020304" pitchFamily="18" charset="0"/>
              </a:rPr>
              <a:t>Élaboration de tous les documents nécessaires à la création d’un référentiel de sécurité : normes et standards de matériels et logiciels utilises, procédures organisationnelles, règles de sécurité pour les différents composants du SI.</a:t>
            </a:r>
          </a:p>
          <a:p>
            <a:pPr marL="0" indent="0">
              <a:buNone/>
            </a:pPr>
            <a:endParaRPr lang="fr-ML" dirty="0"/>
          </a:p>
        </p:txBody>
      </p:sp>
      <p:sp>
        <p:nvSpPr>
          <p:cNvPr id="6" name="Espace réservé du numéro de diapositive 5">
            <a:extLst>
              <a:ext uri="{FF2B5EF4-FFF2-40B4-BE49-F238E27FC236}">
                <a16:creationId xmlns:a16="http://schemas.microsoft.com/office/drawing/2014/main" id="{6EEE2146-1E91-47A8-9D08-E1AF8B8D87A1}"/>
              </a:ext>
            </a:extLst>
          </p:cNvPr>
          <p:cNvSpPr>
            <a:spLocks noGrp="1"/>
          </p:cNvSpPr>
          <p:nvPr>
            <p:ph type="sldNum" sz="quarter" idx="12"/>
          </p:nvPr>
        </p:nvSpPr>
        <p:spPr/>
        <p:txBody>
          <a:bodyPr/>
          <a:lstStyle/>
          <a:p>
            <a:fld id="{257A4929-5DF1-4B28-B204-EBA112CCEBF5}" type="slidenum">
              <a:rPr lang="fr-ML" sz="2400" b="1">
                <a:solidFill>
                  <a:schemeClr val="accent1"/>
                </a:solidFill>
              </a:rPr>
              <a:t>12</a:t>
            </a:fld>
            <a:endParaRPr lang="fr-ML" b="1" dirty="0">
              <a:solidFill>
                <a:schemeClr val="accent1"/>
              </a:solidFill>
            </a:endParaRPr>
          </a:p>
        </p:txBody>
      </p:sp>
    </p:spTree>
    <p:extLst>
      <p:ext uri="{BB962C8B-B14F-4D97-AF65-F5344CB8AC3E}">
        <p14:creationId xmlns:p14="http://schemas.microsoft.com/office/powerpoint/2010/main" val="559566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746C5C-9505-7363-5D92-05CB7FD12769}"/>
              </a:ext>
            </a:extLst>
          </p:cNvPr>
          <p:cNvSpPr>
            <a:spLocks noGrp="1"/>
          </p:cNvSpPr>
          <p:nvPr>
            <p:ph type="title"/>
          </p:nvPr>
        </p:nvSpPr>
        <p:spPr/>
        <p:txBody>
          <a:bodyPr>
            <a:normAutofit/>
          </a:bodyPr>
          <a:lstStyle/>
          <a:p>
            <a:r>
              <a:rPr lang="fr-ML" sz="3600" b="1" dirty="0">
                <a:solidFill>
                  <a:schemeClr val="accent1"/>
                </a:solidFill>
                <a:latin typeface="Times New Roman" panose="02020603050405020304" pitchFamily="18" charset="0"/>
                <a:cs typeface="Times New Roman" panose="02020603050405020304" pitchFamily="18" charset="0"/>
              </a:rPr>
              <a:t>LES MISSIONS DU RSSI (suite)</a:t>
            </a:r>
            <a:endParaRPr lang="fr-ML" sz="3600" dirty="0"/>
          </a:p>
        </p:txBody>
      </p:sp>
      <p:sp>
        <p:nvSpPr>
          <p:cNvPr id="5" name="Espace réservé du numéro de diapositive 4">
            <a:extLst>
              <a:ext uri="{FF2B5EF4-FFF2-40B4-BE49-F238E27FC236}">
                <a16:creationId xmlns:a16="http://schemas.microsoft.com/office/drawing/2014/main" id="{43670F56-1F74-4E8B-B204-C390991474C4}"/>
              </a:ext>
            </a:extLst>
          </p:cNvPr>
          <p:cNvSpPr>
            <a:spLocks noGrp="1"/>
          </p:cNvSpPr>
          <p:nvPr>
            <p:ph type="sldNum" sz="quarter" idx="12"/>
          </p:nvPr>
        </p:nvSpPr>
        <p:spPr/>
        <p:txBody>
          <a:bodyPr/>
          <a:lstStyle/>
          <a:p>
            <a:fld id="{257A4929-5DF1-4B28-B204-EBA112CCEBF5}" type="slidenum">
              <a:rPr lang="fr-ML" sz="2400" b="1">
                <a:solidFill>
                  <a:schemeClr val="accent1"/>
                </a:solidFill>
              </a:rPr>
              <a:t>13</a:t>
            </a:fld>
            <a:endParaRPr lang="fr-ML" b="1" dirty="0">
              <a:solidFill>
                <a:schemeClr val="accent1"/>
              </a:solidFill>
            </a:endParaRPr>
          </a:p>
        </p:txBody>
      </p:sp>
      <p:sp>
        <p:nvSpPr>
          <p:cNvPr id="6" name="ZoneTexte 5">
            <a:extLst>
              <a:ext uri="{FF2B5EF4-FFF2-40B4-BE49-F238E27FC236}">
                <a16:creationId xmlns:a16="http://schemas.microsoft.com/office/drawing/2014/main" id="{03D645E8-4516-8DDC-1F61-46432BD871A4}"/>
              </a:ext>
            </a:extLst>
          </p:cNvPr>
          <p:cNvSpPr txBox="1"/>
          <p:nvPr/>
        </p:nvSpPr>
        <p:spPr>
          <a:xfrm>
            <a:off x="628650" y="2125267"/>
            <a:ext cx="8055818" cy="3093732"/>
          </a:xfrm>
          <a:prstGeom prst="rect">
            <a:avLst/>
          </a:prstGeom>
          <a:noFill/>
        </p:spPr>
        <p:txBody>
          <a:bodyPr wrap="square">
            <a:spAutoFit/>
          </a:bodyPr>
          <a:lstStyle/>
          <a:p>
            <a:pPr marL="285750" indent="-285750" algn="just" fontAlgn="auto">
              <a:lnSpc>
                <a:spcPct val="150000"/>
              </a:lnSpc>
              <a:buFont typeface="Wingdings" panose="05000000000000000000" pitchFamily="2" charset="2"/>
              <a:buChar char="§"/>
            </a:pPr>
            <a:r>
              <a:rPr lang="fr-FR" sz="1600" b="1" dirty="0">
                <a:solidFill>
                  <a:schemeClr val="accent1"/>
                </a:solidFill>
                <a:latin typeface="Times New Roman" panose="02020603050405020304" pitchFamily="18" charset="0"/>
                <a:cs typeface="Times New Roman" panose="02020603050405020304" pitchFamily="18" charset="0"/>
              </a:rPr>
              <a:t>Actualiser les moyens techniques et organisationnels:</a:t>
            </a:r>
            <a:endParaRPr lang="fr-FR" sz="1600" dirty="0">
              <a:solidFill>
                <a:schemeClr val="accent1"/>
              </a:solidFill>
              <a:latin typeface="Times New Roman" panose="02020603050405020304" pitchFamily="18" charset="0"/>
              <a:cs typeface="Times New Roman" panose="02020603050405020304" pitchFamily="18" charset="0"/>
            </a:endParaRPr>
          </a:p>
          <a:p>
            <a:pPr algn="just" fontAlgn="auto">
              <a:lnSpc>
                <a:spcPct val="150000"/>
              </a:lnSpc>
            </a:pPr>
            <a:r>
              <a:rPr lang="fr-FR" sz="1600" dirty="0">
                <a:latin typeface="Times New Roman" panose="02020603050405020304" pitchFamily="18" charset="0"/>
                <a:cs typeface="Times New Roman" panose="02020603050405020304" pitchFamily="18" charset="0"/>
              </a:rPr>
              <a:t>Pour prendre en compte l’évolution des risques (cadres juridiques, règlementations, technologies…)</a:t>
            </a:r>
          </a:p>
          <a:p>
            <a:pPr marL="285750" indent="-285750" algn="just" fontAlgn="auto">
              <a:lnSpc>
                <a:spcPct val="150000"/>
              </a:lnSpc>
              <a:buFont typeface="Wingdings" panose="05000000000000000000" pitchFamily="2" charset="2"/>
              <a:buChar char="§"/>
            </a:pPr>
            <a:r>
              <a:rPr lang="fr-FR" sz="1600" b="1" dirty="0">
                <a:solidFill>
                  <a:schemeClr val="accent1"/>
                </a:solidFill>
                <a:latin typeface="Times New Roman" panose="02020603050405020304" pitchFamily="18" charset="0"/>
                <a:cs typeface="Times New Roman" panose="02020603050405020304" pitchFamily="18" charset="0"/>
              </a:rPr>
              <a:t>S’assurer de la prise en compte des contraintes de sécurité dans les projets de développement, avec une attention particulière sur les projets sensibles.</a:t>
            </a:r>
            <a:endParaRPr lang="fr-FR" sz="1600" dirty="0">
              <a:solidFill>
                <a:schemeClr val="accent1"/>
              </a:solidFill>
              <a:latin typeface="Times New Roman" panose="02020603050405020304" pitchFamily="18" charset="0"/>
              <a:cs typeface="Times New Roman" panose="02020603050405020304" pitchFamily="18" charset="0"/>
            </a:endParaRPr>
          </a:p>
          <a:p>
            <a:pPr marL="285750" indent="-285750" algn="just" fontAlgn="auto">
              <a:lnSpc>
                <a:spcPct val="150000"/>
              </a:lnSpc>
              <a:buFont typeface="Wingdings" panose="05000000000000000000" pitchFamily="2" charset="2"/>
              <a:buChar char="§"/>
            </a:pPr>
            <a:r>
              <a:rPr lang="fr-FR" sz="1600" b="1" dirty="0">
                <a:solidFill>
                  <a:schemeClr val="accent1"/>
                </a:solidFill>
                <a:latin typeface="Times New Roman" panose="02020603050405020304" pitchFamily="18" charset="0"/>
                <a:cs typeface="Times New Roman" panose="02020603050405020304" pitchFamily="18" charset="0"/>
              </a:rPr>
              <a:t>Mettre en place et animer des comités de pilotages (COPIL) sur la sécurité du SI:</a:t>
            </a:r>
            <a:endParaRPr lang="fr-FR" sz="1600" dirty="0">
              <a:solidFill>
                <a:schemeClr val="accent1"/>
              </a:solidFill>
              <a:latin typeface="Times New Roman" panose="02020603050405020304" pitchFamily="18" charset="0"/>
              <a:cs typeface="Times New Roman" panose="02020603050405020304" pitchFamily="18" charset="0"/>
            </a:endParaRPr>
          </a:p>
          <a:p>
            <a:pPr algn="just" fontAlgn="auto">
              <a:lnSpc>
                <a:spcPct val="150000"/>
              </a:lnSpc>
            </a:pPr>
            <a:r>
              <a:rPr lang="fr-FR" sz="1600" dirty="0">
                <a:latin typeface="Times New Roman" panose="02020603050405020304" pitchFamily="18" charset="0"/>
                <a:cs typeface="Times New Roman" panose="02020603050405020304" pitchFamily="18" charset="0"/>
              </a:rPr>
              <a:t>Ces COPIL présentent à la direction de l’entreprise l’évaluation du niveau de sécurité atteint par le SI et définissent les nouveaux objectifs et moyens pour les atteindre.</a:t>
            </a:r>
          </a:p>
        </p:txBody>
      </p:sp>
    </p:spTree>
    <p:extLst>
      <p:ext uri="{BB962C8B-B14F-4D97-AF65-F5344CB8AC3E}">
        <p14:creationId xmlns:p14="http://schemas.microsoft.com/office/powerpoint/2010/main" val="1006938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75E9CB-0DFD-CF7D-9341-9FA9F04F93A5}"/>
              </a:ext>
            </a:extLst>
          </p:cNvPr>
          <p:cNvSpPr>
            <a:spLocks noGrp="1"/>
          </p:cNvSpPr>
          <p:nvPr>
            <p:ph type="title"/>
          </p:nvPr>
        </p:nvSpPr>
        <p:spPr/>
        <p:txBody>
          <a:bodyPr/>
          <a:lstStyle/>
          <a:p>
            <a:pPr algn="ctr"/>
            <a:br>
              <a:rPr lang="fr-ML" sz="1350" dirty="0">
                <a:latin typeface="Calibri" panose="020F0502020204030204" pitchFamily="34" charset="0"/>
                <a:ea typeface="Calibri" panose="020F0502020204030204" pitchFamily="34" charset="0"/>
                <a:cs typeface="Times New Roman" panose="02020603050405020304" pitchFamily="18" charset="0"/>
              </a:rPr>
            </a:br>
            <a:endParaRPr lang="fr-ML" dirty="0"/>
          </a:p>
        </p:txBody>
      </p:sp>
      <p:sp>
        <p:nvSpPr>
          <p:cNvPr id="3" name="Espace réservé du contenu 2">
            <a:extLst>
              <a:ext uri="{FF2B5EF4-FFF2-40B4-BE49-F238E27FC236}">
                <a16:creationId xmlns:a16="http://schemas.microsoft.com/office/drawing/2014/main" id="{35C42E0D-22BC-02AE-B6BD-7556BE050E76}"/>
              </a:ext>
            </a:extLst>
          </p:cNvPr>
          <p:cNvSpPr>
            <a:spLocks noGrp="1"/>
          </p:cNvSpPr>
          <p:nvPr>
            <p:ph idx="1"/>
          </p:nvPr>
        </p:nvSpPr>
        <p:spPr>
          <a:xfrm>
            <a:off x="628650" y="1889760"/>
            <a:ext cx="7886700" cy="3734752"/>
          </a:xfrm>
        </p:spPr>
        <p:txBody>
          <a:bodyPr>
            <a:normAutofit fontScale="92500" lnSpcReduction="10000"/>
          </a:bodyPr>
          <a:lstStyle/>
          <a:p>
            <a:pPr marL="0" indent="0" algn="just">
              <a:lnSpc>
                <a:spcPct val="150000"/>
              </a:lnSpc>
              <a:buNone/>
            </a:pPr>
            <a:endParaRPr lang="fr-ML"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50000"/>
              </a:lnSpc>
              <a:buNone/>
            </a:pPr>
            <a:r>
              <a:rPr lang="fr-ML"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Voici les 3 techniques que doit adopter un bon RSSI :</a:t>
            </a:r>
          </a:p>
          <a:p>
            <a:pPr algn="just">
              <a:lnSpc>
                <a:spcPct val="150000"/>
              </a:lnSpc>
              <a:buFont typeface="Wingdings" panose="05000000000000000000" pitchFamily="2" charset="2"/>
              <a:buChar char="v"/>
            </a:pPr>
            <a:r>
              <a:rPr lang="fr-ML"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fr-ML" sz="16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fr-ML" sz="1600" b="1"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Politique de prévention : </a:t>
            </a:r>
            <a:r>
              <a:rPr lang="fr-ML"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il communique auprès de l’ensemble des collaborateurs afin de prévenir des risques concernant la sécurité informatique. Il peut également mettre en place des formations ou sensibiliser les différents employés à faire de la veille afin de se tenir au courant et de se sentir concernés.</a:t>
            </a:r>
          </a:p>
          <a:p>
            <a:pPr algn="just">
              <a:lnSpc>
                <a:spcPct val="150000"/>
              </a:lnSpc>
              <a:buFont typeface="Wingdings" panose="05000000000000000000" pitchFamily="2" charset="2"/>
              <a:buChar char="v"/>
            </a:pPr>
            <a:r>
              <a:rPr lang="fr-ML"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fr-ML" sz="1600" b="1"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Formation continue : </a:t>
            </a:r>
            <a:r>
              <a:rPr lang="fr-ML"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le monde de la sécurité informatique et des systèmes d’information est en perpétuelle évolution. Le RSSI doit donc continuer à se former tout au long de sa carrière, que ce soit dans les domaines de sécurité ou des problématiques juridiques liés à son travail.</a:t>
            </a:r>
            <a:endParaRPr lang="fr-ML" sz="16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fr-ML" dirty="0"/>
          </a:p>
        </p:txBody>
      </p:sp>
      <p:sp>
        <p:nvSpPr>
          <p:cNvPr id="6" name="Espace réservé du numéro de diapositive 5">
            <a:extLst>
              <a:ext uri="{FF2B5EF4-FFF2-40B4-BE49-F238E27FC236}">
                <a16:creationId xmlns:a16="http://schemas.microsoft.com/office/drawing/2014/main" id="{02E60538-40A0-494D-B81C-0AF5AEFA3C31}"/>
              </a:ext>
            </a:extLst>
          </p:cNvPr>
          <p:cNvSpPr>
            <a:spLocks noGrp="1"/>
          </p:cNvSpPr>
          <p:nvPr>
            <p:ph type="sldNum" sz="quarter" idx="12"/>
          </p:nvPr>
        </p:nvSpPr>
        <p:spPr/>
        <p:txBody>
          <a:bodyPr/>
          <a:lstStyle/>
          <a:p>
            <a:fld id="{257A4929-5DF1-4B28-B204-EBA112CCEBF5}" type="slidenum">
              <a:rPr lang="fr-ML" sz="2400" b="1">
                <a:solidFill>
                  <a:schemeClr val="accent1"/>
                </a:solidFill>
              </a:rPr>
              <a:t>14</a:t>
            </a:fld>
            <a:endParaRPr lang="fr-ML" b="1" dirty="0">
              <a:solidFill>
                <a:schemeClr val="accent1"/>
              </a:solidFill>
            </a:endParaRPr>
          </a:p>
        </p:txBody>
      </p:sp>
      <p:sp>
        <p:nvSpPr>
          <p:cNvPr id="5" name="ZoneTexte 4">
            <a:extLst>
              <a:ext uri="{FF2B5EF4-FFF2-40B4-BE49-F238E27FC236}">
                <a16:creationId xmlns:a16="http://schemas.microsoft.com/office/drawing/2014/main" id="{63FE17FF-6F6F-DE53-30ED-7A39D163148E}"/>
              </a:ext>
            </a:extLst>
          </p:cNvPr>
          <p:cNvSpPr txBox="1"/>
          <p:nvPr/>
        </p:nvSpPr>
        <p:spPr>
          <a:xfrm>
            <a:off x="628650" y="495300"/>
            <a:ext cx="7886700" cy="1200329"/>
          </a:xfrm>
          <a:prstGeom prst="rect">
            <a:avLst/>
          </a:prstGeom>
          <a:noFill/>
        </p:spPr>
        <p:txBody>
          <a:bodyPr wrap="square">
            <a:spAutoFit/>
          </a:bodyPr>
          <a:lstStyle/>
          <a:p>
            <a:pPr algn="ctr"/>
            <a:endParaRPr lang="fr-ML" sz="3600" b="1" dirty="0">
              <a:solidFill>
                <a:schemeClr val="accent1"/>
              </a:solidFill>
              <a:latin typeface="Times New Roman" panose="02020603050405020304" pitchFamily="18" charset="0"/>
              <a:cs typeface="Times New Roman" panose="02020603050405020304" pitchFamily="18" charset="0"/>
            </a:endParaRPr>
          </a:p>
          <a:p>
            <a:pPr algn="ctr"/>
            <a:r>
              <a:rPr lang="fr-ML" sz="3600" b="1" dirty="0">
                <a:solidFill>
                  <a:schemeClr val="accent1"/>
                </a:solidFill>
                <a:latin typeface="Times New Roman" panose="02020603050405020304" pitchFamily="18" charset="0"/>
                <a:cs typeface="Times New Roman" panose="02020603050405020304" pitchFamily="18" charset="0"/>
              </a:rPr>
              <a:t>Qu’est-ce qu’un bon RSSI ?</a:t>
            </a:r>
          </a:p>
        </p:txBody>
      </p:sp>
    </p:spTree>
    <p:extLst>
      <p:ext uri="{BB962C8B-B14F-4D97-AF65-F5344CB8AC3E}">
        <p14:creationId xmlns:p14="http://schemas.microsoft.com/office/powerpoint/2010/main" val="32924635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3989ACA4-75D8-4707-A840-3DD25BBFE4E5}"/>
              </a:ext>
            </a:extLst>
          </p:cNvPr>
          <p:cNvSpPr>
            <a:spLocks noGrp="1"/>
          </p:cNvSpPr>
          <p:nvPr>
            <p:ph type="sldNum" sz="quarter" idx="12"/>
          </p:nvPr>
        </p:nvSpPr>
        <p:spPr/>
        <p:txBody>
          <a:bodyPr/>
          <a:lstStyle/>
          <a:p>
            <a:fld id="{257A4929-5DF1-4B28-B204-EBA112CCEBF5}" type="slidenum">
              <a:rPr lang="fr-ML" sz="2400" b="1">
                <a:solidFill>
                  <a:schemeClr val="accent1"/>
                </a:solidFill>
              </a:rPr>
              <a:t>15</a:t>
            </a:fld>
            <a:endParaRPr lang="fr-ML" b="1" dirty="0">
              <a:solidFill>
                <a:schemeClr val="accent1"/>
              </a:solidFill>
            </a:endParaRPr>
          </a:p>
        </p:txBody>
      </p:sp>
      <p:sp>
        <p:nvSpPr>
          <p:cNvPr id="4" name="ZoneTexte 3">
            <a:extLst>
              <a:ext uri="{FF2B5EF4-FFF2-40B4-BE49-F238E27FC236}">
                <a16:creationId xmlns:a16="http://schemas.microsoft.com/office/drawing/2014/main" id="{7B13D6FC-9201-4AE9-90C9-679500A301CB}"/>
              </a:ext>
            </a:extLst>
          </p:cNvPr>
          <p:cNvSpPr txBox="1"/>
          <p:nvPr/>
        </p:nvSpPr>
        <p:spPr>
          <a:xfrm>
            <a:off x="559293" y="2077375"/>
            <a:ext cx="7956057" cy="1951112"/>
          </a:xfrm>
          <a:prstGeom prst="rect">
            <a:avLst/>
          </a:prstGeom>
          <a:noFill/>
        </p:spPr>
        <p:txBody>
          <a:bodyPr wrap="square">
            <a:spAutoFit/>
          </a:bodyPr>
          <a:lstStyle/>
          <a:p>
            <a:pPr algn="just">
              <a:lnSpc>
                <a:spcPct val="150000"/>
              </a:lnSpc>
              <a:buFont typeface="Wingdings" panose="05000000000000000000" pitchFamily="2" charset="2"/>
              <a:buChar char="v"/>
            </a:pPr>
            <a:r>
              <a:rPr lang="fr-ML" sz="1600" b="1" dirty="0">
                <a:solidFill>
                  <a:schemeClr val="accent1"/>
                </a:solidFill>
                <a:latin typeface="Times New Roman" panose="02020603050405020304" pitchFamily="18" charset="0"/>
                <a:ea typeface="Times New Roman" panose="02020603050405020304" pitchFamily="18" charset="0"/>
                <a:cs typeface="Times New Roman" panose="02020603050405020304" pitchFamily="18" charset="0"/>
              </a:rPr>
              <a:t> Protéger les données sensibles de l’entreprise : </a:t>
            </a:r>
            <a:r>
              <a:rPr lang="fr-ML" sz="16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un bon RSSI doit avoir en tête cette phrase au quotidien concernant les données sensibles de son entreprise : « ne pas mettre tous ses œufs dans le même panier ». En effet, il faut bien évidemment protéger au mieux les données sensibles et essentielles à l’entreprise, mais il ne faut pas avoir une seule copie de ces données, au même endroit.</a:t>
            </a:r>
            <a:endParaRPr lang="fr-ML" sz="1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ZoneTexte 4">
            <a:extLst>
              <a:ext uri="{FF2B5EF4-FFF2-40B4-BE49-F238E27FC236}">
                <a16:creationId xmlns:a16="http://schemas.microsoft.com/office/drawing/2014/main" id="{2A1BDF38-17D2-1871-B227-E43719F43AFF}"/>
              </a:ext>
            </a:extLst>
          </p:cNvPr>
          <p:cNvSpPr txBox="1"/>
          <p:nvPr/>
        </p:nvSpPr>
        <p:spPr>
          <a:xfrm>
            <a:off x="559293" y="609600"/>
            <a:ext cx="7850070" cy="1200329"/>
          </a:xfrm>
          <a:prstGeom prst="rect">
            <a:avLst/>
          </a:prstGeom>
          <a:noFill/>
        </p:spPr>
        <p:txBody>
          <a:bodyPr wrap="square">
            <a:spAutoFit/>
          </a:bodyPr>
          <a:lstStyle/>
          <a:p>
            <a:pPr algn="ctr"/>
            <a:endParaRPr lang="fr-ML" sz="3600" b="1" dirty="0">
              <a:solidFill>
                <a:schemeClr val="accent1"/>
              </a:solidFill>
              <a:latin typeface="Times New Roman" panose="02020603050405020304" pitchFamily="18" charset="0"/>
              <a:cs typeface="Times New Roman" panose="02020603050405020304" pitchFamily="18" charset="0"/>
            </a:endParaRPr>
          </a:p>
          <a:p>
            <a:pPr algn="ctr"/>
            <a:r>
              <a:rPr lang="fr-ML" sz="3600" b="1" dirty="0">
                <a:solidFill>
                  <a:schemeClr val="accent1"/>
                </a:solidFill>
                <a:latin typeface="Times New Roman" panose="02020603050405020304" pitchFamily="18" charset="0"/>
                <a:cs typeface="Times New Roman" panose="02020603050405020304" pitchFamily="18" charset="0"/>
              </a:rPr>
              <a:t>Qu’est-ce qu’un bon RSSI ?</a:t>
            </a:r>
          </a:p>
        </p:txBody>
      </p:sp>
    </p:spTree>
    <p:extLst>
      <p:ext uri="{BB962C8B-B14F-4D97-AF65-F5344CB8AC3E}">
        <p14:creationId xmlns:p14="http://schemas.microsoft.com/office/powerpoint/2010/main" val="1060338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BF9675-4195-33A3-A0D6-4E91BD9FD6C3}"/>
              </a:ext>
            </a:extLst>
          </p:cNvPr>
          <p:cNvSpPr>
            <a:spLocks noGrp="1"/>
          </p:cNvSpPr>
          <p:nvPr>
            <p:ph type="title"/>
          </p:nvPr>
        </p:nvSpPr>
        <p:spPr>
          <a:xfrm>
            <a:off x="1056226" y="239951"/>
            <a:ext cx="7543800" cy="1450757"/>
          </a:xfrm>
        </p:spPr>
        <p:txBody>
          <a:bodyPr>
            <a:normAutofit/>
          </a:bodyPr>
          <a:lstStyle/>
          <a:p>
            <a:r>
              <a:rPr lang="fr-FR" sz="3600" b="1" dirty="0">
                <a:solidFill>
                  <a:schemeClr val="accent1"/>
                </a:solidFill>
                <a:latin typeface="Times New Roman" panose="02020603050405020304" pitchFamily="18" charset="0"/>
                <a:cs typeface="Times New Roman" panose="02020603050405020304" pitchFamily="18" charset="0"/>
              </a:rPr>
              <a:t>LES RELATIONS DU RSSI </a:t>
            </a:r>
            <a:endParaRPr lang="fr-ML" sz="3600" b="1" dirty="0">
              <a:solidFill>
                <a:schemeClr val="accent1"/>
              </a:solidFill>
              <a:latin typeface="Times New Roman" panose="02020603050405020304" pitchFamily="18" charset="0"/>
              <a:cs typeface="Times New Roman" panose="02020603050405020304" pitchFamily="18" charset="0"/>
            </a:endParaRPr>
          </a:p>
        </p:txBody>
      </p:sp>
      <p:sp>
        <p:nvSpPr>
          <p:cNvPr id="6" name="Espace réservé du numéro de diapositive 5">
            <a:extLst>
              <a:ext uri="{FF2B5EF4-FFF2-40B4-BE49-F238E27FC236}">
                <a16:creationId xmlns:a16="http://schemas.microsoft.com/office/drawing/2014/main" id="{B1093EB3-C4D8-4B25-931A-7B1F286318C3}"/>
              </a:ext>
            </a:extLst>
          </p:cNvPr>
          <p:cNvSpPr>
            <a:spLocks noGrp="1"/>
          </p:cNvSpPr>
          <p:nvPr>
            <p:ph type="sldNum" sz="quarter" idx="12"/>
          </p:nvPr>
        </p:nvSpPr>
        <p:spPr/>
        <p:txBody>
          <a:bodyPr/>
          <a:lstStyle/>
          <a:p>
            <a:fld id="{257A4929-5DF1-4B28-B204-EBA112CCEBF5}" type="slidenum">
              <a:rPr lang="fr-ML" sz="2400" b="1">
                <a:solidFill>
                  <a:schemeClr val="accent1"/>
                </a:solidFill>
              </a:rPr>
              <a:t>16</a:t>
            </a:fld>
            <a:endParaRPr lang="fr-ML" b="1" dirty="0">
              <a:solidFill>
                <a:schemeClr val="accent1"/>
              </a:solidFill>
            </a:endParaRPr>
          </a:p>
        </p:txBody>
      </p:sp>
      <p:sp>
        <p:nvSpPr>
          <p:cNvPr id="4" name="ZoneTexte 3">
            <a:extLst>
              <a:ext uri="{FF2B5EF4-FFF2-40B4-BE49-F238E27FC236}">
                <a16:creationId xmlns:a16="http://schemas.microsoft.com/office/drawing/2014/main" id="{4B413707-DF7E-6518-FF4A-067FC531169C}"/>
              </a:ext>
            </a:extLst>
          </p:cNvPr>
          <p:cNvSpPr txBox="1"/>
          <p:nvPr/>
        </p:nvSpPr>
        <p:spPr>
          <a:xfrm>
            <a:off x="725150" y="2060211"/>
            <a:ext cx="7178414" cy="1189365"/>
          </a:xfrm>
          <a:prstGeom prst="rect">
            <a:avLst/>
          </a:prstGeom>
          <a:noFill/>
        </p:spPr>
        <p:txBody>
          <a:bodyPr wrap="square">
            <a:spAutoFit/>
          </a:bodyPr>
          <a:lstStyle/>
          <a:p>
            <a:pPr>
              <a:lnSpc>
                <a:spcPct val="150000"/>
              </a:lnSpc>
            </a:pPr>
            <a:r>
              <a:rPr lang="fr-FR" sz="1600" dirty="0">
                <a:solidFill>
                  <a:srgbClr val="040C28"/>
                </a:solidFill>
                <a:latin typeface="Times New Roman" panose="02020603050405020304" pitchFamily="18" charset="0"/>
                <a:cs typeface="Times New Roman" panose="02020603050405020304" pitchFamily="18" charset="0"/>
              </a:rPr>
              <a:t>Le RSSI a pour mission d'identifier des objectifs de sécurité du SI puis de mettre en œuvre les moyens nécessaires pour les atteindre</a:t>
            </a:r>
            <a:r>
              <a:rPr lang="fr-FR" sz="1600" dirty="0">
                <a:solidFill>
                  <a:srgbClr val="202124"/>
                </a:solidFill>
                <a:latin typeface="Times New Roman" panose="02020603050405020304" pitchFamily="18" charset="0"/>
                <a:cs typeface="Times New Roman" panose="02020603050405020304" pitchFamily="18" charset="0"/>
              </a:rPr>
              <a:t>. C'est la définition même d'une </a:t>
            </a:r>
            <a:r>
              <a:rPr lang="fr-FR" sz="1600" b="1" dirty="0">
                <a:solidFill>
                  <a:srgbClr val="202124"/>
                </a:solidFill>
                <a:latin typeface="Times New Roman" panose="02020603050405020304" pitchFamily="18" charset="0"/>
                <a:cs typeface="Times New Roman" panose="02020603050405020304" pitchFamily="18" charset="0"/>
              </a:rPr>
              <a:t>Politique de Sécurité des Systèmes d'Information.</a:t>
            </a:r>
            <a:endParaRPr lang="fr-ML"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2241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ercle : creux 4">
            <a:extLst>
              <a:ext uri="{FF2B5EF4-FFF2-40B4-BE49-F238E27FC236}">
                <a16:creationId xmlns:a16="http://schemas.microsoft.com/office/drawing/2014/main" id="{DEF3867B-A734-D0DA-43AA-EEA8DA9C9D7A}"/>
              </a:ext>
            </a:extLst>
          </p:cNvPr>
          <p:cNvSpPr/>
          <p:nvPr/>
        </p:nvSpPr>
        <p:spPr>
          <a:xfrm>
            <a:off x="3575958" y="2501771"/>
            <a:ext cx="1385596" cy="1427584"/>
          </a:xfrm>
          <a:prstGeom prst="donut">
            <a:avLst>
              <a:gd name="adj" fmla="val 1539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L" sz="1350" dirty="0">
              <a:solidFill>
                <a:schemeClr val="tx1"/>
              </a:solidFill>
            </a:endParaRPr>
          </a:p>
        </p:txBody>
      </p:sp>
      <p:sp>
        <p:nvSpPr>
          <p:cNvPr id="7" name="ZoneTexte 6">
            <a:extLst>
              <a:ext uri="{FF2B5EF4-FFF2-40B4-BE49-F238E27FC236}">
                <a16:creationId xmlns:a16="http://schemas.microsoft.com/office/drawing/2014/main" id="{5F27539E-6FAB-02F3-5A2D-435E2AAECF5F}"/>
              </a:ext>
            </a:extLst>
          </p:cNvPr>
          <p:cNvSpPr txBox="1"/>
          <p:nvPr/>
        </p:nvSpPr>
        <p:spPr>
          <a:xfrm>
            <a:off x="3869872" y="2802683"/>
            <a:ext cx="895739" cy="715581"/>
          </a:xfrm>
          <a:prstGeom prst="rect">
            <a:avLst/>
          </a:prstGeom>
          <a:noFill/>
        </p:spPr>
        <p:txBody>
          <a:bodyPr wrap="square" rtlCol="0">
            <a:spAutoFit/>
          </a:bodyPr>
          <a:lstStyle/>
          <a:p>
            <a:pPr algn="just"/>
            <a:r>
              <a:rPr lang="fr-FR" sz="1350" dirty="0"/>
              <a:t>    LES RELATIOS    DU RSSI </a:t>
            </a:r>
            <a:endParaRPr lang="fr-ML" sz="1350" dirty="0"/>
          </a:p>
        </p:txBody>
      </p:sp>
      <p:sp>
        <p:nvSpPr>
          <p:cNvPr id="8" name="Flèche : gauche 7">
            <a:extLst>
              <a:ext uri="{FF2B5EF4-FFF2-40B4-BE49-F238E27FC236}">
                <a16:creationId xmlns:a16="http://schemas.microsoft.com/office/drawing/2014/main" id="{8AFB8AEE-DEAE-EB23-A027-7B0CF244A7CB}"/>
              </a:ext>
            </a:extLst>
          </p:cNvPr>
          <p:cNvSpPr/>
          <p:nvPr/>
        </p:nvSpPr>
        <p:spPr>
          <a:xfrm rot="1966479">
            <a:off x="2611270" y="2222904"/>
            <a:ext cx="1366781" cy="130621"/>
          </a:xfrm>
          <a:prstGeom prst="leftArrow">
            <a:avLst>
              <a:gd name="adj1" fmla="val 50000"/>
              <a:gd name="adj2" fmla="val 62000"/>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L" sz="1350"/>
          </a:p>
        </p:txBody>
      </p:sp>
      <p:sp>
        <p:nvSpPr>
          <p:cNvPr id="9" name="Flèche : gauche 8">
            <a:extLst>
              <a:ext uri="{FF2B5EF4-FFF2-40B4-BE49-F238E27FC236}">
                <a16:creationId xmlns:a16="http://schemas.microsoft.com/office/drawing/2014/main" id="{34215689-D3D9-4525-E875-1930964172D2}"/>
              </a:ext>
            </a:extLst>
          </p:cNvPr>
          <p:cNvSpPr/>
          <p:nvPr/>
        </p:nvSpPr>
        <p:spPr>
          <a:xfrm>
            <a:off x="2725076" y="3048795"/>
            <a:ext cx="864134" cy="135678"/>
          </a:xfrm>
          <a:prstGeom prst="left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L" sz="1350"/>
          </a:p>
        </p:txBody>
      </p:sp>
      <p:sp>
        <p:nvSpPr>
          <p:cNvPr id="10" name="Flèche : gauche 9">
            <a:extLst>
              <a:ext uri="{FF2B5EF4-FFF2-40B4-BE49-F238E27FC236}">
                <a16:creationId xmlns:a16="http://schemas.microsoft.com/office/drawing/2014/main" id="{4EE456C6-DEDC-76C3-020C-ED310C8B9136}"/>
              </a:ext>
            </a:extLst>
          </p:cNvPr>
          <p:cNvSpPr/>
          <p:nvPr/>
        </p:nvSpPr>
        <p:spPr>
          <a:xfrm rot="20325541">
            <a:off x="2782849" y="3714234"/>
            <a:ext cx="935948" cy="12367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L" sz="1350"/>
          </a:p>
        </p:txBody>
      </p:sp>
      <p:sp>
        <p:nvSpPr>
          <p:cNvPr id="14" name="Flèche : bas 13">
            <a:extLst>
              <a:ext uri="{FF2B5EF4-FFF2-40B4-BE49-F238E27FC236}">
                <a16:creationId xmlns:a16="http://schemas.microsoft.com/office/drawing/2014/main" id="{7E989A7A-F19A-71D2-F052-EE451CB77DEE}"/>
              </a:ext>
            </a:extLst>
          </p:cNvPr>
          <p:cNvSpPr/>
          <p:nvPr/>
        </p:nvSpPr>
        <p:spPr>
          <a:xfrm>
            <a:off x="4180680" y="3935941"/>
            <a:ext cx="127297" cy="146336"/>
          </a:xfrm>
          <a:prstGeom prst="down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L" sz="1350">
              <a:solidFill>
                <a:srgbClr val="C00000"/>
              </a:solidFill>
            </a:endParaRPr>
          </a:p>
        </p:txBody>
      </p:sp>
      <p:sp>
        <p:nvSpPr>
          <p:cNvPr id="15" name="Flèche : droite 14">
            <a:extLst>
              <a:ext uri="{FF2B5EF4-FFF2-40B4-BE49-F238E27FC236}">
                <a16:creationId xmlns:a16="http://schemas.microsoft.com/office/drawing/2014/main" id="{4799DB51-7A12-BE38-37D8-998494BDEF14}"/>
              </a:ext>
            </a:extLst>
          </p:cNvPr>
          <p:cNvSpPr/>
          <p:nvPr/>
        </p:nvSpPr>
        <p:spPr>
          <a:xfrm rot="19399887">
            <a:off x="4576265" y="2176876"/>
            <a:ext cx="1657372" cy="109853"/>
          </a:xfrm>
          <a:prstGeom prst="rightArrow">
            <a:avLst>
              <a:gd name="adj1" fmla="val 66000"/>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L" sz="1350"/>
          </a:p>
        </p:txBody>
      </p:sp>
      <p:sp>
        <p:nvSpPr>
          <p:cNvPr id="16" name="Flèche : droite 15">
            <a:extLst>
              <a:ext uri="{FF2B5EF4-FFF2-40B4-BE49-F238E27FC236}">
                <a16:creationId xmlns:a16="http://schemas.microsoft.com/office/drawing/2014/main" id="{9B497559-2BC7-11C8-B848-27BD9A68FFFB}"/>
              </a:ext>
            </a:extLst>
          </p:cNvPr>
          <p:cNvSpPr/>
          <p:nvPr/>
        </p:nvSpPr>
        <p:spPr>
          <a:xfrm rot="21135430">
            <a:off x="4917323" y="2892438"/>
            <a:ext cx="1042068" cy="142073"/>
          </a:xfrm>
          <a:prstGeom prst="rightArrow">
            <a:avLst>
              <a:gd name="adj1" fmla="val 66000"/>
              <a:gd name="adj2" fmla="val 50000"/>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L" sz="1350"/>
          </a:p>
        </p:txBody>
      </p:sp>
      <p:sp>
        <p:nvSpPr>
          <p:cNvPr id="17" name="Flèche : droite 16">
            <a:extLst>
              <a:ext uri="{FF2B5EF4-FFF2-40B4-BE49-F238E27FC236}">
                <a16:creationId xmlns:a16="http://schemas.microsoft.com/office/drawing/2014/main" id="{E4951FC2-8ABE-13B2-E460-30555635B42C}"/>
              </a:ext>
            </a:extLst>
          </p:cNvPr>
          <p:cNvSpPr/>
          <p:nvPr/>
        </p:nvSpPr>
        <p:spPr>
          <a:xfrm rot="1885059">
            <a:off x="4855673" y="3635643"/>
            <a:ext cx="1159263" cy="131430"/>
          </a:xfrm>
          <a:prstGeom prst="rightArrow">
            <a:avLst>
              <a:gd name="adj1" fmla="val 66000"/>
              <a:gd name="adj2" fmla="val 50000"/>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L" sz="1350" dirty="0"/>
          </a:p>
        </p:txBody>
      </p:sp>
      <p:sp>
        <p:nvSpPr>
          <p:cNvPr id="18" name="Rectangle 17">
            <a:extLst>
              <a:ext uri="{FF2B5EF4-FFF2-40B4-BE49-F238E27FC236}">
                <a16:creationId xmlns:a16="http://schemas.microsoft.com/office/drawing/2014/main" id="{6FF61730-3310-7DB9-4193-57CA1B0DC065}"/>
              </a:ext>
            </a:extLst>
          </p:cNvPr>
          <p:cNvSpPr/>
          <p:nvPr/>
        </p:nvSpPr>
        <p:spPr>
          <a:xfrm>
            <a:off x="206952" y="1164383"/>
            <a:ext cx="2491277" cy="10387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900" b="1" dirty="0">
                <a:solidFill>
                  <a:schemeClr val="bg1"/>
                </a:solidFill>
                <a:latin typeface="Times New Roman" panose="02020603050405020304" pitchFamily="18" charset="0"/>
                <a:cs typeface="Times New Roman" panose="02020603050405020304" pitchFamily="18" charset="0"/>
              </a:rPr>
              <a:t>DID</a:t>
            </a:r>
          </a:p>
        </p:txBody>
      </p:sp>
      <p:sp>
        <p:nvSpPr>
          <p:cNvPr id="19" name="Rectangle 18">
            <a:extLst>
              <a:ext uri="{FF2B5EF4-FFF2-40B4-BE49-F238E27FC236}">
                <a16:creationId xmlns:a16="http://schemas.microsoft.com/office/drawing/2014/main" id="{556EA398-F4BD-2CDE-342F-7971CBFF1660}"/>
              </a:ext>
            </a:extLst>
          </p:cNvPr>
          <p:cNvSpPr/>
          <p:nvPr/>
        </p:nvSpPr>
        <p:spPr>
          <a:xfrm>
            <a:off x="203629" y="2443382"/>
            <a:ext cx="2491277" cy="12457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350" dirty="0"/>
              <a:t> </a:t>
            </a:r>
            <a:endParaRPr lang="fr-ML" sz="1350" dirty="0"/>
          </a:p>
        </p:txBody>
      </p:sp>
      <p:sp>
        <p:nvSpPr>
          <p:cNvPr id="20" name="Rectangle 19">
            <a:extLst>
              <a:ext uri="{FF2B5EF4-FFF2-40B4-BE49-F238E27FC236}">
                <a16:creationId xmlns:a16="http://schemas.microsoft.com/office/drawing/2014/main" id="{1F9CF4D6-B13A-9D88-1EFD-EBF3D2956AA5}"/>
              </a:ext>
            </a:extLst>
          </p:cNvPr>
          <p:cNvSpPr/>
          <p:nvPr/>
        </p:nvSpPr>
        <p:spPr>
          <a:xfrm>
            <a:off x="203628" y="4003251"/>
            <a:ext cx="2491277" cy="12457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ML" sz="1350" dirty="0"/>
          </a:p>
        </p:txBody>
      </p:sp>
      <p:sp>
        <p:nvSpPr>
          <p:cNvPr id="21" name="Rectangle 20">
            <a:extLst>
              <a:ext uri="{FF2B5EF4-FFF2-40B4-BE49-F238E27FC236}">
                <a16:creationId xmlns:a16="http://schemas.microsoft.com/office/drawing/2014/main" id="{A8F0CBB1-BD92-25B5-8591-8C95EC6509BC}"/>
              </a:ext>
            </a:extLst>
          </p:cNvPr>
          <p:cNvSpPr/>
          <p:nvPr/>
        </p:nvSpPr>
        <p:spPr>
          <a:xfrm>
            <a:off x="3035885" y="4053433"/>
            <a:ext cx="2543004" cy="12242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ML" sz="1350" dirty="0"/>
          </a:p>
        </p:txBody>
      </p:sp>
      <p:sp>
        <p:nvSpPr>
          <p:cNvPr id="22" name="Rectangle 21">
            <a:extLst>
              <a:ext uri="{FF2B5EF4-FFF2-40B4-BE49-F238E27FC236}">
                <a16:creationId xmlns:a16="http://schemas.microsoft.com/office/drawing/2014/main" id="{F43B436D-D1D0-65D0-2247-C030DAEFBEFC}"/>
              </a:ext>
            </a:extLst>
          </p:cNvPr>
          <p:cNvSpPr/>
          <p:nvPr/>
        </p:nvSpPr>
        <p:spPr>
          <a:xfrm>
            <a:off x="6106349" y="4032013"/>
            <a:ext cx="2533607" cy="12457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ML" sz="1350" dirty="0"/>
          </a:p>
        </p:txBody>
      </p:sp>
      <p:sp>
        <p:nvSpPr>
          <p:cNvPr id="23" name="Rectangle 22">
            <a:extLst>
              <a:ext uri="{FF2B5EF4-FFF2-40B4-BE49-F238E27FC236}">
                <a16:creationId xmlns:a16="http://schemas.microsoft.com/office/drawing/2014/main" id="{6BD4160B-D884-C22B-4218-691BA4B312FA}"/>
              </a:ext>
            </a:extLst>
          </p:cNvPr>
          <p:cNvSpPr/>
          <p:nvPr/>
        </p:nvSpPr>
        <p:spPr>
          <a:xfrm>
            <a:off x="6106350" y="2443382"/>
            <a:ext cx="2491277" cy="12457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ML" sz="1350"/>
          </a:p>
        </p:txBody>
      </p:sp>
      <p:sp>
        <p:nvSpPr>
          <p:cNvPr id="24" name="Rectangle 23">
            <a:extLst>
              <a:ext uri="{FF2B5EF4-FFF2-40B4-BE49-F238E27FC236}">
                <a16:creationId xmlns:a16="http://schemas.microsoft.com/office/drawing/2014/main" id="{86BF41F7-C2E6-4C91-5277-9CA21B4E9AE7}"/>
              </a:ext>
            </a:extLst>
          </p:cNvPr>
          <p:cNvSpPr/>
          <p:nvPr/>
        </p:nvSpPr>
        <p:spPr>
          <a:xfrm>
            <a:off x="6106351" y="1164383"/>
            <a:ext cx="2491277" cy="10387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ML" sz="1350" dirty="0"/>
          </a:p>
        </p:txBody>
      </p:sp>
      <p:sp>
        <p:nvSpPr>
          <p:cNvPr id="25" name="ZoneTexte 24">
            <a:extLst>
              <a:ext uri="{FF2B5EF4-FFF2-40B4-BE49-F238E27FC236}">
                <a16:creationId xmlns:a16="http://schemas.microsoft.com/office/drawing/2014/main" id="{7AFD361C-0E4B-DA37-A1F3-E5D18B7E7DF3}"/>
              </a:ext>
            </a:extLst>
          </p:cNvPr>
          <p:cNvSpPr txBox="1"/>
          <p:nvPr/>
        </p:nvSpPr>
        <p:spPr>
          <a:xfrm>
            <a:off x="252959" y="1214147"/>
            <a:ext cx="2445269" cy="923330"/>
          </a:xfrm>
          <a:prstGeom prst="rect">
            <a:avLst/>
          </a:prstGeom>
          <a:noFill/>
        </p:spPr>
        <p:txBody>
          <a:bodyPr wrap="square" rtlCol="0">
            <a:spAutoFit/>
          </a:bodyPr>
          <a:lstStyle/>
          <a:p>
            <a:r>
              <a:rPr lang="fr-FR" sz="900" b="1" dirty="0">
                <a:solidFill>
                  <a:schemeClr val="accent2"/>
                </a:solidFill>
                <a:latin typeface="Times New Roman" panose="02020603050405020304" pitchFamily="18" charset="0"/>
                <a:cs typeface="Times New Roman" panose="02020603050405020304" pitchFamily="18" charset="0"/>
              </a:rPr>
              <a:t>Direction Générale  </a:t>
            </a:r>
          </a:p>
          <a:p>
            <a:r>
              <a:rPr lang="fr-FR" sz="900" dirty="0">
                <a:latin typeface="Times New Roman" panose="02020603050405020304" pitchFamily="18" charset="0"/>
                <a:cs typeface="Times New Roman" panose="02020603050405020304" pitchFamily="18" charset="0"/>
              </a:rPr>
              <a:t>Sensibilisation des enjeux de la cybersécurité </a:t>
            </a:r>
          </a:p>
          <a:p>
            <a:r>
              <a:rPr lang="fr-FR" sz="900" dirty="0">
                <a:latin typeface="Times New Roman" panose="02020603050405020304" pitchFamily="18" charset="0"/>
                <a:cs typeface="Times New Roman" panose="02020603050405020304" pitchFamily="18" charset="0"/>
              </a:rPr>
              <a:t>Information des risques qui présent sur le SI et des incidents survenus </a:t>
            </a:r>
          </a:p>
          <a:p>
            <a:r>
              <a:rPr lang="fr-FR" sz="900" dirty="0">
                <a:latin typeface="Times New Roman" panose="02020603050405020304" pitchFamily="18" charset="0"/>
                <a:cs typeface="Times New Roman" panose="02020603050405020304" pitchFamily="18" charset="0"/>
              </a:rPr>
              <a:t>Présentation et défense des budgets relatifs à la SSI</a:t>
            </a:r>
            <a:endParaRPr lang="fr-ML" sz="900" dirty="0">
              <a:latin typeface="Times New Roman" panose="02020603050405020304" pitchFamily="18" charset="0"/>
              <a:cs typeface="Times New Roman" panose="02020603050405020304" pitchFamily="18" charset="0"/>
            </a:endParaRPr>
          </a:p>
        </p:txBody>
      </p:sp>
      <p:sp>
        <p:nvSpPr>
          <p:cNvPr id="26" name="ZoneTexte 25">
            <a:extLst>
              <a:ext uri="{FF2B5EF4-FFF2-40B4-BE49-F238E27FC236}">
                <a16:creationId xmlns:a16="http://schemas.microsoft.com/office/drawing/2014/main" id="{00A463A0-DF76-BD6A-C525-5C3612DE946A}"/>
              </a:ext>
            </a:extLst>
          </p:cNvPr>
          <p:cNvSpPr txBox="1"/>
          <p:nvPr/>
        </p:nvSpPr>
        <p:spPr>
          <a:xfrm>
            <a:off x="252959" y="2560769"/>
            <a:ext cx="2361666" cy="923330"/>
          </a:xfrm>
          <a:prstGeom prst="rect">
            <a:avLst/>
          </a:prstGeom>
          <a:noFill/>
        </p:spPr>
        <p:txBody>
          <a:bodyPr wrap="square" rtlCol="0">
            <a:spAutoFit/>
          </a:bodyPr>
          <a:lstStyle/>
          <a:p>
            <a:r>
              <a:rPr lang="fr-FR" sz="900" b="1" dirty="0">
                <a:solidFill>
                  <a:schemeClr val="accent6"/>
                </a:solidFill>
                <a:latin typeface="Times New Roman" panose="02020603050405020304" pitchFamily="18" charset="0"/>
                <a:cs typeface="Times New Roman" panose="02020603050405020304" pitchFamily="18" charset="0"/>
              </a:rPr>
              <a:t>Direction SI</a:t>
            </a:r>
          </a:p>
          <a:p>
            <a:r>
              <a:rPr lang="fr-FR" sz="900" dirty="0">
                <a:latin typeface="Times New Roman" panose="02020603050405020304" pitchFamily="18" charset="0"/>
                <a:cs typeface="Times New Roman" panose="02020603050405020304" pitchFamily="18" charset="0"/>
              </a:rPr>
              <a:t>Gestion du cycle de vie </a:t>
            </a:r>
          </a:p>
          <a:p>
            <a:r>
              <a:rPr lang="fr-FR" sz="900" dirty="0">
                <a:latin typeface="Times New Roman" panose="02020603050405020304" pitchFamily="18" charset="0"/>
                <a:cs typeface="Times New Roman" panose="02020603050405020304" pitchFamily="18" charset="0"/>
              </a:rPr>
              <a:t>Coordination lors des projets d’évolution du SI</a:t>
            </a:r>
          </a:p>
          <a:p>
            <a:r>
              <a:rPr lang="fr-FR" sz="900" dirty="0">
                <a:latin typeface="Times New Roman" panose="02020603050405020304" pitchFamily="18" charset="0"/>
                <a:cs typeface="Times New Roman" panose="02020603050405020304" pitchFamily="18" charset="0"/>
              </a:rPr>
              <a:t>Gestion des incidents de sécurité et des reprises d’activité </a:t>
            </a:r>
          </a:p>
          <a:p>
            <a:r>
              <a:rPr lang="fr-FR" sz="900" dirty="0">
                <a:latin typeface="Times New Roman" panose="02020603050405020304" pitchFamily="18" charset="0"/>
                <a:cs typeface="Times New Roman" panose="02020603050405020304" pitchFamily="18" charset="0"/>
              </a:rPr>
              <a:t>Contrôle régulier des procédures en vigueur </a:t>
            </a:r>
            <a:endParaRPr lang="fr-ML" sz="900" dirty="0">
              <a:latin typeface="Times New Roman" panose="02020603050405020304" pitchFamily="18" charset="0"/>
              <a:cs typeface="Times New Roman" panose="02020603050405020304" pitchFamily="18" charset="0"/>
            </a:endParaRPr>
          </a:p>
        </p:txBody>
      </p:sp>
      <p:sp>
        <p:nvSpPr>
          <p:cNvPr id="27" name="ZoneTexte 26">
            <a:extLst>
              <a:ext uri="{FF2B5EF4-FFF2-40B4-BE49-F238E27FC236}">
                <a16:creationId xmlns:a16="http://schemas.microsoft.com/office/drawing/2014/main" id="{11D0DB1A-98F1-E42A-727F-9601DC1AB3AF}"/>
              </a:ext>
            </a:extLst>
          </p:cNvPr>
          <p:cNvSpPr txBox="1"/>
          <p:nvPr/>
        </p:nvSpPr>
        <p:spPr>
          <a:xfrm>
            <a:off x="282526" y="4139506"/>
            <a:ext cx="2386133" cy="646331"/>
          </a:xfrm>
          <a:prstGeom prst="rect">
            <a:avLst/>
          </a:prstGeom>
          <a:noFill/>
        </p:spPr>
        <p:txBody>
          <a:bodyPr wrap="square" rtlCol="0">
            <a:spAutoFit/>
          </a:bodyPr>
          <a:lstStyle/>
          <a:p>
            <a:r>
              <a:rPr lang="fr-FR" sz="900" dirty="0">
                <a:solidFill>
                  <a:schemeClr val="accent1"/>
                </a:solidFill>
                <a:latin typeface="Times New Roman" panose="02020603050405020304" pitchFamily="18" charset="0"/>
                <a:cs typeface="Times New Roman" panose="02020603050405020304" pitchFamily="18" charset="0"/>
              </a:rPr>
              <a:t>Data Protection Officier </a:t>
            </a:r>
          </a:p>
          <a:p>
            <a:r>
              <a:rPr lang="fr-FR" sz="900" dirty="0">
                <a:latin typeface="Times New Roman" panose="02020603050405020304" pitchFamily="18" charset="0"/>
                <a:cs typeface="Times New Roman" panose="02020603050405020304" pitchFamily="18" charset="0"/>
              </a:rPr>
              <a:t>Assistance à la réalisation des PIA</a:t>
            </a:r>
          </a:p>
          <a:p>
            <a:r>
              <a:rPr lang="fr-FR" sz="900" dirty="0">
                <a:latin typeface="Times New Roman" panose="02020603050405020304" pitchFamily="18" charset="0"/>
                <a:cs typeface="Times New Roman" panose="02020603050405020304" pitchFamily="18" charset="0"/>
              </a:rPr>
              <a:t>Gestion des incidents de violation des données personnelles </a:t>
            </a:r>
          </a:p>
        </p:txBody>
      </p:sp>
      <p:sp>
        <p:nvSpPr>
          <p:cNvPr id="29" name="ZoneTexte 28">
            <a:extLst>
              <a:ext uri="{FF2B5EF4-FFF2-40B4-BE49-F238E27FC236}">
                <a16:creationId xmlns:a16="http://schemas.microsoft.com/office/drawing/2014/main" id="{641CECD5-EEC3-55A2-2E59-4419D2AF62B1}"/>
              </a:ext>
            </a:extLst>
          </p:cNvPr>
          <p:cNvSpPr txBox="1"/>
          <p:nvPr/>
        </p:nvSpPr>
        <p:spPr>
          <a:xfrm>
            <a:off x="6371080" y="1176550"/>
            <a:ext cx="1957913" cy="923330"/>
          </a:xfrm>
          <a:prstGeom prst="rect">
            <a:avLst/>
          </a:prstGeom>
          <a:noFill/>
        </p:spPr>
        <p:txBody>
          <a:bodyPr wrap="square" rtlCol="0">
            <a:spAutoFit/>
          </a:bodyPr>
          <a:lstStyle/>
          <a:p>
            <a:r>
              <a:rPr lang="fr-FR" sz="900" b="1" dirty="0">
                <a:solidFill>
                  <a:srgbClr val="FF0000"/>
                </a:solidFill>
                <a:latin typeface="Times New Roman" panose="02020603050405020304" pitchFamily="18" charset="0"/>
                <a:cs typeface="Times New Roman" panose="02020603050405020304" pitchFamily="18" charset="0"/>
              </a:rPr>
              <a:t>Professionnel de santé</a:t>
            </a:r>
          </a:p>
          <a:p>
            <a:r>
              <a:rPr lang="fr-FR" sz="900" dirty="0">
                <a:latin typeface="Times New Roman" panose="02020603050405020304" pitchFamily="18" charset="0"/>
                <a:cs typeface="Times New Roman" panose="02020603050405020304" pitchFamily="18" charset="0"/>
              </a:rPr>
              <a:t>Communication et sensibilisation, la pour responsabiliser et faire adhérer le personnel aux mesures instaurées et limiter  la résistance au changement </a:t>
            </a:r>
          </a:p>
          <a:p>
            <a:endParaRPr lang="fr-ML" sz="900" dirty="0">
              <a:latin typeface="Times New Roman" panose="02020603050405020304" pitchFamily="18" charset="0"/>
              <a:cs typeface="Times New Roman" panose="02020603050405020304" pitchFamily="18" charset="0"/>
            </a:endParaRPr>
          </a:p>
        </p:txBody>
      </p:sp>
      <p:sp>
        <p:nvSpPr>
          <p:cNvPr id="30" name="ZoneTexte 29">
            <a:extLst>
              <a:ext uri="{FF2B5EF4-FFF2-40B4-BE49-F238E27FC236}">
                <a16:creationId xmlns:a16="http://schemas.microsoft.com/office/drawing/2014/main" id="{E49F0F03-4DDF-7B67-1188-3239EE6AA566}"/>
              </a:ext>
            </a:extLst>
          </p:cNvPr>
          <p:cNvSpPr txBox="1"/>
          <p:nvPr/>
        </p:nvSpPr>
        <p:spPr>
          <a:xfrm>
            <a:off x="6164055" y="2560770"/>
            <a:ext cx="1969983" cy="784830"/>
          </a:xfrm>
          <a:prstGeom prst="rect">
            <a:avLst/>
          </a:prstGeom>
          <a:noFill/>
        </p:spPr>
        <p:txBody>
          <a:bodyPr wrap="square" rtlCol="0">
            <a:spAutoFit/>
          </a:bodyPr>
          <a:lstStyle/>
          <a:p>
            <a:r>
              <a:rPr lang="fr-FR" sz="900" b="1" dirty="0">
                <a:solidFill>
                  <a:srgbClr val="7030A0"/>
                </a:solidFill>
                <a:latin typeface="Times New Roman" panose="02020603050405020304" pitchFamily="18" charset="0"/>
                <a:cs typeface="Times New Roman" panose="02020603050405020304" pitchFamily="18" charset="0"/>
              </a:rPr>
              <a:t>Service RH</a:t>
            </a:r>
          </a:p>
          <a:p>
            <a:r>
              <a:rPr lang="fr-FR" sz="900" dirty="0">
                <a:latin typeface="Times New Roman" panose="02020603050405020304" pitchFamily="18" charset="0"/>
                <a:cs typeface="Times New Roman" panose="02020603050405020304" pitchFamily="18" charset="0"/>
              </a:rPr>
              <a:t>Mise en œuvre d’une communication systématique des mouvements du personnel (arrivée, départ, nouvelle affectation </a:t>
            </a:r>
            <a:r>
              <a:rPr lang="fr-FR" sz="900" dirty="0" err="1">
                <a:latin typeface="Times New Roman" panose="02020603050405020304" pitchFamily="18" charset="0"/>
                <a:cs typeface="Times New Roman" panose="02020603050405020304" pitchFamily="18" charset="0"/>
              </a:rPr>
              <a:t>etc</a:t>
            </a:r>
            <a:r>
              <a:rPr lang="fr-FR" sz="900" dirty="0">
                <a:latin typeface="Times New Roman" panose="02020603050405020304" pitchFamily="18" charset="0"/>
                <a:cs typeface="Times New Roman" panose="02020603050405020304" pitchFamily="18" charset="0"/>
              </a:rPr>
              <a:t>) avec la DSI.</a:t>
            </a:r>
            <a:endParaRPr lang="fr-ML" sz="900" dirty="0">
              <a:latin typeface="Times New Roman" panose="02020603050405020304" pitchFamily="18" charset="0"/>
              <a:cs typeface="Times New Roman" panose="02020603050405020304" pitchFamily="18" charset="0"/>
            </a:endParaRPr>
          </a:p>
        </p:txBody>
      </p:sp>
      <p:sp>
        <p:nvSpPr>
          <p:cNvPr id="32" name="ZoneTexte 31">
            <a:extLst>
              <a:ext uri="{FF2B5EF4-FFF2-40B4-BE49-F238E27FC236}">
                <a16:creationId xmlns:a16="http://schemas.microsoft.com/office/drawing/2014/main" id="{B94905AE-DF0D-52BC-6866-C7643F3E0743}"/>
              </a:ext>
            </a:extLst>
          </p:cNvPr>
          <p:cNvSpPr txBox="1"/>
          <p:nvPr/>
        </p:nvSpPr>
        <p:spPr>
          <a:xfrm>
            <a:off x="3327817" y="4465801"/>
            <a:ext cx="1973080" cy="784830"/>
          </a:xfrm>
          <a:prstGeom prst="rect">
            <a:avLst/>
          </a:prstGeom>
          <a:noFill/>
        </p:spPr>
        <p:txBody>
          <a:bodyPr wrap="square" rtlCol="0">
            <a:spAutoFit/>
          </a:bodyPr>
          <a:lstStyle/>
          <a:p>
            <a:pPr defTabSz="685800">
              <a:defRPr/>
            </a:pPr>
            <a:r>
              <a:rPr lang="fr-FR" sz="900" b="1" dirty="0">
                <a:solidFill>
                  <a:srgbClr val="C00000"/>
                </a:solidFill>
                <a:latin typeface="Times New Roman" panose="02020603050405020304" pitchFamily="18" charset="0"/>
                <a:cs typeface="Times New Roman" panose="02020603050405020304" pitchFamily="18" charset="0"/>
              </a:rPr>
              <a:t>Service juridique </a:t>
            </a:r>
          </a:p>
          <a:p>
            <a:pPr defTabSz="685800">
              <a:defRPr/>
            </a:pPr>
            <a:r>
              <a:rPr lang="fr-FR" sz="900" dirty="0">
                <a:solidFill>
                  <a:prstClr val="black"/>
                </a:solidFill>
                <a:latin typeface="Times New Roman" panose="02020603050405020304" pitchFamily="18" charset="0"/>
                <a:cs typeface="Times New Roman" panose="02020603050405020304" pitchFamily="18" charset="0"/>
              </a:rPr>
              <a:t>Coordination pour l’intégration de clauses de sécurité et de réversibilité dans les contrats souscrits au près des prestataires   </a:t>
            </a:r>
            <a:endParaRPr lang="fr-ML" sz="900" dirty="0">
              <a:solidFill>
                <a:prstClr val="black"/>
              </a:solidFill>
              <a:latin typeface="Times New Roman" panose="02020603050405020304" pitchFamily="18" charset="0"/>
              <a:cs typeface="Times New Roman" panose="02020603050405020304" pitchFamily="18" charset="0"/>
            </a:endParaRPr>
          </a:p>
        </p:txBody>
      </p:sp>
      <p:sp>
        <p:nvSpPr>
          <p:cNvPr id="33" name="ZoneTexte 32">
            <a:extLst>
              <a:ext uri="{FF2B5EF4-FFF2-40B4-BE49-F238E27FC236}">
                <a16:creationId xmlns:a16="http://schemas.microsoft.com/office/drawing/2014/main" id="{549BC7EE-E98D-D49E-69A8-CC013357938C}"/>
              </a:ext>
            </a:extLst>
          </p:cNvPr>
          <p:cNvSpPr txBox="1"/>
          <p:nvPr/>
        </p:nvSpPr>
        <p:spPr>
          <a:xfrm>
            <a:off x="6297143" y="4306294"/>
            <a:ext cx="1624559" cy="1131079"/>
          </a:xfrm>
          <a:prstGeom prst="rect">
            <a:avLst/>
          </a:prstGeom>
          <a:noFill/>
        </p:spPr>
        <p:txBody>
          <a:bodyPr wrap="square" rtlCol="0">
            <a:spAutoFit/>
          </a:bodyPr>
          <a:lstStyle/>
          <a:p>
            <a:r>
              <a:rPr lang="fr-FR" sz="900" b="1" dirty="0">
                <a:solidFill>
                  <a:srgbClr val="00B0F0"/>
                </a:solidFill>
                <a:latin typeface="Times New Roman" panose="02020603050405020304" pitchFamily="18" charset="0"/>
                <a:cs typeface="Times New Roman" panose="02020603050405020304" pitchFamily="18" charset="0"/>
              </a:rPr>
              <a:t>Service BIOMED</a:t>
            </a:r>
          </a:p>
          <a:p>
            <a:r>
              <a:rPr lang="fr-FR" sz="900" dirty="0">
                <a:latin typeface="Times New Roman" panose="02020603050405020304" pitchFamily="18" charset="0"/>
                <a:cs typeface="Times New Roman" panose="02020603050405020304" pitchFamily="18" charset="0"/>
              </a:rPr>
              <a:t>Collaboration lors du déploiement d’un nouveaux dispositifs médicaux connectés du SI.</a:t>
            </a:r>
          </a:p>
          <a:p>
            <a:endParaRPr lang="fr-FR" sz="900" dirty="0">
              <a:latin typeface="Times New Roman" panose="02020603050405020304" pitchFamily="18" charset="0"/>
              <a:cs typeface="Times New Roman" panose="02020603050405020304" pitchFamily="18" charset="0"/>
            </a:endParaRPr>
          </a:p>
          <a:p>
            <a:endParaRPr lang="fr-ML" sz="1350" dirty="0"/>
          </a:p>
        </p:txBody>
      </p:sp>
      <p:sp>
        <p:nvSpPr>
          <p:cNvPr id="4" name="Espace réservé du numéro de diapositive 3">
            <a:extLst>
              <a:ext uri="{FF2B5EF4-FFF2-40B4-BE49-F238E27FC236}">
                <a16:creationId xmlns:a16="http://schemas.microsoft.com/office/drawing/2014/main" id="{A0C3312A-B41D-4993-976E-830576DF040B}"/>
              </a:ext>
            </a:extLst>
          </p:cNvPr>
          <p:cNvSpPr>
            <a:spLocks noGrp="1"/>
          </p:cNvSpPr>
          <p:nvPr>
            <p:ph type="sldNum" sz="quarter" idx="12"/>
          </p:nvPr>
        </p:nvSpPr>
        <p:spPr/>
        <p:txBody>
          <a:bodyPr/>
          <a:lstStyle/>
          <a:p>
            <a:fld id="{257A4929-5DF1-4B28-B204-EBA112CCEBF5}" type="slidenum">
              <a:rPr lang="fr-ML" sz="2400" b="1">
                <a:solidFill>
                  <a:schemeClr val="accent1"/>
                </a:solidFill>
              </a:rPr>
              <a:t>17</a:t>
            </a:fld>
            <a:endParaRPr lang="fr-ML" b="1" dirty="0">
              <a:solidFill>
                <a:schemeClr val="accent1"/>
              </a:solidFill>
            </a:endParaRPr>
          </a:p>
        </p:txBody>
      </p:sp>
    </p:spTree>
    <p:extLst>
      <p:ext uri="{BB962C8B-B14F-4D97-AF65-F5344CB8AC3E}">
        <p14:creationId xmlns:p14="http://schemas.microsoft.com/office/powerpoint/2010/main" val="578755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14B233-0700-658C-BC92-573658488B48}"/>
              </a:ext>
            </a:extLst>
          </p:cNvPr>
          <p:cNvSpPr>
            <a:spLocks noGrp="1"/>
          </p:cNvSpPr>
          <p:nvPr>
            <p:ph type="title"/>
          </p:nvPr>
        </p:nvSpPr>
        <p:spPr/>
        <p:txBody>
          <a:bodyPr>
            <a:no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LES OUTILS ET TECHNOLOGIES UTILISER PAR LE RSSI</a:t>
            </a:r>
            <a:endParaRPr lang="fr-ML" sz="3600" b="1" dirty="0">
              <a:solidFill>
                <a:schemeClr val="accent1"/>
              </a:solidFill>
              <a:latin typeface="Times New Roman" panose="02020603050405020304" pitchFamily="18" charset="0"/>
              <a:cs typeface="Times New Roman" panose="02020603050405020304" pitchFamily="18" charset="0"/>
            </a:endParaRPr>
          </a:p>
        </p:txBody>
      </p:sp>
      <p:sp>
        <p:nvSpPr>
          <p:cNvPr id="6" name="Espace réservé du numéro de diapositive 5">
            <a:extLst>
              <a:ext uri="{FF2B5EF4-FFF2-40B4-BE49-F238E27FC236}">
                <a16:creationId xmlns:a16="http://schemas.microsoft.com/office/drawing/2014/main" id="{5E9B4BF1-DA27-4196-820D-7487FC3C2D81}"/>
              </a:ext>
            </a:extLst>
          </p:cNvPr>
          <p:cNvSpPr>
            <a:spLocks noGrp="1"/>
          </p:cNvSpPr>
          <p:nvPr>
            <p:ph type="sldNum" sz="quarter" idx="12"/>
          </p:nvPr>
        </p:nvSpPr>
        <p:spPr>
          <a:xfrm>
            <a:off x="6344759" y="6338656"/>
            <a:ext cx="2515156" cy="594804"/>
          </a:xfrm>
        </p:spPr>
        <p:txBody>
          <a:bodyPr/>
          <a:lstStyle/>
          <a:p>
            <a:fld id="{257A4929-5DF1-4B28-B204-EBA112CCEBF5}" type="slidenum">
              <a:rPr lang="fr-ML" sz="2400" b="1">
                <a:solidFill>
                  <a:schemeClr val="accent1"/>
                </a:solidFill>
              </a:rPr>
              <a:t>18</a:t>
            </a:fld>
            <a:endParaRPr lang="fr-ML" b="1" dirty="0">
              <a:solidFill>
                <a:schemeClr val="accent1"/>
              </a:solidFill>
            </a:endParaRPr>
          </a:p>
        </p:txBody>
      </p:sp>
      <p:sp>
        <p:nvSpPr>
          <p:cNvPr id="4" name="ZoneTexte 3">
            <a:extLst>
              <a:ext uri="{FF2B5EF4-FFF2-40B4-BE49-F238E27FC236}">
                <a16:creationId xmlns:a16="http://schemas.microsoft.com/office/drawing/2014/main" id="{B18096FD-16D3-684F-6116-6366A4A72051}"/>
              </a:ext>
            </a:extLst>
          </p:cNvPr>
          <p:cNvSpPr txBox="1"/>
          <p:nvPr/>
        </p:nvSpPr>
        <p:spPr>
          <a:xfrm>
            <a:off x="628651" y="2044008"/>
            <a:ext cx="7886700" cy="3381695"/>
          </a:xfrm>
          <a:prstGeom prst="rect">
            <a:avLst/>
          </a:prstGeom>
          <a:noFill/>
        </p:spPr>
        <p:txBody>
          <a:bodyPr wrap="square">
            <a:spAutoFit/>
          </a:bodyPr>
          <a:lstStyle/>
          <a:p>
            <a:pPr algn="l">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Logiciels de sécurité : </a:t>
            </a:r>
            <a:r>
              <a:rPr lang="fr-FR" sz="1600" dirty="0">
                <a:solidFill>
                  <a:srgbClr val="374151"/>
                </a:solidFill>
                <a:latin typeface="Times New Roman" panose="02020603050405020304" pitchFamily="18" charset="0"/>
                <a:cs typeface="Times New Roman" panose="02020603050405020304" pitchFamily="18" charset="0"/>
              </a:rPr>
              <a:t>Les logiciels de sécurité, tels que les antivirus, les pare-feu, les outils de détection d'intrusion et de prévention, les outils de gestion des vulnérabilités, les systèmes de protection des données et les outils de cryptage, sont essentiels pour protéger les systèmes d'information contre les menaces.</a:t>
            </a:r>
          </a:p>
          <a:p>
            <a:pPr algn="l">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Systèmes de surveillance : </a:t>
            </a:r>
            <a:r>
              <a:rPr lang="fr-FR" sz="1600" dirty="0">
                <a:solidFill>
                  <a:srgbClr val="374151"/>
                </a:solidFill>
                <a:latin typeface="Times New Roman" panose="02020603050405020304" pitchFamily="18" charset="0"/>
                <a:cs typeface="Times New Roman" panose="02020603050405020304" pitchFamily="18" charset="0"/>
              </a:rPr>
              <a:t>Les systèmes de surveillance, tels que les systèmes de gestion des événements de sécurité (SIEM), permettent au RSSI de surveiller les systèmes d'information de l'entreprise en temps réel pour détecter les anomalies et les menaces.</a:t>
            </a:r>
          </a:p>
          <a:p>
            <a:pPr algn="l"/>
            <a:endParaRPr lang="fr-FR" sz="1350" dirty="0">
              <a:solidFill>
                <a:srgbClr val="374151"/>
              </a:solidFill>
              <a:latin typeface="Söhne"/>
            </a:endParaRPr>
          </a:p>
          <a:p>
            <a:br>
              <a:rPr lang="fr-FR" sz="1350" dirty="0"/>
            </a:br>
            <a:endParaRPr lang="fr-ML" sz="1350" dirty="0"/>
          </a:p>
        </p:txBody>
      </p:sp>
    </p:spTree>
    <p:extLst>
      <p:ext uri="{BB962C8B-B14F-4D97-AF65-F5344CB8AC3E}">
        <p14:creationId xmlns:p14="http://schemas.microsoft.com/office/powerpoint/2010/main" val="3045588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213724-02C3-484C-AEDC-599CD7FA65D1}"/>
              </a:ext>
            </a:extLst>
          </p:cNvPr>
          <p:cNvSpPr>
            <a:spLocks noGrp="1"/>
          </p:cNvSpPr>
          <p:nvPr>
            <p:ph type="title"/>
          </p:nvPr>
        </p:nvSpPr>
        <p:spPr/>
        <p:txBody>
          <a:bodyPr>
            <a:noAutofit/>
          </a:bodyPr>
          <a:lstStyle/>
          <a:p>
            <a:r>
              <a:rPr lang="fr-FR" sz="3600" b="1" dirty="0">
                <a:solidFill>
                  <a:schemeClr val="accent1"/>
                </a:solidFill>
                <a:latin typeface="Times New Roman" panose="02020603050405020304" pitchFamily="18" charset="0"/>
                <a:cs typeface="Times New Roman" panose="02020603050405020304" pitchFamily="18" charset="0"/>
              </a:rPr>
              <a:t>LES OUTILS ET TECHNOLOGIES UTILISER PAR LE RSSI</a:t>
            </a:r>
            <a:endParaRPr lang="fr-ML" sz="3600" dirty="0">
              <a:latin typeface="Times New Roman" panose="02020603050405020304" pitchFamily="18" charset="0"/>
              <a:cs typeface="Times New Roman" panose="02020603050405020304" pitchFamily="18" charset="0"/>
            </a:endParaRPr>
          </a:p>
        </p:txBody>
      </p:sp>
      <p:sp>
        <p:nvSpPr>
          <p:cNvPr id="3" name="Espace réservé du numéro de diapositive 2">
            <a:extLst>
              <a:ext uri="{FF2B5EF4-FFF2-40B4-BE49-F238E27FC236}">
                <a16:creationId xmlns:a16="http://schemas.microsoft.com/office/drawing/2014/main" id="{274BB8A2-34A6-48E0-BA9A-F49C6007D37B}"/>
              </a:ext>
            </a:extLst>
          </p:cNvPr>
          <p:cNvSpPr>
            <a:spLocks noGrp="1"/>
          </p:cNvSpPr>
          <p:nvPr>
            <p:ph type="sldNum" sz="quarter" idx="12"/>
          </p:nvPr>
        </p:nvSpPr>
        <p:spPr/>
        <p:txBody>
          <a:bodyPr/>
          <a:lstStyle/>
          <a:p>
            <a:fld id="{257A4929-5DF1-4B28-B204-EBA112CCEBF5}" type="slidenum">
              <a:rPr lang="fr-ML" sz="2400" b="1">
                <a:solidFill>
                  <a:schemeClr val="accent1"/>
                </a:solidFill>
              </a:rPr>
              <a:t>19</a:t>
            </a:fld>
            <a:endParaRPr lang="fr-ML" b="1" dirty="0">
              <a:solidFill>
                <a:schemeClr val="accent1"/>
              </a:solidFill>
            </a:endParaRPr>
          </a:p>
        </p:txBody>
      </p:sp>
      <p:sp>
        <p:nvSpPr>
          <p:cNvPr id="5" name="ZoneTexte 4">
            <a:extLst>
              <a:ext uri="{FF2B5EF4-FFF2-40B4-BE49-F238E27FC236}">
                <a16:creationId xmlns:a16="http://schemas.microsoft.com/office/drawing/2014/main" id="{3055D2B5-9EA2-4E23-85B9-D6ACEC19A4A9}"/>
              </a:ext>
            </a:extLst>
          </p:cNvPr>
          <p:cNvSpPr txBox="1"/>
          <p:nvPr/>
        </p:nvSpPr>
        <p:spPr>
          <a:xfrm>
            <a:off x="628649" y="2357294"/>
            <a:ext cx="7886700" cy="2331985"/>
          </a:xfrm>
          <a:prstGeom prst="rect">
            <a:avLst/>
          </a:prstGeom>
          <a:noFill/>
        </p:spPr>
        <p:txBody>
          <a:bodyPr wrap="square">
            <a:spAutoFit/>
          </a:bodyPr>
          <a:lstStyle/>
          <a:p>
            <a:pPr algn="l">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Outils de gestion des identités et des accès : </a:t>
            </a:r>
            <a:r>
              <a:rPr lang="fr-FR" sz="1600" dirty="0">
                <a:solidFill>
                  <a:srgbClr val="374151"/>
                </a:solidFill>
                <a:latin typeface="Times New Roman" panose="02020603050405020304" pitchFamily="18" charset="0"/>
                <a:cs typeface="Times New Roman" panose="02020603050405020304" pitchFamily="18" charset="0"/>
              </a:rPr>
              <a:t>Les outils de gestion des identités et des accès, tels que les systèmes de gestion des identités et des accès (IAM), permettent au RSSI de gérer les droits d'accès des utilisateurs aux systèmes d'information de l'entreprise.</a:t>
            </a:r>
          </a:p>
          <a:p>
            <a:pPr algn="l">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Outils de gestion des risques : </a:t>
            </a:r>
            <a:r>
              <a:rPr lang="fr-FR" sz="1600" dirty="0">
                <a:solidFill>
                  <a:srgbClr val="374151"/>
                </a:solidFill>
                <a:latin typeface="Times New Roman" panose="02020603050405020304" pitchFamily="18" charset="0"/>
                <a:cs typeface="Times New Roman" panose="02020603050405020304" pitchFamily="18" charset="0"/>
              </a:rPr>
              <a:t>Les outils de gestion des risques, tels que les évaluations de vulnérabilité, les tests de pénétration et les analyses de risques, aident le RSSI à identifier et à évaluer les risques de sécurité pour les systèmes d'information de l'entreprise.</a:t>
            </a:r>
          </a:p>
        </p:txBody>
      </p:sp>
    </p:spTree>
    <p:extLst>
      <p:ext uri="{BB962C8B-B14F-4D97-AF65-F5344CB8AC3E}">
        <p14:creationId xmlns:p14="http://schemas.microsoft.com/office/powerpoint/2010/main" val="16054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82A1B6-837F-B101-B133-84932FE3281A}"/>
              </a:ext>
            </a:extLst>
          </p:cNvPr>
          <p:cNvSpPr>
            <a:spLocks noGrp="1"/>
          </p:cNvSpPr>
          <p:nvPr>
            <p:ph type="title"/>
          </p:nvPr>
        </p:nvSpPr>
        <p:spPr/>
        <p:txBody>
          <a:bodyPr>
            <a:norm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LES NOUVAUX ENJEUX DES RSSI </a:t>
            </a:r>
            <a:endParaRPr lang="fr-ML" sz="3600" b="1" dirty="0">
              <a:solidFill>
                <a:schemeClr val="accent1"/>
              </a:solidFill>
              <a:latin typeface="Times New Roman" panose="02020603050405020304" pitchFamily="18" charset="0"/>
              <a:cs typeface="Times New Roman" panose="02020603050405020304" pitchFamily="18" charset="0"/>
            </a:endParaRPr>
          </a:p>
        </p:txBody>
      </p:sp>
      <p:sp>
        <p:nvSpPr>
          <p:cNvPr id="3" name="Espace réservé du contenu 2">
            <a:extLst>
              <a:ext uri="{FF2B5EF4-FFF2-40B4-BE49-F238E27FC236}">
                <a16:creationId xmlns:a16="http://schemas.microsoft.com/office/drawing/2014/main" id="{E45388DA-F3D2-F077-39F7-B9C527236784}"/>
              </a:ext>
            </a:extLst>
          </p:cNvPr>
          <p:cNvSpPr>
            <a:spLocks noGrp="1"/>
          </p:cNvSpPr>
          <p:nvPr>
            <p:ph idx="1"/>
          </p:nvPr>
        </p:nvSpPr>
        <p:spPr>
          <a:xfrm>
            <a:off x="628650" y="2226468"/>
            <a:ext cx="7886700" cy="3398044"/>
          </a:xfrm>
        </p:spPr>
        <p:txBody>
          <a:bodyPr>
            <a:noAutofit/>
          </a:bodyPr>
          <a:lstStyle/>
          <a:p>
            <a:pPr marL="0" indent="0" algn="just">
              <a:lnSpc>
                <a:spcPct val="150000"/>
              </a:lnSpc>
              <a:buNone/>
            </a:pPr>
            <a:r>
              <a:rPr lang="fr-FR" sz="1600" dirty="0">
                <a:solidFill>
                  <a:srgbClr val="3D4845"/>
                </a:solidFill>
                <a:latin typeface="Times New Roman" panose="02020603050405020304" pitchFamily="18" charset="0"/>
                <a:cs typeface="Times New Roman" panose="02020603050405020304" pitchFamily="18" charset="0"/>
              </a:rPr>
              <a:t>Les RSSI sont de plus en plus au centre des enjeux de l'entreprise et de sa transformation. Leur rôle de base évolue fortement avec l'arrivée de nouvelles menaces. Ils sont tenus de faire face, mais avec des budgets constants ou parfois en baisse. Leur champs de compétences ne cesse pourtant de s'étendre dans ce jeu sans limite qui les oppose aux cybercriminels dont la vélocité pourrait avoir raison des meilleures défenses. Les RSSI doivent se renouveler beaucoup plus vite qu'auparavant,  rendre compte en interne et montrer qu'ils savent contrer les nouveaux enjeux de l'entreprise. Cloud, digital, mobilité, sont autant de failles potentielles. L'entreprise étendue a plus que jamais besoin d'eux. L'entreprise engagée dans la transformation digitale aussi.</a:t>
            </a:r>
            <a:endParaRPr lang="fr-ML" sz="1600" dirty="0">
              <a:latin typeface="Times New Roman" panose="02020603050405020304" pitchFamily="18" charset="0"/>
              <a:cs typeface="Times New Roman" panose="02020603050405020304" pitchFamily="18" charset="0"/>
            </a:endParaRPr>
          </a:p>
        </p:txBody>
      </p:sp>
      <p:sp>
        <p:nvSpPr>
          <p:cNvPr id="6" name="Espace réservé du numéro de diapositive 5">
            <a:extLst>
              <a:ext uri="{FF2B5EF4-FFF2-40B4-BE49-F238E27FC236}">
                <a16:creationId xmlns:a16="http://schemas.microsoft.com/office/drawing/2014/main" id="{E203F5B7-F82E-4266-A14E-027AA2C8E369}"/>
              </a:ext>
            </a:extLst>
          </p:cNvPr>
          <p:cNvSpPr>
            <a:spLocks noGrp="1"/>
          </p:cNvSpPr>
          <p:nvPr>
            <p:ph type="sldNum" sz="quarter" idx="12"/>
          </p:nvPr>
        </p:nvSpPr>
        <p:spPr/>
        <p:txBody>
          <a:bodyPr/>
          <a:lstStyle/>
          <a:p>
            <a:fld id="{257A4929-5DF1-4B28-B204-EBA112CCEBF5}" type="slidenum">
              <a:rPr lang="fr-ML" sz="2400" b="1">
                <a:solidFill>
                  <a:schemeClr val="accent1"/>
                </a:solidFill>
              </a:rPr>
              <a:t>20</a:t>
            </a:fld>
            <a:endParaRPr lang="fr-ML" b="1" dirty="0">
              <a:solidFill>
                <a:schemeClr val="accent1"/>
              </a:solidFill>
            </a:endParaRPr>
          </a:p>
        </p:txBody>
      </p:sp>
    </p:spTree>
    <p:extLst>
      <p:ext uri="{BB962C8B-B14F-4D97-AF65-F5344CB8AC3E}">
        <p14:creationId xmlns:p14="http://schemas.microsoft.com/office/powerpoint/2010/main" val="2585830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34760A-0BA5-4B26-838C-8211DE828761}"/>
              </a:ext>
            </a:extLst>
          </p:cNvPr>
          <p:cNvSpPr>
            <a:spLocks noGrp="1"/>
          </p:cNvSpPr>
          <p:nvPr>
            <p:ph type="title"/>
          </p:nvPr>
        </p:nvSpPr>
        <p:spPr>
          <a:xfrm>
            <a:off x="628650" y="417251"/>
            <a:ext cx="7886700" cy="1145220"/>
          </a:xfrm>
        </p:spPr>
        <p:txBody>
          <a:bodyPr>
            <a:normAutofit/>
          </a:bodyPr>
          <a:lstStyle/>
          <a:p>
            <a:r>
              <a:rPr lang="fr-FR" sz="3600" b="1" dirty="0">
                <a:solidFill>
                  <a:schemeClr val="accent1"/>
                </a:solidFill>
                <a:latin typeface="Times New Roman" panose="02020603050405020304" pitchFamily="18" charset="0"/>
                <a:cs typeface="Times New Roman" panose="02020603050405020304" pitchFamily="18" charset="0"/>
              </a:rPr>
              <a:t>LES NOUVAUX ENJEUX DES RSSI</a:t>
            </a:r>
            <a:endParaRPr lang="fr-ML" sz="3600" b="1" dirty="0">
              <a:solidFill>
                <a:schemeClr val="accent1"/>
              </a:solidFill>
              <a:latin typeface="Times New Roman" panose="02020603050405020304" pitchFamily="18" charset="0"/>
              <a:cs typeface="Times New Roman" panose="02020603050405020304" pitchFamily="18" charset="0"/>
            </a:endParaRPr>
          </a:p>
        </p:txBody>
      </p:sp>
      <p:sp>
        <p:nvSpPr>
          <p:cNvPr id="7" name="Espace réservé du numéro de diapositive 6">
            <a:extLst>
              <a:ext uri="{FF2B5EF4-FFF2-40B4-BE49-F238E27FC236}">
                <a16:creationId xmlns:a16="http://schemas.microsoft.com/office/drawing/2014/main" id="{4DB85CA9-B064-400C-9D09-023D1E4E98A4}"/>
              </a:ext>
            </a:extLst>
          </p:cNvPr>
          <p:cNvSpPr>
            <a:spLocks noGrp="1"/>
          </p:cNvSpPr>
          <p:nvPr>
            <p:ph type="sldNum" sz="quarter" idx="12"/>
          </p:nvPr>
        </p:nvSpPr>
        <p:spPr/>
        <p:txBody>
          <a:bodyPr/>
          <a:lstStyle/>
          <a:p>
            <a:fld id="{257A4929-5DF1-4B28-B204-EBA112CCEBF5}" type="slidenum">
              <a:rPr lang="fr-ML" sz="2400" b="1">
                <a:solidFill>
                  <a:schemeClr val="accent1"/>
                </a:solidFill>
              </a:rPr>
              <a:t>21</a:t>
            </a:fld>
            <a:endParaRPr lang="fr-ML" b="1" dirty="0">
              <a:solidFill>
                <a:schemeClr val="accent1"/>
              </a:solidFill>
            </a:endParaRPr>
          </a:p>
        </p:txBody>
      </p:sp>
      <p:sp>
        <p:nvSpPr>
          <p:cNvPr id="4" name="ZoneTexte 3">
            <a:extLst>
              <a:ext uri="{FF2B5EF4-FFF2-40B4-BE49-F238E27FC236}">
                <a16:creationId xmlns:a16="http://schemas.microsoft.com/office/drawing/2014/main" id="{15D9D258-0B4F-465C-A1C5-E192B6B2F205}"/>
              </a:ext>
            </a:extLst>
          </p:cNvPr>
          <p:cNvSpPr txBox="1"/>
          <p:nvPr/>
        </p:nvSpPr>
        <p:spPr>
          <a:xfrm>
            <a:off x="628650" y="2268800"/>
            <a:ext cx="7886700" cy="3347070"/>
          </a:xfrm>
          <a:prstGeom prst="rect">
            <a:avLst/>
          </a:prstGeom>
          <a:noFill/>
        </p:spPr>
        <p:txBody>
          <a:bodyPr wrap="square">
            <a:spAutoFit/>
          </a:bodyPr>
          <a:lstStyle/>
          <a:p>
            <a:pPr algn="l">
              <a:lnSpc>
                <a:spcPct val="150000"/>
              </a:lnSpc>
            </a:pPr>
            <a:r>
              <a:rPr lang="fr-ML" sz="1600" b="1" dirty="0">
                <a:solidFill>
                  <a:schemeClr val="accent1"/>
                </a:solidFill>
                <a:latin typeface="Times New Roman" panose="02020603050405020304" pitchFamily="18" charset="0"/>
                <a:cs typeface="Times New Roman" panose="02020603050405020304" pitchFamily="18" charset="0"/>
              </a:rPr>
              <a:t>AUDITS:</a:t>
            </a:r>
          </a:p>
          <a:p>
            <a:pPr algn="l">
              <a:lnSpc>
                <a:spcPct val="150000"/>
              </a:lnSpc>
            </a:pPr>
            <a:r>
              <a:rPr lang="fr-FR" sz="1600" dirty="0">
                <a:solidFill>
                  <a:srgbClr val="444444"/>
                </a:solidFill>
                <a:latin typeface="Times New Roman" panose="02020603050405020304" pitchFamily="18" charset="0"/>
                <a:cs typeface="Times New Roman" panose="02020603050405020304" pitchFamily="18" charset="0"/>
              </a:rPr>
              <a:t>Le RSSI doit  conduire des </a:t>
            </a:r>
            <a:r>
              <a:rPr lang="fr-FR" sz="1600" b="1"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audits SSI</a:t>
            </a:r>
            <a:r>
              <a:rPr lang="fr-FR" sz="1600" b="1" dirty="0">
                <a:latin typeface="Times New Roman" panose="02020603050405020304" pitchFamily="18" charset="0"/>
                <a:cs typeface="Times New Roman" panose="02020603050405020304" pitchFamily="18" charset="0"/>
              </a:rPr>
              <a:t> </a:t>
            </a:r>
            <a:r>
              <a:rPr lang="fr-FR" sz="1600" dirty="0">
                <a:solidFill>
                  <a:srgbClr val="444444"/>
                </a:solidFill>
                <a:latin typeface="Times New Roman" panose="02020603050405020304" pitchFamily="18" charset="0"/>
                <a:cs typeface="Times New Roman" panose="02020603050405020304" pitchFamily="18" charset="0"/>
              </a:rPr>
              <a:t>internes et externes :</a:t>
            </a:r>
          </a:p>
          <a:p>
            <a:pPr algn="l" fontAlgn="base">
              <a:lnSpc>
                <a:spcPct val="150000"/>
              </a:lnSpc>
              <a:buFont typeface="Arial" panose="020B0604020202020204" pitchFamily="34" charset="0"/>
              <a:buChar char="•"/>
            </a:pPr>
            <a:r>
              <a:rPr lang="fr-FR" sz="1600" dirty="0">
                <a:solidFill>
                  <a:srgbClr val="444444"/>
                </a:solidFill>
                <a:latin typeface="Times New Roman" panose="02020603050405020304" pitchFamily="18" charset="0"/>
                <a:cs typeface="Times New Roman" panose="02020603050405020304" pitchFamily="18" charset="0"/>
              </a:rPr>
              <a:t>Fixer les objectifs à atteindre en termes SSI (périmètre, planning, moyens) avant les audits internes et externes.</a:t>
            </a:r>
          </a:p>
          <a:p>
            <a:pPr algn="l" fontAlgn="base">
              <a:lnSpc>
                <a:spcPct val="150000"/>
              </a:lnSpc>
              <a:buFont typeface="Arial" panose="020B0604020202020204" pitchFamily="34" charset="0"/>
              <a:buChar char="•"/>
            </a:pPr>
            <a:r>
              <a:rPr lang="fr-FR" sz="1600" dirty="0">
                <a:solidFill>
                  <a:srgbClr val="444444"/>
                </a:solidFill>
                <a:latin typeface="Times New Roman" panose="02020603050405020304" pitchFamily="18" charset="0"/>
                <a:cs typeface="Times New Roman" panose="02020603050405020304" pitchFamily="18" charset="0"/>
              </a:rPr>
              <a:t>Coordonner les actions transverses SSI (mesures de sécurité, rédaction et application de procédures…).</a:t>
            </a:r>
          </a:p>
          <a:p>
            <a:pPr algn="l" fontAlgn="base">
              <a:lnSpc>
                <a:spcPct val="150000"/>
              </a:lnSpc>
              <a:buFont typeface="Arial" panose="020B0604020202020204" pitchFamily="34" charset="0"/>
              <a:buChar char="•"/>
            </a:pPr>
            <a:r>
              <a:rPr lang="fr-FR" sz="1600" dirty="0">
                <a:solidFill>
                  <a:srgbClr val="444444"/>
                </a:solidFill>
                <a:latin typeface="Times New Roman" panose="02020603050405020304" pitchFamily="18" charset="0"/>
                <a:cs typeface="Times New Roman" panose="02020603050405020304" pitchFamily="18" charset="0"/>
              </a:rPr>
              <a:t>Superviser le passage en audit annuel auprès de l’organisme auditeur et analyser les résultats obtenus pour déterminer les futures actions correctives.</a:t>
            </a:r>
          </a:p>
          <a:p>
            <a:pPr algn="l"/>
            <a:r>
              <a:rPr lang="fr-ML" sz="1350" b="1" dirty="0">
                <a:solidFill>
                  <a:srgbClr val="444444"/>
                </a:solidFill>
                <a:latin typeface="Poppins" panose="020B0502040204020203" pitchFamily="2" charset="0"/>
              </a:rPr>
              <a:t> </a:t>
            </a:r>
          </a:p>
        </p:txBody>
      </p:sp>
    </p:spTree>
    <p:extLst>
      <p:ext uri="{BB962C8B-B14F-4D97-AF65-F5344CB8AC3E}">
        <p14:creationId xmlns:p14="http://schemas.microsoft.com/office/powerpoint/2010/main" val="21852472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EB5223-61BB-466F-A808-3AFEF2EEBE87}"/>
              </a:ext>
            </a:extLst>
          </p:cNvPr>
          <p:cNvSpPr>
            <a:spLocks noGrp="1"/>
          </p:cNvSpPr>
          <p:nvPr>
            <p:ph type="title"/>
          </p:nvPr>
        </p:nvSpPr>
        <p:spPr>
          <a:xfrm>
            <a:off x="628650" y="603683"/>
            <a:ext cx="7886700" cy="1095220"/>
          </a:xfrm>
        </p:spPr>
        <p:txBody>
          <a:bodyPr>
            <a:noAutofit/>
          </a:bodyPr>
          <a:lstStyle/>
          <a:p>
            <a:r>
              <a:rPr lang="fr-FR" sz="3600" b="1" dirty="0">
                <a:solidFill>
                  <a:schemeClr val="accent1"/>
                </a:solidFill>
                <a:latin typeface="Times New Roman" panose="02020603050405020304" pitchFamily="18" charset="0"/>
                <a:cs typeface="Times New Roman" panose="02020603050405020304" pitchFamily="18" charset="0"/>
              </a:rPr>
              <a:t>LES NOUVAUX ENJEUX DES RSSI</a:t>
            </a:r>
            <a:endParaRPr lang="fr-ML" sz="3600" dirty="0"/>
          </a:p>
        </p:txBody>
      </p:sp>
      <p:sp>
        <p:nvSpPr>
          <p:cNvPr id="7" name="Espace réservé du numéro de diapositive 6">
            <a:extLst>
              <a:ext uri="{FF2B5EF4-FFF2-40B4-BE49-F238E27FC236}">
                <a16:creationId xmlns:a16="http://schemas.microsoft.com/office/drawing/2014/main" id="{DDFD5FC7-C670-4311-A53A-024CC243BEBA}"/>
              </a:ext>
            </a:extLst>
          </p:cNvPr>
          <p:cNvSpPr>
            <a:spLocks noGrp="1"/>
          </p:cNvSpPr>
          <p:nvPr>
            <p:ph type="sldNum" sz="quarter" idx="12"/>
          </p:nvPr>
        </p:nvSpPr>
        <p:spPr/>
        <p:txBody>
          <a:bodyPr/>
          <a:lstStyle/>
          <a:p>
            <a:fld id="{257A4929-5DF1-4B28-B204-EBA112CCEBF5}" type="slidenum">
              <a:rPr lang="fr-ML" sz="2400" b="1">
                <a:solidFill>
                  <a:schemeClr val="accent1"/>
                </a:solidFill>
              </a:rPr>
              <a:t>22</a:t>
            </a:fld>
            <a:endParaRPr lang="fr-ML" b="1" dirty="0">
              <a:solidFill>
                <a:schemeClr val="accent1"/>
              </a:solidFill>
            </a:endParaRPr>
          </a:p>
        </p:txBody>
      </p:sp>
      <p:sp>
        <p:nvSpPr>
          <p:cNvPr id="4" name="ZoneTexte 3">
            <a:extLst>
              <a:ext uri="{FF2B5EF4-FFF2-40B4-BE49-F238E27FC236}">
                <a16:creationId xmlns:a16="http://schemas.microsoft.com/office/drawing/2014/main" id="{E726230C-40F1-420B-B001-FC95D9B2D2CD}"/>
              </a:ext>
            </a:extLst>
          </p:cNvPr>
          <p:cNvSpPr txBox="1"/>
          <p:nvPr/>
        </p:nvSpPr>
        <p:spPr>
          <a:xfrm>
            <a:off x="628651" y="2342041"/>
            <a:ext cx="7886700" cy="3474606"/>
          </a:xfrm>
          <a:prstGeom prst="rect">
            <a:avLst/>
          </a:prstGeom>
          <a:noFill/>
        </p:spPr>
        <p:txBody>
          <a:bodyPr wrap="square">
            <a:spAutoFit/>
          </a:bodyPr>
          <a:lstStyle/>
          <a:p>
            <a:pPr algn="l">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PCA:</a:t>
            </a:r>
          </a:p>
          <a:p>
            <a:pPr algn="l">
              <a:lnSpc>
                <a:spcPct val="150000"/>
              </a:lnSpc>
            </a:pPr>
            <a:r>
              <a:rPr lang="fr-FR" sz="1600" dirty="0">
                <a:solidFill>
                  <a:srgbClr val="444444"/>
                </a:solidFill>
                <a:latin typeface="Times New Roman" panose="02020603050405020304" pitchFamily="18" charset="0"/>
                <a:cs typeface="Times New Roman" panose="02020603050405020304" pitchFamily="18" charset="0"/>
              </a:rPr>
              <a:t>Le RSSI est un contributeur majeur au </a:t>
            </a:r>
            <a:r>
              <a:rPr lang="fr-FR" sz="1600" b="1" u="sng" dirty="0">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plan de continuité</a:t>
            </a:r>
            <a:r>
              <a:rPr lang="fr-FR" sz="1600" b="1" u="sng" dirty="0">
                <a:latin typeface="Times New Roman" panose="02020603050405020304" pitchFamily="18" charset="0"/>
                <a:cs typeface="Times New Roman" panose="02020603050405020304" pitchFamily="18" charset="0"/>
              </a:rPr>
              <a:t> </a:t>
            </a:r>
            <a:r>
              <a:rPr lang="fr-FR" sz="1600" dirty="0">
                <a:solidFill>
                  <a:srgbClr val="444444"/>
                </a:solidFill>
                <a:latin typeface="Times New Roman" panose="02020603050405020304" pitchFamily="18" charset="0"/>
                <a:cs typeface="Times New Roman" panose="02020603050405020304" pitchFamily="18" charset="0"/>
              </a:rPr>
              <a:t>(PCA / BCP – Business Continuity Plan). C’est lui qui s’assure, de la qualité, de l’existence d’un PSI (Plan de Secours Informatique) qui fait naturellement partie du PCA et en est un élément essentiel.</a:t>
            </a:r>
          </a:p>
          <a:p>
            <a:pPr algn="l">
              <a:lnSpc>
                <a:spcPct val="150000"/>
              </a:lnSpc>
            </a:pPr>
            <a:r>
              <a:rPr lang="fr-FR" sz="1600" dirty="0">
                <a:solidFill>
                  <a:srgbClr val="444444"/>
                </a:solidFill>
                <a:latin typeface="Times New Roman" panose="02020603050405020304" pitchFamily="18" charset="0"/>
                <a:cs typeface="Times New Roman" panose="02020603050405020304" pitchFamily="18" charset="0"/>
              </a:rPr>
              <a:t>Les deux rôles RSSI et RPCA ne sont pas incompatibles et peuvent donc être exercés par la même personne/entité.</a:t>
            </a:r>
            <a:br>
              <a:rPr lang="fr-FR" sz="1600" dirty="0">
                <a:solidFill>
                  <a:srgbClr val="444444"/>
                </a:solidFill>
                <a:latin typeface="Times New Roman" panose="02020603050405020304" pitchFamily="18" charset="0"/>
                <a:cs typeface="Times New Roman" panose="02020603050405020304" pitchFamily="18" charset="0"/>
              </a:rPr>
            </a:br>
            <a:r>
              <a:rPr lang="fr-FR" sz="1600" dirty="0">
                <a:solidFill>
                  <a:srgbClr val="444444"/>
                </a:solidFill>
                <a:latin typeface="Times New Roman" panose="02020603050405020304" pitchFamily="18" charset="0"/>
                <a:cs typeface="Times New Roman" panose="02020603050405020304" pitchFamily="18" charset="0"/>
              </a:rPr>
              <a:t>Dans ce cas, des garde-fous et des définitions précises des rôles et responsabilités de chaque acteur doivent être formalisés, pour bien couvrir toutes les dimensions et pas seulement la partie SI.</a:t>
            </a:r>
          </a:p>
        </p:txBody>
      </p:sp>
    </p:spTree>
    <p:extLst>
      <p:ext uri="{BB962C8B-B14F-4D97-AF65-F5344CB8AC3E}">
        <p14:creationId xmlns:p14="http://schemas.microsoft.com/office/powerpoint/2010/main" val="2948200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A7A359D-77C5-4F7D-A038-079A8DD5AD49}"/>
              </a:ext>
            </a:extLst>
          </p:cNvPr>
          <p:cNvSpPr>
            <a:spLocks noGrp="1"/>
          </p:cNvSpPr>
          <p:nvPr>
            <p:ph type="title"/>
          </p:nvPr>
        </p:nvSpPr>
        <p:spPr>
          <a:xfrm>
            <a:off x="709127" y="623155"/>
            <a:ext cx="7700236" cy="1450757"/>
          </a:xfrm>
        </p:spPr>
        <p:txBody>
          <a:bodyPr>
            <a:normAutofit fontScale="90000"/>
          </a:bodyPr>
          <a:lstStyle/>
          <a:p>
            <a:r>
              <a:rPr lang="fr-FR" sz="4000" b="1" dirty="0">
                <a:solidFill>
                  <a:schemeClr val="accent1"/>
                </a:solidFill>
                <a:latin typeface="Times New Roman" panose="02020603050405020304" pitchFamily="18" charset="0"/>
                <a:cs typeface="Times New Roman" panose="02020603050405020304" pitchFamily="18" charset="0"/>
              </a:rPr>
              <a:t>Les trois types de personnalité du RSSI</a:t>
            </a:r>
            <a:br>
              <a:rPr lang="fr-FR" b="0" i="0" dirty="0">
                <a:solidFill>
                  <a:srgbClr val="141416"/>
                </a:solidFill>
                <a:effectLst/>
                <a:latin typeface="Inter"/>
              </a:rPr>
            </a:br>
            <a:endParaRPr lang="fr-ML" dirty="0"/>
          </a:p>
        </p:txBody>
      </p:sp>
      <p:sp>
        <p:nvSpPr>
          <p:cNvPr id="3" name="Espace réservé du numéro de diapositive 2">
            <a:extLst>
              <a:ext uri="{FF2B5EF4-FFF2-40B4-BE49-F238E27FC236}">
                <a16:creationId xmlns:a16="http://schemas.microsoft.com/office/drawing/2014/main" id="{B308C327-089B-403A-9594-1ECEABCA9A0C}"/>
              </a:ext>
            </a:extLst>
          </p:cNvPr>
          <p:cNvSpPr>
            <a:spLocks noGrp="1"/>
          </p:cNvSpPr>
          <p:nvPr>
            <p:ph type="sldNum" sz="quarter" idx="12"/>
          </p:nvPr>
        </p:nvSpPr>
        <p:spPr/>
        <p:txBody>
          <a:bodyPr/>
          <a:lstStyle/>
          <a:p>
            <a:fld id="{257A4929-5DF1-4B28-B204-EBA112CCEBF5}" type="slidenum">
              <a:rPr lang="fr-ML" sz="2400" b="1">
                <a:solidFill>
                  <a:schemeClr val="accent1"/>
                </a:solidFill>
              </a:rPr>
              <a:t>23</a:t>
            </a:fld>
            <a:endParaRPr lang="fr-ML" b="1" dirty="0">
              <a:solidFill>
                <a:schemeClr val="accent1"/>
              </a:solidFill>
            </a:endParaRPr>
          </a:p>
        </p:txBody>
      </p:sp>
      <p:sp>
        <p:nvSpPr>
          <p:cNvPr id="5" name="ZoneTexte 4">
            <a:extLst>
              <a:ext uri="{FF2B5EF4-FFF2-40B4-BE49-F238E27FC236}">
                <a16:creationId xmlns:a16="http://schemas.microsoft.com/office/drawing/2014/main" id="{EB504D32-529C-46F5-8DD8-DA7BE010CA5E}"/>
              </a:ext>
            </a:extLst>
          </p:cNvPr>
          <p:cNvSpPr txBox="1"/>
          <p:nvPr/>
        </p:nvSpPr>
        <p:spPr>
          <a:xfrm>
            <a:off x="628649" y="2357294"/>
            <a:ext cx="7886701" cy="2264081"/>
          </a:xfrm>
          <a:prstGeom prst="rect">
            <a:avLst/>
          </a:prstGeom>
          <a:noFill/>
        </p:spPr>
        <p:txBody>
          <a:bodyPr wrap="square">
            <a:spAutoFit/>
          </a:bodyPr>
          <a:lstStyle/>
          <a:p>
            <a:pPr algn="l">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Le responsable de la sécurité de l'information technique (TISO):</a:t>
            </a:r>
          </a:p>
          <a:p>
            <a:pPr algn="l">
              <a:lnSpc>
                <a:spcPct val="150000"/>
              </a:lnSpc>
            </a:pPr>
            <a:r>
              <a:rPr lang="fr-FR" sz="1600" dirty="0">
                <a:solidFill>
                  <a:srgbClr val="444547"/>
                </a:solidFill>
                <a:latin typeface="Times New Roman" panose="02020603050405020304" pitchFamily="18" charset="0"/>
                <a:cs typeface="Times New Roman" panose="02020603050405020304" pitchFamily="18" charset="0"/>
              </a:rPr>
              <a:t>Le domaine de spécialité du TISO comprend les contrôles et la gestion de la sécurité technique, y compris les opérations de sécurité critiques, les fonctions et la gestion des pare-feu. Ils travaillent également pour assurer une infrastructure IDS/IPS et une surveillance des menaces efficaces. Le TISO est responsable de la coordination et de la gestion des politiques techniques, de l’évaluation des risques et des contrôles d'accès. </a:t>
            </a:r>
          </a:p>
        </p:txBody>
      </p:sp>
    </p:spTree>
    <p:extLst>
      <p:ext uri="{BB962C8B-B14F-4D97-AF65-F5344CB8AC3E}">
        <p14:creationId xmlns:p14="http://schemas.microsoft.com/office/powerpoint/2010/main" val="34122175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3E92F4-BF31-4901-B8DC-CA8A37CBBF86}"/>
              </a:ext>
            </a:extLst>
          </p:cNvPr>
          <p:cNvSpPr>
            <a:spLocks noGrp="1"/>
          </p:cNvSpPr>
          <p:nvPr>
            <p:ph type="title"/>
          </p:nvPr>
        </p:nvSpPr>
        <p:spPr>
          <a:xfrm>
            <a:off x="746449" y="286604"/>
            <a:ext cx="7620311" cy="1450757"/>
          </a:xfrm>
        </p:spPr>
        <p:txBody>
          <a:bodyPr>
            <a:normAutofit/>
          </a:bodyPr>
          <a:lstStyle/>
          <a:p>
            <a:r>
              <a:rPr lang="fr-FR" sz="3600" b="1" dirty="0">
                <a:solidFill>
                  <a:schemeClr val="accent1"/>
                </a:solidFill>
                <a:latin typeface="Times New Roman" panose="02020603050405020304" pitchFamily="18" charset="0"/>
                <a:cs typeface="Times New Roman" panose="02020603050405020304" pitchFamily="18" charset="0"/>
              </a:rPr>
              <a:t>Les trois types de personnalité du RSSI</a:t>
            </a:r>
            <a:endParaRPr lang="fr-ML" sz="3600" dirty="0"/>
          </a:p>
        </p:txBody>
      </p:sp>
      <p:sp>
        <p:nvSpPr>
          <p:cNvPr id="3" name="Espace réservé du numéro de diapositive 2">
            <a:extLst>
              <a:ext uri="{FF2B5EF4-FFF2-40B4-BE49-F238E27FC236}">
                <a16:creationId xmlns:a16="http://schemas.microsoft.com/office/drawing/2014/main" id="{7F0CD0A8-D6F5-496E-821F-0F310232DBEE}"/>
              </a:ext>
            </a:extLst>
          </p:cNvPr>
          <p:cNvSpPr>
            <a:spLocks noGrp="1"/>
          </p:cNvSpPr>
          <p:nvPr>
            <p:ph type="sldNum" sz="quarter" idx="12"/>
          </p:nvPr>
        </p:nvSpPr>
        <p:spPr/>
        <p:txBody>
          <a:bodyPr/>
          <a:lstStyle/>
          <a:p>
            <a:fld id="{257A4929-5DF1-4B28-B204-EBA112CCEBF5}" type="slidenum">
              <a:rPr lang="fr-ML" sz="2400" b="1">
                <a:solidFill>
                  <a:schemeClr val="accent1"/>
                </a:solidFill>
              </a:rPr>
              <a:t>24</a:t>
            </a:fld>
            <a:endParaRPr lang="fr-ML" b="1" dirty="0">
              <a:solidFill>
                <a:schemeClr val="accent1"/>
              </a:solidFill>
            </a:endParaRPr>
          </a:p>
        </p:txBody>
      </p:sp>
      <p:sp>
        <p:nvSpPr>
          <p:cNvPr id="5" name="ZoneTexte 4">
            <a:extLst>
              <a:ext uri="{FF2B5EF4-FFF2-40B4-BE49-F238E27FC236}">
                <a16:creationId xmlns:a16="http://schemas.microsoft.com/office/drawing/2014/main" id="{BCA15D8A-05D6-4C9D-8CEB-9E514A7002A7}"/>
              </a:ext>
            </a:extLst>
          </p:cNvPr>
          <p:cNvSpPr txBox="1"/>
          <p:nvPr/>
        </p:nvSpPr>
        <p:spPr>
          <a:xfrm>
            <a:off x="628649" y="2253420"/>
            <a:ext cx="7886700" cy="2712859"/>
          </a:xfrm>
          <a:prstGeom prst="rect">
            <a:avLst/>
          </a:prstGeom>
          <a:noFill/>
        </p:spPr>
        <p:txBody>
          <a:bodyPr wrap="square">
            <a:spAutoFit/>
          </a:bodyPr>
          <a:lstStyle/>
          <a:p>
            <a:pPr algn="l">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Le responsable de la sécurité des informations commerciales (BISO):</a:t>
            </a:r>
          </a:p>
          <a:p>
            <a:pPr algn="l">
              <a:lnSpc>
                <a:spcPct val="150000"/>
              </a:lnSpc>
            </a:pPr>
            <a:r>
              <a:rPr lang="fr-FR" sz="1600" dirty="0">
                <a:solidFill>
                  <a:srgbClr val="444547"/>
                </a:solidFill>
                <a:latin typeface="Times New Roman" panose="02020603050405020304" pitchFamily="18" charset="0"/>
                <a:cs typeface="Times New Roman" panose="02020603050405020304" pitchFamily="18" charset="0"/>
              </a:rPr>
              <a:t>Le BISO se concentre sur la gestion des problèmes de sécurité des données qui ont un impact direct sur l'entreprise. Par exemple, leur travail consiste à mettre en œuvre des technologies centrées sur le client et les meilleures pratiques de protection des informations client. L'une des principales responsabilités du BISO est d'assainir les équipes de divers départements organisationnels sur l'importance des meilleures pratiques de sécurité de l'information et sur la manière dont il s'agit d'une exigence commerciale obligatoire. </a:t>
            </a:r>
          </a:p>
        </p:txBody>
      </p:sp>
    </p:spTree>
    <p:extLst>
      <p:ext uri="{BB962C8B-B14F-4D97-AF65-F5344CB8AC3E}">
        <p14:creationId xmlns:p14="http://schemas.microsoft.com/office/powerpoint/2010/main" val="2084785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FB6C90-B138-4DD2-978F-A12488CBE4CB}"/>
              </a:ext>
            </a:extLst>
          </p:cNvPr>
          <p:cNvSpPr>
            <a:spLocks noGrp="1"/>
          </p:cNvSpPr>
          <p:nvPr>
            <p:ph type="title"/>
          </p:nvPr>
        </p:nvSpPr>
        <p:spPr>
          <a:xfrm>
            <a:off x="699796" y="286604"/>
            <a:ext cx="7666964" cy="1450757"/>
          </a:xfrm>
        </p:spPr>
        <p:txBody>
          <a:bodyPr>
            <a:normAutofit/>
          </a:bodyPr>
          <a:lstStyle/>
          <a:p>
            <a:r>
              <a:rPr lang="fr-FR" sz="3600" b="1" dirty="0">
                <a:solidFill>
                  <a:schemeClr val="accent1"/>
                </a:solidFill>
                <a:latin typeface="Times New Roman" panose="02020603050405020304" pitchFamily="18" charset="0"/>
                <a:cs typeface="Times New Roman" panose="02020603050405020304" pitchFamily="18" charset="0"/>
              </a:rPr>
              <a:t>Les trois types de personnalité du RSSI</a:t>
            </a:r>
            <a:endParaRPr lang="fr-ML" sz="3600" dirty="0"/>
          </a:p>
        </p:txBody>
      </p:sp>
      <p:sp>
        <p:nvSpPr>
          <p:cNvPr id="3" name="Espace réservé du numéro de diapositive 2">
            <a:extLst>
              <a:ext uri="{FF2B5EF4-FFF2-40B4-BE49-F238E27FC236}">
                <a16:creationId xmlns:a16="http://schemas.microsoft.com/office/drawing/2014/main" id="{1797E72F-D558-47EF-9FEF-C09524262CED}"/>
              </a:ext>
            </a:extLst>
          </p:cNvPr>
          <p:cNvSpPr>
            <a:spLocks noGrp="1"/>
          </p:cNvSpPr>
          <p:nvPr>
            <p:ph type="sldNum" sz="quarter" idx="12"/>
          </p:nvPr>
        </p:nvSpPr>
        <p:spPr>
          <a:xfrm>
            <a:off x="6617748" y="6504384"/>
            <a:ext cx="2057400" cy="273844"/>
          </a:xfrm>
        </p:spPr>
        <p:txBody>
          <a:bodyPr/>
          <a:lstStyle/>
          <a:p>
            <a:fld id="{257A4929-5DF1-4B28-B204-EBA112CCEBF5}" type="slidenum">
              <a:rPr lang="fr-ML" sz="2400" b="1">
                <a:solidFill>
                  <a:schemeClr val="accent1"/>
                </a:solidFill>
              </a:rPr>
              <a:t>25</a:t>
            </a:fld>
            <a:endParaRPr lang="fr-ML" b="1" dirty="0">
              <a:solidFill>
                <a:schemeClr val="accent1"/>
              </a:solidFill>
            </a:endParaRPr>
          </a:p>
        </p:txBody>
      </p:sp>
      <p:sp>
        <p:nvSpPr>
          <p:cNvPr id="12" name="ZoneTexte 11">
            <a:extLst>
              <a:ext uri="{FF2B5EF4-FFF2-40B4-BE49-F238E27FC236}">
                <a16:creationId xmlns:a16="http://schemas.microsoft.com/office/drawing/2014/main" id="{26A0798F-655E-4EB1-9F83-5E476E1877EE}"/>
              </a:ext>
            </a:extLst>
          </p:cNvPr>
          <p:cNvSpPr txBox="1"/>
          <p:nvPr/>
        </p:nvSpPr>
        <p:spPr>
          <a:xfrm>
            <a:off x="983213" y="1591815"/>
            <a:ext cx="7886700" cy="3855479"/>
          </a:xfrm>
          <a:prstGeom prst="rect">
            <a:avLst/>
          </a:prstGeom>
          <a:noFill/>
        </p:spPr>
        <p:txBody>
          <a:bodyPr wrap="square" anchor="ctr">
            <a:spAutoFit/>
          </a:bodyPr>
          <a:lstStyle/>
          <a:p>
            <a:pPr algn="just">
              <a:lnSpc>
                <a:spcPct val="150000"/>
              </a:lnSpc>
            </a:pPr>
            <a:r>
              <a:rPr lang="fr-FR" sz="1650" b="1" dirty="0">
                <a:solidFill>
                  <a:srgbClr val="141416"/>
                </a:solidFill>
                <a:latin typeface="Times New Roman" panose="02020603050405020304" pitchFamily="18" charset="0"/>
                <a:cs typeface="Times New Roman" panose="02020603050405020304" pitchFamily="18" charset="0"/>
              </a:rPr>
              <a:t>Le responsable de la sécurité des  systèmes d’informations (CISO):</a:t>
            </a:r>
          </a:p>
          <a:p>
            <a:pPr algn="just" fontAlgn="base">
              <a:lnSpc>
                <a:spcPct val="150000"/>
              </a:lnSpc>
              <a:buFont typeface="Arial" panose="020B0604020202020204" pitchFamily="34" charset="0"/>
              <a:buChar char="•"/>
            </a:pPr>
            <a:r>
              <a:rPr lang="fr-FR" sz="1650" b="0" i="0" dirty="0">
                <a:solidFill>
                  <a:srgbClr val="000000"/>
                </a:solidFill>
                <a:effectLst/>
                <a:latin typeface="Times New Roman" panose="02020603050405020304" pitchFamily="18" charset="0"/>
                <a:cs typeface="Times New Roman" panose="02020603050405020304" pitchFamily="18" charset="0"/>
              </a:rPr>
              <a:t> Les RSSI doivent passer d'une focalisation sur les menaces de cybersécurité à une focalisation sur les risques commerciaux</a:t>
            </a:r>
          </a:p>
          <a:p>
            <a:pPr algn="just" fontAlgn="base">
              <a:lnSpc>
                <a:spcPct val="150000"/>
              </a:lnSpc>
              <a:buFont typeface="Arial" panose="020B0604020202020204" pitchFamily="34" charset="0"/>
              <a:buChar char="•"/>
            </a:pPr>
            <a:r>
              <a:rPr lang="fr-FR" sz="1650" dirty="0">
                <a:solidFill>
                  <a:srgbClr val="000000"/>
                </a:solidFill>
                <a:latin typeface="Times New Roman" panose="02020603050405020304" pitchFamily="18" charset="0"/>
                <a:cs typeface="Times New Roman" panose="02020603050405020304" pitchFamily="18" charset="0"/>
              </a:rPr>
              <a:t> </a:t>
            </a:r>
            <a:r>
              <a:rPr lang="fr-FR" sz="1650" b="0" i="0" dirty="0">
                <a:solidFill>
                  <a:srgbClr val="000000"/>
                </a:solidFill>
                <a:effectLst/>
                <a:latin typeface="Times New Roman" panose="02020603050405020304" pitchFamily="18" charset="0"/>
                <a:cs typeface="Times New Roman" panose="02020603050405020304" pitchFamily="18" charset="0"/>
              </a:rPr>
              <a:t>La plupart des mesures de cybersécurité manquent de contexte de risque pour l'entreprise</a:t>
            </a:r>
          </a:p>
          <a:p>
            <a:pPr algn="just" fontAlgn="base">
              <a:lnSpc>
                <a:spcPct val="150000"/>
              </a:lnSpc>
              <a:buFont typeface="Arial" panose="020B0604020202020204" pitchFamily="34" charset="0"/>
              <a:buChar char="•"/>
            </a:pPr>
            <a:r>
              <a:rPr lang="fr-FR" sz="1650" b="0" i="0" dirty="0">
                <a:solidFill>
                  <a:srgbClr val="000000"/>
                </a:solidFill>
                <a:effectLst/>
                <a:latin typeface="Times New Roman" panose="02020603050405020304" pitchFamily="18" charset="0"/>
                <a:cs typeface="Times New Roman" panose="02020603050405020304" pitchFamily="18" charset="0"/>
              </a:rPr>
              <a:t>Il doit y avoir une manière claire de répondre aux questions « Dans quelle mesure sommes-nous en sécurité aujourd'hui », « Sommes-nous plus en sécurité aujourd'hui qu'hier » et « Quel est le plan pour nous rendre plus en sécurité demain ?</a:t>
            </a:r>
          </a:p>
          <a:p>
            <a:pPr algn="just" fontAlgn="base">
              <a:lnSpc>
                <a:spcPct val="150000"/>
              </a:lnSpc>
              <a:buFont typeface="Arial" panose="020B0604020202020204" pitchFamily="34" charset="0"/>
              <a:buChar char="•"/>
            </a:pPr>
            <a:r>
              <a:rPr lang="fr-FR" sz="1650" dirty="0">
                <a:solidFill>
                  <a:srgbClr val="000000"/>
                </a:solidFill>
                <a:latin typeface="Times New Roman" panose="02020603050405020304" pitchFamily="18" charset="0"/>
                <a:cs typeface="Times New Roman" panose="02020603050405020304" pitchFamily="18" charset="0"/>
              </a:rPr>
              <a:t> </a:t>
            </a:r>
            <a:r>
              <a:rPr lang="fr-FR" sz="1650" b="0" i="0" dirty="0">
                <a:solidFill>
                  <a:srgbClr val="000000"/>
                </a:solidFill>
                <a:effectLst/>
                <a:latin typeface="Times New Roman" panose="02020603050405020304" pitchFamily="18" charset="0"/>
                <a:cs typeface="Times New Roman" panose="02020603050405020304" pitchFamily="18" charset="0"/>
              </a:rPr>
              <a:t>Des objectifs de sécurité clairs, mesurables et réalisables doivent guider la gestion et les opérations de sécurité numérique, et non l'inverse</a:t>
            </a:r>
            <a:r>
              <a:rPr lang="fr-FR" sz="1600" b="0" i="0" dirty="0">
                <a:solidFill>
                  <a:srgbClr val="000000"/>
                </a:solidFill>
                <a:effectLst/>
                <a:latin typeface="Times New Roman" panose="02020603050405020304" pitchFamily="18" charset="0"/>
                <a:cs typeface="Times New Roman" panose="02020603050405020304" pitchFamily="18" charset="0"/>
              </a:rPr>
              <a:t>.</a:t>
            </a:r>
          </a:p>
          <a:p>
            <a:pPr algn="l">
              <a:lnSpc>
                <a:spcPct val="150000"/>
              </a:lnSpc>
            </a:pPr>
            <a:endParaRPr lang="fr-FR" sz="1650" b="1" dirty="0">
              <a:solidFill>
                <a:srgbClr val="14141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5394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083B5C-67BB-1A32-96F9-FA4E75921288}"/>
              </a:ext>
            </a:extLst>
          </p:cNvPr>
          <p:cNvSpPr>
            <a:spLocks noGrp="1"/>
          </p:cNvSpPr>
          <p:nvPr>
            <p:ph type="title"/>
          </p:nvPr>
        </p:nvSpPr>
        <p:spPr>
          <a:xfrm>
            <a:off x="628650" y="969217"/>
            <a:ext cx="7886700" cy="636815"/>
          </a:xfrm>
        </p:spPr>
        <p:txBody>
          <a:bodyPr>
            <a:norm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LES AVANTAGES </a:t>
            </a:r>
            <a:endParaRPr lang="fr-ML" sz="3600" b="1" dirty="0">
              <a:solidFill>
                <a:schemeClr val="accent1"/>
              </a:solidFill>
              <a:latin typeface="Times New Roman" panose="02020603050405020304" pitchFamily="18" charset="0"/>
              <a:cs typeface="Times New Roman" panose="02020603050405020304" pitchFamily="18" charset="0"/>
            </a:endParaRPr>
          </a:p>
        </p:txBody>
      </p:sp>
      <p:sp>
        <p:nvSpPr>
          <p:cNvPr id="6" name="Espace réservé du numéro de diapositive 5">
            <a:extLst>
              <a:ext uri="{FF2B5EF4-FFF2-40B4-BE49-F238E27FC236}">
                <a16:creationId xmlns:a16="http://schemas.microsoft.com/office/drawing/2014/main" id="{9F9E3DAB-DB75-48D4-B0F2-6A21CB4F8BE2}"/>
              </a:ext>
            </a:extLst>
          </p:cNvPr>
          <p:cNvSpPr>
            <a:spLocks noGrp="1"/>
          </p:cNvSpPr>
          <p:nvPr>
            <p:ph type="sldNum" sz="quarter" idx="12"/>
          </p:nvPr>
        </p:nvSpPr>
        <p:spPr/>
        <p:txBody>
          <a:bodyPr/>
          <a:lstStyle/>
          <a:p>
            <a:fld id="{257A4929-5DF1-4B28-B204-EBA112CCEBF5}" type="slidenum">
              <a:rPr lang="fr-ML" sz="2400" b="1">
                <a:solidFill>
                  <a:schemeClr val="accent1"/>
                </a:solidFill>
              </a:rPr>
              <a:t>26</a:t>
            </a:fld>
            <a:endParaRPr lang="fr-ML" b="1" dirty="0">
              <a:solidFill>
                <a:schemeClr val="accent1"/>
              </a:solidFill>
            </a:endParaRPr>
          </a:p>
        </p:txBody>
      </p:sp>
      <p:sp>
        <p:nvSpPr>
          <p:cNvPr id="4" name="ZoneTexte 3">
            <a:extLst>
              <a:ext uri="{FF2B5EF4-FFF2-40B4-BE49-F238E27FC236}">
                <a16:creationId xmlns:a16="http://schemas.microsoft.com/office/drawing/2014/main" id="{F798459B-7D11-B968-7B5B-04C2270C82A7}"/>
              </a:ext>
            </a:extLst>
          </p:cNvPr>
          <p:cNvSpPr txBox="1"/>
          <p:nvPr/>
        </p:nvSpPr>
        <p:spPr>
          <a:xfrm>
            <a:off x="628650" y="1949204"/>
            <a:ext cx="7886700" cy="4408899"/>
          </a:xfrm>
          <a:prstGeom prst="rect">
            <a:avLst/>
          </a:prstGeom>
          <a:noFill/>
        </p:spPr>
        <p:txBody>
          <a:bodyPr wrap="square">
            <a:spAutoFit/>
          </a:bodyPr>
          <a:lstStyle/>
          <a:p>
            <a:pPr algn="just">
              <a:lnSpc>
                <a:spcPct val="150000"/>
              </a:lnSpc>
            </a:pPr>
            <a:r>
              <a:rPr lang="fr-FR" sz="1600" dirty="0">
                <a:solidFill>
                  <a:srgbClr val="374151"/>
                </a:solidFill>
                <a:latin typeface="Times New Roman" panose="02020603050405020304" pitchFamily="18" charset="0"/>
                <a:cs typeface="Times New Roman" panose="02020603050405020304" pitchFamily="18" charset="0"/>
              </a:rPr>
              <a:t>Le RSSI (Responsable de la Sécurité des Systèmes d'Information) joue un rôle crucial dans la continuité de service d'une entreprise. Voici quelques avantages clés du rôle de RSSI dans la continuité de service :</a:t>
            </a:r>
          </a:p>
          <a:p>
            <a:pPr algn="just">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Identification des risques de sécurité : </a:t>
            </a:r>
            <a:r>
              <a:rPr lang="fr-FR" sz="1600" dirty="0">
                <a:solidFill>
                  <a:srgbClr val="374151"/>
                </a:solidFill>
                <a:latin typeface="Times New Roman" panose="02020603050405020304" pitchFamily="18" charset="0"/>
                <a:cs typeface="Times New Roman" panose="02020603050405020304" pitchFamily="18" charset="0"/>
              </a:rPr>
              <a:t>Le RSSI est responsable de l'identification des risques de sécurité potentiels pour l'entreprise. En identifiant ces risques, le RSSI peut mettre en place des mesures pour minimiser l'impact de ces risques sur la continuité de service de l'entreprise.</a:t>
            </a:r>
          </a:p>
          <a:p>
            <a:pPr algn="just">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Planification de la continuité de service : </a:t>
            </a:r>
            <a:r>
              <a:rPr lang="fr-FR" sz="1600" dirty="0">
                <a:solidFill>
                  <a:srgbClr val="374151"/>
                </a:solidFill>
                <a:latin typeface="Times New Roman" panose="02020603050405020304" pitchFamily="18" charset="0"/>
                <a:cs typeface="Times New Roman" panose="02020603050405020304" pitchFamily="18" charset="0"/>
              </a:rPr>
              <a:t>Le RSSI peut aider à planifier la continuité de service en élaborant des plans de continuité des activités (PCA) pour l'entreprise. Ces plans comprennent des mesures pour maintenir la continuité des activités de l'entreprise en cas de perturbation</a:t>
            </a:r>
            <a:r>
              <a:rPr lang="fr-FR" sz="1575" dirty="0">
                <a:solidFill>
                  <a:srgbClr val="374151"/>
                </a:solidFill>
                <a:latin typeface="Times New Roman" panose="02020603050405020304" pitchFamily="18" charset="0"/>
                <a:cs typeface="Times New Roman" panose="02020603050405020304" pitchFamily="18" charset="0"/>
              </a:rPr>
              <a:t>.</a:t>
            </a:r>
          </a:p>
          <a:p>
            <a:pPr algn="just"/>
            <a:endParaRPr lang="fr-FR" sz="1650" b="1" dirty="0">
              <a:solidFill>
                <a:srgbClr val="37415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31749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5F77A1-6B09-49DA-8FF7-88CB851C3758}"/>
              </a:ext>
            </a:extLst>
          </p:cNvPr>
          <p:cNvSpPr>
            <a:spLocks noGrp="1"/>
          </p:cNvSpPr>
          <p:nvPr>
            <p:ph type="title"/>
          </p:nvPr>
        </p:nvSpPr>
        <p:spPr/>
        <p:txBody>
          <a:bodyPr>
            <a:norm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LES AVANTAGES </a:t>
            </a:r>
            <a:endParaRPr lang="fr-ML" sz="3600" dirty="0">
              <a:latin typeface="Times New Roman" panose="02020603050405020304" pitchFamily="18" charset="0"/>
              <a:cs typeface="Times New Roman" panose="02020603050405020304" pitchFamily="18" charset="0"/>
            </a:endParaRPr>
          </a:p>
        </p:txBody>
      </p:sp>
      <p:sp>
        <p:nvSpPr>
          <p:cNvPr id="3" name="Espace réservé du numéro de diapositive 2">
            <a:extLst>
              <a:ext uri="{FF2B5EF4-FFF2-40B4-BE49-F238E27FC236}">
                <a16:creationId xmlns:a16="http://schemas.microsoft.com/office/drawing/2014/main" id="{208DE00C-C518-4785-ADE5-56B2009A7011}"/>
              </a:ext>
            </a:extLst>
          </p:cNvPr>
          <p:cNvSpPr>
            <a:spLocks noGrp="1"/>
          </p:cNvSpPr>
          <p:nvPr>
            <p:ph type="sldNum" sz="quarter" idx="12"/>
          </p:nvPr>
        </p:nvSpPr>
        <p:spPr/>
        <p:txBody>
          <a:bodyPr/>
          <a:lstStyle/>
          <a:p>
            <a:fld id="{257A4929-5DF1-4B28-B204-EBA112CCEBF5}" type="slidenum">
              <a:rPr lang="fr-ML" sz="2400" b="1">
                <a:solidFill>
                  <a:schemeClr val="accent1"/>
                </a:solidFill>
              </a:rPr>
              <a:t>27</a:t>
            </a:fld>
            <a:endParaRPr lang="fr-ML" b="1" dirty="0">
              <a:solidFill>
                <a:schemeClr val="accent1"/>
              </a:solidFill>
            </a:endParaRPr>
          </a:p>
        </p:txBody>
      </p:sp>
      <p:sp>
        <p:nvSpPr>
          <p:cNvPr id="5" name="ZoneTexte 4">
            <a:extLst>
              <a:ext uri="{FF2B5EF4-FFF2-40B4-BE49-F238E27FC236}">
                <a16:creationId xmlns:a16="http://schemas.microsoft.com/office/drawing/2014/main" id="{12F7E695-A8E6-477D-B391-B215F485F80C}"/>
              </a:ext>
            </a:extLst>
          </p:cNvPr>
          <p:cNvSpPr txBox="1"/>
          <p:nvPr/>
        </p:nvSpPr>
        <p:spPr>
          <a:xfrm>
            <a:off x="628649" y="2357294"/>
            <a:ext cx="7886700" cy="3093732"/>
          </a:xfrm>
          <a:prstGeom prst="rect">
            <a:avLst/>
          </a:prstGeom>
          <a:noFill/>
        </p:spPr>
        <p:txBody>
          <a:bodyPr wrap="square">
            <a:spAutoFit/>
          </a:bodyPr>
          <a:lstStyle/>
          <a:p>
            <a:pPr algn="just">
              <a:lnSpc>
                <a:spcPct val="150000"/>
              </a:lnSpc>
            </a:pPr>
            <a:r>
              <a:rPr lang="fr-ML" sz="1600" b="1" dirty="0">
                <a:solidFill>
                  <a:schemeClr val="accent1"/>
                </a:solidFill>
                <a:latin typeface="Times New Roman" panose="02020603050405020304" pitchFamily="18" charset="0"/>
                <a:cs typeface="Times New Roman" panose="02020603050405020304" pitchFamily="18" charset="0"/>
              </a:rPr>
              <a:t>Surveillance des menaces : </a:t>
            </a:r>
            <a:r>
              <a:rPr lang="fr-FR" sz="1600" dirty="0">
                <a:solidFill>
                  <a:srgbClr val="374151"/>
                </a:solidFill>
                <a:latin typeface="Times New Roman" panose="02020603050405020304" pitchFamily="18" charset="0"/>
                <a:cs typeface="Times New Roman" panose="02020603050405020304" pitchFamily="18" charset="0"/>
              </a:rPr>
              <a:t>Le RSSI surveille en permanence les menaces potentielles pour l'entreprise, telles que les cyberattaques, les virus informatiques, les fuites de données, etc. En surveillant ces menaces, le RSSI peut agir rapidement pour minimiser l'impact sur la continuité de service.</a:t>
            </a:r>
          </a:p>
          <a:p>
            <a:pPr algn="just">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Évaluation régulière de la sécurité : </a:t>
            </a:r>
            <a:r>
              <a:rPr lang="fr-FR" sz="1600" dirty="0">
                <a:solidFill>
                  <a:srgbClr val="374151"/>
                </a:solidFill>
                <a:latin typeface="Times New Roman" panose="02020603050405020304" pitchFamily="18" charset="0"/>
                <a:cs typeface="Times New Roman" panose="02020603050405020304" pitchFamily="18" charset="0"/>
              </a:rPr>
              <a:t>Le RSSI effectue régulièrement des évaluations de la sécurité pour s'assurer que les mesures de sécurité de l'entreprise sont adéquates et efficaces. Cette évaluation contribue à garantir la continuité de service de l'entreprise en minimisant les risques de sécurité.</a:t>
            </a:r>
          </a:p>
        </p:txBody>
      </p:sp>
    </p:spTree>
    <p:extLst>
      <p:ext uri="{BB962C8B-B14F-4D97-AF65-F5344CB8AC3E}">
        <p14:creationId xmlns:p14="http://schemas.microsoft.com/office/powerpoint/2010/main" val="7601380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548DDA-28DF-AA34-1587-F06A220AE55D}"/>
              </a:ext>
            </a:extLst>
          </p:cNvPr>
          <p:cNvSpPr>
            <a:spLocks noGrp="1"/>
          </p:cNvSpPr>
          <p:nvPr>
            <p:ph type="title"/>
          </p:nvPr>
        </p:nvSpPr>
        <p:spPr>
          <a:xfrm>
            <a:off x="556486" y="544240"/>
            <a:ext cx="7852877" cy="1163262"/>
          </a:xfrm>
        </p:spPr>
        <p:txBody>
          <a:bodyPr>
            <a:norm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LES INCONVENIENTS</a:t>
            </a:r>
            <a:endParaRPr lang="fr-ML" sz="3600" b="1" dirty="0">
              <a:solidFill>
                <a:schemeClr val="accent1"/>
              </a:solidFill>
              <a:latin typeface="Times New Roman" panose="02020603050405020304" pitchFamily="18" charset="0"/>
              <a:cs typeface="Times New Roman" panose="02020603050405020304" pitchFamily="18" charset="0"/>
            </a:endParaRPr>
          </a:p>
        </p:txBody>
      </p:sp>
      <p:sp>
        <p:nvSpPr>
          <p:cNvPr id="6" name="Espace réservé du numéro de diapositive 5">
            <a:extLst>
              <a:ext uri="{FF2B5EF4-FFF2-40B4-BE49-F238E27FC236}">
                <a16:creationId xmlns:a16="http://schemas.microsoft.com/office/drawing/2014/main" id="{5BC50884-5CE4-47F9-BCA6-BB6A34B0A64E}"/>
              </a:ext>
            </a:extLst>
          </p:cNvPr>
          <p:cNvSpPr>
            <a:spLocks noGrp="1"/>
          </p:cNvSpPr>
          <p:nvPr>
            <p:ph type="sldNum" sz="quarter" idx="12"/>
          </p:nvPr>
        </p:nvSpPr>
        <p:spPr/>
        <p:txBody>
          <a:bodyPr/>
          <a:lstStyle/>
          <a:p>
            <a:fld id="{257A4929-5DF1-4B28-B204-EBA112CCEBF5}" type="slidenum">
              <a:rPr lang="fr-ML" sz="2400" b="1">
                <a:solidFill>
                  <a:schemeClr val="accent1"/>
                </a:solidFill>
              </a:rPr>
              <a:t>28</a:t>
            </a:fld>
            <a:endParaRPr lang="fr-ML" b="1" dirty="0">
              <a:solidFill>
                <a:schemeClr val="accent1"/>
              </a:solidFill>
            </a:endParaRPr>
          </a:p>
        </p:txBody>
      </p:sp>
      <p:sp>
        <p:nvSpPr>
          <p:cNvPr id="4" name="ZoneTexte 3">
            <a:extLst>
              <a:ext uri="{FF2B5EF4-FFF2-40B4-BE49-F238E27FC236}">
                <a16:creationId xmlns:a16="http://schemas.microsoft.com/office/drawing/2014/main" id="{DF4E5AC0-606F-6547-8E37-E69BA2EBEC75}"/>
              </a:ext>
            </a:extLst>
          </p:cNvPr>
          <p:cNvSpPr txBox="1"/>
          <p:nvPr/>
        </p:nvSpPr>
        <p:spPr>
          <a:xfrm>
            <a:off x="628650" y="1943139"/>
            <a:ext cx="7852877" cy="4154984"/>
          </a:xfrm>
          <a:prstGeom prst="rect">
            <a:avLst/>
          </a:prstGeom>
          <a:noFill/>
        </p:spPr>
        <p:txBody>
          <a:bodyPr wrap="square">
            <a:spAutoFit/>
          </a:bodyPr>
          <a:lstStyle/>
          <a:p>
            <a:pPr algn="just">
              <a:lnSpc>
                <a:spcPct val="150000"/>
              </a:lnSpc>
            </a:pPr>
            <a:r>
              <a:rPr lang="fr-FR" sz="1600" dirty="0">
                <a:solidFill>
                  <a:srgbClr val="374151"/>
                </a:solidFill>
                <a:latin typeface="Times New Roman" panose="02020603050405020304" pitchFamily="18" charset="0"/>
                <a:cs typeface="Times New Roman" panose="02020603050405020304" pitchFamily="18" charset="0"/>
              </a:rPr>
              <a:t>le rôle de RSSI soit essentiel pour garantir la continuité de service et la sécurité des systèmes d'information de l'entreprise, il peut y avoir certains inconvénients, notamment :</a:t>
            </a:r>
          </a:p>
          <a:p>
            <a:pPr algn="just">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Pression et responsabilité élevées : </a:t>
            </a:r>
            <a:r>
              <a:rPr lang="fr-FR" sz="1600" dirty="0">
                <a:solidFill>
                  <a:srgbClr val="374151"/>
                </a:solidFill>
                <a:latin typeface="Times New Roman" panose="02020603050405020304" pitchFamily="18" charset="0"/>
                <a:cs typeface="Times New Roman" panose="02020603050405020304" pitchFamily="18" charset="0"/>
              </a:rPr>
              <a:t>En tant que responsable de la sécurité des systèmes d'information, le RSSI est souvent soumis à une pression et une responsabilité élevées pour garantir la sécurité et la disponibilité des systèmes d'information de l'entreprise. Cela peut être stressant et difficile à gérer.</a:t>
            </a:r>
          </a:p>
          <a:p>
            <a:pPr algn="just">
              <a:lnSpc>
                <a:spcPct val="150000"/>
              </a:lnSpc>
            </a:pPr>
            <a:r>
              <a:rPr lang="fr-FR" sz="1600" b="1" dirty="0">
                <a:solidFill>
                  <a:schemeClr val="accent1"/>
                </a:solidFill>
                <a:latin typeface="Times New Roman" panose="02020603050405020304" pitchFamily="18" charset="0"/>
                <a:cs typeface="Times New Roman" panose="02020603050405020304" pitchFamily="18" charset="0"/>
              </a:rPr>
              <a:t>Coût élevé : </a:t>
            </a:r>
            <a:r>
              <a:rPr lang="fr-FR" sz="1600" dirty="0">
                <a:solidFill>
                  <a:srgbClr val="374151"/>
                </a:solidFill>
                <a:latin typeface="Times New Roman" panose="02020603050405020304" pitchFamily="18" charset="0"/>
                <a:cs typeface="Times New Roman" panose="02020603050405020304" pitchFamily="18" charset="0"/>
              </a:rPr>
              <a:t>Le coût de la mise en place de mesures de sécurité peut être élevé, ce qui peut poser des problèmes budgétaires pour certaines entreprises. Le RSSI doit donc équilibrer la nécessité de maintenir des mesures de sécurité adéquates avec les contraintes budgétaires de l'entreprise.</a:t>
            </a:r>
          </a:p>
          <a:p>
            <a:pPr algn="just"/>
            <a:endParaRPr lang="fr-FR" sz="1650" dirty="0">
              <a:solidFill>
                <a:srgbClr val="37415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53472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E817C6-9881-30D9-E0AE-91CE5483CB10}"/>
              </a:ext>
            </a:extLst>
          </p:cNvPr>
          <p:cNvSpPr>
            <a:spLocks noGrp="1"/>
          </p:cNvSpPr>
          <p:nvPr>
            <p:ph type="title"/>
          </p:nvPr>
        </p:nvSpPr>
        <p:spPr/>
        <p:txBody>
          <a:bodyPr>
            <a:normAutofit/>
          </a:bodyPr>
          <a:lstStyle/>
          <a:p>
            <a:pPr algn="ctr"/>
            <a:r>
              <a:rPr lang="fr-FR" sz="3600" b="1" dirty="0">
                <a:solidFill>
                  <a:schemeClr val="accent1"/>
                </a:solidFill>
                <a:latin typeface="Times New Roman" panose="02020603050405020304" pitchFamily="18" charset="0"/>
                <a:cs typeface="Times New Roman" panose="02020603050405020304" pitchFamily="18" charset="0"/>
              </a:rPr>
              <a:t>LES INCONVENIENTS (suite)</a:t>
            </a:r>
            <a:endParaRPr lang="fr-ML" sz="3600" dirty="0"/>
          </a:p>
        </p:txBody>
      </p:sp>
      <p:sp>
        <p:nvSpPr>
          <p:cNvPr id="6" name="Espace réservé du numéro de diapositive 5">
            <a:extLst>
              <a:ext uri="{FF2B5EF4-FFF2-40B4-BE49-F238E27FC236}">
                <a16:creationId xmlns:a16="http://schemas.microsoft.com/office/drawing/2014/main" id="{12D26ABC-BC33-46FA-8E0F-1068B8DCD9FA}"/>
              </a:ext>
            </a:extLst>
          </p:cNvPr>
          <p:cNvSpPr>
            <a:spLocks noGrp="1"/>
          </p:cNvSpPr>
          <p:nvPr>
            <p:ph type="sldNum" sz="quarter" idx="12"/>
          </p:nvPr>
        </p:nvSpPr>
        <p:spPr/>
        <p:txBody>
          <a:bodyPr/>
          <a:lstStyle/>
          <a:p>
            <a:fld id="{257A4929-5DF1-4B28-B204-EBA112CCEBF5}" type="slidenum">
              <a:rPr lang="fr-ML" sz="2400" b="1">
                <a:solidFill>
                  <a:schemeClr val="accent1"/>
                </a:solidFill>
              </a:rPr>
              <a:t>29</a:t>
            </a:fld>
            <a:endParaRPr lang="fr-ML" b="1" dirty="0">
              <a:solidFill>
                <a:schemeClr val="accent1"/>
              </a:solidFill>
            </a:endParaRPr>
          </a:p>
        </p:txBody>
      </p:sp>
      <p:sp>
        <p:nvSpPr>
          <p:cNvPr id="4" name="ZoneTexte 3">
            <a:extLst>
              <a:ext uri="{FF2B5EF4-FFF2-40B4-BE49-F238E27FC236}">
                <a16:creationId xmlns:a16="http://schemas.microsoft.com/office/drawing/2014/main" id="{A3FCA00B-B37A-3278-FB4D-71F03ACEF721}"/>
              </a:ext>
            </a:extLst>
          </p:cNvPr>
          <p:cNvSpPr txBox="1"/>
          <p:nvPr/>
        </p:nvSpPr>
        <p:spPr>
          <a:xfrm>
            <a:off x="628650" y="2251756"/>
            <a:ext cx="7886700" cy="3774110"/>
          </a:xfrm>
          <a:prstGeom prst="rect">
            <a:avLst/>
          </a:prstGeom>
          <a:noFill/>
        </p:spPr>
        <p:txBody>
          <a:bodyPr wrap="square">
            <a:spAutoFit/>
          </a:bodyPr>
          <a:lstStyle/>
          <a:p>
            <a:pPr algn="l">
              <a:lnSpc>
                <a:spcPct val="150000"/>
              </a:lnSpc>
            </a:pPr>
            <a:r>
              <a:rPr lang="fr-FR" sz="1650" b="1" dirty="0">
                <a:solidFill>
                  <a:schemeClr val="accent1"/>
                </a:solidFill>
                <a:latin typeface="Times New Roman" panose="02020603050405020304" pitchFamily="18" charset="0"/>
                <a:cs typeface="Times New Roman" panose="02020603050405020304" pitchFamily="18" charset="0"/>
              </a:rPr>
              <a:t>Conflits avec d'autres départements : </a:t>
            </a:r>
            <a:r>
              <a:rPr lang="fr-FR" sz="1650" dirty="0">
                <a:solidFill>
                  <a:srgbClr val="374151"/>
                </a:solidFill>
                <a:latin typeface="Times New Roman" panose="02020603050405020304" pitchFamily="18" charset="0"/>
                <a:cs typeface="Times New Roman" panose="02020603050405020304" pitchFamily="18" charset="0"/>
              </a:rPr>
              <a:t>Le RSSI peut rencontrer des conflits avec d'autres départements de l'entreprise, tels que le département informatique ou le département des ventes, qui peuvent être plus axés sur la productivité que sur la sécurité. Le RSSI doit trouver un équilibre entre la sécurité et les besoins des autres départements.</a:t>
            </a:r>
          </a:p>
          <a:p>
            <a:pPr algn="l">
              <a:lnSpc>
                <a:spcPct val="150000"/>
              </a:lnSpc>
            </a:pPr>
            <a:r>
              <a:rPr lang="fr-FR" sz="1650" b="1" dirty="0">
                <a:solidFill>
                  <a:schemeClr val="accent1"/>
                </a:solidFill>
                <a:latin typeface="Times New Roman" panose="02020603050405020304" pitchFamily="18" charset="0"/>
                <a:cs typeface="Times New Roman" panose="02020603050405020304" pitchFamily="18" charset="0"/>
              </a:rPr>
              <a:t>Complexité croissante des menaces : </a:t>
            </a:r>
            <a:r>
              <a:rPr lang="fr-FR" sz="1650" dirty="0">
                <a:solidFill>
                  <a:srgbClr val="374151"/>
                </a:solidFill>
                <a:latin typeface="Times New Roman" panose="02020603050405020304" pitchFamily="18" charset="0"/>
                <a:cs typeface="Times New Roman" panose="02020603050405020304" pitchFamily="18" charset="0"/>
              </a:rPr>
              <a:t>Les menaces pour la sécurité des systèmes d'information évoluent constamment et deviennent de plus en plus complexes. Le RSSI doit rester à jour sur ces menaces et être capable de mettre en place des mesures de sécurité adéquates pour y faire face.</a:t>
            </a:r>
          </a:p>
          <a:p>
            <a:pPr>
              <a:lnSpc>
                <a:spcPct val="150000"/>
              </a:lnSpc>
            </a:pPr>
            <a:endParaRPr lang="fr-FR" sz="1650" dirty="0">
              <a:solidFill>
                <a:srgbClr val="374151"/>
              </a:solidFill>
              <a:latin typeface="Times New Roman" panose="02020603050405020304" pitchFamily="18" charset="0"/>
              <a:cs typeface="Times New Roman" panose="02020603050405020304" pitchFamily="18" charset="0"/>
            </a:endParaRPr>
          </a:p>
          <a:p>
            <a:pPr algn="l"/>
            <a:endParaRPr lang="fr-FR" sz="1650" dirty="0">
              <a:solidFill>
                <a:srgbClr val="37415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12563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6C464FC6-B879-4FBB-AA9B-B2758827D4B4}"/>
              </a:ext>
            </a:extLst>
          </p:cNvPr>
          <p:cNvSpPr>
            <a:spLocks noGrp="1"/>
          </p:cNvSpPr>
          <p:nvPr>
            <p:ph type="sldNum" sz="quarter" idx="12"/>
          </p:nvPr>
        </p:nvSpPr>
        <p:spPr/>
        <p:txBody>
          <a:bodyPr/>
          <a:lstStyle/>
          <a:p>
            <a:fld id="{257A4929-5DF1-4B28-B204-EBA112CCEBF5}" type="slidenum">
              <a:rPr lang="fr-ML" sz="2400">
                <a:solidFill>
                  <a:schemeClr val="accent1"/>
                </a:solidFill>
              </a:rPr>
              <a:t>30</a:t>
            </a:fld>
            <a:endParaRPr lang="fr-ML" dirty="0">
              <a:solidFill>
                <a:schemeClr val="accent1"/>
              </a:solidFill>
            </a:endParaRPr>
          </a:p>
        </p:txBody>
      </p:sp>
      <p:sp>
        <p:nvSpPr>
          <p:cNvPr id="2" name="Titre 1">
            <a:extLst>
              <a:ext uri="{FF2B5EF4-FFF2-40B4-BE49-F238E27FC236}">
                <a16:creationId xmlns:a16="http://schemas.microsoft.com/office/drawing/2014/main" id="{669CD451-FC70-A88D-B81D-43AF7F14E7B6}"/>
              </a:ext>
            </a:extLst>
          </p:cNvPr>
          <p:cNvSpPr>
            <a:spLocks noGrp="1"/>
          </p:cNvSpPr>
          <p:nvPr>
            <p:ph type="title" idx="4294967295"/>
          </p:nvPr>
        </p:nvSpPr>
        <p:spPr>
          <a:xfrm>
            <a:off x="0" y="221941"/>
            <a:ext cx="7886700" cy="1989414"/>
          </a:xfrm>
        </p:spPr>
        <p:txBody>
          <a:bodyPr>
            <a:normAutofit/>
          </a:bodyPr>
          <a:lstStyle/>
          <a:p>
            <a:pPr algn="just"/>
            <a:r>
              <a:rPr lang="fr-FR" sz="3600" b="1" dirty="0">
                <a:solidFill>
                  <a:schemeClr val="accent1"/>
                </a:solidFill>
                <a:latin typeface="Times New Roman" panose="02020603050405020304" pitchFamily="18" charset="0"/>
                <a:cs typeface="Times New Roman" panose="02020603050405020304" pitchFamily="18" charset="0"/>
              </a:rPr>
              <a:t>CONCLUSION</a:t>
            </a:r>
            <a:r>
              <a:rPr lang="fr-FR" b="1" i="0" u="none" strike="noStrike" dirty="0">
                <a:solidFill>
                  <a:schemeClr val="accent1"/>
                </a:solidFill>
                <a:effectLst/>
                <a:latin typeface="Muli"/>
              </a:rPr>
              <a:t> </a:t>
            </a:r>
            <a:br>
              <a:rPr lang="fr-FR" b="1" i="0" u="none" strike="noStrike" dirty="0">
                <a:solidFill>
                  <a:srgbClr val="333C4D"/>
                </a:solidFill>
                <a:effectLst/>
                <a:latin typeface="Muli"/>
              </a:rPr>
            </a:br>
            <a:endParaRPr lang="fr-ML" dirty="0"/>
          </a:p>
        </p:txBody>
      </p:sp>
      <p:sp>
        <p:nvSpPr>
          <p:cNvPr id="8" name="Espace réservé du contenu 7">
            <a:extLst>
              <a:ext uri="{FF2B5EF4-FFF2-40B4-BE49-F238E27FC236}">
                <a16:creationId xmlns:a16="http://schemas.microsoft.com/office/drawing/2014/main" id="{10DAF1AA-591E-D122-7FE6-45D0E50BF115}"/>
              </a:ext>
            </a:extLst>
          </p:cNvPr>
          <p:cNvSpPr>
            <a:spLocks noGrp="1"/>
          </p:cNvSpPr>
          <p:nvPr>
            <p:ph idx="4294967295"/>
          </p:nvPr>
        </p:nvSpPr>
        <p:spPr>
          <a:xfrm>
            <a:off x="221942" y="1797844"/>
            <a:ext cx="7963270" cy="3262312"/>
          </a:xfrm>
        </p:spPr>
        <p:txBody>
          <a:bodyPr>
            <a:normAutofit/>
          </a:bodyPr>
          <a:lstStyle/>
          <a:p>
            <a:pPr marL="0" indent="0" algn="just" fontAlgn="base">
              <a:lnSpc>
                <a:spcPct val="100000"/>
              </a:lnSpc>
              <a:buNone/>
            </a:pPr>
            <a:r>
              <a:rPr lang="fr-FR" sz="1600" dirty="0">
                <a:latin typeface="Times New Roman" panose="02020603050405020304" pitchFamily="18" charset="0"/>
                <a:cs typeface="Times New Roman" panose="02020603050405020304" pitchFamily="18" charset="0"/>
              </a:rPr>
              <a:t>En conclusion, le RSSI joue un rôle essentiel pour assurer la continuité des activités à l’ère numérique d’aujourd’hui. En effectuant des évaluations des risques, en élaborant des plans de réponse aux incidents, en favorisant la collaboration et en communiquant efficacement avec les parties prenantes, le RSSI peut aider à garantir qu’une organisation peut maintenir ses opérations et se remettre rapidement de toute perturbation.</a:t>
            </a:r>
          </a:p>
          <a:p>
            <a:pPr marL="0" indent="0" algn="just" fontAlgn="base">
              <a:lnSpc>
                <a:spcPct val="100000"/>
              </a:lnSpc>
              <a:buNone/>
            </a:pPr>
            <a:r>
              <a:rPr lang="fr-FR" sz="1600" dirty="0">
                <a:latin typeface="Times New Roman" panose="02020603050405020304" pitchFamily="18" charset="0"/>
                <a:cs typeface="Times New Roman" panose="02020603050405020304" pitchFamily="18" charset="0"/>
              </a:rPr>
              <a:t>Le rôle du RSSI ne fera que croître en importance à mesure que les organisations deviendront de plus en plus dépendantes de la technologie et feront face à des menaces de cybersécurité en constante évolution. Il est essentiel que les organisations reconnaissent la valeur du RSSI et leur fournissent les ressources et le soutien dont ils ont besoin pour réussir.</a:t>
            </a:r>
            <a:endParaRPr lang="fr-ML" sz="1600" dirty="0">
              <a:latin typeface="Times New Roman" panose="02020603050405020304" pitchFamily="18" charset="0"/>
              <a:cs typeface="Times New Roman" panose="02020603050405020304" pitchFamily="18" charset="0"/>
            </a:endParaRPr>
          </a:p>
          <a:p>
            <a:pPr marL="0" indent="0" algn="just" fontAlgn="base">
              <a:buNone/>
            </a:pPr>
            <a:endParaRPr lang="fr-FR" dirty="0"/>
          </a:p>
          <a:p>
            <a:pPr marL="0" indent="0" algn="just" fontAlgn="base">
              <a:buNone/>
            </a:pPr>
            <a:endParaRPr lang="fr-FR" b="0" i="0" dirty="0">
              <a:solidFill>
                <a:srgbClr val="333C4D"/>
              </a:solidFill>
              <a:effectLst/>
              <a:latin typeface="Muli"/>
            </a:endParaRPr>
          </a:p>
          <a:p>
            <a:pPr marL="0" indent="0" algn="just">
              <a:buNone/>
            </a:pPr>
            <a:endParaRPr lang="fr-ML" dirty="0"/>
          </a:p>
        </p:txBody>
      </p:sp>
    </p:spTree>
    <p:extLst>
      <p:ext uri="{BB962C8B-B14F-4D97-AF65-F5344CB8AC3E}">
        <p14:creationId xmlns:p14="http://schemas.microsoft.com/office/powerpoint/2010/main" val="8031950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1B2739-B17F-5310-46FE-AC09078F55BF}"/>
              </a:ext>
            </a:extLst>
          </p:cNvPr>
          <p:cNvSpPr>
            <a:spLocks noGrp="1"/>
          </p:cNvSpPr>
          <p:nvPr>
            <p:ph type="title"/>
          </p:nvPr>
        </p:nvSpPr>
        <p:spPr>
          <a:xfrm>
            <a:off x="822960" y="286604"/>
            <a:ext cx="7498080" cy="1382176"/>
          </a:xfrm>
        </p:spPr>
        <p:txBody>
          <a:bodyPr>
            <a:normAutofit fontScale="90000"/>
          </a:bodyPr>
          <a:lstStyle/>
          <a:p>
            <a:r>
              <a:rPr lang="fr-FR">
                <a:solidFill>
                  <a:srgbClr val="FFC000"/>
                </a:solidFill>
              </a:rPr>
              <a:t>                       FIN</a:t>
            </a:r>
            <a:br>
              <a:rPr lang="fr-FR" dirty="0"/>
            </a:br>
            <a:r>
              <a:rPr lang="fr-FR" sz="5300" dirty="0">
                <a:solidFill>
                  <a:srgbClr val="FFC000"/>
                </a:solidFill>
              </a:rPr>
              <a:t>Merci pour votre patience!!</a:t>
            </a:r>
            <a:endParaRPr lang="fr-ML" dirty="0">
              <a:solidFill>
                <a:srgbClr val="FFC000"/>
              </a:solidFill>
            </a:endParaRPr>
          </a:p>
        </p:txBody>
      </p:sp>
      <p:sp>
        <p:nvSpPr>
          <p:cNvPr id="3" name="Espace réservé du texte 2">
            <a:extLst>
              <a:ext uri="{FF2B5EF4-FFF2-40B4-BE49-F238E27FC236}">
                <a16:creationId xmlns:a16="http://schemas.microsoft.com/office/drawing/2014/main" id="{889438B4-6100-1485-3EFB-3B0AD60E4F1B}"/>
              </a:ext>
            </a:extLst>
          </p:cNvPr>
          <p:cNvSpPr>
            <a:spLocks noGrp="1"/>
          </p:cNvSpPr>
          <p:nvPr>
            <p:ph type="body" idx="1"/>
          </p:nvPr>
        </p:nvSpPr>
        <p:spPr/>
        <p:txBody>
          <a:bodyPr/>
          <a:lstStyle/>
          <a:p>
            <a:endParaRPr lang="fr-ML"/>
          </a:p>
        </p:txBody>
      </p:sp>
      <p:sp>
        <p:nvSpPr>
          <p:cNvPr id="4" name="Espace réservé du contenu 3">
            <a:extLst>
              <a:ext uri="{FF2B5EF4-FFF2-40B4-BE49-F238E27FC236}">
                <a16:creationId xmlns:a16="http://schemas.microsoft.com/office/drawing/2014/main" id="{9E3AEE8F-0A6A-7211-F16F-535960E5BD2F}"/>
              </a:ext>
            </a:extLst>
          </p:cNvPr>
          <p:cNvSpPr>
            <a:spLocks noGrp="1"/>
          </p:cNvSpPr>
          <p:nvPr>
            <p:ph sz="half" idx="2"/>
          </p:nvPr>
        </p:nvSpPr>
        <p:spPr/>
        <p:txBody>
          <a:bodyPr/>
          <a:lstStyle/>
          <a:p>
            <a:endParaRPr lang="fr-ML"/>
          </a:p>
        </p:txBody>
      </p:sp>
      <p:sp>
        <p:nvSpPr>
          <p:cNvPr id="5" name="Espace réservé du texte 4">
            <a:extLst>
              <a:ext uri="{FF2B5EF4-FFF2-40B4-BE49-F238E27FC236}">
                <a16:creationId xmlns:a16="http://schemas.microsoft.com/office/drawing/2014/main" id="{FC65F045-E77A-31D2-568B-3B2E828B4402}"/>
              </a:ext>
            </a:extLst>
          </p:cNvPr>
          <p:cNvSpPr>
            <a:spLocks noGrp="1"/>
          </p:cNvSpPr>
          <p:nvPr>
            <p:ph type="body" sz="quarter" idx="3"/>
          </p:nvPr>
        </p:nvSpPr>
        <p:spPr/>
        <p:txBody>
          <a:bodyPr/>
          <a:lstStyle/>
          <a:p>
            <a:endParaRPr lang="fr-ML"/>
          </a:p>
        </p:txBody>
      </p:sp>
      <p:pic>
        <p:nvPicPr>
          <p:cNvPr id="9" name="Espace réservé du contenu 8">
            <a:extLst>
              <a:ext uri="{FF2B5EF4-FFF2-40B4-BE49-F238E27FC236}">
                <a16:creationId xmlns:a16="http://schemas.microsoft.com/office/drawing/2014/main" id="{8F379F8D-095F-47AE-7956-713F67D65BD3}"/>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822960" y="1737361"/>
            <a:ext cx="7543799" cy="4131627"/>
          </a:xfrm>
        </p:spPr>
      </p:pic>
      <p:sp>
        <p:nvSpPr>
          <p:cNvPr id="7" name="Espace réservé du numéro de diapositive 6">
            <a:extLst>
              <a:ext uri="{FF2B5EF4-FFF2-40B4-BE49-F238E27FC236}">
                <a16:creationId xmlns:a16="http://schemas.microsoft.com/office/drawing/2014/main" id="{D2F8DBCD-DDFF-ED7D-C87C-26873407335B}"/>
              </a:ext>
            </a:extLst>
          </p:cNvPr>
          <p:cNvSpPr>
            <a:spLocks noGrp="1"/>
          </p:cNvSpPr>
          <p:nvPr>
            <p:ph type="sldNum" sz="quarter" idx="12"/>
          </p:nvPr>
        </p:nvSpPr>
        <p:spPr/>
        <p:txBody>
          <a:bodyPr/>
          <a:lstStyle/>
          <a:p>
            <a:fld id="{257A4929-5DF1-4B28-B204-EBA112CCEBF5}" type="slidenum">
              <a:rPr lang="fr-ML" sz="2400" smtClean="0"/>
              <a:t>31</a:t>
            </a:fld>
            <a:endParaRPr lang="fr-ML" sz="1600" dirty="0"/>
          </a:p>
        </p:txBody>
      </p:sp>
    </p:spTree>
    <p:extLst>
      <p:ext uri="{BB962C8B-B14F-4D97-AF65-F5344CB8AC3E}">
        <p14:creationId xmlns:p14="http://schemas.microsoft.com/office/powerpoint/2010/main" val="2588138818"/>
      </p:ext>
    </p:extLst>
  </p:cSld>
  <p:clrMapOvr>
    <a:masterClrMapping/>
  </p:clrMapOvr>
</p:sld>
</file>

<file path=ppt/theme/theme1.xml><?xml version="1.0" encoding="utf-8"?>
<a:theme xmlns:a="http://schemas.openxmlformats.org/drawingml/2006/main" name="Rétrospective">
  <a:themeElements>
    <a:clrScheme name="Rétrospective">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étrospectiv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étrospective">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8994</TotalTime>
  <Words>3221</Words>
  <Application>Microsoft Office PowerPoint</Application>
  <PresentationFormat>Affichage à l'écran (4:3)</PresentationFormat>
  <Paragraphs>184</Paragraphs>
  <Slides>31</Slides>
  <Notes>0</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31</vt:i4>
      </vt:variant>
    </vt:vector>
  </HeadingPairs>
  <TitlesOfParts>
    <vt:vector size="42" baseType="lpstr">
      <vt:lpstr>-apple-system</vt:lpstr>
      <vt:lpstr>Arial</vt:lpstr>
      <vt:lpstr>Calibri</vt:lpstr>
      <vt:lpstr>Calibri Light</vt:lpstr>
      <vt:lpstr>Inter</vt:lpstr>
      <vt:lpstr>Muli</vt:lpstr>
      <vt:lpstr>Poppins</vt:lpstr>
      <vt:lpstr>Söhne</vt:lpstr>
      <vt:lpstr>Times New Roman</vt:lpstr>
      <vt:lpstr>Wingdings</vt:lpstr>
      <vt:lpstr>Rétrospective</vt:lpstr>
      <vt:lpstr>LE ROLE DU RSSI DANS LA CONTINUITE DE SERVICE </vt:lpstr>
      <vt:lpstr>SOMMAIRE</vt:lpstr>
      <vt:lpstr>INTRODUCTION </vt:lpstr>
      <vt:lpstr> OBJECTIF </vt:lpstr>
      <vt:lpstr>OBJECTIF (suite)</vt:lpstr>
      <vt:lpstr>LES PRINCIPALES RÔLES DU RSSI DANS LA CONTINUITÉ DE SERVICE </vt:lpstr>
      <vt:lpstr>LES PRINCIPALES RÔLES DU RSSI DANS LA CONTINUITÉ DE SERVICE </vt:lpstr>
      <vt:lpstr>LES PRINCIPALES RÔLES DU RSSI DANS LA CONTINUITÉ DE SERVICE </vt:lpstr>
      <vt:lpstr>LES PRINCIPALES RÔLES DU RSSI DANS LA CONTINUITÉ DE SERVICE </vt:lpstr>
      <vt:lpstr>LES OBJECTIFS PRINCIPAUX DU RSSI</vt:lpstr>
      <vt:lpstr>Présentation PowerPoint</vt:lpstr>
      <vt:lpstr>LES MISSIONS DU RSSI</vt:lpstr>
      <vt:lpstr>LES MISSIONS DU RSSI (suite)</vt:lpstr>
      <vt:lpstr> </vt:lpstr>
      <vt:lpstr>Présentation PowerPoint</vt:lpstr>
      <vt:lpstr>LES RELATIONS DU RSSI </vt:lpstr>
      <vt:lpstr>Présentation PowerPoint</vt:lpstr>
      <vt:lpstr>LES OUTILS ET TECHNOLOGIES UTILISER PAR LE RSSI</vt:lpstr>
      <vt:lpstr>LES OUTILS ET TECHNOLOGIES UTILISER PAR LE RSSI</vt:lpstr>
      <vt:lpstr>LES NOUVAUX ENJEUX DES RSSI </vt:lpstr>
      <vt:lpstr>LES NOUVAUX ENJEUX DES RSSI</vt:lpstr>
      <vt:lpstr>LES NOUVAUX ENJEUX DES RSSI</vt:lpstr>
      <vt:lpstr>Les trois types de personnalité du RSSI </vt:lpstr>
      <vt:lpstr>Les trois types de personnalité du RSSI</vt:lpstr>
      <vt:lpstr>Les trois types de personnalité du RSSI</vt:lpstr>
      <vt:lpstr>LES AVANTAGES </vt:lpstr>
      <vt:lpstr>LES AVANTAGES </vt:lpstr>
      <vt:lpstr>LES INCONVENIENTS</vt:lpstr>
      <vt:lpstr>LES INCONVENIENTS (suite)</vt:lpstr>
      <vt:lpstr>CONCLUSION  </vt:lpstr>
      <vt:lpstr>                       FIN Merci pour votre patience!!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ROLE DU RSSI DANS LA CONTINUITE DE SERVICE </dc:title>
  <dc:creator>BAGAYOGO AMIDOU</dc:creator>
  <cp:lastModifiedBy>BAGAYOGO AMIDOU</cp:lastModifiedBy>
  <cp:revision>84</cp:revision>
  <dcterms:created xsi:type="dcterms:W3CDTF">2023-03-16T18:17:11Z</dcterms:created>
  <dcterms:modified xsi:type="dcterms:W3CDTF">2023-07-20T18:59:40Z</dcterms:modified>
</cp:coreProperties>
</file>
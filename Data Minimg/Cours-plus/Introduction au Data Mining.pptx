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3" r:id="rId5"/>
    <p:sldId id="258" r:id="rId6"/>
    <p:sldId id="259" r:id="rId7"/>
    <p:sldId id="265" r:id="rId8"/>
    <p:sldId id="266" r:id="rId9"/>
    <p:sldId id="267" r:id="rId10"/>
    <p:sldId id="260" r:id="rId11"/>
    <p:sldId id="271" r:id="rId12"/>
    <p:sldId id="269" r:id="rId13"/>
    <p:sldId id="270" r:id="rId14"/>
    <p:sldId id="261" r:id="rId15"/>
    <p:sldId id="268" r:id="rId16"/>
    <p:sldId id="262"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6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F04D98AF-2641-4DB0-9650-29E88C44186C}" type="datetimeFigureOut">
              <a:rPr lang="fr-FR" smtClean="0"/>
              <a:t>10/11/2021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1606201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04D98AF-2641-4DB0-9650-29E88C44186C}" type="datetimeFigureOut">
              <a:rPr lang="fr-FR" smtClean="0"/>
              <a:t>10/11/2021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3639530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F04D98AF-2641-4DB0-9650-29E88C44186C}" type="datetimeFigureOut">
              <a:rPr lang="fr-FR" smtClean="0"/>
              <a:t>10/11/2021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119319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F04D98AF-2641-4DB0-9650-29E88C44186C}" type="datetimeFigureOut">
              <a:rPr lang="fr-FR" smtClean="0"/>
              <a:t>10/11/2021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1741485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F04D98AF-2641-4DB0-9650-29E88C44186C}" type="datetimeFigureOut">
              <a:rPr lang="fr-FR" smtClean="0"/>
              <a:t>10/11/2021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1636674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F04D98AF-2641-4DB0-9650-29E88C44186C}" type="datetimeFigureOut">
              <a:rPr lang="fr-FR" smtClean="0"/>
              <a:t>10/11/2021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3626016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04D98AF-2641-4DB0-9650-29E88C44186C}" type="datetimeFigureOut">
              <a:rPr lang="fr-FR" smtClean="0"/>
              <a:t>10/11/2021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327252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04D98AF-2641-4DB0-9650-29E88C44186C}" type="datetimeFigureOut">
              <a:rPr lang="fr-FR" smtClean="0"/>
              <a:t>10/11/2021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2894706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04D98AF-2641-4DB0-9650-29E88C44186C}" type="datetimeFigureOut">
              <a:rPr lang="fr-FR" smtClean="0"/>
              <a:t>10/11/2021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3111852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04D98AF-2641-4DB0-9650-29E88C44186C}" type="datetimeFigureOut">
              <a:rPr lang="fr-FR" smtClean="0"/>
              <a:t>10/11/2021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1274286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04D98AF-2641-4DB0-9650-29E88C44186C}" type="datetimeFigureOut">
              <a:rPr lang="fr-FR" smtClean="0"/>
              <a:t>10/11/2021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6819A32-9205-4C0A-BFC2-8E9254693A09}" type="slidenum">
              <a:rPr lang="fr-FR" smtClean="0"/>
              <a:t>‹N°›</a:t>
            </a:fld>
            <a:endParaRPr lang="fr-FR"/>
          </a:p>
        </p:txBody>
      </p:sp>
    </p:spTree>
    <p:extLst>
      <p:ext uri="{BB962C8B-B14F-4D97-AF65-F5344CB8AC3E}">
        <p14:creationId xmlns:p14="http://schemas.microsoft.com/office/powerpoint/2010/main" val="2857791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4D98AF-2641-4DB0-9650-29E88C44186C}" type="datetimeFigureOut">
              <a:rPr lang="fr-FR" smtClean="0"/>
              <a:t>10/11/2021</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819A32-9205-4C0A-BFC2-8E9254693A09}" type="slidenum">
              <a:rPr lang="fr-FR" smtClean="0"/>
              <a:t>‹N°›</a:t>
            </a:fld>
            <a:endParaRPr lang="fr-FR"/>
          </a:p>
        </p:txBody>
      </p:sp>
    </p:spTree>
    <p:extLst>
      <p:ext uri="{BB962C8B-B14F-4D97-AF65-F5344CB8AC3E}">
        <p14:creationId xmlns:p14="http://schemas.microsoft.com/office/powerpoint/2010/main" val="4027197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524838" y="2347414"/>
            <a:ext cx="6878470" cy="1323439"/>
          </a:xfrm>
          <a:prstGeom prst="rect">
            <a:avLst/>
          </a:prstGeom>
          <a:noFill/>
        </p:spPr>
        <p:txBody>
          <a:bodyPr wrap="square" rtlCol="0">
            <a:spAutoFit/>
          </a:bodyPr>
          <a:lstStyle/>
          <a:p>
            <a:pPr algn="ctr"/>
            <a:r>
              <a:rPr lang="fr-FR" sz="4000" b="1" dirty="0" smtClean="0">
                <a:solidFill>
                  <a:srgbClr val="C00000"/>
                </a:solidFill>
              </a:rPr>
              <a:t>Introduction au Data Mining (Fouille de Données)</a:t>
            </a:r>
            <a:endParaRPr lang="fr-FR" sz="4000" b="1" dirty="0">
              <a:solidFill>
                <a:srgbClr val="C00000"/>
              </a:solidFill>
            </a:endParaRPr>
          </a:p>
        </p:txBody>
      </p:sp>
    </p:spTree>
    <p:extLst>
      <p:ext uri="{BB962C8B-B14F-4D97-AF65-F5344CB8AC3E}">
        <p14:creationId xmlns:p14="http://schemas.microsoft.com/office/powerpoint/2010/main" val="1565693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91068" y="300250"/>
            <a:ext cx="7124132" cy="553998"/>
          </a:xfrm>
          <a:prstGeom prst="rect">
            <a:avLst/>
          </a:prstGeom>
          <a:noFill/>
        </p:spPr>
        <p:txBody>
          <a:bodyPr wrap="square" rtlCol="0">
            <a:spAutoFit/>
          </a:bodyPr>
          <a:lstStyle/>
          <a:p>
            <a:r>
              <a:rPr lang="fr-FR" sz="3000" b="1" dirty="0" smtClean="0">
                <a:solidFill>
                  <a:srgbClr val="C00000"/>
                </a:solidFill>
                <a:latin typeface="Times New Roman" panose="02020603050405020304" pitchFamily="18" charset="0"/>
                <a:cs typeface="Times New Roman" panose="02020603050405020304" pitchFamily="18" charset="0"/>
              </a:rPr>
              <a:t>Le Data-Mining qu’est-ce </a:t>
            </a:r>
            <a:r>
              <a:rPr lang="fr-FR" sz="3000" b="1" dirty="0">
                <a:solidFill>
                  <a:srgbClr val="C00000"/>
                </a:solidFill>
                <a:latin typeface="Times New Roman" panose="02020603050405020304" pitchFamily="18" charset="0"/>
                <a:cs typeface="Times New Roman" panose="02020603050405020304" pitchFamily="18" charset="0"/>
              </a:rPr>
              <a:t>que </a:t>
            </a:r>
            <a:r>
              <a:rPr lang="fr-FR" sz="3000" b="1" dirty="0" smtClean="0">
                <a:solidFill>
                  <a:srgbClr val="C00000"/>
                </a:solidFill>
                <a:latin typeface="Times New Roman" panose="02020603050405020304" pitchFamily="18" charset="0"/>
                <a:cs typeface="Times New Roman" panose="02020603050405020304" pitchFamily="18" charset="0"/>
              </a:rPr>
              <a:t>c’est ? </a:t>
            </a:r>
            <a:endParaRPr lang="fr-FR" sz="3000" b="1"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536811" y="971731"/>
            <a:ext cx="10763535" cy="5532412"/>
          </a:xfrm>
          <a:prstGeom prst="rect">
            <a:avLst/>
          </a:prstGeom>
        </p:spPr>
        <p:txBody>
          <a:bodyPr wrap="square">
            <a:spAutoFit/>
          </a:bodyPr>
          <a:lstStyle/>
          <a:p>
            <a:pPr>
              <a:lnSpc>
                <a:spcPct val="114000"/>
              </a:lnSpc>
            </a:pPr>
            <a:r>
              <a:rPr lang="fr-FR" sz="2400" dirty="0">
                <a:solidFill>
                  <a:srgbClr val="000000"/>
                </a:solidFill>
                <a:latin typeface="Times New Roman" panose="02020603050405020304" pitchFamily="18" charset="0"/>
                <a:cs typeface="Times New Roman" panose="02020603050405020304" pitchFamily="18" charset="0"/>
              </a:rPr>
              <a:t>Traduction : </a:t>
            </a:r>
            <a:r>
              <a:rPr lang="fr-FR" sz="2400" b="1" dirty="0">
                <a:solidFill>
                  <a:srgbClr val="000000"/>
                </a:solidFill>
                <a:latin typeface="Times New Roman" panose="02020603050405020304" pitchFamily="18" charset="0"/>
                <a:cs typeface="Times New Roman" panose="02020603050405020304" pitchFamily="18" charset="0"/>
              </a:rPr>
              <a:t>Fouille de données</a:t>
            </a:r>
            <a:r>
              <a:rPr lang="fr-FR" sz="2400" dirty="0">
                <a:solidFill>
                  <a:srgbClr val="000000"/>
                </a:solidFill>
                <a:latin typeface="Times New Roman" panose="02020603050405020304" pitchFamily="18" charset="0"/>
                <a:cs typeface="Times New Roman" panose="02020603050405020304" pitchFamily="18" charset="0"/>
              </a:rPr>
              <a:t>.</a:t>
            </a:r>
          </a:p>
          <a:p>
            <a:pPr marL="285750" indent="-285750">
              <a:lnSpc>
                <a:spcPct val="114000"/>
              </a:lnSpc>
              <a:buClr>
                <a:srgbClr val="C00000"/>
              </a:buClr>
              <a:buFont typeface="Wingdings" panose="05000000000000000000" pitchFamily="2" charset="2"/>
              <a:buChar char="§"/>
            </a:pPr>
            <a:r>
              <a:rPr lang="fr-FR" sz="2400" b="0" i="0" u="none" strike="noStrike" baseline="0" dirty="0" smtClean="0">
                <a:solidFill>
                  <a:srgbClr val="00FF00"/>
                </a:solidFill>
                <a:latin typeface="Times New Roman" panose="02020603050405020304" pitchFamily="18" charset="0"/>
                <a:cs typeface="Times New Roman" panose="02020603050405020304" pitchFamily="18" charset="0"/>
              </a:rPr>
              <a:t> </a:t>
            </a:r>
            <a:r>
              <a:rPr lang="fr-FR" sz="2400" dirty="0">
                <a:solidFill>
                  <a:srgbClr val="000000"/>
                </a:solidFill>
                <a:latin typeface="Times New Roman" panose="02020603050405020304" pitchFamily="18" charset="0"/>
                <a:cs typeface="Times New Roman" panose="02020603050405020304" pitchFamily="18" charset="0"/>
              </a:rPr>
              <a:t>Terme récent (1995) représentant un mélange d’idées et </a:t>
            </a:r>
            <a:r>
              <a:rPr lang="fr-FR" sz="2400" dirty="0" smtClean="0">
                <a:solidFill>
                  <a:srgbClr val="000000"/>
                </a:solidFill>
                <a:latin typeface="Times New Roman" panose="02020603050405020304" pitchFamily="18" charset="0"/>
                <a:cs typeface="Times New Roman" panose="02020603050405020304" pitchFamily="18" charset="0"/>
              </a:rPr>
              <a:t>d’outils provenant </a:t>
            </a:r>
            <a:r>
              <a:rPr lang="fr-FR" sz="2400" dirty="0">
                <a:solidFill>
                  <a:srgbClr val="000000"/>
                </a:solidFill>
                <a:latin typeface="Times New Roman" panose="02020603050405020304" pitchFamily="18" charset="0"/>
                <a:cs typeface="Times New Roman" panose="02020603050405020304" pitchFamily="18" charset="0"/>
              </a:rPr>
              <a:t>de la Statistique, l’Intelligence Artificielle et </a:t>
            </a:r>
            <a:r>
              <a:rPr lang="fr-FR" sz="2400" dirty="0" smtClean="0">
                <a:solidFill>
                  <a:srgbClr val="000000"/>
                </a:solidFill>
                <a:latin typeface="Times New Roman" panose="02020603050405020304" pitchFamily="18" charset="0"/>
                <a:cs typeface="Times New Roman" panose="02020603050405020304" pitchFamily="18" charset="0"/>
              </a:rPr>
              <a:t>l’Informatique.</a:t>
            </a:r>
          </a:p>
          <a:p>
            <a:pPr marL="285750" indent="-285750">
              <a:lnSpc>
                <a:spcPct val="114000"/>
              </a:lnSpc>
              <a:buClr>
                <a:srgbClr val="C00000"/>
              </a:buClr>
              <a:buFont typeface="Wingdings" panose="05000000000000000000" pitchFamily="2" charset="2"/>
              <a:buChar char="§"/>
            </a:pPr>
            <a:r>
              <a:rPr lang="fr-FR" sz="2400" dirty="0" smtClean="0">
                <a:solidFill>
                  <a:srgbClr val="000000"/>
                </a:solidFill>
                <a:latin typeface="Times New Roman" panose="02020603050405020304" pitchFamily="18" charset="0"/>
                <a:cs typeface="Times New Roman" panose="02020603050405020304" pitchFamily="18" charset="0"/>
              </a:rPr>
              <a:t>La </a:t>
            </a:r>
            <a:r>
              <a:rPr lang="fr-FR" sz="2400" dirty="0">
                <a:solidFill>
                  <a:srgbClr val="000000"/>
                </a:solidFill>
                <a:latin typeface="Times New Roman" panose="02020603050405020304" pitchFamily="18" charset="0"/>
                <a:cs typeface="Times New Roman" panose="02020603050405020304" pitchFamily="18" charset="0"/>
              </a:rPr>
              <a:t>définition exacte reste peu claire et les terminologies associées </a:t>
            </a:r>
            <a:r>
              <a:rPr lang="fr-FR" sz="2400" dirty="0" smtClean="0">
                <a:solidFill>
                  <a:srgbClr val="000000"/>
                </a:solidFill>
                <a:latin typeface="Times New Roman" panose="02020603050405020304" pitchFamily="18" charset="0"/>
                <a:cs typeface="Times New Roman" panose="02020603050405020304" pitchFamily="18" charset="0"/>
              </a:rPr>
              <a:t>au Data-Mining </a:t>
            </a:r>
            <a:r>
              <a:rPr lang="fr-FR" sz="2400" dirty="0">
                <a:solidFill>
                  <a:srgbClr val="000000"/>
                </a:solidFill>
                <a:latin typeface="Times New Roman" panose="02020603050405020304" pitchFamily="18" charset="0"/>
                <a:cs typeface="Times New Roman" panose="02020603050405020304" pitchFamily="18" charset="0"/>
              </a:rPr>
              <a:t>sont encore </a:t>
            </a:r>
            <a:r>
              <a:rPr lang="fr-FR" sz="2400" dirty="0" smtClean="0">
                <a:solidFill>
                  <a:srgbClr val="000000"/>
                </a:solidFill>
                <a:latin typeface="Times New Roman" panose="02020603050405020304" pitchFamily="18" charset="0"/>
                <a:cs typeface="Times New Roman" panose="02020603050405020304" pitchFamily="18" charset="0"/>
              </a:rPr>
              <a:t>floues.</a:t>
            </a:r>
          </a:p>
          <a:p>
            <a:pPr marL="285750" indent="-285750">
              <a:lnSpc>
                <a:spcPct val="114000"/>
              </a:lnSpc>
              <a:buClr>
                <a:srgbClr val="C00000"/>
              </a:buClr>
              <a:buFont typeface="Wingdings" panose="05000000000000000000" pitchFamily="2" charset="2"/>
              <a:buChar char="§"/>
            </a:pPr>
            <a:r>
              <a:rPr lang="fr-FR" sz="2400" dirty="0" smtClean="0">
                <a:solidFill>
                  <a:srgbClr val="C00000"/>
                </a:solidFill>
                <a:latin typeface="Times New Roman" panose="02020603050405020304" pitchFamily="18" charset="0"/>
                <a:cs typeface="Times New Roman" panose="02020603050405020304" pitchFamily="18" charset="0"/>
              </a:rPr>
              <a:t>Une définition suivant un critère égocentré :</a:t>
            </a:r>
          </a:p>
          <a:p>
            <a:pPr>
              <a:lnSpc>
                <a:spcPct val="114000"/>
              </a:lnSpc>
            </a:pPr>
            <a:r>
              <a:rPr lang="fr-FR" sz="2400" dirty="0" smtClean="0">
                <a:solidFill>
                  <a:srgbClr val="000000"/>
                </a:solidFill>
                <a:latin typeface="Times New Roman" panose="02020603050405020304" pitchFamily="18" charset="0"/>
                <a:cs typeface="Times New Roman" panose="02020603050405020304" pitchFamily="18" charset="0"/>
              </a:rPr>
              <a:t>Le </a:t>
            </a:r>
            <a:r>
              <a:rPr lang="fr-FR" sz="2400" dirty="0" err="1" smtClean="0">
                <a:solidFill>
                  <a:srgbClr val="000000"/>
                </a:solidFill>
                <a:latin typeface="Times New Roman" panose="02020603050405020304" pitchFamily="18" charset="0"/>
                <a:cs typeface="Times New Roman" panose="02020603050405020304" pitchFamily="18" charset="0"/>
              </a:rPr>
              <a:t>data-mining</a:t>
            </a:r>
            <a:r>
              <a:rPr lang="fr-FR" sz="2400" dirty="0" smtClean="0">
                <a:solidFill>
                  <a:srgbClr val="000000"/>
                </a:solidFill>
                <a:latin typeface="Times New Roman" panose="02020603050405020304" pitchFamily="18" charset="0"/>
                <a:cs typeface="Times New Roman" panose="02020603050405020304" pitchFamily="18" charset="0"/>
              </a:rPr>
              <a:t> est un processus de </a:t>
            </a:r>
            <a:r>
              <a:rPr lang="fr-FR" sz="2400" b="1" dirty="0" smtClean="0">
                <a:solidFill>
                  <a:srgbClr val="000000"/>
                </a:solidFill>
                <a:latin typeface="Times New Roman" panose="02020603050405020304" pitchFamily="18" charset="0"/>
                <a:cs typeface="Times New Roman" panose="02020603050405020304" pitchFamily="18" charset="0"/>
              </a:rPr>
              <a:t>découverte </a:t>
            </a:r>
            <a:r>
              <a:rPr lang="fr-FR" sz="2400" dirty="0" smtClean="0">
                <a:solidFill>
                  <a:srgbClr val="000000"/>
                </a:solidFill>
                <a:latin typeface="Times New Roman" panose="02020603050405020304" pitchFamily="18" charset="0"/>
                <a:cs typeface="Times New Roman" panose="02020603050405020304" pitchFamily="18" charset="0"/>
              </a:rPr>
              <a:t>de règle, relations, corrélations et/ou dépendances à travers une grande quantité de  données, grâce à des méthodes statistiques, mathématiques et de</a:t>
            </a:r>
          </a:p>
          <a:p>
            <a:pPr>
              <a:lnSpc>
                <a:spcPct val="114000"/>
              </a:lnSpc>
            </a:pPr>
            <a:r>
              <a:rPr lang="fr-FR" sz="2400" dirty="0" smtClean="0">
                <a:solidFill>
                  <a:srgbClr val="000000"/>
                </a:solidFill>
                <a:latin typeface="Times New Roman" panose="02020603050405020304" pitchFamily="18" charset="0"/>
                <a:cs typeface="Times New Roman" panose="02020603050405020304" pitchFamily="18" charset="0"/>
              </a:rPr>
              <a:t>reconnaissances </a:t>
            </a:r>
            <a:r>
              <a:rPr lang="fr-FR" sz="2400" dirty="0">
                <a:solidFill>
                  <a:srgbClr val="000000"/>
                </a:solidFill>
                <a:latin typeface="Times New Roman" panose="02020603050405020304" pitchFamily="18" charset="0"/>
                <a:cs typeface="Times New Roman" panose="02020603050405020304" pitchFamily="18" charset="0"/>
              </a:rPr>
              <a:t>de formes.</a:t>
            </a:r>
          </a:p>
          <a:p>
            <a:pPr>
              <a:lnSpc>
                <a:spcPct val="114000"/>
              </a:lnSpc>
            </a:pPr>
            <a:r>
              <a:rPr lang="fr-FR" sz="2400" dirty="0">
                <a:solidFill>
                  <a:srgbClr val="C00000"/>
                </a:solidFill>
                <a:latin typeface="Times New Roman" panose="02020603050405020304" pitchFamily="18" charset="0"/>
                <a:cs typeface="Times New Roman" panose="02020603050405020304" pitchFamily="18" charset="0"/>
              </a:rPr>
              <a:t>Autres définitions </a:t>
            </a:r>
            <a:r>
              <a:rPr lang="fr-FR" sz="2400" dirty="0">
                <a:solidFill>
                  <a:srgbClr val="00C000"/>
                </a:solidFill>
                <a:latin typeface="Times New Roman" panose="02020603050405020304" pitchFamily="18" charset="0"/>
                <a:cs typeface="Times New Roman" panose="02020603050405020304" pitchFamily="18" charset="0"/>
              </a:rPr>
              <a:t>:</a:t>
            </a:r>
          </a:p>
          <a:p>
            <a:pPr>
              <a:lnSpc>
                <a:spcPct val="114000"/>
              </a:lnSpc>
            </a:pPr>
            <a:r>
              <a:rPr lang="fr-FR" sz="2400" dirty="0">
                <a:solidFill>
                  <a:srgbClr val="000000"/>
                </a:solidFill>
                <a:latin typeface="Times New Roman" panose="02020603050405020304" pitchFamily="18" charset="0"/>
                <a:cs typeface="Times New Roman" panose="02020603050405020304" pitchFamily="18" charset="0"/>
              </a:rPr>
              <a:t>Le </a:t>
            </a:r>
            <a:r>
              <a:rPr lang="fr-FR" sz="2400" dirty="0" err="1">
                <a:solidFill>
                  <a:srgbClr val="000000"/>
                </a:solidFill>
                <a:latin typeface="Times New Roman" panose="02020603050405020304" pitchFamily="18" charset="0"/>
                <a:cs typeface="Times New Roman" panose="02020603050405020304" pitchFamily="18" charset="0"/>
              </a:rPr>
              <a:t>data-mining</a:t>
            </a:r>
            <a:r>
              <a:rPr lang="fr-FR" sz="2400" dirty="0">
                <a:solidFill>
                  <a:srgbClr val="000000"/>
                </a:solidFill>
                <a:latin typeface="Times New Roman" panose="02020603050405020304" pitchFamily="18" charset="0"/>
                <a:cs typeface="Times New Roman" panose="02020603050405020304" pitchFamily="18" charset="0"/>
              </a:rPr>
              <a:t> est un processus d’extractions </a:t>
            </a:r>
            <a:r>
              <a:rPr lang="fr-FR" sz="2400" b="1" dirty="0" smtClean="0">
                <a:solidFill>
                  <a:srgbClr val="000000"/>
                </a:solidFill>
                <a:latin typeface="Times New Roman" panose="02020603050405020304" pitchFamily="18" charset="0"/>
                <a:cs typeface="Times New Roman" panose="02020603050405020304" pitchFamily="18" charset="0"/>
              </a:rPr>
              <a:t>automatique </a:t>
            </a:r>
            <a:r>
              <a:rPr lang="fr-FR" sz="2400" dirty="0" smtClean="0">
                <a:solidFill>
                  <a:srgbClr val="000000"/>
                </a:solidFill>
                <a:latin typeface="Times New Roman" panose="02020603050405020304" pitchFamily="18" charset="0"/>
                <a:cs typeface="Times New Roman" panose="02020603050405020304" pitchFamily="18" charset="0"/>
              </a:rPr>
              <a:t>d’informations </a:t>
            </a:r>
            <a:r>
              <a:rPr lang="fr-FR" sz="2400" b="1" dirty="0" err="1" smtClean="0">
                <a:solidFill>
                  <a:srgbClr val="000000"/>
                </a:solidFill>
                <a:latin typeface="Times New Roman" panose="02020603050405020304" pitchFamily="18" charset="0"/>
                <a:cs typeface="Times New Roman" panose="02020603050405020304" pitchFamily="18" charset="0"/>
              </a:rPr>
              <a:t>predictives</a:t>
            </a:r>
            <a:r>
              <a:rPr lang="fr-FR" sz="2400" b="1" dirty="0" smtClean="0">
                <a:solidFill>
                  <a:srgbClr val="000000"/>
                </a:solidFill>
                <a:latin typeface="Times New Roman" panose="02020603050405020304" pitchFamily="18" charset="0"/>
                <a:cs typeface="Times New Roman" panose="02020603050405020304" pitchFamily="18" charset="0"/>
              </a:rPr>
              <a:t> </a:t>
            </a:r>
            <a:r>
              <a:rPr lang="fr-FR" sz="2400" dirty="0">
                <a:solidFill>
                  <a:srgbClr val="000000"/>
                </a:solidFill>
                <a:latin typeface="Times New Roman" panose="02020603050405020304" pitchFamily="18" charset="0"/>
                <a:cs typeface="Times New Roman" panose="02020603050405020304" pitchFamily="18" charset="0"/>
              </a:rPr>
              <a:t>à partir de grandes bases de données.</a:t>
            </a:r>
            <a:endParaRPr lang="fr-F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7016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3038" y="268112"/>
            <a:ext cx="8880144" cy="692497"/>
          </a:xfrm>
          <a:prstGeom prst="rect">
            <a:avLst/>
          </a:prstGeom>
        </p:spPr>
        <p:txBody>
          <a:bodyPr wrap="square">
            <a:spAutoFit/>
          </a:bodyPr>
          <a:lstStyle/>
          <a:p>
            <a:endParaRPr lang="fr-FR" sz="900" b="0" i="0" u="none" strike="noStrike" baseline="0" dirty="0" smtClean="0">
              <a:solidFill>
                <a:srgbClr val="000000"/>
              </a:solidFill>
              <a:latin typeface="Times New Roman" panose="02020603050405020304" pitchFamily="18" charset="0"/>
            </a:endParaRPr>
          </a:p>
          <a:p>
            <a:r>
              <a:rPr lang="fr-FR" sz="3000" b="1" dirty="0">
                <a:solidFill>
                  <a:srgbClr val="C00000"/>
                </a:solidFill>
                <a:latin typeface="Times New Roman" panose="02020603050405020304" pitchFamily="18" charset="0"/>
                <a:cs typeface="Times New Roman" panose="02020603050405020304" pitchFamily="18" charset="0"/>
              </a:rPr>
              <a:t>Qu’est-ce que </a:t>
            </a:r>
            <a:r>
              <a:rPr lang="fr-FR" sz="3000" b="1" dirty="0" smtClean="0">
                <a:solidFill>
                  <a:srgbClr val="C00000"/>
                </a:solidFill>
                <a:latin typeface="Times New Roman" panose="02020603050405020304" pitchFamily="18" charset="0"/>
                <a:cs typeface="Times New Roman" panose="02020603050405020304" pitchFamily="18" charset="0"/>
              </a:rPr>
              <a:t>le Data Mining( </a:t>
            </a:r>
            <a:r>
              <a:rPr lang="fr-FR" sz="3000" b="1" dirty="0">
                <a:solidFill>
                  <a:srgbClr val="C00000"/>
                </a:solidFill>
                <a:latin typeface="Times New Roman" panose="02020603050405020304" pitchFamily="18" charset="0"/>
                <a:cs typeface="Times New Roman" panose="02020603050405020304" pitchFamily="18" charset="0"/>
              </a:rPr>
              <a:t>fouille de </a:t>
            </a:r>
            <a:r>
              <a:rPr lang="fr-FR" sz="3000" b="1" dirty="0" smtClean="0">
                <a:solidFill>
                  <a:srgbClr val="C00000"/>
                </a:solidFill>
                <a:latin typeface="Times New Roman" panose="02020603050405020304" pitchFamily="18" charset="0"/>
                <a:cs typeface="Times New Roman" panose="02020603050405020304" pitchFamily="18" charset="0"/>
              </a:rPr>
              <a:t>données)?</a:t>
            </a:r>
            <a:endParaRPr lang="fr-FR" sz="3000" b="1"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373038" y="1288155"/>
            <a:ext cx="11555106" cy="3585597"/>
          </a:xfrm>
          <a:prstGeom prst="rect">
            <a:avLst/>
          </a:prstGeom>
        </p:spPr>
        <p:txBody>
          <a:bodyPr wrap="square">
            <a:spAutoFit/>
          </a:bodyPr>
          <a:lstStyle/>
          <a:p>
            <a:endParaRPr lang="fr-FR" sz="1100" b="0" i="0" u="none" strike="noStrike" baseline="0" dirty="0" smtClean="0">
              <a:latin typeface="Times New Roman" panose="02020603050405020304" pitchFamily="18" charset="0"/>
            </a:endParaRPr>
          </a:p>
          <a:p>
            <a:pPr marR="12200">
              <a:lnSpc>
                <a:spcPct val="150000"/>
              </a:lnSpc>
            </a:pPr>
            <a:r>
              <a:rPr lang="fr-FR" sz="2400" b="0" i="0" u="none" strike="noStrike" baseline="0" dirty="0" smtClean="0">
                <a:latin typeface="Times New Roman" panose="02020603050405020304" pitchFamily="18" charset="0"/>
              </a:rPr>
              <a:t>La Fouille de données (découverte de connaissance dans de grandes bases de données):</a:t>
            </a:r>
          </a:p>
          <a:p>
            <a:pPr marL="342900" indent="-342900">
              <a:lnSpc>
                <a:spcPct val="150000"/>
              </a:lnSpc>
              <a:buClr>
                <a:srgbClr val="C00000"/>
              </a:buClr>
              <a:buFont typeface="Wingdings" panose="05000000000000000000" pitchFamily="2" charset="2"/>
              <a:buChar char="§"/>
            </a:pPr>
            <a:r>
              <a:rPr lang="fr-FR" sz="2400" b="1" dirty="0">
                <a:solidFill>
                  <a:srgbClr val="000000"/>
                </a:solidFill>
                <a:latin typeface="Times New Roman" panose="02020603050405020304" pitchFamily="18" charset="0"/>
                <a:cs typeface="Times New Roman" panose="02020603050405020304" pitchFamily="18" charset="0"/>
              </a:rPr>
              <a:t>Extraction d’information intéressante </a:t>
            </a:r>
            <a:r>
              <a:rPr lang="fr-FR" sz="2400" dirty="0">
                <a:solidFill>
                  <a:srgbClr val="000000"/>
                </a:solidFill>
                <a:latin typeface="Times New Roman" panose="02020603050405020304" pitchFamily="18" charset="0"/>
                <a:cs typeface="Times New Roman" panose="02020603050405020304" pitchFamily="18" charset="0"/>
              </a:rPr>
              <a:t>(non triviale, implicite, non connue précédemment et potentiellement utile) ou de </a:t>
            </a:r>
            <a:r>
              <a:rPr lang="fr-FR" sz="2400" dirty="0" smtClean="0">
                <a:solidFill>
                  <a:srgbClr val="000000"/>
                </a:solidFill>
                <a:latin typeface="Times New Roman" panose="02020603050405020304" pitchFamily="18" charset="0"/>
                <a:cs typeface="Times New Roman" panose="02020603050405020304" pitchFamily="18" charset="0"/>
              </a:rPr>
              <a:t>patterns</a:t>
            </a:r>
          </a:p>
          <a:p>
            <a:pPr marL="342900" indent="-342900">
              <a:lnSpc>
                <a:spcPct val="150000"/>
              </a:lnSpc>
              <a:buClr>
                <a:srgbClr val="C00000"/>
              </a:buClr>
              <a:buFont typeface="Wingdings" panose="05000000000000000000" pitchFamily="2" charset="2"/>
              <a:buChar char="§"/>
            </a:pPr>
            <a:r>
              <a:rPr lang="fr-FR" sz="2400" b="1" dirty="0" smtClean="0">
                <a:latin typeface="Times New Roman" panose="02020603050405020304" pitchFamily="18" charset="0"/>
              </a:rPr>
              <a:t>Découverte </a:t>
            </a:r>
            <a:r>
              <a:rPr lang="fr-FR" sz="2400" b="1" dirty="0">
                <a:latin typeface="Times New Roman" panose="02020603050405020304" pitchFamily="18" charset="0"/>
              </a:rPr>
              <a:t>de connaissance </a:t>
            </a:r>
            <a:r>
              <a:rPr lang="fr-FR" sz="2400" dirty="0">
                <a:latin typeface="Times New Roman" panose="02020603050405020304" pitchFamily="18" charset="0"/>
              </a:rPr>
              <a:t>(</a:t>
            </a:r>
            <a:r>
              <a:rPr lang="fr-FR" sz="2400" dirty="0" err="1">
                <a:latin typeface="Times New Roman" panose="02020603050405020304" pitchFamily="18" charset="0"/>
              </a:rPr>
              <a:t>mining</a:t>
            </a:r>
            <a:r>
              <a:rPr lang="fr-FR" sz="2400" dirty="0">
                <a:latin typeface="Times New Roman" panose="02020603050405020304" pitchFamily="18" charset="0"/>
              </a:rPr>
              <a:t>) dans des </a:t>
            </a:r>
            <a:r>
              <a:rPr lang="fr-FR" sz="2400" dirty="0" err="1" smtClean="0">
                <a:latin typeface="Times New Roman" panose="02020603050405020304" pitchFamily="18" charset="0"/>
              </a:rPr>
              <a:t>BDs</a:t>
            </a:r>
            <a:r>
              <a:rPr lang="fr-FR" sz="2400" dirty="0" smtClean="0">
                <a:latin typeface="Times New Roman" panose="02020603050405020304" pitchFamily="18" charset="0"/>
              </a:rPr>
              <a:t>, </a:t>
            </a:r>
            <a:r>
              <a:rPr lang="fr-FR" sz="2400" dirty="0">
                <a:latin typeface="Times New Roman" panose="02020603050405020304" pitchFamily="18" charset="0"/>
              </a:rPr>
              <a:t>extraction de connaissance, analyse de </a:t>
            </a:r>
            <a:r>
              <a:rPr lang="fr-FR" sz="2400" dirty="0" smtClean="0">
                <a:latin typeface="Times New Roman" panose="02020603050405020304" pitchFamily="18" charset="0"/>
              </a:rPr>
              <a:t>données/pattern</a:t>
            </a:r>
          </a:p>
          <a:p>
            <a:pPr marL="342900" indent="-342900">
              <a:lnSpc>
                <a:spcPct val="150000"/>
              </a:lnSpc>
              <a:buClr>
                <a:srgbClr val="C00000"/>
              </a:buClr>
              <a:buFont typeface="Wingdings" panose="05000000000000000000" pitchFamily="2" charset="2"/>
              <a:buChar char="§"/>
            </a:pPr>
            <a:r>
              <a:rPr lang="fr-FR" sz="2400" b="1" dirty="0" smtClean="0">
                <a:latin typeface="Times New Roman" panose="02020603050405020304" pitchFamily="18" charset="0"/>
              </a:rPr>
              <a:t>Propose </a:t>
            </a:r>
            <a:r>
              <a:rPr lang="fr-FR" sz="2400" b="1" dirty="0">
                <a:latin typeface="Times New Roman" panose="02020603050405020304" pitchFamily="18" charset="0"/>
              </a:rPr>
              <a:t>des résumés d’information </a:t>
            </a:r>
            <a:r>
              <a:rPr lang="fr-FR" sz="2400" dirty="0">
                <a:latin typeface="Times New Roman" panose="02020603050405020304" pitchFamily="18" charset="0"/>
              </a:rPr>
              <a:t>(rapports multidimensionnels, résumés statistiques)</a:t>
            </a:r>
          </a:p>
        </p:txBody>
      </p:sp>
    </p:spTree>
    <p:extLst>
      <p:ext uri="{BB962C8B-B14F-4D97-AF65-F5344CB8AC3E}">
        <p14:creationId xmlns:p14="http://schemas.microsoft.com/office/powerpoint/2010/main" val="2924492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9391" y="240816"/>
            <a:ext cx="6096000" cy="692497"/>
          </a:xfrm>
          <a:prstGeom prst="rect">
            <a:avLst/>
          </a:prstGeom>
        </p:spPr>
        <p:txBody>
          <a:bodyPr>
            <a:spAutoFit/>
          </a:bodyPr>
          <a:lstStyle/>
          <a:p>
            <a:endParaRPr lang="fr-FR" sz="900" b="0" i="0" u="none" strike="noStrike" baseline="0" dirty="0" smtClean="0">
              <a:solidFill>
                <a:srgbClr val="000000"/>
              </a:solidFill>
              <a:latin typeface="Times New Roman" panose="02020603050405020304" pitchFamily="18" charset="0"/>
            </a:endParaRPr>
          </a:p>
          <a:p>
            <a:r>
              <a:rPr lang="fr-FR" sz="3000" b="1" dirty="0">
                <a:solidFill>
                  <a:srgbClr val="C00000"/>
                </a:solidFill>
                <a:latin typeface="Times New Roman" panose="02020603050405020304" pitchFamily="18" charset="0"/>
              </a:rPr>
              <a:t>Pourquoi la fouille de données?</a:t>
            </a:r>
          </a:p>
        </p:txBody>
      </p:sp>
      <p:sp>
        <p:nvSpPr>
          <p:cNvPr id="3" name="Rectangle 2"/>
          <p:cNvSpPr/>
          <p:nvPr/>
        </p:nvSpPr>
        <p:spPr>
          <a:xfrm>
            <a:off x="295700" y="933313"/>
            <a:ext cx="11591499" cy="4862870"/>
          </a:xfrm>
          <a:prstGeom prst="rect">
            <a:avLst/>
          </a:prstGeom>
        </p:spPr>
        <p:txBody>
          <a:bodyPr wrap="square">
            <a:spAutoFit/>
          </a:bodyPr>
          <a:lstStyle/>
          <a:p>
            <a:endParaRPr lang="fr-FR" sz="1100" b="0" i="0" u="none" strike="noStrike" baseline="0" dirty="0" smtClean="0">
              <a:solidFill>
                <a:srgbClr val="000000"/>
              </a:solidFill>
              <a:latin typeface="Times New Roman" panose="02020603050405020304" pitchFamily="18" charset="0"/>
            </a:endParaRPr>
          </a:p>
          <a:p>
            <a:endParaRPr lang="fr-FR" sz="1100" b="0" i="0" u="none" strike="noStrike" baseline="0" dirty="0" smtClean="0">
              <a:latin typeface="Times New Roman" panose="02020603050405020304" pitchFamily="18" charset="0"/>
            </a:endParaRPr>
          </a:p>
          <a:p>
            <a:pPr marL="285750" indent="-285750">
              <a:lnSpc>
                <a:spcPct val="150000"/>
              </a:lnSpc>
              <a:buClr>
                <a:srgbClr val="C00000"/>
              </a:buClr>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L’explosion des données</a:t>
            </a:r>
          </a:p>
          <a:p>
            <a:pPr marL="355600" marR="13500">
              <a:lnSpc>
                <a:spcPct val="150000"/>
              </a:lnSpc>
            </a:pPr>
            <a:r>
              <a:rPr lang="fr-FR" sz="2400" dirty="0" smtClean="0">
                <a:latin typeface="Times New Roman" panose="02020603050405020304" pitchFamily="18" charset="0"/>
              </a:rPr>
              <a:t>Les </a:t>
            </a:r>
            <a:r>
              <a:rPr lang="fr-FR" sz="2400" dirty="0">
                <a:latin typeface="Times New Roman" panose="02020603050405020304" pitchFamily="18" charset="0"/>
              </a:rPr>
              <a:t>outils de collecte automatique des données et les bases de données conduisent </a:t>
            </a:r>
            <a:r>
              <a:rPr lang="fr-FR" sz="2400" dirty="0" err="1">
                <a:latin typeface="Times New Roman" panose="02020603050405020304" pitchFamily="18" charset="0"/>
              </a:rPr>
              <a:t>àd’énormes</a:t>
            </a:r>
            <a:r>
              <a:rPr lang="fr-FR" sz="2400" dirty="0">
                <a:latin typeface="Times New Roman" panose="02020603050405020304" pitchFamily="18" charset="0"/>
              </a:rPr>
              <a:t> masses de données stockées dans des entrepôts </a:t>
            </a:r>
          </a:p>
          <a:p>
            <a:pPr marL="285750" indent="-285750">
              <a:lnSpc>
                <a:spcPct val="150000"/>
              </a:lnSpc>
              <a:buClr>
                <a:srgbClr val="C00000"/>
              </a:buClr>
              <a:buFont typeface="Wingdings" panose="05000000000000000000" pitchFamily="2" charset="2"/>
              <a:buChar char="§"/>
            </a:pPr>
            <a:r>
              <a:rPr lang="fr-FR" sz="2400" dirty="0" smtClean="0">
                <a:latin typeface="Times New Roman" panose="02020603050405020304" pitchFamily="18" charset="0"/>
                <a:cs typeface="Times New Roman" panose="02020603050405020304" pitchFamily="18" charset="0"/>
              </a:rPr>
              <a:t>Submergés </a:t>
            </a:r>
            <a:r>
              <a:rPr lang="fr-FR" sz="2400" dirty="0">
                <a:latin typeface="Times New Roman" panose="02020603050405020304" pitchFamily="18" charset="0"/>
                <a:cs typeface="Times New Roman" panose="02020603050405020304" pitchFamily="18" charset="0"/>
              </a:rPr>
              <a:t>par les données, manque de connaissance!</a:t>
            </a:r>
          </a:p>
          <a:p>
            <a:pPr marL="285750" indent="-285750">
              <a:lnSpc>
                <a:spcPct val="150000"/>
              </a:lnSpc>
              <a:buClr>
                <a:srgbClr val="C00000"/>
              </a:buClr>
              <a:buFont typeface="Wingdings" panose="05000000000000000000" pitchFamily="2" charset="2"/>
              <a:buChar char="§"/>
            </a:pPr>
            <a:r>
              <a:rPr lang="fr-FR" sz="2400" dirty="0" smtClean="0">
                <a:latin typeface="Times New Roman" panose="02020603050405020304" pitchFamily="18" charset="0"/>
                <a:cs typeface="Times New Roman" panose="02020603050405020304" pitchFamily="18" charset="0"/>
              </a:rPr>
              <a:t>Solution</a:t>
            </a:r>
            <a:r>
              <a:rPr lang="fr-FR" sz="2400" dirty="0">
                <a:latin typeface="Times New Roman" panose="02020603050405020304" pitchFamily="18" charset="0"/>
                <a:cs typeface="Times New Roman" panose="02020603050405020304" pitchFamily="18" charset="0"/>
              </a:rPr>
              <a:t>: Entrepôts de données et fouille de </a:t>
            </a:r>
            <a:r>
              <a:rPr lang="fr-FR" sz="2400" dirty="0" smtClean="0">
                <a:latin typeface="Times New Roman" panose="02020603050405020304" pitchFamily="18" charset="0"/>
                <a:cs typeface="Times New Roman" panose="02020603050405020304" pitchFamily="18" charset="0"/>
              </a:rPr>
              <a:t>données</a:t>
            </a:r>
          </a:p>
          <a:p>
            <a:pPr marL="450850" indent="-12700">
              <a:lnSpc>
                <a:spcPct val="150000"/>
              </a:lnSpc>
              <a:buFont typeface="Wingdings" panose="05000000000000000000" pitchFamily="2" charset="2"/>
              <a:buChar char="ü"/>
            </a:pPr>
            <a:r>
              <a:rPr lang="fr-FR" sz="2400" dirty="0" smtClean="0">
                <a:latin typeface="Times New Roman" panose="02020603050405020304" pitchFamily="18" charset="0"/>
              </a:rPr>
              <a:t>Entrepôts de données et analyse on-line</a:t>
            </a:r>
          </a:p>
          <a:p>
            <a:pPr marL="450850" indent="-12700">
              <a:lnSpc>
                <a:spcPct val="150000"/>
              </a:lnSpc>
              <a:buFont typeface="Wingdings" panose="05000000000000000000" pitchFamily="2" charset="2"/>
              <a:buChar char="ü"/>
            </a:pPr>
            <a:r>
              <a:rPr lang="fr-FR" sz="2400" dirty="0" smtClean="0">
                <a:latin typeface="Times New Roman" panose="02020603050405020304" pitchFamily="18" charset="0"/>
              </a:rPr>
              <a:t>Extraction </a:t>
            </a:r>
            <a:r>
              <a:rPr lang="fr-FR" sz="2400" dirty="0">
                <a:latin typeface="Times New Roman" panose="02020603050405020304" pitchFamily="18" charset="0"/>
              </a:rPr>
              <a:t>de la connaissance intéressante (règles, régularités, patterns, contraintes) </a:t>
            </a:r>
            <a:r>
              <a:rPr lang="fr-FR" sz="2400" dirty="0" err="1">
                <a:latin typeface="Times New Roman" panose="02020603050405020304" pitchFamily="18" charset="0"/>
              </a:rPr>
              <a:t>àpartir</a:t>
            </a:r>
            <a:r>
              <a:rPr lang="fr-FR" sz="2400" dirty="0">
                <a:latin typeface="Times New Roman" panose="02020603050405020304" pitchFamily="18" charset="0"/>
              </a:rPr>
              <a:t> de grandes bases de données </a:t>
            </a:r>
          </a:p>
        </p:txBody>
      </p:sp>
    </p:spTree>
    <p:extLst>
      <p:ext uri="{BB962C8B-B14F-4D97-AF65-F5344CB8AC3E}">
        <p14:creationId xmlns:p14="http://schemas.microsoft.com/office/powerpoint/2010/main" val="2872486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2686"/>
            <a:ext cx="8020334" cy="553998"/>
          </a:xfrm>
          <a:prstGeom prst="rect">
            <a:avLst/>
          </a:prstGeom>
        </p:spPr>
        <p:txBody>
          <a:bodyPr wrap="square">
            <a:spAutoFit/>
          </a:bodyPr>
          <a:lstStyle/>
          <a:p>
            <a:r>
              <a:rPr lang="fr-FR" sz="3000" b="1" i="0" u="none" strike="noStrike" baseline="0" dirty="0" smtClean="0">
                <a:solidFill>
                  <a:srgbClr val="C00000"/>
                </a:solidFill>
                <a:latin typeface="Times New Roman" panose="02020603050405020304" pitchFamily="18" charset="0"/>
              </a:rPr>
              <a:t>Data-Mining : les raisons du développement</a:t>
            </a:r>
            <a:endParaRPr lang="fr-FR" dirty="0">
              <a:solidFill>
                <a:srgbClr val="C00000"/>
              </a:solidFill>
            </a:endParaRPr>
          </a:p>
        </p:txBody>
      </p:sp>
      <p:sp>
        <p:nvSpPr>
          <p:cNvPr id="3" name="Rectangle 2"/>
          <p:cNvSpPr/>
          <p:nvPr/>
        </p:nvSpPr>
        <p:spPr>
          <a:xfrm>
            <a:off x="454924" y="1340724"/>
            <a:ext cx="11282149" cy="3416320"/>
          </a:xfrm>
          <a:prstGeom prst="rect">
            <a:avLst/>
          </a:prstGeom>
        </p:spPr>
        <p:txBody>
          <a:bodyPr wrap="square">
            <a:spAutoFit/>
          </a:bodyPr>
          <a:lstStyle/>
          <a:p>
            <a:pPr>
              <a:lnSpc>
                <a:spcPct val="150000"/>
              </a:lnSpc>
            </a:pPr>
            <a:r>
              <a:rPr lang="fr-FR" sz="2400" dirty="0" smtClean="0">
                <a:solidFill>
                  <a:srgbClr val="C00000"/>
                </a:solidFill>
                <a:latin typeface="Times New Roman" panose="02020603050405020304" pitchFamily="18" charset="0"/>
              </a:rPr>
              <a:t>Pourquoi le data </a:t>
            </a:r>
            <a:r>
              <a:rPr lang="fr-FR" sz="2400" dirty="0" err="1" smtClean="0">
                <a:solidFill>
                  <a:srgbClr val="C00000"/>
                </a:solidFill>
                <a:latin typeface="Times New Roman" panose="02020603050405020304" pitchFamily="18" charset="0"/>
              </a:rPr>
              <a:t>mining</a:t>
            </a:r>
            <a:r>
              <a:rPr lang="fr-FR" sz="2400" dirty="0" smtClean="0">
                <a:solidFill>
                  <a:srgbClr val="C00000"/>
                </a:solidFill>
                <a:latin typeface="Times New Roman" panose="02020603050405020304" pitchFamily="18" charset="0"/>
              </a:rPr>
              <a:t> </a:t>
            </a:r>
            <a:r>
              <a:rPr lang="fr-FR" sz="2400" dirty="0">
                <a:solidFill>
                  <a:srgbClr val="C00000"/>
                </a:solidFill>
                <a:latin typeface="Times New Roman" panose="02020603050405020304" pitchFamily="18" charset="0"/>
              </a:rPr>
              <a:t>s’est développé ?</a:t>
            </a:r>
          </a:p>
          <a:p>
            <a:pPr marL="285750" indent="-285750">
              <a:lnSpc>
                <a:spcPct val="150000"/>
              </a:lnSpc>
              <a:buClr>
                <a:srgbClr val="C00000"/>
              </a:buClr>
              <a:buFont typeface="Wingdings" panose="05000000000000000000" pitchFamily="2" charset="2"/>
              <a:buChar char="§"/>
            </a:pPr>
            <a:r>
              <a:rPr lang="fr-FR" sz="2400" dirty="0" smtClean="0">
                <a:solidFill>
                  <a:srgbClr val="000000"/>
                </a:solidFill>
                <a:latin typeface="Times New Roman" panose="02020603050405020304" pitchFamily="18" charset="0"/>
              </a:rPr>
              <a:t>Intérêt </a:t>
            </a:r>
            <a:r>
              <a:rPr lang="fr-FR" sz="2400" dirty="0">
                <a:solidFill>
                  <a:srgbClr val="000000"/>
                </a:solidFill>
                <a:latin typeface="Times New Roman" panose="02020603050405020304" pitchFamily="18" charset="0"/>
              </a:rPr>
              <a:t>économique : du produit aux </a:t>
            </a:r>
            <a:r>
              <a:rPr lang="fr-FR" sz="2400" dirty="0" smtClean="0">
                <a:solidFill>
                  <a:srgbClr val="000000"/>
                </a:solidFill>
                <a:latin typeface="Times New Roman" panose="02020603050405020304" pitchFamily="18" charset="0"/>
              </a:rPr>
              <a:t>clients.</a:t>
            </a:r>
          </a:p>
          <a:p>
            <a:pPr marL="285750" indent="-285750">
              <a:lnSpc>
                <a:spcPct val="150000"/>
              </a:lnSpc>
              <a:buClr>
                <a:srgbClr val="C00000"/>
              </a:buClr>
              <a:buFont typeface="Wingdings" panose="05000000000000000000" pitchFamily="2" charset="2"/>
              <a:buChar char="§"/>
            </a:pPr>
            <a:r>
              <a:rPr lang="fr-FR" sz="2400" dirty="0" smtClean="0">
                <a:solidFill>
                  <a:srgbClr val="000000"/>
                </a:solidFill>
                <a:latin typeface="Times New Roman" panose="02020603050405020304" pitchFamily="18" charset="0"/>
              </a:rPr>
              <a:t>Technologie </a:t>
            </a:r>
            <a:r>
              <a:rPr lang="fr-FR" sz="2400" dirty="0">
                <a:solidFill>
                  <a:srgbClr val="000000"/>
                </a:solidFill>
                <a:latin typeface="Times New Roman" panose="02020603050405020304" pitchFamily="18" charset="0"/>
              </a:rPr>
              <a:t>de l’information : faible coût de stockage de données</a:t>
            </a:r>
            <a:r>
              <a:rPr lang="fr-FR" sz="2400" dirty="0" smtClean="0">
                <a:solidFill>
                  <a:srgbClr val="000000"/>
                </a:solidFill>
                <a:latin typeface="Times New Roman" panose="02020603050405020304" pitchFamily="18" charset="0"/>
              </a:rPr>
              <a:t>, saisie </a:t>
            </a:r>
            <a:r>
              <a:rPr lang="fr-FR" sz="2400" dirty="0">
                <a:solidFill>
                  <a:srgbClr val="000000"/>
                </a:solidFill>
                <a:latin typeface="Times New Roman" panose="02020603050405020304" pitchFamily="18" charset="0"/>
              </a:rPr>
              <a:t>automatique de transaction (code bar, click, données </a:t>
            </a:r>
            <a:r>
              <a:rPr lang="fr-FR" sz="2400" dirty="0" smtClean="0">
                <a:solidFill>
                  <a:srgbClr val="000000"/>
                </a:solidFill>
                <a:latin typeface="Times New Roman" panose="02020603050405020304" pitchFamily="18" charset="0"/>
              </a:rPr>
              <a:t>de localisation </a:t>
            </a:r>
            <a:r>
              <a:rPr lang="fr-FR" sz="2400" dirty="0">
                <a:solidFill>
                  <a:srgbClr val="000000"/>
                </a:solidFill>
                <a:latin typeface="Times New Roman" panose="02020603050405020304" pitchFamily="18" charset="0"/>
              </a:rPr>
              <a:t>GPS, </a:t>
            </a:r>
            <a:r>
              <a:rPr lang="fr-FR" sz="2400" dirty="0" smtClean="0">
                <a:solidFill>
                  <a:srgbClr val="000000"/>
                </a:solidFill>
                <a:latin typeface="Times New Roman" panose="02020603050405020304" pitchFamily="18" charset="0"/>
              </a:rPr>
              <a:t>internet)</a:t>
            </a:r>
          </a:p>
          <a:p>
            <a:pPr marL="285750" indent="-285750">
              <a:lnSpc>
                <a:spcPct val="150000"/>
              </a:lnSpc>
              <a:buClr>
                <a:srgbClr val="C00000"/>
              </a:buClr>
              <a:buFont typeface="Wingdings" panose="05000000000000000000" pitchFamily="2" charset="2"/>
              <a:buChar char="§"/>
            </a:pPr>
            <a:r>
              <a:rPr lang="fr-FR" sz="2400" dirty="0" smtClean="0">
                <a:solidFill>
                  <a:srgbClr val="000000"/>
                </a:solidFill>
                <a:latin typeface="Times New Roman" panose="02020603050405020304" pitchFamily="18" charset="0"/>
              </a:rPr>
              <a:t>Augmentation </a:t>
            </a:r>
            <a:r>
              <a:rPr lang="fr-FR" sz="2400" dirty="0">
                <a:solidFill>
                  <a:srgbClr val="000000"/>
                </a:solidFill>
                <a:latin typeface="Times New Roman" panose="02020603050405020304" pitchFamily="18" charset="0"/>
              </a:rPr>
              <a:t>de la puissance de calculs des ordinateurs (loi de Moore)</a:t>
            </a:r>
          </a:p>
          <a:p>
            <a:pPr>
              <a:lnSpc>
                <a:spcPct val="150000"/>
              </a:lnSpc>
            </a:pPr>
            <a:r>
              <a:rPr lang="fr-FR" sz="2400" b="0" i="0" u="none" strike="noStrike" baseline="0" dirty="0" smtClean="0">
                <a:solidFill>
                  <a:srgbClr val="000000"/>
                </a:solidFill>
                <a:latin typeface="CMSY10"/>
              </a:rPr>
              <a:t>⇒ </a:t>
            </a:r>
            <a:r>
              <a:rPr lang="fr-FR" sz="2400" dirty="0">
                <a:solidFill>
                  <a:srgbClr val="000000"/>
                </a:solidFill>
                <a:latin typeface="Times New Roman" panose="02020603050405020304" pitchFamily="18" charset="0"/>
              </a:rPr>
              <a:t>Extraire de la connaissance à partir de grandes bases de </a:t>
            </a:r>
            <a:r>
              <a:rPr lang="fr-FR" sz="2400" dirty="0" smtClean="0">
                <a:solidFill>
                  <a:srgbClr val="000000"/>
                </a:solidFill>
                <a:latin typeface="Times New Roman" panose="02020603050405020304" pitchFamily="18" charset="0"/>
              </a:rPr>
              <a:t>données devient </a:t>
            </a:r>
            <a:r>
              <a:rPr lang="fr-FR" sz="2400" dirty="0">
                <a:solidFill>
                  <a:srgbClr val="000000"/>
                </a:solidFill>
                <a:latin typeface="Times New Roman" panose="02020603050405020304" pitchFamily="18" charset="0"/>
              </a:rPr>
              <a:t>possible</a:t>
            </a:r>
            <a:endParaRPr lang="fr-FR" sz="2400" dirty="0"/>
          </a:p>
        </p:txBody>
      </p:sp>
    </p:spTree>
    <p:extLst>
      <p:ext uri="{BB962C8B-B14F-4D97-AF65-F5344CB8AC3E}">
        <p14:creationId xmlns:p14="http://schemas.microsoft.com/office/powerpoint/2010/main" val="2795571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5075" y="351009"/>
            <a:ext cx="4192173" cy="553998"/>
          </a:xfrm>
          <a:prstGeom prst="rect">
            <a:avLst/>
          </a:prstGeom>
        </p:spPr>
        <p:txBody>
          <a:bodyPr wrap="none">
            <a:spAutoFit/>
          </a:bodyPr>
          <a:lstStyle/>
          <a:p>
            <a:r>
              <a:rPr lang="fr-FR" sz="3000" b="1" dirty="0">
                <a:solidFill>
                  <a:srgbClr val="C00000"/>
                </a:solidFill>
                <a:latin typeface="Times New Roman" panose="02020603050405020304" pitchFamily="18" charset="0"/>
              </a:rPr>
              <a:t>Exemples d’applications</a:t>
            </a:r>
            <a:endParaRPr lang="fr-FR" sz="3000" dirty="0">
              <a:solidFill>
                <a:srgbClr val="C00000"/>
              </a:solidFill>
            </a:endParaRPr>
          </a:p>
        </p:txBody>
      </p:sp>
      <p:sp>
        <p:nvSpPr>
          <p:cNvPr id="3" name="Rectangle 2"/>
          <p:cNvSpPr/>
          <p:nvPr/>
        </p:nvSpPr>
        <p:spPr>
          <a:xfrm>
            <a:off x="284006" y="1003574"/>
            <a:ext cx="10989044" cy="3416320"/>
          </a:xfrm>
          <a:prstGeom prst="rect">
            <a:avLst/>
          </a:prstGeom>
        </p:spPr>
        <p:txBody>
          <a:bodyPr wrap="square">
            <a:spAutoFit/>
          </a:bodyPr>
          <a:lstStyle/>
          <a:p>
            <a:pPr marL="285750" indent="-285750">
              <a:lnSpc>
                <a:spcPct val="150000"/>
              </a:lnSpc>
              <a:buClr>
                <a:srgbClr val="C00000"/>
              </a:buClr>
              <a:buFont typeface="Wingdings" panose="05000000000000000000" pitchFamily="2" charset="2"/>
              <a:buChar char="§"/>
            </a:pPr>
            <a:r>
              <a:rPr lang="fr-FR" sz="2400" dirty="0">
                <a:solidFill>
                  <a:srgbClr val="000000"/>
                </a:solidFill>
                <a:latin typeface="Times New Roman" panose="02020603050405020304" pitchFamily="18" charset="0"/>
              </a:rPr>
              <a:t>Entreprise et Relation Clients : système de création de profils clients, ciblage de clients potentiels et nouveaux </a:t>
            </a:r>
            <a:r>
              <a:rPr lang="fr-FR" sz="2400" dirty="0" smtClean="0">
                <a:solidFill>
                  <a:srgbClr val="000000"/>
                </a:solidFill>
                <a:latin typeface="Times New Roman" panose="02020603050405020304" pitchFamily="18" charset="0"/>
              </a:rPr>
              <a:t>marchés</a:t>
            </a:r>
          </a:p>
          <a:p>
            <a:pPr marL="285750" indent="-285750">
              <a:lnSpc>
                <a:spcPct val="150000"/>
              </a:lnSpc>
              <a:buClr>
                <a:srgbClr val="C00000"/>
              </a:buClr>
              <a:buFont typeface="Wingdings" panose="05000000000000000000" pitchFamily="2" charset="2"/>
              <a:buChar char="§"/>
            </a:pPr>
            <a:r>
              <a:rPr lang="fr-FR" sz="2400" dirty="0" smtClean="0">
                <a:solidFill>
                  <a:srgbClr val="000000"/>
                </a:solidFill>
                <a:latin typeface="Times New Roman" panose="02020603050405020304" pitchFamily="18" charset="0"/>
              </a:rPr>
              <a:t>Finances </a:t>
            </a:r>
            <a:r>
              <a:rPr lang="fr-FR" sz="2400" dirty="0">
                <a:solidFill>
                  <a:srgbClr val="000000"/>
                </a:solidFill>
                <a:latin typeface="Times New Roman" panose="02020603050405020304" pitchFamily="18" charset="0"/>
              </a:rPr>
              <a:t>: minimisation de risque </a:t>
            </a:r>
            <a:r>
              <a:rPr lang="fr-FR" sz="2400" dirty="0" smtClean="0">
                <a:solidFill>
                  <a:srgbClr val="000000"/>
                </a:solidFill>
                <a:latin typeface="Times New Roman" panose="02020603050405020304" pitchFamily="18" charset="0"/>
              </a:rPr>
              <a:t>financiers</a:t>
            </a:r>
          </a:p>
          <a:p>
            <a:pPr marL="285750" indent="-285750">
              <a:lnSpc>
                <a:spcPct val="150000"/>
              </a:lnSpc>
              <a:buClr>
                <a:srgbClr val="C00000"/>
              </a:buClr>
              <a:buFont typeface="Wingdings" panose="05000000000000000000" pitchFamily="2" charset="2"/>
              <a:buChar char="§"/>
            </a:pPr>
            <a:r>
              <a:rPr lang="fr-FR" sz="2400" dirty="0" smtClean="0">
                <a:solidFill>
                  <a:srgbClr val="000000"/>
                </a:solidFill>
                <a:latin typeface="Times New Roman" panose="02020603050405020304" pitchFamily="18" charset="0"/>
              </a:rPr>
              <a:t>Bio-informatique </a:t>
            </a:r>
            <a:r>
              <a:rPr lang="fr-FR" sz="2400" dirty="0">
                <a:solidFill>
                  <a:srgbClr val="000000"/>
                </a:solidFill>
                <a:latin typeface="Times New Roman" panose="02020603050405020304" pitchFamily="18" charset="0"/>
              </a:rPr>
              <a:t>: Analyse du génome, mise au point de médicaments</a:t>
            </a:r>
            <a:r>
              <a:rPr lang="fr-FR" sz="2400" dirty="0" smtClean="0">
                <a:solidFill>
                  <a:srgbClr val="000000"/>
                </a:solidFill>
                <a:latin typeface="Times New Roman" panose="02020603050405020304" pitchFamily="18" charset="0"/>
              </a:rPr>
              <a:t>, ...</a:t>
            </a:r>
          </a:p>
          <a:p>
            <a:pPr marL="285750" indent="-285750">
              <a:lnSpc>
                <a:spcPct val="150000"/>
              </a:lnSpc>
              <a:buClr>
                <a:srgbClr val="C00000"/>
              </a:buClr>
              <a:buFont typeface="Wingdings" panose="05000000000000000000" pitchFamily="2" charset="2"/>
              <a:buChar char="§"/>
            </a:pPr>
            <a:r>
              <a:rPr lang="fr-FR" sz="2400" dirty="0" smtClean="0">
                <a:solidFill>
                  <a:srgbClr val="000000"/>
                </a:solidFill>
                <a:latin typeface="Times New Roman" panose="02020603050405020304" pitchFamily="18" charset="0"/>
              </a:rPr>
              <a:t>Internet </a:t>
            </a:r>
            <a:r>
              <a:rPr lang="fr-FR" sz="2400" dirty="0">
                <a:solidFill>
                  <a:srgbClr val="000000"/>
                </a:solidFill>
                <a:latin typeface="Times New Roman" panose="02020603050405020304" pitchFamily="18" charset="0"/>
              </a:rPr>
              <a:t>: spam, e-commerce, détection d’intrusion etc</a:t>
            </a:r>
            <a:r>
              <a:rPr lang="fr-FR" sz="2400" dirty="0" smtClean="0">
                <a:solidFill>
                  <a:srgbClr val="000000"/>
                </a:solidFill>
                <a:latin typeface="Times New Roman" panose="02020603050405020304" pitchFamily="18" charset="0"/>
              </a:rPr>
              <a:t>...</a:t>
            </a:r>
          </a:p>
          <a:p>
            <a:pPr marL="285750" indent="-285750">
              <a:lnSpc>
                <a:spcPct val="150000"/>
              </a:lnSpc>
              <a:buClr>
                <a:srgbClr val="C00000"/>
              </a:buClr>
              <a:buFont typeface="Wingdings" panose="05000000000000000000" pitchFamily="2" charset="2"/>
              <a:buChar char="§"/>
            </a:pPr>
            <a:r>
              <a:rPr lang="fr-FR" sz="2400" dirty="0" smtClean="0">
                <a:solidFill>
                  <a:srgbClr val="000000"/>
                </a:solidFill>
                <a:latin typeface="Times New Roman" panose="02020603050405020304" pitchFamily="18" charset="0"/>
              </a:rPr>
              <a:t>Sécurité</a:t>
            </a:r>
            <a:endParaRPr lang="fr-FR" sz="2400" dirty="0"/>
          </a:p>
        </p:txBody>
      </p:sp>
    </p:spTree>
    <p:extLst>
      <p:ext uri="{BB962C8B-B14F-4D97-AF65-F5344CB8AC3E}">
        <p14:creationId xmlns:p14="http://schemas.microsoft.com/office/powerpoint/2010/main" val="689355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73038" y="179709"/>
            <a:ext cx="10463284" cy="553998"/>
          </a:xfrm>
          <a:prstGeom prst="rect">
            <a:avLst/>
          </a:prstGeom>
        </p:spPr>
        <p:txBody>
          <a:bodyPr wrap="square">
            <a:spAutoFit/>
          </a:bodyPr>
          <a:lstStyle/>
          <a:p>
            <a:r>
              <a:rPr lang="fr-FR" sz="3000" b="1" dirty="0" smtClean="0">
                <a:solidFill>
                  <a:srgbClr val="C00000"/>
                </a:solidFill>
                <a:latin typeface="Times New Roman" panose="02020603050405020304" pitchFamily="18" charset="0"/>
                <a:cs typeface="Times New Roman" panose="02020603050405020304" pitchFamily="18" charset="0"/>
              </a:rPr>
              <a:t>Data </a:t>
            </a:r>
            <a:r>
              <a:rPr lang="fr-FR" sz="3000" b="1" dirty="0">
                <a:solidFill>
                  <a:srgbClr val="C00000"/>
                </a:solidFill>
                <a:latin typeface="Times New Roman" panose="02020603050405020304" pitchFamily="18" charset="0"/>
                <a:cs typeface="Times New Roman" panose="02020603050405020304" pitchFamily="18" charset="0"/>
              </a:rPr>
              <a:t>Mining: Un processus de découverte de connaissance</a:t>
            </a:r>
          </a:p>
        </p:txBody>
      </p:sp>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3818" y="1110992"/>
            <a:ext cx="8153044" cy="5385342"/>
          </a:xfrm>
          <a:prstGeom prst="rect">
            <a:avLst/>
          </a:prstGeom>
        </p:spPr>
      </p:pic>
    </p:spTree>
    <p:extLst>
      <p:ext uri="{BB962C8B-B14F-4D97-AF65-F5344CB8AC3E}">
        <p14:creationId xmlns:p14="http://schemas.microsoft.com/office/powerpoint/2010/main" val="150355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912" y="121917"/>
            <a:ext cx="10326806" cy="553998"/>
          </a:xfrm>
          <a:prstGeom prst="rect">
            <a:avLst/>
          </a:prstGeom>
        </p:spPr>
        <p:txBody>
          <a:bodyPr wrap="square">
            <a:spAutoFit/>
          </a:bodyPr>
          <a:lstStyle/>
          <a:p>
            <a:r>
              <a:rPr lang="fr-FR" sz="3000" b="1" dirty="0" smtClean="0">
                <a:solidFill>
                  <a:srgbClr val="C00000"/>
                </a:solidFill>
                <a:latin typeface="Times New Roman" panose="02020603050405020304" pitchFamily="18" charset="0"/>
                <a:cs typeface="Times New Roman" panose="02020603050405020304" pitchFamily="18" charset="0"/>
              </a:rPr>
              <a:t>Etapes </a:t>
            </a:r>
            <a:r>
              <a:rPr lang="fr-FR" sz="3000" b="1" dirty="0">
                <a:solidFill>
                  <a:srgbClr val="C00000"/>
                </a:solidFill>
                <a:latin typeface="Times New Roman" panose="02020603050405020304" pitchFamily="18" charset="0"/>
                <a:cs typeface="Times New Roman" panose="02020603050405020304" pitchFamily="18" charset="0"/>
              </a:rPr>
              <a:t>d’un processus de découverte de connaissance</a:t>
            </a:r>
          </a:p>
        </p:txBody>
      </p:sp>
      <p:sp>
        <p:nvSpPr>
          <p:cNvPr id="3" name="Rectangle 2"/>
          <p:cNvSpPr/>
          <p:nvPr/>
        </p:nvSpPr>
        <p:spPr>
          <a:xfrm>
            <a:off x="641443" y="675915"/>
            <a:ext cx="10126639" cy="5770041"/>
          </a:xfrm>
          <a:prstGeom prst="rect">
            <a:avLst/>
          </a:prstGeom>
        </p:spPr>
        <p:txBody>
          <a:bodyPr wrap="square">
            <a:spAutoFit/>
          </a:bodyPr>
          <a:lstStyle/>
          <a:p>
            <a:pPr marL="273050" indent="-273050">
              <a:lnSpc>
                <a:spcPct val="130000"/>
              </a:lnSpc>
              <a:buClr>
                <a:srgbClr val="C00000"/>
              </a:buClr>
              <a:buFont typeface="+mj-lt"/>
              <a:buAutoNum type="arabicPeriod"/>
            </a:pPr>
            <a:r>
              <a:rPr lang="fr-FR" sz="2200" b="1" dirty="0" smtClean="0">
                <a:latin typeface="Times New Roman" panose="02020603050405020304" pitchFamily="18" charset="0"/>
              </a:rPr>
              <a:t>Connaître </a:t>
            </a:r>
            <a:r>
              <a:rPr lang="fr-FR" sz="2200" b="1" dirty="0">
                <a:latin typeface="Times New Roman" panose="02020603050405020304" pitchFamily="18" charset="0"/>
              </a:rPr>
              <a:t>le domaine </a:t>
            </a:r>
            <a:r>
              <a:rPr lang="fr-FR" sz="2200" b="1" dirty="0" smtClean="0">
                <a:latin typeface="Times New Roman" panose="02020603050405020304" pitchFamily="18" charset="0"/>
              </a:rPr>
              <a:t>d’application</a:t>
            </a:r>
            <a:endParaRPr lang="fr-FR" sz="2200" b="1" dirty="0">
              <a:latin typeface="Times New Roman" panose="02020603050405020304" pitchFamily="18" charset="0"/>
            </a:endParaRPr>
          </a:p>
          <a:p>
            <a:pPr marL="355600" marR="33470">
              <a:lnSpc>
                <a:spcPct val="130000"/>
              </a:lnSpc>
            </a:pPr>
            <a:r>
              <a:rPr lang="fr-FR" sz="2200" b="0" i="0" u="none" strike="noStrike" baseline="0" dirty="0" smtClean="0">
                <a:latin typeface="Times New Roman" panose="02020603050405020304" pitchFamily="18" charset="0"/>
              </a:rPr>
              <a:t>Connaissance pertinente déjà établie et buts de l’application</a:t>
            </a:r>
          </a:p>
          <a:p>
            <a:pPr>
              <a:lnSpc>
                <a:spcPct val="130000"/>
              </a:lnSpc>
              <a:buClr>
                <a:srgbClr val="C00000"/>
              </a:buClr>
            </a:pPr>
            <a:r>
              <a:rPr lang="fr-FR" sz="2200" dirty="0" smtClean="0">
                <a:solidFill>
                  <a:srgbClr val="C00000"/>
                </a:solidFill>
                <a:latin typeface="Times New Roman" panose="02020603050405020304" pitchFamily="18" charset="0"/>
              </a:rPr>
              <a:t>2. </a:t>
            </a:r>
            <a:r>
              <a:rPr lang="fr-FR" sz="2200" b="1" dirty="0" smtClean="0">
                <a:latin typeface="Times New Roman" panose="02020603050405020304" pitchFamily="18" charset="0"/>
              </a:rPr>
              <a:t>Sélection </a:t>
            </a:r>
            <a:r>
              <a:rPr lang="fr-FR" sz="2200" b="1" dirty="0">
                <a:latin typeface="Times New Roman" panose="02020603050405020304" pitchFamily="18" charset="0"/>
              </a:rPr>
              <a:t>des données cibles</a:t>
            </a:r>
          </a:p>
          <a:p>
            <a:pPr>
              <a:lnSpc>
                <a:spcPct val="130000"/>
              </a:lnSpc>
            </a:pPr>
            <a:r>
              <a:rPr lang="fr-FR" sz="2200" dirty="0" smtClean="0">
                <a:solidFill>
                  <a:srgbClr val="C00000"/>
                </a:solidFill>
                <a:latin typeface="Times New Roman" panose="02020603050405020304" pitchFamily="18" charset="0"/>
              </a:rPr>
              <a:t>3. </a:t>
            </a:r>
            <a:r>
              <a:rPr lang="fr-FR" sz="2200" b="1" i="1" dirty="0" smtClean="0">
                <a:latin typeface="Times New Roman" panose="02020603050405020304" pitchFamily="18" charset="0"/>
              </a:rPr>
              <a:t>Data </a:t>
            </a:r>
            <a:r>
              <a:rPr lang="fr-FR" sz="2200" b="1" i="1" dirty="0" err="1">
                <a:latin typeface="Times New Roman" panose="02020603050405020304" pitchFamily="18" charset="0"/>
              </a:rPr>
              <a:t>cleaning</a:t>
            </a:r>
            <a:r>
              <a:rPr lang="fr-FR" sz="2200" b="1" dirty="0">
                <a:latin typeface="Times New Roman" panose="02020603050405020304" pitchFamily="18" charset="0"/>
              </a:rPr>
              <a:t>, prétraitement</a:t>
            </a:r>
          </a:p>
          <a:p>
            <a:pPr>
              <a:lnSpc>
                <a:spcPct val="130000"/>
              </a:lnSpc>
            </a:pPr>
            <a:r>
              <a:rPr lang="fr-FR" sz="2200" dirty="0" smtClean="0">
                <a:solidFill>
                  <a:srgbClr val="C00000"/>
                </a:solidFill>
                <a:latin typeface="Times New Roman" panose="02020603050405020304" pitchFamily="18" charset="0"/>
              </a:rPr>
              <a:t>4. </a:t>
            </a:r>
            <a:r>
              <a:rPr lang="fr-FR" sz="2200" b="1" dirty="0" smtClean="0">
                <a:latin typeface="Times New Roman" panose="02020603050405020304" pitchFamily="18" charset="0"/>
              </a:rPr>
              <a:t>Réduction </a:t>
            </a:r>
            <a:r>
              <a:rPr lang="fr-FR" sz="2200" b="1" dirty="0">
                <a:latin typeface="Times New Roman" panose="02020603050405020304" pitchFamily="18" charset="0"/>
              </a:rPr>
              <a:t>de données et </a:t>
            </a:r>
            <a:r>
              <a:rPr lang="fr-FR" sz="2200" b="1" dirty="0" smtClean="0">
                <a:latin typeface="Times New Roman" panose="02020603050405020304" pitchFamily="18" charset="0"/>
              </a:rPr>
              <a:t>transformation</a:t>
            </a:r>
            <a:endParaRPr lang="fr-FR" sz="2200" b="1" dirty="0">
              <a:latin typeface="Times New Roman" panose="02020603050405020304" pitchFamily="18" charset="0"/>
            </a:endParaRPr>
          </a:p>
          <a:p>
            <a:pPr>
              <a:lnSpc>
                <a:spcPct val="130000"/>
              </a:lnSpc>
            </a:pPr>
            <a:r>
              <a:rPr lang="fr-FR" sz="2200" dirty="0" smtClean="0">
                <a:solidFill>
                  <a:srgbClr val="C00000"/>
                </a:solidFill>
                <a:latin typeface="Times New Roman" panose="02020603050405020304" pitchFamily="18" charset="0"/>
              </a:rPr>
              <a:t>5. </a:t>
            </a:r>
            <a:r>
              <a:rPr lang="fr-FR" sz="2200" b="1" dirty="0" smtClean="0">
                <a:latin typeface="Times New Roman" panose="02020603050405020304" pitchFamily="18" charset="0"/>
              </a:rPr>
              <a:t>Choix </a:t>
            </a:r>
            <a:r>
              <a:rPr lang="fr-FR" sz="2200" b="1" dirty="0">
                <a:latin typeface="Times New Roman" panose="02020603050405020304" pitchFamily="18" charset="0"/>
              </a:rPr>
              <a:t>des fonctions du </a:t>
            </a:r>
            <a:r>
              <a:rPr lang="fr-FR" sz="2200" b="1" i="1" dirty="0">
                <a:latin typeface="Times New Roman" panose="02020603050405020304" pitchFamily="18" charset="0"/>
              </a:rPr>
              <a:t>data </a:t>
            </a:r>
            <a:r>
              <a:rPr lang="fr-FR" sz="2200" b="1" i="1" dirty="0" err="1">
                <a:latin typeface="Times New Roman" panose="02020603050405020304" pitchFamily="18" charset="0"/>
              </a:rPr>
              <a:t>mining</a:t>
            </a:r>
            <a:endParaRPr lang="fr-FR" sz="2200" b="1" dirty="0">
              <a:latin typeface="Times New Roman" panose="02020603050405020304" pitchFamily="18" charset="0"/>
            </a:endParaRPr>
          </a:p>
          <a:p>
            <a:pPr marL="273050" marR="21300">
              <a:lnSpc>
                <a:spcPct val="130000"/>
              </a:lnSpc>
            </a:pPr>
            <a:r>
              <a:rPr lang="fr-FR" sz="2200" b="0" i="0" u="none" strike="noStrike" baseline="0" dirty="0" smtClean="0">
                <a:latin typeface="Times New Roman" panose="02020603050405020304" pitchFamily="18" charset="0"/>
              </a:rPr>
              <a:t>Synthèse, résumé, classification, régression, association, </a:t>
            </a:r>
            <a:r>
              <a:rPr lang="fr-FR" sz="2200" b="0" i="0" u="none" strike="noStrike" baseline="0" dirty="0" err="1" smtClean="0">
                <a:latin typeface="Times New Roman" panose="02020603050405020304" pitchFamily="18" charset="0"/>
              </a:rPr>
              <a:t>clustering</a:t>
            </a:r>
            <a:r>
              <a:rPr lang="fr-FR" sz="2200" b="0" i="0" u="none" strike="noStrike" baseline="0" dirty="0" smtClean="0">
                <a:latin typeface="Times New Roman" panose="02020603050405020304" pitchFamily="18" charset="0"/>
              </a:rPr>
              <a:t>.</a:t>
            </a:r>
          </a:p>
          <a:p>
            <a:pPr>
              <a:lnSpc>
                <a:spcPct val="130000"/>
              </a:lnSpc>
            </a:pPr>
            <a:r>
              <a:rPr lang="fr-FR" sz="2200" dirty="0" smtClean="0">
                <a:solidFill>
                  <a:srgbClr val="C00000"/>
                </a:solidFill>
                <a:latin typeface="Times New Roman" panose="02020603050405020304" pitchFamily="18" charset="0"/>
              </a:rPr>
              <a:t>6. </a:t>
            </a:r>
            <a:r>
              <a:rPr lang="fr-FR" sz="2200" b="1" dirty="0" smtClean="0">
                <a:latin typeface="Times New Roman" panose="02020603050405020304" pitchFamily="18" charset="0"/>
              </a:rPr>
              <a:t>Choix </a:t>
            </a:r>
            <a:r>
              <a:rPr lang="fr-FR" sz="2200" b="1" dirty="0">
                <a:latin typeface="Times New Roman" panose="02020603050405020304" pitchFamily="18" charset="0"/>
              </a:rPr>
              <a:t>des algorithmes de fouille</a:t>
            </a:r>
          </a:p>
          <a:p>
            <a:pPr>
              <a:lnSpc>
                <a:spcPct val="130000"/>
              </a:lnSpc>
            </a:pPr>
            <a:r>
              <a:rPr lang="fr-FR" sz="2200" dirty="0" smtClean="0">
                <a:solidFill>
                  <a:srgbClr val="C00000"/>
                </a:solidFill>
                <a:latin typeface="Times New Roman" panose="02020603050405020304" pitchFamily="18" charset="0"/>
              </a:rPr>
              <a:t>7. </a:t>
            </a:r>
            <a:r>
              <a:rPr lang="fr-FR" sz="2200" b="1" i="1" dirty="0" smtClean="0">
                <a:latin typeface="Times New Roman" panose="02020603050405020304" pitchFamily="18" charset="0"/>
              </a:rPr>
              <a:t>Data </a:t>
            </a:r>
            <a:r>
              <a:rPr lang="fr-FR" sz="2200" b="1" i="1" dirty="0" err="1" smtClean="0">
                <a:latin typeface="Times New Roman" panose="02020603050405020304" pitchFamily="18" charset="0"/>
              </a:rPr>
              <a:t>mining</a:t>
            </a:r>
            <a:r>
              <a:rPr lang="fr-FR" sz="2200" b="1" dirty="0" smtClean="0">
                <a:latin typeface="Times New Roman" panose="02020603050405020304" pitchFamily="18" charset="0"/>
              </a:rPr>
              <a:t> </a:t>
            </a:r>
            <a:endParaRPr lang="fr-FR" sz="2200" b="1" dirty="0">
              <a:latin typeface="Times New Roman" panose="02020603050405020304" pitchFamily="18" charset="0"/>
            </a:endParaRPr>
          </a:p>
          <a:p>
            <a:pPr marL="273050" marR="72020">
              <a:lnSpc>
                <a:spcPct val="130000"/>
              </a:lnSpc>
            </a:pPr>
            <a:r>
              <a:rPr lang="fr-FR" sz="2200" b="0" i="0" u="none" strike="noStrike" baseline="0" dirty="0" smtClean="0">
                <a:latin typeface="Times New Roman" panose="02020603050405020304" pitchFamily="18" charset="0"/>
              </a:rPr>
              <a:t>Recherche des modèles intéressants</a:t>
            </a:r>
          </a:p>
          <a:p>
            <a:pPr>
              <a:lnSpc>
                <a:spcPct val="130000"/>
              </a:lnSpc>
            </a:pPr>
            <a:r>
              <a:rPr lang="fr-FR" sz="2200" dirty="0" smtClean="0">
                <a:solidFill>
                  <a:srgbClr val="C00000"/>
                </a:solidFill>
                <a:latin typeface="Times New Roman" panose="02020603050405020304" pitchFamily="18" charset="0"/>
              </a:rPr>
              <a:t>8. </a:t>
            </a:r>
            <a:r>
              <a:rPr lang="fr-FR" sz="2200" b="1" dirty="0" smtClean="0">
                <a:latin typeface="Times New Roman" panose="02020603050405020304" pitchFamily="18" charset="0"/>
              </a:rPr>
              <a:t>Evaluation </a:t>
            </a:r>
            <a:r>
              <a:rPr lang="fr-FR" sz="2200" b="1" dirty="0">
                <a:latin typeface="Times New Roman" panose="02020603050405020304" pitchFamily="18" charset="0"/>
              </a:rPr>
              <a:t>des pattern et présentation de la </a:t>
            </a:r>
            <a:r>
              <a:rPr lang="fr-FR" sz="2200" b="1" dirty="0" smtClean="0">
                <a:latin typeface="Times New Roman" panose="02020603050405020304" pitchFamily="18" charset="0"/>
              </a:rPr>
              <a:t>connaissance</a:t>
            </a:r>
            <a:endParaRPr lang="fr-FR" sz="2200" b="1" dirty="0">
              <a:latin typeface="Times New Roman" panose="02020603050405020304" pitchFamily="18" charset="0"/>
            </a:endParaRPr>
          </a:p>
          <a:p>
            <a:pPr marL="273050" marR="74950">
              <a:lnSpc>
                <a:spcPct val="130000"/>
              </a:lnSpc>
            </a:pPr>
            <a:r>
              <a:rPr lang="fr-FR" sz="2200" b="1" i="0" u="none" strike="noStrike" baseline="0" dirty="0" smtClean="0">
                <a:latin typeface="Times New Roman" panose="02020603050405020304" pitchFamily="18" charset="0"/>
              </a:rPr>
              <a:t>Visualisation, transformation, etc.</a:t>
            </a:r>
          </a:p>
          <a:p>
            <a:pPr>
              <a:lnSpc>
                <a:spcPct val="130000"/>
              </a:lnSpc>
            </a:pPr>
            <a:r>
              <a:rPr lang="fr-FR" sz="2200" dirty="0" smtClean="0">
                <a:solidFill>
                  <a:srgbClr val="C00000"/>
                </a:solidFill>
                <a:latin typeface="Times New Roman" panose="02020603050405020304" pitchFamily="18" charset="0"/>
              </a:rPr>
              <a:t>9. </a:t>
            </a:r>
            <a:r>
              <a:rPr lang="fr-FR" sz="2200" b="1" dirty="0" smtClean="0">
                <a:latin typeface="Times New Roman" panose="02020603050405020304" pitchFamily="18" charset="0"/>
              </a:rPr>
              <a:t>Utilisation </a:t>
            </a:r>
            <a:r>
              <a:rPr lang="fr-FR" sz="2200" b="1" dirty="0">
                <a:latin typeface="Times New Roman" panose="02020603050405020304" pitchFamily="18" charset="0"/>
              </a:rPr>
              <a:t>de la connaissance</a:t>
            </a:r>
          </a:p>
        </p:txBody>
      </p:sp>
    </p:spTree>
    <p:extLst>
      <p:ext uri="{BB962C8B-B14F-4D97-AF65-F5344CB8AC3E}">
        <p14:creationId xmlns:p14="http://schemas.microsoft.com/office/powerpoint/2010/main" val="674481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493" y="555724"/>
            <a:ext cx="7893415" cy="553998"/>
          </a:xfrm>
          <a:prstGeom prst="rect">
            <a:avLst/>
          </a:prstGeom>
        </p:spPr>
        <p:txBody>
          <a:bodyPr wrap="square">
            <a:spAutoFit/>
          </a:bodyPr>
          <a:lstStyle/>
          <a:p>
            <a:r>
              <a:rPr lang="fr-FR" sz="3000" b="1" dirty="0">
                <a:solidFill>
                  <a:srgbClr val="C00000"/>
                </a:solidFill>
                <a:latin typeface="Times New Roman" panose="02020603050405020304" pitchFamily="18" charset="0"/>
                <a:cs typeface="Times New Roman" panose="02020603050405020304" pitchFamily="18" charset="0"/>
              </a:rPr>
              <a:t>Mise en </a:t>
            </a:r>
            <a:r>
              <a:rPr lang="fr-FR" sz="3000" b="1" dirty="0" smtClean="0">
                <a:solidFill>
                  <a:srgbClr val="C00000"/>
                </a:solidFill>
                <a:latin typeface="Times New Roman" panose="02020603050405020304" pitchFamily="18" charset="0"/>
                <a:cs typeface="Times New Roman" panose="02020603050405020304" pitchFamily="18" charset="0"/>
              </a:rPr>
              <a:t>œuvre </a:t>
            </a:r>
            <a:r>
              <a:rPr lang="fr-FR" sz="3000" b="1" dirty="0">
                <a:solidFill>
                  <a:srgbClr val="C00000"/>
                </a:solidFill>
                <a:latin typeface="Times New Roman" panose="02020603050405020304" pitchFamily="18" charset="0"/>
                <a:cs typeface="Times New Roman" panose="02020603050405020304" pitchFamily="18" charset="0"/>
              </a:rPr>
              <a:t>d’un projet d’un projet de DM</a:t>
            </a:r>
          </a:p>
        </p:txBody>
      </p:sp>
      <p:sp>
        <p:nvSpPr>
          <p:cNvPr id="3" name="Rectangle 2"/>
          <p:cNvSpPr/>
          <p:nvPr/>
        </p:nvSpPr>
        <p:spPr>
          <a:xfrm>
            <a:off x="691484" y="1365999"/>
            <a:ext cx="11500516" cy="4524315"/>
          </a:xfrm>
          <a:prstGeom prst="rect">
            <a:avLst/>
          </a:prstGeom>
        </p:spPr>
        <p:txBody>
          <a:bodyPr wrap="square">
            <a:spAutoFit/>
          </a:bodyPr>
          <a:lstStyle/>
          <a:p>
            <a:pPr>
              <a:lnSpc>
                <a:spcPct val="150000"/>
              </a:lnSpc>
            </a:pPr>
            <a:r>
              <a:rPr lang="fr-FR" sz="2400" dirty="0" smtClean="0">
                <a:solidFill>
                  <a:srgbClr val="C00000"/>
                </a:solidFill>
                <a:latin typeface="Times New Roman" panose="02020603050405020304" pitchFamily="18" charset="0"/>
              </a:rPr>
              <a:t>1. </a:t>
            </a:r>
            <a:r>
              <a:rPr lang="fr-FR" sz="2400" dirty="0" smtClean="0">
                <a:latin typeface="Times New Roman" panose="02020603050405020304" pitchFamily="18" charset="0"/>
              </a:rPr>
              <a:t>Comprendre </a:t>
            </a:r>
            <a:r>
              <a:rPr lang="fr-FR" sz="2400" dirty="0">
                <a:latin typeface="Times New Roman" panose="02020603050405020304" pitchFamily="18" charset="0"/>
              </a:rPr>
              <a:t>et analyser les objectifs de l’application</a:t>
            </a:r>
          </a:p>
          <a:p>
            <a:pPr>
              <a:lnSpc>
                <a:spcPct val="150000"/>
              </a:lnSpc>
            </a:pPr>
            <a:r>
              <a:rPr lang="fr-FR" sz="2400" dirty="0">
                <a:solidFill>
                  <a:srgbClr val="C00000"/>
                </a:solidFill>
                <a:latin typeface="Times New Roman" panose="02020603050405020304" pitchFamily="18" charset="0"/>
              </a:rPr>
              <a:t>2. </a:t>
            </a:r>
            <a:r>
              <a:rPr lang="fr-FR" sz="2400" dirty="0">
                <a:latin typeface="Times New Roman" panose="02020603050405020304" pitchFamily="18" charset="0"/>
              </a:rPr>
              <a:t>Créer une base de données pour la mise au point de l’application.</a:t>
            </a:r>
          </a:p>
          <a:p>
            <a:pPr>
              <a:lnSpc>
                <a:spcPct val="150000"/>
              </a:lnSpc>
            </a:pPr>
            <a:r>
              <a:rPr lang="fr-FR" sz="2400" dirty="0">
                <a:solidFill>
                  <a:srgbClr val="C00000"/>
                </a:solidFill>
                <a:latin typeface="Times New Roman" panose="02020603050405020304" pitchFamily="18" charset="0"/>
              </a:rPr>
              <a:t>3. </a:t>
            </a:r>
            <a:r>
              <a:rPr lang="fr-FR" sz="2400" dirty="0">
                <a:latin typeface="Times New Roman" panose="02020603050405020304" pitchFamily="18" charset="0"/>
              </a:rPr>
              <a:t>Prétraitement et nettoyage des données</a:t>
            </a:r>
          </a:p>
          <a:p>
            <a:pPr>
              <a:lnSpc>
                <a:spcPct val="150000"/>
              </a:lnSpc>
            </a:pPr>
            <a:r>
              <a:rPr lang="fr-FR" sz="2400" dirty="0">
                <a:solidFill>
                  <a:srgbClr val="C00000"/>
                </a:solidFill>
                <a:latin typeface="Times New Roman" panose="02020603050405020304" pitchFamily="18" charset="0"/>
              </a:rPr>
              <a:t>4. </a:t>
            </a:r>
            <a:r>
              <a:rPr lang="fr-FR" sz="2400" dirty="0">
                <a:latin typeface="Times New Roman" panose="02020603050405020304" pitchFamily="18" charset="0"/>
              </a:rPr>
              <a:t>Analyse statistique des données (réduction de la </a:t>
            </a:r>
            <a:r>
              <a:rPr lang="fr-FR" sz="2400" dirty="0" smtClean="0">
                <a:latin typeface="Times New Roman" panose="02020603050405020304" pitchFamily="18" charset="0"/>
              </a:rPr>
              <a:t>dimension, projection</a:t>
            </a:r>
            <a:r>
              <a:rPr lang="fr-FR" sz="2400" dirty="0">
                <a:latin typeface="Times New Roman" panose="02020603050405020304" pitchFamily="18" charset="0"/>
              </a:rPr>
              <a:t>, etc...)</a:t>
            </a:r>
          </a:p>
          <a:p>
            <a:pPr>
              <a:lnSpc>
                <a:spcPct val="150000"/>
              </a:lnSpc>
            </a:pPr>
            <a:r>
              <a:rPr lang="fr-FR" sz="2400" dirty="0">
                <a:solidFill>
                  <a:srgbClr val="C00000"/>
                </a:solidFill>
                <a:latin typeface="Times New Roman" panose="02020603050405020304" pitchFamily="18" charset="0"/>
              </a:rPr>
              <a:t>5. </a:t>
            </a:r>
            <a:r>
              <a:rPr lang="fr-FR" sz="2400" dirty="0">
                <a:latin typeface="Times New Roman" panose="02020603050405020304" pitchFamily="18" charset="0"/>
              </a:rPr>
              <a:t>Identifier le type de problèmes ( discrimination, </a:t>
            </a:r>
            <a:r>
              <a:rPr lang="fr-FR" sz="2400" dirty="0" err="1">
                <a:latin typeface="Times New Roman" panose="02020603050405020304" pitchFamily="18" charset="0"/>
              </a:rPr>
              <a:t>clustering</a:t>
            </a:r>
            <a:r>
              <a:rPr lang="fr-FR" sz="2400" dirty="0">
                <a:latin typeface="Times New Roman" panose="02020603050405020304" pitchFamily="18" charset="0"/>
              </a:rPr>
              <a:t>, etc...) </a:t>
            </a:r>
            <a:r>
              <a:rPr lang="fr-FR" sz="2400" dirty="0" smtClean="0">
                <a:latin typeface="Times New Roman" panose="02020603050405020304" pitchFamily="18" charset="0"/>
              </a:rPr>
              <a:t>et choisir </a:t>
            </a:r>
            <a:r>
              <a:rPr lang="fr-FR" sz="2400" dirty="0">
                <a:latin typeface="Times New Roman" panose="02020603050405020304" pitchFamily="18" charset="0"/>
              </a:rPr>
              <a:t>un algorithme.</a:t>
            </a:r>
          </a:p>
          <a:p>
            <a:pPr>
              <a:lnSpc>
                <a:spcPct val="150000"/>
              </a:lnSpc>
            </a:pPr>
            <a:r>
              <a:rPr lang="fr-FR" sz="2400" dirty="0">
                <a:solidFill>
                  <a:srgbClr val="C00000"/>
                </a:solidFill>
                <a:latin typeface="Times New Roman" panose="02020603050405020304" pitchFamily="18" charset="0"/>
              </a:rPr>
              <a:t>6. </a:t>
            </a:r>
            <a:r>
              <a:rPr lang="fr-FR" sz="2400" dirty="0">
                <a:latin typeface="Times New Roman" panose="02020603050405020304" pitchFamily="18" charset="0"/>
              </a:rPr>
              <a:t>Evaluer les performances de l’algorithme.</a:t>
            </a:r>
          </a:p>
          <a:p>
            <a:pPr>
              <a:lnSpc>
                <a:spcPct val="150000"/>
              </a:lnSpc>
            </a:pPr>
            <a:r>
              <a:rPr lang="fr-FR" sz="2400" dirty="0">
                <a:solidFill>
                  <a:srgbClr val="C00000"/>
                </a:solidFill>
                <a:latin typeface="Times New Roman" panose="02020603050405020304" pitchFamily="18" charset="0"/>
              </a:rPr>
              <a:t>7. </a:t>
            </a:r>
            <a:r>
              <a:rPr lang="fr-FR" sz="2400" dirty="0">
                <a:latin typeface="Times New Roman" panose="02020603050405020304" pitchFamily="18" charset="0"/>
              </a:rPr>
              <a:t>Réitérer les étapes précédentes si </a:t>
            </a:r>
            <a:r>
              <a:rPr lang="fr-FR" sz="2400" dirty="0" smtClean="0">
                <a:latin typeface="Times New Roman" panose="02020603050405020304" pitchFamily="18" charset="0"/>
              </a:rPr>
              <a:t>nécessaire.</a:t>
            </a:r>
            <a:endParaRPr lang="fr-FR" sz="2400" dirty="0">
              <a:latin typeface="Times New Roman" panose="02020603050405020304" pitchFamily="18" charset="0"/>
            </a:endParaRPr>
          </a:p>
          <a:p>
            <a:pPr>
              <a:lnSpc>
                <a:spcPct val="150000"/>
              </a:lnSpc>
            </a:pPr>
            <a:r>
              <a:rPr lang="fr-FR" sz="2400" dirty="0">
                <a:solidFill>
                  <a:srgbClr val="C00000"/>
                </a:solidFill>
                <a:latin typeface="Times New Roman" panose="02020603050405020304" pitchFamily="18" charset="0"/>
              </a:rPr>
              <a:t>8. </a:t>
            </a:r>
            <a:r>
              <a:rPr lang="fr-FR" sz="2400" dirty="0">
                <a:latin typeface="Times New Roman" panose="02020603050405020304" pitchFamily="18" charset="0"/>
              </a:rPr>
              <a:t>Déployer l’application.</a:t>
            </a:r>
            <a:endParaRPr lang="fr-FR" sz="2400" dirty="0"/>
          </a:p>
        </p:txBody>
      </p:sp>
    </p:spTree>
    <p:extLst>
      <p:ext uri="{BB962C8B-B14F-4D97-AF65-F5344CB8AC3E}">
        <p14:creationId xmlns:p14="http://schemas.microsoft.com/office/powerpoint/2010/main" val="2529242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209" y="313899"/>
            <a:ext cx="8470710" cy="553998"/>
          </a:xfrm>
          <a:prstGeom prst="rect">
            <a:avLst/>
          </a:prstGeom>
        </p:spPr>
        <p:txBody>
          <a:bodyPr wrap="square">
            <a:spAutoFit/>
          </a:bodyPr>
          <a:lstStyle/>
          <a:p>
            <a:r>
              <a:rPr lang="fr-FR" sz="3000" b="1" dirty="0" smtClean="0">
                <a:solidFill>
                  <a:srgbClr val="C00000"/>
                </a:solidFill>
                <a:latin typeface="Times New Roman" panose="02020603050405020304" pitchFamily="18" charset="0"/>
              </a:rPr>
              <a:t>Fouille </a:t>
            </a:r>
            <a:r>
              <a:rPr lang="fr-FR" sz="3000" b="1" dirty="0">
                <a:solidFill>
                  <a:srgbClr val="C00000"/>
                </a:solidFill>
                <a:latin typeface="Times New Roman" panose="02020603050405020304" pitchFamily="18" charset="0"/>
              </a:rPr>
              <a:t>de données: Sur quel type de données?</a:t>
            </a:r>
          </a:p>
        </p:txBody>
      </p:sp>
      <p:sp>
        <p:nvSpPr>
          <p:cNvPr id="3" name="Rectangle 2"/>
          <p:cNvSpPr/>
          <p:nvPr/>
        </p:nvSpPr>
        <p:spPr>
          <a:xfrm>
            <a:off x="345743" y="1172010"/>
            <a:ext cx="9958316" cy="4524315"/>
          </a:xfrm>
          <a:prstGeom prst="rect">
            <a:avLst/>
          </a:prstGeom>
        </p:spPr>
        <p:txBody>
          <a:bodyPr wrap="square">
            <a:spAutoFit/>
          </a:bodyPr>
          <a:lstStyle/>
          <a:p>
            <a:pPr marL="342900" indent="-342900">
              <a:lnSpc>
                <a:spcPct val="150000"/>
              </a:lnSpc>
              <a:buClr>
                <a:srgbClr val="C00000"/>
              </a:buClr>
              <a:buFont typeface="Wingdings" panose="05000000000000000000" pitchFamily="2" charset="2"/>
              <a:buChar char="§"/>
            </a:pPr>
            <a:r>
              <a:rPr lang="fr-FR" sz="2400" dirty="0" smtClean="0">
                <a:latin typeface="Times New Roman" panose="02020603050405020304" pitchFamily="18" charset="0"/>
                <a:cs typeface="Times New Roman" panose="02020603050405020304" pitchFamily="18" charset="0"/>
              </a:rPr>
              <a:t>Bases de données relationnelles</a:t>
            </a:r>
          </a:p>
          <a:p>
            <a:pPr marL="342900" indent="-342900">
              <a:lnSpc>
                <a:spcPct val="150000"/>
              </a:lnSpc>
              <a:buClr>
                <a:srgbClr val="C00000"/>
              </a:buClr>
              <a:buFont typeface="Wingdings" panose="05000000000000000000" pitchFamily="2" charset="2"/>
              <a:buChar char="§"/>
            </a:pPr>
            <a:r>
              <a:rPr lang="fr-FR" sz="2400" dirty="0" smtClean="0">
                <a:latin typeface="Times New Roman" panose="02020603050405020304" pitchFamily="18" charset="0"/>
                <a:cs typeface="Times New Roman" panose="02020603050405020304" pitchFamily="18" charset="0"/>
              </a:rPr>
              <a:t>Data </a:t>
            </a:r>
            <a:r>
              <a:rPr lang="fr-FR" sz="2400" dirty="0" err="1" smtClean="0">
                <a:latin typeface="Times New Roman" panose="02020603050405020304" pitchFamily="18" charset="0"/>
                <a:cs typeface="Times New Roman" panose="02020603050405020304" pitchFamily="18" charset="0"/>
              </a:rPr>
              <a:t>warehouses</a:t>
            </a:r>
            <a:r>
              <a:rPr lang="fr-FR" sz="2400" dirty="0" smtClean="0">
                <a:latin typeface="Times New Roman" panose="02020603050405020304" pitchFamily="18" charset="0"/>
                <a:cs typeface="Times New Roman" panose="02020603050405020304" pitchFamily="18" charset="0"/>
              </a:rPr>
              <a:t> / entrepôts de données</a:t>
            </a:r>
          </a:p>
          <a:p>
            <a:pPr marL="342900" indent="-342900">
              <a:lnSpc>
                <a:spcPct val="150000"/>
              </a:lnSpc>
              <a:buClr>
                <a:srgbClr val="C00000"/>
              </a:buClr>
              <a:buFont typeface="Wingdings" panose="05000000000000000000" pitchFamily="2" charset="2"/>
              <a:buChar char="§"/>
            </a:pPr>
            <a:r>
              <a:rPr lang="fr-FR" sz="2400" dirty="0" smtClean="0">
                <a:latin typeface="Times New Roman" panose="02020603050405020304" pitchFamily="18" charset="0"/>
                <a:cs typeface="Times New Roman" panose="02020603050405020304" pitchFamily="18" charset="0"/>
              </a:rPr>
              <a:t>Réservoir de données</a:t>
            </a:r>
          </a:p>
          <a:p>
            <a:pPr marL="685800" indent="-342900">
              <a:lnSpc>
                <a:spcPct val="150000"/>
              </a:lnSpc>
              <a:buClr>
                <a:srgbClr val="C00000"/>
              </a:buClr>
              <a:buFont typeface="Wingdings" panose="05000000000000000000" pitchFamily="2" charset="2"/>
              <a:buChar char="ü"/>
            </a:pPr>
            <a:r>
              <a:rPr lang="fr-FR" sz="2400" dirty="0" smtClean="0">
                <a:latin typeface="Times New Roman" panose="02020603050405020304" pitchFamily="18" charset="0"/>
                <a:cs typeface="Times New Roman" panose="02020603050405020304" pitchFamily="18" charset="0"/>
              </a:rPr>
              <a:t>Orientées Objet</a:t>
            </a:r>
          </a:p>
          <a:p>
            <a:pPr marL="685800" indent="-342900">
              <a:lnSpc>
                <a:spcPct val="150000"/>
              </a:lnSpc>
              <a:buClr>
                <a:srgbClr val="C00000"/>
              </a:buClr>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Bases de données spatiales</a:t>
            </a:r>
          </a:p>
          <a:p>
            <a:pPr marL="685800" indent="-342900">
              <a:lnSpc>
                <a:spcPct val="150000"/>
              </a:lnSpc>
              <a:buClr>
                <a:srgbClr val="C00000"/>
              </a:buClr>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Données chronologiques et données temporelles</a:t>
            </a:r>
          </a:p>
          <a:p>
            <a:pPr marL="685800" indent="-342900">
              <a:lnSpc>
                <a:spcPct val="150000"/>
              </a:lnSpc>
              <a:buClr>
                <a:srgbClr val="C00000"/>
              </a:buClr>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Bases textuelles et multimédia</a:t>
            </a:r>
          </a:p>
          <a:p>
            <a:pPr marL="685800" indent="-342900">
              <a:lnSpc>
                <a:spcPct val="150000"/>
              </a:lnSpc>
              <a:buClr>
                <a:srgbClr val="C00000"/>
              </a:buClr>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WWW</a:t>
            </a:r>
          </a:p>
        </p:txBody>
      </p:sp>
    </p:spTree>
    <p:extLst>
      <p:ext uri="{BB962C8B-B14F-4D97-AF65-F5344CB8AC3E}">
        <p14:creationId xmlns:p14="http://schemas.microsoft.com/office/powerpoint/2010/main" val="3887551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97372" y="0"/>
            <a:ext cx="7569959" cy="692497"/>
          </a:xfrm>
          <a:prstGeom prst="rect">
            <a:avLst/>
          </a:prstGeom>
        </p:spPr>
        <p:txBody>
          <a:bodyPr wrap="square">
            <a:spAutoFit/>
          </a:bodyPr>
          <a:lstStyle/>
          <a:p>
            <a:endParaRPr lang="fr-FR" sz="900" b="0" i="0" u="none" strike="noStrike" baseline="0" dirty="0" smtClean="0">
              <a:solidFill>
                <a:srgbClr val="000000"/>
              </a:solidFill>
              <a:latin typeface="Times New Roman" panose="02020603050405020304" pitchFamily="18" charset="0"/>
            </a:endParaRPr>
          </a:p>
          <a:p>
            <a:r>
              <a:rPr lang="fr-FR" sz="3000" b="1" dirty="0">
                <a:solidFill>
                  <a:srgbClr val="C00000"/>
                </a:solidFill>
                <a:latin typeface="Times New Roman" panose="02020603050405020304" pitchFamily="18" charset="0"/>
              </a:rPr>
              <a:t>Intérêt des modèles (patterns) </a:t>
            </a:r>
            <a:r>
              <a:rPr lang="fr-FR" sz="3000" b="1" dirty="0" smtClean="0">
                <a:solidFill>
                  <a:srgbClr val="C00000"/>
                </a:solidFill>
                <a:latin typeface="Times New Roman" panose="02020603050405020304" pitchFamily="18" charset="0"/>
              </a:rPr>
              <a:t>découverts </a:t>
            </a:r>
            <a:endParaRPr lang="fr-FR" sz="3000" b="1" dirty="0">
              <a:solidFill>
                <a:srgbClr val="C00000"/>
              </a:solidFill>
              <a:latin typeface="Times New Roman" panose="02020603050405020304" pitchFamily="18" charset="0"/>
            </a:endParaRPr>
          </a:p>
        </p:txBody>
      </p:sp>
      <p:sp>
        <p:nvSpPr>
          <p:cNvPr id="3" name="Rectangle 2"/>
          <p:cNvSpPr/>
          <p:nvPr/>
        </p:nvSpPr>
        <p:spPr>
          <a:xfrm>
            <a:off x="523163" y="692497"/>
            <a:ext cx="10954603" cy="5632311"/>
          </a:xfrm>
          <a:prstGeom prst="rect">
            <a:avLst/>
          </a:prstGeom>
        </p:spPr>
        <p:txBody>
          <a:bodyPr wrap="square">
            <a:spAutoFit/>
          </a:bodyPr>
          <a:lstStyle/>
          <a:p>
            <a:pPr>
              <a:lnSpc>
                <a:spcPct val="150000"/>
              </a:lnSpc>
            </a:pPr>
            <a:r>
              <a:rPr lang="fr-FR" sz="2400" b="0" i="0" u="none" strike="noStrike" baseline="0" dirty="0" smtClean="0">
                <a:latin typeface="Times New Roman" panose="02020603050405020304" pitchFamily="18" charset="0"/>
              </a:rPr>
              <a:t>Un système de data </a:t>
            </a:r>
            <a:r>
              <a:rPr lang="fr-FR" sz="2400" b="0" i="0" u="none" strike="noStrike" baseline="0" dirty="0" err="1" smtClean="0">
                <a:latin typeface="Times New Roman" panose="02020603050405020304" pitchFamily="18" charset="0"/>
              </a:rPr>
              <a:t>mining</a:t>
            </a:r>
            <a:r>
              <a:rPr lang="fr-FR" sz="2400" b="0" i="0" u="none" strike="noStrike" baseline="0" dirty="0" smtClean="0">
                <a:latin typeface="Times New Roman" panose="02020603050405020304" pitchFamily="18" charset="0"/>
              </a:rPr>
              <a:t> génère des milliers de patterns, tous ne sont pas intéressants.</a:t>
            </a:r>
          </a:p>
          <a:p>
            <a:pPr marL="342900" indent="-342900">
              <a:lnSpc>
                <a:spcPct val="150000"/>
              </a:lnSpc>
              <a:buClr>
                <a:srgbClr val="C00000"/>
              </a:buClr>
              <a:buFont typeface="Wingdings" panose="05000000000000000000" pitchFamily="2" charset="2"/>
              <a:buChar char="§"/>
            </a:pPr>
            <a:r>
              <a:rPr lang="fr-FR" sz="2400" b="1" dirty="0" smtClean="0">
                <a:latin typeface="Times New Roman" panose="02020603050405020304" pitchFamily="18" charset="0"/>
                <a:cs typeface="Times New Roman" panose="02020603050405020304" pitchFamily="18" charset="0"/>
              </a:rPr>
              <a:t>Intérêt</a:t>
            </a:r>
            <a:endParaRPr lang="fr-FR" sz="2400" b="1" dirty="0">
              <a:latin typeface="Times New Roman" panose="02020603050405020304" pitchFamily="18" charset="0"/>
              <a:cs typeface="Times New Roman" panose="02020603050405020304" pitchFamily="18" charset="0"/>
            </a:endParaRPr>
          </a:p>
          <a:p>
            <a:pPr marR="77370">
              <a:lnSpc>
                <a:spcPct val="150000"/>
              </a:lnSpc>
            </a:pPr>
            <a:r>
              <a:rPr lang="fr-FR" sz="2400" b="0" i="0" u="none" strike="noStrike" baseline="0" dirty="0" smtClean="0">
                <a:latin typeface="Times New Roman" panose="02020603050405020304" pitchFamily="18" charset="0"/>
              </a:rPr>
              <a:t>Un pattern est intéressant si il est</a:t>
            </a:r>
          </a:p>
          <a:p>
            <a:pPr marL="342900" indent="-69850">
              <a:lnSpc>
                <a:spcPct val="150000"/>
              </a:lnSpc>
              <a:buFont typeface="Wingdings" panose="05000000000000000000" pitchFamily="2" charset="2"/>
              <a:buChar char="ü"/>
            </a:pPr>
            <a:r>
              <a:rPr lang="fr-FR" sz="2400" dirty="0" smtClean="0">
                <a:latin typeface="Times New Roman" panose="02020603050405020304" pitchFamily="18" charset="0"/>
              </a:rPr>
              <a:t>facilement compris par les humains, </a:t>
            </a:r>
          </a:p>
          <a:p>
            <a:pPr marL="342900" indent="-69850">
              <a:lnSpc>
                <a:spcPct val="150000"/>
              </a:lnSpc>
              <a:buFont typeface="Wingdings" panose="05000000000000000000" pitchFamily="2" charset="2"/>
              <a:buChar char="ü"/>
            </a:pPr>
            <a:r>
              <a:rPr lang="fr-FR" sz="2400" dirty="0" smtClean="0">
                <a:latin typeface="Times New Roman" panose="02020603050405020304" pitchFamily="18" charset="0"/>
              </a:rPr>
              <a:t>valide </a:t>
            </a:r>
            <a:r>
              <a:rPr lang="fr-FR" sz="2400" dirty="0">
                <a:latin typeface="Times New Roman" panose="02020603050405020304" pitchFamily="18" charset="0"/>
              </a:rPr>
              <a:t>sur données </a:t>
            </a:r>
            <a:r>
              <a:rPr lang="fr-FR" sz="2400" dirty="0" smtClean="0">
                <a:latin typeface="Times New Roman" panose="02020603050405020304" pitchFamily="18" charset="0"/>
              </a:rPr>
              <a:t>nouvelles ou </a:t>
            </a:r>
            <a:r>
              <a:rPr lang="fr-FR" sz="2400" dirty="0">
                <a:latin typeface="Times New Roman" panose="02020603050405020304" pitchFamily="18" charset="0"/>
              </a:rPr>
              <a:t>testées avec un certain </a:t>
            </a:r>
            <a:r>
              <a:rPr lang="fr-FR" sz="2400" dirty="0" smtClean="0">
                <a:latin typeface="Times New Roman" panose="02020603050405020304" pitchFamily="18" charset="0"/>
              </a:rPr>
              <a:t>degré de </a:t>
            </a:r>
            <a:r>
              <a:rPr lang="fr-FR" sz="2400" dirty="0">
                <a:latin typeface="Times New Roman" panose="02020603050405020304" pitchFamily="18" charset="0"/>
              </a:rPr>
              <a:t>certitude, </a:t>
            </a:r>
          </a:p>
          <a:p>
            <a:pPr marL="342900" indent="-69850">
              <a:lnSpc>
                <a:spcPct val="150000"/>
              </a:lnSpc>
              <a:buFont typeface="Wingdings" panose="05000000000000000000" pitchFamily="2" charset="2"/>
              <a:buChar char="ü"/>
            </a:pPr>
            <a:r>
              <a:rPr lang="fr-FR" sz="2400" dirty="0" smtClean="0">
                <a:latin typeface="Times New Roman" panose="02020603050405020304" pitchFamily="18" charset="0"/>
              </a:rPr>
              <a:t>potentiellement </a:t>
            </a:r>
            <a:r>
              <a:rPr lang="fr-FR" sz="2400" dirty="0">
                <a:latin typeface="Times New Roman" panose="02020603050405020304" pitchFamily="18" charset="0"/>
              </a:rPr>
              <a:t>utile, </a:t>
            </a:r>
          </a:p>
          <a:p>
            <a:pPr marL="342900" indent="-69850">
              <a:lnSpc>
                <a:spcPct val="150000"/>
              </a:lnSpc>
              <a:buFont typeface="Wingdings" panose="05000000000000000000" pitchFamily="2" charset="2"/>
              <a:buChar char="ü"/>
            </a:pPr>
            <a:r>
              <a:rPr lang="fr-FR" sz="2400" dirty="0" smtClean="0">
                <a:latin typeface="Times New Roman" panose="02020603050405020304" pitchFamily="18" charset="0"/>
              </a:rPr>
              <a:t>nouveau</a:t>
            </a:r>
            <a:r>
              <a:rPr lang="fr-FR" sz="2400" dirty="0">
                <a:latin typeface="Times New Roman" panose="02020603050405020304" pitchFamily="18" charset="0"/>
              </a:rPr>
              <a:t>, ou validant certaines hypothèses que l’on cherche </a:t>
            </a:r>
            <a:r>
              <a:rPr lang="fr-FR" sz="2400" dirty="0" smtClean="0">
                <a:latin typeface="Times New Roman" panose="02020603050405020304" pitchFamily="18" charset="0"/>
              </a:rPr>
              <a:t>à confirmer </a:t>
            </a:r>
            <a:endParaRPr lang="fr-FR" sz="2400" dirty="0">
              <a:latin typeface="Times New Roman" panose="02020603050405020304" pitchFamily="18" charset="0"/>
            </a:endParaRPr>
          </a:p>
          <a:p>
            <a:pPr marL="342900" indent="-342900">
              <a:lnSpc>
                <a:spcPct val="150000"/>
              </a:lnSpc>
              <a:buClr>
                <a:srgbClr val="C00000"/>
              </a:buClr>
              <a:buFont typeface="Wingdings" panose="05000000000000000000" pitchFamily="2" charset="2"/>
              <a:buChar char="§"/>
            </a:pPr>
            <a:r>
              <a:rPr lang="fr-FR" sz="2400" b="1" dirty="0" smtClean="0">
                <a:latin typeface="Times New Roman" panose="02020603050405020304" pitchFamily="18" charset="0"/>
                <a:cs typeface="Times New Roman" panose="02020603050405020304" pitchFamily="18" charset="0"/>
              </a:rPr>
              <a:t>Objectif </a:t>
            </a:r>
            <a:r>
              <a:rPr lang="fr-FR" sz="2400" b="1" dirty="0">
                <a:latin typeface="Times New Roman" panose="02020603050405020304" pitchFamily="18" charset="0"/>
                <a:cs typeface="Times New Roman" panose="02020603050405020304" pitchFamily="18" charset="0"/>
              </a:rPr>
              <a:t>vs. </a:t>
            </a:r>
            <a:r>
              <a:rPr lang="fr-FR" sz="2400" b="1" dirty="0">
                <a:latin typeface="Times New Roman" panose="02020603050405020304" pitchFamily="18" charset="0"/>
                <a:cs typeface="Times New Roman" panose="02020603050405020304" pitchFamily="18" charset="0"/>
              </a:rPr>
              <a:t>subjectif</a:t>
            </a:r>
          </a:p>
          <a:p>
            <a:pPr marL="285750" indent="-285750">
              <a:lnSpc>
                <a:spcPct val="150000"/>
              </a:lnSpc>
              <a:buFont typeface="Wingdings" panose="05000000000000000000" pitchFamily="2" charset="2"/>
              <a:buChar char="ü"/>
            </a:pPr>
            <a:r>
              <a:rPr lang="fr-FR" sz="2400" b="1" i="0" u="none" strike="noStrike" baseline="0" dirty="0" smtClean="0">
                <a:latin typeface="Times New Roman" panose="02020603050405020304" pitchFamily="18" charset="0"/>
              </a:rPr>
              <a:t>Objectif:</a:t>
            </a:r>
            <a:r>
              <a:rPr lang="fr-FR" sz="2400" b="0" i="0" u="none" strike="noStrike" baseline="0" dirty="0" smtClean="0">
                <a:latin typeface="Times New Roman" panose="02020603050405020304" pitchFamily="18" charset="0"/>
              </a:rPr>
              <a:t> basé sur des statistiques et des structures de patterns</a:t>
            </a:r>
          </a:p>
          <a:p>
            <a:pPr marL="285750" indent="-285750">
              <a:lnSpc>
                <a:spcPct val="150000"/>
              </a:lnSpc>
              <a:buFont typeface="Wingdings" panose="05000000000000000000" pitchFamily="2" charset="2"/>
              <a:buChar char="ü"/>
            </a:pPr>
            <a:r>
              <a:rPr lang="fr-FR" sz="2400" b="1" i="0" u="none" strike="noStrike" baseline="0" dirty="0" smtClean="0">
                <a:latin typeface="Times New Roman" panose="02020603050405020304" pitchFamily="18" charset="0"/>
              </a:rPr>
              <a:t>Subjectif</a:t>
            </a:r>
            <a:r>
              <a:rPr lang="fr-FR" sz="2400" b="0" i="0" u="none" strike="noStrike" baseline="0" dirty="0" smtClean="0">
                <a:latin typeface="Times New Roman" panose="02020603050405020304" pitchFamily="18" charset="0"/>
              </a:rPr>
              <a:t>: basé sur des croyances des utilisateurs</a:t>
            </a:r>
            <a:endParaRPr lang="fr-FR" sz="2400" b="0" i="0" u="none" strike="noStrike" baseline="0" dirty="0" smtClean="0">
              <a:latin typeface="Times New Roman" panose="02020603050405020304" pitchFamily="18" charset="0"/>
            </a:endParaRPr>
          </a:p>
        </p:txBody>
      </p:sp>
    </p:spTree>
    <p:extLst>
      <p:ext uri="{BB962C8B-B14F-4D97-AF65-F5344CB8AC3E}">
        <p14:creationId xmlns:p14="http://schemas.microsoft.com/office/powerpoint/2010/main" val="2659217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2095" y="104339"/>
            <a:ext cx="4062484" cy="692497"/>
          </a:xfrm>
          <a:prstGeom prst="rect">
            <a:avLst/>
          </a:prstGeom>
        </p:spPr>
        <p:txBody>
          <a:bodyPr wrap="square">
            <a:spAutoFit/>
          </a:bodyPr>
          <a:lstStyle/>
          <a:p>
            <a:endParaRPr lang="fr-FR" sz="900" b="0" i="0" u="none" strike="noStrike" baseline="0" dirty="0" smtClean="0">
              <a:solidFill>
                <a:srgbClr val="000000"/>
              </a:solidFill>
              <a:latin typeface="Times New Roman" panose="02020603050405020304" pitchFamily="18" charset="0"/>
            </a:endParaRPr>
          </a:p>
          <a:p>
            <a:r>
              <a:rPr lang="fr-FR" sz="3000" b="1" dirty="0">
                <a:solidFill>
                  <a:srgbClr val="C00000"/>
                </a:solidFill>
                <a:latin typeface="Times New Roman" panose="02020603050405020304" pitchFamily="18" charset="0"/>
              </a:rPr>
              <a:t>La fouille de données </a:t>
            </a:r>
          </a:p>
        </p:txBody>
      </p:sp>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6050" y="946676"/>
            <a:ext cx="8325431" cy="5167521"/>
          </a:xfrm>
          <a:prstGeom prst="rect">
            <a:avLst/>
          </a:prstGeom>
        </p:spPr>
      </p:pic>
    </p:spTree>
    <p:extLst>
      <p:ext uri="{BB962C8B-B14F-4D97-AF65-F5344CB8AC3E}">
        <p14:creationId xmlns:p14="http://schemas.microsoft.com/office/powerpoint/2010/main" val="3220660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1151" y="186224"/>
            <a:ext cx="4062484" cy="553998"/>
          </a:xfrm>
          <a:prstGeom prst="rect">
            <a:avLst/>
          </a:prstGeom>
        </p:spPr>
        <p:txBody>
          <a:bodyPr wrap="square">
            <a:spAutoFit/>
          </a:bodyPr>
          <a:lstStyle/>
          <a:p>
            <a:r>
              <a:rPr lang="fr-FR" sz="3000" b="1" dirty="0" smtClean="0">
                <a:solidFill>
                  <a:srgbClr val="C00000"/>
                </a:solidFill>
                <a:latin typeface="Times New Roman" panose="02020603050405020304" pitchFamily="18" charset="0"/>
              </a:rPr>
              <a:t>La </a:t>
            </a:r>
            <a:r>
              <a:rPr lang="fr-FR" sz="3000" b="1" dirty="0">
                <a:solidFill>
                  <a:srgbClr val="C00000"/>
                </a:solidFill>
                <a:latin typeface="Times New Roman" panose="02020603050405020304" pitchFamily="18" charset="0"/>
              </a:rPr>
              <a:t>fouille de données </a:t>
            </a:r>
          </a:p>
        </p:txBody>
      </p:sp>
      <p:sp>
        <p:nvSpPr>
          <p:cNvPr id="3" name="Rectangle 2"/>
          <p:cNvSpPr/>
          <p:nvPr/>
        </p:nvSpPr>
        <p:spPr>
          <a:xfrm>
            <a:off x="291151" y="981559"/>
            <a:ext cx="11677935" cy="4524315"/>
          </a:xfrm>
          <a:prstGeom prst="rect">
            <a:avLst/>
          </a:prstGeom>
        </p:spPr>
        <p:txBody>
          <a:bodyPr wrap="square">
            <a:spAutoFit/>
          </a:bodyPr>
          <a:lstStyle/>
          <a:p>
            <a:pPr marL="342900" indent="-342900">
              <a:lnSpc>
                <a:spcPct val="150000"/>
              </a:lnSpc>
              <a:buClr>
                <a:srgbClr val="C00000"/>
              </a:buClr>
              <a:buFont typeface="Wingdings" panose="05000000000000000000" pitchFamily="2" charset="2"/>
              <a:buChar char="§"/>
            </a:pPr>
            <a:r>
              <a:rPr lang="fr-FR" sz="2400" b="1" i="0" u="none" strike="noStrike" baseline="0" dirty="0" smtClean="0">
                <a:latin typeface="Times New Roman" panose="02020603050405020304" pitchFamily="18" charset="0"/>
              </a:rPr>
              <a:t>Bases de données à fouiller</a:t>
            </a:r>
          </a:p>
          <a:p>
            <a:pPr marL="355600" marR="21550">
              <a:lnSpc>
                <a:spcPct val="150000"/>
              </a:lnSpc>
            </a:pPr>
            <a:r>
              <a:rPr lang="fr-FR" sz="2400" dirty="0">
                <a:latin typeface="Times New Roman" panose="02020603050405020304" pitchFamily="18" charset="0"/>
              </a:rPr>
              <a:t>Relationnelles, transactionnelles, orientées objet, spatiales, séries chronologiques, textuelles, </a:t>
            </a:r>
            <a:r>
              <a:rPr lang="fr-FR" sz="2400" dirty="0" err="1">
                <a:latin typeface="Times New Roman" panose="02020603050405020304" pitchFamily="18" charset="0"/>
              </a:rPr>
              <a:t>multi-media</a:t>
            </a:r>
            <a:r>
              <a:rPr lang="fr-FR" sz="2400" dirty="0">
                <a:latin typeface="Times New Roman" panose="02020603050405020304" pitchFamily="18" charset="0"/>
              </a:rPr>
              <a:t>, WWW, etc.</a:t>
            </a:r>
          </a:p>
          <a:p>
            <a:pPr marL="342900" indent="-342900">
              <a:lnSpc>
                <a:spcPct val="150000"/>
              </a:lnSpc>
              <a:buClr>
                <a:srgbClr val="C00000"/>
              </a:buClr>
              <a:buFont typeface="Wingdings" panose="05000000000000000000" pitchFamily="2" charset="2"/>
              <a:buChar char="§"/>
            </a:pPr>
            <a:r>
              <a:rPr lang="fr-FR" sz="2400" b="1" dirty="0">
                <a:latin typeface="Times New Roman" panose="02020603050405020304" pitchFamily="18" charset="0"/>
              </a:rPr>
              <a:t>Connaissance à </a:t>
            </a:r>
            <a:r>
              <a:rPr lang="fr-FR" sz="2400" b="1" dirty="0" smtClean="0">
                <a:latin typeface="Times New Roman" panose="02020603050405020304" pitchFamily="18" charset="0"/>
              </a:rPr>
              <a:t>fouiller</a:t>
            </a:r>
            <a:endParaRPr lang="fr-FR" sz="2400" b="1" i="0" u="none" strike="noStrike" baseline="0" dirty="0" smtClean="0">
              <a:latin typeface="Times New Roman" panose="02020603050405020304" pitchFamily="18" charset="0"/>
            </a:endParaRPr>
          </a:p>
          <a:p>
            <a:pPr marL="273050" marR="12700">
              <a:lnSpc>
                <a:spcPct val="150000"/>
              </a:lnSpc>
            </a:pPr>
            <a:r>
              <a:rPr lang="fr-FR" sz="2400" dirty="0">
                <a:latin typeface="Times New Roman" panose="02020603050405020304" pitchFamily="18" charset="0"/>
              </a:rPr>
              <a:t>Caractérisation, discrimination, association, classification, déviation et analyse des </a:t>
            </a:r>
            <a:r>
              <a:rPr lang="fr-FR" sz="2400" i="1" dirty="0" err="1">
                <a:latin typeface="Times New Roman" panose="02020603050405020304" pitchFamily="18" charset="0"/>
              </a:rPr>
              <a:t>outliers</a:t>
            </a:r>
            <a:endParaRPr lang="fr-FR" sz="2400" dirty="0">
              <a:latin typeface="Times New Roman" panose="02020603050405020304" pitchFamily="18" charset="0"/>
            </a:endParaRPr>
          </a:p>
          <a:p>
            <a:pPr marL="342900" indent="-342900">
              <a:lnSpc>
                <a:spcPct val="150000"/>
              </a:lnSpc>
              <a:buClr>
                <a:srgbClr val="C00000"/>
              </a:buClr>
              <a:buFont typeface="Wingdings" panose="05000000000000000000" pitchFamily="2" charset="2"/>
              <a:buChar char="§"/>
            </a:pPr>
            <a:r>
              <a:rPr lang="fr-FR" sz="2400" b="1" dirty="0" smtClean="0">
                <a:latin typeface="Times New Roman" panose="02020603050405020304" pitchFamily="18" charset="0"/>
              </a:rPr>
              <a:t>Techniques utilisées</a:t>
            </a:r>
            <a:endParaRPr lang="fr-FR" sz="2400" b="1" i="0" u="none" strike="noStrike" baseline="0" dirty="0" smtClean="0">
              <a:latin typeface="Times New Roman" panose="02020603050405020304" pitchFamily="18" charset="0"/>
            </a:endParaRPr>
          </a:p>
          <a:p>
            <a:pPr marL="355600" marR="25200">
              <a:lnSpc>
                <a:spcPct val="150000"/>
              </a:lnSpc>
            </a:pPr>
            <a:r>
              <a:rPr lang="fr-FR" sz="2400" dirty="0">
                <a:latin typeface="Times New Roman" panose="02020603050405020304" pitchFamily="18" charset="0"/>
              </a:rPr>
              <a:t>Bases de données, data </a:t>
            </a:r>
            <a:r>
              <a:rPr lang="fr-FR" sz="2400" dirty="0" err="1">
                <a:latin typeface="Times New Roman" panose="02020603050405020304" pitchFamily="18" charset="0"/>
              </a:rPr>
              <a:t>warehouse</a:t>
            </a:r>
            <a:r>
              <a:rPr lang="fr-FR" sz="2400" dirty="0">
                <a:latin typeface="Times New Roman" panose="02020603050405020304" pitchFamily="18" charset="0"/>
              </a:rPr>
              <a:t> (OLAP), </a:t>
            </a:r>
            <a:r>
              <a:rPr lang="fr-FR" sz="2400" i="1" dirty="0">
                <a:latin typeface="Times New Roman" panose="02020603050405020304" pitchFamily="18" charset="0"/>
              </a:rPr>
              <a:t>machine </a:t>
            </a:r>
            <a:r>
              <a:rPr lang="fr-FR" sz="2400" i="1" dirty="0" err="1">
                <a:latin typeface="Times New Roman" panose="02020603050405020304" pitchFamily="18" charset="0"/>
              </a:rPr>
              <a:t>learning</a:t>
            </a:r>
            <a:r>
              <a:rPr lang="fr-FR" sz="2400" dirty="0">
                <a:latin typeface="Times New Roman" panose="02020603050405020304" pitchFamily="18" charset="0"/>
              </a:rPr>
              <a:t>, statistiques, visualisation, réseaux de neurones.</a:t>
            </a:r>
            <a:endParaRPr lang="fr-FR" sz="2400" dirty="0"/>
          </a:p>
        </p:txBody>
      </p:sp>
    </p:spTree>
    <p:extLst>
      <p:ext uri="{BB962C8B-B14F-4D97-AF65-F5344CB8AC3E}">
        <p14:creationId xmlns:p14="http://schemas.microsoft.com/office/powerpoint/2010/main" val="4095063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3979" y="118996"/>
            <a:ext cx="6581738" cy="553998"/>
          </a:xfrm>
          <a:prstGeom prst="rect">
            <a:avLst/>
          </a:prstGeom>
        </p:spPr>
        <p:txBody>
          <a:bodyPr wrap="none">
            <a:spAutoFit/>
          </a:bodyPr>
          <a:lstStyle/>
          <a:p>
            <a:r>
              <a:rPr lang="fr-FR" sz="3000" b="1" dirty="0">
                <a:solidFill>
                  <a:srgbClr val="C00000"/>
                </a:solidFill>
                <a:latin typeface="Times New Roman" panose="02020603050405020304" pitchFamily="18" charset="0"/>
                <a:cs typeface="Times New Roman" panose="02020603050405020304" pitchFamily="18" charset="0"/>
              </a:rPr>
              <a:t>Exemples d’applications : E-commerce</a:t>
            </a:r>
          </a:p>
        </p:txBody>
      </p:sp>
      <p:sp>
        <p:nvSpPr>
          <p:cNvPr id="3" name="Rectangle 2"/>
          <p:cNvSpPr/>
          <p:nvPr/>
        </p:nvSpPr>
        <p:spPr>
          <a:xfrm>
            <a:off x="431784" y="700726"/>
            <a:ext cx="10943623" cy="2970044"/>
          </a:xfrm>
          <a:prstGeom prst="rect">
            <a:avLst/>
          </a:prstGeom>
        </p:spPr>
        <p:txBody>
          <a:bodyPr wrap="square">
            <a:spAutoFit/>
          </a:bodyPr>
          <a:lstStyle/>
          <a:p>
            <a:r>
              <a:rPr lang="fr-FR" sz="2200" b="1" dirty="0">
                <a:latin typeface="Times New Roman" panose="02020603050405020304" pitchFamily="18" charset="0"/>
              </a:rPr>
              <a:t>Dell</a:t>
            </a:r>
          </a:p>
          <a:p>
            <a:pPr marL="285750" indent="-285750" algn="just">
              <a:lnSpc>
                <a:spcPct val="150000"/>
              </a:lnSpc>
              <a:buClr>
                <a:srgbClr val="C00000"/>
              </a:buClr>
              <a:buFont typeface="Wingdings" panose="05000000000000000000" pitchFamily="2" charset="2"/>
              <a:buChar char="§"/>
            </a:pPr>
            <a:r>
              <a:rPr lang="fr-FR" sz="2200" b="1" dirty="0" smtClean="0">
                <a:solidFill>
                  <a:srgbClr val="000000"/>
                </a:solidFill>
                <a:latin typeface="Times New Roman" panose="02020603050405020304" pitchFamily="18" charset="0"/>
              </a:rPr>
              <a:t>Problème </a:t>
            </a:r>
            <a:r>
              <a:rPr lang="fr-FR" sz="2200" dirty="0">
                <a:solidFill>
                  <a:srgbClr val="000000"/>
                </a:solidFill>
                <a:latin typeface="Times New Roman" panose="02020603050405020304" pitchFamily="18" charset="0"/>
              </a:rPr>
              <a:t>: </a:t>
            </a:r>
            <a:r>
              <a:rPr lang="fr-FR" sz="2200" b="0" i="0" u="none" strike="noStrike" baseline="0" dirty="0" smtClean="0">
                <a:solidFill>
                  <a:srgbClr val="000000"/>
                </a:solidFill>
                <a:latin typeface="CMR10"/>
              </a:rPr>
              <a:t>50% </a:t>
            </a:r>
            <a:r>
              <a:rPr lang="fr-FR" sz="2200" dirty="0">
                <a:solidFill>
                  <a:srgbClr val="000000"/>
                </a:solidFill>
                <a:latin typeface="Times New Roman" panose="02020603050405020304" pitchFamily="18" charset="0"/>
              </a:rPr>
              <a:t>des clients de Dell achètent leurs machines à travers </a:t>
            </a:r>
            <a:r>
              <a:rPr lang="fr-FR" sz="2200" dirty="0" smtClean="0">
                <a:solidFill>
                  <a:srgbClr val="000000"/>
                </a:solidFill>
                <a:latin typeface="Times New Roman" panose="02020603050405020304" pitchFamily="18" charset="0"/>
              </a:rPr>
              <a:t>le site </a:t>
            </a:r>
            <a:r>
              <a:rPr lang="fr-FR" sz="2200" dirty="0">
                <a:solidFill>
                  <a:srgbClr val="000000"/>
                </a:solidFill>
                <a:latin typeface="Times New Roman" panose="02020603050405020304" pitchFamily="18" charset="0"/>
              </a:rPr>
              <a:t>Web. Mais seulement </a:t>
            </a:r>
            <a:r>
              <a:rPr lang="fr-FR" sz="2200" b="0" i="0" u="none" strike="noStrike" baseline="0" dirty="0" smtClean="0">
                <a:solidFill>
                  <a:srgbClr val="000000"/>
                </a:solidFill>
                <a:latin typeface="CMR10"/>
              </a:rPr>
              <a:t>0</a:t>
            </a:r>
            <a:r>
              <a:rPr lang="fr-FR" sz="2200" b="0" i="0" u="none" strike="noStrike" baseline="0" dirty="0" smtClean="0">
                <a:solidFill>
                  <a:srgbClr val="000000"/>
                </a:solidFill>
                <a:latin typeface="CMMI10"/>
              </a:rPr>
              <a:t>.</a:t>
            </a:r>
            <a:r>
              <a:rPr lang="fr-FR" sz="2200" b="0" i="0" u="none" strike="noStrike" baseline="0" dirty="0" smtClean="0">
                <a:solidFill>
                  <a:srgbClr val="000000"/>
                </a:solidFill>
                <a:latin typeface="CMR10"/>
              </a:rPr>
              <a:t>5% </a:t>
            </a:r>
            <a:r>
              <a:rPr lang="fr-FR" sz="2200" dirty="0">
                <a:solidFill>
                  <a:srgbClr val="000000"/>
                </a:solidFill>
                <a:latin typeface="Times New Roman" panose="02020603050405020304" pitchFamily="18" charset="0"/>
              </a:rPr>
              <a:t>des visiteurs du site deviennent clients.</a:t>
            </a:r>
          </a:p>
          <a:p>
            <a:pPr marL="285750" indent="-285750" algn="just">
              <a:lnSpc>
                <a:spcPct val="150000"/>
              </a:lnSpc>
              <a:buClr>
                <a:srgbClr val="C00000"/>
              </a:buClr>
              <a:buFont typeface="Wingdings" panose="05000000000000000000" pitchFamily="2" charset="2"/>
              <a:buChar char="§"/>
            </a:pPr>
            <a:r>
              <a:rPr lang="fr-FR" sz="2200" b="1" dirty="0" smtClean="0">
                <a:solidFill>
                  <a:srgbClr val="000000"/>
                </a:solidFill>
                <a:latin typeface="Times New Roman" panose="02020603050405020304" pitchFamily="18" charset="0"/>
              </a:rPr>
              <a:t>Solution </a:t>
            </a:r>
            <a:r>
              <a:rPr lang="fr-FR" sz="2200" dirty="0">
                <a:solidFill>
                  <a:srgbClr val="000000"/>
                </a:solidFill>
                <a:latin typeface="Times New Roman" panose="02020603050405020304" pitchFamily="18" charset="0"/>
              </a:rPr>
              <a:t>: Stocker les séquences de clicks des visiteurs, analyser les caractéristiques des acheteurs et lors de la visite d’un client potentiel, adapter le contenu du site pour maximiser la probabilité d’un achat.</a:t>
            </a:r>
          </a:p>
        </p:txBody>
      </p:sp>
      <p:sp>
        <p:nvSpPr>
          <p:cNvPr id="4" name="Rectangle 3"/>
          <p:cNvSpPr/>
          <p:nvPr/>
        </p:nvSpPr>
        <p:spPr>
          <a:xfrm>
            <a:off x="431784" y="3547940"/>
            <a:ext cx="11284817" cy="3085075"/>
          </a:xfrm>
          <a:prstGeom prst="rect">
            <a:avLst/>
          </a:prstGeom>
        </p:spPr>
        <p:txBody>
          <a:bodyPr wrap="square">
            <a:spAutoFit/>
          </a:bodyPr>
          <a:lstStyle/>
          <a:p>
            <a:pPr algn="just">
              <a:lnSpc>
                <a:spcPct val="150000"/>
              </a:lnSpc>
            </a:pPr>
            <a:r>
              <a:rPr lang="fr-FR" sz="2200" b="1" dirty="0">
                <a:latin typeface="Times New Roman" panose="02020603050405020304" pitchFamily="18" charset="0"/>
              </a:rPr>
              <a:t>Amazon</a:t>
            </a:r>
          </a:p>
          <a:p>
            <a:pPr marL="285750" indent="-285750" algn="just">
              <a:lnSpc>
                <a:spcPct val="150000"/>
              </a:lnSpc>
              <a:buClr>
                <a:srgbClr val="C00000"/>
              </a:buClr>
              <a:buFont typeface="Wingdings" panose="05000000000000000000" pitchFamily="2" charset="2"/>
              <a:buChar char="§"/>
            </a:pPr>
            <a:r>
              <a:rPr lang="fr-FR" sz="2200" b="1" dirty="0" smtClean="0">
                <a:solidFill>
                  <a:srgbClr val="000000"/>
                </a:solidFill>
                <a:latin typeface="Times New Roman" panose="02020603050405020304" pitchFamily="18" charset="0"/>
              </a:rPr>
              <a:t>Opportunité </a:t>
            </a:r>
            <a:r>
              <a:rPr lang="fr-FR" sz="2200" dirty="0">
                <a:solidFill>
                  <a:srgbClr val="000000"/>
                </a:solidFill>
                <a:latin typeface="Times New Roman" panose="02020603050405020304" pitchFamily="18" charset="0"/>
              </a:rPr>
              <a:t>: la liste des achats des clients est stockée en mémoire </a:t>
            </a:r>
            <a:r>
              <a:rPr lang="fr-FR" sz="2200" dirty="0" smtClean="0">
                <a:solidFill>
                  <a:srgbClr val="000000"/>
                </a:solidFill>
                <a:latin typeface="Times New Roman" panose="02020603050405020304" pitchFamily="18" charset="0"/>
              </a:rPr>
              <a:t>et par </a:t>
            </a:r>
            <a:r>
              <a:rPr lang="fr-FR" sz="2200" dirty="0">
                <a:solidFill>
                  <a:srgbClr val="000000"/>
                </a:solidFill>
                <a:latin typeface="Times New Roman" panose="02020603050405020304" pitchFamily="18" charset="0"/>
              </a:rPr>
              <a:t>ailleurs, les utilisateurs du site notent les produits ! Comment </a:t>
            </a:r>
            <a:r>
              <a:rPr lang="fr-FR" sz="2200" dirty="0" smtClean="0">
                <a:solidFill>
                  <a:srgbClr val="000000"/>
                </a:solidFill>
                <a:latin typeface="Times New Roman" panose="02020603050405020304" pitchFamily="18" charset="0"/>
              </a:rPr>
              <a:t>tirer profit </a:t>
            </a:r>
            <a:r>
              <a:rPr lang="fr-FR" sz="2200" dirty="0">
                <a:solidFill>
                  <a:srgbClr val="000000"/>
                </a:solidFill>
                <a:latin typeface="Times New Roman" panose="02020603050405020304" pitchFamily="18" charset="0"/>
              </a:rPr>
              <a:t>des choix d’un utilisateur pour proposer des produits à un </a:t>
            </a:r>
            <a:r>
              <a:rPr lang="fr-FR" sz="2200" dirty="0" smtClean="0">
                <a:solidFill>
                  <a:srgbClr val="000000"/>
                </a:solidFill>
                <a:latin typeface="Times New Roman" panose="02020603050405020304" pitchFamily="18" charset="0"/>
              </a:rPr>
              <a:t>autre client </a:t>
            </a:r>
            <a:r>
              <a:rPr lang="fr-FR" sz="2200" dirty="0">
                <a:solidFill>
                  <a:srgbClr val="000000"/>
                </a:solidFill>
                <a:latin typeface="Times New Roman" panose="02020603050405020304" pitchFamily="18" charset="0"/>
              </a:rPr>
              <a:t>?</a:t>
            </a:r>
          </a:p>
          <a:p>
            <a:pPr marL="285750" indent="-285750" algn="just">
              <a:lnSpc>
                <a:spcPct val="150000"/>
              </a:lnSpc>
              <a:buClr>
                <a:srgbClr val="C00000"/>
              </a:buClr>
              <a:buFont typeface="Wingdings" panose="05000000000000000000" pitchFamily="2" charset="2"/>
              <a:buChar char="§"/>
            </a:pPr>
            <a:r>
              <a:rPr lang="fr-FR" sz="2200" b="1" dirty="0" smtClean="0">
                <a:solidFill>
                  <a:srgbClr val="000000"/>
                </a:solidFill>
                <a:latin typeface="Times New Roman" panose="02020603050405020304" pitchFamily="18" charset="0"/>
              </a:rPr>
              <a:t>Solutions </a:t>
            </a:r>
            <a:r>
              <a:rPr lang="fr-FR" sz="2200" dirty="0">
                <a:solidFill>
                  <a:srgbClr val="000000"/>
                </a:solidFill>
                <a:latin typeface="Times New Roman" panose="02020603050405020304" pitchFamily="18" charset="0"/>
              </a:rPr>
              <a:t>: technique dit de filtrage collaboratif permettant de </a:t>
            </a:r>
            <a:r>
              <a:rPr lang="fr-FR" sz="2200" dirty="0" smtClean="0">
                <a:solidFill>
                  <a:srgbClr val="000000"/>
                </a:solidFill>
                <a:latin typeface="Times New Roman" panose="02020603050405020304" pitchFamily="18" charset="0"/>
              </a:rPr>
              <a:t>regrouper des </a:t>
            </a:r>
            <a:r>
              <a:rPr lang="fr-FR" sz="2200" dirty="0">
                <a:solidFill>
                  <a:srgbClr val="000000"/>
                </a:solidFill>
                <a:latin typeface="Times New Roman" panose="02020603050405020304" pitchFamily="18" charset="0"/>
              </a:rPr>
              <a:t>clients ayant les mêmes “goûts”</a:t>
            </a:r>
            <a:endParaRPr lang="fr-FR" sz="2200" dirty="0"/>
          </a:p>
        </p:txBody>
      </p:sp>
    </p:spTree>
    <p:extLst>
      <p:ext uri="{BB962C8B-B14F-4D97-AF65-F5344CB8AC3E}">
        <p14:creationId xmlns:p14="http://schemas.microsoft.com/office/powerpoint/2010/main" val="2488757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167" y="269121"/>
            <a:ext cx="7695953" cy="553998"/>
          </a:xfrm>
          <a:prstGeom prst="rect">
            <a:avLst/>
          </a:prstGeom>
        </p:spPr>
        <p:txBody>
          <a:bodyPr wrap="none">
            <a:spAutoFit/>
          </a:bodyPr>
          <a:lstStyle/>
          <a:p>
            <a:r>
              <a:rPr lang="fr-FR" sz="3000" b="1" dirty="0">
                <a:solidFill>
                  <a:srgbClr val="C00000"/>
                </a:solidFill>
                <a:latin typeface="Times New Roman" panose="02020603050405020304" pitchFamily="18" charset="0"/>
                <a:cs typeface="Times New Roman" panose="02020603050405020304" pitchFamily="18" charset="0"/>
              </a:rPr>
              <a:t>Exemples d’applications : Analyse des risques</a:t>
            </a:r>
          </a:p>
        </p:txBody>
      </p:sp>
      <p:sp>
        <p:nvSpPr>
          <p:cNvPr id="3" name="Rectangle 2"/>
          <p:cNvSpPr/>
          <p:nvPr/>
        </p:nvSpPr>
        <p:spPr>
          <a:xfrm>
            <a:off x="304800" y="1453501"/>
            <a:ext cx="11887200" cy="2246769"/>
          </a:xfrm>
          <a:prstGeom prst="rect">
            <a:avLst/>
          </a:prstGeom>
        </p:spPr>
        <p:txBody>
          <a:bodyPr wrap="square">
            <a:spAutoFit/>
          </a:bodyPr>
          <a:lstStyle/>
          <a:p>
            <a:pPr algn="just"/>
            <a:r>
              <a:rPr lang="fr-FR" sz="2000" b="1" dirty="0">
                <a:latin typeface="Times New Roman" panose="02020603050405020304" pitchFamily="18" charset="0"/>
                <a:cs typeface="Times New Roman" panose="02020603050405020304" pitchFamily="18" charset="0"/>
              </a:rPr>
              <a:t>Détection de fraudes pour les assurances</a:t>
            </a:r>
          </a:p>
          <a:p>
            <a:pPr marL="342900" indent="-342900" algn="just">
              <a:lnSpc>
                <a:spcPct val="150000"/>
              </a:lnSpc>
              <a:buClr>
                <a:srgbClr val="C00000"/>
              </a:buClr>
              <a:buFont typeface="Wingdings" panose="05000000000000000000" pitchFamily="2" charset="2"/>
              <a:buChar char="§"/>
            </a:pPr>
            <a:r>
              <a:rPr lang="fr-FR" sz="2000" dirty="0" smtClean="0">
                <a:solidFill>
                  <a:srgbClr val="000000"/>
                </a:solidFill>
                <a:latin typeface="Times New Roman" panose="02020603050405020304" pitchFamily="18" charset="0"/>
                <a:cs typeface="Times New Roman" panose="02020603050405020304" pitchFamily="18" charset="0"/>
              </a:rPr>
              <a:t>Analyse </a:t>
            </a:r>
            <a:r>
              <a:rPr lang="fr-FR" sz="2000" dirty="0">
                <a:solidFill>
                  <a:srgbClr val="000000"/>
                </a:solidFill>
                <a:latin typeface="Times New Roman" panose="02020603050405020304" pitchFamily="18" charset="0"/>
                <a:cs typeface="Times New Roman" panose="02020603050405020304" pitchFamily="18" charset="0"/>
              </a:rPr>
              <a:t>des déclarations des assurés par un expert afin d’identifier </a:t>
            </a:r>
            <a:r>
              <a:rPr lang="fr-FR" sz="2000" dirty="0" smtClean="0">
                <a:solidFill>
                  <a:srgbClr val="000000"/>
                </a:solidFill>
                <a:latin typeface="Times New Roman" panose="02020603050405020304" pitchFamily="18" charset="0"/>
                <a:cs typeface="Times New Roman" panose="02020603050405020304" pitchFamily="18" charset="0"/>
              </a:rPr>
              <a:t>les cas </a:t>
            </a:r>
            <a:r>
              <a:rPr lang="fr-FR" sz="2000" dirty="0">
                <a:solidFill>
                  <a:srgbClr val="000000"/>
                </a:solidFill>
                <a:latin typeface="Times New Roman" panose="02020603050405020304" pitchFamily="18" charset="0"/>
                <a:cs typeface="Times New Roman" panose="02020603050405020304" pitchFamily="18" charset="0"/>
              </a:rPr>
              <a:t>de fraudes.</a:t>
            </a:r>
          </a:p>
          <a:p>
            <a:pPr marL="342900" indent="-342900" algn="just">
              <a:lnSpc>
                <a:spcPct val="150000"/>
              </a:lnSpc>
              <a:buClr>
                <a:srgbClr val="C00000"/>
              </a:buClr>
              <a:buFont typeface="Wingdings" panose="05000000000000000000" pitchFamily="2" charset="2"/>
              <a:buChar char="§"/>
            </a:pPr>
            <a:r>
              <a:rPr lang="fr-FR" sz="2000" dirty="0" smtClean="0">
                <a:solidFill>
                  <a:srgbClr val="000000"/>
                </a:solidFill>
                <a:latin typeface="Times New Roman" panose="02020603050405020304" pitchFamily="18" charset="0"/>
                <a:cs typeface="Times New Roman" panose="02020603050405020304" pitchFamily="18" charset="0"/>
              </a:rPr>
              <a:t>Extraction </a:t>
            </a:r>
            <a:r>
              <a:rPr lang="fr-FR" sz="2000" dirty="0">
                <a:solidFill>
                  <a:srgbClr val="000000"/>
                </a:solidFill>
                <a:latin typeface="Times New Roman" panose="02020603050405020304" pitchFamily="18" charset="0"/>
                <a:cs typeface="Times New Roman" panose="02020603050405020304" pitchFamily="18" charset="0"/>
              </a:rPr>
              <a:t>de caractéristiques à partir de ces déclarations (type d’accident, de blessures, etc...)</a:t>
            </a:r>
          </a:p>
          <a:p>
            <a:pPr marL="342900" indent="-342900" algn="just">
              <a:lnSpc>
                <a:spcPct val="150000"/>
              </a:lnSpc>
              <a:buClr>
                <a:srgbClr val="C00000"/>
              </a:buClr>
              <a:buFont typeface="Wingdings" panose="05000000000000000000" pitchFamily="2" charset="2"/>
              <a:buChar char="§"/>
            </a:pPr>
            <a:r>
              <a:rPr lang="fr-FR" sz="2000" dirty="0" smtClean="0">
                <a:solidFill>
                  <a:srgbClr val="000000"/>
                </a:solidFill>
                <a:latin typeface="Times New Roman" panose="02020603050405020304" pitchFamily="18" charset="0"/>
                <a:cs typeface="Times New Roman" panose="02020603050405020304" pitchFamily="18" charset="0"/>
              </a:rPr>
              <a:t>Applications </a:t>
            </a:r>
            <a:r>
              <a:rPr lang="fr-FR" sz="2000" dirty="0">
                <a:solidFill>
                  <a:srgbClr val="000000"/>
                </a:solidFill>
                <a:latin typeface="Times New Roman" panose="02020603050405020304" pitchFamily="18" charset="0"/>
                <a:cs typeface="Times New Roman" panose="02020603050405020304" pitchFamily="18" charset="0"/>
              </a:rPr>
              <a:t>de méthodes statistiques pour identifier les caractéristiques des déclarations fortement corrélées à la fraude.</a:t>
            </a:r>
          </a:p>
        </p:txBody>
      </p:sp>
      <p:sp>
        <p:nvSpPr>
          <p:cNvPr id="4" name="Rectangle 3"/>
          <p:cNvSpPr/>
          <p:nvPr/>
        </p:nvSpPr>
        <p:spPr>
          <a:xfrm>
            <a:off x="365167" y="3850396"/>
            <a:ext cx="9870654" cy="1785104"/>
          </a:xfrm>
          <a:prstGeom prst="rect">
            <a:avLst/>
          </a:prstGeom>
        </p:spPr>
        <p:txBody>
          <a:bodyPr wrap="square">
            <a:spAutoFit/>
          </a:bodyPr>
          <a:lstStyle/>
          <a:p>
            <a:r>
              <a:rPr lang="fr-FR" sz="2000" b="1" dirty="0">
                <a:latin typeface="Times New Roman" panose="02020603050405020304" pitchFamily="18" charset="0"/>
                <a:cs typeface="Times New Roman" panose="02020603050405020304" pitchFamily="18" charset="0"/>
              </a:rPr>
              <a:t>Prêt Bancaire</a:t>
            </a:r>
          </a:p>
          <a:p>
            <a:pPr marL="342900" indent="-342900" algn="just">
              <a:lnSpc>
                <a:spcPct val="150000"/>
              </a:lnSpc>
              <a:buClr>
                <a:srgbClr val="C00000"/>
              </a:buClr>
              <a:buFont typeface="Wingdings" panose="05000000000000000000" pitchFamily="2" charset="2"/>
              <a:buChar char="§"/>
            </a:pPr>
            <a:r>
              <a:rPr lang="fr-FR" sz="2000" b="1" dirty="0" smtClean="0">
                <a:solidFill>
                  <a:srgbClr val="000000"/>
                </a:solidFill>
                <a:latin typeface="Times New Roman" panose="02020603050405020304" pitchFamily="18" charset="0"/>
                <a:cs typeface="Times New Roman" panose="02020603050405020304" pitchFamily="18" charset="0"/>
              </a:rPr>
              <a:t>Objectif </a:t>
            </a:r>
            <a:r>
              <a:rPr lang="fr-FR" sz="2000" b="1" dirty="0">
                <a:solidFill>
                  <a:srgbClr val="000000"/>
                </a:solidFill>
                <a:latin typeface="Times New Roman" panose="02020603050405020304" pitchFamily="18" charset="0"/>
                <a:cs typeface="Times New Roman" panose="02020603050405020304" pitchFamily="18" charset="0"/>
              </a:rPr>
              <a:t>des banques </a:t>
            </a:r>
            <a:r>
              <a:rPr lang="fr-FR" sz="2000" dirty="0">
                <a:solidFill>
                  <a:srgbClr val="000000"/>
                </a:solidFill>
                <a:latin typeface="Times New Roman" panose="02020603050405020304" pitchFamily="18" charset="0"/>
                <a:cs typeface="Times New Roman" panose="02020603050405020304" pitchFamily="18" charset="0"/>
              </a:rPr>
              <a:t>: réduire le risque des prêts </a:t>
            </a:r>
            <a:r>
              <a:rPr lang="fr-FR" sz="2000" dirty="0" smtClean="0">
                <a:solidFill>
                  <a:srgbClr val="000000"/>
                </a:solidFill>
                <a:latin typeface="Times New Roman" panose="02020603050405020304" pitchFamily="18" charset="0"/>
                <a:cs typeface="Times New Roman" panose="02020603050405020304" pitchFamily="18" charset="0"/>
              </a:rPr>
              <a:t>bancaires.</a:t>
            </a:r>
          </a:p>
          <a:p>
            <a:pPr marL="342900" indent="-342900" algn="just">
              <a:lnSpc>
                <a:spcPct val="150000"/>
              </a:lnSpc>
              <a:buClr>
                <a:srgbClr val="C00000"/>
              </a:buClr>
              <a:buFont typeface="Wingdings" panose="05000000000000000000" pitchFamily="2" charset="2"/>
              <a:buChar char="§"/>
            </a:pPr>
            <a:r>
              <a:rPr lang="fr-FR" sz="2000" dirty="0" smtClean="0">
                <a:solidFill>
                  <a:srgbClr val="000000"/>
                </a:solidFill>
                <a:latin typeface="Times New Roman" panose="02020603050405020304" pitchFamily="18" charset="0"/>
              </a:rPr>
              <a:t>Créer </a:t>
            </a:r>
            <a:r>
              <a:rPr lang="fr-FR" sz="2000" dirty="0">
                <a:solidFill>
                  <a:srgbClr val="000000"/>
                </a:solidFill>
                <a:latin typeface="Times New Roman" panose="02020603050405020304" pitchFamily="18" charset="0"/>
              </a:rPr>
              <a:t>un modèle à partir </a:t>
            </a:r>
            <a:r>
              <a:rPr lang="fr-FR" sz="2000" dirty="0" smtClean="0">
                <a:solidFill>
                  <a:srgbClr val="000000"/>
                </a:solidFill>
                <a:latin typeface="Times New Roman" panose="02020603050405020304" pitchFamily="18" charset="0"/>
              </a:rPr>
              <a:t>de caractéristiques </a:t>
            </a:r>
            <a:r>
              <a:rPr lang="fr-FR" sz="2000" dirty="0">
                <a:solidFill>
                  <a:srgbClr val="000000"/>
                </a:solidFill>
                <a:latin typeface="Times New Roman" panose="02020603050405020304" pitchFamily="18" charset="0"/>
              </a:rPr>
              <a:t>des clients pour </a:t>
            </a:r>
            <a:r>
              <a:rPr lang="fr-FR" sz="2000" dirty="0" smtClean="0">
                <a:solidFill>
                  <a:srgbClr val="000000"/>
                </a:solidFill>
                <a:latin typeface="Times New Roman" panose="02020603050405020304" pitchFamily="18" charset="0"/>
              </a:rPr>
              <a:t>discriminer les </a:t>
            </a:r>
            <a:r>
              <a:rPr lang="fr-FR" sz="2000" dirty="0">
                <a:solidFill>
                  <a:srgbClr val="000000"/>
                </a:solidFill>
                <a:latin typeface="Times New Roman" panose="02020603050405020304" pitchFamily="18" charset="0"/>
              </a:rPr>
              <a:t>clients à risque des autres</a:t>
            </a:r>
            <a:r>
              <a:rPr lang="fr-FR" dirty="0">
                <a:solidFill>
                  <a:srgbClr val="000000"/>
                </a:solidFill>
                <a:latin typeface="Times New Roman" panose="02020603050405020304" pitchFamily="18" charset="0"/>
              </a:rPr>
              <a:t>.</a:t>
            </a:r>
            <a:endParaRPr lang="fr-FR" dirty="0"/>
          </a:p>
        </p:txBody>
      </p:sp>
    </p:spTree>
    <p:extLst>
      <p:ext uri="{BB962C8B-B14F-4D97-AF65-F5344CB8AC3E}">
        <p14:creationId xmlns:p14="http://schemas.microsoft.com/office/powerpoint/2010/main" val="1819338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4756" y="187236"/>
            <a:ext cx="6302816" cy="553998"/>
          </a:xfrm>
          <a:prstGeom prst="rect">
            <a:avLst/>
          </a:prstGeom>
        </p:spPr>
        <p:txBody>
          <a:bodyPr wrap="none">
            <a:spAutoFit/>
          </a:bodyPr>
          <a:lstStyle/>
          <a:p>
            <a:r>
              <a:rPr lang="fr-FR" sz="3000" b="1" dirty="0">
                <a:solidFill>
                  <a:srgbClr val="C00000"/>
                </a:solidFill>
                <a:latin typeface="Times New Roman" panose="02020603050405020304" pitchFamily="18" charset="0"/>
                <a:cs typeface="Times New Roman" panose="02020603050405020304" pitchFamily="18" charset="0"/>
              </a:rPr>
              <a:t>Exemples d’applications : Commerce</a:t>
            </a:r>
          </a:p>
        </p:txBody>
      </p:sp>
      <p:sp>
        <p:nvSpPr>
          <p:cNvPr id="3" name="Rectangle 2"/>
          <p:cNvSpPr/>
          <p:nvPr/>
        </p:nvSpPr>
        <p:spPr>
          <a:xfrm>
            <a:off x="628163" y="975774"/>
            <a:ext cx="11067967" cy="4708981"/>
          </a:xfrm>
          <a:prstGeom prst="rect">
            <a:avLst/>
          </a:prstGeom>
        </p:spPr>
        <p:txBody>
          <a:bodyPr wrap="square">
            <a:spAutoFit/>
          </a:bodyPr>
          <a:lstStyle/>
          <a:p>
            <a:pPr>
              <a:lnSpc>
                <a:spcPct val="150000"/>
              </a:lnSpc>
            </a:pPr>
            <a:r>
              <a:rPr lang="fr-FR" sz="2000" b="1" dirty="0">
                <a:latin typeface="Times New Roman" panose="02020603050405020304" pitchFamily="18" charset="0"/>
              </a:rPr>
              <a:t>Organisation de rayonnage</a:t>
            </a:r>
          </a:p>
          <a:p>
            <a:pPr marL="342900" indent="-342900">
              <a:lnSpc>
                <a:spcPct val="150000"/>
              </a:lnSpc>
              <a:buClr>
                <a:srgbClr val="C00000"/>
              </a:buClr>
              <a:buFont typeface="Wingdings" panose="05000000000000000000" pitchFamily="2" charset="2"/>
              <a:buChar char="§"/>
            </a:pPr>
            <a:r>
              <a:rPr lang="fr-FR" sz="2000" b="1" dirty="0" smtClean="0">
                <a:solidFill>
                  <a:srgbClr val="000000"/>
                </a:solidFill>
                <a:latin typeface="Times New Roman" panose="02020603050405020304" pitchFamily="18" charset="0"/>
              </a:rPr>
              <a:t>Objectifs </a:t>
            </a:r>
            <a:r>
              <a:rPr lang="fr-FR" sz="2000" dirty="0">
                <a:solidFill>
                  <a:srgbClr val="000000"/>
                </a:solidFill>
                <a:latin typeface="Times New Roman" panose="02020603050405020304" pitchFamily="18" charset="0"/>
              </a:rPr>
              <a:t>: Identifier les produits que les gens sont </a:t>
            </a:r>
            <a:r>
              <a:rPr lang="fr-FR" sz="2000" dirty="0" smtClean="0">
                <a:solidFill>
                  <a:srgbClr val="000000"/>
                </a:solidFill>
                <a:latin typeface="Times New Roman" panose="02020603050405020304" pitchFamily="18" charset="0"/>
              </a:rPr>
              <a:t>susceptibles d’acheter </a:t>
            </a:r>
            <a:r>
              <a:rPr lang="fr-FR" sz="2000" dirty="0">
                <a:solidFill>
                  <a:srgbClr val="000000"/>
                </a:solidFill>
                <a:latin typeface="Times New Roman" panose="02020603050405020304" pitchFamily="18" charset="0"/>
              </a:rPr>
              <a:t>conjointement afin d’organiser les rayonnages</a:t>
            </a:r>
          </a:p>
          <a:p>
            <a:pPr marL="342900" indent="-342900">
              <a:lnSpc>
                <a:spcPct val="150000"/>
              </a:lnSpc>
              <a:buClr>
                <a:srgbClr val="C00000"/>
              </a:buClr>
              <a:buFont typeface="Wingdings" panose="05000000000000000000" pitchFamily="2" charset="2"/>
              <a:buChar char="§"/>
            </a:pPr>
            <a:r>
              <a:rPr lang="fr-FR" sz="2000" b="1" dirty="0" smtClean="0">
                <a:solidFill>
                  <a:srgbClr val="000000"/>
                </a:solidFill>
                <a:latin typeface="Times New Roman" panose="02020603050405020304" pitchFamily="18" charset="0"/>
              </a:rPr>
              <a:t>Données </a:t>
            </a:r>
            <a:r>
              <a:rPr lang="fr-FR" sz="2000" dirty="0">
                <a:solidFill>
                  <a:srgbClr val="000000"/>
                </a:solidFill>
                <a:latin typeface="Times New Roman" panose="02020603050405020304" pitchFamily="18" charset="0"/>
              </a:rPr>
              <a:t>: </a:t>
            </a:r>
            <a:r>
              <a:rPr lang="fr-FR" sz="2000" dirty="0" err="1">
                <a:solidFill>
                  <a:srgbClr val="000000"/>
                </a:solidFill>
                <a:latin typeface="Times New Roman" panose="02020603050405020304" pitchFamily="18" charset="0"/>
              </a:rPr>
              <a:t>Code-Barre</a:t>
            </a:r>
            <a:r>
              <a:rPr lang="fr-FR" sz="2000" dirty="0">
                <a:solidFill>
                  <a:srgbClr val="000000"/>
                </a:solidFill>
                <a:latin typeface="Times New Roman" panose="02020603050405020304" pitchFamily="18" charset="0"/>
              </a:rPr>
              <a:t> des </a:t>
            </a:r>
            <a:r>
              <a:rPr lang="fr-FR" sz="2000" dirty="0" smtClean="0">
                <a:solidFill>
                  <a:srgbClr val="000000"/>
                </a:solidFill>
                <a:latin typeface="Times New Roman" panose="02020603050405020304" pitchFamily="18" charset="0"/>
              </a:rPr>
              <a:t>produits.</a:t>
            </a:r>
          </a:p>
          <a:p>
            <a:pPr marL="342900" indent="-342900">
              <a:lnSpc>
                <a:spcPct val="150000"/>
              </a:lnSpc>
              <a:buClr>
                <a:srgbClr val="C00000"/>
              </a:buClr>
              <a:buFont typeface="Wingdings" panose="05000000000000000000" pitchFamily="2" charset="2"/>
              <a:buChar char="§"/>
            </a:pPr>
            <a:r>
              <a:rPr lang="fr-FR" sz="2000" b="1" dirty="0" smtClean="0">
                <a:solidFill>
                  <a:srgbClr val="000000"/>
                </a:solidFill>
                <a:latin typeface="Times New Roman" panose="02020603050405020304" pitchFamily="18" charset="0"/>
              </a:rPr>
              <a:t>Méthodes  </a:t>
            </a:r>
            <a:r>
              <a:rPr lang="fr-FR" sz="2000" b="1" dirty="0">
                <a:solidFill>
                  <a:srgbClr val="000000"/>
                </a:solidFill>
                <a:latin typeface="Times New Roman" panose="02020603050405020304" pitchFamily="18" charset="0"/>
              </a:rPr>
              <a:t>: </a:t>
            </a:r>
            <a:r>
              <a:rPr lang="fr-FR" sz="2000" dirty="0">
                <a:solidFill>
                  <a:srgbClr val="000000"/>
                </a:solidFill>
                <a:latin typeface="Times New Roman" panose="02020603050405020304" pitchFamily="18" charset="0"/>
              </a:rPr>
              <a:t>Extractions de </a:t>
            </a:r>
            <a:r>
              <a:rPr lang="fr-FR" sz="2000" dirty="0" smtClean="0">
                <a:solidFill>
                  <a:srgbClr val="000000"/>
                </a:solidFill>
                <a:latin typeface="Times New Roman" panose="02020603050405020304" pitchFamily="18" charset="0"/>
              </a:rPr>
              <a:t>règles d’association</a:t>
            </a:r>
            <a:endParaRPr lang="fr-FR" sz="2000" dirty="0">
              <a:solidFill>
                <a:srgbClr val="000000"/>
              </a:solidFill>
              <a:latin typeface="Times New Roman" panose="02020603050405020304" pitchFamily="18" charset="0"/>
            </a:endParaRPr>
          </a:p>
          <a:p>
            <a:pPr marL="342900" indent="-342900">
              <a:lnSpc>
                <a:spcPct val="150000"/>
              </a:lnSpc>
              <a:buClr>
                <a:srgbClr val="C00000"/>
              </a:buClr>
              <a:buFont typeface="Wingdings" panose="05000000000000000000" pitchFamily="2" charset="2"/>
              <a:buChar char="§"/>
            </a:pPr>
            <a:r>
              <a:rPr lang="fr-FR" sz="2000" dirty="0" smtClean="0">
                <a:solidFill>
                  <a:srgbClr val="000000"/>
                </a:solidFill>
                <a:latin typeface="Times New Roman" panose="02020603050405020304" pitchFamily="18" charset="0"/>
              </a:rPr>
              <a:t>Exemples :</a:t>
            </a:r>
          </a:p>
          <a:p>
            <a:pPr marL="342900" indent="-342900">
              <a:lnSpc>
                <a:spcPct val="150000"/>
              </a:lnSpc>
              <a:buClr>
                <a:srgbClr val="C00000"/>
              </a:buClr>
              <a:buFont typeface="Wingdings" panose="05000000000000000000" pitchFamily="2" charset="2"/>
              <a:buChar char="ü"/>
            </a:pPr>
            <a:r>
              <a:rPr lang="fr-FR" sz="2000" b="1" dirty="0" smtClean="0">
                <a:solidFill>
                  <a:srgbClr val="000000"/>
                </a:solidFill>
                <a:latin typeface="Times New Roman" panose="02020603050405020304" pitchFamily="18" charset="0"/>
              </a:rPr>
              <a:t>résultats </a:t>
            </a:r>
            <a:r>
              <a:rPr lang="fr-FR" sz="2000" b="1" dirty="0">
                <a:solidFill>
                  <a:srgbClr val="000000"/>
                </a:solidFill>
                <a:latin typeface="Times New Roman" panose="02020603050405020304" pitchFamily="18" charset="0"/>
              </a:rPr>
              <a:t>logiques </a:t>
            </a:r>
            <a:r>
              <a:rPr lang="fr-FR" sz="2000" dirty="0">
                <a:solidFill>
                  <a:srgbClr val="000000"/>
                </a:solidFill>
                <a:latin typeface="Times New Roman" panose="02020603050405020304" pitchFamily="18" charset="0"/>
              </a:rPr>
              <a:t>: les boissons alcoolisées et les biscuits </a:t>
            </a:r>
            <a:r>
              <a:rPr lang="fr-FR" sz="2000" dirty="0" smtClean="0">
                <a:solidFill>
                  <a:srgbClr val="000000"/>
                </a:solidFill>
                <a:latin typeface="Times New Roman" panose="02020603050405020304" pitchFamily="18" charset="0"/>
              </a:rPr>
              <a:t>apéritifs sont </a:t>
            </a:r>
            <a:r>
              <a:rPr lang="fr-FR" sz="2000" dirty="0">
                <a:solidFill>
                  <a:srgbClr val="000000"/>
                </a:solidFill>
                <a:latin typeface="Times New Roman" panose="02020603050405020304" pitchFamily="18" charset="0"/>
              </a:rPr>
              <a:t>souvent </a:t>
            </a:r>
            <a:r>
              <a:rPr lang="fr-FR" sz="2000" dirty="0" smtClean="0">
                <a:solidFill>
                  <a:srgbClr val="000000"/>
                </a:solidFill>
                <a:latin typeface="Times New Roman" panose="02020603050405020304" pitchFamily="18" charset="0"/>
              </a:rPr>
              <a:t>proches.</a:t>
            </a:r>
          </a:p>
          <a:p>
            <a:pPr marL="342900" indent="-342900">
              <a:lnSpc>
                <a:spcPct val="150000"/>
              </a:lnSpc>
              <a:buClr>
                <a:srgbClr val="C00000"/>
              </a:buClr>
              <a:buFont typeface="Wingdings" panose="05000000000000000000" pitchFamily="2" charset="2"/>
              <a:buChar char="ü"/>
            </a:pPr>
            <a:r>
              <a:rPr lang="fr-FR" sz="2000" b="1" dirty="0" smtClean="0">
                <a:solidFill>
                  <a:srgbClr val="000000"/>
                </a:solidFill>
                <a:latin typeface="Times New Roman" panose="02020603050405020304" pitchFamily="18" charset="0"/>
              </a:rPr>
              <a:t>résultats </a:t>
            </a:r>
            <a:r>
              <a:rPr lang="fr-FR" sz="2000" b="1" dirty="0">
                <a:solidFill>
                  <a:srgbClr val="000000"/>
                </a:solidFill>
                <a:latin typeface="Times New Roman" panose="02020603050405020304" pitchFamily="18" charset="0"/>
              </a:rPr>
              <a:t>étranges </a:t>
            </a:r>
            <a:r>
              <a:rPr lang="fr-FR" sz="2000" dirty="0">
                <a:solidFill>
                  <a:srgbClr val="000000"/>
                </a:solidFill>
                <a:latin typeface="Times New Roman" panose="02020603050405020304" pitchFamily="18" charset="0"/>
              </a:rPr>
              <a:t>: dans une étude américaine, la vente de bière </a:t>
            </a:r>
            <a:r>
              <a:rPr lang="fr-FR" sz="2000" dirty="0" smtClean="0">
                <a:solidFill>
                  <a:srgbClr val="000000"/>
                </a:solidFill>
                <a:latin typeface="Times New Roman" panose="02020603050405020304" pitchFamily="18" charset="0"/>
              </a:rPr>
              <a:t>est plus </a:t>
            </a:r>
            <a:r>
              <a:rPr lang="fr-FR" sz="2000" dirty="0">
                <a:solidFill>
                  <a:srgbClr val="000000"/>
                </a:solidFill>
                <a:latin typeface="Times New Roman" panose="02020603050405020304" pitchFamily="18" charset="0"/>
              </a:rPr>
              <a:t>importante si le rayon des couches n’est pas trop loin, et si sur </a:t>
            </a:r>
            <a:r>
              <a:rPr lang="fr-FR" sz="2000" dirty="0" smtClean="0">
                <a:solidFill>
                  <a:srgbClr val="000000"/>
                </a:solidFill>
                <a:latin typeface="Times New Roman" panose="02020603050405020304" pitchFamily="18" charset="0"/>
              </a:rPr>
              <a:t>le chemin </a:t>
            </a:r>
            <a:r>
              <a:rPr lang="fr-FR" sz="2000" dirty="0">
                <a:solidFill>
                  <a:srgbClr val="000000"/>
                </a:solidFill>
                <a:latin typeface="Times New Roman" panose="02020603050405020304" pitchFamily="18" charset="0"/>
              </a:rPr>
              <a:t>il y a des chips, cela permet d’augmenter la vente des 3</a:t>
            </a:r>
          </a:p>
          <a:p>
            <a:pPr marL="355600">
              <a:lnSpc>
                <a:spcPct val="150000"/>
              </a:lnSpc>
            </a:pPr>
            <a:r>
              <a:rPr lang="fr-FR" sz="2000" dirty="0">
                <a:solidFill>
                  <a:srgbClr val="000000"/>
                </a:solidFill>
                <a:latin typeface="Times New Roman" panose="02020603050405020304" pitchFamily="18" charset="0"/>
              </a:rPr>
              <a:t>produits.</a:t>
            </a:r>
            <a:endParaRPr lang="fr-FR" sz="2000" dirty="0"/>
          </a:p>
        </p:txBody>
      </p:sp>
    </p:spTree>
    <p:extLst>
      <p:ext uri="{BB962C8B-B14F-4D97-AF65-F5344CB8AC3E}">
        <p14:creationId xmlns:p14="http://schemas.microsoft.com/office/powerpoint/2010/main" val="61358488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1109</Words>
  <Application>Microsoft Office PowerPoint</Application>
  <PresentationFormat>Grand écran</PresentationFormat>
  <Paragraphs>117</Paragraphs>
  <Slides>16</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16</vt:i4>
      </vt:variant>
    </vt:vector>
  </HeadingPairs>
  <TitlesOfParts>
    <vt:vector size="25" baseType="lpstr">
      <vt:lpstr>Arial</vt:lpstr>
      <vt:lpstr>Calibri</vt:lpstr>
      <vt:lpstr>Calibri Light</vt:lpstr>
      <vt:lpstr>CMMI10</vt:lpstr>
      <vt:lpstr>CMR10</vt:lpstr>
      <vt:lpstr>CMSY10</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SIDIBE</dc:creator>
  <cp:lastModifiedBy>SIDIBE</cp:lastModifiedBy>
  <cp:revision>18</cp:revision>
  <dcterms:created xsi:type="dcterms:W3CDTF">2021-11-10T08:44:31Z</dcterms:created>
  <dcterms:modified xsi:type="dcterms:W3CDTF">2021-11-10T10:31:47Z</dcterms:modified>
</cp:coreProperties>
</file>
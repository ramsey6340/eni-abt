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256" r:id="rId3"/>
    <p:sldId id="258" r:id="rId4"/>
    <p:sldId id="259" r:id="rId5"/>
    <p:sldId id="260" r:id="rId6"/>
    <p:sldId id="261" r:id="rId7"/>
    <p:sldId id="263" r:id="rId8"/>
    <p:sldId id="262" r:id="rId9"/>
    <p:sldId id="264" r:id="rId10"/>
    <p:sldId id="271"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C3D62-C212-4B20-B21C-45DC10D2E59A}" type="datetimeFigureOut">
              <a:rPr lang="fr-FR" smtClean="0"/>
              <a:t>21/01/2025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6E06D-4CEC-45F3-B37F-DE793732DFC8}" type="slidenum">
              <a:rPr lang="fr-FR" smtClean="0"/>
              <a:t>‹N°›</a:t>
            </a:fld>
            <a:endParaRPr lang="fr-FR"/>
          </a:p>
        </p:txBody>
      </p:sp>
    </p:spTree>
    <p:extLst>
      <p:ext uri="{BB962C8B-B14F-4D97-AF65-F5344CB8AC3E}">
        <p14:creationId xmlns:p14="http://schemas.microsoft.com/office/powerpoint/2010/main" val="3957013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6BF09E1-C8D3-43D1-B5A6-3C47CBE2742D}" type="datetime1">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3627866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8364C0F-7C2A-4F0A-89EF-E126BD5228A5}" type="datetime1">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244188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EFE2CBE-2C34-4B29-88B5-B2C7B7CAC85A}" type="datetime1">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711982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A177F6F-3D92-47D9-BE0C-E2C4EBA718EB}" type="datetime1">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2315299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B9C7744-A791-499C-9AD0-06D22112E84E}" type="datetime1">
              <a:rPr lang="fr-FR" smtClean="0"/>
              <a:t>21/01/2025</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431434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2A65256-0FFF-4EF3-8A53-4FD2A1795A3E}" type="datetime1">
              <a:rPr lang="fr-FR" smtClean="0"/>
              <a:t>21/01/2025</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3446077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6BA575-530A-4BC4-9F57-3BB5AA14C590}" type="datetime1">
              <a:rPr lang="fr-FR" smtClean="0"/>
              <a:t>21/01/2025</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1060945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39F185C-07BC-422D-A853-7348C84E1F54}" type="datetime1">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2441146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E2C06B1-DDEC-448B-AA6A-7733D05C9ACA}" type="datetime1">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1225920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DBEE919-EB86-4947-996B-B8E695DE149A}" type="datetime1">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1821543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299A1D7-3065-4AA1-A2E4-2C6346F6D0AE}" type="datetime1">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1AFE59D-DC44-4935-A904-C9AB028D208F}"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74702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CB4A0DA5-A230-4A54-8837-A0D2225059D3}" type="datetime1">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3087979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79F3FE71-6684-47FF-83CD-F7F52EA6F000}" type="datetime1">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AFE59D-DC44-4935-A904-C9AB028D208F}"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32184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6BCB3FDA-32E2-4346-B1D3-D8A861FA18B4}" type="datetime1">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28718590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2F7D02F-85E1-4E56-8A90-8A2CDC07FD85}" type="datetime1">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41656457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22C122-1CDA-4047-AD64-E919AFF71853}" type="datetime1">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1AFE59D-DC44-4935-A904-C9AB028D208F}" type="slidenum">
              <a:rPr lang="fr-FR" smtClean="0"/>
              <a:t>‹N°›</a:t>
            </a:fld>
            <a:endParaRPr lang="fr-FR"/>
          </a:p>
        </p:txBody>
      </p:sp>
    </p:spTree>
    <p:extLst>
      <p:ext uri="{BB962C8B-B14F-4D97-AF65-F5344CB8AC3E}">
        <p14:creationId xmlns:p14="http://schemas.microsoft.com/office/powerpoint/2010/main" val="428652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54ECA26-C853-43E5-8788-85D68E124801}" type="datetime1">
              <a:rPr lang="fr-FR" smtClean="0"/>
              <a:t>21/01/2025</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1AFE59D-DC44-4935-A904-C9AB028D208F}" type="slidenum">
              <a:rPr lang="fr-FR" smtClean="0"/>
              <a:t>‹N°›</a:t>
            </a:fld>
            <a:endParaRPr lang="fr-FR"/>
          </a:p>
        </p:txBody>
      </p:sp>
    </p:spTree>
    <p:extLst>
      <p:ext uri="{BB962C8B-B14F-4D97-AF65-F5344CB8AC3E}">
        <p14:creationId xmlns:p14="http://schemas.microsoft.com/office/powerpoint/2010/main" val="25190522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7AF6DF9-3A0F-48BD-9EDE-76E35F054ABF}"/>
              </a:ext>
            </a:extLst>
          </p:cNvPr>
          <p:cNvSpPr>
            <a:spLocks noGrp="1"/>
          </p:cNvSpPr>
          <p:nvPr>
            <p:ph idx="1"/>
          </p:nvPr>
        </p:nvSpPr>
        <p:spPr>
          <a:xfrm>
            <a:off x="2387507" y="403411"/>
            <a:ext cx="8915400" cy="5943601"/>
          </a:xfrm>
        </p:spPr>
        <p:txBody>
          <a:bodyPr>
            <a:normAutofit fontScale="25000" lnSpcReduction="20000"/>
          </a:bodyPr>
          <a:lstStyle/>
          <a:p>
            <a:pPr marL="0" indent="0" algn="ctr">
              <a:lnSpc>
                <a:spcPct val="107000"/>
              </a:lnSpc>
              <a:spcAft>
                <a:spcPts val="800"/>
              </a:spcAft>
              <a:buNone/>
              <a:tabLst>
                <a:tab pos="1614805" algn="l"/>
              </a:tabLst>
            </a:pPr>
            <a:r>
              <a:rPr lang="fr-FR" sz="9600" b="1" u="sng" dirty="0">
                <a:effectLst/>
                <a:latin typeface="Times New Roman" panose="02020603050405020304" pitchFamily="18" charset="0"/>
                <a:ea typeface="Calibri" panose="020F0502020204030204" pitchFamily="34" charset="0"/>
                <a:cs typeface="Times New Roman" panose="02020603050405020304" pitchFamily="18" charset="0"/>
              </a:rPr>
              <a:t>Rapport de TP N° 3</a:t>
            </a:r>
            <a:r>
              <a:rPr lang="fr-FR" sz="9600" b="1"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lnSpc>
                <a:spcPct val="107000"/>
              </a:lnSpc>
              <a:spcAft>
                <a:spcPts val="800"/>
              </a:spcAft>
              <a:buNone/>
              <a:tabLst>
                <a:tab pos="1614805" algn="l"/>
              </a:tabLst>
            </a:pPr>
            <a:r>
              <a:rPr lang="fr-FR" sz="9600" b="1" dirty="0">
                <a:effectLst/>
                <a:latin typeface="Calibri" panose="020F0502020204030204" pitchFamily="34" charset="0"/>
                <a:ea typeface="Calibri" panose="020F0502020204030204" pitchFamily="34" charset="0"/>
                <a:cs typeface="Times New Roman" panose="02020603050405020304" pitchFamily="18" charset="0"/>
              </a:rPr>
              <a:t>CORBA</a:t>
            </a:r>
            <a:r>
              <a:rPr lang="fr-FR" sz="9600" b="1" u="sng"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ctr">
              <a:lnSpc>
                <a:spcPct val="107000"/>
              </a:lnSpc>
              <a:spcAft>
                <a:spcPts val="800"/>
              </a:spcAft>
              <a:buNone/>
              <a:tabLst>
                <a:tab pos="1614805" algn="l"/>
              </a:tabLst>
            </a:pPr>
            <a:r>
              <a:rPr lang="fr-FR" sz="9600" b="1" dirty="0">
                <a:effectLst/>
                <a:latin typeface="Times New Roman" panose="02020603050405020304" pitchFamily="18" charset="0"/>
                <a:ea typeface="Times New Roman" panose="02020603050405020304" pitchFamily="18" charset="0"/>
                <a:cs typeface="Times New Roman" panose="02020603050405020304" pitchFamily="18" charset="0"/>
              </a:rPr>
              <a:t>(Object Request Broker)</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indent="0" algn="ctr">
              <a:lnSpc>
                <a:spcPct val="150000"/>
              </a:lnSpc>
              <a:buNone/>
            </a:pPr>
            <a:r>
              <a:rPr lang="fr-FR" sz="9600" b="1" u="sng" dirty="0">
                <a:effectLst/>
                <a:latin typeface="Times New Roman" panose="02020603050405020304" pitchFamily="18" charset="0"/>
                <a:ea typeface="Calibri" panose="020F0502020204030204" pitchFamily="34" charset="0"/>
                <a:cs typeface="Times New Roman" panose="02020603050405020304" pitchFamily="18" charset="0"/>
              </a:rPr>
              <a:t>CLASSE:</a:t>
            </a:r>
            <a:r>
              <a:rPr lang="fr-FR" sz="9600" b="1" dirty="0">
                <a:effectLst/>
                <a:latin typeface="Times New Roman" panose="02020603050405020304" pitchFamily="18" charset="0"/>
                <a:ea typeface="Calibri" panose="020F0502020204030204" pitchFamily="34" charset="0"/>
                <a:cs typeface="Times New Roman" panose="02020603050405020304" pitchFamily="18" charset="0"/>
              </a:rPr>
              <a:t> M1-S2  Année 2023-2024</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indent="0" algn="ctr">
              <a:lnSpc>
                <a:spcPct val="150000"/>
              </a:lnSpc>
              <a:buNone/>
            </a:pPr>
            <a:r>
              <a:rPr lang="fr-FR" sz="9600" b="1" u="sng" dirty="0">
                <a:effectLst/>
                <a:latin typeface="Times New Roman" panose="02020603050405020304" pitchFamily="18" charset="0"/>
                <a:ea typeface="Calibri" panose="020F0502020204030204" pitchFamily="34" charset="0"/>
                <a:cs typeface="Times New Roman" panose="02020603050405020304" pitchFamily="18" charset="0"/>
              </a:rPr>
              <a:t>Groupe N°:</a:t>
            </a:r>
            <a:r>
              <a:rPr lang="fr-FR" sz="9600" b="1" dirty="0">
                <a:effectLst/>
                <a:latin typeface="Times New Roman" panose="02020603050405020304" pitchFamily="18" charset="0"/>
                <a:ea typeface="Calibri" panose="020F0502020204030204" pitchFamily="34" charset="0"/>
                <a:cs typeface="Times New Roman" panose="02020603050405020304" pitchFamily="18" charset="0"/>
              </a:rPr>
              <a:t> 1</a:t>
            </a:r>
            <a:r>
              <a:rPr lang="fr-FR" sz="9600" b="1" u="sng"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indent="0" algn="ctr">
              <a:lnSpc>
                <a:spcPct val="150000"/>
              </a:lnSpc>
              <a:buNone/>
            </a:pPr>
            <a:r>
              <a:rPr lang="fr-FR" sz="9600" b="1" u="sng" dirty="0">
                <a:effectLst/>
                <a:latin typeface="Times New Roman" panose="02020603050405020304" pitchFamily="18" charset="0"/>
                <a:ea typeface="Calibri" panose="020F0502020204030204" pitchFamily="34" charset="0"/>
                <a:cs typeface="Times New Roman" panose="02020603050405020304" pitchFamily="18" charset="0"/>
              </a:rPr>
              <a:t>Réalisé et présenté par :</a:t>
            </a:r>
            <a:r>
              <a:rPr lang="fr-FR" sz="96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indent="0" algn="ctr">
              <a:lnSpc>
                <a:spcPct val="150000"/>
              </a:lnSpc>
              <a:buNone/>
            </a:pPr>
            <a:r>
              <a:rPr lang="fr-FR" sz="9600" b="1" dirty="0">
                <a:effectLst/>
                <a:latin typeface="Times New Roman" panose="02020603050405020304" pitchFamily="18" charset="0"/>
                <a:ea typeface="Calibri" panose="020F0502020204030204" pitchFamily="34" charset="0"/>
                <a:cs typeface="Times New Roman" panose="02020603050405020304" pitchFamily="18" charset="0"/>
              </a:rPr>
              <a:t>ALASSANE SAMBA MAIGA</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indent="0" algn="ctr">
              <a:lnSpc>
                <a:spcPct val="150000"/>
              </a:lnSpc>
              <a:buNone/>
            </a:pPr>
            <a:r>
              <a:rPr lang="fr-FR" sz="9600" b="1" dirty="0">
                <a:effectLst/>
                <a:latin typeface="Times New Roman" panose="02020603050405020304" pitchFamily="18" charset="0"/>
                <a:ea typeface="Calibri" panose="020F0502020204030204" pitchFamily="34" charset="0"/>
                <a:cs typeface="Times New Roman" panose="02020603050405020304" pitchFamily="18" charset="0"/>
              </a:rPr>
              <a:t>FATOUMATA COULIBALY</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indent="0" algn="ctr">
              <a:lnSpc>
                <a:spcPct val="150000"/>
              </a:lnSpc>
              <a:buNone/>
            </a:pPr>
            <a:r>
              <a:rPr lang="fr-FR" sz="9600" b="1" dirty="0">
                <a:effectLst/>
                <a:latin typeface="Times New Roman" panose="02020603050405020304" pitchFamily="18" charset="0"/>
                <a:ea typeface="Calibri" panose="020F0502020204030204" pitchFamily="34" charset="0"/>
                <a:cs typeface="Times New Roman" panose="02020603050405020304" pitchFamily="18" charset="0"/>
              </a:rPr>
              <a:t>DRISSA SIDIKI TRAORE</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pPr indent="0" algn="ctr">
              <a:lnSpc>
                <a:spcPct val="150000"/>
              </a:lnSpc>
              <a:spcAft>
                <a:spcPts val="800"/>
              </a:spcAft>
              <a:buNone/>
            </a:pPr>
            <a:r>
              <a:rPr lang="fr-FR" sz="9600" b="1" dirty="0">
                <a:effectLst/>
                <a:latin typeface="Times New Roman" panose="02020603050405020304" pitchFamily="18" charset="0"/>
                <a:ea typeface="Calibri" panose="020F0502020204030204" pitchFamily="34" charset="0"/>
                <a:cs typeface="Times New Roman" panose="02020603050405020304" pitchFamily="18" charset="0"/>
              </a:rPr>
              <a:t>FOUNE TRAORE</a:t>
            </a:r>
            <a:endParaRPr lang="fr-FR" sz="96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2" name="Espace réservé du numéro de diapositive 1">
            <a:extLst>
              <a:ext uri="{FF2B5EF4-FFF2-40B4-BE49-F238E27FC236}">
                <a16:creationId xmlns:a16="http://schemas.microsoft.com/office/drawing/2014/main" id="{5E7BE6D3-9748-464C-8341-94E7D27F5CD8}"/>
              </a:ext>
            </a:extLst>
          </p:cNvPr>
          <p:cNvSpPr>
            <a:spLocks noGrp="1"/>
          </p:cNvSpPr>
          <p:nvPr>
            <p:ph type="sldNum" sz="quarter" idx="12"/>
          </p:nvPr>
        </p:nvSpPr>
        <p:spPr/>
        <p:txBody>
          <a:bodyPr/>
          <a:lstStyle/>
          <a:p>
            <a:fld id="{51AFE59D-DC44-4935-A904-C9AB028D208F}" type="slidenum">
              <a:rPr lang="fr-FR" smtClean="0"/>
              <a:t>1</a:t>
            </a:fld>
            <a:endParaRPr lang="fr-FR"/>
          </a:p>
        </p:txBody>
      </p:sp>
    </p:spTree>
    <p:extLst>
      <p:ext uri="{BB962C8B-B14F-4D97-AF65-F5344CB8AC3E}">
        <p14:creationId xmlns:p14="http://schemas.microsoft.com/office/powerpoint/2010/main" val="2605758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11DC80-48D8-47E2-8024-0A86A4F64884}"/>
              </a:ext>
            </a:extLst>
          </p:cNvPr>
          <p:cNvSpPr>
            <a:spLocks noGrp="1"/>
          </p:cNvSpPr>
          <p:nvPr>
            <p:ph type="ctrTitle"/>
          </p:nvPr>
        </p:nvSpPr>
        <p:spPr>
          <a:xfrm>
            <a:off x="2562319" y="0"/>
            <a:ext cx="8915399" cy="1775415"/>
          </a:xfrm>
        </p:spPr>
        <p:txBody>
          <a:bodyPr>
            <a:normAutofit/>
          </a:bodyPr>
          <a:lstStyle/>
          <a:p>
            <a:pPr>
              <a:lnSpc>
                <a:spcPct val="107000"/>
              </a:lnSpc>
              <a:spcAft>
                <a:spcPts val="800"/>
              </a:spcAft>
            </a:pPr>
            <a:r>
              <a:rPr lang="fr-FR" sz="3600" b="1" u="sng" dirty="0"/>
              <a:t>Plan de présentation:</a:t>
            </a:r>
          </a:p>
        </p:txBody>
      </p:sp>
      <p:sp>
        <p:nvSpPr>
          <p:cNvPr id="4" name="Titre 1">
            <a:extLst>
              <a:ext uri="{FF2B5EF4-FFF2-40B4-BE49-F238E27FC236}">
                <a16:creationId xmlns:a16="http://schemas.microsoft.com/office/drawing/2014/main" id="{2D63B2FD-5282-4567-8F27-81A17FB145DF}"/>
              </a:ext>
            </a:extLst>
          </p:cNvPr>
          <p:cNvSpPr txBox="1">
            <a:spLocks/>
          </p:cNvSpPr>
          <p:nvPr/>
        </p:nvSpPr>
        <p:spPr>
          <a:xfrm>
            <a:off x="2562318" y="1909483"/>
            <a:ext cx="8915399" cy="3635390"/>
          </a:xfrm>
          <a:prstGeom prst="rect">
            <a:avLst/>
          </a:prstGeom>
        </p:spPr>
        <p:txBody>
          <a:bodyPr vert="horz" lIns="91440" tIns="45720" rIns="91440" bIns="45720" rtlCol="0" anchor="b">
            <a:normAutofit fontScale="67500" lnSpcReduction="20000"/>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60000"/>
              </a:lnSpc>
              <a:spcAft>
                <a:spcPts val="800"/>
              </a:spcAft>
            </a:pPr>
            <a:r>
              <a:rPr lang="fr-FR" sz="3000" b="1" dirty="0">
                <a:latin typeface="Times New Roman" panose="02020603050405020304" pitchFamily="18" charset="0"/>
                <a:ea typeface="Times New Roman" panose="02020603050405020304" pitchFamily="18" charset="0"/>
                <a:cs typeface="Times New Roman" panose="02020603050405020304" pitchFamily="18" charset="0"/>
              </a:rPr>
              <a:t>I.    </a:t>
            </a:r>
            <a:r>
              <a:rPr lang="fr-FR" sz="3300" b="1" dirty="0">
                <a:latin typeface="Times New Roman" panose="02020603050405020304" pitchFamily="18" charset="0"/>
                <a:ea typeface="Times New Roman" panose="02020603050405020304" pitchFamily="18" charset="0"/>
                <a:cs typeface="Times New Roman" panose="02020603050405020304" pitchFamily="18" charset="0"/>
              </a:rPr>
              <a:t>Introduction.</a:t>
            </a:r>
            <a:br>
              <a:rPr lang="fr-FR" sz="3300" b="1" dirty="0">
                <a:latin typeface="Calibri" panose="020F0502020204030204" pitchFamily="34" charset="0"/>
                <a:ea typeface="Calibri" panose="020F0502020204030204" pitchFamily="34" charset="0"/>
                <a:cs typeface="Times New Roman" panose="02020603050405020304" pitchFamily="18" charset="0"/>
              </a:rPr>
            </a:br>
            <a:r>
              <a:rPr lang="fr-FR" sz="3300" b="1" dirty="0">
                <a:latin typeface="Calibri" panose="020F0502020204030204" pitchFamily="34" charset="0"/>
                <a:ea typeface="Calibri" panose="020F0502020204030204" pitchFamily="34" charset="0"/>
                <a:cs typeface="Times New Roman" panose="02020603050405020304" pitchFamily="18" charset="0"/>
              </a:rPr>
              <a:t>II.  </a:t>
            </a:r>
            <a:r>
              <a:rPr lang="fr-FR" sz="3300" b="1" dirty="0">
                <a:latin typeface="Times New Roman" panose="02020603050405020304" pitchFamily="18" charset="0"/>
                <a:ea typeface="Times New Roman" panose="02020603050405020304" pitchFamily="18" charset="0"/>
                <a:cs typeface="Times New Roman" panose="02020603050405020304" pitchFamily="18" charset="0"/>
              </a:rPr>
              <a:t>Architecture.</a:t>
            </a:r>
            <a:br>
              <a:rPr lang="fr-FR" sz="3300" b="1" dirty="0">
                <a:latin typeface="Calibri" panose="020F0502020204030204" pitchFamily="34" charset="0"/>
                <a:ea typeface="Calibri" panose="020F0502020204030204" pitchFamily="34" charset="0"/>
                <a:cs typeface="Times New Roman" panose="02020603050405020304" pitchFamily="18" charset="0"/>
              </a:rPr>
            </a:br>
            <a:r>
              <a:rPr lang="fr-FR" sz="3300" b="1" dirty="0">
                <a:latin typeface="Calibri" panose="020F0502020204030204" pitchFamily="34" charset="0"/>
                <a:ea typeface="Calibri" panose="020F0502020204030204" pitchFamily="34" charset="0"/>
                <a:cs typeface="Times New Roman" panose="02020603050405020304" pitchFamily="18" charset="0"/>
              </a:rPr>
              <a:t>III. </a:t>
            </a:r>
            <a:r>
              <a:rPr lang="fr-FR" sz="3300" b="1" dirty="0">
                <a:latin typeface="Calibri" panose="020F0502020204030204" pitchFamily="34" charset="0"/>
                <a:ea typeface="Times New Roman" panose="02020603050405020304" pitchFamily="18" charset="0"/>
                <a:cs typeface="Times New Roman" panose="02020603050405020304" pitchFamily="18" charset="0"/>
              </a:rPr>
              <a:t>Tableau comparatif (OMNIORB – CORBA).</a:t>
            </a:r>
            <a:br>
              <a:rPr lang="fr-FR" sz="3300" b="1" dirty="0">
                <a:latin typeface="Calibri" panose="020F0502020204030204" pitchFamily="34" charset="0"/>
                <a:ea typeface="Calibri" panose="020F0502020204030204" pitchFamily="34" charset="0"/>
                <a:cs typeface="Times New Roman" panose="02020603050405020304" pitchFamily="18" charset="0"/>
              </a:rPr>
            </a:br>
            <a:r>
              <a:rPr lang="fr-FR" sz="3300" b="1" dirty="0">
                <a:latin typeface="Calibri" panose="020F0502020204030204" pitchFamily="34" charset="0"/>
                <a:ea typeface="Calibri" panose="020F0502020204030204" pitchFamily="34" charset="0"/>
                <a:cs typeface="Times New Roman" panose="02020603050405020304" pitchFamily="18" charset="0"/>
              </a:rPr>
              <a:t>IV.  </a:t>
            </a:r>
            <a:r>
              <a:rPr lang="fr-FR" sz="3300" b="1" dirty="0">
                <a:latin typeface="Times New Roman" panose="02020603050405020304" pitchFamily="18" charset="0"/>
                <a:ea typeface="Times New Roman" panose="02020603050405020304" pitchFamily="18" charset="0"/>
                <a:cs typeface="Times New Roman" panose="02020603050405020304" pitchFamily="18" charset="0"/>
              </a:rPr>
              <a:t>Résultat des exécutions. </a:t>
            </a:r>
            <a:br>
              <a:rPr lang="fr-FR" sz="3300" b="1" dirty="0">
                <a:latin typeface="Calibri" panose="020F0502020204030204" pitchFamily="34" charset="0"/>
                <a:ea typeface="Calibri" panose="020F0502020204030204" pitchFamily="34" charset="0"/>
                <a:cs typeface="Times New Roman" panose="02020603050405020304" pitchFamily="18" charset="0"/>
              </a:rPr>
            </a:br>
            <a:r>
              <a:rPr lang="fr-FR" sz="3300" b="1" dirty="0">
                <a:latin typeface="Calibri" panose="020F0502020204030204" pitchFamily="34" charset="0"/>
                <a:ea typeface="Calibri" panose="020F0502020204030204" pitchFamily="34" charset="0"/>
                <a:cs typeface="Times New Roman" panose="02020603050405020304" pitchFamily="18" charset="0"/>
              </a:rPr>
              <a:t>V.  </a:t>
            </a:r>
            <a:r>
              <a:rPr lang="fr-FR" sz="3300" b="1" dirty="0">
                <a:latin typeface="Times New Roman" panose="02020603050405020304" pitchFamily="18" charset="0"/>
                <a:ea typeface="Times New Roman" panose="02020603050405020304" pitchFamily="18" charset="0"/>
                <a:cs typeface="Times New Roman" panose="02020603050405020304" pitchFamily="18" charset="0"/>
              </a:rPr>
              <a:t>Résultats des requêtes après modification des codes Server et Client.</a:t>
            </a:r>
            <a:br>
              <a:rPr lang="fr-FR" sz="3300" b="1" dirty="0">
                <a:latin typeface="Calibri" panose="020F0502020204030204" pitchFamily="34" charset="0"/>
                <a:ea typeface="Calibri" panose="020F0502020204030204" pitchFamily="34" charset="0"/>
                <a:cs typeface="Times New Roman" panose="02020603050405020304" pitchFamily="18" charset="0"/>
              </a:rPr>
            </a:br>
            <a:r>
              <a:rPr lang="fr-FR" sz="3300" b="1" dirty="0">
                <a:latin typeface="Calibri" panose="020F0502020204030204" pitchFamily="34" charset="0"/>
                <a:ea typeface="Calibri" panose="020F0502020204030204" pitchFamily="34" charset="0"/>
                <a:cs typeface="Times New Roman" panose="02020603050405020304" pitchFamily="18" charset="0"/>
              </a:rPr>
              <a:t>VI.  </a:t>
            </a:r>
            <a:r>
              <a:rPr lang="fr-FR" sz="3300" b="1" dirty="0">
                <a:latin typeface="Times New Roman" panose="02020603050405020304" pitchFamily="18" charset="0"/>
                <a:ea typeface="Times New Roman" panose="02020603050405020304" pitchFamily="18" charset="0"/>
                <a:cs typeface="Times New Roman" panose="02020603050405020304" pitchFamily="18" charset="0"/>
              </a:rPr>
              <a:t>Avantages et inconvénients.</a:t>
            </a:r>
            <a:br>
              <a:rPr lang="fr-FR" sz="3300" b="1" dirty="0">
                <a:latin typeface="Calibri" panose="020F0502020204030204" pitchFamily="34" charset="0"/>
                <a:ea typeface="Calibri" panose="020F0502020204030204" pitchFamily="34" charset="0"/>
                <a:cs typeface="Times New Roman" panose="02020603050405020304" pitchFamily="18" charset="0"/>
              </a:rPr>
            </a:br>
            <a:r>
              <a:rPr lang="fr-FR" sz="3300" b="1" dirty="0">
                <a:latin typeface="Calibri" panose="020F0502020204030204" pitchFamily="34" charset="0"/>
                <a:ea typeface="Calibri" panose="020F0502020204030204" pitchFamily="34" charset="0"/>
                <a:cs typeface="Times New Roman" panose="02020603050405020304" pitchFamily="18" charset="0"/>
              </a:rPr>
              <a:t>VII.  </a:t>
            </a:r>
            <a:r>
              <a:rPr lang="fr-FR" sz="3300" b="1" dirty="0">
                <a:latin typeface="Times New Roman" panose="02020603050405020304" pitchFamily="18" charset="0"/>
                <a:ea typeface="Times New Roman" panose="02020603050405020304" pitchFamily="18" charset="0"/>
                <a:cs typeface="Times New Roman" panose="02020603050405020304" pitchFamily="18" charset="0"/>
              </a:rPr>
              <a:t>Conclusion.</a:t>
            </a:r>
            <a:br>
              <a:rPr lang="fr-FR" sz="3300" b="1" dirty="0">
                <a:latin typeface="Calibri" panose="020F0502020204030204" pitchFamily="34" charset="0"/>
                <a:ea typeface="Calibri" panose="020F0502020204030204" pitchFamily="34" charset="0"/>
                <a:cs typeface="Times New Roman" panose="02020603050405020304" pitchFamily="18" charset="0"/>
              </a:rPr>
            </a:br>
            <a:endParaRPr lang="fr-FR" sz="1800" b="1" dirty="0"/>
          </a:p>
        </p:txBody>
      </p:sp>
      <p:sp>
        <p:nvSpPr>
          <p:cNvPr id="3" name="Espace réservé du numéro de diapositive 2">
            <a:extLst>
              <a:ext uri="{FF2B5EF4-FFF2-40B4-BE49-F238E27FC236}">
                <a16:creationId xmlns:a16="http://schemas.microsoft.com/office/drawing/2014/main" id="{970F2BCA-A0F2-439E-A914-28206D8330CE}"/>
              </a:ext>
            </a:extLst>
          </p:cNvPr>
          <p:cNvSpPr>
            <a:spLocks noGrp="1"/>
          </p:cNvSpPr>
          <p:nvPr>
            <p:ph type="sldNum" sz="quarter" idx="12"/>
          </p:nvPr>
        </p:nvSpPr>
        <p:spPr>
          <a:xfrm>
            <a:off x="531812" y="4475752"/>
            <a:ext cx="779767" cy="365125"/>
          </a:xfrm>
        </p:spPr>
        <p:txBody>
          <a:bodyPr/>
          <a:lstStyle/>
          <a:p>
            <a:fld id="{51AFE59D-DC44-4935-A904-C9AB028D208F}" type="slidenum">
              <a:rPr lang="fr-FR" smtClean="0"/>
              <a:t>2</a:t>
            </a:fld>
            <a:endParaRPr lang="fr-FR"/>
          </a:p>
        </p:txBody>
      </p:sp>
    </p:spTree>
    <p:extLst>
      <p:ext uri="{BB962C8B-B14F-4D97-AF65-F5344CB8AC3E}">
        <p14:creationId xmlns:p14="http://schemas.microsoft.com/office/powerpoint/2010/main" val="3443363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4F759E-0AE2-4E44-B09E-AEEEAC02F629}"/>
              </a:ext>
            </a:extLst>
          </p:cNvPr>
          <p:cNvSpPr>
            <a:spLocks noGrp="1"/>
          </p:cNvSpPr>
          <p:nvPr>
            <p:ph type="title"/>
          </p:nvPr>
        </p:nvSpPr>
        <p:spPr/>
        <p:txBody>
          <a:bodyPr/>
          <a:lstStyle/>
          <a:p>
            <a:r>
              <a:rPr lang="fr-FR" dirty="0"/>
              <a:t>I. </a:t>
            </a:r>
            <a:r>
              <a:rPr lang="fr-FR" u="sng" dirty="0"/>
              <a:t>Introduction:</a:t>
            </a:r>
          </a:p>
        </p:txBody>
      </p:sp>
      <p:sp>
        <p:nvSpPr>
          <p:cNvPr id="3" name="Espace réservé du contenu 2">
            <a:extLst>
              <a:ext uri="{FF2B5EF4-FFF2-40B4-BE49-F238E27FC236}">
                <a16:creationId xmlns:a16="http://schemas.microsoft.com/office/drawing/2014/main" id="{F8A10733-22C1-4417-95CC-0C58C13E64A7}"/>
              </a:ext>
            </a:extLst>
          </p:cNvPr>
          <p:cNvSpPr>
            <a:spLocks noGrp="1"/>
          </p:cNvSpPr>
          <p:nvPr>
            <p:ph idx="1"/>
          </p:nvPr>
        </p:nvSpPr>
        <p:spPr>
          <a:xfrm>
            <a:off x="2481636" y="1540189"/>
            <a:ext cx="8915400" cy="3777622"/>
          </a:xfrm>
        </p:spPr>
        <p:txBody>
          <a:bodyPr/>
          <a:lstStyle/>
          <a:p>
            <a:pPr marL="0" indent="0">
              <a:buNone/>
            </a:pPr>
            <a:r>
              <a:rPr lang="fr-FR" sz="2400" dirty="0">
                <a:effectLst/>
                <a:latin typeface="Times New Roman" panose="02020603050405020304" pitchFamily="18" charset="0"/>
                <a:ea typeface="Times New Roman" panose="02020603050405020304" pitchFamily="18" charset="0"/>
                <a:cs typeface="Times New Roman" panose="02020603050405020304" pitchFamily="18" charset="0"/>
              </a:rPr>
              <a:t>CORBA est un standard qui permet à des objets</a:t>
            </a:r>
            <a:r>
              <a:rPr lang="fr-FR" sz="24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2400" dirty="0">
                <a:effectLst/>
                <a:latin typeface="Times New Roman" panose="02020603050405020304" pitchFamily="18" charset="0"/>
                <a:ea typeface="Times New Roman" panose="02020603050405020304" pitchFamily="18" charset="0"/>
                <a:cs typeface="Times New Roman" panose="02020603050405020304" pitchFamily="18" charset="0"/>
              </a:rPr>
              <a:t>de s’exécutés sur des machines différentes, de communiquer entre eux via des appels de méthodes à distance. Les objets CORBA sont définis par des interfaces IDL (Interface Définition </a:t>
            </a:r>
            <a:r>
              <a:rPr lang="fr-FR" sz="2400" dirty="0" err="1">
                <a:effectLst/>
                <a:latin typeface="Times New Roman" panose="02020603050405020304" pitchFamily="18" charset="0"/>
                <a:ea typeface="Times New Roman" panose="02020603050405020304" pitchFamily="18" charset="0"/>
                <a:cs typeface="Times New Roman" panose="02020603050405020304" pitchFamily="18" charset="0"/>
              </a:rPr>
              <a:t>Language</a:t>
            </a:r>
            <a:r>
              <a:rPr lang="fr-FR" sz="2400" dirty="0">
                <a:effectLst/>
                <a:latin typeface="Times New Roman" panose="02020603050405020304" pitchFamily="18" charset="0"/>
                <a:ea typeface="Times New Roman" panose="02020603050405020304" pitchFamily="18" charset="0"/>
                <a:cs typeface="Times New Roman" panose="02020603050405020304" pitchFamily="18" charset="0"/>
              </a:rPr>
              <a:t>). Dans notre exemple, l'interface IDL est définie dans le module </a:t>
            </a:r>
            <a:r>
              <a:rPr lang="fr-FR" sz="2400" dirty="0" err="1">
                <a:effectLst/>
                <a:latin typeface="Courier New" panose="02070309020205020404" pitchFamily="49" charset="0"/>
                <a:ea typeface="Times New Roman" panose="02020603050405020304" pitchFamily="18" charset="0"/>
                <a:cs typeface="Times New Roman" panose="02020603050405020304" pitchFamily="18" charset="0"/>
              </a:rPr>
              <a:t>HelloApp</a:t>
            </a:r>
            <a:r>
              <a:rPr lang="fr-FR" sz="2400" dirty="0">
                <a:effectLst/>
                <a:latin typeface="Times New Roman" panose="02020603050405020304" pitchFamily="18" charset="0"/>
                <a:ea typeface="Times New Roman" panose="02020603050405020304" pitchFamily="18" charset="0"/>
                <a:cs typeface="Times New Roman" panose="02020603050405020304" pitchFamily="18" charset="0"/>
              </a:rPr>
              <a:t> et spécifie une méthode </a:t>
            </a:r>
            <a:r>
              <a:rPr lang="fr-FR" sz="2400" dirty="0" err="1">
                <a:effectLst/>
                <a:latin typeface="Courier New" panose="02070309020205020404" pitchFamily="49" charset="0"/>
                <a:ea typeface="Times New Roman" panose="02020603050405020304" pitchFamily="18" charset="0"/>
                <a:cs typeface="Times New Roman" panose="02020603050405020304" pitchFamily="18" charset="0"/>
              </a:rPr>
              <a:t>sayHello</a:t>
            </a:r>
            <a:r>
              <a:rPr lang="fr-FR" sz="24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sz="2400" dirty="0">
                <a:effectLst/>
                <a:latin typeface="Times New Roman" panose="02020603050405020304" pitchFamily="18" charset="0"/>
                <a:ea typeface="Times New Roman" panose="02020603050405020304" pitchFamily="18" charset="0"/>
                <a:cs typeface="Times New Roman" panose="02020603050405020304" pitchFamily="18" charset="0"/>
              </a:rPr>
              <a:t> que le serveur doit implémenter et que le client invoque.</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dirty="0"/>
          </a:p>
        </p:txBody>
      </p:sp>
      <p:sp>
        <p:nvSpPr>
          <p:cNvPr id="4" name="Espace réservé du numéro de diapositive 3">
            <a:extLst>
              <a:ext uri="{FF2B5EF4-FFF2-40B4-BE49-F238E27FC236}">
                <a16:creationId xmlns:a16="http://schemas.microsoft.com/office/drawing/2014/main" id="{3C85D6A4-9BB2-4147-9CAA-FFD46FE532BF}"/>
              </a:ext>
            </a:extLst>
          </p:cNvPr>
          <p:cNvSpPr>
            <a:spLocks noGrp="1"/>
          </p:cNvSpPr>
          <p:nvPr>
            <p:ph type="sldNum" sz="quarter" idx="12"/>
          </p:nvPr>
        </p:nvSpPr>
        <p:spPr/>
        <p:txBody>
          <a:bodyPr/>
          <a:lstStyle/>
          <a:p>
            <a:fld id="{51AFE59D-DC44-4935-A904-C9AB028D208F}" type="slidenum">
              <a:rPr lang="fr-FR" smtClean="0"/>
              <a:t>3</a:t>
            </a:fld>
            <a:endParaRPr lang="fr-FR"/>
          </a:p>
        </p:txBody>
      </p:sp>
    </p:spTree>
    <p:extLst>
      <p:ext uri="{BB962C8B-B14F-4D97-AF65-F5344CB8AC3E}">
        <p14:creationId xmlns:p14="http://schemas.microsoft.com/office/powerpoint/2010/main" val="35993533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F7B4F8-3837-492C-BAEC-62C4FB7A73A8}"/>
              </a:ext>
            </a:extLst>
          </p:cNvPr>
          <p:cNvSpPr>
            <a:spLocks noGrp="1"/>
          </p:cNvSpPr>
          <p:nvPr>
            <p:ph type="title"/>
          </p:nvPr>
        </p:nvSpPr>
        <p:spPr/>
        <p:txBody>
          <a:bodyPr/>
          <a:lstStyle/>
          <a:p>
            <a:r>
              <a:rPr lang="en-CA" sz="3200" b="1" dirty="0">
                <a:effectLst/>
                <a:latin typeface="Times New Roman" panose="02020603050405020304" pitchFamily="18" charset="0"/>
                <a:ea typeface="Times New Roman" panose="02020603050405020304" pitchFamily="18" charset="0"/>
                <a:cs typeface="Times New Roman" panose="02020603050405020304" pitchFamily="18" charset="0"/>
              </a:rPr>
              <a:t>II.  </a:t>
            </a:r>
            <a:r>
              <a:rPr lang="en-CA" sz="3200" b="1" u="sng" dirty="0">
                <a:effectLst/>
                <a:latin typeface="Times New Roman" panose="02020603050405020304" pitchFamily="18" charset="0"/>
                <a:ea typeface="Times New Roman" panose="02020603050405020304" pitchFamily="18" charset="0"/>
                <a:cs typeface="Times New Roman" panose="02020603050405020304" pitchFamily="18" charset="0"/>
              </a:rPr>
              <a:t>Architecture CORBA:</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pic>
        <p:nvPicPr>
          <p:cNvPr id="4" name="Espace réservé du contenu 3">
            <a:extLst>
              <a:ext uri="{FF2B5EF4-FFF2-40B4-BE49-F238E27FC236}">
                <a16:creationId xmlns:a16="http://schemas.microsoft.com/office/drawing/2014/main" id="{1C857947-B0ED-4F6A-AFD1-50BC68C982C5}"/>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7397" y="1479176"/>
            <a:ext cx="9342742" cy="4754714"/>
          </a:xfrm>
          <a:prstGeom prst="rect">
            <a:avLst/>
          </a:prstGeom>
          <a:noFill/>
          <a:ln>
            <a:noFill/>
          </a:ln>
        </p:spPr>
      </p:pic>
      <p:sp>
        <p:nvSpPr>
          <p:cNvPr id="3" name="Espace réservé du numéro de diapositive 2">
            <a:extLst>
              <a:ext uri="{FF2B5EF4-FFF2-40B4-BE49-F238E27FC236}">
                <a16:creationId xmlns:a16="http://schemas.microsoft.com/office/drawing/2014/main" id="{658B47B6-A833-4666-8B31-8008E82498DA}"/>
              </a:ext>
            </a:extLst>
          </p:cNvPr>
          <p:cNvSpPr>
            <a:spLocks noGrp="1"/>
          </p:cNvSpPr>
          <p:nvPr>
            <p:ph type="sldNum" sz="quarter" idx="12"/>
          </p:nvPr>
        </p:nvSpPr>
        <p:spPr/>
        <p:txBody>
          <a:bodyPr/>
          <a:lstStyle/>
          <a:p>
            <a:fld id="{51AFE59D-DC44-4935-A904-C9AB028D208F}" type="slidenum">
              <a:rPr lang="fr-FR" smtClean="0"/>
              <a:t>4</a:t>
            </a:fld>
            <a:endParaRPr lang="fr-FR"/>
          </a:p>
        </p:txBody>
      </p:sp>
    </p:spTree>
    <p:extLst>
      <p:ext uri="{BB962C8B-B14F-4D97-AF65-F5344CB8AC3E}">
        <p14:creationId xmlns:p14="http://schemas.microsoft.com/office/powerpoint/2010/main" val="12384822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2CC6395-BB1A-4B86-AA15-DE3DF36571D4}"/>
              </a:ext>
            </a:extLst>
          </p:cNvPr>
          <p:cNvSpPr>
            <a:spLocks noGrp="1"/>
          </p:cNvSpPr>
          <p:nvPr>
            <p:ph type="body" idx="1"/>
          </p:nvPr>
        </p:nvSpPr>
        <p:spPr>
          <a:xfrm>
            <a:off x="1863338" y="766482"/>
            <a:ext cx="7078955" cy="1102659"/>
          </a:xfrm>
        </p:spPr>
        <p:txBody>
          <a:bodyPr/>
          <a:lstStyle/>
          <a:p>
            <a:r>
              <a:rPr lang="fr-FR" sz="3200" b="1" u="sng" dirty="0">
                <a:effectLst/>
                <a:latin typeface="Times New Roman" panose="02020603050405020304" pitchFamily="18" charset="0"/>
                <a:ea typeface="Times New Roman" panose="02020603050405020304" pitchFamily="18" charset="0"/>
                <a:cs typeface="Times New Roman" panose="02020603050405020304" pitchFamily="18" charset="0"/>
              </a:rPr>
              <a:t>Côté Client :</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contenu 3">
            <a:extLst>
              <a:ext uri="{FF2B5EF4-FFF2-40B4-BE49-F238E27FC236}">
                <a16:creationId xmlns:a16="http://schemas.microsoft.com/office/drawing/2014/main" id="{7975682E-BFBE-4C6E-A746-FE265B6ADB40}"/>
              </a:ext>
            </a:extLst>
          </p:cNvPr>
          <p:cNvSpPr>
            <a:spLocks noGrp="1"/>
          </p:cNvSpPr>
          <p:nvPr>
            <p:ph sz="half" idx="2"/>
          </p:nvPr>
        </p:nvSpPr>
        <p:spPr>
          <a:xfrm>
            <a:off x="1863338" y="1574805"/>
            <a:ext cx="9439834" cy="4033885"/>
          </a:xfrm>
        </p:spPr>
        <p:txBody>
          <a:bodyPr>
            <a:normAutofit/>
          </a:bodyPr>
          <a:lstStyle/>
          <a:p>
            <a:pPr marL="0" indent="0">
              <a:lnSpc>
                <a:spcPct val="107000"/>
              </a:lnSpc>
              <a:spcAft>
                <a:spcPts val="800"/>
              </a:spcAft>
              <a:buNone/>
            </a:pPr>
            <a:r>
              <a:rPr lang="fr-FR" sz="2300" b="1" u="sng" dirty="0">
                <a:effectLst/>
                <a:latin typeface="Times New Roman" panose="02020603050405020304" pitchFamily="18" charset="0"/>
                <a:ea typeface="Times New Roman" panose="02020603050405020304" pitchFamily="18" charset="0"/>
                <a:cs typeface="Times New Roman" panose="02020603050405020304" pitchFamily="18" charset="0"/>
              </a:rPr>
              <a:t>Objet C++ :</a:t>
            </a:r>
            <a:r>
              <a:rPr lang="fr-FR" sz="2300" dirty="0">
                <a:effectLst/>
                <a:latin typeface="Times New Roman" panose="02020603050405020304" pitchFamily="18" charset="0"/>
                <a:ea typeface="Times New Roman" panose="02020603050405020304" pitchFamily="18" charset="0"/>
                <a:cs typeface="Times New Roman" panose="02020603050405020304" pitchFamily="18" charset="0"/>
              </a:rPr>
              <a:t> L’objet côté client qui souhaite invoquer des méthodes sur un objet distant.</a:t>
            </a:r>
            <a:endParaRPr lang="fr-FR" sz="23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fr-FR" sz="2300" b="1" u="sng" dirty="0">
                <a:effectLst/>
                <a:latin typeface="Times New Roman" panose="02020603050405020304" pitchFamily="18" charset="0"/>
                <a:ea typeface="Times New Roman" panose="02020603050405020304" pitchFamily="18" charset="0"/>
                <a:cs typeface="Times New Roman" panose="02020603050405020304" pitchFamily="18" charset="0"/>
              </a:rPr>
              <a:t>Interface :</a:t>
            </a:r>
            <a:r>
              <a:rPr lang="fr-FR" sz="2300" dirty="0">
                <a:effectLst/>
                <a:latin typeface="Times New Roman" panose="02020603050405020304" pitchFamily="18" charset="0"/>
                <a:ea typeface="Times New Roman" panose="02020603050405020304" pitchFamily="18" charset="0"/>
                <a:cs typeface="Times New Roman" panose="02020603050405020304" pitchFamily="18" charset="0"/>
              </a:rPr>
              <a:t> Définit les méthodes que l’objet distant expose. C’est une abstraction commune pour le client et le serveur.</a:t>
            </a:r>
            <a:endParaRPr lang="fr-FR" sz="23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fr-FR" sz="2300" b="1" u="sng" dirty="0">
                <a:effectLst/>
                <a:latin typeface="Times New Roman" panose="02020603050405020304" pitchFamily="18" charset="0"/>
                <a:ea typeface="Times New Roman" panose="02020603050405020304" pitchFamily="18" charset="0"/>
                <a:cs typeface="Times New Roman" panose="02020603050405020304" pitchFamily="18" charset="0"/>
              </a:rPr>
              <a:t>Stub </a:t>
            </a:r>
            <a:r>
              <a:rPr lang="fr-FR" sz="23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2300" dirty="0">
                <a:effectLst/>
                <a:latin typeface="Times New Roman" panose="02020603050405020304" pitchFamily="18" charset="0"/>
                <a:ea typeface="Times New Roman" panose="02020603050405020304" pitchFamily="18" charset="0"/>
                <a:cs typeface="Times New Roman" panose="02020603050405020304" pitchFamily="18" charset="0"/>
              </a:rPr>
              <a:t> Une implémentation client générée qui agit comme un proxy pour l’objet distant. Il convertit les appels locaux en requêtes réseau.</a:t>
            </a:r>
            <a:endParaRPr lang="fr-FR" sz="23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fr-FR" sz="2300" b="1" u="sng" dirty="0">
                <a:effectLst/>
                <a:latin typeface="Times New Roman" panose="02020603050405020304" pitchFamily="18" charset="0"/>
                <a:ea typeface="Times New Roman" panose="02020603050405020304" pitchFamily="18" charset="0"/>
                <a:cs typeface="Times New Roman" panose="02020603050405020304" pitchFamily="18" charset="0"/>
              </a:rPr>
              <a:t>ORB (Object Request Broker) :</a:t>
            </a:r>
            <a:r>
              <a:rPr lang="fr-FR" sz="2300" dirty="0">
                <a:effectLst/>
                <a:latin typeface="Times New Roman" panose="02020603050405020304" pitchFamily="18" charset="0"/>
                <a:ea typeface="Times New Roman" panose="02020603050405020304" pitchFamily="18" charset="0"/>
                <a:cs typeface="Times New Roman" panose="02020603050405020304" pitchFamily="18" charset="0"/>
              </a:rPr>
              <a:t> Le composant principal de CORBA qui gère les communications et localise les objets distants.</a:t>
            </a:r>
            <a:endParaRPr lang="fr-FR" sz="23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2" name="Espace réservé du numéro de diapositive 1">
            <a:extLst>
              <a:ext uri="{FF2B5EF4-FFF2-40B4-BE49-F238E27FC236}">
                <a16:creationId xmlns:a16="http://schemas.microsoft.com/office/drawing/2014/main" id="{D7EB01BA-EAE6-44AA-BBB2-35751AB97AE4}"/>
              </a:ext>
            </a:extLst>
          </p:cNvPr>
          <p:cNvSpPr>
            <a:spLocks noGrp="1"/>
          </p:cNvSpPr>
          <p:nvPr>
            <p:ph type="sldNum" sz="quarter" idx="12"/>
          </p:nvPr>
        </p:nvSpPr>
        <p:spPr/>
        <p:txBody>
          <a:bodyPr/>
          <a:lstStyle/>
          <a:p>
            <a:fld id="{51AFE59D-DC44-4935-A904-C9AB028D208F}" type="slidenum">
              <a:rPr lang="fr-FR" smtClean="0"/>
              <a:t>5</a:t>
            </a:fld>
            <a:endParaRPr lang="fr-FR"/>
          </a:p>
        </p:txBody>
      </p:sp>
    </p:spTree>
    <p:extLst>
      <p:ext uri="{BB962C8B-B14F-4D97-AF65-F5344CB8AC3E}">
        <p14:creationId xmlns:p14="http://schemas.microsoft.com/office/powerpoint/2010/main" val="31314490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3F381C-F3D5-49A8-B278-CE6038D02E8B}"/>
              </a:ext>
            </a:extLst>
          </p:cNvPr>
          <p:cNvSpPr>
            <a:spLocks noGrp="1"/>
          </p:cNvSpPr>
          <p:nvPr>
            <p:ph type="title"/>
          </p:nvPr>
        </p:nvSpPr>
        <p:spPr>
          <a:xfrm>
            <a:off x="1963271" y="570322"/>
            <a:ext cx="8911687" cy="1280890"/>
          </a:xfrm>
        </p:spPr>
        <p:txBody>
          <a:bodyPr/>
          <a:lstStyle/>
          <a:p>
            <a:r>
              <a:rPr lang="fr-FR" b="1" u="sng" dirty="0">
                <a:effectLst/>
                <a:latin typeface="Times New Roman" panose="02020603050405020304" pitchFamily="18" charset="0"/>
                <a:ea typeface="Times New Roman" panose="02020603050405020304" pitchFamily="18" charset="0"/>
                <a:cs typeface="Times New Roman" panose="02020603050405020304" pitchFamily="18" charset="0"/>
              </a:rPr>
              <a:t>Côté Serveur :</a:t>
            </a:r>
            <a:br>
              <a:rPr lang="fr-FR"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E98FEAC9-F4DD-4DDA-BCEC-F1A6F8D6502C}"/>
              </a:ext>
            </a:extLst>
          </p:cNvPr>
          <p:cNvSpPr>
            <a:spLocks noGrp="1"/>
          </p:cNvSpPr>
          <p:nvPr>
            <p:ph idx="1"/>
          </p:nvPr>
        </p:nvSpPr>
        <p:spPr>
          <a:xfrm>
            <a:off x="1963271" y="1519518"/>
            <a:ext cx="9541341" cy="4391704"/>
          </a:xfrm>
        </p:spPr>
        <p:txBody>
          <a:bodyPr>
            <a:normAutofit lnSpcReduction="10000"/>
          </a:bodyPr>
          <a:lstStyle/>
          <a:p>
            <a:pPr marL="0" indent="0">
              <a:lnSpc>
                <a:spcPct val="107000"/>
              </a:lnSpc>
              <a:spcAft>
                <a:spcPts val="800"/>
              </a:spcAft>
              <a:buNone/>
            </a:pPr>
            <a:r>
              <a:rPr lang="fr-FR" sz="2000" b="1" u="sng" dirty="0">
                <a:effectLst/>
                <a:latin typeface="Times New Roman" panose="02020603050405020304" pitchFamily="18" charset="0"/>
                <a:ea typeface="Times New Roman" panose="02020603050405020304" pitchFamily="18" charset="0"/>
                <a:cs typeface="Times New Roman" panose="02020603050405020304" pitchFamily="18" charset="0"/>
              </a:rPr>
              <a:t>Objet Java :</a:t>
            </a:r>
            <a:r>
              <a:rPr lang="fr-FR" sz="2000" dirty="0">
                <a:effectLst/>
                <a:latin typeface="Times New Roman" panose="02020603050405020304" pitchFamily="18" charset="0"/>
                <a:ea typeface="Times New Roman" panose="02020603050405020304" pitchFamily="18" charset="0"/>
                <a:cs typeface="Times New Roman" panose="02020603050405020304" pitchFamily="18" charset="0"/>
              </a:rPr>
              <a:t> L’objet distant qui implémente les méthodes accessibles au client.</a:t>
            </a:r>
          </a:p>
          <a:p>
            <a:pPr marL="0" indent="0">
              <a:lnSpc>
                <a:spcPct val="107000"/>
              </a:lnSpc>
              <a:spcAft>
                <a:spcPts val="800"/>
              </a:spcAft>
              <a:buNone/>
            </a:pPr>
            <a:r>
              <a:rPr lang="fr-FR" sz="2000" b="1" u="sng" dirty="0">
                <a:effectLst/>
                <a:latin typeface="Times New Roman" panose="02020603050405020304" pitchFamily="18" charset="0"/>
                <a:ea typeface="Times New Roman" panose="02020603050405020304" pitchFamily="18" charset="0"/>
                <a:cs typeface="Times New Roman" panose="02020603050405020304" pitchFamily="18" charset="0"/>
              </a:rPr>
              <a:t>Interface :</a:t>
            </a:r>
            <a:r>
              <a:rPr lang="fr-FR" sz="2000" dirty="0">
                <a:effectLst/>
                <a:latin typeface="Times New Roman" panose="02020603050405020304" pitchFamily="18" charset="0"/>
                <a:ea typeface="Times New Roman" panose="02020603050405020304" pitchFamily="18" charset="0"/>
                <a:cs typeface="Times New Roman" panose="02020603050405020304" pitchFamily="18" charset="0"/>
              </a:rPr>
              <a:t> Similaire au client, elle définit les méthodes que l’objet serveur expose.</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fr-FR" sz="2000" b="1" u="sng" dirty="0">
                <a:effectLst/>
                <a:latin typeface="Times New Roman" panose="02020603050405020304" pitchFamily="18" charset="0"/>
                <a:ea typeface="Times New Roman" panose="02020603050405020304" pitchFamily="18" charset="0"/>
                <a:cs typeface="Times New Roman" panose="02020603050405020304" pitchFamily="18" charset="0"/>
              </a:rPr>
              <a:t>Skeleton </a:t>
            </a:r>
            <a:r>
              <a:rPr lang="fr-FR" sz="20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2000" dirty="0">
                <a:effectLst/>
                <a:latin typeface="Times New Roman" panose="02020603050405020304" pitchFamily="18" charset="0"/>
                <a:ea typeface="Times New Roman" panose="02020603050405020304" pitchFamily="18" charset="0"/>
                <a:cs typeface="Times New Roman" panose="02020603050405020304" pitchFamily="18" charset="0"/>
              </a:rPr>
              <a:t> Le proxy côté serveur qui reçoit les requêtes des stubs et les transmet à l’objet Java.</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fr-FR" sz="2000" b="1" u="sng" dirty="0">
                <a:effectLst/>
                <a:latin typeface="Times New Roman" panose="02020603050405020304" pitchFamily="18" charset="0"/>
                <a:ea typeface="Times New Roman" panose="02020603050405020304" pitchFamily="18" charset="0"/>
                <a:cs typeface="Times New Roman" panose="02020603050405020304" pitchFamily="18" charset="0"/>
              </a:rPr>
              <a:t>Adaptateur </a:t>
            </a:r>
            <a:r>
              <a:rPr lang="fr-FR" sz="2000" u="sng"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2000" dirty="0">
                <a:effectLst/>
                <a:latin typeface="Times New Roman" panose="02020603050405020304" pitchFamily="18" charset="0"/>
                <a:ea typeface="Times New Roman" panose="02020603050405020304" pitchFamily="18" charset="0"/>
                <a:cs typeface="Times New Roman" panose="02020603050405020304" pitchFamily="18" charset="0"/>
              </a:rPr>
              <a:t> connecte le skeleton au serveur, en gérant les détails liés à l’environnement d’exécution.</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fr-FR" sz="2000" b="1" u="sng" dirty="0">
                <a:effectLst/>
                <a:latin typeface="Times New Roman" panose="02020603050405020304" pitchFamily="18" charset="0"/>
                <a:ea typeface="Times New Roman" panose="02020603050405020304" pitchFamily="18" charset="0"/>
                <a:cs typeface="Times New Roman" panose="02020603050405020304" pitchFamily="18" charset="0"/>
              </a:rPr>
              <a:t>ORB :</a:t>
            </a:r>
            <a:r>
              <a:rPr lang="fr-FR" sz="2000" dirty="0">
                <a:effectLst/>
                <a:latin typeface="Times New Roman" panose="02020603050405020304" pitchFamily="18" charset="0"/>
                <a:ea typeface="Times New Roman" panose="02020603050405020304" pitchFamily="18" charset="0"/>
                <a:cs typeface="Times New Roman" panose="02020603050405020304" pitchFamily="18" charset="0"/>
              </a:rPr>
              <a:t> Assure la communication entre les stubs et les skeletons.</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fr-FR" sz="2000" b="1" u="sng" dirty="0">
                <a:effectLst/>
                <a:latin typeface="Times New Roman" panose="02020603050405020304" pitchFamily="18" charset="0"/>
                <a:ea typeface="Times New Roman" panose="02020603050405020304" pitchFamily="18" charset="0"/>
                <a:cs typeface="Times New Roman" panose="02020603050405020304" pitchFamily="18" charset="0"/>
              </a:rPr>
              <a:t>Réseau IIOP (Internet Inter-ORB Protocol) :</a:t>
            </a:r>
            <a:r>
              <a:rPr lang="fr-FR" sz="2000" dirty="0">
                <a:effectLst/>
                <a:latin typeface="Times New Roman" panose="02020603050405020304" pitchFamily="18" charset="0"/>
                <a:ea typeface="Times New Roman" panose="02020603050405020304" pitchFamily="18" charset="0"/>
                <a:cs typeface="Times New Roman" panose="02020603050405020304" pitchFamily="18" charset="0"/>
              </a:rPr>
              <a:t> Le protocole utilisé pour la communication entre les ORB sur le réseau. Il garantit l’interopérabilité entre les objets distribués, même s’ils sont écrits dans des langages.</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a:extLst>
              <a:ext uri="{FF2B5EF4-FFF2-40B4-BE49-F238E27FC236}">
                <a16:creationId xmlns:a16="http://schemas.microsoft.com/office/drawing/2014/main" id="{2B1B5310-4FF2-4D4D-BE89-A0DC0BE618B6}"/>
              </a:ext>
            </a:extLst>
          </p:cNvPr>
          <p:cNvSpPr>
            <a:spLocks noGrp="1"/>
          </p:cNvSpPr>
          <p:nvPr>
            <p:ph type="sldNum" sz="quarter" idx="12"/>
          </p:nvPr>
        </p:nvSpPr>
        <p:spPr/>
        <p:txBody>
          <a:bodyPr/>
          <a:lstStyle/>
          <a:p>
            <a:fld id="{51AFE59D-DC44-4935-A904-C9AB028D208F}" type="slidenum">
              <a:rPr lang="fr-FR" smtClean="0"/>
              <a:t>6</a:t>
            </a:fld>
            <a:endParaRPr lang="fr-FR"/>
          </a:p>
        </p:txBody>
      </p:sp>
    </p:spTree>
    <p:extLst>
      <p:ext uri="{BB962C8B-B14F-4D97-AF65-F5344CB8AC3E}">
        <p14:creationId xmlns:p14="http://schemas.microsoft.com/office/powerpoint/2010/main" val="12955650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B7B7D6-775E-468D-B7AC-6293A01E8670}"/>
              </a:ext>
            </a:extLst>
          </p:cNvPr>
          <p:cNvSpPr>
            <a:spLocks noGrp="1"/>
          </p:cNvSpPr>
          <p:nvPr>
            <p:ph type="title"/>
          </p:nvPr>
        </p:nvSpPr>
        <p:spPr>
          <a:xfrm>
            <a:off x="2010988" y="512462"/>
            <a:ext cx="8911687" cy="1280890"/>
          </a:xfrm>
        </p:spPr>
        <p:txBody>
          <a:bodyPr/>
          <a:lstStyle/>
          <a:p>
            <a:r>
              <a:rPr lang="fr-FR" sz="3200" b="1" u="sng" dirty="0">
                <a:effectLst/>
                <a:latin typeface="Times New Roman" panose="02020603050405020304" pitchFamily="18" charset="0"/>
                <a:ea typeface="Times New Roman" panose="02020603050405020304" pitchFamily="18" charset="0"/>
                <a:cs typeface="Times New Roman" panose="02020603050405020304" pitchFamily="18" charset="0"/>
              </a:rPr>
              <a:t>Explication de quelques mots clés</a:t>
            </a:r>
            <a:r>
              <a:rPr lang="fr-FR" sz="3200" u="sng" dirty="0">
                <a:effectLst/>
                <a:latin typeface="Times New Roman" panose="02020603050405020304" pitchFamily="18" charset="0"/>
                <a:ea typeface="Times New Roman" panose="02020603050405020304" pitchFamily="18" charset="0"/>
                <a:cs typeface="Times New Roman" panose="02020603050405020304" pitchFamily="18" charset="0"/>
              </a:rPr>
              <a:t> : </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B18CEC4E-6420-4CCA-A3A8-62F19DE8C502}"/>
              </a:ext>
            </a:extLst>
          </p:cNvPr>
          <p:cNvSpPr>
            <a:spLocks noGrp="1"/>
          </p:cNvSpPr>
          <p:nvPr>
            <p:ph idx="1"/>
          </p:nvPr>
        </p:nvSpPr>
        <p:spPr>
          <a:xfrm>
            <a:off x="2010988" y="1425388"/>
            <a:ext cx="9493624" cy="5029200"/>
          </a:xfrm>
        </p:spPr>
        <p:txBody>
          <a:bodyPr>
            <a:normAutofit/>
          </a:bodyPr>
          <a:lstStyle/>
          <a:p>
            <a:pPr marL="342900" lvl="0" indent="-342900">
              <a:lnSpc>
                <a:spcPct val="107000"/>
              </a:lnSpc>
              <a:spcAft>
                <a:spcPts val="800"/>
              </a:spcAft>
              <a:buFont typeface="+mj-lt"/>
              <a:buAutoNum type="arabicPeriod"/>
              <a:tabLst>
                <a:tab pos="457200" algn="l"/>
              </a:tabLst>
            </a:pPr>
            <a:r>
              <a:rPr lang="fr-FR" b="1" u="sng" dirty="0">
                <a:effectLst/>
                <a:latin typeface="Times New Roman" panose="02020603050405020304" pitchFamily="18" charset="0"/>
                <a:ea typeface="Times New Roman" panose="02020603050405020304" pitchFamily="18" charset="0"/>
                <a:cs typeface="Times New Roman" panose="02020603050405020304" pitchFamily="18" charset="0"/>
              </a:rPr>
              <a:t>Initialisation de l’ORB :</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ORB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orb</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ORB.init</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(args,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null</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 Initialisation de l’ORB dans le client, ce qui permet de communiquer avec le serveur.</a:t>
            </a:r>
            <a:endParaRPr lang="fr-FR" sz="1600" dirty="0">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fr-FR" b="1" u="sng" dirty="0">
                <a:effectLst/>
                <a:latin typeface="Times New Roman" panose="02020603050405020304" pitchFamily="18" charset="0"/>
                <a:ea typeface="Times New Roman" panose="02020603050405020304" pitchFamily="18" charset="0"/>
                <a:cs typeface="Times New Roman" panose="02020603050405020304" pitchFamily="18" charset="0"/>
              </a:rPr>
              <a:t>Récupération du service de nommage</a:t>
            </a:r>
            <a:r>
              <a:rPr lang="fr-FR" u="sng"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org.omg</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CORBA.Object</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nsRef</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orb</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resolve_initial_references</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NameService</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 Récupère une référence au service de nommage, essentiel pour localiser l’objet servant.</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fr-FR" b="1" u="sng" dirty="0" err="1">
                <a:effectLst/>
                <a:latin typeface="Times New Roman" panose="02020603050405020304" pitchFamily="18" charset="0"/>
                <a:ea typeface="Times New Roman" panose="02020603050405020304" pitchFamily="18" charset="0"/>
                <a:cs typeface="Times New Roman" panose="02020603050405020304" pitchFamily="18" charset="0"/>
              </a:rPr>
              <a:t>Narrowing</a:t>
            </a:r>
            <a:r>
              <a:rPr lang="fr-FR" b="1" u="sng" dirty="0">
                <a:effectLst/>
                <a:latin typeface="Times New Roman" panose="02020603050405020304" pitchFamily="18" charset="0"/>
                <a:ea typeface="Times New Roman" panose="02020603050405020304" pitchFamily="18" charset="0"/>
                <a:cs typeface="Times New Roman" panose="02020603050405020304" pitchFamily="18" charset="0"/>
              </a:rPr>
              <a:t> de la </a:t>
            </a:r>
            <a:r>
              <a:rPr lang="fr-FR" b="1" u="sng" dirty="0" err="1">
                <a:effectLst/>
                <a:latin typeface="Times New Roman" panose="02020603050405020304" pitchFamily="18" charset="0"/>
                <a:ea typeface="Times New Roman" panose="02020603050405020304" pitchFamily="18" charset="0"/>
                <a:cs typeface="Times New Roman" panose="02020603050405020304" pitchFamily="18" charset="0"/>
              </a:rPr>
              <a:t>référence</a:t>
            </a:r>
            <a:r>
              <a:rPr lang="fr-FR" u="sng" dirty="0" err="1">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NamingContextExt</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nce</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NamingContextExtHelper.narrow</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nsRef</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 Convertit la référence en un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NamingContextExt</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afin de pouvoir rechercher le service enregistré.</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fr-FR" b="1" u="sng" dirty="0">
                <a:effectLst/>
                <a:latin typeface="Times New Roman" panose="02020603050405020304" pitchFamily="18" charset="0"/>
                <a:ea typeface="Times New Roman" panose="02020603050405020304" pitchFamily="18" charset="0"/>
                <a:cs typeface="Times New Roman" panose="02020603050405020304" pitchFamily="18" charset="0"/>
              </a:rPr>
              <a:t>Recherche de l'objet </a:t>
            </a:r>
            <a:r>
              <a:rPr lang="fr-FR" b="1" u="sng" dirty="0" err="1">
                <a:effectLst/>
                <a:latin typeface="Times New Roman" panose="02020603050405020304" pitchFamily="18" charset="0"/>
                <a:ea typeface="Times New Roman" panose="02020603050405020304" pitchFamily="18" charset="0"/>
                <a:cs typeface="Times New Roman" panose="02020603050405020304" pitchFamily="18" charset="0"/>
              </a:rPr>
              <a:t>distant</a:t>
            </a:r>
            <a:r>
              <a:rPr lang="fr-FR" u="sng" dirty="0" err="1">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Hello</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hRef</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HelloHelper.narrow</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nce.resolve_str</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serviceName</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 Utilise le service de nommage pour rechercher le service "</a:t>
            </a:r>
            <a:r>
              <a:rPr lang="fr-FR" dirty="0" err="1">
                <a:effectLst/>
                <a:latin typeface="Times New Roman" panose="02020603050405020304" pitchFamily="18" charset="0"/>
                <a:ea typeface="Times New Roman" panose="02020603050405020304" pitchFamily="18" charset="0"/>
                <a:cs typeface="Times New Roman" panose="02020603050405020304" pitchFamily="18" charset="0"/>
              </a:rPr>
              <a:t>HelloServices</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et obtenir une référence à l'objet distant.</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fr-FR" b="1" u="sng" dirty="0">
                <a:effectLst/>
                <a:latin typeface="Times New Roman" panose="02020603050405020304" pitchFamily="18" charset="0"/>
                <a:ea typeface="Times New Roman" panose="02020603050405020304" pitchFamily="18" charset="0"/>
                <a:cs typeface="Times New Roman" panose="02020603050405020304" pitchFamily="18" charset="0"/>
              </a:rPr>
              <a:t>Appel à la méthode </a:t>
            </a:r>
            <a:r>
              <a:rPr lang="fr-FR" b="1" u="sng" dirty="0" err="1">
                <a:effectLst/>
                <a:latin typeface="Times New Roman" panose="02020603050405020304" pitchFamily="18" charset="0"/>
                <a:ea typeface="Times New Roman" panose="02020603050405020304" pitchFamily="18" charset="0"/>
                <a:cs typeface="Times New Roman" panose="02020603050405020304" pitchFamily="18" charset="0"/>
              </a:rPr>
              <a:t>distante</a:t>
            </a:r>
            <a:r>
              <a:rPr lang="fr-FR" u="sng" dirty="0" err="1">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System.out.println</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("Réponse du serveur : " +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hRef.sayHello</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 Appelle la méthode </a:t>
            </a:r>
            <a:r>
              <a:rPr lang="fr-FR" sz="1200" dirty="0" err="1">
                <a:effectLst/>
                <a:latin typeface="Courier New" panose="02070309020205020404" pitchFamily="49" charset="0"/>
                <a:ea typeface="Times New Roman" panose="02020603050405020304" pitchFamily="18" charset="0"/>
                <a:cs typeface="Times New Roman" panose="02020603050405020304" pitchFamily="18" charset="0"/>
              </a:rPr>
              <a:t>sayHello</a:t>
            </a:r>
            <a:r>
              <a:rPr lang="fr-FR"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fr-FR" dirty="0">
                <a:effectLst/>
                <a:latin typeface="Times New Roman" panose="02020603050405020304" pitchFamily="18" charset="0"/>
                <a:ea typeface="Times New Roman" panose="02020603050405020304" pitchFamily="18" charset="0"/>
                <a:cs typeface="Times New Roman" panose="02020603050405020304" pitchFamily="18" charset="0"/>
              </a:rPr>
              <a:t> sur l'objet distant et affiche la réponse.</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a:extLst>
              <a:ext uri="{FF2B5EF4-FFF2-40B4-BE49-F238E27FC236}">
                <a16:creationId xmlns:a16="http://schemas.microsoft.com/office/drawing/2014/main" id="{E12B33B6-3D97-4B2F-A066-364FA55A23BE}"/>
              </a:ext>
            </a:extLst>
          </p:cNvPr>
          <p:cNvSpPr>
            <a:spLocks noGrp="1"/>
          </p:cNvSpPr>
          <p:nvPr>
            <p:ph type="sldNum" sz="quarter" idx="12"/>
          </p:nvPr>
        </p:nvSpPr>
        <p:spPr/>
        <p:txBody>
          <a:bodyPr/>
          <a:lstStyle/>
          <a:p>
            <a:fld id="{51AFE59D-DC44-4935-A904-C9AB028D208F}" type="slidenum">
              <a:rPr lang="fr-FR" smtClean="0"/>
              <a:t>7</a:t>
            </a:fld>
            <a:endParaRPr lang="fr-FR"/>
          </a:p>
        </p:txBody>
      </p:sp>
    </p:spTree>
    <p:extLst>
      <p:ext uri="{BB962C8B-B14F-4D97-AF65-F5344CB8AC3E}">
        <p14:creationId xmlns:p14="http://schemas.microsoft.com/office/powerpoint/2010/main" val="350399359"/>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4FFE07-A9D5-41CF-A1D5-F4AB1C0DEC9D}"/>
              </a:ext>
            </a:extLst>
          </p:cNvPr>
          <p:cNvSpPr>
            <a:spLocks noGrp="1"/>
          </p:cNvSpPr>
          <p:nvPr>
            <p:ph type="title"/>
          </p:nvPr>
        </p:nvSpPr>
        <p:spPr>
          <a:xfrm>
            <a:off x="1748119" y="624108"/>
            <a:ext cx="8911687" cy="1280890"/>
          </a:xfrm>
        </p:spPr>
        <p:txBody>
          <a:bodyPr/>
          <a:lstStyle/>
          <a:p>
            <a:r>
              <a:rPr lang="fr-FR" sz="3200" b="1" u="sng" dirty="0">
                <a:effectLst/>
                <a:latin typeface="Calibri" panose="020F0502020204030204" pitchFamily="34" charset="0"/>
                <a:ea typeface="Times New Roman" panose="02020603050405020304" pitchFamily="18" charset="0"/>
                <a:cs typeface="Times New Roman" panose="02020603050405020304" pitchFamily="18" charset="0"/>
              </a:rPr>
              <a:t>III. Tableau comparatif </a:t>
            </a:r>
            <a:r>
              <a:rPr lang="fr-FR" sz="3200" b="1" dirty="0">
                <a:effectLst/>
                <a:latin typeface="Calibri" panose="020F0502020204030204" pitchFamily="34" charset="0"/>
                <a:ea typeface="Times New Roman" panose="02020603050405020304" pitchFamily="18" charset="0"/>
                <a:cs typeface="Times New Roman" panose="02020603050405020304" pitchFamily="18" charset="0"/>
              </a:rPr>
              <a:t>:(OMNIORB – CORBA)</a:t>
            </a:r>
            <a:r>
              <a:rPr lang="fr-FR" sz="2800" b="1" dirty="0">
                <a:effectLst/>
                <a:latin typeface="Calibri" panose="020F0502020204030204" pitchFamily="34" charset="0"/>
                <a:ea typeface="Times New Roman" panose="02020603050405020304" pitchFamily="18" charset="0"/>
                <a:cs typeface="Times New Roman" panose="02020603050405020304" pitchFamily="18" charset="0"/>
              </a:rPr>
              <a:t> </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graphicFrame>
        <p:nvGraphicFramePr>
          <p:cNvPr id="4" name="Espace réservé du contenu 3">
            <a:extLst>
              <a:ext uri="{FF2B5EF4-FFF2-40B4-BE49-F238E27FC236}">
                <a16:creationId xmlns:a16="http://schemas.microsoft.com/office/drawing/2014/main" id="{A28A9379-642B-4101-BB2B-8AE40B76771B}"/>
              </a:ext>
            </a:extLst>
          </p:cNvPr>
          <p:cNvGraphicFramePr>
            <a:graphicFrameLocks noGrp="1"/>
          </p:cNvGraphicFramePr>
          <p:nvPr>
            <p:ph idx="1"/>
            <p:extLst>
              <p:ext uri="{D42A27DB-BD31-4B8C-83A1-F6EECF244321}">
                <p14:modId xmlns:p14="http://schemas.microsoft.com/office/powerpoint/2010/main" val="3557671491"/>
              </p:ext>
            </p:extLst>
          </p:nvPr>
        </p:nvGraphicFramePr>
        <p:xfrm>
          <a:off x="1699199" y="1465729"/>
          <a:ext cx="10139079" cy="5037102"/>
        </p:xfrm>
        <a:graphic>
          <a:graphicData uri="http://schemas.openxmlformats.org/drawingml/2006/table">
            <a:tbl>
              <a:tblPr firstRow="1" firstCol="1" bandRow="1">
                <a:tableStyleId>{5C22544A-7EE6-4342-B048-85BDC9FD1C3A}</a:tableStyleId>
              </a:tblPr>
              <a:tblGrid>
                <a:gridCol w="3379693">
                  <a:extLst>
                    <a:ext uri="{9D8B030D-6E8A-4147-A177-3AD203B41FA5}">
                      <a16:colId xmlns:a16="http://schemas.microsoft.com/office/drawing/2014/main" val="56006447"/>
                    </a:ext>
                  </a:extLst>
                </a:gridCol>
                <a:gridCol w="3379693">
                  <a:extLst>
                    <a:ext uri="{9D8B030D-6E8A-4147-A177-3AD203B41FA5}">
                      <a16:colId xmlns:a16="http://schemas.microsoft.com/office/drawing/2014/main" val="963043458"/>
                    </a:ext>
                  </a:extLst>
                </a:gridCol>
                <a:gridCol w="3379693">
                  <a:extLst>
                    <a:ext uri="{9D8B030D-6E8A-4147-A177-3AD203B41FA5}">
                      <a16:colId xmlns:a16="http://schemas.microsoft.com/office/drawing/2014/main" val="338685368"/>
                    </a:ext>
                  </a:extLst>
                </a:gridCol>
              </a:tblGrid>
              <a:tr h="279840">
                <a:tc>
                  <a:txBody>
                    <a:bodyPr/>
                    <a:lstStyle/>
                    <a:p>
                      <a:r>
                        <a:rPr lang="fr-FR" sz="1600">
                          <a:effectLst/>
                        </a:rPr>
                        <a:t>Implémentation CORBA</a:t>
                      </a:r>
                      <a:endParaRPr lang="fr-FR" sz="1600" b="1">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Avantages</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Inconvénients</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16742343"/>
                  </a:ext>
                </a:extLst>
              </a:tr>
              <a:tr h="839518">
                <a:tc rowSpan="4">
                  <a:txBody>
                    <a:bodyPr/>
                    <a:lstStyle/>
                    <a:p>
                      <a:pPr algn="ctr"/>
                      <a:r>
                        <a:rPr lang="fr-FR" sz="2800" dirty="0">
                          <a:effectLst/>
                        </a:rPr>
                        <a:t> </a:t>
                      </a:r>
                    </a:p>
                    <a:p>
                      <a:pPr algn="ctr"/>
                      <a:r>
                        <a:rPr lang="fr-FR" sz="2800" dirty="0">
                          <a:effectLst/>
                        </a:rPr>
                        <a:t> </a:t>
                      </a:r>
                    </a:p>
                    <a:p>
                      <a:pPr algn="ctr"/>
                      <a:r>
                        <a:rPr lang="fr-FR" sz="2800" dirty="0">
                          <a:effectLst/>
                        </a:rPr>
                        <a:t> </a:t>
                      </a:r>
                    </a:p>
                    <a:p>
                      <a:pPr algn="ctr"/>
                      <a:r>
                        <a:rPr lang="fr-FR" sz="3200" dirty="0">
                          <a:effectLst/>
                        </a:rPr>
                        <a:t>OMNIORB</a:t>
                      </a:r>
                      <a:endParaRPr lang="fr-FR" sz="3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Légèreté, performance rapide, faible empreinte mémoire</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Pas d'intégration avec les technologies Java (EJB, JMS, etc.)</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091882"/>
                  </a:ext>
                </a:extLst>
              </a:tr>
              <a:tr h="559677">
                <a:tc vMerge="1">
                  <a:txBody>
                    <a:bodyPr/>
                    <a:lstStyle/>
                    <a:p>
                      <a:endParaRPr lang="fr-FR"/>
                    </a:p>
                  </a:txBody>
                  <a:tcPr/>
                </a:tc>
                <a:tc>
                  <a:txBody>
                    <a:bodyPr/>
                    <a:lstStyle/>
                    <a:p>
                      <a:r>
                        <a:rPr lang="fr-FR" sz="1600" dirty="0">
                          <a:effectLst/>
                        </a:rPr>
                        <a:t>Conformité stricte au standard CORBA</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Moins adapté aux environnements Java EE</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1256606"/>
                  </a:ext>
                </a:extLst>
              </a:tr>
              <a:tr h="559677">
                <a:tc vMerge="1">
                  <a:txBody>
                    <a:bodyPr/>
                    <a:lstStyle/>
                    <a:p>
                      <a:endParaRPr lang="fr-FR"/>
                    </a:p>
                  </a:txBody>
                  <a:tcPr/>
                </a:tc>
                <a:tc>
                  <a:txBody>
                    <a:bodyPr/>
                    <a:lstStyle/>
                    <a:p>
                      <a:r>
                        <a:rPr lang="fr-FR" sz="1600" dirty="0">
                          <a:effectLst/>
                        </a:rPr>
                        <a:t>Open source et modulaire</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Configuration complexe pour les débutants</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31889449"/>
                  </a:ext>
                </a:extLst>
              </a:tr>
              <a:tr h="559677">
                <a:tc vMerge="1">
                  <a:txBody>
                    <a:bodyPr/>
                    <a:lstStyle/>
                    <a:p>
                      <a:endParaRPr lang="fr-FR"/>
                    </a:p>
                  </a:txBody>
                  <a:tcPr/>
                </a:tc>
                <a:tc>
                  <a:txBody>
                    <a:bodyPr/>
                    <a:lstStyle/>
                    <a:p>
                      <a:r>
                        <a:rPr lang="fr-FR" sz="1600" dirty="0">
                          <a:effectLst/>
                        </a:rPr>
                        <a:t>Support pour plusieurs langages (C++, Python)</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 </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0355179"/>
                  </a:ext>
                </a:extLst>
              </a:tr>
              <a:tr h="839518">
                <a:tc rowSpan="3">
                  <a:txBody>
                    <a:bodyPr/>
                    <a:lstStyle/>
                    <a:p>
                      <a:pPr algn="ctr"/>
                      <a:r>
                        <a:rPr lang="fr-FR" sz="2000" dirty="0">
                          <a:effectLst/>
                        </a:rPr>
                        <a:t> </a:t>
                      </a:r>
                    </a:p>
                    <a:p>
                      <a:pPr algn="ctr"/>
                      <a:r>
                        <a:rPr lang="fr-FR" sz="2000" dirty="0">
                          <a:effectLst/>
                        </a:rPr>
                        <a:t> </a:t>
                      </a:r>
                    </a:p>
                    <a:p>
                      <a:pPr algn="ctr"/>
                      <a:r>
                        <a:rPr lang="fr-FR" sz="4000" dirty="0">
                          <a:effectLst/>
                        </a:rPr>
                        <a:t>ORBD</a:t>
                      </a:r>
                      <a:endParaRPr lang="fr-FR" sz="4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Excellente intégration avec l'écosystème Java EE</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Consommation de ressources plus élevée</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3719979"/>
                  </a:ext>
                </a:extLst>
              </a:tr>
              <a:tr h="559677">
                <a:tc vMerge="1">
                  <a:txBody>
                    <a:bodyPr/>
                    <a:lstStyle/>
                    <a:p>
                      <a:endParaRPr lang="fr-FR"/>
                    </a:p>
                  </a:txBody>
                  <a:tcPr/>
                </a:tc>
                <a:tc>
                  <a:txBody>
                    <a:bodyPr/>
                    <a:lstStyle/>
                    <a:p>
                      <a:r>
                        <a:rPr lang="fr-FR" sz="1600" dirty="0">
                          <a:effectLst/>
                        </a:rPr>
                        <a:t>Facilité d'utilisation pour les développeurs Java</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Dépendance à la plate-forme Java</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86579267"/>
                  </a:ext>
                </a:extLst>
              </a:tr>
              <a:tr h="839518">
                <a:tc vMerge="1">
                  <a:txBody>
                    <a:bodyPr/>
                    <a:lstStyle/>
                    <a:p>
                      <a:endParaRPr lang="fr-FR"/>
                    </a:p>
                  </a:txBody>
                  <a:tcPr/>
                </a:tc>
                <a:tc>
                  <a:txBody>
                    <a:bodyPr/>
                    <a:lstStyle/>
                    <a:p>
                      <a:r>
                        <a:rPr lang="fr-FR" sz="1600" dirty="0">
                          <a:effectLst/>
                        </a:rPr>
                        <a:t>Prêt à l'emploi dans les serveurs d'applications Java</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fr-FR" sz="1600" dirty="0">
                          <a:effectLst/>
                        </a:rPr>
                        <a:t>Dépendance à la plate-forme Java</a:t>
                      </a:r>
                      <a:endParaRPr lang="fr-FR"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43149521"/>
                  </a:ext>
                </a:extLst>
              </a:tr>
            </a:tbl>
          </a:graphicData>
        </a:graphic>
      </p:graphicFrame>
      <p:sp>
        <p:nvSpPr>
          <p:cNvPr id="3" name="Espace réservé du numéro de diapositive 2">
            <a:extLst>
              <a:ext uri="{FF2B5EF4-FFF2-40B4-BE49-F238E27FC236}">
                <a16:creationId xmlns:a16="http://schemas.microsoft.com/office/drawing/2014/main" id="{6176313A-E4E4-4F65-8E81-3B914691F612}"/>
              </a:ext>
            </a:extLst>
          </p:cNvPr>
          <p:cNvSpPr>
            <a:spLocks noGrp="1"/>
          </p:cNvSpPr>
          <p:nvPr>
            <p:ph type="sldNum" sz="quarter" idx="12"/>
          </p:nvPr>
        </p:nvSpPr>
        <p:spPr/>
        <p:txBody>
          <a:bodyPr/>
          <a:lstStyle/>
          <a:p>
            <a:fld id="{51AFE59D-DC44-4935-A904-C9AB028D208F}" type="slidenum">
              <a:rPr lang="fr-FR" smtClean="0"/>
              <a:t>8</a:t>
            </a:fld>
            <a:endParaRPr lang="fr-FR"/>
          </a:p>
        </p:txBody>
      </p:sp>
    </p:spTree>
    <p:extLst>
      <p:ext uri="{BB962C8B-B14F-4D97-AF65-F5344CB8AC3E}">
        <p14:creationId xmlns:p14="http://schemas.microsoft.com/office/powerpoint/2010/main" val="21809209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3607A3-86F0-4D75-AC54-71F305CC644B}"/>
              </a:ext>
            </a:extLst>
          </p:cNvPr>
          <p:cNvSpPr>
            <a:spLocks noGrp="1"/>
          </p:cNvSpPr>
          <p:nvPr>
            <p:ph type="title"/>
          </p:nvPr>
        </p:nvSpPr>
        <p:spPr>
          <a:xfrm>
            <a:off x="2592924" y="624110"/>
            <a:ext cx="8911687" cy="693702"/>
          </a:xfrm>
        </p:spPr>
        <p:txBody>
          <a:bodyPr>
            <a:normAutofit fontScale="90000"/>
          </a:bodyPr>
          <a:lstStyle/>
          <a:p>
            <a:r>
              <a:rPr lang="fr-FR" sz="2400" b="1" u="sng" dirty="0">
                <a:effectLst/>
                <a:latin typeface="Times New Roman" panose="02020603050405020304" pitchFamily="18" charset="0"/>
                <a:ea typeface="Times New Roman" panose="02020603050405020304" pitchFamily="18" charset="0"/>
                <a:cs typeface="Times New Roman" panose="02020603050405020304" pitchFamily="18" charset="0"/>
              </a:rPr>
              <a:t>IV.  Résultat des exécutions :</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
        <p:nvSpPr>
          <p:cNvPr id="5" name="Espace réservé du texte 4">
            <a:extLst>
              <a:ext uri="{FF2B5EF4-FFF2-40B4-BE49-F238E27FC236}">
                <a16:creationId xmlns:a16="http://schemas.microsoft.com/office/drawing/2014/main" id="{689F6848-D055-4BF4-B395-B1BA9BBE2E1C}"/>
              </a:ext>
            </a:extLst>
          </p:cNvPr>
          <p:cNvSpPr>
            <a:spLocks noGrp="1"/>
          </p:cNvSpPr>
          <p:nvPr>
            <p:ph type="body" sz="quarter" idx="3"/>
          </p:nvPr>
        </p:nvSpPr>
        <p:spPr>
          <a:xfrm>
            <a:off x="2311683" y="1029681"/>
            <a:ext cx="4393917" cy="576262"/>
          </a:xfrm>
        </p:spPr>
        <p:txBody>
          <a:bodyPr/>
          <a:lstStyle/>
          <a:p>
            <a:r>
              <a:rPr lang="fr-FR" sz="2000" b="1" dirty="0">
                <a:effectLst/>
                <a:latin typeface="Times New Roman" panose="02020603050405020304" pitchFamily="18" charset="0"/>
                <a:ea typeface="Times New Roman" panose="02020603050405020304" pitchFamily="18" charset="0"/>
              </a:rPr>
              <a:t>Compilation et lancement du Client.</a:t>
            </a:r>
            <a:endParaRPr lang="fr-FR" sz="2800" dirty="0"/>
          </a:p>
        </p:txBody>
      </p:sp>
      <p:pic>
        <p:nvPicPr>
          <p:cNvPr id="16" name="Image 15">
            <a:extLst>
              <a:ext uri="{FF2B5EF4-FFF2-40B4-BE49-F238E27FC236}">
                <a16:creationId xmlns:a16="http://schemas.microsoft.com/office/drawing/2014/main" id="{08D55E81-5CD8-4A60-8B5D-69E4DD0B0296}"/>
              </a:ext>
            </a:extLst>
          </p:cNvPr>
          <p:cNvPicPr>
            <a:picLocks noChangeAspect="1"/>
          </p:cNvPicPr>
          <p:nvPr/>
        </p:nvPicPr>
        <p:blipFill>
          <a:blip r:embed="rId2"/>
          <a:stretch>
            <a:fillRect/>
          </a:stretch>
        </p:blipFill>
        <p:spPr>
          <a:xfrm>
            <a:off x="1823775" y="1905430"/>
            <a:ext cx="9088118" cy="4114761"/>
          </a:xfrm>
          <a:prstGeom prst="rect">
            <a:avLst/>
          </a:prstGeom>
        </p:spPr>
      </p:pic>
      <p:sp>
        <p:nvSpPr>
          <p:cNvPr id="21" name="Espace réservé du numéro de diapositive 20">
            <a:extLst>
              <a:ext uri="{FF2B5EF4-FFF2-40B4-BE49-F238E27FC236}">
                <a16:creationId xmlns:a16="http://schemas.microsoft.com/office/drawing/2014/main" id="{2273CACF-1B9F-4D5D-B06C-68B495AAB31D}"/>
              </a:ext>
            </a:extLst>
          </p:cNvPr>
          <p:cNvSpPr>
            <a:spLocks noGrp="1"/>
          </p:cNvSpPr>
          <p:nvPr>
            <p:ph type="sldNum" sz="quarter" idx="12"/>
          </p:nvPr>
        </p:nvSpPr>
        <p:spPr/>
        <p:txBody>
          <a:bodyPr/>
          <a:lstStyle/>
          <a:p>
            <a:fld id="{51AFE59D-DC44-4935-A904-C9AB028D208F}" type="slidenum">
              <a:rPr lang="fr-FR" smtClean="0"/>
              <a:t>9</a:t>
            </a:fld>
            <a:endParaRPr lang="fr-FR"/>
          </a:p>
        </p:txBody>
      </p:sp>
    </p:spTree>
    <p:extLst>
      <p:ext uri="{BB962C8B-B14F-4D97-AF65-F5344CB8AC3E}">
        <p14:creationId xmlns:p14="http://schemas.microsoft.com/office/powerpoint/2010/main" val="210172925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3607A3-86F0-4D75-AC54-71F305CC644B}"/>
              </a:ext>
            </a:extLst>
          </p:cNvPr>
          <p:cNvSpPr>
            <a:spLocks noGrp="1"/>
          </p:cNvSpPr>
          <p:nvPr>
            <p:ph type="title"/>
          </p:nvPr>
        </p:nvSpPr>
        <p:spPr>
          <a:xfrm>
            <a:off x="2592924" y="624110"/>
            <a:ext cx="8911687" cy="693702"/>
          </a:xfrm>
        </p:spPr>
        <p:txBody>
          <a:bodyPr>
            <a:normAutofit fontScale="90000"/>
          </a:bodyPr>
          <a:lstStyle/>
          <a:p>
            <a:r>
              <a:rPr lang="fr-FR" sz="2400" b="1" u="sng" dirty="0">
                <a:effectLst/>
                <a:latin typeface="Times New Roman" panose="02020603050405020304" pitchFamily="18" charset="0"/>
                <a:ea typeface="Times New Roman" panose="02020603050405020304" pitchFamily="18" charset="0"/>
                <a:cs typeface="Times New Roman" panose="02020603050405020304" pitchFamily="18" charset="0"/>
              </a:rPr>
              <a:t>IV.  Résultat des exécutions :</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
        <p:nvSpPr>
          <p:cNvPr id="3" name="Espace réservé du texte 2">
            <a:extLst>
              <a:ext uri="{FF2B5EF4-FFF2-40B4-BE49-F238E27FC236}">
                <a16:creationId xmlns:a16="http://schemas.microsoft.com/office/drawing/2014/main" id="{12DD7AC3-54C9-4DE4-BE45-B4C718DF84C1}"/>
              </a:ext>
            </a:extLst>
          </p:cNvPr>
          <p:cNvSpPr>
            <a:spLocks noGrp="1"/>
          </p:cNvSpPr>
          <p:nvPr>
            <p:ph type="body" idx="1"/>
          </p:nvPr>
        </p:nvSpPr>
        <p:spPr>
          <a:xfrm>
            <a:off x="2143125" y="1282794"/>
            <a:ext cx="4427694" cy="576262"/>
          </a:xfrm>
        </p:spPr>
        <p:txBody>
          <a:bodyPr/>
          <a:lstStyle/>
          <a:p>
            <a:r>
              <a:rPr lang="fr-FR" sz="2000" b="1" dirty="0">
                <a:effectLst/>
                <a:latin typeface="Times New Roman" panose="02020603050405020304" pitchFamily="18" charset="0"/>
                <a:ea typeface="Times New Roman" panose="02020603050405020304" pitchFamily="18" charset="0"/>
              </a:rPr>
              <a:t>Compilation et lancement du Server</a:t>
            </a:r>
            <a:r>
              <a:rPr lang="fr-FR" sz="1800" b="1" dirty="0">
                <a:effectLst/>
                <a:latin typeface="Times New Roman" panose="02020603050405020304" pitchFamily="18" charset="0"/>
                <a:ea typeface="Times New Roman" panose="02020603050405020304" pitchFamily="18" charset="0"/>
              </a:rPr>
              <a:t>.</a:t>
            </a:r>
            <a:endParaRPr lang="fr-FR" dirty="0"/>
          </a:p>
        </p:txBody>
      </p:sp>
      <p:pic>
        <p:nvPicPr>
          <p:cNvPr id="18" name="Image 17">
            <a:extLst>
              <a:ext uri="{FF2B5EF4-FFF2-40B4-BE49-F238E27FC236}">
                <a16:creationId xmlns:a16="http://schemas.microsoft.com/office/drawing/2014/main" id="{10BFEAF3-A3EC-425E-BD58-CA3C46C69B7A}"/>
              </a:ext>
            </a:extLst>
          </p:cNvPr>
          <p:cNvPicPr>
            <a:picLocks noChangeAspect="1"/>
          </p:cNvPicPr>
          <p:nvPr/>
        </p:nvPicPr>
        <p:blipFill>
          <a:blip r:embed="rId2"/>
          <a:stretch>
            <a:fillRect/>
          </a:stretch>
        </p:blipFill>
        <p:spPr>
          <a:xfrm>
            <a:off x="2143125" y="2400300"/>
            <a:ext cx="8196855" cy="2857500"/>
          </a:xfrm>
          <a:prstGeom prst="rect">
            <a:avLst/>
          </a:prstGeom>
        </p:spPr>
      </p:pic>
      <p:sp>
        <p:nvSpPr>
          <p:cNvPr id="19" name="Espace réservé du numéro de diapositive 18">
            <a:extLst>
              <a:ext uri="{FF2B5EF4-FFF2-40B4-BE49-F238E27FC236}">
                <a16:creationId xmlns:a16="http://schemas.microsoft.com/office/drawing/2014/main" id="{D23F5075-203C-478A-91C6-5968A9CA97D7}"/>
              </a:ext>
            </a:extLst>
          </p:cNvPr>
          <p:cNvSpPr>
            <a:spLocks noGrp="1"/>
          </p:cNvSpPr>
          <p:nvPr>
            <p:ph type="sldNum" sz="quarter" idx="12"/>
          </p:nvPr>
        </p:nvSpPr>
        <p:spPr/>
        <p:txBody>
          <a:bodyPr/>
          <a:lstStyle/>
          <a:p>
            <a:fld id="{51AFE59D-DC44-4935-A904-C9AB028D208F}" type="slidenum">
              <a:rPr lang="fr-FR" smtClean="0"/>
              <a:t>10</a:t>
            </a:fld>
            <a:endParaRPr lang="fr-FR"/>
          </a:p>
        </p:txBody>
      </p:sp>
    </p:spTree>
    <p:extLst>
      <p:ext uri="{BB962C8B-B14F-4D97-AF65-F5344CB8AC3E}">
        <p14:creationId xmlns:p14="http://schemas.microsoft.com/office/powerpoint/2010/main" val="27201343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784512-890A-49F1-AC39-3EAAD59E5A29}"/>
              </a:ext>
            </a:extLst>
          </p:cNvPr>
          <p:cNvSpPr>
            <a:spLocks noGrp="1"/>
          </p:cNvSpPr>
          <p:nvPr>
            <p:ph type="title"/>
          </p:nvPr>
        </p:nvSpPr>
        <p:spPr>
          <a:xfrm>
            <a:off x="2095384" y="556875"/>
            <a:ext cx="8911687" cy="1280890"/>
          </a:xfrm>
        </p:spPr>
        <p:txBody>
          <a:bodyPr>
            <a:normAutofit fontScale="90000"/>
          </a:bodyPr>
          <a:lstStyle/>
          <a:p>
            <a:r>
              <a:rPr lang="fr-FR" sz="2400" b="1" u="sng" dirty="0">
                <a:effectLst/>
                <a:latin typeface="Times New Roman" panose="02020603050405020304" pitchFamily="18" charset="0"/>
                <a:ea typeface="Times New Roman" panose="02020603050405020304" pitchFamily="18" charset="0"/>
                <a:cs typeface="Times New Roman" panose="02020603050405020304" pitchFamily="18" charset="0"/>
              </a:rPr>
              <a:t>V.  Résultats des requêtes après modification des codes Server et Client :</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pic>
        <p:nvPicPr>
          <p:cNvPr id="4" name="Espace réservé du contenu 3">
            <a:extLst>
              <a:ext uri="{FF2B5EF4-FFF2-40B4-BE49-F238E27FC236}">
                <a16:creationId xmlns:a16="http://schemas.microsoft.com/office/drawing/2014/main" id="{49B500D8-2B81-4A93-9AAF-50B9E11AF9EB}"/>
              </a:ext>
            </a:extLst>
          </p:cNvPr>
          <p:cNvPicPr>
            <a:picLocks noGrp="1"/>
          </p:cNvPicPr>
          <p:nvPr>
            <p:ph idx="1"/>
          </p:nvPr>
        </p:nvPicPr>
        <p:blipFill>
          <a:blip r:embed="rId2"/>
          <a:stretch>
            <a:fillRect/>
          </a:stretch>
        </p:blipFill>
        <p:spPr>
          <a:xfrm>
            <a:off x="2339788" y="1250576"/>
            <a:ext cx="8124533" cy="5050549"/>
          </a:xfrm>
          <a:prstGeom prst="rect">
            <a:avLst/>
          </a:prstGeom>
        </p:spPr>
      </p:pic>
      <p:sp>
        <p:nvSpPr>
          <p:cNvPr id="3" name="Espace réservé du numéro de diapositive 2">
            <a:extLst>
              <a:ext uri="{FF2B5EF4-FFF2-40B4-BE49-F238E27FC236}">
                <a16:creationId xmlns:a16="http://schemas.microsoft.com/office/drawing/2014/main" id="{2AE5B5CF-BDA3-4D68-B568-683FDD3F4E3B}"/>
              </a:ext>
            </a:extLst>
          </p:cNvPr>
          <p:cNvSpPr>
            <a:spLocks noGrp="1"/>
          </p:cNvSpPr>
          <p:nvPr>
            <p:ph type="sldNum" sz="quarter" idx="12"/>
          </p:nvPr>
        </p:nvSpPr>
        <p:spPr/>
        <p:txBody>
          <a:bodyPr/>
          <a:lstStyle/>
          <a:p>
            <a:fld id="{51AFE59D-DC44-4935-A904-C9AB028D208F}" type="slidenum">
              <a:rPr lang="fr-FR" smtClean="0"/>
              <a:t>11</a:t>
            </a:fld>
            <a:endParaRPr lang="fr-FR"/>
          </a:p>
        </p:txBody>
      </p:sp>
    </p:spTree>
    <p:extLst>
      <p:ext uri="{BB962C8B-B14F-4D97-AF65-F5344CB8AC3E}">
        <p14:creationId xmlns:p14="http://schemas.microsoft.com/office/powerpoint/2010/main" val="137599484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7D65C756-FD86-4BA3-A884-D7891C29E0DA}"/>
              </a:ext>
            </a:extLst>
          </p:cNvPr>
          <p:cNvSpPr>
            <a:spLocks noGrp="1"/>
          </p:cNvSpPr>
          <p:nvPr>
            <p:ph type="body" idx="1"/>
          </p:nvPr>
        </p:nvSpPr>
        <p:spPr>
          <a:xfrm>
            <a:off x="1707776" y="748792"/>
            <a:ext cx="4292778" cy="576262"/>
          </a:xfrm>
        </p:spPr>
        <p:txBody>
          <a:bodyPr/>
          <a:lstStyle/>
          <a:p>
            <a:r>
              <a:rPr lang="fr-FR" b="1" dirty="0">
                <a:effectLst/>
                <a:latin typeface="Times New Roman" panose="02020603050405020304" pitchFamily="18" charset="0"/>
                <a:ea typeface="Times New Roman" panose="02020603050405020304" pitchFamily="18" charset="0"/>
              </a:rPr>
              <a:t>Les clients actifs du coté Server</a:t>
            </a:r>
            <a:endParaRPr lang="fr-FR" sz="3200" b="1" dirty="0"/>
          </a:p>
        </p:txBody>
      </p:sp>
      <p:graphicFrame>
        <p:nvGraphicFramePr>
          <p:cNvPr id="9" name="Espace réservé du contenu 8">
            <a:extLst>
              <a:ext uri="{FF2B5EF4-FFF2-40B4-BE49-F238E27FC236}">
                <a16:creationId xmlns:a16="http://schemas.microsoft.com/office/drawing/2014/main" id="{919BA30C-1F60-4A07-A429-597EBB64BE1E}"/>
              </a:ext>
            </a:extLst>
          </p:cNvPr>
          <p:cNvGraphicFramePr>
            <a:graphicFrameLocks noGrp="1"/>
          </p:cNvGraphicFramePr>
          <p:nvPr>
            <p:ph sz="quarter" idx="4"/>
            <p:extLst>
              <p:ext uri="{D42A27DB-BD31-4B8C-83A1-F6EECF244321}">
                <p14:modId xmlns:p14="http://schemas.microsoft.com/office/powerpoint/2010/main" val="2862327834"/>
              </p:ext>
            </p:extLst>
          </p:nvPr>
        </p:nvGraphicFramePr>
        <p:xfrm>
          <a:off x="7025435" y="1483114"/>
          <a:ext cx="4807977" cy="4049831"/>
        </p:xfrm>
        <a:graphic>
          <a:graphicData uri="http://schemas.openxmlformats.org/drawingml/2006/table">
            <a:tbl>
              <a:tblPr firstRow="1" firstCol="1" bandRow="1">
                <a:tableStyleId>{5C22544A-7EE6-4342-B048-85BDC9FD1C3A}</a:tableStyleId>
              </a:tblPr>
              <a:tblGrid>
                <a:gridCol w="4807977">
                  <a:extLst>
                    <a:ext uri="{9D8B030D-6E8A-4147-A177-3AD203B41FA5}">
                      <a16:colId xmlns:a16="http://schemas.microsoft.com/office/drawing/2014/main" val="133677893"/>
                    </a:ext>
                  </a:extLst>
                </a:gridCol>
              </a:tblGrid>
              <a:tr h="774152">
                <a:tc>
                  <a:txBody>
                    <a:bodyPr/>
                    <a:lstStyle/>
                    <a:p>
                      <a:pPr>
                        <a:lnSpc>
                          <a:spcPct val="107000"/>
                        </a:lnSpc>
                        <a:spcAft>
                          <a:spcPts val="800"/>
                        </a:spcAft>
                      </a:pPr>
                      <a:r>
                        <a:rPr lang="en-CA" sz="1100" dirty="0">
                          <a:effectLst/>
                        </a:rPr>
                        <a:t>Fishier text</a:t>
                      </a:r>
                      <a:endParaRPr lang="fr-FR" sz="800" dirty="0">
                        <a:effectLst/>
                      </a:endParaRPr>
                    </a:p>
                    <a:p>
                      <a:pPr>
                        <a:lnSpc>
                          <a:spcPct val="107000"/>
                        </a:lnSpc>
                        <a:spcAft>
                          <a:spcPts val="800"/>
                        </a:spcAft>
                      </a:pPr>
                      <a:r>
                        <a:rPr lang="fr-FR" sz="1100" dirty="0">
                          <a:effectLst/>
                        </a:rPr>
                        <a:t> </a:t>
                      </a:r>
                      <a:endParaRPr lang="fr-F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1707" marR="51707" marT="0" marB="0"/>
                </a:tc>
                <a:extLst>
                  <a:ext uri="{0D108BD9-81ED-4DB2-BD59-A6C34878D82A}">
                    <a16:rowId xmlns:a16="http://schemas.microsoft.com/office/drawing/2014/main" val="251167959"/>
                  </a:ext>
                </a:extLst>
              </a:tr>
              <a:tr h="3275679">
                <a:tc>
                  <a:txBody>
                    <a:bodyPr/>
                    <a:lstStyle/>
                    <a:p>
                      <a:pPr>
                        <a:lnSpc>
                          <a:spcPct val="107000"/>
                        </a:lnSpc>
                        <a:spcAft>
                          <a:spcPts val="800"/>
                        </a:spcAft>
                      </a:pPr>
                      <a:r>
                        <a:rPr lang="fr-FR" sz="900" dirty="0">
                          <a:effectLst/>
                        </a:rPr>
                        <a:t>Salut</a:t>
                      </a:r>
                      <a:endParaRPr lang="fr-FR" sz="800" dirty="0">
                        <a:effectLst/>
                      </a:endParaRPr>
                    </a:p>
                    <a:p>
                      <a:pPr>
                        <a:lnSpc>
                          <a:spcPct val="107000"/>
                        </a:lnSpc>
                        <a:spcAft>
                          <a:spcPts val="800"/>
                        </a:spcAft>
                      </a:pPr>
                      <a:r>
                        <a:rPr lang="fr-FR" sz="900" dirty="0">
                          <a:effectLst/>
                        </a:rPr>
                        <a:t>YTRDG</a:t>
                      </a:r>
                      <a:endParaRPr lang="fr-FR" sz="800" dirty="0">
                        <a:effectLst/>
                      </a:endParaRPr>
                    </a:p>
                    <a:p>
                      <a:pPr>
                        <a:lnSpc>
                          <a:spcPct val="107000"/>
                        </a:lnSpc>
                        <a:spcAft>
                          <a:spcPts val="800"/>
                        </a:spcAft>
                      </a:pPr>
                      <a:r>
                        <a:rPr lang="fr-FR" sz="900" dirty="0">
                          <a:effectLst/>
                        </a:rPr>
                        <a:t>Hello</a:t>
                      </a:r>
                      <a:endParaRPr lang="fr-FR" sz="800" dirty="0">
                        <a:effectLst/>
                      </a:endParaRPr>
                    </a:p>
                    <a:p>
                      <a:pPr>
                        <a:lnSpc>
                          <a:spcPct val="107000"/>
                        </a:lnSpc>
                        <a:spcAft>
                          <a:spcPts val="800"/>
                        </a:spcAft>
                      </a:pPr>
                      <a:r>
                        <a:rPr lang="fr-FR" sz="900" dirty="0" err="1">
                          <a:effectLst/>
                        </a:rPr>
                        <a:t>Bjr</a:t>
                      </a:r>
                      <a:endParaRPr lang="fr-FR" sz="800" dirty="0">
                        <a:effectLst/>
                      </a:endParaRPr>
                    </a:p>
                    <a:p>
                      <a:pPr>
                        <a:lnSpc>
                          <a:spcPct val="107000"/>
                        </a:lnSpc>
                        <a:spcAft>
                          <a:spcPts val="800"/>
                        </a:spcAft>
                      </a:pPr>
                      <a:r>
                        <a:rPr lang="fr-FR" sz="900" dirty="0">
                          <a:effectLst/>
                        </a:rPr>
                        <a:t>La patience est une vertu</a:t>
                      </a:r>
                      <a:endParaRPr lang="fr-FR" sz="800" dirty="0">
                        <a:effectLst/>
                      </a:endParaRPr>
                    </a:p>
                    <a:p>
                      <a:pPr>
                        <a:lnSpc>
                          <a:spcPct val="107000"/>
                        </a:lnSpc>
                        <a:spcAft>
                          <a:spcPts val="800"/>
                        </a:spcAft>
                      </a:pPr>
                      <a:r>
                        <a:rPr lang="fr-FR" sz="900" dirty="0">
                          <a:effectLst/>
                        </a:rPr>
                        <a:t>Il n'y a pas d'effet sans cause</a:t>
                      </a:r>
                      <a:endParaRPr lang="fr-FR" sz="800" dirty="0">
                        <a:effectLst/>
                      </a:endParaRPr>
                    </a:p>
                    <a:p>
                      <a:pPr>
                        <a:lnSpc>
                          <a:spcPct val="107000"/>
                        </a:lnSpc>
                        <a:spcAft>
                          <a:spcPts val="800"/>
                        </a:spcAft>
                      </a:pPr>
                      <a:r>
                        <a:rPr lang="fr-FR" sz="900" dirty="0">
                          <a:effectLst/>
                        </a:rPr>
                        <a:t>L'univers est infini</a:t>
                      </a:r>
                      <a:endParaRPr lang="fr-FR" sz="800" dirty="0">
                        <a:effectLst/>
                      </a:endParaRPr>
                    </a:p>
                    <a:p>
                      <a:pPr>
                        <a:lnSpc>
                          <a:spcPct val="107000"/>
                        </a:lnSpc>
                        <a:spcAft>
                          <a:spcPts val="800"/>
                        </a:spcAft>
                      </a:pPr>
                      <a:r>
                        <a:rPr lang="en-CA" sz="1100" dirty="0">
                          <a:effectLst/>
                        </a:rPr>
                        <a:t> </a:t>
                      </a:r>
                      <a:endParaRPr lang="fr-F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1707" marR="51707" marT="0" marB="0"/>
                </a:tc>
                <a:extLst>
                  <a:ext uri="{0D108BD9-81ED-4DB2-BD59-A6C34878D82A}">
                    <a16:rowId xmlns:a16="http://schemas.microsoft.com/office/drawing/2014/main" val="2707236299"/>
                  </a:ext>
                </a:extLst>
              </a:tr>
            </a:tbl>
          </a:graphicData>
        </a:graphic>
      </p:graphicFrame>
      <p:pic>
        <p:nvPicPr>
          <p:cNvPr id="8" name="Espace réservé du contenu 7">
            <a:extLst>
              <a:ext uri="{FF2B5EF4-FFF2-40B4-BE49-F238E27FC236}">
                <a16:creationId xmlns:a16="http://schemas.microsoft.com/office/drawing/2014/main" id="{F5F1B995-F70A-4A64-B3B2-9D82455EEFD1}"/>
              </a:ext>
            </a:extLst>
          </p:cNvPr>
          <p:cNvPicPr>
            <a:picLocks noGrp="1"/>
          </p:cNvPicPr>
          <p:nvPr>
            <p:ph sz="half" idx="2"/>
          </p:nvPr>
        </p:nvPicPr>
        <p:blipFill>
          <a:blip r:embed="rId2"/>
          <a:stretch>
            <a:fillRect/>
          </a:stretch>
        </p:blipFill>
        <p:spPr>
          <a:xfrm>
            <a:off x="1600199" y="1483115"/>
            <a:ext cx="4807978" cy="4049832"/>
          </a:xfrm>
          <a:prstGeom prst="rect">
            <a:avLst/>
          </a:prstGeom>
        </p:spPr>
      </p:pic>
      <p:sp>
        <p:nvSpPr>
          <p:cNvPr id="10" name="Espace réservé du texte 2">
            <a:extLst>
              <a:ext uri="{FF2B5EF4-FFF2-40B4-BE49-F238E27FC236}">
                <a16:creationId xmlns:a16="http://schemas.microsoft.com/office/drawing/2014/main" id="{72C21332-C35B-4664-91C6-178D0F4EA3EE}"/>
              </a:ext>
            </a:extLst>
          </p:cNvPr>
          <p:cNvSpPr txBox="1">
            <a:spLocks/>
          </p:cNvSpPr>
          <p:nvPr/>
        </p:nvSpPr>
        <p:spPr>
          <a:xfrm>
            <a:off x="7540634" y="622265"/>
            <a:ext cx="4292778" cy="576262"/>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9pPr>
          </a:lstStyle>
          <a:p>
            <a:r>
              <a:rPr lang="fr-FR" b="1" dirty="0">
                <a:latin typeface="Times New Roman" panose="02020603050405020304" pitchFamily="18" charset="0"/>
              </a:rPr>
              <a:t>Fichier </a:t>
            </a:r>
            <a:r>
              <a:rPr lang="fr-FR" b="1" dirty="0" err="1">
                <a:latin typeface="Times New Roman" panose="02020603050405020304" pitchFamily="18" charset="0"/>
              </a:rPr>
              <a:t>text</a:t>
            </a:r>
            <a:endParaRPr lang="fr-FR" b="1" dirty="0"/>
          </a:p>
        </p:txBody>
      </p:sp>
      <p:sp>
        <p:nvSpPr>
          <p:cNvPr id="2" name="Espace réservé du numéro de diapositive 1">
            <a:extLst>
              <a:ext uri="{FF2B5EF4-FFF2-40B4-BE49-F238E27FC236}">
                <a16:creationId xmlns:a16="http://schemas.microsoft.com/office/drawing/2014/main" id="{C0257A81-30DA-4ED3-9D48-E928F3DAA67E}"/>
              </a:ext>
            </a:extLst>
          </p:cNvPr>
          <p:cNvSpPr>
            <a:spLocks noGrp="1"/>
          </p:cNvSpPr>
          <p:nvPr>
            <p:ph type="sldNum" sz="quarter" idx="12"/>
          </p:nvPr>
        </p:nvSpPr>
        <p:spPr/>
        <p:txBody>
          <a:bodyPr/>
          <a:lstStyle/>
          <a:p>
            <a:fld id="{51AFE59D-DC44-4935-A904-C9AB028D208F}" type="slidenum">
              <a:rPr lang="fr-FR" smtClean="0"/>
              <a:t>12</a:t>
            </a:fld>
            <a:endParaRPr lang="fr-FR"/>
          </a:p>
        </p:txBody>
      </p:sp>
    </p:spTree>
    <p:extLst>
      <p:ext uri="{BB962C8B-B14F-4D97-AF65-F5344CB8AC3E}">
        <p14:creationId xmlns:p14="http://schemas.microsoft.com/office/powerpoint/2010/main" val="75449739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8C20DB-E804-4569-9FF7-BD4D75EA21E4}"/>
              </a:ext>
            </a:extLst>
          </p:cNvPr>
          <p:cNvSpPr>
            <a:spLocks noGrp="1"/>
          </p:cNvSpPr>
          <p:nvPr>
            <p:ph type="title"/>
          </p:nvPr>
        </p:nvSpPr>
        <p:spPr>
          <a:xfrm>
            <a:off x="1842247" y="664451"/>
            <a:ext cx="8911687" cy="1280890"/>
          </a:xfrm>
        </p:spPr>
        <p:txBody>
          <a:bodyPr>
            <a:normAutofit fontScale="90000"/>
          </a:bodyPr>
          <a:lstStyle/>
          <a:p>
            <a:r>
              <a:rPr lang="fr-FR" b="1" dirty="0">
                <a:effectLst/>
                <a:latin typeface="Times New Roman" panose="02020603050405020304" pitchFamily="18" charset="0"/>
                <a:ea typeface="Times New Roman" panose="02020603050405020304" pitchFamily="18" charset="0"/>
                <a:cs typeface="Times New Roman" panose="02020603050405020304" pitchFamily="18" charset="0"/>
              </a:rPr>
              <a:t>VI.  </a:t>
            </a:r>
            <a:r>
              <a:rPr lang="fr-FR" b="1" u="sng" dirty="0">
                <a:effectLst/>
                <a:latin typeface="Times New Roman" panose="02020603050405020304" pitchFamily="18" charset="0"/>
                <a:ea typeface="Times New Roman" panose="02020603050405020304" pitchFamily="18" charset="0"/>
                <a:cs typeface="Times New Roman" panose="02020603050405020304" pitchFamily="18" charset="0"/>
              </a:rPr>
              <a:t>Avantages et inconvénients :</a:t>
            </a:r>
            <a:br>
              <a:rPr lang="fr-FR" sz="2400" dirty="0">
                <a:effectLst/>
                <a:latin typeface="Calibri" panose="020F0502020204030204" pitchFamily="34" charset="0"/>
                <a:ea typeface="Calibri" panose="020F0502020204030204" pitchFamily="34" charset="0"/>
                <a:cs typeface="Times New Roman" panose="02020603050405020304" pitchFamily="18" charset="0"/>
              </a:rPr>
            </a:br>
            <a:endParaRPr lang="fr-FR" sz="4400" dirty="0"/>
          </a:p>
        </p:txBody>
      </p:sp>
      <p:sp>
        <p:nvSpPr>
          <p:cNvPr id="3" name="Espace réservé du contenu 2">
            <a:extLst>
              <a:ext uri="{FF2B5EF4-FFF2-40B4-BE49-F238E27FC236}">
                <a16:creationId xmlns:a16="http://schemas.microsoft.com/office/drawing/2014/main" id="{3B55F0EE-CAA6-4524-874F-4A0E5A22F07A}"/>
              </a:ext>
            </a:extLst>
          </p:cNvPr>
          <p:cNvSpPr>
            <a:spLocks noGrp="1"/>
          </p:cNvSpPr>
          <p:nvPr>
            <p:ph idx="1"/>
          </p:nvPr>
        </p:nvSpPr>
        <p:spPr>
          <a:xfrm>
            <a:off x="2089158" y="2281518"/>
            <a:ext cx="9762565" cy="3777622"/>
          </a:xfrm>
        </p:spPr>
        <p:txBody>
          <a:bodyPr/>
          <a:lstStyle/>
          <a:p>
            <a:pPr marL="342900" lvl="0" indent="-342900">
              <a:lnSpc>
                <a:spcPct val="107000"/>
              </a:lnSpc>
              <a:buFont typeface="Symbol" panose="05050102010706020507" pitchFamily="18" charset="2"/>
              <a:buChar char=""/>
            </a:pPr>
            <a:r>
              <a:rPr lang="fr-FR" sz="3200" dirty="0">
                <a:effectLst/>
                <a:latin typeface="Times New Roman" panose="02020603050405020304" pitchFamily="18" charset="0"/>
                <a:ea typeface="Times New Roman" panose="02020603050405020304" pitchFamily="18" charset="0"/>
                <a:cs typeface="Times New Roman" panose="02020603050405020304" pitchFamily="18" charset="0"/>
              </a:rPr>
              <a:t>Indépendance vis-à-vis des langages et des plateformes  </a:t>
            </a:r>
          </a:p>
          <a:p>
            <a:pPr marL="342900" lvl="0" indent="-342900">
              <a:lnSpc>
                <a:spcPct val="107000"/>
              </a:lnSpc>
              <a:buFont typeface="Symbol" panose="05050102010706020507" pitchFamily="18" charset="2"/>
              <a:buChar char=""/>
            </a:pPr>
            <a:r>
              <a:rPr lang="fr-FR" sz="3200" dirty="0">
                <a:latin typeface="Times New Roman" panose="02020603050405020304" pitchFamily="18" charset="0"/>
                <a:ea typeface="Times New Roman" panose="02020603050405020304" pitchFamily="18" charset="0"/>
                <a:cs typeface="Times New Roman" panose="02020603050405020304" pitchFamily="18" charset="0"/>
              </a:rPr>
              <a:t>L’interopérabilité</a:t>
            </a:r>
            <a:r>
              <a:rPr lang="fr-FR" sz="32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342900" lvl="0" indent="-342900">
              <a:lnSpc>
                <a:spcPct val="107000"/>
              </a:lnSpc>
              <a:buFont typeface="Symbol" panose="05050102010706020507" pitchFamily="18" charset="2"/>
              <a:buChar char=""/>
            </a:pPr>
            <a:r>
              <a:rPr lang="fr-FR" sz="3200" dirty="0">
                <a:effectLst/>
                <a:latin typeface="Times New Roman" panose="02020603050405020304" pitchFamily="18" charset="0"/>
                <a:ea typeface="Times New Roman" panose="02020603050405020304" pitchFamily="18" charset="0"/>
                <a:cs typeface="Times New Roman" panose="02020603050405020304" pitchFamily="18" charset="0"/>
              </a:rPr>
              <a:t>Transparence de localisation </a:t>
            </a:r>
            <a:endParaRPr lang="fr-FR" sz="32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fr-FR" sz="3200" dirty="0">
                <a:latin typeface="Times New Roman" panose="02020603050405020304" pitchFamily="18" charset="0"/>
                <a:ea typeface="Times New Roman" panose="02020603050405020304" pitchFamily="18" charset="0"/>
                <a:cs typeface="Times New Roman" panose="02020603050405020304" pitchFamily="18" charset="0"/>
              </a:rPr>
              <a:t>Portabilité</a:t>
            </a:r>
          </a:p>
          <a:p>
            <a:pPr marL="342900" lvl="0" indent="-342900">
              <a:lnSpc>
                <a:spcPct val="107000"/>
              </a:lnSpc>
              <a:buFont typeface="Symbol" panose="05050102010706020507" pitchFamily="18" charset="2"/>
              <a:buChar char=""/>
            </a:pPr>
            <a:r>
              <a:rPr lang="fr-FR" sz="3200" dirty="0">
                <a:latin typeface="Times New Roman" panose="02020603050405020304" pitchFamily="18" charset="0"/>
                <a:ea typeface="Times New Roman" panose="02020603050405020304" pitchFamily="18" charset="0"/>
                <a:cs typeface="Times New Roman" panose="02020603050405020304" pitchFamily="18" charset="0"/>
              </a:rPr>
              <a:t>Stabilité</a:t>
            </a:r>
          </a:p>
          <a:p>
            <a:pPr marL="342900" lvl="0" indent="-342900">
              <a:lnSpc>
                <a:spcPct val="107000"/>
              </a:lnSpc>
              <a:buFont typeface="Symbol" panose="05050102010706020507" pitchFamily="18" charset="2"/>
              <a:buChar char=""/>
            </a:pP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Titre 1">
            <a:extLst>
              <a:ext uri="{FF2B5EF4-FFF2-40B4-BE49-F238E27FC236}">
                <a16:creationId xmlns:a16="http://schemas.microsoft.com/office/drawing/2014/main" id="{BBD834D7-E343-44E8-B1DC-003E819785D9}"/>
              </a:ext>
            </a:extLst>
          </p:cNvPr>
          <p:cNvSpPr txBox="1">
            <a:spLocks/>
          </p:cNvSpPr>
          <p:nvPr/>
        </p:nvSpPr>
        <p:spPr>
          <a:xfrm>
            <a:off x="2514598" y="1513856"/>
            <a:ext cx="8911687" cy="128089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b="1" u="sng" dirty="0">
                <a:latin typeface="Times New Roman" panose="02020603050405020304" pitchFamily="18" charset="0"/>
                <a:ea typeface="Times New Roman" panose="02020603050405020304" pitchFamily="18" charset="0"/>
                <a:cs typeface="Times New Roman" panose="02020603050405020304" pitchFamily="18" charset="0"/>
              </a:rPr>
              <a:t>Avantages de CORBA :</a:t>
            </a:r>
            <a:br>
              <a:rPr lang="fr-FR" sz="2400" dirty="0">
                <a:latin typeface="Calibri" panose="020F0502020204030204" pitchFamily="34" charset="0"/>
                <a:ea typeface="Calibri" panose="020F0502020204030204" pitchFamily="34" charset="0"/>
                <a:cs typeface="Times New Roman" panose="02020603050405020304" pitchFamily="18" charset="0"/>
              </a:rPr>
            </a:br>
            <a:endParaRPr lang="fr-FR" sz="4400" dirty="0"/>
          </a:p>
        </p:txBody>
      </p:sp>
      <p:sp>
        <p:nvSpPr>
          <p:cNvPr id="5" name="Espace réservé du numéro de diapositive 4">
            <a:extLst>
              <a:ext uri="{FF2B5EF4-FFF2-40B4-BE49-F238E27FC236}">
                <a16:creationId xmlns:a16="http://schemas.microsoft.com/office/drawing/2014/main" id="{9D50B413-A250-4EF6-8B8C-D2DF311C7A24}"/>
              </a:ext>
            </a:extLst>
          </p:cNvPr>
          <p:cNvSpPr>
            <a:spLocks noGrp="1"/>
          </p:cNvSpPr>
          <p:nvPr>
            <p:ph type="sldNum" sz="quarter" idx="12"/>
          </p:nvPr>
        </p:nvSpPr>
        <p:spPr/>
        <p:txBody>
          <a:bodyPr/>
          <a:lstStyle/>
          <a:p>
            <a:fld id="{51AFE59D-DC44-4935-A904-C9AB028D208F}" type="slidenum">
              <a:rPr lang="fr-FR" smtClean="0"/>
              <a:t>13</a:t>
            </a:fld>
            <a:endParaRPr lang="fr-FR"/>
          </a:p>
        </p:txBody>
      </p:sp>
    </p:spTree>
    <p:extLst>
      <p:ext uri="{BB962C8B-B14F-4D97-AF65-F5344CB8AC3E}">
        <p14:creationId xmlns:p14="http://schemas.microsoft.com/office/powerpoint/2010/main" val="115276755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AC4DCF-4E98-41E8-81C7-B303034B0B06}"/>
              </a:ext>
            </a:extLst>
          </p:cNvPr>
          <p:cNvSpPr>
            <a:spLocks noGrp="1"/>
          </p:cNvSpPr>
          <p:nvPr>
            <p:ph type="title"/>
          </p:nvPr>
        </p:nvSpPr>
        <p:spPr>
          <a:xfrm>
            <a:off x="2216408" y="597216"/>
            <a:ext cx="8911687" cy="1280890"/>
          </a:xfrm>
        </p:spPr>
        <p:txBody>
          <a:bodyPr>
            <a:normAutofit/>
          </a:bodyPr>
          <a:lstStyle/>
          <a:p>
            <a:r>
              <a:rPr lang="fr-FR" sz="3200" b="1" u="sng" dirty="0">
                <a:effectLst/>
                <a:latin typeface="Times New Roman" panose="02020603050405020304" pitchFamily="18" charset="0"/>
                <a:ea typeface="Times New Roman" panose="02020603050405020304" pitchFamily="18" charset="0"/>
                <a:cs typeface="Times New Roman" panose="02020603050405020304" pitchFamily="18" charset="0"/>
              </a:rPr>
              <a:t>Inconvénients de CORBA :</a:t>
            </a:r>
            <a:br>
              <a:rPr lang="fr-FR" sz="2000" dirty="0">
                <a:effectLst/>
                <a:latin typeface="Calibri" panose="020F0502020204030204" pitchFamily="34" charset="0"/>
                <a:ea typeface="Calibri" panose="020F0502020204030204" pitchFamily="34" charset="0"/>
                <a:cs typeface="Times New Roman" panose="02020603050405020304" pitchFamily="18" charset="0"/>
              </a:rPr>
            </a:br>
            <a:endParaRPr lang="fr-FR" sz="4000" dirty="0"/>
          </a:p>
        </p:txBody>
      </p:sp>
      <p:sp>
        <p:nvSpPr>
          <p:cNvPr id="3" name="Espace réservé du contenu 2">
            <a:extLst>
              <a:ext uri="{FF2B5EF4-FFF2-40B4-BE49-F238E27FC236}">
                <a16:creationId xmlns:a16="http://schemas.microsoft.com/office/drawing/2014/main" id="{4FCD128A-2AFC-431A-8620-8BCCE49E8F9D}"/>
              </a:ext>
            </a:extLst>
          </p:cNvPr>
          <p:cNvSpPr>
            <a:spLocks noGrp="1"/>
          </p:cNvSpPr>
          <p:nvPr>
            <p:ph idx="1"/>
          </p:nvPr>
        </p:nvSpPr>
        <p:spPr>
          <a:xfrm>
            <a:off x="2216408" y="1600199"/>
            <a:ext cx="8915400" cy="4458940"/>
          </a:xfrm>
        </p:spPr>
        <p:txBody>
          <a:bodyPr/>
          <a:lstStyle/>
          <a:p>
            <a:pPr marL="342900" lvl="0" indent="-342900">
              <a:lnSpc>
                <a:spcPct val="107000"/>
              </a:lnSpc>
              <a:buFont typeface="Symbol" panose="05050102010706020507" pitchFamily="18" charset="2"/>
              <a:buChar char=""/>
            </a:pPr>
            <a:r>
              <a:rPr lang="fr-FR" sz="3200" dirty="0">
                <a:effectLst/>
                <a:latin typeface="Times New Roman" panose="02020603050405020304" pitchFamily="18" charset="0"/>
                <a:ea typeface="Times New Roman" panose="02020603050405020304" pitchFamily="18" charset="0"/>
                <a:cs typeface="Times New Roman" panose="02020603050405020304" pitchFamily="18" charset="0"/>
              </a:rPr>
              <a:t>Complexité</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FR" sz="3200" dirty="0">
                <a:effectLst/>
                <a:latin typeface="Times New Roman" panose="02020603050405020304" pitchFamily="18" charset="0"/>
                <a:ea typeface="Times New Roman" panose="02020603050405020304" pitchFamily="18" charset="0"/>
                <a:cs typeface="Times New Roman" panose="02020603050405020304" pitchFamily="18" charset="0"/>
              </a:rPr>
              <a:t>Coût élevé </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FR" sz="3200" dirty="0">
                <a:effectLst/>
                <a:latin typeface="Times New Roman" panose="02020603050405020304" pitchFamily="18" charset="0"/>
                <a:ea typeface="Times New Roman" panose="02020603050405020304" pitchFamily="18" charset="0"/>
                <a:cs typeface="Times New Roman" panose="02020603050405020304" pitchFamily="18" charset="0"/>
              </a:rPr>
              <a:t>Formation spécialisée requise  </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3200" dirty="0">
                <a:effectLst/>
                <a:latin typeface="Times New Roman" panose="02020603050405020304" pitchFamily="18" charset="0"/>
                <a:ea typeface="Times New Roman" panose="02020603050405020304" pitchFamily="18" charset="0"/>
                <a:cs typeface="Times New Roman" panose="02020603050405020304" pitchFamily="18" charset="0"/>
              </a:rPr>
              <a:t>Problèmes avec les pares-feux</a:t>
            </a:r>
            <a:endParaRPr lang="fr-FR" dirty="0"/>
          </a:p>
        </p:txBody>
      </p:sp>
      <p:sp>
        <p:nvSpPr>
          <p:cNvPr id="4" name="Espace réservé du numéro de diapositive 3">
            <a:extLst>
              <a:ext uri="{FF2B5EF4-FFF2-40B4-BE49-F238E27FC236}">
                <a16:creationId xmlns:a16="http://schemas.microsoft.com/office/drawing/2014/main" id="{510C3BFE-68CB-4511-8FB6-7551C7E1845F}"/>
              </a:ext>
            </a:extLst>
          </p:cNvPr>
          <p:cNvSpPr>
            <a:spLocks noGrp="1"/>
          </p:cNvSpPr>
          <p:nvPr>
            <p:ph type="sldNum" sz="quarter" idx="12"/>
          </p:nvPr>
        </p:nvSpPr>
        <p:spPr/>
        <p:txBody>
          <a:bodyPr/>
          <a:lstStyle/>
          <a:p>
            <a:fld id="{51AFE59D-DC44-4935-A904-C9AB028D208F}" type="slidenum">
              <a:rPr lang="fr-FR" smtClean="0"/>
              <a:t>14</a:t>
            </a:fld>
            <a:endParaRPr lang="fr-FR"/>
          </a:p>
        </p:txBody>
      </p:sp>
    </p:spTree>
    <p:extLst>
      <p:ext uri="{BB962C8B-B14F-4D97-AF65-F5344CB8AC3E}">
        <p14:creationId xmlns:p14="http://schemas.microsoft.com/office/powerpoint/2010/main" val="355891780"/>
      </p:ext>
    </p:extLst>
  </p:cSld>
  <p:clrMapOvr>
    <a:masterClrMapping/>
  </p:clrMapOvr>
  <p:transition spd="slow">
    <p:comb/>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08BA74-46C1-44E6-87EF-0E54BDB63A74}"/>
              </a:ext>
            </a:extLst>
          </p:cNvPr>
          <p:cNvSpPr>
            <a:spLocks noGrp="1"/>
          </p:cNvSpPr>
          <p:nvPr>
            <p:ph type="title"/>
          </p:nvPr>
        </p:nvSpPr>
        <p:spPr>
          <a:xfrm>
            <a:off x="1853337" y="624110"/>
            <a:ext cx="8911687" cy="1280890"/>
          </a:xfrm>
        </p:spPr>
        <p:txBody>
          <a:bodyPr>
            <a:normAutofit fontScale="90000"/>
          </a:bodyPr>
          <a:lstStyle/>
          <a:p>
            <a:r>
              <a:rPr lang="fr-FR" sz="4000" b="1" dirty="0">
                <a:effectLst/>
                <a:latin typeface="Times New Roman" panose="02020603050405020304" pitchFamily="18" charset="0"/>
                <a:ea typeface="Times New Roman" panose="02020603050405020304" pitchFamily="18" charset="0"/>
                <a:cs typeface="Times New Roman" panose="02020603050405020304" pitchFamily="18" charset="0"/>
              </a:rPr>
              <a:t>VII. </a:t>
            </a:r>
            <a:r>
              <a:rPr lang="fr-FR" sz="4000" b="1" u="sng" dirty="0">
                <a:effectLst/>
                <a:latin typeface="Times New Roman" panose="02020603050405020304" pitchFamily="18" charset="0"/>
                <a:ea typeface="Times New Roman" panose="02020603050405020304" pitchFamily="18" charset="0"/>
                <a:cs typeface="Times New Roman" panose="02020603050405020304" pitchFamily="18" charset="0"/>
              </a:rPr>
              <a:t>Conclusion :</a:t>
            </a:r>
            <a:br>
              <a:rPr lang="fr-FR" sz="3200" dirty="0">
                <a:effectLst/>
                <a:latin typeface="Calibri" panose="020F0502020204030204" pitchFamily="34" charset="0"/>
                <a:ea typeface="Calibri" panose="020F0502020204030204" pitchFamily="34" charset="0"/>
                <a:cs typeface="Times New Roman" panose="02020603050405020304" pitchFamily="18" charset="0"/>
              </a:rPr>
            </a:br>
            <a:endParaRPr lang="fr-FR" sz="5400" dirty="0"/>
          </a:p>
        </p:txBody>
      </p:sp>
      <p:sp>
        <p:nvSpPr>
          <p:cNvPr id="3" name="Espace réservé du contenu 2">
            <a:extLst>
              <a:ext uri="{FF2B5EF4-FFF2-40B4-BE49-F238E27FC236}">
                <a16:creationId xmlns:a16="http://schemas.microsoft.com/office/drawing/2014/main" id="{3BB8D1EB-22DD-439D-8BF0-FCFBF4589E11}"/>
              </a:ext>
            </a:extLst>
          </p:cNvPr>
          <p:cNvSpPr>
            <a:spLocks noGrp="1"/>
          </p:cNvSpPr>
          <p:nvPr>
            <p:ph idx="1"/>
          </p:nvPr>
        </p:nvSpPr>
        <p:spPr>
          <a:xfrm>
            <a:off x="1559859" y="1479176"/>
            <a:ext cx="10434917" cy="4585448"/>
          </a:xfrm>
        </p:spPr>
        <p:txBody>
          <a:bodyPr>
            <a:normAutofit fontScale="92500" lnSpcReduction="10000"/>
          </a:bodyPr>
          <a:lstStyle/>
          <a:p>
            <a:pPr>
              <a:lnSpc>
                <a:spcPct val="107000"/>
              </a:lnSpc>
              <a:spcAft>
                <a:spcPts val="800"/>
              </a:spcAft>
            </a:pPr>
            <a:r>
              <a:rPr lang="fr-FR" sz="2600" dirty="0">
                <a:effectLst/>
                <a:latin typeface="Times New Roman" panose="02020603050405020304" pitchFamily="18" charset="0"/>
                <a:ea typeface="Times New Roman" panose="02020603050405020304" pitchFamily="18" charset="0"/>
                <a:cs typeface="Times New Roman" panose="02020603050405020304" pitchFamily="18" charset="0"/>
              </a:rPr>
              <a:t>Cette application CORBA démontre l'utilisation d'une interface distribuée permettant aux clients d'interagir avec un serveur distant en envoyant des requêtes pour effectuer des opérations arithmétiques. Le serveur expose ces opérations à travers un service de nommage, et les clients les invoquent de manière transparente via CORBA. Ce modèle de communication permet de séparer les responsabilités des serveurs et des clients tout en maintenant une architecture distribuée et modulable.</a:t>
            </a:r>
            <a:endParaRPr lang="fr-FR" sz="2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600" dirty="0">
                <a:effectLst/>
                <a:latin typeface="Calibri" panose="020F0502020204030204" pitchFamily="34" charset="0"/>
                <a:ea typeface="Calibri" panose="020F0502020204030204" pitchFamily="34" charset="0"/>
                <a:cs typeface="Times New Roman" panose="02020603050405020304" pitchFamily="18" charset="0"/>
              </a:rPr>
              <a:t>Le choix entre </a:t>
            </a:r>
            <a:r>
              <a:rPr lang="fr-FR" sz="2600" b="1" dirty="0">
                <a:effectLst/>
                <a:latin typeface="Calibri" panose="020F0502020204030204" pitchFamily="34" charset="0"/>
                <a:ea typeface="Calibri" panose="020F0502020204030204" pitchFamily="34" charset="0"/>
                <a:cs typeface="Times New Roman" panose="02020603050405020304" pitchFamily="18" charset="0"/>
              </a:rPr>
              <a:t>OMNIORB</a:t>
            </a:r>
            <a:r>
              <a:rPr lang="fr-FR" sz="2600" dirty="0">
                <a:effectLst/>
                <a:latin typeface="Calibri" panose="020F0502020204030204" pitchFamily="34" charset="0"/>
                <a:ea typeface="Calibri" panose="020F0502020204030204" pitchFamily="34" charset="0"/>
                <a:cs typeface="Times New Roman" panose="02020603050405020304" pitchFamily="18" charset="0"/>
              </a:rPr>
              <a:t> et </a:t>
            </a:r>
            <a:r>
              <a:rPr lang="fr-FR" sz="2600" b="1" dirty="0">
                <a:effectLst/>
                <a:latin typeface="Calibri" panose="020F0502020204030204" pitchFamily="34" charset="0"/>
                <a:ea typeface="Calibri" panose="020F0502020204030204" pitchFamily="34" charset="0"/>
                <a:cs typeface="Times New Roman" panose="02020603050405020304" pitchFamily="18" charset="0"/>
              </a:rPr>
              <a:t>ORBD</a:t>
            </a:r>
            <a:r>
              <a:rPr lang="fr-FR" sz="2600" dirty="0">
                <a:effectLst/>
                <a:latin typeface="Calibri" panose="020F0502020204030204" pitchFamily="34" charset="0"/>
                <a:ea typeface="Calibri" panose="020F0502020204030204" pitchFamily="34" charset="0"/>
                <a:cs typeface="Times New Roman" panose="02020603050405020304" pitchFamily="18" charset="0"/>
              </a:rPr>
              <a:t> dépend principalement de l’environnement de développement et des technologies que nous utilisons, </a:t>
            </a:r>
            <a:r>
              <a:rPr lang="fr-FR" sz="2600" b="1" dirty="0">
                <a:effectLst/>
                <a:latin typeface="Calibri" panose="020F0502020204030204" pitchFamily="34" charset="0"/>
                <a:ea typeface="Calibri" panose="020F0502020204030204" pitchFamily="34" charset="0"/>
                <a:cs typeface="Times New Roman" panose="02020603050405020304" pitchFamily="18" charset="0"/>
              </a:rPr>
              <a:t>OMNIORB</a:t>
            </a:r>
            <a:r>
              <a:rPr lang="fr-FR" sz="2600" dirty="0">
                <a:effectLst/>
                <a:latin typeface="Calibri" panose="020F0502020204030204" pitchFamily="34" charset="0"/>
                <a:ea typeface="Calibri" panose="020F0502020204030204" pitchFamily="34" charset="0"/>
                <a:cs typeface="Times New Roman" panose="02020603050405020304" pitchFamily="18" charset="0"/>
              </a:rPr>
              <a:t> est plus léger et polyvalent, tandis que </a:t>
            </a:r>
            <a:r>
              <a:rPr lang="fr-FR" sz="2600" b="1" dirty="0">
                <a:effectLst/>
                <a:latin typeface="Calibri" panose="020F0502020204030204" pitchFamily="34" charset="0"/>
                <a:ea typeface="Calibri" panose="020F0502020204030204" pitchFamily="34" charset="0"/>
                <a:cs typeface="Times New Roman" panose="02020603050405020304" pitchFamily="18" charset="0"/>
              </a:rPr>
              <a:t>ORBD</a:t>
            </a:r>
            <a:r>
              <a:rPr lang="fr-FR" sz="2600" dirty="0">
                <a:effectLst/>
                <a:latin typeface="Calibri" panose="020F0502020204030204" pitchFamily="34" charset="0"/>
                <a:ea typeface="Calibri" panose="020F0502020204030204" pitchFamily="34" charset="0"/>
                <a:cs typeface="Times New Roman" panose="02020603050405020304" pitchFamily="18" charset="0"/>
              </a:rPr>
              <a:t> est une solution intégrée plus adaptée aux applications Java.</a:t>
            </a:r>
          </a:p>
          <a:p>
            <a:endParaRPr lang="fr-FR" dirty="0"/>
          </a:p>
        </p:txBody>
      </p:sp>
      <p:sp>
        <p:nvSpPr>
          <p:cNvPr id="4" name="Espace réservé du numéro de diapositive 3">
            <a:extLst>
              <a:ext uri="{FF2B5EF4-FFF2-40B4-BE49-F238E27FC236}">
                <a16:creationId xmlns:a16="http://schemas.microsoft.com/office/drawing/2014/main" id="{3CF6562B-B718-43F9-9669-0979D604119F}"/>
              </a:ext>
            </a:extLst>
          </p:cNvPr>
          <p:cNvSpPr>
            <a:spLocks noGrp="1"/>
          </p:cNvSpPr>
          <p:nvPr>
            <p:ph type="sldNum" sz="quarter" idx="12"/>
          </p:nvPr>
        </p:nvSpPr>
        <p:spPr/>
        <p:txBody>
          <a:bodyPr/>
          <a:lstStyle/>
          <a:p>
            <a:fld id="{51AFE59D-DC44-4935-A904-C9AB028D208F}" type="slidenum">
              <a:rPr lang="fr-FR" smtClean="0"/>
              <a:t>15</a:t>
            </a:fld>
            <a:endParaRPr lang="fr-FR"/>
          </a:p>
        </p:txBody>
      </p:sp>
    </p:spTree>
    <p:extLst>
      <p:ext uri="{BB962C8B-B14F-4D97-AF65-F5344CB8AC3E}">
        <p14:creationId xmlns:p14="http://schemas.microsoft.com/office/powerpoint/2010/main" val="45419671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8EE55A4-FE06-44FB-A312-761F297743AC}"/>
              </a:ext>
            </a:extLst>
          </p:cNvPr>
          <p:cNvSpPr>
            <a:spLocks noGrp="1"/>
          </p:cNvSpPr>
          <p:nvPr>
            <p:ph idx="1"/>
          </p:nvPr>
        </p:nvSpPr>
        <p:spPr>
          <a:xfrm>
            <a:off x="1922929" y="1008529"/>
            <a:ext cx="10079224" cy="4257234"/>
          </a:xfrm>
        </p:spPr>
        <p:txBody>
          <a:bodyPr>
            <a:normAutofit/>
          </a:bodyPr>
          <a:lstStyle/>
          <a:p>
            <a:pPr marL="0" indent="0">
              <a:buNone/>
            </a:pPr>
            <a:r>
              <a:rPr lang="fr-FR" sz="4000" dirty="0"/>
              <a:t>MERCI POUR VOTRE AIMABLE </a:t>
            </a:r>
          </a:p>
          <a:p>
            <a:pPr marL="0" indent="0">
              <a:buNone/>
            </a:pPr>
            <a:r>
              <a:rPr lang="fr-FR" sz="4000" dirty="0"/>
              <a:t>ATTENTION !</a:t>
            </a:r>
          </a:p>
          <a:p>
            <a:pPr marL="0" indent="0">
              <a:buNone/>
            </a:pPr>
            <a:endParaRPr lang="fr-FR" sz="4000" dirty="0"/>
          </a:p>
          <a:p>
            <a:pPr marL="0" indent="0">
              <a:buNone/>
            </a:pPr>
            <a:r>
              <a:rPr lang="fr-FR" sz="4000" dirty="0"/>
              <a:t>Vos questions sont les bienvenues  </a:t>
            </a:r>
          </a:p>
        </p:txBody>
      </p:sp>
      <p:sp>
        <p:nvSpPr>
          <p:cNvPr id="2" name="Espace réservé du numéro de diapositive 1">
            <a:extLst>
              <a:ext uri="{FF2B5EF4-FFF2-40B4-BE49-F238E27FC236}">
                <a16:creationId xmlns:a16="http://schemas.microsoft.com/office/drawing/2014/main" id="{E4ED4256-24ED-4225-84BD-8B122A2C8425}"/>
              </a:ext>
            </a:extLst>
          </p:cNvPr>
          <p:cNvSpPr>
            <a:spLocks noGrp="1"/>
          </p:cNvSpPr>
          <p:nvPr>
            <p:ph type="sldNum" sz="quarter" idx="12"/>
          </p:nvPr>
        </p:nvSpPr>
        <p:spPr/>
        <p:txBody>
          <a:bodyPr/>
          <a:lstStyle/>
          <a:p>
            <a:fld id="{51AFE59D-DC44-4935-A904-C9AB028D208F}" type="slidenum">
              <a:rPr lang="fr-FR" smtClean="0"/>
              <a:t>16</a:t>
            </a:fld>
            <a:endParaRPr lang="fr-FR"/>
          </a:p>
        </p:txBody>
      </p:sp>
    </p:spTree>
    <p:extLst>
      <p:ext uri="{BB962C8B-B14F-4D97-AF65-F5344CB8AC3E}">
        <p14:creationId xmlns:p14="http://schemas.microsoft.com/office/powerpoint/2010/main" val="8931198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160</TotalTime>
  <Words>924</Words>
  <Application>Microsoft Office PowerPoint</Application>
  <PresentationFormat>Grand écran</PresentationFormat>
  <Paragraphs>110</Paragraphs>
  <Slides>16</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Arial</vt:lpstr>
      <vt:lpstr>Calibri</vt:lpstr>
      <vt:lpstr>Century Gothic</vt:lpstr>
      <vt:lpstr>Courier New</vt:lpstr>
      <vt:lpstr>Symbol</vt:lpstr>
      <vt:lpstr>Times New Roman</vt:lpstr>
      <vt:lpstr>Wingdings 3</vt:lpstr>
      <vt:lpstr>Brin</vt:lpstr>
      <vt:lpstr>Présentation PowerPoint</vt:lpstr>
      <vt:lpstr>Plan de présentation:</vt:lpstr>
      <vt:lpstr>I. Introduction:</vt:lpstr>
      <vt:lpstr>II.  Architecture CORBA: </vt:lpstr>
      <vt:lpstr>Présentation PowerPoint</vt:lpstr>
      <vt:lpstr>Côté Serveur : </vt:lpstr>
      <vt:lpstr>Explication de quelques mots clés :  </vt:lpstr>
      <vt:lpstr>III. Tableau comparatif :(OMNIORB – CORBA)  </vt:lpstr>
      <vt:lpstr>IV.  Résultat des exécutions : </vt:lpstr>
      <vt:lpstr>IV.  Résultat des exécutions : </vt:lpstr>
      <vt:lpstr>V.  Résultats des requêtes après modification des codes Server et Client : </vt:lpstr>
      <vt:lpstr>Présentation PowerPoint</vt:lpstr>
      <vt:lpstr>VI.  Avantages et inconvénients : </vt:lpstr>
      <vt:lpstr>Inconvénients de CORBA : </vt:lpstr>
      <vt:lpstr>VII. Conclusion :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USER</cp:lastModifiedBy>
  <cp:revision>37</cp:revision>
  <dcterms:created xsi:type="dcterms:W3CDTF">2025-01-20T16:25:48Z</dcterms:created>
  <dcterms:modified xsi:type="dcterms:W3CDTF">2025-01-21T10:17:16Z</dcterms:modified>
</cp:coreProperties>
</file>
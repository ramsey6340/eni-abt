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44"/>
  </p:notesMasterIdLst>
  <p:handoutMasterIdLst>
    <p:handoutMasterId r:id="rId45"/>
  </p:handoutMasterIdLst>
  <p:sldIdLst>
    <p:sldId id="257" r:id="rId5"/>
    <p:sldId id="268" r:id="rId6"/>
    <p:sldId id="272" r:id="rId7"/>
    <p:sldId id="273" r:id="rId8"/>
    <p:sldId id="312" r:id="rId9"/>
    <p:sldId id="311" r:id="rId10"/>
    <p:sldId id="284" r:id="rId11"/>
    <p:sldId id="306" r:id="rId12"/>
    <p:sldId id="285" r:id="rId13"/>
    <p:sldId id="307" r:id="rId14"/>
    <p:sldId id="286" r:id="rId15"/>
    <p:sldId id="308" r:id="rId16"/>
    <p:sldId id="281" r:id="rId17"/>
    <p:sldId id="316" r:id="rId18"/>
    <p:sldId id="289" r:id="rId19"/>
    <p:sldId id="290" r:id="rId20"/>
    <p:sldId id="291" r:id="rId21"/>
    <p:sldId id="292" r:id="rId22"/>
    <p:sldId id="287" r:id="rId23"/>
    <p:sldId id="314" r:id="rId24"/>
    <p:sldId id="293" r:id="rId25"/>
    <p:sldId id="294" r:id="rId26"/>
    <p:sldId id="295" r:id="rId27"/>
    <p:sldId id="296" r:id="rId28"/>
    <p:sldId id="317" r:id="rId29"/>
    <p:sldId id="297" r:id="rId30"/>
    <p:sldId id="298" r:id="rId31"/>
    <p:sldId id="299" r:id="rId32"/>
    <p:sldId id="300" r:id="rId33"/>
    <p:sldId id="301" r:id="rId34"/>
    <p:sldId id="302" r:id="rId35"/>
    <p:sldId id="303" r:id="rId36"/>
    <p:sldId id="304" r:id="rId37"/>
    <p:sldId id="315" r:id="rId38"/>
    <p:sldId id="305" r:id="rId39"/>
    <p:sldId id="309" r:id="rId40"/>
    <p:sldId id="310" r:id="rId41"/>
    <p:sldId id="278" r:id="rId42"/>
    <p:sldId id="318" r:id="rId43"/>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64E102D5-C449-486C-A14F-537B8AA6AFDD}">
          <p14:sldIdLst>
            <p14:sldId id="257"/>
            <p14:sldId id="268"/>
            <p14:sldId id="272"/>
            <p14:sldId id="273"/>
            <p14:sldId id="312"/>
            <p14:sldId id="311"/>
            <p14:sldId id="284"/>
            <p14:sldId id="306"/>
            <p14:sldId id="285"/>
            <p14:sldId id="307"/>
            <p14:sldId id="286"/>
            <p14:sldId id="308"/>
            <p14:sldId id="281"/>
            <p14:sldId id="316"/>
            <p14:sldId id="289"/>
            <p14:sldId id="290"/>
            <p14:sldId id="291"/>
            <p14:sldId id="292"/>
            <p14:sldId id="287"/>
            <p14:sldId id="314"/>
            <p14:sldId id="293"/>
            <p14:sldId id="294"/>
            <p14:sldId id="295"/>
            <p14:sldId id="296"/>
          </p14:sldIdLst>
        </p14:section>
        <p14:section name="Section sans titre" id="{37D81C43-B0EE-48BB-BB5A-A90655C5615D}">
          <p14:sldIdLst>
            <p14:sldId id="317"/>
            <p14:sldId id="297"/>
            <p14:sldId id="298"/>
            <p14:sldId id="299"/>
            <p14:sldId id="300"/>
            <p14:sldId id="301"/>
            <p14:sldId id="302"/>
            <p14:sldId id="303"/>
            <p14:sldId id="304"/>
            <p14:sldId id="315"/>
            <p14:sldId id="305"/>
            <p14:sldId id="309"/>
            <p14:sldId id="310"/>
            <p14:sldId id="278"/>
            <p14:sldId id="318"/>
          </p14:sldIdLst>
        </p14:section>
      </p14:sectionLst>
    </p:ext>
    <p:ext uri="{EFAFB233-063F-42B5-8137-9DF3F51BA10A}">
      <p15:sldGuideLst xmlns:p15="http://schemas.microsoft.com/office/powerpoint/2012/main">
        <p15:guide id="1" orient="horz" pos="2160">
          <p15:clr>
            <a:srgbClr val="A4A3A4"/>
          </p15:clr>
        </p15:guide>
        <p15:guide id="5" pos="38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4404"/>
    <a:srgbClr val="5F6F0F"/>
    <a:srgbClr val="718412"/>
    <a:srgbClr val="65741A"/>
    <a:srgbClr val="70811D"/>
    <a:srgbClr val="7B8D1F"/>
    <a:srgbClr val="839721"/>
    <a:srgbClr val="95AB25"/>
    <a:srgbClr val="BC5500"/>
    <a:srgbClr val="C45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7CE84F3-28C3-443E-9E96-99CF82512B78}" styleName="Style foncé 1 - Accentuation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Style foncé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Style moyen 2 - Accentuation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113A9D2-9D6B-4929-AA2D-F23B5EE8CBE7}" styleName="Style à thème 2 - Accentuation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Style à thème 2 - Accentuation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Style à thème 2 - Accentuation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Style à thème 2 - Accentuation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E3FDE45-AF77-4B5C-9715-49D594BDF05E}" styleName="Style léger 1 - Accentuation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BC89EF96-8CEA-46FF-86C4-4CE0E7609802}" styleName="Style léger 3 - Accentuation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140" autoAdjust="0"/>
    <p:restoredTop sz="96437" autoAdjust="0"/>
  </p:normalViewPr>
  <p:slideViewPr>
    <p:cSldViewPr>
      <p:cViewPr varScale="1">
        <p:scale>
          <a:sx n="72" d="100"/>
          <a:sy n="72" d="100"/>
        </p:scale>
        <p:origin x="696" y="78"/>
      </p:cViewPr>
      <p:guideLst>
        <p:guide orient="horz" pos="2160"/>
        <p:guide pos="3839"/>
      </p:guideLst>
    </p:cSldViewPr>
  </p:slideViewPr>
  <p:notesTextViewPr>
    <p:cViewPr>
      <p:scale>
        <a:sx n="1" d="1"/>
        <a:sy n="1" d="1"/>
      </p:scale>
      <p:origin x="0" y="0"/>
    </p:cViewPr>
  </p:notesTextViewPr>
  <p:notesViewPr>
    <p:cSldViewPr showGuides="1">
      <p:cViewPr varScale="1">
        <p:scale>
          <a:sx n="90" d="100"/>
          <a:sy n="90" d="100"/>
        </p:scale>
        <p:origin x="3774"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diagrams/_rels/data2.xml.rels><?xml version="1.0" encoding="UTF-8" standalone="yes"?>
<Relationships xmlns="http://schemas.openxmlformats.org/package/2006/relationships"><Relationship Id="rId2" Type="http://schemas.openxmlformats.org/officeDocument/2006/relationships/hyperlink" Target="https://blog.watsoft.com/5-erreurs-de-sauvegarde-qui-favorisent-la-perte-de-donnees/" TargetMode="External"/><Relationship Id="rId1" Type="http://schemas.openxmlformats.org/officeDocument/2006/relationships/image" Target="../media/image13.jpeg"/></Relationships>
</file>

<file path=ppt/diagrams/_rels/drawing2.xml.rels><?xml version="1.0" encoding="UTF-8" standalone="yes"?>
<Relationships xmlns="http://schemas.openxmlformats.org/package/2006/relationships"><Relationship Id="rId2" Type="http://schemas.openxmlformats.org/officeDocument/2006/relationships/hyperlink" Target="https://blog.watsoft.com/5-erreurs-de-sauvegarde-qui-favorisent-la-perte-de-donnees/" TargetMode="External"/><Relationship Id="rId1" Type="http://schemas.openxmlformats.org/officeDocument/2006/relationships/image" Target="../media/image13.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6DBE7D8-17FF-44E6-B30B-0317BBB3A1E4}"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fr-FR"/>
        </a:p>
      </dgm:t>
    </dgm:pt>
    <dgm:pt modelId="{8D7B3D80-2AE5-4F9E-BCEC-A109CE4DA608}">
      <dgm:prSet phldrT="[Texte]"/>
      <dgm:spPr/>
      <dgm:t>
        <a:bodyPr/>
        <a:lstStyle/>
        <a:p>
          <a:r>
            <a:rPr lang="fr-FR" dirty="0"/>
            <a:t>1</a:t>
          </a:r>
        </a:p>
      </dgm:t>
    </dgm:pt>
    <dgm:pt modelId="{45623D5B-6DF0-449C-9D11-A4D0EC0CD566}" type="parTrans" cxnId="{A03D45C8-EA30-4F2F-8412-804419A37B63}">
      <dgm:prSet/>
      <dgm:spPr/>
      <dgm:t>
        <a:bodyPr/>
        <a:lstStyle/>
        <a:p>
          <a:endParaRPr lang="fr-FR"/>
        </a:p>
      </dgm:t>
    </dgm:pt>
    <dgm:pt modelId="{D50B0E95-1542-415C-8613-C64E667BFFF2}" type="sibTrans" cxnId="{A03D45C8-EA30-4F2F-8412-804419A37B63}">
      <dgm:prSet/>
      <dgm:spPr/>
      <dgm:t>
        <a:bodyPr/>
        <a:lstStyle/>
        <a:p>
          <a:endParaRPr lang="fr-FR"/>
        </a:p>
      </dgm:t>
    </dgm:pt>
    <dgm:pt modelId="{7AABCEB0-5230-43B3-AC77-B1884D174C56}">
      <dgm:prSet phldrT="[Texte]"/>
      <dgm:spPr/>
      <dgm:t>
        <a:bodyPr/>
        <a:lstStyle/>
        <a:p>
          <a:r>
            <a:rPr lang="fr-FR" dirty="0"/>
            <a:t>FULL</a:t>
          </a:r>
        </a:p>
      </dgm:t>
    </dgm:pt>
    <dgm:pt modelId="{1C4DFE02-29D5-45E4-9024-7CBA31F39846}" type="parTrans" cxnId="{05DD7093-3B10-4668-8883-AAC7D8126D1F}">
      <dgm:prSet/>
      <dgm:spPr/>
      <dgm:t>
        <a:bodyPr/>
        <a:lstStyle/>
        <a:p>
          <a:endParaRPr lang="fr-FR"/>
        </a:p>
      </dgm:t>
    </dgm:pt>
    <dgm:pt modelId="{DF30ABEF-6D4C-48C9-935E-61E32CB55037}" type="sibTrans" cxnId="{05DD7093-3B10-4668-8883-AAC7D8126D1F}">
      <dgm:prSet/>
      <dgm:spPr/>
      <dgm:t>
        <a:bodyPr/>
        <a:lstStyle/>
        <a:p>
          <a:endParaRPr lang="fr-FR"/>
        </a:p>
      </dgm:t>
    </dgm:pt>
    <dgm:pt modelId="{B81CAA46-BEB5-4B05-8D0B-22BA3F734B2C}">
      <dgm:prSet phldrT="[Texte]"/>
      <dgm:spPr/>
      <dgm:t>
        <a:bodyPr/>
        <a:lstStyle/>
        <a:p>
          <a:r>
            <a:rPr lang="fr-FR" dirty="0"/>
            <a:t>2</a:t>
          </a:r>
        </a:p>
      </dgm:t>
    </dgm:pt>
    <dgm:pt modelId="{F6E4142A-06E6-4DDB-8AC6-7299391F43A4}" type="parTrans" cxnId="{80F2750E-B769-48A0-9A8C-49A692659A50}">
      <dgm:prSet/>
      <dgm:spPr/>
      <dgm:t>
        <a:bodyPr/>
        <a:lstStyle/>
        <a:p>
          <a:endParaRPr lang="fr-FR"/>
        </a:p>
      </dgm:t>
    </dgm:pt>
    <dgm:pt modelId="{120FE0DF-94B3-4749-8948-6C0D3D40CAF6}" type="sibTrans" cxnId="{80F2750E-B769-48A0-9A8C-49A692659A50}">
      <dgm:prSet/>
      <dgm:spPr/>
      <dgm:t>
        <a:bodyPr/>
        <a:lstStyle/>
        <a:p>
          <a:endParaRPr lang="fr-FR"/>
        </a:p>
      </dgm:t>
    </dgm:pt>
    <dgm:pt modelId="{EAFC20BB-FDD4-47AA-9F46-212638DA85B0}">
      <dgm:prSet phldrT="[Texte]"/>
      <dgm:spPr/>
      <dgm:t>
        <a:bodyPr/>
        <a:lstStyle/>
        <a:p>
          <a:r>
            <a:rPr lang="fr-FR" dirty="0"/>
            <a:t>DIFFERENTIAL</a:t>
          </a:r>
        </a:p>
      </dgm:t>
    </dgm:pt>
    <dgm:pt modelId="{5AE351DB-914D-450F-A37C-5D7045DBB9E8}" type="parTrans" cxnId="{BE07F96A-B49A-44D7-81DC-33705C077787}">
      <dgm:prSet/>
      <dgm:spPr/>
      <dgm:t>
        <a:bodyPr/>
        <a:lstStyle/>
        <a:p>
          <a:endParaRPr lang="fr-FR"/>
        </a:p>
      </dgm:t>
    </dgm:pt>
    <dgm:pt modelId="{0662EB25-36D8-4A96-AB5D-37F8B07C1870}" type="sibTrans" cxnId="{BE07F96A-B49A-44D7-81DC-33705C077787}">
      <dgm:prSet/>
      <dgm:spPr/>
      <dgm:t>
        <a:bodyPr/>
        <a:lstStyle/>
        <a:p>
          <a:endParaRPr lang="fr-FR"/>
        </a:p>
      </dgm:t>
    </dgm:pt>
    <dgm:pt modelId="{EFC7351B-86CB-423D-9C6D-FD3A2C7ADA08}">
      <dgm:prSet phldrT="[Texte]"/>
      <dgm:spPr/>
      <dgm:t>
        <a:bodyPr/>
        <a:lstStyle/>
        <a:p>
          <a:r>
            <a:rPr lang="fr-FR" dirty="0"/>
            <a:t>3</a:t>
          </a:r>
        </a:p>
      </dgm:t>
    </dgm:pt>
    <dgm:pt modelId="{A2FFA68E-451C-4200-9FDA-01E922413BC7}" type="parTrans" cxnId="{1843EF97-6B28-4EAC-AC1B-2BD84C841193}">
      <dgm:prSet/>
      <dgm:spPr/>
      <dgm:t>
        <a:bodyPr/>
        <a:lstStyle/>
        <a:p>
          <a:endParaRPr lang="fr-FR"/>
        </a:p>
      </dgm:t>
    </dgm:pt>
    <dgm:pt modelId="{42CF2A11-5223-4E07-8C3F-BD226522621D}" type="sibTrans" cxnId="{1843EF97-6B28-4EAC-AC1B-2BD84C841193}">
      <dgm:prSet/>
      <dgm:spPr/>
      <dgm:t>
        <a:bodyPr/>
        <a:lstStyle/>
        <a:p>
          <a:endParaRPr lang="fr-FR"/>
        </a:p>
      </dgm:t>
    </dgm:pt>
    <dgm:pt modelId="{831E0E58-6B4D-4CC6-BC17-5F706989058C}">
      <dgm:prSet phldrT="[Texte]"/>
      <dgm:spPr/>
      <dgm:t>
        <a:bodyPr/>
        <a:lstStyle/>
        <a:p>
          <a:r>
            <a:rPr lang="fr-FR" dirty="0"/>
            <a:t>INCREMENTAL</a:t>
          </a:r>
        </a:p>
      </dgm:t>
    </dgm:pt>
    <dgm:pt modelId="{D03037F2-4090-47F0-822D-B658E756752A}" type="parTrans" cxnId="{6516B83E-9865-4518-AD58-74EB11BA8956}">
      <dgm:prSet/>
      <dgm:spPr/>
      <dgm:t>
        <a:bodyPr/>
        <a:lstStyle/>
        <a:p>
          <a:endParaRPr lang="fr-FR"/>
        </a:p>
      </dgm:t>
    </dgm:pt>
    <dgm:pt modelId="{C6AA0E2F-E574-4197-8B7F-EEF12068D626}" type="sibTrans" cxnId="{6516B83E-9865-4518-AD58-74EB11BA8956}">
      <dgm:prSet/>
      <dgm:spPr/>
      <dgm:t>
        <a:bodyPr/>
        <a:lstStyle/>
        <a:p>
          <a:endParaRPr lang="fr-FR"/>
        </a:p>
      </dgm:t>
    </dgm:pt>
    <dgm:pt modelId="{5C61B014-7010-4293-A90E-D431D4F0DF4F}" type="pres">
      <dgm:prSet presAssocID="{86DBE7D8-17FF-44E6-B30B-0317BBB3A1E4}" presName="linearFlow" presStyleCnt="0">
        <dgm:presLayoutVars>
          <dgm:dir/>
          <dgm:animLvl val="lvl"/>
          <dgm:resizeHandles val="exact"/>
        </dgm:presLayoutVars>
      </dgm:prSet>
      <dgm:spPr/>
    </dgm:pt>
    <dgm:pt modelId="{8E4CE0E9-314F-4FBD-8963-BD267DB36BB3}" type="pres">
      <dgm:prSet presAssocID="{8D7B3D80-2AE5-4F9E-BCEC-A109CE4DA608}" presName="composite" presStyleCnt="0"/>
      <dgm:spPr/>
    </dgm:pt>
    <dgm:pt modelId="{A32CF250-6AE0-43F3-AC45-E8FB2AEA1D2F}" type="pres">
      <dgm:prSet presAssocID="{8D7B3D80-2AE5-4F9E-BCEC-A109CE4DA608}" presName="parentText" presStyleLbl="alignNode1" presStyleIdx="0" presStyleCnt="3">
        <dgm:presLayoutVars>
          <dgm:chMax val="1"/>
          <dgm:bulletEnabled val="1"/>
        </dgm:presLayoutVars>
      </dgm:prSet>
      <dgm:spPr/>
    </dgm:pt>
    <dgm:pt modelId="{C4F01DD6-ACCE-4DDB-95FB-30FC179EC905}" type="pres">
      <dgm:prSet presAssocID="{8D7B3D80-2AE5-4F9E-BCEC-A109CE4DA608}" presName="descendantText" presStyleLbl="alignAcc1" presStyleIdx="0" presStyleCnt="3">
        <dgm:presLayoutVars>
          <dgm:bulletEnabled val="1"/>
        </dgm:presLayoutVars>
      </dgm:prSet>
      <dgm:spPr/>
    </dgm:pt>
    <dgm:pt modelId="{FDF668BF-6586-460E-AAA6-F7843389ED31}" type="pres">
      <dgm:prSet presAssocID="{D50B0E95-1542-415C-8613-C64E667BFFF2}" presName="sp" presStyleCnt="0"/>
      <dgm:spPr/>
    </dgm:pt>
    <dgm:pt modelId="{FEF3EA0E-D099-4884-A118-5028F56961E3}" type="pres">
      <dgm:prSet presAssocID="{B81CAA46-BEB5-4B05-8D0B-22BA3F734B2C}" presName="composite" presStyleCnt="0"/>
      <dgm:spPr/>
    </dgm:pt>
    <dgm:pt modelId="{EB674FBC-02FE-4C1D-81D3-034193D950B4}" type="pres">
      <dgm:prSet presAssocID="{B81CAA46-BEB5-4B05-8D0B-22BA3F734B2C}" presName="parentText" presStyleLbl="alignNode1" presStyleIdx="1" presStyleCnt="3">
        <dgm:presLayoutVars>
          <dgm:chMax val="1"/>
          <dgm:bulletEnabled val="1"/>
        </dgm:presLayoutVars>
      </dgm:prSet>
      <dgm:spPr/>
    </dgm:pt>
    <dgm:pt modelId="{4C52CF1B-C78D-4045-B433-88B9DC68A241}" type="pres">
      <dgm:prSet presAssocID="{B81CAA46-BEB5-4B05-8D0B-22BA3F734B2C}" presName="descendantText" presStyleLbl="alignAcc1" presStyleIdx="1" presStyleCnt="3">
        <dgm:presLayoutVars>
          <dgm:bulletEnabled val="1"/>
        </dgm:presLayoutVars>
      </dgm:prSet>
      <dgm:spPr/>
    </dgm:pt>
    <dgm:pt modelId="{EE3076CA-F814-4A21-9FE7-027FD7F8FA0A}" type="pres">
      <dgm:prSet presAssocID="{120FE0DF-94B3-4749-8948-6C0D3D40CAF6}" presName="sp" presStyleCnt="0"/>
      <dgm:spPr/>
    </dgm:pt>
    <dgm:pt modelId="{006AD5E1-A853-4A55-B674-18151D49BA88}" type="pres">
      <dgm:prSet presAssocID="{EFC7351B-86CB-423D-9C6D-FD3A2C7ADA08}" presName="composite" presStyleCnt="0"/>
      <dgm:spPr/>
    </dgm:pt>
    <dgm:pt modelId="{D16A694C-FBE3-4B64-BDD1-C17D0A7BDA7F}" type="pres">
      <dgm:prSet presAssocID="{EFC7351B-86CB-423D-9C6D-FD3A2C7ADA08}" presName="parentText" presStyleLbl="alignNode1" presStyleIdx="2" presStyleCnt="3">
        <dgm:presLayoutVars>
          <dgm:chMax val="1"/>
          <dgm:bulletEnabled val="1"/>
        </dgm:presLayoutVars>
      </dgm:prSet>
      <dgm:spPr/>
    </dgm:pt>
    <dgm:pt modelId="{C53B3E71-A9F5-49C4-9F09-AD92C6DF3F71}" type="pres">
      <dgm:prSet presAssocID="{EFC7351B-86CB-423D-9C6D-FD3A2C7ADA08}" presName="descendantText" presStyleLbl="alignAcc1" presStyleIdx="2" presStyleCnt="3">
        <dgm:presLayoutVars>
          <dgm:bulletEnabled val="1"/>
        </dgm:presLayoutVars>
      </dgm:prSet>
      <dgm:spPr/>
    </dgm:pt>
  </dgm:ptLst>
  <dgm:cxnLst>
    <dgm:cxn modelId="{80F2750E-B769-48A0-9A8C-49A692659A50}" srcId="{86DBE7D8-17FF-44E6-B30B-0317BBB3A1E4}" destId="{B81CAA46-BEB5-4B05-8D0B-22BA3F734B2C}" srcOrd="1" destOrd="0" parTransId="{F6E4142A-06E6-4DDB-8AC6-7299391F43A4}" sibTransId="{120FE0DF-94B3-4749-8948-6C0D3D40CAF6}"/>
    <dgm:cxn modelId="{025E193E-BEB9-4DD1-A77A-5643CB6F766E}" type="presOf" srcId="{B81CAA46-BEB5-4B05-8D0B-22BA3F734B2C}" destId="{EB674FBC-02FE-4C1D-81D3-034193D950B4}" srcOrd="0" destOrd="0" presId="urn:microsoft.com/office/officeart/2005/8/layout/chevron2"/>
    <dgm:cxn modelId="{6516B83E-9865-4518-AD58-74EB11BA8956}" srcId="{EFC7351B-86CB-423D-9C6D-FD3A2C7ADA08}" destId="{831E0E58-6B4D-4CC6-BC17-5F706989058C}" srcOrd="0" destOrd="0" parTransId="{D03037F2-4090-47F0-822D-B658E756752A}" sibTransId="{C6AA0E2F-E574-4197-8B7F-EEF12068D626}"/>
    <dgm:cxn modelId="{AE020360-2E67-48DC-8AA8-B01EF359829B}" type="presOf" srcId="{EFC7351B-86CB-423D-9C6D-FD3A2C7ADA08}" destId="{D16A694C-FBE3-4B64-BDD1-C17D0A7BDA7F}" srcOrd="0" destOrd="0" presId="urn:microsoft.com/office/officeart/2005/8/layout/chevron2"/>
    <dgm:cxn modelId="{EC304147-E461-4C91-81B9-7A7A035F448C}" type="presOf" srcId="{86DBE7D8-17FF-44E6-B30B-0317BBB3A1E4}" destId="{5C61B014-7010-4293-A90E-D431D4F0DF4F}" srcOrd="0" destOrd="0" presId="urn:microsoft.com/office/officeart/2005/8/layout/chevron2"/>
    <dgm:cxn modelId="{BE07F96A-B49A-44D7-81DC-33705C077787}" srcId="{B81CAA46-BEB5-4B05-8D0B-22BA3F734B2C}" destId="{EAFC20BB-FDD4-47AA-9F46-212638DA85B0}" srcOrd="0" destOrd="0" parTransId="{5AE351DB-914D-450F-A37C-5D7045DBB9E8}" sibTransId="{0662EB25-36D8-4A96-AB5D-37F8B07C1870}"/>
    <dgm:cxn modelId="{83D4D575-E901-44C5-A215-B1FECCB3E8A9}" type="presOf" srcId="{7AABCEB0-5230-43B3-AC77-B1884D174C56}" destId="{C4F01DD6-ACCE-4DDB-95FB-30FC179EC905}" srcOrd="0" destOrd="0" presId="urn:microsoft.com/office/officeart/2005/8/layout/chevron2"/>
    <dgm:cxn modelId="{05DD7093-3B10-4668-8883-AAC7D8126D1F}" srcId="{8D7B3D80-2AE5-4F9E-BCEC-A109CE4DA608}" destId="{7AABCEB0-5230-43B3-AC77-B1884D174C56}" srcOrd="0" destOrd="0" parTransId="{1C4DFE02-29D5-45E4-9024-7CBA31F39846}" sibTransId="{DF30ABEF-6D4C-48C9-935E-61E32CB55037}"/>
    <dgm:cxn modelId="{724AF894-43EC-44AE-A272-747F42F9EBF1}" type="presOf" srcId="{831E0E58-6B4D-4CC6-BC17-5F706989058C}" destId="{C53B3E71-A9F5-49C4-9F09-AD92C6DF3F71}" srcOrd="0" destOrd="0" presId="urn:microsoft.com/office/officeart/2005/8/layout/chevron2"/>
    <dgm:cxn modelId="{1843EF97-6B28-4EAC-AC1B-2BD84C841193}" srcId="{86DBE7D8-17FF-44E6-B30B-0317BBB3A1E4}" destId="{EFC7351B-86CB-423D-9C6D-FD3A2C7ADA08}" srcOrd="2" destOrd="0" parTransId="{A2FFA68E-451C-4200-9FDA-01E922413BC7}" sibTransId="{42CF2A11-5223-4E07-8C3F-BD226522621D}"/>
    <dgm:cxn modelId="{B2E33499-1C79-493F-B215-1B269C8B3109}" type="presOf" srcId="{8D7B3D80-2AE5-4F9E-BCEC-A109CE4DA608}" destId="{A32CF250-6AE0-43F3-AC45-E8FB2AEA1D2F}" srcOrd="0" destOrd="0" presId="urn:microsoft.com/office/officeart/2005/8/layout/chevron2"/>
    <dgm:cxn modelId="{A03D45C8-EA30-4F2F-8412-804419A37B63}" srcId="{86DBE7D8-17FF-44E6-B30B-0317BBB3A1E4}" destId="{8D7B3D80-2AE5-4F9E-BCEC-A109CE4DA608}" srcOrd="0" destOrd="0" parTransId="{45623D5B-6DF0-449C-9D11-A4D0EC0CD566}" sibTransId="{D50B0E95-1542-415C-8613-C64E667BFFF2}"/>
    <dgm:cxn modelId="{7A0EB3DE-40E8-4A2F-9AB3-124879615FFD}" type="presOf" srcId="{EAFC20BB-FDD4-47AA-9F46-212638DA85B0}" destId="{4C52CF1B-C78D-4045-B433-88B9DC68A241}" srcOrd="0" destOrd="0" presId="urn:microsoft.com/office/officeart/2005/8/layout/chevron2"/>
    <dgm:cxn modelId="{1029BF7C-6604-42C2-8C96-9B7862917649}" type="presParOf" srcId="{5C61B014-7010-4293-A90E-D431D4F0DF4F}" destId="{8E4CE0E9-314F-4FBD-8963-BD267DB36BB3}" srcOrd="0" destOrd="0" presId="urn:microsoft.com/office/officeart/2005/8/layout/chevron2"/>
    <dgm:cxn modelId="{1EE53B51-586F-41ED-A295-191DCCAE0A60}" type="presParOf" srcId="{8E4CE0E9-314F-4FBD-8963-BD267DB36BB3}" destId="{A32CF250-6AE0-43F3-AC45-E8FB2AEA1D2F}" srcOrd="0" destOrd="0" presId="urn:microsoft.com/office/officeart/2005/8/layout/chevron2"/>
    <dgm:cxn modelId="{133A427E-6558-4E74-A953-4BF5730B87EF}" type="presParOf" srcId="{8E4CE0E9-314F-4FBD-8963-BD267DB36BB3}" destId="{C4F01DD6-ACCE-4DDB-95FB-30FC179EC905}" srcOrd="1" destOrd="0" presId="urn:microsoft.com/office/officeart/2005/8/layout/chevron2"/>
    <dgm:cxn modelId="{6AB8730A-B04D-4EAC-97C9-50E437D5A1E7}" type="presParOf" srcId="{5C61B014-7010-4293-A90E-D431D4F0DF4F}" destId="{FDF668BF-6586-460E-AAA6-F7843389ED31}" srcOrd="1" destOrd="0" presId="urn:microsoft.com/office/officeart/2005/8/layout/chevron2"/>
    <dgm:cxn modelId="{09A9D0DE-15EB-4D73-8337-6F8D115C9CE3}" type="presParOf" srcId="{5C61B014-7010-4293-A90E-D431D4F0DF4F}" destId="{FEF3EA0E-D099-4884-A118-5028F56961E3}" srcOrd="2" destOrd="0" presId="urn:microsoft.com/office/officeart/2005/8/layout/chevron2"/>
    <dgm:cxn modelId="{64E3F437-A644-4FD3-AD2E-6FE74763D83A}" type="presParOf" srcId="{FEF3EA0E-D099-4884-A118-5028F56961E3}" destId="{EB674FBC-02FE-4C1D-81D3-034193D950B4}" srcOrd="0" destOrd="0" presId="urn:microsoft.com/office/officeart/2005/8/layout/chevron2"/>
    <dgm:cxn modelId="{A7E68C42-0CDB-4AFD-B5A2-899660B138C9}" type="presParOf" srcId="{FEF3EA0E-D099-4884-A118-5028F56961E3}" destId="{4C52CF1B-C78D-4045-B433-88B9DC68A241}" srcOrd="1" destOrd="0" presId="urn:microsoft.com/office/officeart/2005/8/layout/chevron2"/>
    <dgm:cxn modelId="{3107AC3C-5C23-4778-AD93-A9C62D8EC23C}" type="presParOf" srcId="{5C61B014-7010-4293-A90E-D431D4F0DF4F}" destId="{EE3076CA-F814-4A21-9FE7-027FD7F8FA0A}" srcOrd="3" destOrd="0" presId="urn:microsoft.com/office/officeart/2005/8/layout/chevron2"/>
    <dgm:cxn modelId="{7C148843-3DC5-478B-BA69-247A19BE81A7}" type="presParOf" srcId="{5C61B014-7010-4293-A90E-D431D4F0DF4F}" destId="{006AD5E1-A853-4A55-B674-18151D49BA88}" srcOrd="4" destOrd="0" presId="urn:microsoft.com/office/officeart/2005/8/layout/chevron2"/>
    <dgm:cxn modelId="{82363105-5A6B-4073-96A3-59D90F5BF60C}" type="presParOf" srcId="{006AD5E1-A853-4A55-B674-18151D49BA88}" destId="{D16A694C-FBE3-4B64-BDD1-C17D0A7BDA7F}" srcOrd="0" destOrd="0" presId="urn:microsoft.com/office/officeart/2005/8/layout/chevron2"/>
    <dgm:cxn modelId="{B0A0AF33-546A-4A74-93EA-A29EBD4A3198}" type="presParOf" srcId="{006AD5E1-A853-4A55-B674-18151D49BA88}" destId="{C53B3E71-A9F5-49C4-9F09-AD92C6DF3F71}"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664C53-DC32-4A7E-AF59-A931A5ABE8E9}" type="doc">
      <dgm:prSet loTypeId="urn:microsoft.com/office/officeart/2008/layout/AlternatingPictureCircles" loCatId="picture" qsTypeId="urn:microsoft.com/office/officeart/2005/8/quickstyle/simple1" qsCatId="simple" csTypeId="urn:microsoft.com/office/officeart/2005/8/colors/accent1_2" csCatId="accent1" phldr="1"/>
      <dgm:spPr/>
    </dgm:pt>
    <dgm:pt modelId="{7BBFE4EF-7CBA-4A4B-8809-92B09F5127E3}">
      <dgm:prSet phldrT="[Texte]"/>
      <dgm:spPr/>
      <dgm:t>
        <a:bodyPr/>
        <a:lstStyle/>
        <a:p>
          <a:r>
            <a:rPr lang="fr-FR" b="1" i="1" dirty="0">
              <a:solidFill>
                <a:srgbClr val="FFFF00"/>
              </a:solidFill>
              <a:effectLst>
                <a:outerShdw blurRad="38100" dist="38100" dir="2700000" algn="tl">
                  <a:srgbClr val="000000">
                    <a:alpha val="43137"/>
                  </a:srgbClr>
                </a:outerShdw>
              </a:effectLst>
            </a:rPr>
            <a:t>SYSTÈME AUTOMATIQUE DE SAUVEGARDE</a:t>
          </a:r>
        </a:p>
      </dgm:t>
    </dgm:pt>
    <dgm:pt modelId="{D80D65B5-430F-49F9-AA14-3F2443336A8B}" type="parTrans" cxnId="{2C33400A-B06C-4149-B7C5-B515D5AC9F28}">
      <dgm:prSet/>
      <dgm:spPr/>
      <dgm:t>
        <a:bodyPr/>
        <a:lstStyle/>
        <a:p>
          <a:endParaRPr lang="fr-FR"/>
        </a:p>
      </dgm:t>
    </dgm:pt>
    <dgm:pt modelId="{A9C07059-57BD-432A-996C-1A86C9A640AC}" type="sibTrans" cxnId="{2C33400A-B06C-4149-B7C5-B515D5AC9F28}">
      <dgm:prSet/>
      <dgm:spPr/>
      <dgm:t>
        <a:bodyPr/>
        <a:lstStyle/>
        <a:p>
          <a:endParaRPr lang="fr-FR"/>
        </a:p>
      </dgm:t>
    </dgm:pt>
    <dgm:pt modelId="{2451072F-5043-4D21-B48E-ECA57B00DC7A}" type="pres">
      <dgm:prSet presAssocID="{FD664C53-DC32-4A7E-AF59-A931A5ABE8E9}" presName="Name0" presStyleCnt="0">
        <dgm:presLayoutVars>
          <dgm:chMax/>
          <dgm:chPref/>
          <dgm:dir/>
        </dgm:presLayoutVars>
      </dgm:prSet>
      <dgm:spPr/>
    </dgm:pt>
    <dgm:pt modelId="{6A015E23-20BC-4F29-93AA-4CCF0C923AFB}" type="pres">
      <dgm:prSet presAssocID="{7BBFE4EF-7CBA-4A4B-8809-92B09F5127E3}" presName="composite" presStyleCnt="0"/>
      <dgm:spPr/>
    </dgm:pt>
    <dgm:pt modelId="{F718A331-A73A-4E32-AFD1-EAA96BA3D304}" type="pres">
      <dgm:prSet presAssocID="{7BBFE4EF-7CBA-4A4B-8809-92B09F5127E3}" presName="Accent" presStyleLbl="alignNode1" presStyleIdx="0" presStyleCnt="1">
        <dgm:presLayoutVars>
          <dgm:chMax val="0"/>
          <dgm:chPref val="0"/>
        </dgm:presLayoutVars>
      </dgm:prSet>
      <dgm:spPr/>
    </dgm:pt>
    <dgm:pt modelId="{13537B68-E41B-4564-A859-6D6D2AEEC09A}" type="pres">
      <dgm:prSet presAssocID="{7BBFE4EF-7CBA-4A4B-8809-92B09F5127E3}" presName="Image" presStyleLbl="bgImgPlace1" presStyleIdx="0" presStyleCnt="1">
        <dgm:presLayoutVars>
          <dgm:chMax val="0"/>
          <dgm:chPref val="0"/>
          <dgm:bulletEnabled val="1"/>
        </dgm:presLayoutVars>
      </dgm:prSet>
      <dgm:spPr>
        <a:blipFill>
          <a:blip xmlns:r="http://schemas.openxmlformats.org/officeDocument/2006/relationships" r:embed="rId1" cstate="print">
            <a:extLst>
              <a:ext uri="{28A0092B-C50C-407E-A947-70E740481C1C}">
                <a14:useLocalDpi xmlns:a14="http://schemas.microsoft.com/office/drawing/2010/main" val="0"/>
              </a:ext>
              <a:ext uri="{837473B0-CC2E-450A-ABE3-18F120FF3D39}">
                <a1611:picAttrSrcUrl xmlns:a1611="http://schemas.microsoft.com/office/drawing/2016/11/main" r:id="rId2"/>
              </a:ext>
            </a:extLst>
          </a:blip>
          <a:srcRect/>
          <a:stretch>
            <a:fillRect t="-16000" b="-16000"/>
          </a:stretch>
        </a:blipFill>
      </dgm:spPr>
    </dgm:pt>
    <dgm:pt modelId="{1C612E34-77DF-4CF8-8FBA-F80155EFD67E}" type="pres">
      <dgm:prSet presAssocID="{7BBFE4EF-7CBA-4A4B-8809-92B09F5127E3}" presName="Parent" presStyleLbl="fgAccFollowNode1" presStyleIdx="0" presStyleCnt="1">
        <dgm:presLayoutVars>
          <dgm:chMax val="0"/>
          <dgm:chPref val="0"/>
          <dgm:bulletEnabled val="1"/>
        </dgm:presLayoutVars>
      </dgm:prSet>
      <dgm:spPr/>
    </dgm:pt>
    <dgm:pt modelId="{074F0A39-7577-497D-A8F6-59AC63C04682}" type="pres">
      <dgm:prSet presAssocID="{7BBFE4EF-7CBA-4A4B-8809-92B09F5127E3}" presName="Space" presStyleCnt="0">
        <dgm:presLayoutVars>
          <dgm:chMax val="0"/>
          <dgm:chPref val="0"/>
        </dgm:presLayoutVars>
      </dgm:prSet>
      <dgm:spPr/>
    </dgm:pt>
  </dgm:ptLst>
  <dgm:cxnLst>
    <dgm:cxn modelId="{2C33400A-B06C-4149-B7C5-B515D5AC9F28}" srcId="{FD664C53-DC32-4A7E-AF59-A931A5ABE8E9}" destId="{7BBFE4EF-7CBA-4A4B-8809-92B09F5127E3}" srcOrd="0" destOrd="0" parTransId="{D80D65B5-430F-49F9-AA14-3F2443336A8B}" sibTransId="{A9C07059-57BD-432A-996C-1A86C9A640AC}"/>
    <dgm:cxn modelId="{5D87990C-0DC1-4CC6-A0AF-4790F3C3AC51}" type="presOf" srcId="{FD664C53-DC32-4A7E-AF59-A931A5ABE8E9}" destId="{2451072F-5043-4D21-B48E-ECA57B00DC7A}" srcOrd="0" destOrd="0" presId="urn:microsoft.com/office/officeart/2008/layout/AlternatingPictureCircles"/>
    <dgm:cxn modelId="{5C559335-D9F4-4BEE-B3E6-EBB3086E9623}" type="presOf" srcId="{7BBFE4EF-7CBA-4A4B-8809-92B09F5127E3}" destId="{1C612E34-77DF-4CF8-8FBA-F80155EFD67E}" srcOrd="0" destOrd="0" presId="urn:microsoft.com/office/officeart/2008/layout/AlternatingPictureCircles"/>
    <dgm:cxn modelId="{84C163F0-0F1C-4E9D-A8F0-8F6474FA1732}" type="presParOf" srcId="{2451072F-5043-4D21-B48E-ECA57B00DC7A}" destId="{6A015E23-20BC-4F29-93AA-4CCF0C923AFB}" srcOrd="0" destOrd="0" presId="urn:microsoft.com/office/officeart/2008/layout/AlternatingPictureCircles"/>
    <dgm:cxn modelId="{A63F4F0B-5400-4F84-9119-50A1F54F7983}" type="presParOf" srcId="{6A015E23-20BC-4F29-93AA-4CCF0C923AFB}" destId="{F718A331-A73A-4E32-AFD1-EAA96BA3D304}" srcOrd="0" destOrd="0" presId="urn:microsoft.com/office/officeart/2008/layout/AlternatingPictureCircles"/>
    <dgm:cxn modelId="{E2D1F13B-1B67-4E65-81BE-05FD5DDBFF4A}" type="presParOf" srcId="{6A015E23-20BC-4F29-93AA-4CCF0C923AFB}" destId="{13537B68-E41B-4564-A859-6D6D2AEEC09A}" srcOrd="1" destOrd="0" presId="urn:microsoft.com/office/officeart/2008/layout/AlternatingPictureCircles"/>
    <dgm:cxn modelId="{D37B92BF-BF84-408A-8634-3F6BE9D7ECF6}" type="presParOf" srcId="{6A015E23-20BC-4F29-93AA-4CCF0C923AFB}" destId="{1C612E34-77DF-4CF8-8FBA-F80155EFD67E}" srcOrd="2" destOrd="0" presId="urn:microsoft.com/office/officeart/2008/layout/AlternatingPictureCircles"/>
    <dgm:cxn modelId="{422B4CED-08C6-429D-ABDA-CC4C4C7A553B}" type="presParOf" srcId="{6A015E23-20BC-4F29-93AA-4CCF0C923AFB}" destId="{074F0A39-7577-497D-A8F6-59AC63C04682}" srcOrd="3" destOrd="0" presId="urn:microsoft.com/office/officeart/2008/layout/AlternatingPictureCircle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2CF250-6AE0-43F3-AC45-E8FB2AEA1D2F}">
      <dsp:nvSpPr>
        <dsp:cNvPr id="0" name=""/>
        <dsp:cNvSpPr/>
      </dsp:nvSpPr>
      <dsp:spPr>
        <a:xfrm rot="5400000">
          <a:off x="-221951" y="223738"/>
          <a:ext cx="1479674" cy="1035771"/>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fr-FR" sz="3000" kern="1200" dirty="0"/>
            <a:t>1</a:t>
          </a:r>
        </a:p>
      </dsp:txBody>
      <dsp:txXfrm rot="-5400000">
        <a:off x="1" y="519673"/>
        <a:ext cx="1035771" cy="443903"/>
      </dsp:txXfrm>
    </dsp:sp>
    <dsp:sp modelId="{C4F01DD6-ACCE-4DDB-95FB-30FC179EC905}">
      <dsp:nvSpPr>
        <dsp:cNvPr id="0" name=""/>
        <dsp:cNvSpPr/>
      </dsp:nvSpPr>
      <dsp:spPr>
        <a:xfrm rot="5400000">
          <a:off x="5064604" y="-4027044"/>
          <a:ext cx="961788" cy="9019453"/>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608" tIns="37465" rIns="37465" bIns="37465" numCol="1" spcCol="1270" anchor="ctr" anchorCtr="0">
          <a:noAutofit/>
        </a:bodyPr>
        <a:lstStyle/>
        <a:p>
          <a:pPr marL="285750" lvl="1" indent="-285750" algn="l" defTabSz="2622550">
            <a:lnSpc>
              <a:spcPct val="90000"/>
            </a:lnSpc>
            <a:spcBef>
              <a:spcPct val="0"/>
            </a:spcBef>
            <a:spcAft>
              <a:spcPct val="15000"/>
            </a:spcAft>
            <a:buChar char="•"/>
          </a:pPr>
          <a:r>
            <a:rPr lang="fr-FR" sz="5900" kern="1200" dirty="0"/>
            <a:t>FULL</a:t>
          </a:r>
        </a:p>
      </dsp:txBody>
      <dsp:txXfrm rot="-5400000">
        <a:off x="1035772" y="48739"/>
        <a:ext cx="8972502" cy="867886"/>
      </dsp:txXfrm>
    </dsp:sp>
    <dsp:sp modelId="{EB674FBC-02FE-4C1D-81D3-034193D950B4}">
      <dsp:nvSpPr>
        <dsp:cNvPr id="0" name=""/>
        <dsp:cNvSpPr/>
      </dsp:nvSpPr>
      <dsp:spPr>
        <a:xfrm rot="5400000">
          <a:off x="-221951" y="1507764"/>
          <a:ext cx="1479674" cy="1035771"/>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fr-FR" sz="3000" kern="1200" dirty="0"/>
            <a:t>2</a:t>
          </a:r>
        </a:p>
      </dsp:txBody>
      <dsp:txXfrm rot="-5400000">
        <a:off x="1" y="1803699"/>
        <a:ext cx="1035771" cy="443903"/>
      </dsp:txXfrm>
    </dsp:sp>
    <dsp:sp modelId="{4C52CF1B-C78D-4045-B433-88B9DC68A241}">
      <dsp:nvSpPr>
        <dsp:cNvPr id="0" name=""/>
        <dsp:cNvSpPr/>
      </dsp:nvSpPr>
      <dsp:spPr>
        <a:xfrm rot="5400000">
          <a:off x="5064604" y="-2743019"/>
          <a:ext cx="961788" cy="9019453"/>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608" tIns="37465" rIns="37465" bIns="37465" numCol="1" spcCol="1270" anchor="ctr" anchorCtr="0">
          <a:noAutofit/>
        </a:bodyPr>
        <a:lstStyle/>
        <a:p>
          <a:pPr marL="285750" lvl="1" indent="-285750" algn="l" defTabSz="2622550">
            <a:lnSpc>
              <a:spcPct val="90000"/>
            </a:lnSpc>
            <a:spcBef>
              <a:spcPct val="0"/>
            </a:spcBef>
            <a:spcAft>
              <a:spcPct val="15000"/>
            </a:spcAft>
            <a:buChar char="•"/>
          </a:pPr>
          <a:r>
            <a:rPr lang="fr-FR" sz="5900" kern="1200" dirty="0"/>
            <a:t>DIFFERENTIAL</a:t>
          </a:r>
        </a:p>
      </dsp:txBody>
      <dsp:txXfrm rot="-5400000">
        <a:off x="1035772" y="1332764"/>
        <a:ext cx="8972502" cy="867886"/>
      </dsp:txXfrm>
    </dsp:sp>
    <dsp:sp modelId="{D16A694C-FBE3-4B64-BDD1-C17D0A7BDA7F}">
      <dsp:nvSpPr>
        <dsp:cNvPr id="0" name=""/>
        <dsp:cNvSpPr/>
      </dsp:nvSpPr>
      <dsp:spPr>
        <a:xfrm rot="5400000">
          <a:off x="-221951" y="2791789"/>
          <a:ext cx="1479674" cy="1035771"/>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fr-FR" sz="3000" kern="1200" dirty="0"/>
            <a:t>3</a:t>
          </a:r>
        </a:p>
      </dsp:txBody>
      <dsp:txXfrm rot="-5400000">
        <a:off x="1" y="3087724"/>
        <a:ext cx="1035771" cy="443903"/>
      </dsp:txXfrm>
    </dsp:sp>
    <dsp:sp modelId="{C53B3E71-A9F5-49C4-9F09-AD92C6DF3F71}">
      <dsp:nvSpPr>
        <dsp:cNvPr id="0" name=""/>
        <dsp:cNvSpPr/>
      </dsp:nvSpPr>
      <dsp:spPr>
        <a:xfrm rot="5400000">
          <a:off x="5064604" y="-1458994"/>
          <a:ext cx="961788" cy="9019453"/>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608" tIns="37465" rIns="37465" bIns="37465" numCol="1" spcCol="1270" anchor="ctr" anchorCtr="0">
          <a:noAutofit/>
        </a:bodyPr>
        <a:lstStyle/>
        <a:p>
          <a:pPr marL="285750" lvl="1" indent="-285750" algn="l" defTabSz="2622550">
            <a:lnSpc>
              <a:spcPct val="90000"/>
            </a:lnSpc>
            <a:spcBef>
              <a:spcPct val="0"/>
            </a:spcBef>
            <a:spcAft>
              <a:spcPct val="15000"/>
            </a:spcAft>
            <a:buChar char="•"/>
          </a:pPr>
          <a:r>
            <a:rPr lang="fr-FR" sz="5900" kern="1200" dirty="0"/>
            <a:t>INCREMENTAL</a:t>
          </a:r>
        </a:p>
      </dsp:txBody>
      <dsp:txXfrm rot="-5400000">
        <a:off x="1035772" y="2616789"/>
        <a:ext cx="8972502" cy="86788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18A331-A73A-4E32-AFD1-EAA96BA3D304}">
      <dsp:nvSpPr>
        <dsp:cNvPr id="0" name=""/>
        <dsp:cNvSpPr/>
      </dsp:nvSpPr>
      <dsp:spPr>
        <a:xfrm>
          <a:off x="6017635" y="537746"/>
          <a:ext cx="6170201" cy="6169931"/>
        </a:xfrm>
        <a:prstGeom prst="donut">
          <a:avLst>
            <a:gd name="adj" fmla="val 110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3537B68-E41B-4564-A859-6D6D2AEEC09A}">
      <dsp:nvSpPr>
        <dsp:cNvPr id="0" name=""/>
        <dsp:cNvSpPr/>
      </dsp:nvSpPr>
      <dsp:spPr>
        <a:xfrm>
          <a:off x="988" y="753684"/>
          <a:ext cx="7588750" cy="5737785"/>
        </a:xfrm>
        <a:prstGeom prst="rect">
          <a:avLst/>
        </a:prstGeom>
        <a:blipFill>
          <a:blip xmlns:r="http://schemas.openxmlformats.org/officeDocument/2006/relationships" r:embed="rId1" cstate="print">
            <a:extLst>
              <a:ext uri="{28A0092B-C50C-407E-A947-70E740481C1C}">
                <a14:useLocalDpi xmlns:a14="http://schemas.microsoft.com/office/drawing/2010/main" val="0"/>
              </a:ext>
              <a:ext uri="{837473B0-CC2E-450A-ABE3-18F120FF3D39}">
                <a1611:picAttrSrcUrl xmlns:a1611="http://schemas.microsoft.com/office/drawing/2016/11/main" r:id="rId2"/>
              </a:ext>
            </a:extLst>
          </a:blip>
          <a:srcRect/>
          <a:stretch>
            <a:fillRect t="-16000" b="-16000"/>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C612E34-77DF-4CF8-8FBA-F80155EFD67E}">
      <dsp:nvSpPr>
        <dsp:cNvPr id="0" name=""/>
        <dsp:cNvSpPr/>
      </dsp:nvSpPr>
      <dsp:spPr>
        <a:xfrm>
          <a:off x="6696442" y="1216409"/>
          <a:ext cx="4812586" cy="4812375"/>
        </a:xfrm>
        <a:prstGeom prst="ellips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1511300">
            <a:lnSpc>
              <a:spcPct val="90000"/>
            </a:lnSpc>
            <a:spcBef>
              <a:spcPct val="0"/>
            </a:spcBef>
            <a:spcAft>
              <a:spcPct val="35000"/>
            </a:spcAft>
            <a:buNone/>
          </a:pPr>
          <a:r>
            <a:rPr lang="fr-FR" sz="3400" b="1" i="1" kern="1200" dirty="0">
              <a:solidFill>
                <a:srgbClr val="FFFF00"/>
              </a:solidFill>
              <a:effectLst>
                <a:outerShdw blurRad="38100" dist="38100" dir="2700000" algn="tl">
                  <a:srgbClr val="000000">
                    <a:alpha val="43137"/>
                  </a:srgbClr>
                </a:outerShdw>
              </a:effectLst>
            </a:rPr>
            <a:t>SYSTÈME AUTOMATIQUE DE SAUVEGARDE</a:t>
          </a:r>
        </a:p>
      </dsp:txBody>
      <dsp:txXfrm>
        <a:off x="7401229" y="1921165"/>
        <a:ext cx="3403012" cy="3402863"/>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AlternatingPictureCircles">
  <dgm:title val=""/>
  <dgm:desc val=""/>
  <dgm:catLst>
    <dgm:cat type="picture" pri="17000"/>
    <dgm:cat type="pictureconvert" pri="17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3" destOrd="0"/>
      </dgm:cxnLst>
      <dgm:bg/>
      <dgm:whole/>
    </dgm:dataModel>
  </dgm:clrData>
  <dgm:layoutNode name="Name0">
    <dgm:varLst>
      <dgm:chMax/>
      <dgm:chPref/>
      <dgm:dir/>
    </dgm:varLst>
    <dgm:alg type="lin">
      <dgm:param type="linDir" val="fromT"/>
      <dgm:param type="fallback" val="2D"/>
      <dgm:param type="horzAlign" val="ctr"/>
      <dgm:param type="nodeVertAlign" val="t"/>
    </dgm:alg>
    <dgm:shape xmlns:r="http://schemas.openxmlformats.org/officeDocument/2006/relationships" r:blip="">
      <dgm:adjLst/>
    </dgm:shape>
    <dgm:choose name="Name1">
      <dgm:if name="Name2" axis="ch" ptType="node" func="cnt" op="gte" val="2">
        <dgm:constrLst>
          <dgm:constr type="primFontSz" for="des" ptType="node" op="equ" val="65"/>
          <dgm:constr type="w" for="ch" forName="composite" refType="h" refFor="ch" refForName="composite" fact="2.9499"/>
          <dgm:constr type="h" for="ch" forName="composite" refType="h"/>
          <dgm:constr type="h" for="ch" forName="ConnectorComposite" refType="w" refFor="ch" refForName="composite" op="equ" fact="0.1685"/>
          <dgm:constr type="w" for="ch" forName="ConnectorComposite" refType="h" refFor="ch" refForName="ConnectorComposite" op="equ"/>
        </dgm:constrLst>
      </dgm:if>
      <dgm:else name="Name3">
        <dgm:constrLst>
          <dgm:constr type="primFontSz" for="des" ptType="node" op="equ" val="65"/>
          <dgm:constr type="w" for="ch" forName="composite" refType="h" refFor="ch" refForName="composite" fact="1.9752"/>
          <dgm:constr type="h" for="ch" forName="composite" refType="h"/>
          <dgm:constr type="h" for="ch" forName="ConnectorComposite" refType="w" refFor="ch" refForName="composite" op="equ" fact="0.1685"/>
          <dgm:constr type="w" for="ch" forName="ConnectorComposite" refType="h" refFor="ch" refForName="ConnectorComposite" op="equ"/>
        </dgm:constrLst>
      </dgm:else>
    </dgm:choose>
    <dgm:forEach name="nodesForEach" axis="ch" ptType="node">
      <dgm:layoutNode name="composite">
        <dgm:alg type="composite"/>
        <dgm:shape xmlns:r="http://schemas.openxmlformats.org/officeDocument/2006/relationships" r:blip="">
          <dgm:adjLst/>
        </dgm:shape>
        <dgm:choose name="Name4">
          <dgm:if name="Name5" axis="precedSib" ptType="sibTrans" func="cnt" op="lte" val="0">
            <dgm:choose name="Name6">
              <dgm:if name="Name7" axis="followSib" ptType="sibTrans" func="cnt" op="lte" val="0">
                <dgm:choose name="Name8">
                  <dgm:if name="Name9" func="var" arg="dir" op="equ" val="norm">
                    <dgm:constrLst>
                      <dgm:constr type="l" for="ch" forName="Accent" refType="w" fact="0.4937"/>
                      <dgm:constr type="t" for="ch" forName="Accent" refType="h" fact="0"/>
                      <dgm:constr type="h" for="ch" forName="Accent" refType="w" refFor="ch" refForName="Accent"/>
                      <dgm:constr type="w" for="ch" forName="Accent" refType="w" fact="0.5063"/>
                      <dgm:constr type="l" for="ch" forName="Parent" refType="w" fact="0.5494"/>
                      <dgm:constr type="t" for="ch" forName="Parent" refType="h" fact="0.11"/>
                      <dgm:constr type="h" for="ch" forName="Parent" refType="w" refFor="ch" refForName="Parent"/>
                      <dgm:constr type="w" for="ch" forName="Parent" refType="w" fact="0.3949"/>
                      <dgm:constr type="l" for="ch" forName="Image" refType="w" fact="0"/>
                      <dgm:constr type="t" for="ch" forName="Image" refType="h" fact="0.035"/>
                      <dgm:constr type="h" for="ch" forName="Image" refType="h" fact="0.93"/>
                      <dgm:constr type="w" for="ch" forName="Image" refType="w" fact="0.6227"/>
                    </dgm:constrLst>
                  </dgm:if>
                  <dgm:else name="Name10">
                    <dgm:constrLst>
                      <dgm:constr type="l" for="ch" forName="Accent" refType="w" fact="0"/>
                      <dgm:constr type="t" for="ch" forName="Accent" refType="h" fact="0"/>
                      <dgm:constr type="h" for="ch" forName="Accent" refType="w" refFor="ch" refForName="Accent"/>
                      <dgm:constr type="w" for="ch" forName="Accent" refType="w" fact="0.5063"/>
                      <dgm:constr type="l" for="ch" forName="Parent" refType="w" fact="0.0557"/>
                      <dgm:constr type="t" for="ch" forName="Parent" refType="h" fact="0.11"/>
                      <dgm:constr type="h" for="ch" forName="Parent" refType="w" refFor="ch" refForName="Parent"/>
                      <dgm:constr type="w" for="ch" forName="Parent" refType="w" fact="0.3949"/>
                      <dgm:constr type="l" for="ch" forName="Image" refType="w" fact="0.3773"/>
                      <dgm:constr type="t" for="ch" forName="Image" refType="h" fact="0.035"/>
                      <dgm:constr type="h" for="ch" forName="Image" refType="h" fact="0.93"/>
                      <dgm:constr type="w" for="ch" forName="Image" refType="w" fact="0.6227"/>
                    </dgm:constrLst>
                  </dgm:else>
                </dgm:choose>
              </dgm:if>
              <dgm:else name="Name11">
                <dgm:choose name="Name12">
                  <dgm:if name="Name13" func="var" arg="dir" op="equ" val="norm">
                    <dgm:choose name="Name14">
                      <dgm:if name="Name15" axis="self" ptType="node" func="posOdd" op="equ" val="1">
                        <dgm:constrLst>
                          <dgm:constr type="l" for="ch" forName="Accent" refType="w" fact="0.3305"/>
                          <dgm:constr type="t" for="ch" forName="Accent" refType="w" fact="0"/>
                          <dgm:constr type="h" for="ch" forName="Accent" refType="w" refFor="ch" refForName="Accent"/>
                          <dgm:constr type="w" for="ch" forName="Accent" refType="w" fact="0.339"/>
                          <dgm:constr type="l" for="ch" forName="Parent" refType="w" fact="0.3678"/>
                          <dgm:constr type="t" for="ch" forName="Parent" refType="w" fact="0.0373"/>
                          <dgm:constr type="h" for="ch" forName="Parent" refType="w" refFor="ch" refForName="Parent"/>
                          <dgm:constr type="w" for="ch" forName="Parent" refType="w" fact="0.2644"/>
                          <dgm:constr type="l" for="ch" forName="Image" refType="w" fact="0"/>
                          <dgm:constr type="t" for="ch" forName="Image" refType="h" fact="0.035"/>
                          <dgm:constr type="h" for="ch" forName="Image" refType="h" fact="0.93"/>
                          <dgm:constr type="w" for="ch" forName="Image" refType="w" fact="0.4169"/>
                          <dgm:constr type="r" for="ch" forName="Space" refType="w"/>
                          <dgm:constr type="t" for="ch" forName="Space" refType="h" fact="0"/>
                          <dgm:constr type="h" for="ch" forName="Space" refType="h"/>
                          <dgm:constr type="w" for="ch" forName="Space" refType="w" fact="0.3305"/>
                        </dgm:constrLst>
                      </dgm:if>
                      <dgm:else name="Name16">
                        <dgm:constrLst>
                          <dgm:constr type="l" for="ch" forName="Accent" refType="w" fact="0.3305"/>
                          <dgm:constr type="t" for="ch" forName="Accent" refType="w" fact="0"/>
                          <dgm:constr type="h" for="ch" forName="Accent" refType="w" refFor="ch" refForName="Accent"/>
                          <dgm:constr type="w" for="ch" forName="Accent" refType="w" fact="0.339"/>
                          <dgm:constr type="l" for="ch" forName="Parent" refType="w" fact="0.3678"/>
                          <dgm:constr type="t" for="ch" forName="Parent" refType="w" fact="0.0373"/>
                          <dgm:constr type="h" for="ch" forName="Parent" refType="w" refFor="ch" refForName="Parent"/>
                          <dgm:constr type="w" for="ch" forName="Parent" refType="w" fact="0.2644"/>
                          <dgm:constr type="r" for="ch" forName="Image" refType="w"/>
                          <dgm:constr type="t" for="ch" forName="Image" refType="h" fact="0.035"/>
                          <dgm:constr type="h" for="ch" forName="Image" refType="h" fact="0.93"/>
                          <dgm:constr type="w" for="ch" forName="Image" refType="w" fact="0.4169"/>
                          <dgm:constr type="l" for="ch" forName="Space" refType="w" fact="0"/>
                          <dgm:constr type="t" for="ch" forName="Space" refType="h" fact="0"/>
                          <dgm:constr type="h" for="ch" forName="Space" refType="h"/>
                          <dgm:constr type="w" for="ch" forName="Space" refType="w" fact="0.3305"/>
                        </dgm:constrLst>
                      </dgm:else>
                    </dgm:choose>
                  </dgm:if>
                  <dgm:else name="Name17">
                    <dgm:choose name="Name18">
                      <dgm:if name="Name19" axis="self" ptType="node" func="posOdd" op="equ" val="1">
                        <dgm:constrLst>
                          <dgm:constr type="l" for="ch" forName="Accent" refType="w" fact="0.3305"/>
                          <dgm:constr type="t" for="ch" forName="Accent" refType="w" fact="0"/>
                          <dgm:constr type="h" for="ch" forName="Accent" refType="w" refFor="ch" refForName="Accent"/>
                          <dgm:constr type="w" for="ch" forName="Accent" refType="w" fact="0.339"/>
                          <dgm:constr type="l" for="ch" forName="Parent" refType="w" fact="0.3678"/>
                          <dgm:constr type="t" for="ch" forName="Parent" refType="w" fact="0.0373"/>
                          <dgm:constr type="h" for="ch" forName="Parent" refType="w" refFor="ch" refForName="Parent"/>
                          <dgm:constr type="w" for="ch" forName="Parent" refType="w" fact="0.2644"/>
                          <dgm:constr type="r" for="ch" forName="Image" refType="w"/>
                          <dgm:constr type="t" for="ch" forName="Image" refType="h" fact="0.035"/>
                          <dgm:constr type="h" for="ch" forName="Image" refType="h" fact="0.93"/>
                          <dgm:constr type="w" for="ch" forName="Image" refType="w" fact="0.4169"/>
                          <dgm:constr type="l" for="ch" forName="Space" refType="w" fact="0"/>
                          <dgm:constr type="t" for="ch" forName="Space" refType="h" fact="0"/>
                          <dgm:constr type="h" for="ch" forName="Space" refType="h"/>
                          <dgm:constr type="w" for="ch" forName="Space" refType="w" fact="0.3305"/>
                        </dgm:constrLst>
                      </dgm:if>
                      <dgm:else name="Name20">
                        <dgm:constrLst>
                          <dgm:constr type="l" for="ch" forName="Accent" refType="w" fact="0.3305"/>
                          <dgm:constr type="t" for="ch" forName="Accent" refType="w" fact="0"/>
                          <dgm:constr type="h" for="ch" forName="Accent" refType="w" refFor="ch" refForName="Accent"/>
                          <dgm:constr type="w" for="ch" forName="Accent" refType="w" fact="0.339"/>
                          <dgm:constr type="l" for="ch" forName="Parent" refType="w" fact="0.3678"/>
                          <dgm:constr type="t" for="ch" forName="Parent" refType="w" fact="0.0373"/>
                          <dgm:constr type="h" for="ch" forName="Parent" refType="w" refFor="ch" refForName="Parent"/>
                          <dgm:constr type="w" for="ch" forName="Parent" refType="w" fact="0.2644"/>
                          <dgm:constr type="l" for="ch" forName="Image" refType="w" fact="0"/>
                          <dgm:constr type="t" for="ch" forName="Image" refType="h" fact="0.035"/>
                          <dgm:constr type="h" for="ch" forName="Image" refType="h" fact="0.93"/>
                          <dgm:constr type="w" for="ch" forName="Image" refType="w" fact="0.4169"/>
                          <dgm:constr type="r" for="ch" forName="Space" refType="w"/>
                          <dgm:constr type="t" for="ch" forName="Space" refType="h" fact="0"/>
                          <dgm:constr type="h" for="ch" forName="Space" refType="h"/>
                          <dgm:constr type="w" for="ch" forName="Space" refType="w" fact="0.3305"/>
                        </dgm:constrLst>
                      </dgm:else>
                    </dgm:choose>
                  </dgm:else>
                </dgm:choose>
              </dgm:else>
            </dgm:choose>
          </dgm:if>
          <dgm:else name="Name21">
            <dgm:choose name="Name22">
              <dgm:if name="Name23" func="var" arg="dir" op="equ" val="norm">
                <dgm:choose name="Name24">
                  <dgm:if name="Name25" axis="self" ptType="node" func="posOdd" op="equ" val="1">
                    <dgm:constrLst>
                      <dgm:constr type="l" for="ch" forName="Accent" refType="w" fact="0.3305"/>
                      <dgm:constr type="t" for="ch" forName="Accent" refType="w" fact="0"/>
                      <dgm:constr type="h" for="ch" forName="Accent" refType="w" refFor="ch" refForName="Accent"/>
                      <dgm:constr type="w" for="ch" forName="Accent" refType="w" fact="0.339"/>
                      <dgm:constr type="l" for="ch" forName="Parent" refType="w" fact="0.3678"/>
                      <dgm:constr type="t" for="ch" forName="Parent" refType="w" fact="0.0373"/>
                      <dgm:constr type="h" for="ch" forName="Parent" refType="w" refFor="ch" refForName="Parent"/>
                      <dgm:constr type="w" for="ch" forName="Parent" refType="w" fact="0.2644"/>
                      <dgm:constr type="l" for="ch" forName="Image" refType="w" fact="0"/>
                      <dgm:constr type="t" for="ch" forName="Image" refType="h" fact="0.035"/>
                      <dgm:constr type="h" for="ch" forName="Image" refType="h" fact="0.93"/>
                      <dgm:constr type="w" for="ch" forName="Image" refType="w" fact="0.4169"/>
                      <dgm:constr type="r" for="ch" forName="Space" refType="w"/>
                      <dgm:constr type="t" for="ch" forName="Space" refType="h" fact="0"/>
                      <dgm:constr type="h" for="ch" forName="Space" refType="h"/>
                      <dgm:constr type="w" for="ch" forName="Space" refType="w" fact="0.3305"/>
                    </dgm:constrLst>
                  </dgm:if>
                  <dgm:else name="Name26">
                    <dgm:constrLst>
                      <dgm:constr type="l" for="ch" forName="Accent" refType="w" fact="0.3305"/>
                      <dgm:constr type="t" for="ch" forName="Accent" refType="w" fact="0"/>
                      <dgm:constr type="h" for="ch" forName="Accent" refType="w" refFor="ch" refForName="Accent"/>
                      <dgm:constr type="w" for="ch" forName="Accent" refType="w" fact="0.339"/>
                      <dgm:constr type="l" for="ch" forName="Parent" refType="w" fact="0.3678"/>
                      <dgm:constr type="t" for="ch" forName="Parent" refType="w" fact="0.0373"/>
                      <dgm:constr type="h" for="ch" forName="Parent" refType="w" refFor="ch" refForName="Parent"/>
                      <dgm:constr type="w" for="ch" forName="Parent" refType="w" fact="0.2644"/>
                      <dgm:constr type="r" for="ch" forName="Image" refType="w"/>
                      <dgm:constr type="t" for="ch" forName="Image" refType="h" fact="0.035"/>
                      <dgm:constr type="h" for="ch" forName="Image" refType="h" fact="0.93"/>
                      <dgm:constr type="w" for="ch" forName="Image" refType="w" fact="0.4169"/>
                      <dgm:constr type="l" for="ch" forName="Space" refType="w" fact="0"/>
                      <dgm:constr type="t" for="ch" forName="Space" refType="h" fact="0"/>
                      <dgm:constr type="h" for="ch" forName="Space" refType="h"/>
                      <dgm:constr type="w" for="ch" forName="Space" refType="w" fact="0.3305"/>
                    </dgm:constrLst>
                  </dgm:else>
                </dgm:choose>
              </dgm:if>
              <dgm:else name="Name27">
                <dgm:choose name="Name28">
                  <dgm:if name="Name29" axis="self" ptType="node" func="posOdd" op="equ" val="1">
                    <dgm:constrLst>
                      <dgm:constr type="l" for="ch" forName="Accent" refType="w" fact="0.3305"/>
                      <dgm:constr type="t" for="ch" forName="Accent" refType="w" fact="0"/>
                      <dgm:constr type="h" for="ch" forName="Accent" refType="w" refFor="ch" refForName="Accent"/>
                      <dgm:constr type="w" for="ch" forName="Accent" refType="w" fact="0.339"/>
                      <dgm:constr type="l" for="ch" forName="Parent" refType="w" fact="0.3678"/>
                      <dgm:constr type="t" for="ch" forName="Parent" refType="w" fact="0.0373"/>
                      <dgm:constr type="h" for="ch" forName="Parent" refType="w" refFor="ch" refForName="Parent"/>
                      <dgm:constr type="w" for="ch" forName="Parent" refType="w" fact="0.2644"/>
                      <dgm:constr type="r" for="ch" forName="Image" refType="w"/>
                      <dgm:constr type="t" for="ch" forName="Image" refType="h" fact="0.035"/>
                      <dgm:constr type="h" for="ch" forName="Image" refType="h" fact="0.93"/>
                      <dgm:constr type="w" for="ch" forName="Image" refType="w" fact="0.4169"/>
                      <dgm:constr type="l" for="ch" forName="Space" refType="w" fact="0"/>
                      <dgm:constr type="t" for="ch" forName="Space" refType="h" fact="0"/>
                      <dgm:constr type="h" for="ch" forName="Space" refType="h"/>
                      <dgm:constr type="w" for="ch" forName="Space" refType="w" fact="0.3305"/>
                    </dgm:constrLst>
                  </dgm:if>
                  <dgm:else name="Name30">
                    <dgm:constrLst>
                      <dgm:constr type="l" for="ch" forName="Accent" refType="w" fact="0.3305"/>
                      <dgm:constr type="t" for="ch" forName="Accent" refType="w" fact="0"/>
                      <dgm:constr type="h" for="ch" forName="Accent" refType="w" refFor="ch" refForName="Accent"/>
                      <dgm:constr type="w" for="ch" forName="Accent" refType="w" fact="0.339"/>
                      <dgm:constr type="l" for="ch" forName="Parent" refType="w" fact="0.3678"/>
                      <dgm:constr type="t" for="ch" forName="Parent" refType="w" fact="0.0373"/>
                      <dgm:constr type="h" for="ch" forName="Parent" refType="w" refFor="ch" refForName="Parent"/>
                      <dgm:constr type="w" for="ch" forName="Parent" refType="w" fact="0.2644"/>
                      <dgm:constr type="l" for="ch" forName="Image" refType="w" fact="0"/>
                      <dgm:constr type="t" for="ch" forName="Image" refType="h" fact="0.035"/>
                      <dgm:constr type="h" for="ch" forName="Image" refType="h" fact="0.93"/>
                      <dgm:constr type="w" for="ch" forName="Image" refType="w" fact="0.4169"/>
                      <dgm:constr type="r" for="ch" forName="Space" refType="w"/>
                      <dgm:constr type="t" for="ch" forName="Space" refType="h" fact="0"/>
                      <dgm:constr type="h" for="ch" forName="Space" refType="h"/>
                      <dgm:constr type="w" for="ch" forName="Space" refType="w" fact="0.3305"/>
                    </dgm:constrLst>
                  </dgm:else>
                </dgm:choose>
              </dgm:else>
            </dgm:choose>
          </dgm:else>
        </dgm:choose>
        <dgm:layoutNode name="Accent" styleLbl="alignNode1">
          <dgm:varLst>
            <dgm:chMax val="0"/>
            <dgm:chPref val="0"/>
          </dgm:varLst>
          <dgm:alg type="sp"/>
          <dgm:shape xmlns:r="http://schemas.openxmlformats.org/officeDocument/2006/relationships" type="donut" r:blip="">
            <dgm:adjLst>
              <dgm:adj idx="1" val="0.1101"/>
            </dgm:adjLst>
          </dgm:shape>
          <dgm:presOf/>
        </dgm:layoutNode>
        <dgm:layoutNode name="Image" styleLbl="bgImgPlace1">
          <dgm:varLst>
            <dgm:chMax val="0"/>
            <dgm:chPref val="0"/>
            <dgm:bulletEnabled val="1"/>
          </dgm:varLst>
          <dgm:alg type="sp"/>
          <dgm:shape xmlns:r="http://schemas.openxmlformats.org/officeDocument/2006/relationships" type="rect" r:blip="" blipPhldr="1">
            <dgm:adjLst/>
          </dgm:shape>
          <dgm:presOf/>
        </dgm:layoutNode>
        <dgm:layoutNode name="Parent" styleLbl="fgAccFollowNode1">
          <dgm:varLst>
            <dgm:chMax val="0"/>
            <dgm:chPref val="0"/>
            <dgm:bulletEnabled val="1"/>
          </dgm:varLst>
          <dgm:alg type="tx">
            <dgm:param type="txAnchorVertCh" val="mid"/>
          </dgm:alg>
          <dgm:shape xmlns:r="http://schemas.openxmlformats.org/officeDocument/2006/relationships" type="ellipse"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layoutNode name="Space">
          <dgm:varLst>
            <dgm:chMax val="0"/>
            <dgm:chPref val="0"/>
          </dgm:varLst>
          <dgm:alg type="sp"/>
          <dgm:shape xmlns:r="http://schemas.openxmlformats.org/officeDocument/2006/relationships" r:blip="">
            <dgm:adjLst/>
          </dgm:shape>
          <dgm:presOf/>
        </dgm:layoutNode>
      </dgm:layoutNode>
      <dgm:forEach name="Name31" axis="followSib" ptType="sibTrans" cnt="1">
        <dgm:layoutNode name="ConnectorComposite">
          <dgm:alg type="composite">
            <dgm:param type="ar" val=".4"/>
          </dgm:alg>
          <dgm:shape xmlns:r="http://schemas.openxmlformats.org/officeDocument/2006/relationships" r:blip="">
            <dgm:adjLst/>
          </dgm:shape>
          <dgm:constrLst>
            <dgm:constr type="l" for="ch" forName="TopSpacing" refType="w" fact="0"/>
            <dgm:constr type="t" for="ch" forName="TopSpacing" refType="h" fact="0"/>
            <dgm:constr type="h" for="ch" forName="TopSpacing" refType="h" fact="0.3"/>
            <dgm:constr type="w" for="ch" forName="TopSpacing" refType="w"/>
            <dgm:constr type="l" for="ch" forName="Connector" refType="w" fact="0"/>
            <dgm:constr type="t" for="ch" forName="Connector" refType="h" fact="0.3"/>
            <dgm:constr type="h" for="ch" forName="Connector" refType="h" fact="0.4"/>
            <dgm:constr type="w" for="ch" forName="Connector" refType="h" refFor="ch" refForName="Connector"/>
            <dgm:constr type="l" for="ch" forName="BottomSpacing" refType="w" fact="0"/>
            <dgm:constr type="t" for="ch" forName="BottomSpacing" refType="h" fact="0.7"/>
            <dgm:constr type="h" for="ch" forName="BottomSpacing" refType="h" fact="0.3"/>
            <dgm:constr type="w" for="ch" forName="BottomSpacing" refType="w"/>
          </dgm:constrLst>
          <dgm:layoutNode name="TopSpacing">
            <dgm:alg type="sp"/>
            <dgm:shape xmlns:r="http://schemas.openxmlformats.org/officeDocument/2006/relationships" r:blip="">
              <dgm:adjLst/>
            </dgm:shape>
          </dgm:layoutNode>
          <dgm:layoutNode name="Connector" styleLbl="alignNode1">
            <dgm:alg type="sp"/>
            <dgm:shape xmlns:r="http://schemas.openxmlformats.org/officeDocument/2006/relationships" type="flowChartConnector" r:blip="">
              <dgm:adjLst/>
            </dgm:shape>
            <dgm:presOf/>
          </dgm:layoutNode>
          <dgm:layoutNode name="BottomSpacing">
            <dgm:alg type="sp"/>
            <dgm:shape xmlns:r="http://schemas.openxmlformats.org/officeDocument/2006/relationships" r:blip="">
              <dgm:adjLst/>
            </dgm:shape>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rtl="0">
              <a:defRPr sz="1200"/>
            </a:lvl1pPr>
          </a:lstStyle>
          <a:p>
            <a:pPr rtl="0"/>
            <a:endParaRPr lang="fr-FR" dirty="0"/>
          </a:p>
        </p:txBody>
      </p:sp>
      <p:sp>
        <p:nvSpPr>
          <p:cNvPr id="3" name="Espace réservé de la date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l" rtl="0">
              <a:defRPr sz="1200"/>
            </a:lvl1pPr>
          </a:lstStyle>
          <a:p>
            <a:pPr algn="r" rtl="0"/>
            <a:fld id="{D8AF6929-4F16-43A6-8368-BF93843271D3}" type="datetime1">
              <a:rPr lang="fr-FR" smtClean="0"/>
              <a:t>27/07/2023</a:t>
            </a:fld>
            <a:endParaRPr lang="fr-FR" dirty="0"/>
          </a:p>
        </p:txBody>
      </p:sp>
      <p:sp>
        <p:nvSpPr>
          <p:cNvPr id="4" name="Espace réservé du pied de page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rtl="0">
              <a:defRPr sz="1200"/>
            </a:lvl1pPr>
          </a:lstStyle>
          <a:p>
            <a:pPr rtl="0"/>
            <a:endParaRPr lang="fr-FR" dirty="0"/>
          </a:p>
        </p:txBody>
      </p:sp>
      <p:sp>
        <p:nvSpPr>
          <p:cNvPr id="5" name="Espace réservé du numéro de diapositive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l" rtl="0">
              <a:defRPr sz="1200"/>
            </a:lvl1pPr>
          </a:lstStyle>
          <a:p>
            <a:pPr algn="r" rtl="0"/>
            <a:fld id="{79429053-DC2A-4342-ADD4-2FD729D91E2C}" type="slidenum">
              <a:rPr lang="fr-FR" smtClean="0"/>
              <a:pPr algn="r" rtl="0"/>
              <a:t>‹N°›</a:t>
            </a:fld>
            <a:endParaRPr lang="fr-FR" dirty="0"/>
          </a:p>
        </p:txBody>
      </p:sp>
    </p:spTree>
    <p:extLst>
      <p:ext uri="{BB962C8B-B14F-4D97-AF65-F5344CB8AC3E}">
        <p14:creationId xmlns:p14="http://schemas.microsoft.com/office/powerpoint/2010/main" val="42320457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rtl="0">
              <a:defRPr sz="1200"/>
            </a:lvl1pPr>
          </a:lstStyle>
          <a:p>
            <a:pPr rtl="0"/>
            <a:endParaRPr lang="fr-FR" dirty="0"/>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rtl="0">
              <a:defRPr sz="1200"/>
            </a:lvl1pPr>
          </a:lstStyle>
          <a:p>
            <a:fld id="{4D9CF8A1-AC6C-4B34-A6AF-5306B09514F1}" type="datetime1">
              <a:rPr lang="fr-FR" smtClean="0"/>
              <a:pPr/>
              <a:t>27/07/2023</a:t>
            </a:fld>
            <a:endParaRPr lang="fr-FR" dirty="0"/>
          </a:p>
        </p:txBody>
      </p:sp>
      <p:sp>
        <p:nvSpPr>
          <p:cNvPr id="4" name="Espace réservé d’image de diapositive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rtl="0"/>
            <a:endParaRPr lang="fr-FR" dirty="0"/>
          </a:p>
        </p:txBody>
      </p:sp>
      <p:sp>
        <p:nvSpPr>
          <p:cNvPr id="5" name="Espace réservé des not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rtl="0"/>
            <a:r>
              <a:rPr lang="fr-FR" dirty="0"/>
              <a:t>Modifiez les styles du texte du masque</a:t>
            </a:r>
          </a:p>
          <a:p>
            <a:pPr lvl="1" rtl="0"/>
            <a:r>
              <a:rPr lang="fr-FR" dirty="0"/>
              <a:t>Deuxième niveau</a:t>
            </a:r>
          </a:p>
          <a:p>
            <a:pPr lvl="2" rtl="0"/>
            <a:r>
              <a:rPr lang="fr-FR" dirty="0"/>
              <a:t>Troisième niveau</a:t>
            </a:r>
          </a:p>
          <a:p>
            <a:pPr lvl="3" rtl="0"/>
            <a:r>
              <a:rPr lang="fr-FR" dirty="0"/>
              <a:t>Quatrième niveau</a:t>
            </a:r>
          </a:p>
          <a:p>
            <a:pPr lvl="4" rtl="0"/>
            <a:r>
              <a:rPr lang="fr-FR" dirty="0"/>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rtl="0">
              <a:defRPr sz="1200"/>
            </a:lvl1pPr>
          </a:lstStyle>
          <a:p>
            <a:pPr rtl="0"/>
            <a:endParaRPr lang="fr-FR" dirty="0"/>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l" rtl="0">
              <a:defRPr sz="1200"/>
            </a:lvl1pPr>
          </a:lstStyle>
          <a:p>
            <a:pPr algn="r"/>
            <a:fld id="{3EBA5BD7-F043-4D1B-AA17-CD412FC534DE}" type="slidenum">
              <a:rPr lang="fr-FR" smtClean="0"/>
              <a:pPr algn="r"/>
              <a:t>‹N°›</a:t>
            </a:fld>
            <a:endParaRPr lang="fr-FR" dirty="0"/>
          </a:p>
        </p:txBody>
      </p:sp>
    </p:spTree>
    <p:extLst>
      <p:ext uri="{BB962C8B-B14F-4D97-AF65-F5344CB8AC3E}">
        <p14:creationId xmlns:p14="http://schemas.microsoft.com/office/powerpoint/2010/main" val="27670578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lgn="r"/>
            <a:fld id="{3EBA5BD7-F043-4D1B-AA17-CD412FC534DE}" type="slidenum">
              <a:rPr lang="fr-FR" smtClean="0"/>
              <a:pPr algn="r"/>
              <a:t>1</a:t>
            </a:fld>
            <a:endParaRPr lang="fr-FR" dirty="0"/>
          </a:p>
        </p:txBody>
      </p:sp>
    </p:spTree>
    <p:extLst>
      <p:ext uri="{BB962C8B-B14F-4D97-AF65-F5344CB8AC3E}">
        <p14:creationId xmlns:p14="http://schemas.microsoft.com/office/powerpoint/2010/main" val="31628626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lgn="r"/>
            <a:fld id="{3EBA5BD7-F043-4D1B-AA17-CD412FC534DE}" type="slidenum">
              <a:rPr lang="fr-FR" smtClean="0"/>
              <a:pPr algn="r"/>
              <a:t>2</a:t>
            </a:fld>
            <a:endParaRPr lang="fr-FR" dirty="0"/>
          </a:p>
        </p:txBody>
      </p:sp>
    </p:spTree>
    <p:extLst>
      <p:ext uri="{BB962C8B-B14F-4D97-AF65-F5344CB8AC3E}">
        <p14:creationId xmlns:p14="http://schemas.microsoft.com/office/powerpoint/2010/main" val="34275752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lgn="r"/>
            <a:fld id="{3EBA5BD7-F043-4D1B-AA17-CD412FC534DE}" type="slidenum">
              <a:rPr lang="fr-FR" smtClean="0"/>
              <a:pPr algn="r"/>
              <a:t>3</a:t>
            </a:fld>
            <a:endParaRPr lang="fr-FR" dirty="0"/>
          </a:p>
        </p:txBody>
      </p:sp>
    </p:spTree>
    <p:extLst>
      <p:ext uri="{BB962C8B-B14F-4D97-AF65-F5344CB8AC3E}">
        <p14:creationId xmlns:p14="http://schemas.microsoft.com/office/powerpoint/2010/main" val="34939740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lgn="r"/>
            <a:fld id="{3EBA5BD7-F043-4D1B-AA17-CD412FC534DE}" type="slidenum">
              <a:rPr lang="fr-FR" smtClean="0"/>
              <a:pPr algn="r"/>
              <a:t>4</a:t>
            </a:fld>
            <a:endParaRPr lang="fr-FR" dirty="0"/>
          </a:p>
        </p:txBody>
      </p:sp>
    </p:spTree>
    <p:extLst>
      <p:ext uri="{BB962C8B-B14F-4D97-AF65-F5344CB8AC3E}">
        <p14:creationId xmlns:p14="http://schemas.microsoft.com/office/powerpoint/2010/main" val="34184114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lgn="r"/>
            <a:fld id="{3EBA5BD7-F043-4D1B-AA17-CD412FC534DE}" type="slidenum">
              <a:rPr lang="fr-FR" smtClean="0"/>
              <a:pPr algn="r"/>
              <a:t>7</a:t>
            </a:fld>
            <a:endParaRPr lang="fr-FR" dirty="0"/>
          </a:p>
        </p:txBody>
      </p:sp>
    </p:spTree>
    <p:extLst>
      <p:ext uri="{BB962C8B-B14F-4D97-AF65-F5344CB8AC3E}">
        <p14:creationId xmlns:p14="http://schemas.microsoft.com/office/powerpoint/2010/main" val="37704270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lgn="r"/>
            <a:fld id="{3EBA5BD7-F043-4D1B-AA17-CD412FC534DE}" type="slidenum">
              <a:rPr lang="fr-FR" smtClean="0"/>
              <a:pPr algn="r"/>
              <a:t>8</a:t>
            </a:fld>
            <a:endParaRPr lang="fr-FR" dirty="0"/>
          </a:p>
        </p:txBody>
      </p:sp>
    </p:spTree>
    <p:extLst>
      <p:ext uri="{BB962C8B-B14F-4D97-AF65-F5344CB8AC3E}">
        <p14:creationId xmlns:p14="http://schemas.microsoft.com/office/powerpoint/2010/main" val="32416034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lgn="r"/>
            <a:fld id="{3EBA5BD7-F043-4D1B-AA17-CD412FC534DE}" type="slidenum">
              <a:rPr lang="fr-FR" smtClean="0"/>
              <a:pPr algn="r"/>
              <a:t>9</a:t>
            </a:fld>
            <a:endParaRPr lang="fr-FR" dirty="0"/>
          </a:p>
        </p:txBody>
      </p:sp>
    </p:spTree>
    <p:extLst>
      <p:ext uri="{BB962C8B-B14F-4D97-AF65-F5344CB8AC3E}">
        <p14:creationId xmlns:p14="http://schemas.microsoft.com/office/powerpoint/2010/main" val="22534448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lgn="r"/>
            <a:fld id="{3EBA5BD7-F043-4D1B-AA17-CD412FC534DE}" type="slidenum">
              <a:rPr lang="fr-FR" smtClean="0"/>
              <a:pPr algn="r"/>
              <a:t>10</a:t>
            </a:fld>
            <a:endParaRPr lang="fr-FR" dirty="0"/>
          </a:p>
        </p:txBody>
      </p:sp>
    </p:spTree>
    <p:extLst>
      <p:ext uri="{BB962C8B-B14F-4D97-AF65-F5344CB8AC3E}">
        <p14:creationId xmlns:p14="http://schemas.microsoft.com/office/powerpoint/2010/main" val="37062770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lgn="r"/>
            <a:fld id="{3EBA5BD7-F043-4D1B-AA17-CD412FC534DE}" type="slidenum">
              <a:rPr lang="fr-FR" smtClean="0"/>
              <a:pPr algn="r"/>
              <a:t>11</a:t>
            </a:fld>
            <a:endParaRPr lang="fr-FR" dirty="0"/>
          </a:p>
        </p:txBody>
      </p:sp>
    </p:spTree>
    <p:extLst>
      <p:ext uri="{BB962C8B-B14F-4D97-AF65-F5344CB8AC3E}">
        <p14:creationId xmlns:p14="http://schemas.microsoft.com/office/powerpoint/2010/main" val="25383834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lgn="r"/>
            <a:fld id="{3EBA5BD7-F043-4D1B-AA17-CD412FC534DE}" type="slidenum">
              <a:rPr lang="fr-FR" smtClean="0"/>
              <a:pPr algn="r"/>
              <a:t>12</a:t>
            </a:fld>
            <a:endParaRPr lang="fr-FR" dirty="0"/>
          </a:p>
        </p:txBody>
      </p:sp>
    </p:spTree>
    <p:extLst>
      <p:ext uri="{BB962C8B-B14F-4D97-AF65-F5344CB8AC3E}">
        <p14:creationId xmlns:p14="http://schemas.microsoft.com/office/powerpoint/2010/main" val="32020509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lgn="r"/>
            <a:fld id="{3EBA5BD7-F043-4D1B-AA17-CD412FC534DE}" type="slidenum">
              <a:rPr lang="fr-FR" smtClean="0"/>
              <a:pPr algn="r"/>
              <a:t>13</a:t>
            </a:fld>
            <a:endParaRPr lang="fr-FR" dirty="0"/>
          </a:p>
        </p:txBody>
      </p:sp>
    </p:spTree>
    <p:extLst>
      <p:ext uri="{BB962C8B-B14F-4D97-AF65-F5344CB8AC3E}">
        <p14:creationId xmlns:p14="http://schemas.microsoft.com/office/powerpoint/2010/main" val="3088067293"/>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7" name="Rectangle 6"/>
          <p:cNvSpPr/>
          <p:nvPr/>
        </p:nvSpPr>
        <p:spPr>
          <a:xfrm>
            <a:off x="920594" y="1346947"/>
            <a:ext cx="10220330"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594" y="4299697"/>
            <a:ext cx="10220330"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594" y="1484779"/>
            <a:ext cx="10220330"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6702" y="4068923"/>
            <a:ext cx="1080623"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286" y="1432223"/>
            <a:ext cx="9964364" cy="3035808"/>
          </a:xfrm>
        </p:spPr>
        <p:txBody>
          <a:bodyPr anchor="ctr">
            <a:noAutofit/>
          </a:bodyPr>
          <a:lstStyle>
            <a:lvl1pPr algn="l">
              <a:lnSpc>
                <a:spcPct val="80000"/>
              </a:lnSpc>
              <a:defRPr sz="9597" cap="all" baseline="0">
                <a:blipFill dpi="0" rotWithShape="1">
                  <a:blip r:embed="rId4"/>
                  <a:srcRect/>
                  <a:tile tx="6350" ty="-127000" sx="65000" sy="64000" flip="none" algn="tl"/>
                </a:blipFill>
              </a:defRPr>
            </a:lvl1pPr>
          </a:lstStyle>
          <a:p>
            <a:r>
              <a:rPr lang="fr-FR"/>
              <a:t>Modifiez le style du titre</a:t>
            </a:r>
            <a:endParaRPr lang="en-US" dirty="0"/>
          </a:p>
        </p:txBody>
      </p:sp>
      <p:sp>
        <p:nvSpPr>
          <p:cNvPr id="3" name="Subtitle 2"/>
          <p:cNvSpPr>
            <a:spLocks noGrp="1"/>
          </p:cNvSpPr>
          <p:nvPr>
            <p:ph type="subTitle" idx="1"/>
          </p:nvPr>
        </p:nvSpPr>
        <p:spPr>
          <a:xfrm>
            <a:off x="1069569" y="4389120"/>
            <a:ext cx="7889217" cy="1069848"/>
          </a:xfrm>
        </p:spPr>
        <p:txBody>
          <a:bodyPr>
            <a:normAutofit/>
          </a:bodyPr>
          <a:lstStyle>
            <a:lvl1pPr marL="0" indent="0" algn="l">
              <a:buNone/>
              <a:defRPr sz="2199">
                <a:solidFill>
                  <a:schemeClr val="tx1"/>
                </a:solidFill>
              </a:defRPr>
            </a:lvl1pPr>
            <a:lvl2pPr marL="457063" indent="0" algn="ctr">
              <a:buNone/>
              <a:defRPr sz="2199"/>
            </a:lvl2pPr>
            <a:lvl3pPr marL="914126" indent="0" algn="ctr">
              <a:buNone/>
              <a:defRPr sz="2199"/>
            </a:lvl3pPr>
            <a:lvl4pPr marL="1371189" indent="0" algn="ctr">
              <a:buNone/>
              <a:defRPr sz="1999"/>
            </a:lvl4pPr>
            <a:lvl5pPr marL="1828251" indent="0" algn="ctr">
              <a:buNone/>
              <a:defRPr sz="1999"/>
            </a:lvl5pPr>
            <a:lvl6pPr marL="2285314" indent="0" algn="ctr">
              <a:buNone/>
              <a:defRPr sz="1999"/>
            </a:lvl6pPr>
            <a:lvl7pPr marL="2742377" indent="0" algn="ctr">
              <a:buNone/>
              <a:defRPr sz="1999"/>
            </a:lvl7pPr>
            <a:lvl8pPr marL="3199440" indent="0" algn="ctr">
              <a:buNone/>
              <a:defRPr sz="1999"/>
            </a:lvl8pPr>
            <a:lvl9pPr marL="3656503" indent="0" algn="ctr">
              <a:buNone/>
              <a:defRPr sz="1999"/>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3E36D263-5C89-4D5D-8B05-0120FB33B4BA}" type="datetime1">
              <a:rPr lang="fr-FR" smtClean="0"/>
              <a:pPr/>
              <a:t>27/07/2023</a:t>
            </a:fld>
            <a:endParaRPr lang="fr-FR" dirty="0"/>
          </a:p>
        </p:txBody>
      </p:sp>
      <p:sp>
        <p:nvSpPr>
          <p:cNvPr id="5" name="Footer Placeholder 4"/>
          <p:cNvSpPr>
            <a:spLocks noGrp="1"/>
          </p:cNvSpPr>
          <p:nvPr>
            <p:ph type="ftr" sz="quarter" idx="11"/>
          </p:nvPr>
        </p:nvSpPr>
        <p:spPr/>
        <p:txBody>
          <a:bodyPr/>
          <a:lstStyle/>
          <a:p>
            <a:pPr rtl="0"/>
            <a:endParaRPr lang="fr-FR" dirty="0"/>
          </a:p>
        </p:txBody>
      </p:sp>
      <p:sp>
        <p:nvSpPr>
          <p:cNvPr id="6" name="Slide Number Placeholder 5"/>
          <p:cNvSpPr>
            <a:spLocks noGrp="1"/>
          </p:cNvSpPr>
          <p:nvPr>
            <p:ph type="sldNum" sz="quarter" idx="12"/>
          </p:nvPr>
        </p:nvSpPr>
        <p:spPr>
          <a:xfrm>
            <a:off x="9590235" y="4289334"/>
            <a:ext cx="1193557" cy="640080"/>
          </a:xfrm>
        </p:spPr>
        <p:txBody>
          <a:bodyPr/>
          <a:lstStyle>
            <a:lvl1pPr>
              <a:defRPr sz="2799"/>
            </a:lvl1pPr>
          </a:lstStyle>
          <a:p>
            <a:pPr algn="r"/>
            <a:fld id="{C014DD1E-5D91-48A3-AD6D-45FBA980D106}" type="slidenum">
              <a:rPr lang="fr-FR" smtClean="0"/>
              <a:pPr algn="r"/>
              <a:t>‹N°›</a:t>
            </a:fld>
            <a:endParaRPr lang="fr-FR" dirty="0"/>
          </a:p>
        </p:txBody>
      </p:sp>
    </p:spTree>
    <p:extLst>
      <p:ext uri="{BB962C8B-B14F-4D97-AF65-F5344CB8AC3E}">
        <p14:creationId xmlns:p14="http://schemas.microsoft.com/office/powerpoint/2010/main" val="3368191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2899D0D-1C7F-4044-B286-354B51780DED}" type="datetime1">
              <a:rPr lang="fr-FR" smtClean="0"/>
              <a:pPr/>
              <a:t>27/07/2023</a:t>
            </a:fld>
            <a:endParaRPr lang="fr-FR" dirty="0"/>
          </a:p>
        </p:txBody>
      </p:sp>
      <p:sp>
        <p:nvSpPr>
          <p:cNvPr id="5" name="Footer Placeholder 4"/>
          <p:cNvSpPr>
            <a:spLocks noGrp="1"/>
          </p:cNvSpPr>
          <p:nvPr>
            <p:ph type="ftr" sz="quarter" idx="11"/>
          </p:nvPr>
        </p:nvSpPr>
        <p:spPr/>
        <p:txBody>
          <a:bodyPr/>
          <a:lstStyle/>
          <a:p>
            <a:pPr rtl="0"/>
            <a:endParaRPr lang="fr-FR" dirty="0"/>
          </a:p>
        </p:txBody>
      </p:sp>
      <p:sp>
        <p:nvSpPr>
          <p:cNvPr id="6" name="Slide Number Placeholder 5"/>
          <p:cNvSpPr>
            <a:spLocks noGrp="1"/>
          </p:cNvSpPr>
          <p:nvPr>
            <p:ph type="sldNum" sz="quarter" idx="12"/>
          </p:nvPr>
        </p:nvSpPr>
        <p:spPr/>
        <p:txBody>
          <a:bodyPr/>
          <a:lstStyle/>
          <a:p>
            <a:pPr algn="r"/>
            <a:fld id="{C014DD1E-5D91-48A3-AD6D-45FBA980D106}" type="slidenum">
              <a:rPr lang="fr-FR" smtClean="0"/>
              <a:pPr algn="r"/>
              <a:t>‹N°›</a:t>
            </a:fld>
            <a:endParaRPr lang="fr-FR" dirty="0"/>
          </a:p>
        </p:txBody>
      </p:sp>
    </p:spTree>
    <p:extLst>
      <p:ext uri="{BB962C8B-B14F-4D97-AF65-F5344CB8AC3E}">
        <p14:creationId xmlns:p14="http://schemas.microsoft.com/office/powerpoint/2010/main" val="319035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7" name="Rectangle 6"/>
          <p:cNvSpPr/>
          <p:nvPr/>
        </p:nvSpPr>
        <p:spPr>
          <a:xfrm>
            <a:off x="0" y="4917989"/>
            <a:ext cx="12188825"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6564" y="1225296"/>
            <a:ext cx="9278743" cy="3520440"/>
          </a:xfrm>
        </p:spPr>
        <p:txBody>
          <a:bodyPr anchor="ctr">
            <a:normAutofit/>
          </a:bodyPr>
          <a:lstStyle>
            <a:lvl1pPr>
              <a:lnSpc>
                <a:spcPct val="80000"/>
              </a:lnSpc>
              <a:defRPr sz="7998" b="0"/>
            </a:lvl1pPr>
          </a:lstStyle>
          <a:p>
            <a:r>
              <a:rPr lang="fr-FR"/>
              <a:t>Modifiez le style du titre</a:t>
            </a:r>
            <a:endParaRPr lang="en-US" dirty="0"/>
          </a:p>
        </p:txBody>
      </p:sp>
      <p:sp>
        <p:nvSpPr>
          <p:cNvPr id="3" name="Text Placeholder 2"/>
          <p:cNvSpPr>
            <a:spLocks noGrp="1"/>
          </p:cNvSpPr>
          <p:nvPr>
            <p:ph type="body" idx="1"/>
          </p:nvPr>
        </p:nvSpPr>
        <p:spPr>
          <a:xfrm>
            <a:off x="2165210" y="5020056"/>
            <a:ext cx="9050203" cy="1066800"/>
          </a:xfrm>
        </p:spPr>
        <p:txBody>
          <a:bodyPr anchor="t">
            <a:normAutofit/>
          </a:bodyPr>
          <a:lstStyle>
            <a:lvl1pPr marL="0" indent="0">
              <a:buNone/>
              <a:defRPr sz="19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a:xfrm>
            <a:off x="8591430" y="6272785"/>
            <a:ext cx="2643620" cy="365125"/>
          </a:xfrm>
        </p:spPr>
        <p:txBody>
          <a:bodyPr/>
          <a:lstStyle/>
          <a:p>
            <a:fld id="{64A97F8E-A89E-4ECD-B8CE-87968877804C}" type="datetime1">
              <a:rPr lang="fr-FR" smtClean="0"/>
              <a:pPr/>
              <a:t>27/07/2023</a:t>
            </a:fld>
            <a:endParaRPr lang="fr-FR" dirty="0"/>
          </a:p>
        </p:txBody>
      </p:sp>
      <p:sp>
        <p:nvSpPr>
          <p:cNvPr id="5" name="Footer Placeholder 4"/>
          <p:cNvSpPr>
            <a:spLocks noGrp="1"/>
          </p:cNvSpPr>
          <p:nvPr>
            <p:ph type="ftr" sz="quarter" idx="11"/>
          </p:nvPr>
        </p:nvSpPr>
        <p:spPr>
          <a:xfrm>
            <a:off x="2182140" y="6272785"/>
            <a:ext cx="6326000" cy="365125"/>
          </a:xfrm>
        </p:spPr>
        <p:txBody>
          <a:bodyPr/>
          <a:lstStyle/>
          <a:p>
            <a:pPr rtl="0"/>
            <a:endParaRPr lang="fr-FR" dirty="0"/>
          </a:p>
        </p:txBody>
      </p:sp>
      <p:grpSp>
        <p:nvGrpSpPr>
          <p:cNvPr id="8" name="Group 7"/>
          <p:cNvGrpSpPr/>
          <p:nvPr/>
        </p:nvGrpSpPr>
        <p:grpSpPr>
          <a:xfrm>
            <a:off x="897165" y="2325848"/>
            <a:ext cx="1080623"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482" y="2506133"/>
            <a:ext cx="1187989" cy="720332"/>
          </a:xfrm>
        </p:spPr>
        <p:txBody>
          <a:bodyPr/>
          <a:lstStyle>
            <a:lvl1pPr>
              <a:defRPr sz="2799"/>
            </a:lvl1pPr>
          </a:lstStyle>
          <a:p>
            <a:pPr algn="r"/>
            <a:fld id="{C014DD1E-5D91-48A3-AD6D-45FBA980D106}" type="slidenum">
              <a:rPr lang="fr-FR" smtClean="0"/>
              <a:pPr algn="r"/>
              <a:t>‹N°›</a:t>
            </a:fld>
            <a:endParaRPr lang="fr-FR" dirty="0"/>
          </a:p>
        </p:txBody>
      </p:sp>
    </p:spTree>
    <p:extLst>
      <p:ext uri="{BB962C8B-B14F-4D97-AF65-F5344CB8AC3E}">
        <p14:creationId xmlns:p14="http://schemas.microsoft.com/office/powerpoint/2010/main" val="42370099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069569" y="2194560"/>
            <a:ext cx="4753642" cy="3977640"/>
          </a:xfrm>
        </p:spPr>
        <p:txBody>
          <a:bodyPr/>
          <a:lstStyle>
            <a:lvl1pPr>
              <a:defRPr sz="1999"/>
            </a:lvl1pPr>
            <a:lvl2pPr>
              <a:defRPr sz="1799"/>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362567" y="2194560"/>
            <a:ext cx="4753642" cy="3977640"/>
          </a:xfrm>
        </p:spPr>
        <p:txBody>
          <a:bodyPr/>
          <a:lstStyle>
            <a:lvl1pPr>
              <a:defRPr sz="1999"/>
            </a:lvl1pPr>
            <a:lvl2pPr>
              <a:defRPr sz="1799"/>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6B22FCC3-3DC7-4160-A3CE-82200479EFA7}" type="datetime1">
              <a:rPr lang="fr-FR" smtClean="0"/>
              <a:pPr/>
              <a:t>27/07/2023</a:t>
            </a:fld>
            <a:endParaRPr lang="fr-FR" dirty="0"/>
          </a:p>
        </p:txBody>
      </p:sp>
      <p:sp>
        <p:nvSpPr>
          <p:cNvPr id="6" name="Footer Placeholder 5"/>
          <p:cNvSpPr>
            <a:spLocks noGrp="1"/>
          </p:cNvSpPr>
          <p:nvPr>
            <p:ph type="ftr" sz="quarter" idx="11"/>
          </p:nvPr>
        </p:nvSpPr>
        <p:spPr/>
        <p:txBody>
          <a:bodyPr/>
          <a:lstStyle/>
          <a:p>
            <a:pPr rtl="0"/>
            <a:endParaRPr lang="fr-FR" dirty="0"/>
          </a:p>
        </p:txBody>
      </p:sp>
      <p:sp>
        <p:nvSpPr>
          <p:cNvPr id="7" name="Slide Number Placeholder 6"/>
          <p:cNvSpPr>
            <a:spLocks noGrp="1"/>
          </p:cNvSpPr>
          <p:nvPr>
            <p:ph type="sldNum" sz="quarter" idx="12"/>
          </p:nvPr>
        </p:nvSpPr>
        <p:spPr/>
        <p:txBody>
          <a:bodyPr/>
          <a:lstStyle/>
          <a:p>
            <a:pPr algn="r"/>
            <a:fld id="{C014DD1E-5D91-48A3-AD6D-45FBA980D106}" type="slidenum">
              <a:rPr lang="fr-FR" smtClean="0"/>
              <a:pPr algn="r"/>
              <a:t>‹N°›</a:t>
            </a:fld>
            <a:endParaRPr lang="fr-FR" dirty="0"/>
          </a:p>
        </p:txBody>
      </p:sp>
    </p:spTree>
    <p:extLst>
      <p:ext uri="{BB962C8B-B14F-4D97-AF65-F5344CB8AC3E}">
        <p14:creationId xmlns:p14="http://schemas.microsoft.com/office/powerpoint/2010/main" val="3522730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a:t>Modifiez le style du titre</a:t>
            </a:r>
            <a:endParaRPr lang="en-US" dirty="0"/>
          </a:p>
        </p:txBody>
      </p:sp>
      <p:sp>
        <p:nvSpPr>
          <p:cNvPr id="3" name="Text Placeholder 2"/>
          <p:cNvSpPr>
            <a:spLocks noGrp="1"/>
          </p:cNvSpPr>
          <p:nvPr>
            <p:ph type="body" idx="1"/>
          </p:nvPr>
        </p:nvSpPr>
        <p:spPr>
          <a:xfrm>
            <a:off x="1066522" y="2048256"/>
            <a:ext cx="4753642" cy="640080"/>
          </a:xfrm>
        </p:spPr>
        <p:txBody>
          <a:bodyPr anchor="ctr">
            <a:normAutofit/>
          </a:bodyPr>
          <a:lstStyle>
            <a:lvl1pPr marL="0" indent="0">
              <a:buNone/>
              <a:defRPr sz="1999" b="1">
                <a:solidFill>
                  <a:schemeClr val="accent1">
                    <a:lumMod val="75000"/>
                  </a:schemeClr>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069569" y="2743200"/>
            <a:ext cx="4753642" cy="3291840"/>
          </a:xfrm>
        </p:spPr>
        <p:txBody>
          <a:bodyPr/>
          <a:lstStyle>
            <a:lvl1pPr>
              <a:defRPr sz="1999"/>
            </a:lvl1pPr>
            <a:lvl2pPr>
              <a:defRPr sz="1799"/>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362567" y="2048256"/>
            <a:ext cx="4753642" cy="640080"/>
          </a:xfrm>
        </p:spPr>
        <p:txBody>
          <a:bodyPr anchor="ctr">
            <a:normAutofit/>
          </a:bodyPr>
          <a:lstStyle>
            <a:lvl1pPr marL="0" indent="0">
              <a:buNone/>
              <a:defRPr sz="1999" b="1">
                <a:solidFill>
                  <a:schemeClr val="accent1">
                    <a:lumMod val="75000"/>
                  </a:schemeClr>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362567" y="2743200"/>
            <a:ext cx="4753642" cy="3291840"/>
          </a:xfrm>
        </p:spPr>
        <p:txBody>
          <a:bodyPr/>
          <a:lstStyle>
            <a:lvl1pPr>
              <a:defRPr sz="1999"/>
            </a:lvl1pPr>
            <a:lvl2pPr>
              <a:defRPr sz="1799"/>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17AB33AB-93D8-496F-A7A3-D08F359C34C7}" type="datetime1">
              <a:rPr lang="fr-FR" smtClean="0"/>
              <a:pPr/>
              <a:t>27/07/2023</a:t>
            </a:fld>
            <a:endParaRPr lang="fr-FR" dirty="0"/>
          </a:p>
        </p:txBody>
      </p:sp>
      <p:sp>
        <p:nvSpPr>
          <p:cNvPr id="8" name="Footer Placeholder 7"/>
          <p:cNvSpPr>
            <a:spLocks noGrp="1"/>
          </p:cNvSpPr>
          <p:nvPr>
            <p:ph type="ftr" sz="quarter" idx="11"/>
          </p:nvPr>
        </p:nvSpPr>
        <p:spPr/>
        <p:txBody>
          <a:bodyPr/>
          <a:lstStyle/>
          <a:p>
            <a:pPr rtl="0"/>
            <a:endParaRPr lang="fr-FR" dirty="0"/>
          </a:p>
        </p:txBody>
      </p:sp>
      <p:sp>
        <p:nvSpPr>
          <p:cNvPr id="9" name="Slide Number Placeholder 8"/>
          <p:cNvSpPr>
            <a:spLocks noGrp="1"/>
          </p:cNvSpPr>
          <p:nvPr>
            <p:ph type="sldNum" sz="quarter" idx="12"/>
          </p:nvPr>
        </p:nvSpPr>
        <p:spPr/>
        <p:txBody>
          <a:bodyPr/>
          <a:lstStyle/>
          <a:p>
            <a:pPr algn="r"/>
            <a:fld id="{C014DD1E-5D91-48A3-AD6D-45FBA980D106}" type="slidenum">
              <a:rPr lang="fr-FR" smtClean="0"/>
              <a:pPr algn="r"/>
              <a:t>‹N°›</a:t>
            </a:fld>
            <a:endParaRPr lang="fr-FR" dirty="0"/>
          </a:p>
        </p:txBody>
      </p:sp>
    </p:spTree>
    <p:extLst>
      <p:ext uri="{BB962C8B-B14F-4D97-AF65-F5344CB8AC3E}">
        <p14:creationId xmlns:p14="http://schemas.microsoft.com/office/powerpoint/2010/main" val="3323900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64A97F8E-A89E-4ECD-B8CE-87968877804C}" type="datetime1">
              <a:rPr lang="fr-FR" smtClean="0"/>
              <a:pPr/>
              <a:t>27/07/2023</a:t>
            </a:fld>
            <a:endParaRPr lang="fr-FR" dirty="0"/>
          </a:p>
        </p:txBody>
      </p:sp>
      <p:sp>
        <p:nvSpPr>
          <p:cNvPr id="4" name="Footer Placeholder 3"/>
          <p:cNvSpPr>
            <a:spLocks noGrp="1"/>
          </p:cNvSpPr>
          <p:nvPr>
            <p:ph type="ftr" sz="quarter" idx="11"/>
          </p:nvPr>
        </p:nvSpPr>
        <p:spPr/>
        <p:txBody>
          <a:bodyPr/>
          <a:lstStyle/>
          <a:p>
            <a:pPr rtl="0"/>
            <a:endParaRPr lang="fr-FR" dirty="0"/>
          </a:p>
        </p:txBody>
      </p:sp>
      <p:sp>
        <p:nvSpPr>
          <p:cNvPr id="5" name="Slide Number Placeholder 4"/>
          <p:cNvSpPr>
            <a:spLocks noGrp="1"/>
          </p:cNvSpPr>
          <p:nvPr>
            <p:ph type="sldNum" sz="quarter" idx="12"/>
          </p:nvPr>
        </p:nvSpPr>
        <p:spPr/>
        <p:txBody>
          <a:bodyPr/>
          <a:lstStyle/>
          <a:p>
            <a:pPr algn="r"/>
            <a:fld id="{C014DD1E-5D91-48A3-AD6D-45FBA980D106}" type="slidenum">
              <a:rPr lang="fr-FR" smtClean="0"/>
              <a:pPr algn="r"/>
              <a:t>‹N°›</a:t>
            </a:fld>
            <a:endParaRPr lang="fr-FR" dirty="0"/>
          </a:p>
        </p:txBody>
      </p:sp>
    </p:spTree>
    <p:extLst>
      <p:ext uri="{BB962C8B-B14F-4D97-AF65-F5344CB8AC3E}">
        <p14:creationId xmlns:p14="http://schemas.microsoft.com/office/powerpoint/2010/main" val="14442744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B7253B-1B29-4A13-B3F4-5ABF9F84795C}" type="datetime1">
              <a:rPr lang="fr-FR" smtClean="0"/>
              <a:pPr/>
              <a:t>27/07/2023</a:t>
            </a:fld>
            <a:endParaRPr lang="fr-FR" dirty="0"/>
          </a:p>
        </p:txBody>
      </p:sp>
      <p:sp>
        <p:nvSpPr>
          <p:cNvPr id="3" name="Footer Placeholder 2"/>
          <p:cNvSpPr>
            <a:spLocks noGrp="1"/>
          </p:cNvSpPr>
          <p:nvPr>
            <p:ph type="ftr" sz="quarter" idx="11"/>
          </p:nvPr>
        </p:nvSpPr>
        <p:spPr/>
        <p:txBody>
          <a:bodyPr/>
          <a:lstStyle/>
          <a:p>
            <a:pPr rtl="0"/>
            <a:endParaRPr lang="fr-FR" dirty="0"/>
          </a:p>
        </p:txBody>
      </p:sp>
      <p:sp>
        <p:nvSpPr>
          <p:cNvPr id="4" name="Slide Number Placeholder 3"/>
          <p:cNvSpPr>
            <a:spLocks noGrp="1"/>
          </p:cNvSpPr>
          <p:nvPr>
            <p:ph type="sldNum" sz="quarter" idx="12"/>
          </p:nvPr>
        </p:nvSpPr>
        <p:spPr/>
        <p:txBody>
          <a:bodyPr/>
          <a:lstStyle/>
          <a:p>
            <a:pPr algn="r"/>
            <a:fld id="{C014DD1E-5D91-48A3-AD6D-45FBA980D106}" type="slidenum">
              <a:rPr lang="fr-FR" smtClean="0"/>
              <a:pPr algn="r"/>
              <a:t>‹N°›</a:t>
            </a:fld>
            <a:endParaRPr lang="fr-FR" dirty="0"/>
          </a:p>
        </p:txBody>
      </p:sp>
    </p:spTree>
    <p:extLst>
      <p:ext uri="{BB962C8B-B14F-4D97-AF65-F5344CB8AC3E}">
        <p14:creationId xmlns:p14="http://schemas.microsoft.com/office/powerpoint/2010/main" val="28638161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8" name="Rectangle 7"/>
          <p:cNvSpPr/>
          <p:nvPr/>
        </p:nvSpPr>
        <p:spPr>
          <a:xfrm>
            <a:off x="8301578" y="1"/>
            <a:ext cx="3887246"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7413" y="685800"/>
            <a:ext cx="3199567" cy="1737360"/>
          </a:xfrm>
        </p:spPr>
        <p:txBody>
          <a:bodyPr anchor="b">
            <a:normAutofit/>
          </a:bodyPr>
          <a:lstStyle>
            <a:lvl1pPr>
              <a:defRPr sz="3199" b="1"/>
            </a:lvl1pPr>
          </a:lstStyle>
          <a:p>
            <a:r>
              <a:rPr lang="fr-FR"/>
              <a:t>Modifiez le style du titre</a:t>
            </a:r>
            <a:endParaRPr lang="en-US" dirty="0"/>
          </a:p>
        </p:txBody>
      </p:sp>
      <p:sp>
        <p:nvSpPr>
          <p:cNvPr id="3" name="Content Placeholder 2"/>
          <p:cNvSpPr>
            <a:spLocks noGrp="1"/>
          </p:cNvSpPr>
          <p:nvPr>
            <p:ph idx="1"/>
          </p:nvPr>
        </p:nvSpPr>
        <p:spPr>
          <a:xfrm>
            <a:off x="837982" y="685800"/>
            <a:ext cx="6709948" cy="5020056"/>
          </a:xfrm>
        </p:spPr>
        <p:txBody>
          <a:bodyPr/>
          <a:lstStyle>
            <a:lvl1pPr>
              <a:defRPr sz="1999"/>
            </a:lvl1pPr>
            <a:lvl2pPr>
              <a:defRPr sz="1799"/>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547413" y="2423160"/>
            <a:ext cx="3199567"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3FF95AA5-BF1E-4EB9-A1D5-0AB2DD60A2D9}" type="datetime1">
              <a:rPr lang="fr-FR" smtClean="0"/>
              <a:pPr/>
              <a:t>27/07/2023</a:t>
            </a:fld>
            <a:endParaRPr lang="fr-FR" dirty="0"/>
          </a:p>
        </p:txBody>
      </p:sp>
      <p:sp>
        <p:nvSpPr>
          <p:cNvPr id="6" name="Footer Placeholder 5"/>
          <p:cNvSpPr>
            <a:spLocks noGrp="1"/>
          </p:cNvSpPr>
          <p:nvPr>
            <p:ph type="ftr" sz="quarter" idx="11"/>
          </p:nvPr>
        </p:nvSpPr>
        <p:spPr/>
        <p:txBody>
          <a:bodyPr/>
          <a:lstStyle/>
          <a:p>
            <a:pPr rtl="0"/>
            <a:endParaRPr lang="fr-FR" dirty="0"/>
          </a:p>
        </p:txBody>
      </p:sp>
      <p:grpSp>
        <p:nvGrpSpPr>
          <p:cNvPr id="9" name="Group 8"/>
          <p:cNvGrpSpPr>
            <a:grpSpLocks noChangeAspect="1"/>
          </p:cNvGrpSpPr>
          <p:nvPr/>
        </p:nvGrpSpPr>
        <p:grpSpPr>
          <a:xfrm>
            <a:off x="11398756" y="6229681"/>
            <a:ext cx="457081"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pPr algn="r"/>
            <a:fld id="{C014DD1E-5D91-48A3-AD6D-45FBA980D106}" type="slidenum">
              <a:rPr lang="fr-FR" smtClean="0"/>
              <a:pPr algn="r"/>
              <a:t>‹N°›</a:t>
            </a:fld>
            <a:endParaRPr lang="fr-FR" dirty="0"/>
          </a:p>
        </p:txBody>
      </p:sp>
    </p:spTree>
    <p:extLst>
      <p:ext uri="{BB962C8B-B14F-4D97-AF65-F5344CB8AC3E}">
        <p14:creationId xmlns:p14="http://schemas.microsoft.com/office/powerpoint/2010/main" val="1684529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11" name="Rectangle 10"/>
          <p:cNvSpPr/>
          <p:nvPr/>
        </p:nvSpPr>
        <p:spPr>
          <a:xfrm>
            <a:off x="8301578" y="1"/>
            <a:ext cx="3887246"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7413" y="685800"/>
            <a:ext cx="3199567" cy="1737360"/>
          </a:xfrm>
        </p:spPr>
        <p:txBody>
          <a:bodyPr anchor="b">
            <a:normAutofit/>
          </a:bodyPr>
          <a:lstStyle>
            <a:lvl1pPr>
              <a:defRPr sz="3199" b="1"/>
            </a:lvl1pPr>
          </a:lstStyle>
          <a:p>
            <a:r>
              <a:rPr lang="fr-FR"/>
              <a:t>Modifiez le style du titre</a:t>
            </a:r>
            <a:endParaRPr lang="en-US" dirty="0"/>
          </a:p>
        </p:txBody>
      </p:sp>
      <p:sp>
        <p:nvSpPr>
          <p:cNvPr id="3" name="Picture Placeholder 2"/>
          <p:cNvSpPr>
            <a:spLocks noGrp="1" noChangeAspect="1"/>
          </p:cNvSpPr>
          <p:nvPr>
            <p:ph type="pic" idx="1"/>
          </p:nvPr>
        </p:nvSpPr>
        <p:spPr>
          <a:xfrm>
            <a:off x="0" y="0"/>
            <a:ext cx="8301578" cy="6858000"/>
          </a:xfrm>
          <a:solidFill>
            <a:schemeClr val="tx2">
              <a:lumMod val="20000"/>
              <a:lumOff val="80000"/>
            </a:schemeClr>
          </a:solidFill>
        </p:spPr>
        <p:txBody>
          <a:bodyPr anchor="t"/>
          <a:lstStyle>
            <a:lvl1pPr marL="0" indent="0">
              <a:buNone/>
              <a:defRPr sz="3199"/>
            </a:lvl1pPr>
            <a:lvl2pPr marL="457063" indent="0">
              <a:buNone/>
              <a:defRPr sz="2799"/>
            </a:lvl2pPr>
            <a:lvl3pPr marL="914126" indent="0">
              <a:buNone/>
              <a:defRPr sz="2399"/>
            </a:lvl3pPr>
            <a:lvl4pPr marL="1371189" indent="0">
              <a:buNone/>
              <a:defRPr sz="1999"/>
            </a:lvl4pPr>
            <a:lvl5pPr marL="1828251" indent="0">
              <a:buNone/>
              <a:defRPr sz="1999"/>
            </a:lvl5pPr>
            <a:lvl6pPr marL="2285314" indent="0">
              <a:buNone/>
              <a:defRPr sz="1999"/>
            </a:lvl6pPr>
            <a:lvl7pPr marL="2742377" indent="0">
              <a:buNone/>
              <a:defRPr sz="1999"/>
            </a:lvl7pPr>
            <a:lvl8pPr marL="3199440" indent="0">
              <a:buNone/>
              <a:defRPr sz="1999"/>
            </a:lvl8pPr>
            <a:lvl9pPr marL="3656503" indent="0">
              <a:buNone/>
              <a:defRPr sz="1999"/>
            </a:lvl9pPr>
          </a:lstStyle>
          <a:p>
            <a:r>
              <a:rPr lang="fr-FR"/>
              <a:t>Cliquez sur l'icône pour ajouter une image</a:t>
            </a:r>
            <a:endParaRPr lang="en-US" dirty="0"/>
          </a:p>
        </p:txBody>
      </p:sp>
      <p:sp>
        <p:nvSpPr>
          <p:cNvPr id="4" name="Text Placeholder 3"/>
          <p:cNvSpPr>
            <a:spLocks noGrp="1"/>
          </p:cNvSpPr>
          <p:nvPr>
            <p:ph type="body" sz="half" idx="2"/>
          </p:nvPr>
        </p:nvSpPr>
        <p:spPr>
          <a:xfrm>
            <a:off x="8547413" y="2423160"/>
            <a:ext cx="3199567"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6F7BC923-82FA-41E3-BF4E-E946B22CD3AC}" type="datetime1">
              <a:rPr lang="fr-FR" smtClean="0"/>
              <a:pPr/>
              <a:t>27/07/2023</a:t>
            </a:fld>
            <a:endParaRPr lang="fr-FR" dirty="0"/>
          </a:p>
        </p:txBody>
      </p:sp>
      <p:grpSp>
        <p:nvGrpSpPr>
          <p:cNvPr id="8" name="Group 7"/>
          <p:cNvGrpSpPr>
            <a:grpSpLocks noChangeAspect="1"/>
          </p:cNvGrpSpPr>
          <p:nvPr/>
        </p:nvGrpSpPr>
        <p:grpSpPr>
          <a:xfrm>
            <a:off x="11398756" y="6229681"/>
            <a:ext cx="457081"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pPr algn="r"/>
            <a:fld id="{C014DD1E-5D91-48A3-AD6D-45FBA980D106}" type="slidenum">
              <a:rPr lang="fr-FR" smtClean="0"/>
              <a:pPr algn="r"/>
              <a:t>‹N°›</a:t>
            </a:fld>
            <a:endParaRPr lang="fr-FR" dirty="0"/>
          </a:p>
        </p:txBody>
      </p:sp>
    </p:spTree>
    <p:extLst>
      <p:ext uri="{BB962C8B-B14F-4D97-AF65-F5344CB8AC3E}">
        <p14:creationId xmlns:p14="http://schemas.microsoft.com/office/powerpoint/2010/main" val="2852511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A1D2FCC-4233-4F14-8EDB-8DB44C2A50E0}" type="datetime1">
              <a:rPr lang="fr-FR" smtClean="0"/>
              <a:pPr/>
              <a:t>27/07/2023</a:t>
            </a:fld>
            <a:endParaRPr lang="fr-FR" dirty="0"/>
          </a:p>
        </p:txBody>
      </p:sp>
      <p:sp>
        <p:nvSpPr>
          <p:cNvPr id="5" name="Footer Placeholder 4"/>
          <p:cNvSpPr>
            <a:spLocks noGrp="1"/>
          </p:cNvSpPr>
          <p:nvPr>
            <p:ph type="ftr" sz="quarter" idx="11"/>
          </p:nvPr>
        </p:nvSpPr>
        <p:spPr/>
        <p:txBody>
          <a:bodyPr/>
          <a:lstStyle/>
          <a:p>
            <a:pPr rtl="0"/>
            <a:endParaRPr lang="fr-FR" dirty="0"/>
          </a:p>
        </p:txBody>
      </p:sp>
      <p:sp>
        <p:nvSpPr>
          <p:cNvPr id="6" name="Slide Number Placeholder 5"/>
          <p:cNvSpPr>
            <a:spLocks noGrp="1"/>
          </p:cNvSpPr>
          <p:nvPr>
            <p:ph type="sldNum" sz="quarter" idx="12"/>
          </p:nvPr>
        </p:nvSpPr>
        <p:spPr/>
        <p:txBody>
          <a:bodyPr/>
          <a:lstStyle/>
          <a:p>
            <a:pPr algn="r"/>
            <a:fld id="{C014DD1E-5D91-48A3-AD6D-45FBA980D106}" type="slidenum">
              <a:rPr lang="fr-FR" smtClean="0"/>
              <a:pPr algn="r"/>
              <a:t>‹N°›</a:t>
            </a:fld>
            <a:endParaRPr lang="fr-FR" dirty="0"/>
          </a:p>
        </p:txBody>
      </p:sp>
    </p:spTree>
    <p:extLst>
      <p:ext uri="{BB962C8B-B14F-4D97-AF65-F5344CB8AC3E}">
        <p14:creationId xmlns:p14="http://schemas.microsoft.com/office/powerpoint/2010/main" val="3942761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2628" y="533400"/>
            <a:ext cx="2552035" cy="5638800"/>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1066522" y="533400"/>
            <a:ext cx="7503745" cy="5638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763F31CA-359D-41CC-AD54-062A6FB97288}" type="datetime1">
              <a:rPr lang="fr-FR" smtClean="0"/>
              <a:pPr/>
              <a:t>27/07/2023</a:t>
            </a:fld>
            <a:endParaRPr lang="fr-FR" dirty="0"/>
          </a:p>
        </p:txBody>
      </p:sp>
      <p:sp>
        <p:nvSpPr>
          <p:cNvPr id="5" name="Footer Placeholder 4"/>
          <p:cNvSpPr>
            <a:spLocks noGrp="1"/>
          </p:cNvSpPr>
          <p:nvPr>
            <p:ph type="ftr" sz="quarter" idx="11"/>
          </p:nvPr>
        </p:nvSpPr>
        <p:spPr/>
        <p:txBody>
          <a:bodyPr/>
          <a:lstStyle/>
          <a:p>
            <a:pPr rtl="0"/>
            <a:endParaRPr lang="fr-FR" dirty="0"/>
          </a:p>
        </p:txBody>
      </p:sp>
      <p:sp>
        <p:nvSpPr>
          <p:cNvPr id="6" name="Slide Number Placeholder 5"/>
          <p:cNvSpPr>
            <a:spLocks noGrp="1"/>
          </p:cNvSpPr>
          <p:nvPr>
            <p:ph type="sldNum" sz="quarter" idx="12"/>
          </p:nvPr>
        </p:nvSpPr>
        <p:spPr/>
        <p:txBody>
          <a:bodyPr/>
          <a:lstStyle/>
          <a:p>
            <a:pPr algn="r"/>
            <a:fld id="{C014DD1E-5D91-48A3-AD6D-45FBA980D106}" type="slidenum">
              <a:rPr lang="fr-FR" smtClean="0"/>
              <a:pPr algn="r"/>
              <a:t>‹N°›</a:t>
            </a:fld>
            <a:endParaRPr lang="fr-FR" dirty="0"/>
          </a:p>
        </p:txBody>
      </p:sp>
    </p:spTree>
    <p:extLst>
      <p:ext uri="{BB962C8B-B14F-4D97-AF65-F5344CB8AC3E}">
        <p14:creationId xmlns:p14="http://schemas.microsoft.com/office/powerpoint/2010/main" val="2805733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569" y="484632"/>
            <a:ext cx="10055781" cy="1609344"/>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1069569" y="2121408"/>
            <a:ext cx="10055781" cy="4050792"/>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962350" y="6272785"/>
            <a:ext cx="3272700" cy="365125"/>
          </a:xfrm>
          <a:prstGeom prst="rect">
            <a:avLst/>
          </a:prstGeom>
        </p:spPr>
        <p:txBody>
          <a:bodyPr vert="horz" lIns="91440" tIns="45720" rIns="91440" bIns="45720" rtlCol="0" anchor="ctr"/>
          <a:lstStyle>
            <a:lvl1pPr algn="r">
              <a:defRPr sz="1100">
                <a:solidFill>
                  <a:schemeClr val="tx2"/>
                </a:solidFill>
              </a:defRPr>
            </a:lvl1pPr>
          </a:lstStyle>
          <a:p>
            <a:fld id="{64A97F8E-A89E-4ECD-B8CE-87968877804C}" type="datetime1">
              <a:rPr lang="fr-FR" smtClean="0"/>
              <a:pPr/>
              <a:t>27/07/2023</a:t>
            </a:fld>
            <a:endParaRPr lang="fr-FR" dirty="0"/>
          </a:p>
        </p:txBody>
      </p:sp>
      <p:sp>
        <p:nvSpPr>
          <p:cNvPr id="5" name="Footer Placeholder 4"/>
          <p:cNvSpPr>
            <a:spLocks noGrp="1"/>
          </p:cNvSpPr>
          <p:nvPr>
            <p:ph type="ftr" sz="quarter" idx="3"/>
          </p:nvPr>
        </p:nvSpPr>
        <p:spPr>
          <a:xfrm>
            <a:off x="1087853" y="6272785"/>
            <a:ext cx="6326000" cy="365125"/>
          </a:xfrm>
          <a:prstGeom prst="rect">
            <a:avLst/>
          </a:prstGeom>
        </p:spPr>
        <p:txBody>
          <a:bodyPr vert="horz" lIns="91440" tIns="45720" rIns="91440" bIns="45720" rtlCol="0" anchor="ctr"/>
          <a:lstStyle>
            <a:lvl1pPr algn="l">
              <a:defRPr sz="1100">
                <a:solidFill>
                  <a:schemeClr val="tx2"/>
                </a:solidFill>
              </a:defRPr>
            </a:lvl1pPr>
          </a:lstStyle>
          <a:p>
            <a:pPr rtl="0"/>
            <a:endParaRPr lang="fr-FR" dirty="0"/>
          </a:p>
        </p:txBody>
      </p:sp>
      <p:grpSp>
        <p:nvGrpSpPr>
          <p:cNvPr id="7" name="Group 6"/>
          <p:cNvGrpSpPr>
            <a:grpSpLocks noChangeAspect="1"/>
          </p:cNvGrpSpPr>
          <p:nvPr/>
        </p:nvGrpSpPr>
        <p:grpSpPr>
          <a:xfrm>
            <a:off x="11398756" y="6229681"/>
            <a:ext cx="457081"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08183" y="6272785"/>
            <a:ext cx="639913" cy="365125"/>
          </a:xfrm>
          <a:prstGeom prst="rect">
            <a:avLst/>
          </a:prstGeom>
        </p:spPr>
        <p:txBody>
          <a:bodyPr vert="horz" lIns="91440" tIns="45720" rIns="91440" bIns="45720" rtlCol="0" anchor="ctr"/>
          <a:lstStyle>
            <a:lvl1pPr algn="ctr">
              <a:defRPr sz="1400" b="1">
                <a:solidFill>
                  <a:srgbClr val="FFFFFF"/>
                </a:solidFill>
                <a:latin typeface="+mj-lt"/>
              </a:defRPr>
            </a:lvl1pPr>
          </a:lstStyle>
          <a:p>
            <a:pPr algn="r"/>
            <a:fld id="{C014DD1E-5D91-48A3-AD6D-45FBA980D106}" type="slidenum">
              <a:rPr lang="fr-FR" smtClean="0"/>
              <a:pPr algn="r"/>
              <a:t>‹N°›</a:t>
            </a:fld>
            <a:endParaRPr lang="fr-FR" dirty="0"/>
          </a:p>
        </p:txBody>
      </p:sp>
    </p:spTree>
    <p:extLst>
      <p:ext uri="{BB962C8B-B14F-4D97-AF65-F5344CB8AC3E}">
        <p14:creationId xmlns:p14="http://schemas.microsoft.com/office/powerpoint/2010/main" val="308387312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126" rtl="0" eaLnBrk="1" latinLnBrk="0" hangingPunct="1">
        <a:lnSpc>
          <a:spcPct val="90000"/>
        </a:lnSpc>
        <a:spcBef>
          <a:spcPct val="0"/>
        </a:spcBef>
        <a:buNone/>
        <a:defRPr sz="5398"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25" indent="-182825" algn="l" defTabSz="914126" rtl="0" eaLnBrk="1" latinLnBrk="0" hangingPunct="1">
        <a:lnSpc>
          <a:spcPct val="90000"/>
        </a:lnSpc>
        <a:spcBef>
          <a:spcPts val="1200"/>
        </a:spcBef>
        <a:buClr>
          <a:schemeClr val="accent1">
            <a:lumMod val="75000"/>
          </a:schemeClr>
        </a:buClr>
        <a:buSzPct val="85000"/>
        <a:buFont typeface="Wingdings" pitchFamily="2" charset="2"/>
        <a:buChar char="§"/>
        <a:defRPr sz="1999" kern="1200">
          <a:solidFill>
            <a:schemeClr val="tx1"/>
          </a:solidFill>
          <a:latin typeface="+mn-lt"/>
          <a:ea typeface="+mn-ea"/>
          <a:cs typeface="+mn-cs"/>
        </a:defRPr>
      </a:lvl1pPr>
      <a:lvl2pPr marL="457063" indent="-182825" algn="l" defTabSz="914126"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799" kern="1200">
          <a:solidFill>
            <a:schemeClr val="tx1"/>
          </a:solidFill>
          <a:latin typeface="+mn-lt"/>
          <a:ea typeface="+mn-ea"/>
          <a:cs typeface="+mn-cs"/>
        </a:defRPr>
      </a:lvl2pPr>
      <a:lvl3pPr marL="731301" indent="-182825" algn="l" defTabSz="914126"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538" indent="-182825" algn="l" defTabSz="914126"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79776" indent="-182825" algn="l" defTabSz="914126"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599520" indent="-228531" algn="l" defTabSz="914126"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899430" indent="-228531" algn="l" defTabSz="914126"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199340" indent="-228531" algn="l" defTabSz="914126"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499250" indent="-228531" algn="l" defTabSz="914126"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blogs.perficient.com/2014/09/08/simple-cognos-tm1-backup-best-practices/"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novatech.com.co/seguridad/backups/" TargetMode="External"/><Relationship Id="rId2" Type="http://schemas.openxmlformats.org/officeDocument/2006/relationships/image" Target="../media/image7.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s://wordpress.semnaitik.com/different-types-of-backup/"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hyperlink" Target="https://www.handybackup.net/differential-backup.shtml"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s://www.backupassist.com/blog/what-is-an-incremental-backup"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britecity.com/2020/09/01/do-you-have-a-backup-solution-for-your-cloud-applications-like-office-365/" TargetMode="External"/><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orbid365.be/10-tips-in-hardening-your-veeam-backup-server/" TargetMode="External"/><Relationship Id="rId2" Type="http://schemas.openxmlformats.org/officeDocument/2006/relationships/image" Target="../media/image14.jp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www.nord-erp-crm.fr/solutions-de-sauvegardes-cloud/" TargetMode="External"/><Relationship Id="rId2" Type="http://schemas.openxmlformats.org/officeDocument/2006/relationships/image" Target="../media/image15.jp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blogs.perficient.com/2014/09/08/simple-cognos-tm1-backup-best-practices/" TargetMode="External"/><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t="-17000" b="-17000"/>
          </a:stretch>
        </a:blipFill>
        <a:effectLst/>
      </p:bgPr>
    </p:bg>
    <p:spTree>
      <p:nvGrpSpPr>
        <p:cNvPr id="1" name=""/>
        <p:cNvGrpSpPr/>
        <p:nvPr/>
      </p:nvGrpSpPr>
      <p:grpSpPr>
        <a:xfrm>
          <a:off x="0" y="0"/>
          <a:ext cx="0" cy="0"/>
          <a:chOff x="0" y="0"/>
          <a:chExt cx="0" cy="0"/>
        </a:xfrm>
      </p:grpSpPr>
      <p:sp>
        <p:nvSpPr>
          <p:cNvPr id="2" name="Titre 1"/>
          <p:cNvSpPr>
            <a:spLocks noGrp="1"/>
          </p:cNvSpPr>
          <p:nvPr>
            <p:ph type="ctrTitle"/>
          </p:nvPr>
        </p:nvSpPr>
        <p:spPr>
          <a:xfrm>
            <a:off x="189756" y="0"/>
            <a:ext cx="11318580" cy="2000251"/>
          </a:xfrm>
        </p:spPr>
        <p:txBody>
          <a:bodyPr rtlCol="0">
            <a:normAutofit/>
          </a:bodyPr>
          <a:lstStyle/>
          <a:p>
            <a:r>
              <a:rPr lang="fr-FR" sz="4800" dirty="0">
                <a:solidFill>
                  <a:srgbClr val="FFFF00"/>
                </a:solidFill>
                <a:latin typeface="Rockwell Condensed" panose="02060603050405020104" pitchFamily="18" charset="0"/>
              </a:rPr>
              <a:t>Systèmes de sauvegarde        </a:t>
            </a:r>
            <a:br>
              <a:rPr lang="fr-FR" sz="4800" dirty="0">
                <a:solidFill>
                  <a:srgbClr val="FFFF00"/>
                </a:solidFill>
                <a:latin typeface="Rockwell Condensed" panose="02060603050405020104" pitchFamily="18" charset="0"/>
              </a:rPr>
            </a:br>
            <a:r>
              <a:rPr lang="fr-FR" sz="4800" dirty="0">
                <a:solidFill>
                  <a:srgbClr val="FFFF00"/>
                </a:solidFill>
                <a:latin typeface="Rockwell Condensed" panose="02060603050405020104" pitchFamily="18" charset="0"/>
              </a:rPr>
              <a:t>                  Protégez vos données précieuses</a:t>
            </a:r>
          </a:p>
        </p:txBody>
      </p:sp>
      <p:sp>
        <p:nvSpPr>
          <p:cNvPr id="5" name="Sous-titre 4"/>
          <p:cNvSpPr>
            <a:spLocks noGrp="1"/>
          </p:cNvSpPr>
          <p:nvPr>
            <p:ph type="subTitle" idx="1"/>
          </p:nvPr>
        </p:nvSpPr>
        <p:spPr>
          <a:xfrm>
            <a:off x="9046740" y="3428822"/>
            <a:ext cx="2893644" cy="3168352"/>
          </a:xfrm>
        </p:spPr>
        <p:txBody>
          <a:bodyPr rtlCol="0">
            <a:normAutofit/>
          </a:bodyPr>
          <a:lstStyle/>
          <a:p>
            <a:pPr rtl="0"/>
            <a:r>
              <a:rPr lang="fr-FR" cap="none" dirty="0">
                <a:solidFill>
                  <a:srgbClr val="FFFF00"/>
                </a:solidFill>
              </a:rPr>
              <a:t>Aboudramane    Traoré</a:t>
            </a:r>
          </a:p>
          <a:p>
            <a:pPr rtl="0"/>
            <a:r>
              <a:rPr lang="fr-FR" dirty="0">
                <a:solidFill>
                  <a:srgbClr val="FFFF00"/>
                </a:solidFill>
              </a:rPr>
              <a:t>                                               git(m2s3)</a:t>
            </a:r>
          </a:p>
          <a:p>
            <a:pPr rtl="0"/>
            <a:r>
              <a:rPr lang="fr-FR" dirty="0">
                <a:solidFill>
                  <a:srgbClr val="FFFF00"/>
                </a:solidFill>
              </a:rPr>
              <a:t>                                                                MSI</a:t>
            </a:r>
          </a:p>
        </p:txBody>
      </p:sp>
    </p:spTree>
    <p:extLst>
      <p:ext uri="{BB962C8B-B14F-4D97-AF65-F5344CB8AC3E}">
        <p14:creationId xmlns:p14="http://schemas.microsoft.com/office/powerpoint/2010/main" val="1332291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re 12"/>
          <p:cNvSpPr>
            <a:spLocks noGrp="1"/>
          </p:cNvSpPr>
          <p:nvPr>
            <p:ph type="title"/>
          </p:nvPr>
        </p:nvSpPr>
        <p:spPr/>
        <p:txBody>
          <a:bodyPr rtlCol="0"/>
          <a:lstStyle/>
          <a:p>
            <a:pPr rtl="0"/>
            <a:r>
              <a:rPr lang="fr-FR" dirty="0"/>
              <a:t>Sommaire</a:t>
            </a:r>
          </a:p>
        </p:txBody>
      </p:sp>
      <p:sp>
        <p:nvSpPr>
          <p:cNvPr id="14" name="Espace réservé du contenu 13"/>
          <p:cNvSpPr>
            <a:spLocks noGrp="1"/>
          </p:cNvSpPr>
          <p:nvPr>
            <p:ph idx="1"/>
          </p:nvPr>
        </p:nvSpPr>
        <p:spPr/>
        <p:txBody>
          <a:bodyPr rtlCol="0">
            <a:normAutofit fontScale="92500" lnSpcReduction="10000"/>
          </a:bodyPr>
          <a:lstStyle/>
          <a:p>
            <a:pPr>
              <a:buBlip>
                <a:blip r:embed="rId3">
                  <a:extLst>
                    <a:ext uri="{837473B0-CC2E-450A-ABE3-18F120FF3D39}">
                      <a1611:picAttrSrcUrl xmlns:a1611="http://schemas.microsoft.com/office/drawing/2016/11/main" r:id="rId4"/>
                    </a:ext>
                  </a:extLst>
                </a:blip>
              </a:buBlip>
            </a:pPr>
            <a:r>
              <a:rPr lang="fr-FR" dirty="0"/>
              <a:t>Introduction</a:t>
            </a:r>
          </a:p>
          <a:p>
            <a:pPr rtl="0">
              <a:buBlip>
                <a:blip r:embed="rId3">
                  <a:extLst>
                    <a:ext uri="{837473B0-CC2E-450A-ABE3-18F120FF3D39}">
                      <a1611:picAttrSrcUrl xmlns:a1611="http://schemas.microsoft.com/office/drawing/2016/11/main" r:id="rId4"/>
                    </a:ext>
                  </a:extLst>
                </a:blip>
              </a:buBlip>
            </a:pPr>
            <a:r>
              <a:rPr lang="fr-FR" dirty="0"/>
              <a:t>Définition d’un système de sauvegarde</a:t>
            </a:r>
          </a:p>
          <a:p>
            <a:pPr rtl="0">
              <a:buBlip>
                <a:blip r:embed="rId3">
                  <a:extLst>
                    <a:ext uri="{837473B0-CC2E-450A-ABE3-18F120FF3D39}">
                      <a1611:picAttrSrcUrl xmlns:a1611="http://schemas.microsoft.com/office/drawing/2016/11/main" r:id="rId4"/>
                    </a:ext>
                  </a:extLst>
                </a:blip>
              </a:buBlip>
            </a:pPr>
            <a:r>
              <a:rPr lang="fr-FR" dirty="0"/>
              <a:t>Les types de backup</a:t>
            </a:r>
          </a:p>
          <a:p>
            <a:pPr>
              <a:buBlip>
                <a:blip r:embed="rId3">
                  <a:extLst>
                    <a:ext uri="{837473B0-CC2E-450A-ABE3-18F120FF3D39}">
                      <a1611:picAttrSrcUrl xmlns:a1611="http://schemas.microsoft.com/office/drawing/2016/11/main" r:id="rId4"/>
                    </a:ext>
                  </a:extLst>
                </a:blip>
              </a:buBlip>
            </a:pPr>
            <a:r>
              <a:rPr lang="fr-FR" dirty="0"/>
              <a:t>Méthodes de sauvegarde</a:t>
            </a:r>
          </a:p>
          <a:p>
            <a:pPr>
              <a:buBlip>
                <a:blip r:embed="rId3">
                  <a:extLst>
                    <a:ext uri="{837473B0-CC2E-450A-ABE3-18F120FF3D39}">
                      <a1611:picAttrSrcUrl xmlns:a1611="http://schemas.microsoft.com/office/drawing/2016/11/main" r:id="rId4"/>
                    </a:ext>
                  </a:extLst>
                </a:blip>
              </a:buBlip>
            </a:pPr>
            <a:r>
              <a:rPr lang="fr-FR" dirty="0"/>
              <a:t>Systèmes de sauvegarde automatisés</a:t>
            </a:r>
          </a:p>
          <a:p>
            <a:pPr>
              <a:buBlip>
                <a:blip r:embed="rId3">
                  <a:extLst>
                    <a:ext uri="{837473B0-CC2E-450A-ABE3-18F120FF3D39}">
                      <a1611:picAttrSrcUrl xmlns:a1611="http://schemas.microsoft.com/office/drawing/2016/11/main" r:id="rId4"/>
                    </a:ext>
                  </a:extLst>
                </a:blip>
              </a:buBlip>
            </a:pPr>
            <a:r>
              <a:rPr lang="fr-FR" dirty="0"/>
              <a:t>Sécurité des sauvegardes</a:t>
            </a:r>
          </a:p>
          <a:p>
            <a:pPr>
              <a:buBlip>
                <a:blip r:embed="rId3">
                  <a:extLst>
                    <a:ext uri="{837473B0-CC2E-450A-ABE3-18F120FF3D39}">
                      <a1611:picAttrSrcUrl xmlns:a1611="http://schemas.microsoft.com/office/drawing/2016/11/main" r:id="rId4"/>
                    </a:ext>
                  </a:extLst>
                </a:blip>
              </a:buBlip>
            </a:pPr>
            <a:r>
              <a:rPr lang="fr-FR" dirty="0"/>
              <a:t>Meilleures pratiques de sauvegarde</a:t>
            </a:r>
          </a:p>
          <a:p>
            <a:pPr>
              <a:buBlip>
                <a:blip r:embed="rId3">
                  <a:extLst>
                    <a:ext uri="{837473B0-CC2E-450A-ABE3-18F120FF3D39}">
                      <a1611:picAttrSrcUrl xmlns:a1611="http://schemas.microsoft.com/office/drawing/2016/11/main" r:id="rId4"/>
                    </a:ext>
                  </a:extLst>
                </a:blip>
              </a:buBlip>
            </a:pPr>
            <a:r>
              <a:rPr lang="fr-FR" dirty="0"/>
              <a:t>Facteurs de sauvegardes</a:t>
            </a:r>
          </a:p>
          <a:p>
            <a:pPr>
              <a:buBlip>
                <a:blip r:embed="rId3">
                  <a:extLst>
                    <a:ext uri="{837473B0-CC2E-450A-ABE3-18F120FF3D39}">
                      <a1611:picAttrSrcUrl xmlns:a1611="http://schemas.microsoft.com/office/drawing/2016/11/main" r:id="rId4"/>
                    </a:ext>
                  </a:extLst>
                </a:blip>
              </a:buBlip>
            </a:pPr>
            <a:r>
              <a:rPr lang="fr-FR" dirty="0"/>
              <a:t>Quelques outils de sauvegardes</a:t>
            </a:r>
          </a:p>
          <a:p>
            <a:pPr>
              <a:buBlip>
                <a:blip r:embed="rId3">
                  <a:extLst>
                    <a:ext uri="{837473B0-CC2E-450A-ABE3-18F120FF3D39}">
                      <a1611:picAttrSrcUrl xmlns:a1611="http://schemas.microsoft.com/office/drawing/2016/11/main" r:id="rId4"/>
                    </a:ext>
                  </a:extLst>
                </a:blip>
              </a:buBlip>
            </a:pPr>
            <a:r>
              <a:rPr lang="fr-FR" dirty="0"/>
              <a:t>Cas d'étude</a:t>
            </a:r>
          </a:p>
          <a:p>
            <a:pPr rtl="0">
              <a:buBlip>
                <a:blip r:embed="rId3">
                  <a:extLst>
                    <a:ext uri="{837473B0-CC2E-450A-ABE3-18F120FF3D39}">
                      <a1611:picAttrSrcUrl xmlns:a1611="http://schemas.microsoft.com/office/drawing/2016/11/main" r:id="rId4"/>
                    </a:ext>
                  </a:extLst>
                </a:blip>
              </a:buBlip>
            </a:pPr>
            <a:r>
              <a:rPr lang="fr-FR" dirty="0"/>
              <a:t>conclusion</a:t>
            </a:r>
          </a:p>
        </p:txBody>
      </p:sp>
    </p:spTree>
    <p:extLst>
      <p:ext uri="{BB962C8B-B14F-4D97-AF65-F5344CB8AC3E}">
        <p14:creationId xmlns:p14="http://schemas.microsoft.com/office/powerpoint/2010/main" val="3529114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re 12"/>
          <p:cNvSpPr>
            <a:spLocks noGrp="1"/>
          </p:cNvSpPr>
          <p:nvPr>
            <p:ph type="title"/>
          </p:nvPr>
        </p:nvSpPr>
        <p:spPr>
          <a:xfrm>
            <a:off x="1218883" y="274637"/>
            <a:ext cx="10360501" cy="706091"/>
          </a:xfrm>
        </p:spPr>
        <p:txBody>
          <a:bodyPr rtlCol="0">
            <a:normAutofit fontScale="90000"/>
          </a:bodyPr>
          <a:lstStyle/>
          <a:p>
            <a:pPr rtl="0"/>
            <a:r>
              <a:rPr lang="fr-FR" dirty="0"/>
              <a:t>                Introduction</a:t>
            </a:r>
          </a:p>
        </p:txBody>
      </p:sp>
      <p:sp>
        <p:nvSpPr>
          <p:cNvPr id="14" name="Espace réservé du contenu 13"/>
          <p:cNvSpPr>
            <a:spLocks noGrp="1"/>
          </p:cNvSpPr>
          <p:nvPr>
            <p:ph idx="1"/>
          </p:nvPr>
        </p:nvSpPr>
        <p:spPr>
          <a:xfrm>
            <a:off x="1218883" y="1196752"/>
            <a:ext cx="10360501" cy="5040560"/>
          </a:xfrm>
        </p:spPr>
        <p:txBody>
          <a:bodyPr rtlCol="0">
            <a:normAutofit fontScale="92500"/>
          </a:bodyPr>
          <a:lstStyle/>
          <a:p>
            <a:pPr algn="just"/>
            <a:r>
              <a:rPr lang="fr-FR" sz="2200" kern="1300" spc="130" dirty="0">
                <a:ea typeface="Verdana" panose="020B0604030504040204" pitchFamily="34" charset="0"/>
              </a:rPr>
              <a:t>Un système moderne de sauvegarde des données est presque toujours le facteur le plus important d’un système d’information. Chaque application ou système d’exploitation peut être réinstallé plusieurs fois, mais lorsque vous perdez les données, la restauration et la recréation des données originales peuvent être immensément stressantes, frustrantes ou tout simplement impossibles sans la mise en place de systèmes de sauvegarde correctement configurés.</a:t>
            </a:r>
          </a:p>
          <a:p>
            <a:pPr algn="just"/>
            <a:r>
              <a:rPr lang="fr-FR" sz="2200" kern="1300" spc="130" dirty="0">
                <a:ea typeface="Verdana" panose="020B0604030504040204" pitchFamily="34" charset="0"/>
              </a:rPr>
              <a:t>Une perte de données importante dans une entreprise peut entraîner sa faillite ultérieure. Les administrateurs de systèmes devraient toujours sauvegarder toute information précieuse et disposer d’un plan de restauration de ces données en cas de défaillance ou de vol. De nombreux types d’événements indésirables peuvent survenir sur un ordinateur ou un serveur, tels que les cyberattaques, le vol informatique, le vol physique, les défaillances matérielles et logicielles. Cependant, la restauration rapide des données à partir de systèmes de sauvegarde et de restauration correctement installés permet généralement de minimiser l’impact négatif de ces événements trop fréquents.</a:t>
            </a:r>
          </a:p>
          <a:p>
            <a:pPr marL="0" indent="0" algn="just" rtl="0">
              <a:buNone/>
            </a:pPr>
            <a:endParaRPr lang="fr-FR" kern="1300" spc="130" dirty="0">
              <a:latin typeface="+mj-lt"/>
              <a:ea typeface="Verdana" panose="020B0604030504040204" pitchFamily="34" charset="0"/>
            </a:endParaRPr>
          </a:p>
        </p:txBody>
      </p:sp>
    </p:spTree>
    <p:extLst>
      <p:ext uri="{BB962C8B-B14F-4D97-AF65-F5344CB8AC3E}">
        <p14:creationId xmlns:p14="http://schemas.microsoft.com/office/powerpoint/2010/main" val="566129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re 12"/>
          <p:cNvSpPr>
            <a:spLocks noGrp="1"/>
          </p:cNvSpPr>
          <p:nvPr>
            <p:ph type="title"/>
          </p:nvPr>
        </p:nvSpPr>
        <p:spPr>
          <a:xfrm>
            <a:off x="1062653" y="221728"/>
            <a:ext cx="10055781" cy="928144"/>
          </a:xfrm>
        </p:spPr>
        <p:txBody>
          <a:bodyPr rtlCol="0">
            <a:normAutofit fontScale="90000"/>
          </a:bodyPr>
          <a:lstStyle/>
          <a:p>
            <a:r>
              <a:rPr lang="fr-FR" dirty="0"/>
              <a:t>                 </a:t>
            </a:r>
            <a:br>
              <a:rPr lang="fr-FR" dirty="0"/>
            </a:br>
            <a:r>
              <a:rPr lang="fr-FR" dirty="0"/>
              <a:t>Définition d’un système de sauvegarde</a:t>
            </a:r>
            <a:br>
              <a:rPr lang="fr-FR" dirty="0"/>
            </a:br>
            <a:endParaRPr lang="fr-FR" dirty="0"/>
          </a:p>
        </p:txBody>
      </p:sp>
      <p:sp>
        <p:nvSpPr>
          <p:cNvPr id="14" name="Espace réservé du contenu 13"/>
          <p:cNvSpPr>
            <a:spLocks noGrp="1"/>
          </p:cNvSpPr>
          <p:nvPr>
            <p:ph idx="1"/>
          </p:nvPr>
        </p:nvSpPr>
        <p:spPr>
          <a:xfrm>
            <a:off x="1069569" y="1149872"/>
            <a:ext cx="10055781" cy="5022328"/>
          </a:xfrm>
        </p:spPr>
        <p:txBody>
          <a:bodyPr rtlCol="0">
            <a:noAutofit/>
          </a:bodyPr>
          <a:lstStyle/>
          <a:p>
            <a:pPr algn="just"/>
            <a:r>
              <a:rPr lang="fr-FR" sz="2000" dirty="0"/>
              <a:t>En informatique, la </a:t>
            </a:r>
            <a:r>
              <a:rPr lang="fr-FR" sz="2000" b="1" dirty="0"/>
              <a:t>sauvegarde</a:t>
            </a:r>
            <a:r>
              <a:rPr lang="fr-FR" sz="2000" dirty="0"/>
              <a:t> (</a:t>
            </a:r>
            <a:r>
              <a:rPr lang="fr-FR" sz="2000" i="1" dirty="0"/>
              <a:t>backup</a:t>
            </a:r>
            <a:r>
              <a:rPr lang="fr-FR" sz="2000" dirty="0"/>
              <a:t> en anglais) est l'opération qui consiste à dupliquer et à mettre en sécurité les données contenues dans un système informatique. Certains utilisateurs ont pour objectif final de sauvegarder leurs fichiers dès le moment de leur enregistrement comme celui qui vient de saisir un texte de loi dans un traitement de texte.</a:t>
            </a:r>
          </a:p>
          <a:p>
            <a:pPr algn="just"/>
            <a:r>
              <a:rPr lang="fr-FR" sz="2000" dirty="0"/>
              <a:t>Ce terme est à distinguer de deux notions proches :</a:t>
            </a:r>
          </a:p>
          <a:p>
            <a:pPr algn="just"/>
            <a:r>
              <a:rPr lang="fr-FR" sz="2000" b="1" u="sng" dirty="0"/>
              <a:t>l'</a:t>
            </a:r>
            <a:r>
              <a:rPr lang="fr-FR" sz="2000" b="1" i="1" u="sng" dirty="0"/>
              <a:t>enregistrement des données</a:t>
            </a:r>
            <a:r>
              <a:rPr lang="fr-FR" sz="2000" dirty="0"/>
              <a:t>, qui consiste à écrire des données sur un périphérique, tel qu'un disque dur, une clé USB, des bandes magnétiques, où les informations demeureront même après l'extinction de la machine, contrairement à la mémoire vive.</a:t>
            </a:r>
          </a:p>
          <a:p>
            <a:pPr algn="just"/>
            <a:r>
              <a:rPr lang="fr-FR" sz="2000" b="1" u="sng" dirty="0"/>
              <a:t>l'</a:t>
            </a:r>
            <a:r>
              <a:rPr lang="fr-FR" sz="2000" b="1" i="1" u="sng" dirty="0"/>
              <a:t>archivage</a:t>
            </a:r>
            <a:r>
              <a:rPr lang="fr-FR" sz="2000" dirty="0"/>
              <a:t>, qui consiste à enregistrer des données de manière à garantir sur le long terme leur conformité à un état donné, en général leur état au moment où elles ont été validées par leurs auteurs.</a:t>
            </a:r>
          </a:p>
          <a:p>
            <a:pPr algn="just"/>
            <a:r>
              <a:rPr lang="fr-FR" sz="2000" dirty="0"/>
              <a:t>La sauvegarde passe forcément par un enregistrement des données, mais pas nécessairement dans un but d'archivage.</a:t>
            </a:r>
          </a:p>
          <a:p>
            <a:pPr marL="0" indent="0" rtl="0">
              <a:buNone/>
            </a:pPr>
            <a:endParaRPr lang="fr-FR" sz="2000" dirty="0"/>
          </a:p>
        </p:txBody>
      </p:sp>
    </p:spTree>
    <p:extLst>
      <p:ext uri="{BB962C8B-B14F-4D97-AF65-F5344CB8AC3E}">
        <p14:creationId xmlns:p14="http://schemas.microsoft.com/office/powerpoint/2010/main" val="2610202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extLst>
              <a:ext uri="{837473B0-CC2E-450A-ABE3-18F120FF3D39}">
                <a1611:picAttrSrcUrl xmlns:a1611="http://schemas.microsoft.com/office/drawing/2016/11/main" r:id="rId3"/>
              </a:ext>
            </a:extLst>
          </a:blip>
          <a:srcRect/>
          <a:stretch>
            <a:fillRect l="-10000" r="-10000"/>
          </a:stretch>
        </a:blipFill>
        <a:effectLst/>
      </p:bgPr>
    </p:bg>
    <p:spTree>
      <p:nvGrpSpPr>
        <p:cNvPr id="1" name=""/>
        <p:cNvGrpSpPr/>
        <p:nvPr/>
      </p:nvGrpSpPr>
      <p:grpSpPr>
        <a:xfrm>
          <a:off x="0" y="0"/>
          <a:ext cx="0" cy="0"/>
          <a:chOff x="0" y="0"/>
          <a:chExt cx="0" cy="0"/>
        </a:xfrm>
      </p:grpSpPr>
      <p:sp>
        <p:nvSpPr>
          <p:cNvPr id="8" name="Titre 7">
            <a:extLst>
              <a:ext uri="{FF2B5EF4-FFF2-40B4-BE49-F238E27FC236}">
                <a16:creationId xmlns:a16="http://schemas.microsoft.com/office/drawing/2014/main" id="{F4E3B326-2448-4B20-BE5A-0EA7AFEE1273}"/>
              </a:ext>
            </a:extLst>
          </p:cNvPr>
          <p:cNvSpPr>
            <a:spLocks noGrp="1"/>
          </p:cNvSpPr>
          <p:nvPr>
            <p:ph type="ctrTitle"/>
          </p:nvPr>
        </p:nvSpPr>
        <p:spPr>
          <a:xfrm>
            <a:off x="261764" y="116632"/>
            <a:ext cx="8735325" cy="2000251"/>
          </a:xfrm>
        </p:spPr>
        <p:txBody>
          <a:bodyPr/>
          <a:lstStyle/>
          <a:p>
            <a:r>
              <a:rPr lang="fr-FR" b="1" i="1" dirty="0">
                <a:solidFill>
                  <a:srgbClr val="FFFF00"/>
                </a:solidFill>
                <a:effectLst>
                  <a:outerShdw blurRad="38100" dist="38100" dir="2700000" algn="tl">
                    <a:srgbClr val="000000">
                      <a:alpha val="43137"/>
                    </a:srgbClr>
                  </a:outerShdw>
                </a:effectLst>
              </a:rPr>
              <a:t>TYPES DE BACKUP</a:t>
            </a:r>
          </a:p>
        </p:txBody>
      </p:sp>
    </p:spTree>
    <p:extLst>
      <p:ext uri="{BB962C8B-B14F-4D97-AF65-F5344CB8AC3E}">
        <p14:creationId xmlns:p14="http://schemas.microsoft.com/office/powerpoint/2010/main" val="3976492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re 14">
            <a:extLst>
              <a:ext uri="{FF2B5EF4-FFF2-40B4-BE49-F238E27FC236}">
                <a16:creationId xmlns:a16="http://schemas.microsoft.com/office/drawing/2014/main" id="{E06672EC-AAD7-4BFC-8A11-E1855BEA20D9}"/>
              </a:ext>
            </a:extLst>
          </p:cNvPr>
          <p:cNvSpPr>
            <a:spLocks noGrp="1"/>
          </p:cNvSpPr>
          <p:nvPr>
            <p:ph type="title"/>
          </p:nvPr>
        </p:nvSpPr>
        <p:spPr/>
        <p:txBody>
          <a:bodyPr/>
          <a:lstStyle/>
          <a:p>
            <a:r>
              <a:rPr lang="fr-FR" dirty="0"/>
              <a:t>                           Types de BACKUP</a:t>
            </a:r>
          </a:p>
        </p:txBody>
      </p:sp>
      <p:graphicFrame>
        <p:nvGraphicFramePr>
          <p:cNvPr id="17" name="Espace réservé du contenu 16">
            <a:extLst>
              <a:ext uri="{FF2B5EF4-FFF2-40B4-BE49-F238E27FC236}">
                <a16:creationId xmlns:a16="http://schemas.microsoft.com/office/drawing/2014/main" id="{29C49492-5160-49EF-8DBA-D22329D9E716}"/>
              </a:ext>
            </a:extLst>
          </p:cNvPr>
          <p:cNvGraphicFramePr>
            <a:graphicFrameLocks noGrp="1"/>
          </p:cNvGraphicFramePr>
          <p:nvPr>
            <p:ph idx="1"/>
            <p:extLst>
              <p:ext uri="{D42A27DB-BD31-4B8C-83A1-F6EECF244321}">
                <p14:modId xmlns:p14="http://schemas.microsoft.com/office/powerpoint/2010/main" val="2417104992"/>
              </p:ext>
            </p:extLst>
          </p:nvPr>
        </p:nvGraphicFramePr>
        <p:xfrm>
          <a:off x="1069975" y="2120900"/>
          <a:ext cx="10055225" cy="40513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44315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re 12"/>
          <p:cNvSpPr>
            <a:spLocks noGrp="1"/>
          </p:cNvSpPr>
          <p:nvPr>
            <p:ph type="title"/>
          </p:nvPr>
        </p:nvSpPr>
        <p:spPr>
          <a:xfrm>
            <a:off x="1069569" y="484632"/>
            <a:ext cx="10055781" cy="856136"/>
          </a:xfrm>
        </p:spPr>
        <p:txBody>
          <a:bodyPr rtlCol="0">
            <a:normAutofit fontScale="90000"/>
          </a:bodyPr>
          <a:lstStyle/>
          <a:p>
            <a:r>
              <a:rPr lang="fr-FR" dirty="0"/>
              <a:t>Les types de backup: sauvegarde totale</a:t>
            </a:r>
            <a:br>
              <a:rPr lang="fr-FR" dirty="0"/>
            </a:br>
            <a:endParaRPr lang="fr-FR" dirty="0"/>
          </a:p>
        </p:txBody>
      </p:sp>
      <p:sp>
        <p:nvSpPr>
          <p:cNvPr id="5" name="Espace réservé du contenu 4">
            <a:extLst>
              <a:ext uri="{FF2B5EF4-FFF2-40B4-BE49-F238E27FC236}">
                <a16:creationId xmlns:a16="http://schemas.microsoft.com/office/drawing/2014/main" id="{2F1FC4DB-5BCF-4497-AC92-70371A3F4939}"/>
              </a:ext>
            </a:extLst>
          </p:cNvPr>
          <p:cNvSpPr>
            <a:spLocks noGrp="1"/>
          </p:cNvSpPr>
          <p:nvPr>
            <p:ph idx="1"/>
          </p:nvPr>
        </p:nvSpPr>
        <p:spPr>
          <a:xfrm>
            <a:off x="1069569" y="1484784"/>
            <a:ext cx="10055781" cy="4687416"/>
          </a:xfrm>
          <a:noFill/>
        </p:spPr>
        <p:txBody>
          <a:bodyPr>
            <a:normAutofit/>
          </a:bodyPr>
          <a:lstStyle/>
          <a:p>
            <a:pPr algn="just"/>
            <a:r>
              <a:rPr lang="fr-FR" b="1" u="sng" dirty="0">
                <a:effectLst>
                  <a:outerShdw blurRad="38100" dist="38100" dir="2700000" algn="tl">
                    <a:srgbClr val="000000">
                      <a:alpha val="43137"/>
                    </a:srgbClr>
                  </a:outerShdw>
                </a:effectLst>
              </a:rPr>
              <a:t>Une sauvegarde complète </a:t>
            </a:r>
            <a:r>
              <a:rPr lang="fr-FR" dirty="0"/>
              <a:t>crée une </a:t>
            </a:r>
            <a:r>
              <a:rPr lang="fr-FR" b="1" dirty="0"/>
              <a:t>copie complète de toutes les données présentes sur un système</a:t>
            </a:r>
            <a:r>
              <a:rPr lang="fr-FR" dirty="0"/>
              <a:t>. Il peut s’agir d’une copie de toutes les données d’un PC portable ou, à titre d’exemple, d’une copie de tout le registre du personnel annuel. Si plusieurs sauvegardes des mêmes données sont créées à des périodes différentes, il existe en général un haut niveau de redondance dans les données qu’elles contiennent. Ceci est dû au fait que la plupart des données ne sont modifiées qu’à certaines occurrences précises dans le temps. Une sauvegarde complète fait office de socle pour les deux autres types de sauvegardes.</a:t>
            </a:r>
          </a:p>
          <a:p>
            <a:pPr algn="just"/>
            <a:r>
              <a:rPr lang="fr-FR" dirty="0"/>
              <a:t>Étant donné qu’une sauvegarde complète couvre la totalité du stock de données défini, il y a en général </a:t>
            </a:r>
            <a:r>
              <a:rPr lang="fr-FR" b="1" dirty="0"/>
              <a:t>une grande quantité de données à sauvegarder</a:t>
            </a:r>
            <a:r>
              <a:rPr lang="fr-FR" dirty="0"/>
              <a:t>. En découle le fait que créer une sauvegarde complète nécessite une grande quantité d’espace de stockage sur le support de sauvegarde. De plus, le processus prend en général un temps conséquent. Sur une note plus positive, une sauvegarde complète ne demande pas beaucoup d’efforts : vous vous contentez de tout sauvegarder. Par ailleurs, récupérer les données depuis une sauvegarde complète peut, en général, se faire facilement.</a:t>
            </a:r>
          </a:p>
          <a:p>
            <a:pPr algn="just"/>
            <a:endParaRPr lang="fr-FR" dirty="0"/>
          </a:p>
          <a:p>
            <a:pPr algn="just"/>
            <a:endParaRPr lang="fr-FR" dirty="0"/>
          </a:p>
        </p:txBody>
      </p:sp>
    </p:spTree>
    <p:extLst>
      <p:ext uri="{BB962C8B-B14F-4D97-AF65-F5344CB8AC3E}">
        <p14:creationId xmlns:p14="http://schemas.microsoft.com/office/powerpoint/2010/main" val="3459396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re 12"/>
          <p:cNvSpPr>
            <a:spLocks noGrp="1"/>
          </p:cNvSpPr>
          <p:nvPr>
            <p:ph type="title"/>
          </p:nvPr>
        </p:nvSpPr>
        <p:spPr>
          <a:xfrm>
            <a:off x="1069569" y="484632"/>
            <a:ext cx="10055781" cy="712120"/>
          </a:xfrm>
        </p:spPr>
        <p:txBody>
          <a:bodyPr rtlCol="0">
            <a:normAutofit fontScale="90000"/>
          </a:bodyPr>
          <a:lstStyle/>
          <a:p>
            <a:r>
              <a:rPr lang="fr-FR" dirty="0"/>
              <a:t>Les types de backup: sauvegarde totale</a:t>
            </a:r>
            <a:br>
              <a:rPr lang="fr-FR" dirty="0"/>
            </a:br>
            <a:endParaRPr lang="fr-FR" dirty="0"/>
          </a:p>
        </p:txBody>
      </p:sp>
      <p:pic>
        <p:nvPicPr>
          <p:cNvPr id="3" name="Espace réservé du contenu 2">
            <a:extLst>
              <a:ext uri="{FF2B5EF4-FFF2-40B4-BE49-F238E27FC236}">
                <a16:creationId xmlns:a16="http://schemas.microsoft.com/office/drawing/2014/main" id="{DD7CFFF0-D645-4963-8AA0-03290638BF5F}"/>
              </a:ext>
            </a:extLst>
          </p:cNvPr>
          <p:cNvPicPr>
            <a:picLocks noGrp="1" noChangeAspect="1"/>
          </p:cNvPicPr>
          <p:nvPr>
            <p:ph idx="1"/>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1485900" y="1700807"/>
            <a:ext cx="9001000" cy="4542561"/>
          </a:xfrm>
          <a:noFill/>
        </p:spPr>
      </p:pic>
    </p:spTree>
    <p:extLst>
      <p:ext uri="{BB962C8B-B14F-4D97-AF65-F5344CB8AC3E}">
        <p14:creationId xmlns:p14="http://schemas.microsoft.com/office/powerpoint/2010/main" val="1833738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re 12"/>
          <p:cNvSpPr>
            <a:spLocks noGrp="1"/>
          </p:cNvSpPr>
          <p:nvPr>
            <p:ph type="title"/>
          </p:nvPr>
        </p:nvSpPr>
        <p:spPr>
          <a:xfrm>
            <a:off x="1097064" y="144064"/>
            <a:ext cx="10055781" cy="1977344"/>
          </a:xfrm>
        </p:spPr>
        <p:txBody>
          <a:bodyPr rtlCol="0">
            <a:normAutofit/>
          </a:bodyPr>
          <a:lstStyle/>
          <a:p>
            <a:r>
              <a:rPr lang="fr-FR" dirty="0"/>
              <a:t>Les types de backup: </a:t>
            </a:r>
            <a:br>
              <a:rPr lang="fr-FR" dirty="0"/>
            </a:br>
            <a:r>
              <a:rPr lang="fr-FR" dirty="0"/>
              <a:t>       sauvegarde différentielles</a:t>
            </a:r>
          </a:p>
        </p:txBody>
      </p:sp>
      <p:sp>
        <p:nvSpPr>
          <p:cNvPr id="5" name="Espace réservé du contenu 4">
            <a:extLst>
              <a:ext uri="{FF2B5EF4-FFF2-40B4-BE49-F238E27FC236}">
                <a16:creationId xmlns:a16="http://schemas.microsoft.com/office/drawing/2014/main" id="{2F1FC4DB-5BCF-4497-AC92-70371A3F4939}"/>
              </a:ext>
            </a:extLst>
          </p:cNvPr>
          <p:cNvSpPr>
            <a:spLocks noGrp="1"/>
          </p:cNvSpPr>
          <p:nvPr>
            <p:ph idx="1"/>
          </p:nvPr>
        </p:nvSpPr>
        <p:spPr/>
        <p:txBody>
          <a:bodyPr>
            <a:normAutofit/>
          </a:bodyPr>
          <a:lstStyle/>
          <a:p>
            <a:pPr algn="just"/>
            <a:r>
              <a:rPr lang="fr-FR" b="1" u="sng" dirty="0">
                <a:effectLst>
                  <a:outerShdw blurRad="38100" dist="38100" dir="2700000" algn="tl">
                    <a:srgbClr val="000000">
                      <a:alpha val="43137"/>
                    </a:srgbClr>
                  </a:outerShdw>
                </a:effectLst>
              </a:rPr>
              <a:t>Une sauvegarde différentielle </a:t>
            </a:r>
            <a:r>
              <a:rPr lang="fr-FR" dirty="0"/>
              <a:t>contient </a:t>
            </a:r>
            <a:r>
              <a:rPr lang="fr-FR" b="1" dirty="0"/>
              <a:t>toutes les données qui ont été modifiées depuis la dernière sauvegarde complète</a:t>
            </a:r>
            <a:r>
              <a:rPr lang="fr-FR" dirty="0"/>
              <a:t>. La quantité de données à sauvegarder dépend de la durée qui s’est écoulée entre une sauvegarde différentielle et la dernière sauvegarde complète. La règle veut, cependant, qu’une sauvegarde différentielle soit beaucoup plus petite et, par conséquent, rapide à créer qu’une autre sauvegarde complète.</a:t>
            </a:r>
          </a:p>
          <a:p>
            <a:pPr algn="just"/>
            <a:r>
              <a:rPr lang="fr-FR" dirty="0"/>
              <a:t>Pour récupérer les données, la sauvegarde différentielle et la dernière sauvegarde complète sont nécessaires. Si </a:t>
            </a:r>
            <a:r>
              <a:rPr lang="fr-FR" b="1" dirty="0"/>
              <a:t>plusieurs sauvegardes différentielles sont créées, elles sont indépendantes les unes des autres</a:t>
            </a:r>
            <a:r>
              <a:rPr lang="fr-FR" dirty="0"/>
              <a:t>. Si une sauvegarde différentielle devient corrompue, les autres sauvegardes différentielles ne seront pas affectées. Certains outils très répandus destinés aux administrateurs permettent la création de sauvegardes différentielles. Par exemple, des sauvegardes différentielles peuvent être créées à l’aide de Rsync.</a:t>
            </a:r>
          </a:p>
          <a:p>
            <a:pPr algn="just"/>
            <a:endParaRPr lang="fr-FR" dirty="0"/>
          </a:p>
        </p:txBody>
      </p:sp>
    </p:spTree>
    <p:extLst>
      <p:ext uri="{BB962C8B-B14F-4D97-AF65-F5344CB8AC3E}">
        <p14:creationId xmlns:p14="http://schemas.microsoft.com/office/powerpoint/2010/main" val="1518579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re 12"/>
          <p:cNvSpPr>
            <a:spLocks noGrp="1"/>
          </p:cNvSpPr>
          <p:nvPr>
            <p:ph type="title"/>
          </p:nvPr>
        </p:nvSpPr>
        <p:spPr>
          <a:xfrm>
            <a:off x="981845" y="260648"/>
            <a:ext cx="10143506" cy="1512168"/>
          </a:xfrm>
        </p:spPr>
        <p:txBody>
          <a:bodyPr rtlCol="0">
            <a:normAutofit fontScale="90000"/>
          </a:bodyPr>
          <a:lstStyle/>
          <a:p>
            <a:r>
              <a:rPr lang="fr-FR" dirty="0"/>
              <a:t>   </a:t>
            </a:r>
            <a:br>
              <a:rPr lang="fr-FR" dirty="0"/>
            </a:br>
            <a:r>
              <a:rPr lang="fr-FR" dirty="0"/>
              <a:t>Les types de backup: </a:t>
            </a:r>
            <a:br>
              <a:rPr lang="fr-FR" dirty="0"/>
            </a:br>
            <a:r>
              <a:rPr lang="fr-FR" dirty="0"/>
              <a:t>           sauvegarde différentielles</a:t>
            </a:r>
            <a:br>
              <a:rPr lang="fr-FR" dirty="0"/>
            </a:br>
            <a:endParaRPr lang="fr-FR" dirty="0"/>
          </a:p>
        </p:txBody>
      </p:sp>
      <p:pic>
        <p:nvPicPr>
          <p:cNvPr id="3" name="Espace réservé du contenu 2">
            <a:extLst>
              <a:ext uri="{FF2B5EF4-FFF2-40B4-BE49-F238E27FC236}">
                <a16:creationId xmlns:a16="http://schemas.microsoft.com/office/drawing/2014/main" id="{59B6F355-EA60-4557-A4E5-D7CED2D06E78}"/>
              </a:ext>
            </a:extLst>
          </p:cNvPr>
          <p:cNvPicPr>
            <a:picLocks noGrp="1" noChangeAspect="1"/>
          </p:cNvPicPr>
          <p:nvPr>
            <p:ph idx="1"/>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1701924" y="1772816"/>
            <a:ext cx="8219256" cy="4824536"/>
          </a:xfrm>
        </p:spPr>
      </p:pic>
    </p:spTree>
    <p:extLst>
      <p:ext uri="{BB962C8B-B14F-4D97-AF65-F5344CB8AC3E}">
        <p14:creationId xmlns:p14="http://schemas.microsoft.com/office/powerpoint/2010/main" val="2705987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re 12"/>
          <p:cNvSpPr>
            <a:spLocks noGrp="1"/>
          </p:cNvSpPr>
          <p:nvPr>
            <p:ph type="title"/>
          </p:nvPr>
        </p:nvSpPr>
        <p:spPr>
          <a:xfrm>
            <a:off x="405781" y="332656"/>
            <a:ext cx="11783044" cy="1541084"/>
          </a:xfrm>
        </p:spPr>
        <p:txBody>
          <a:bodyPr rtlCol="0">
            <a:normAutofit fontScale="90000"/>
          </a:bodyPr>
          <a:lstStyle/>
          <a:p>
            <a:r>
              <a:rPr lang="fr-FR" dirty="0"/>
              <a:t> </a:t>
            </a:r>
            <a:br>
              <a:rPr lang="fr-FR" dirty="0"/>
            </a:br>
            <a:r>
              <a:rPr lang="fr-FR" dirty="0"/>
              <a:t>Les types de backup: </a:t>
            </a:r>
            <a:br>
              <a:rPr lang="fr-FR" dirty="0"/>
            </a:br>
            <a:r>
              <a:rPr lang="fr-FR" dirty="0"/>
              <a:t>            sauvegarde incrémentielles</a:t>
            </a:r>
            <a:br>
              <a:rPr lang="fr-FR" dirty="0"/>
            </a:br>
            <a:endParaRPr lang="fr-FR" dirty="0"/>
          </a:p>
        </p:txBody>
      </p:sp>
      <p:sp>
        <p:nvSpPr>
          <p:cNvPr id="5" name="Espace réservé du contenu 4">
            <a:extLst>
              <a:ext uri="{FF2B5EF4-FFF2-40B4-BE49-F238E27FC236}">
                <a16:creationId xmlns:a16="http://schemas.microsoft.com/office/drawing/2014/main" id="{2F1FC4DB-5BCF-4497-AC92-70371A3F4939}"/>
              </a:ext>
            </a:extLst>
          </p:cNvPr>
          <p:cNvSpPr>
            <a:spLocks noGrp="1"/>
          </p:cNvSpPr>
          <p:nvPr>
            <p:ph idx="1"/>
          </p:nvPr>
        </p:nvSpPr>
        <p:spPr/>
        <p:txBody>
          <a:bodyPr>
            <a:normAutofit/>
          </a:bodyPr>
          <a:lstStyle/>
          <a:p>
            <a:pPr algn="just"/>
            <a:r>
              <a:rPr lang="fr-FR" b="1" u="sng" dirty="0">
                <a:effectLst>
                  <a:outerShdw blurRad="38100" dist="38100" dir="2700000" algn="tl">
                    <a:srgbClr val="000000">
                      <a:alpha val="43137"/>
                    </a:srgbClr>
                  </a:outerShdw>
                </a:effectLst>
              </a:rPr>
              <a:t>Une sauvegarde incrémentielle </a:t>
            </a:r>
            <a:r>
              <a:rPr lang="fr-FR" b="1" dirty="0"/>
              <a:t>copie tous les changements qui ont eu lieu depuis la dernière sauvegarde complète ou incrémentielle</a:t>
            </a:r>
            <a:r>
              <a:rPr lang="fr-FR" dirty="0"/>
              <a:t>. Chaque sauvegarde individuelle est de petite taille et est rapide à créer. Néanmoins, les sauvegardes incrémentielles ne sont pas indépendantes les unes des autres. Leur récupération nécessite toutes les sauvegardes incrémentielles depuis la dernière sauvegarde complète. Si une sauvegarde incrémentielle située dans la chaîne est endommagée, toutes les sauvegardes incrémentielles créées par la suite ne vaudront rien.</a:t>
            </a:r>
          </a:p>
          <a:p>
            <a:pPr algn="just"/>
            <a:r>
              <a:rPr lang="fr-FR" dirty="0"/>
              <a:t>Du fait de la faible quantité de données à copier, les </a:t>
            </a:r>
            <a:r>
              <a:rPr lang="fr-FR" b="1" dirty="0"/>
              <a:t>sauvegardes incrémentielles s’avèrent d’une grande efficacité et sont dès lors très couramment utilisées</a:t>
            </a:r>
            <a:r>
              <a:rPr lang="fr-FR" dirty="0"/>
              <a:t>. On y a souvent recours pour créer des sauvegardes fréquentes des petits changements. </a:t>
            </a:r>
          </a:p>
        </p:txBody>
      </p:sp>
    </p:spTree>
    <p:extLst>
      <p:ext uri="{BB962C8B-B14F-4D97-AF65-F5344CB8AC3E}">
        <p14:creationId xmlns:p14="http://schemas.microsoft.com/office/powerpoint/2010/main" val="3030558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re 12"/>
          <p:cNvSpPr>
            <a:spLocks noGrp="1"/>
          </p:cNvSpPr>
          <p:nvPr>
            <p:ph type="title"/>
          </p:nvPr>
        </p:nvSpPr>
        <p:spPr/>
        <p:txBody>
          <a:bodyPr rtlCol="0">
            <a:normAutofit fontScale="90000"/>
          </a:bodyPr>
          <a:lstStyle/>
          <a:p>
            <a:r>
              <a:rPr lang="fr-FR" dirty="0"/>
              <a:t>    </a:t>
            </a:r>
            <a:br>
              <a:rPr lang="fr-FR" dirty="0"/>
            </a:br>
            <a:r>
              <a:rPr lang="fr-FR" dirty="0"/>
              <a:t>Les types de backup: </a:t>
            </a:r>
            <a:br>
              <a:rPr lang="fr-FR" dirty="0"/>
            </a:br>
            <a:r>
              <a:rPr lang="fr-FR" dirty="0"/>
              <a:t>          sauvegarde incrémentielles</a:t>
            </a:r>
            <a:br>
              <a:rPr lang="fr-FR" dirty="0"/>
            </a:br>
            <a:endParaRPr lang="fr-FR" dirty="0"/>
          </a:p>
        </p:txBody>
      </p:sp>
      <p:pic>
        <p:nvPicPr>
          <p:cNvPr id="3" name="Espace réservé du contenu 2">
            <a:extLst>
              <a:ext uri="{FF2B5EF4-FFF2-40B4-BE49-F238E27FC236}">
                <a16:creationId xmlns:a16="http://schemas.microsoft.com/office/drawing/2014/main" id="{9496101C-521A-4533-A2BC-A5CEAB359950}"/>
              </a:ext>
            </a:extLst>
          </p:cNvPr>
          <p:cNvPicPr>
            <a:picLocks noGrp="1" noChangeAspect="1"/>
          </p:cNvPicPr>
          <p:nvPr>
            <p:ph idx="1"/>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1341884" y="2093976"/>
            <a:ext cx="9937103" cy="4215343"/>
          </a:xfrm>
        </p:spPr>
      </p:pic>
    </p:spTree>
    <p:extLst>
      <p:ext uri="{BB962C8B-B14F-4D97-AF65-F5344CB8AC3E}">
        <p14:creationId xmlns:p14="http://schemas.microsoft.com/office/powerpoint/2010/main" val="1859339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re 12"/>
          <p:cNvSpPr>
            <a:spLocks noGrp="1"/>
          </p:cNvSpPr>
          <p:nvPr>
            <p:ph type="title"/>
          </p:nvPr>
        </p:nvSpPr>
        <p:spPr>
          <a:xfrm>
            <a:off x="1068683" y="294815"/>
            <a:ext cx="10360501" cy="1381968"/>
          </a:xfrm>
        </p:spPr>
        <p:txBody>
          <a:bodyPr rtlCol="0">
            <a:normAutofit fontScale="90000"/>
          </a:bodyPr>
          <a:lstStyle/>
          <a:p>
            <a:r>
              <a:rPr lang="fr-FR" dirty="0"/>
              <a:t> </a:t>
            </a:r>
            <a:br>
              <a:rPr lang="fr-FR" dirty="0"/>
            </a:br>
            <a:r>
              <a:rPr lang="fr-FR" dirty="0"/>
              <a:t>Les types de backup: Tableau résumant les méthodes de sauvegardes</a:t>
            </a:r>
            <a:br>
              <a:rPr lang="fr-FR" dirty="0"/>
            </a:br>
            <a:endParaRPr lang="fr-FR" dirty="0"/>
          </a:p>
        </p:txBody>
      </p:sp>
      <p:graphicFrame>
        <p:nvGraphicFramePr>
          <p:cNvPr id="2" name="Espace réservé du contenu 1">
            <a:extLst>
              <a:ext uri="{FF2B5EF4-FFF2-40B4-BE49-F238E27FC236}">
                <a16:creationId xmlns:a16="http://schemas.microsoft.com/office/drawing/2014/main" id="{A7C41717-A936-428D-A38D-451B9DBE9FE8}"/>
              </a:ext>
            </a:extLst>
          </p:cNvPr>
          <p:cNvGraphicFramePr>
            <a:graphicFrameLocks noGrp="1"/>
          </p:cNvGraphicFramePr>
          <p:nvPr>
            <p:ph idx="1"/>
            <p:extLst>
              <p:ext uri="{D42A27DB-BD31-4B8C-83A1-F6EECF244321}">
                <p14:modId xmlns:p14="http://schemas.microsoft.com/office/powerpoint/2010/main" val="1188390745"/>
              </p:ext>
            </p:extLst>
          </p:nvPr>
        </p:nvGraphicFramePr>
        <p:xfrm>
          <a:off x="1218882" y="1676783"/>
          <a:ext cx="10060104" cy="4485206"/>
        </p:xfrm>
        <a:graphic>
          <a:graphicData uri="http://schemas.openxmlformats.org/drawingml/2006/table">
            <a:tbl>
              <a:tblPr>
                <a:tableStyleId>{BC89EF96-8CEA-46FF-86C4-4CE0E7609802}</a:tableStyleId>
              </a:tblPr>
              <a:tblGrid>
                <a:gridCol w="2515026">
                  <a:extLst>
                    <a:ext uri="{9D8B030D-6E8A-4147-A177-3AD203B41FA5}">
                      <a16:colId xmlns:a16="http://schemas.microsoft.com/office/drawing/2014/main" val="3381492670"/>
                    </a:ext>
                  </a:extLst>
                </a:gridCol>
                <a:gridCol w="2515026">
                  <a:extLst>
                    <a:ext uri="{9D8B030D-6E8A-4147-A177-3AD203B41FA5}">
                      <a16:colId xmlns:a16="http://schemas.microsoft.com/office/drawing/2014/main" val="2239874981"/>
                    </a:ext>
                  </a:extLst>
                </a:gridCol>
                <a:gridCol w="2515026">
                  <a:extLst>
                    <a:ext uri="{9D8B030D-6E8A-4147-A177-3AD203B41FA5}">
                      <a16:colId xmlns:a16="http://schemas.microsoft.com/office/drawing/2014/main" val="2515091552"/>
                    </a:ext>
                  </a:extLst>
                </a:gridCol>
                <a:gridCol w="2515026">
                  <a:extLst>
                    <a:ext uri="{9D8B030D-6E8A-4147-A177-3AD203B41FA5}">
                      <a16:colId xmlns:a16="http://schemas.microsoft.com/office/drawing/2014/main" val="4075516275"/>
                    </a:ext>
                  </a:extLst>
                </a:gridCol>
              </a:tblGrid>
              <a:tr h="1271764">
                <a:tc>
                  <a:txBody>
                    <a:bodyPr/>
                    <a:lstStyle/>
                    <a:p>
                      <a:pPr algn="l" fontAlgn="b"/>
                      <a:r>
                        <a:rPr lang="fr-FR" sz="2400" b="0" dirty="0">
                          <a:solidFill>
                            <a:schemeClr val="tx1"/>
                          </a:solidFill>
                          <a:effectLst/>
                        </a:rPr>
                        <a:t>Critère</a:t>
                      </a:r>
                    </a:p>
                  </a:txBody>
                  <a:tcPr marL="94065" marR="94065" marT="94065" marB="94065" anchor="b">
                    <a:noFill/>
                  </a:tcPr>
                </a:tc>
                <a:tc>
                  <a:txBody>
                    <a:bodyPr/>
                    <a:lstStyle/>
                    <a:p>
                      <a:pPr algn="l" fontAlgn="b"/>
                      <a:r>
                        <a:rPr lang="fr-FR" sz="2400" b="0" dirty="0">
                          <a:solidFill>
                            <a:schemeClr val="tx1"/>
                          </a:solidFill>
                          <a:effectLst/>
                        </a:rPr>
                        <a:t>Sauvegarde complète</a:t>
                      </a:r>
                    </a:p>
                  </a:txBody>
                  <a:tcPr marL="94065" marR="94065" marT="94065" marB="94065" anchor="b">
                    <a:noFill/>
                  </a:tcPr>
                </a:tc>
                <a:tc>
                  <a:txBody>
                    <a:bodyPr/>
                    <a:lstStyle/>
                    <a:p>
                      <a:pPr algn="l" fontAlgn="b"/>
                      <a:r>
                        <a:rPr lang="fr-FR" sz="2400" b="0" dirty="0">
                          <a:solidFill>
                            <a:schemeClr val="tx1"/>
                          </a:solidFill>
                          <a:effectLst/>
                        </a:rPr>
                        <a:t>Sauvegarde Différentielle</a:t>
                      </a:r>
                    </a:p>
                  </a:txBody>
                  <a:tcPr marL="94065" marR="94065" marT="94065" marB="94065" anchor="b">
                    <a:noFill/>
                  </a:tcPr>
                </a:tc>
                <a:tc>
                  <a:txBody>
                    <a:bodyPr/>
                    <a:lstStyle/>
                    <a:p>
                      <a:pPr algn="l" fontAlgn="b"/>
                      <a:r>
                        <a:rPr lang="fr-FR" sz="2400" b="0" dirty="0">
                          <a:solidFill>
                            <a:schemeClr val="tx1"/>
                          </a:solidFill>
                          <a:effectLst/>
                        </a:rPr>
                        <a:t>Sauvegarde Incrémentielle</a:t>
                      </a:r>
                    </a:p>
                  </a:txBody>
                  <a:tcPr marL="94065" marR="94065" marT="94065" marB="94065" anchor="b">
                    <a:noFill/>
                  </a:tcPr>
                </a:tc>
                <a:extLst>
                  <a:ext uri="{0D108BD9-81ED-4DB2-BD59-A6C34878D82A}">
                    <a16:rowId xmlns:a16="http://schemas.microsoft.com/office/drawing/2014/main" val="68013511"/>
                  </a:ext>
                </a:extLst>
              </a:tr>
              <a:tr h="797675">
                <a:tc>
                  <a:txBody>
                    <a:bodyPr/>
                    <a:lstStyle/>
                    <a:p>
                      <a:pPr fontAlgn="t"/>
                      <a:r>
                        <a:rPr lang="fr-FR" sz="2400" dirty="0">
                          <a:solidFill>
                            <a:schemeClr val="tx1"/>
                          </a:solidFill>
                          <a:effectLst/>
                        </a:rPr>
                        <a:t>Complexité réduite</a:t>
                      </a:r>
                    </a:p>
                  </a:txBody>
                  <a:tcPr marL="37626" marR="37626" marT="37626" marB="37626">
                    <a:noFill/>
                  </a:tcPr>
                </a:tc>
                <a:tc>
                  <a:txBody>
                    <a:bodyPr/>
                    <a:lstStyle/>
                    <a:p>
                      <a:pPr fontAlgn="t"/>
                      <a:r>
                        <a:rPr lang="fr-FR" sz="2400" dirty="0">
                          <a:solidFill>
                            <a:schemeClr val="tx1"/>
                          </a:solidFill>
                          <a:effectLst/>
                        </a:rPr>
                        <a:t>+++</a:t>
                      </a:r>
                    </a:p>
                  </a:txBody>
                  <a:tcPr marL="37626" marR="37626" marT="37626" marB="37626">
                    <a:noFill/>
                  </a:tcPr>
                </a:tc>
                <a:tc>
                  <a:txBody>
                    <a:bodyPr/>
                    <a:lstStyle/>
                    <a:p>
                      <a:pPr fontAlgn="t"/>
                      <a:r>
                        <a:rPr lang="fr-FR" sz="2400" dirty="0">
                          <a:solidFill>
                            <a:schemeClr val="tx1"/>
                          </a:solidFill>
                          <a:effectLst/>
                        </a:rPr>
                        <a:t>++</a:t>
                      </a:r>
                    </a:p>
                  </a:txBody>
                  <a:tcPr marL="37626" marR="37626" marT="37626" marB="37626">
                    <a:noFill/>
                  </a:tcPr>
                </a:tc>
                <a:tc>
                  <a:txBody>
                    <a:bodyPr/>
                    <a:lstStyle/>
                    <a:p>
                      <a:pPr fontAlgn="t"/>
                      <a:r>
                        <a:rPr lang="fr-FR" sz="2400" dirty="0">
                          <a:solidFill>
                            <a:schemeClr val="tx1"/>
                          </a:solidFill>
                          <a:effectLst/>
                        </a:rPr>
                        <a:t>+</a:t>
                      </a:r>
                    </a:p>
                  </a:txBody>
                  <a:tcPr marL="37626" marR="37626" marT="37626" marB="37626">
                    <a:noFill/>
                  </a:tcPr>
                </a:tc>
                <a:extLst>
                  <a:ext uri="{0D108BD9-81ED-4DB2-BD59-A6C34878D82A}">
                    <a16:rowId xmlns:a16="http://schemas.microsoft.com/office/drawing/2014/main" val="2773805847"/>
                  </a:ext>
                </a:extLst>
              </a:tr>
              <a:tr h="1158886">
                <a:tc>
                  <a:txBody>
                    <a:bodyPr/>
                    <a:lstStyle/>
                    <a:p>
                      <a:pPr fontAlgn="t"/>
                      <a:r>
                        <a:rPr lang="fr-FR" sz="2400" dirty="0">
                          <a:solidFill>
                            <a:schemeClr val="tx1"/>
                          </a:solidFill>
                          <a:effectLst/>
                        </a:rPr>
                        <a:t>Faible volume de données</a:t>
                      </a:r>
                    </a:p>
                  </a:txBody>
                  <a:tcPr marL="37626" marR="37626" marT="37626" marB="37626">
                    <a:noFill/>
                  </a:tcPr>
                </a:tc>
                <a:tc>
                  <a:txBody>
                    <a:bodyPr/>
                    <a:lstStyle/>
                    <a:p>
                      <a:pPr fontAlgn="t"/>
                      <a:r>
                        <a:rPr lang="fr-FR" sz="2400" dirty="0">
                          <a:solidFill>
                            <a:schemeClr val="tx1"/>
                          </a:solidFill>
                          <a:effectLst/>
                        </a:rPr>
                        <a:t>+</a:t>
                      </a:r>
                    </a:p>
                  </a:txBody>
                  <a:tcPr marL="37626" marR="37626" marT="37626" marB="37626">
                    <a:noFill/>
                  </a:tcPr>
                </a:tc>
                <a:tc>
                  <a:txBody>
                    <a:bodyPr/>
                    <a:lstStyle/>
                    <a:p>
                      <a:pPr fontAlgn="t"/>
                      <a:r>
                        <a:rPr lang="fr-FR" sz="2400" dirty="0">
                          <a:solidFill>
                            <a:schemeClr val="tx1"/>
                          </a:solidFill>
                          <a:effectLst/>
                        </a:rPr>
                        <a:t>++</a:t>
                      </a:r>
                    </a:p>
                  </a:txBody>
                  <a:tcPr marL="37626" marR="37626" marT="37626" marB="37626">
                    <a:noFill/>
                  </a:tcPr>
                </a:tc>
                <a:tc>
                  <a:txBody>
                    <a:bodyPr/>
                    <a:lstStyle/>
                    <a:p>
                      <a:pPr fontAlgn="t"/>
                      <a:r>
                        <a:rPr lang="fr-FR" sz="2400" dirty="0">
                          <a:solidFill>
                            <a:schemeClr val="tx1"/>
                          </a:solidFill>
                          <a:effectLst/>
                        </a:rPr>
                        <a:t>+++</a:t>
                      </a:r>
                    </a:p>
                  </a:txBody>
                  <a:tcPr marL="37626" marR="37626" marT="37626" marB="37626">
                    <a:noFill/>
                  </a:tcPr>
                </a:tc>
                <a:extLst>
                  <a:ext uri="{0D108BD9-81ED-4DB2-BD59-A6C34878D82A}">
                    <a16:rowId xmlns:a16="http://schemas.microsoft.com/office/drawing/2014/main" val="2248699371"/>
                  </a:ext>
                </a:extLst>
              </a:tr>
              <a:tr h="797675">
                <a:tc>
                  <a:txBody>
                    <a:bodyPr/>
                    <a:lstStyle/>
                    <a:p>
                      <a:pPr fontAlgn="t"/>
                      <a:r>
                        <a:rPr lang="fr-FR" sz="2400" dirty="0">
                          <a:solidFill>
                            <a:schemeClr val="tx1"/>
                          </a:solidFill>
                          <a:effectLst/>
                        </a:rPr>
                        <a:t>Peu coûteux en temps</a:t>
                      </a:r>
                    </a:p>
                  </a:txBody>
                  <a:tcPr marL="37626" marR="37626" marT="37626" marB="37626">
                    <a:noFill/>
                  </a:tcPr>
                </a:tc>
                <a:tc>
                  <a:txBody>
                    <a:bodyPr/>
                    <a:lstStyle/>
                    <a:p>
                      <a:pPr fontAlgn="t"/>
                      <a:r>
                        <a:rPr lang="fr-FR" sz="2400" dirty="0">
                          <a:solidFill>
                            <a:schemeClr val="tx1"/>
                          </a:solidFill>
                          <a:effectLst/>
                        </a:rPr>
                        <a:t>+</a:t>
                      </a:r>
                    </a:p>
                  </a:txBody>
                  <a:tcPr marL="37626" marR="37626" marT="37626" marB="37626">
                    <a:noFill/>
                  </a:tcPr>
                </a:tc>
                <a:tc>
                  <a:txBody>
                    <a:bodyPr/>
                    <a:lstStyle/>
                    <a:p>
                      <a:pPr fontAlgn="t"/>
                      <a:r>
                        <a:rPr lang="fr-FR" sz="2400" dirty="0">
                          <a:solidFill>
                            <a:schemeClr val="tx1"/>
                          </a:solidFill>
                          <a:effectLst/>
                        </a:rPr>
                        <a:t>++</a:t>
                      </a:r>
                    </a:p>
                  </a:txBody>
                  <a:tcPr marL="37626" marR="37626" marT="37626" marB="37626">
                    <a:noFill/>
                  </a:tcPr>
                </a:tc>
                <a:tc>
                  <a:txBody>
                    <a:bodyPr/>
                    <a:lstStyle/>
                    <a:p>
                      <a:pPr fontAlgn="t"/>
                      <a:r>
                        <a:rPr lang="fr-FR" sz="2400" dirty="0">
                          <a:solidFill>
                            <a:schemeClr val="tx1"/>
                          </a:solidFill>
                          <a:effectLst/>
                        </a:rPr>
                        <a:t>+++</a:t>
                      </a:r>
                    </a:p>
                  </a:txBody>
                  <a:tcPr marL="37626" marR="37626" marT="37626" marB="37626">
                    <a:noFill/>
                  </a:tcPr>
                </a:tc>
                <a:extLst>
                  <a:ext uri="{0D108BD9-81ED-4DB2-BD59-A6C34878D82A}">
                    <a16:rowId xmlns:a16="http://schemas.microsoft.com/office/drawing/2014/main" val="855831444"/>
                  </a:ext>
                </a:extLst>
              </a:tr>
              <a:tr h="436463">
                <a:tc>
                  <a:txBody>
                    <a:bodyPr/>
                    <a:lstStyle/>
                    <a:p>
                      <a:pPr fontAlgn="t"/>
                      <a:r>
                        <a:rPr lang="fr-FR" sz="2400" dirty="0">
                          <a:solidFill>
                            <a:schemeClr val="tx1"/>
                          </a:solidFill>
                          <a:effectLst/>
                        </a:rPr>
                        <a:t>Forte fiabilité</a:t>
                      </a:r>
                    </a:p>
                  </a:txBody>
                  <a:tcPr marL="37626" marR="37626" marT="37626" marB="37626">
                    <a:noFill/>
                  </a:tcPr>
                </a:tc>
                <a:tc>
                  <a:txBody>
                    <a:bodyPr/>
                    <a:lstStyle/>
                    <a:p>
                      <a:pPr fontAlgn="t"/>
                      <a:r>
                        <a:rPr lang="fr-FR" sz="2400" dirty="0">
                          <a:solidFill>
                            <a:schemeClr val="tx1"/>
                          </a:solidFill>
                          <a:effectLst/>
                        </a:rPr>
                        <a:t>+++</a:t>
                      </a:r>
                    </a:p>
                  </a:txBody>
                  <a:tcPr marL="37626" marR="37626" marT="37626" marB="37626">
                    <a:noFill/>
                  </a:tcPr>
                </a:tc>
                <a:tc>
                  <a:txBody>
                    <a:bodyPr/>
                    <a:lstStyle/>
                    <a:p>
                      <a:pPr fontAlgn="t"/>
                      <a:r>
                        <a:rPr lang="fr-FR" sz="2400" dirty="0">
                          <a:solidFill>
                            <a:schemeClr val="tx1"/>
                          </a:solidFill>
                          <a:effectLst/>
                        </a:rPr>
                        <a:t>++</a:t>
                      </a:r>
                    </a:p>
                  </a:txBody>
                  <a:tcPr marL="37626" marR="37626" marT="37626" marB="37626">
                    <a:noFill/>
                  </a:tcPr>
                </a:tc>
                <a:tc>
                  <a:txBody>
                    <a:bodyPr/>
                    <a:lstStyle/>
                    <a:p>
                      <a:pPr fontAlgn="t"/>
                      <a:r>
                        <a:rPr lang="fr-FR" sz="2400" dirty="0">
                          <a:solidFill>
                            <a:schemeClr val="tx1"/>
                          </a:solidFill>
                          <a:effectLst/>
                        </a:rPr>
                        <a:t>+</a:t>
                      </a:r>
                    </a:p>
                  </a:txBody>
                  <a:tcPr marL="37626" marR="37626" marT="37626" marB="37626">
                    <a:noFill/>
                  </a:tcPr>
                </a:tc>
                <a:extLst>
                  <a:ext uri="{0D108BD9-81ED-4DB2-BD59-A6C34878D82A}">
                    <a16:rowId xmlns:a16="http://schemas.microsoft.com/office/drawing/2014/main" val="2961011732"/>
                  </a:ext>
                </a:extLst>
              </a:tr>
            </a:tbl>
          </a:graphicData>
        </a:graphic>
      </p:graphicFrame>
    </p:spTree>
    <p:extLst>
      <p:ext uri="{BB962C8B-B14F-4D97-AF65-F5344CB8AC3E}">
        <p14:creationId xmlns:p14="http://schemas.microsoft.com/office/powerpoint/2010/main" val="1547116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837473B0-CC2E-450A-ABE3-18F120FF3D39}">
                <a1611:picAttrSrcUrl xmlns:a1611="http://schemas.microsoft.com/office/drawing/2016/11/main" r:id="rId3"/>
              </a:ext>
            </a:extLst>
          </a:blip>
          <a:srcRect/>
          <a:stretch>
            <a:fillRect t="-17000" b="-17000"/>
          </a:stretch>
        </a:blipFill>
        <a:effectLst/>
      </p:bgPr>
    </p:bg>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3724028-ACE3-4C62-BFA5-C155E24B3B9E}"/>
              </a:ext>
            </a:extLst>
          </p:cNvPr>
          <p:cNvSpPr>
            <a:spLocks noGrp="1"/>
          </p:cNvSpPr>
          <p:nvPr>
            <p:ph idx="1"/>
          </p:nvPr>
        </p:nvSpPr>
        <p:spPr>
          <a:xfrm>
            <a:off x="405781" y="476672"/>
            <a:ext cx="11173604" cy="5687397"/>
          </a:xfrm>
        </p:spPr>
        <p:txBody>
          <a:bodyPr/>
          <a:lstStyle/>
          <a:p>
            <a:endParaRPr lang="fr-FR" dirty="0"/>
          </a:p>
          <a:p>
            <a:endParaRPr lang="fr-FR" dirty="0"/>
          </a:p>
          <a:p>
            <a:endParaRPr lang="fr-FR" dirty="0"/>
          </a:p>
          <a:p>
            <a:endParaRPr lang="fr-FR" dirty="0"/>
          </a:p>
          <a:p>
            <a:endParaRPr lang="fr-FR" dirty="0"/>
          </a:p>
          <a:p>
            <a:pPr marL="0" indent="0">
              <a:buNone/>
            </a:pPr>
            <a:r>
              <a:rPr lang="fr-FR" sz="4800" dirty="0"/>
              <a:t>                           </a:t>
            </a:r>
          </a:p>
          <a:p>
            <a:pPr marL="0" indent="0">
              <a:buNone/>
            </a:pPr>
            <a:endParaRPr lang="fr-FR" sz="4800" dirty="0"/>
          </a:p>
          <a:p>
            <a:pPr marL="0" indent="0">
              <a:buNone/>
            </a:pPr>
            <a:r>
              <a:rPr lang="fr-FR" sz="4800" dirty="0"/>
              <a:t> </a:t>
            </a:r>
            <a:r>
              <a:rPr lang="fr-FR" sz="4800" b="1" i="1" dirty="0">
                <a:solidFill>
                  <a:srgbClr val="FFFF00"/>
                </a:solidFill>
                <a:effectLst>
                  <a:outerShdw blurRad="38100" dist="38100" dir="2700000" algn="tl">
                    <a:srgbClr val="000000">
                      <a:alpha val="43137"/>
                    </a:srgbClr>
                  </a:outerShdw>
                </a:effectLst>
              </a:rPr>
              <a:t>METHODES DE SAUVEGARDES</a:t>
            </a:r>
          </a:p>
        </p:txBody>
      </p:sp>
    </p:spTree>
    <p:extLst>
      <p:ext uri="{BB962C8B-B14F-4D97-AF65-F5344CB8AC3E}">
        <p14:creationId xmlns:p14="http://schemas.microsoft.com/office/powerpoint/2010/main" val="2385416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AE870FF-54D3-4847-B846-AF326E1DB1E8}"/>
              </a:ext>
            </a:extLst>
          </p:cNvPr>
          <p:cNvSpPr>
            <a:spLocks noGrp="1"/>
          </p:cNvSpPr>
          <p:nvPr>
            <p:ph type="title"/>
          </p:nvPr>
        </p:nvSpPr>
        <p:spPr>
          <a:xfrm>
            <a:off x="837829" y="116632"/>
            <a:ext cx="10712990" cy="706091"/>
          </a:xfrm>
        </p:spPr>
        <p:txBody>
          <a:bodyPr>
            <a:normAutofit fontScale="90000"/>
          </a:bodyPr>
          <a:lstStyle/>
          <a:p>
            <a:r>
              <a:rPr lang="fr-FR" dirty="0"/>
              <a:t> Méthode de sauvegarde: Sauvegarde locale</a:t>
            </a:r>
          </a:p>
        </p:txBody>
      </p:sp>
      <p:sp useBgFill="1">
        <p:nvSpPr>
          <p:cNvPr id="3" name="Espace réservé du contenu 2">
            <a:extLst>
              <a:ext uri="{FF2B5EF4-FFF2-40B4-BE49-F238E27FC236}">
                <a16:creationId xmlns:a16="http://schemas.microsoft.com/office/drawing/2014/main" id="{B5BB4F87-092E-4C3C-8E3A-819614008B61}"/>
              </a:ext>
            </a:extLst>
          </p:cNvPr>
          <p:cNvSpPr>
            <a:spLocks noGrp="1"/>
          </p:cNvSpPr>
          <p:nvPr>
            <p:ph idx="1"/>
          </p:nvPr>
        </p:nvSpPr>
        <p:spPr>
          <a:xfrm>
            <a:off x="1190317" y="1196752"/>
            <a:ext cx="10232688" cy="5112568"/>
          </a:xfrm>
        </p:spPr>
        <p:txBody>
          <a:bodyPr>
            <a:noAutofit/>
          </a:bodyPr>
          <a:lstStyle/>
          <a:p>
            <a:pPr algn="just"/>
            <a:r>
              <a:rPr lang="fr-FR" sz="2000" dirty="0"/>
              <a:t>Pour la sauvegarde de données, tous les supports ne conviennent pas ! Il est ainsi nécessaire d’éviter le stockage de données sur une clé USB. Entre le stockage limité et les failles de sécurité inhérentes à ce support, c’est un outil à éviter. Les meilleurs supports externes sont :</a:t>
            </a:r>
          </a:p>
          <a:p>
            <a:pPr algn="just"/>
            <a:r>
              <a:rPr lang="fr-FR" sz="2000" b="1" dirty="0"/>
              <a:t>Le disque dur externe :</a:t>
            </a:r>
            <a:r>
              <a:rPr lang="fr-FR" sz="2000" dirty="0"/>
              <a:t> grâce à leur grande capacité de stockage, ils peuvent accueillir facilement un nombre important de données.</a:t>
            </a:r>
          </a:p>
          <a:p>
            <a:pPr algn="just"/>
            <a:r>
              <a:rPr lang="fr-FR" sz="2000" b="1" dirty="0"/>
              <a:t>Le NAS </a:t>
            </a:r>
            <a:r>
              <a:rPr lang="fr-FR" sz="2000" b="1" i="1" dirty="0"/>
              <a:t>(Network Attached Storage ou serveur de stockage en réseau)</a:t>
            </a:r>
            <a:r>
              <a:rPr lang="fr-FR" sz="2000" b="1" dirty="0"/>
              <a:t> :</a:t>
            </a:r>
            <a:r>
              <a:rPr lang="fr-FR" sz="2000" dirty="0"/>
              <a:t> celui-ci vous permet de partager facilement des fichiers, sur l’ensemble des appareils connectés à votre réseau. Vous disposez ainsi de dossiers partagés pouvant servir de sauvegarde en cas d’incident. Le NAS intègre généralement plusieurs disques durs, ce qui vous permet de disposer d’une plus grande capacité de stockage qu’un simple disque dur externe.</a:t>
            </a:r>
          </a:p>
          <a:p>
            <a:pPr algn="just"/>
            <a:r>
              <a:rPr lang="fr-FR" sz="2000" b="1" dirty="0"/>
              <a:t>Les sauvegardes sur supports physiques ne sont toutefois pas infaillibles, même si celles-ci doivent faire partie de votre plan d’urgence de restauration de données.</a:t>
            </a:r>
            <a:r>
              <a:rPr lang="fr-FR" sz="2000" dirty="0"/>
              <a:t> Une erreur humaine est toujours possible, tout comme le vol du support, ou tout simplement sa perte. Pour pallier à ces inconvénients une autre solution, qui peut être complémentaire, est possible : la sauvegarde dans le cloud.</a:t>
            </a:r>
          </a:p>
          <a:p>
            <a:endParaRPr lang="fr-FR" sz="2000" dirty="0"/>
          </a:p>
        </p:txBody>
      </p:sp>
    </p:spTree>
    <p:extLst>
      <p:ext uri="{BB962C8B-B14F-4D97-AF65-F5344CB8AC3E}">
        <p14:creationId xmlns:p14="http://schemas.microsoft.com/office/powerpoint/2010/main" val="31712677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AE870FF-54D3-4847-B846-AF326E1DB1E8}"/>
              </a:ext>
            </a:extLst>
          </p:cNvPr>
          <p:cNvSpPr>
            <a:spLocks noGrp="1"/>
          </p:cNvSpPr>
          <p:nvPr>
            <p:ph type="title"/>
          </p:nvPr>
        </p:nvSpPr>
        <p:spPr>
          <a:xfrm>
            <a:off x="1069569" y="0"/>
            <a:ext cx="10055781" cy="2093976"/>
          </a:xfrm>
        </p:spPr>
        <p:txBody>
          <a:bodyPr/>
          <a:lstStyle/>
          <a:p>
            <a:r>
              <a:rPr lang="fr-FR" sz="4900" dirty="0" err="1"/>
              <a:t>Methode</a:t>
            </a:r>
            <a:r>
              <a:rPr lang="fr-FR" sz="4900" dirty="0"/>
              <a:t> de sauvegarde:Sauvegarde sur                 cloud</a:t>
            </a:r>
          </a:p>
        </p:txBody>
      </p:sp>
      <p:sp>
        <p:nvSpPr>
          <p:cNvPr id="3" name="Espace réservé du contenu 2">
            <a:extLst>
              <a:ext uri="{FF2B5EF4-FFF2-40B4-BE49-F238E27FC236}">
                <a16:creationId xmlns:a16="http://schemas.microsoft.com/office/drawing/2014/main" id="{B5BB4F87-092E-4C3C-8E3A-819614008B61}"/>
              </a:ext>
            </a:extLst>
          </p:cNvPr>
          <p:cNvSpPr>
            <a:spLocks noGrp="1"/>
          </p:cNvSpPr>
          <p:nvPr>
            <p:ph idx="1"/>
          </p:nvPr>
        </p:nvSpPr>
        <p:spPr/>
        <p:txBody>
          <a:bodyPr>
            <a:noAutofit/>
          </a:bodyPr>
          <a:lstStyle/>
          <a:p>
            <a:pPr algn="just"/>
            <a:r>
              <a:rPr lang="fr-FR" sz="2000" dirty="0"/>
              <a:t>La </a:t>
            </a:r>
            <a:r>
              <a:rPr lang="fr-FR" sz="2000" b="1" dirty="0"/>
              <a:t>sauvegarde cloud</a:t>
            </a:r>
            <a:r>
              <a:rPr lang="fr-FR" sz="2000" dirty="0"/>
              <a:t>, également appelée sauvegarde en ligne, est une méthode de sauvegarde des données informatiques sur des serveurs distants, accessibles via Internet. Contrairement aux sauvegardes traditionnelles sur des supports physiques tels que des disques durs externes, ou des clés USB, la sauvegarde cloud permet de stocker les données en ligne.</a:t>
            </a:r>
          </a:p>
          <a:p>
            <a:pPr algn="just"/>
            <a:r>
              <a:rPr lang="fr-FR" sz="2000" dirty="0"/>
              <a:t>La sauvegarde cloud permet aux utilisateurs de sauvegarder leurs données sur des serveurs distants, gérés par des fournisseurs de services cloud, tels que Amazon Web Services, Microsoft Azure ou encore Dropbox. Les données sont alors accessibles à partir de n’importe quel emplacement disposant d’une connexion Internet, ce qui permet une plus grande mobilité et une plus grande flexibilité pour les utilisateurs. </a:t>
            </a:r>
          </a:p>
          <a:p>
            <a:pPr algn="just"/>
            <a:r>
              <a:rPr lang="fr-FR" sz="2000" dirty="0"/>
              <a:t>De plus, les fournisseurs de services cloud offrent souvent des fonctionnalités avancées telles que la déduplication des données, la compression et le chiffrement, pour garantir la sécurité et l’intégrité des données sauvegardées.</a:t>
            </a:r>
          </a:p>
          <a:p>
            <a:pPr algn="just"/>
            <a:br>
              <a:rPr lang="fr-FR" sz="2000" dirty="0"/>
            </a:br>
            <a:endParaRPr lang="fr-FR" sz="2000" dirty="0"/>
          </a:p>
        </p:txBody>
      </p:sp>
    </p:spTree>
    <p:extLst>
      <p:ext uri="{BB962C8B-B14F-4D97-AF65-F5344CB8AC3E}">
        <p14:creationId xmlns:p14="http://schemas.microsoft.com/office/powerpoint/2010/main" val="275496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AE870FF-54D3-4847-B846-AF326E1DB1E8}"/>
              </a:ext>
            </a:extLst>
          </p:cNvPr>
          <p:cNvSpPr>
            <a:spLocks noGrp="1"/>
          </p:cNvSpPr>
          <p:nvPr>
            <p:ph type="title"/>
          </p:nvPr>
        </p:nvSpPr>
        <p:spPr>
          <a:xfrm>
            <a:off x="1049297" y="260648"/>
            <a:ext cx="10055781" cy="1609344"/>
          </a:xfrm>
        </p:spPr>
        <p:txBody>
          <a:bodyPr/>
          <a:lstStyle/>
          <a:p>
            <a:r>
              <a:rPr lang="fr-FR" dirty="0"/>
              <a:t> </a:t>
            </a:r>
            <a:r>
              <a:rPr lang="fr-FR" sz="4900" dirty="0"/>
              <a:t>Méthode de sauvegarde: Sauvegarde sur cloud</a:t>
            </a:r>
          </a:p>
        </p:txBody>
      </p:sp>
      <p:sp>
        <p:nvSpPr>
          <p:cNvPr id="3" name="Espace réservé du contenu 2">
            <a:extLst>
              <a:ext uri="{FF2B5EF4-FFF2-40B4-BE49-F238E27FC236}">
                <a16:creationId xmlns:a16="http://schemas.microsoft.com/office/drawing/2014/main" id="{B5BB4F87-092E-4C3C-8E3A-819614008B61}"/>
              </a:ext>
            </a:extLst>
          </p:cNvPr>
          <p:cNvSpPr>
            <a:spLocks noGrp="1"/>
          </p:cNvSpPr>
          <p:nvPr>
            <p:ph idx="1"/>
          </p:nvPr>
        </p:nvSpPr>
        <p:spPr/>
        <p:txBody>
          <a:bodyPr>
            <a:normAutofit lnSpcReduction="10000"/>
          </a:bodyPr>
          <a:lstStyle/>
          <a:p>
            <a:pPr algn="just"/>
            <a:r>
              <a:rPr lang="fr-FR" dirty="0"/>
              <a:t>Avantages de la sauvegarde en ligne :</a:t>
            </a:r>
          </a:p>
          <a:p>
            <a:pPr lvl="1" algn="just"/>
            <a:r>
              <a:rPr lang="fr-FR" dirty="0"/>
              <a:t>Sécurité renforcée grâce au stockage distant des données, protégeant contre les incidents locaux tels que les sinistres ou les vols.</a:t>
            </a:r>
          </a:p>
          <a:p>
            <a:pPr lvl="1" algn="just"/>
            <a:r>
              <a:rPr lang="fr-FR" dirty="0"/>
              <a:t>Accessibilité des données depuis n'importe quel emplacement avec une connexion Internet.</a:t>
            </a:r>
          </a:p>
          <a:p>
            <a:pPr lvl="1" algn="just"/>
            <a:r>
              <a:rPr lang="fr-FR" dirty="0"/>
              <a:t>Évolutivité facile pour augmenter la capacité de stockage en fonction des besoins.</a:t>
            </a:r>
          </a:p>
          <a:p>
            <a:pPr algn="just"/>
            <a:r>
              <a:rPr lang="fr-FR" dirty="0"/>
              <a:t>Inconvénients de la sauvegarde en ligne :</a:t>
            </a:r>
          </a:p>
          <a:p>
            <a:pPr lvl="1" algn="just"/>
            <a:r>
              <a:rPr lang="fr-FR" dirty="0"/>
              <a:t>Dépendance à une connexion Internet effectuer pour la sauvegarde ou la restauration des données.</a:t>
            </a:r>
          </a:p>
          <a:p>
            <a:pPr lvl="1" algn="just"/>
            <a:r>
              <a:rPr lang="fr-FR" dirty="0"/>
              <a:t>Coût associé à l'utilisation des services de stockage en ligne, en particulier pour les grandes quantités de données.</a:t>
            </a:r>
          </a:p>
          <a:p>
            <a:br>
              <a:rPr lang="fr-FR" dirty="0"/>
            </a:br>
            <a:endParaRPr lang="fr-FR" dirty="0"/>
          </a:p>
        </p:txBody>
      </p:sp>
    </p:spTree>
    <p:extLst>
      <p:ext uri="{BB962C8B-B14F-4D97-AF65-F5344CB8AC3E}">
        <p14:creationId xmlns:p14="http://schemas.microsoft.com/office/powerpoint/2010/main" val="2426416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AE870FF-54D3-4847-B846-AF326E1DB1E8}"/>
              </a:ext>
            </a:extLst>
          </p:cNvPr>
          <p:cNvSpPr>
            <a:spLocks noGrp="1"/>
          </p:cNvSpPr>
          <p:nvPr>
            <p:ph type="title"/>
          </p:nvPr>
        </p:nvSpPr>
        <p:spPr>
          <a:xfrm>
            <a:off x="764851" y="188640"/>
            <a:ext cx="10360500" cy="1224136"/>
          </a:xfrm>
        </p:spPr>
        <p:txBody>
          <a:bodyPr>
            <a:normAutofit fontScale="90000"/>
          </a:bodyPr>
          <a:lstStyle/>
          <a:p>
            <a:r>
              <a:rPr lang="fr-FR" dirty="0"/>
              <a:t> Méthode de sauvegarde: Sauvegarde sur serveur distant</a:t>
            </a:r>
          </a:p>
        </p:txBody>
      </p:sp>
      <p:sp>
        <p:nvSpPr>
          <p:cNvPr id="3" name="Espace réservé du contenu 2">
            <a:extLst>
              <a:ext uri="{FF2B5EF4-FFF2-40B4-BE49-F238E27FC236}">
                <a16:creationId xmlns:a16="http://schemas.microsoft.com/office/drawing/2014/main" id="{B5BB4F87-092E-4C3C-8E3A-819614008B61}"/>
              </a:ext>
            </a:extLst>
          </p:cNvPr>
          <p:cNvSpPr>
            <a:spLocks noGrp="1"/>
          </p:cNvSpPr>
          <p:nvPr>
            <p:ph idx="1"/>
          </p:nvPr>
        </p:nvSpPr>
        <p:spPr>
          <a:xfrm>
            <a:off x="1218883" y="1701796"/>
            <a:ext cx="10360501" cy="4751539"/>
          </a:xfrm>
        </p:spPr>
        <p:txBody>
          <a:bodyPr>
            <a:noAutofit/>
          </a:bodyPr>
          <a:lstStyle/>
          <a:p>
            <a:pPr algn="just"/>
            <a:r>
              <a:rPr lang="fr-FR" sz="2200" dirty="0"/>
              <a:t>la sauvegarde sur serveur distant consiste à copier les données sur un serveur situé hors site, généralement dans un centre de données sécurisées.</a:t>
            </a:r>
          </a:p>
          <a:p>
            <a:pPr algn="just"/>
            <a:r>
              <a:rPr lang="fr-FR" sz="2200" dirty="0"/>
              <a:t>Avantages de la sauvegarde sur serveur distant :</a:t>
            </a:r>
          </a:p>
          <a:p>
            <a:pPr lvl="1" algn="just"/>
            <a:r>
              <a:rPr lang="fr-FR" sz="2200" dirty="0"/>
              <a:t>Protection contre les catastrophes majeures locales, comme les incendies, les inondations ou les vols.</a:t>
            </a:r>
          </a:p>
          <a:p>
            <a:pPr lvl="1" algn="just"/>
            <a:r>
              <a:rPr lang="fr-FR" sz="2200" dirty="0"/>
              <a:t>Accès à distance aux données sauvegardées pour la restauration en cas de besoin.</a:t>
            </a:r>
          </a:p>
          <a:p>
            <a:pPr lvl="1" algn="just"/>
            <a:r>
              <a:rPr lang="fr-FR" sz="2200" dirty="0"/>
              <a:t>Possibilité de bénéficier des avantages de la sauvegarde en ligne avec un contrôle plus direct sur les serveurs distants.</a:t>
            </a:r>
          </a:p>
          <a:p>
            <a:pPr algn="just"/>
            <a:r>
              <a:rPr lang="fr-FR" sz="2200" dirty="0"/>
              <a:t>Inconvénients de la sauvegarde sur serveur distant :</a:t>
            </a:r>
          </a:p>
          <a:p>
            <a:pPr lvl="1" algn="just"/>
            <a:r>
              <a:rPr lang="fr-FR" sz="2200" dirty="0"/>
              <a:t>Coût associé à la localisation ou à l'utilisation d'un espace serveur distant.</a:t>
            </a:r>
          </a:p>
          <a:p>
            <a:pPr lvl="1" algn="just"/>
            <a:r>
              <a:rPr lang="fr-FR" sz="2200" dirty="0"/>
              <a:t>Nécessite une connexion réseau fiable effectuer pour les sauvegardes et restaurer les données.</a:t>
            </a:r>
          </a:p>
          <a:p>
            <a:br>
              <a:rPr lang="fr-FR" sz="2200" dirty="0"/>
            </a:br>
            <a:endParaRPr lang="fr-FR" sz="2200" dirty="0"/>
          </a:p>
        </p:txBody>
      </p:sp>
    </p:spTree>
    <p:extLst>
      <p:ext uri="{BB962C8B-B14F-4D97-AF65-F5344CB8AC3E}">
        <p14:creationId xmlns:p14="http://schemas.microsoft.com/office/powerpoint/2010/main" val="1801765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D2A21DA4-C831-4F5B-8250-2217133359ED}"/>
              </a:ext>
            </a:extLst>
          </p:cNvPr>
          <p:cNvSpPr>
            <a:spLocks noGrp="1"/>
          </p:cNvSpPr>
          <p:nvPr>
            <p:ph type="title"/>
          </p:nvPr>
        </p:nvSpPr>
        <p:spPr>
          <a:xfrm>
            <a:off x="261764" y="188640"/>
            <a:ext cx="11927061" cy="2520280"/>
          </a:xfrm>
        </p:spPr>
        <p:txBody>
          <a:bodyPr>
            <a:normAutofit/>
          </a:bodyPr>
          <a:lstStyle/>
          <a:p>
            <a:pPr algn="just"/>
            <a:r>
              <a:rPr lang="fr-FR" dirty="0"/>
              <a:t>Méthode de sauvegarde: </a:t>
            </a:r>
            <a:r>
              <a:rPr lang="fr-FR" sz="2400" dirty="0"/>
              <a:t>Il est essentiel de choisir la méthode de sauvegarde qui convient le mieux à vos besoins spécifiques en termes de sécurité, d'accessibilité et de coûts. Une combinaison de sauvegardes locales et en ligne peut offrir une protection plus complète et une redondance pour vos données critiques.</a:t>
            </a:r>
          </a:p>
        </p:txBody>
      </p:sp>
      <p:pic>
        <p:nvPicPr>
          <p:cNvPr id="4098" name="Picture 2" descr="Règle 3 2 1 sauvegarde données">
            <a:extLst>
              <a:ext uri="{FF2B5EF4-FFF2-40B4-BE49-F238E27FC236}">
                <a16:creationId xmlns:a16="http://schemas.microsoft.com/office/drawing/2014/main" id="{373FD190-34A2-4620-AA1A-B787E00AC95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35681" y="2852936"/>
            <a:ext cx="11317461" cy="36470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539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Espace réservé du contenu 6">
            <a:extLst>
              <a:ext uri="{FF2B5EF4-FFF2-40B4-BE49-F238E27FC236}">
                <a16:creationId xmlns:a16="http://schemas.microsoft.com/office/drawing/2014/main" id="{4E5434CF-A1EC-4E7E-A5F2-5FDAD6F5A6DE}"/>
              </a:ext>
            </a:extLst>
          </p:cNvPr>
          <p:cNvGraphicFramePr>
            <a:graphicFrameLocks noGrp="1"/>
          </p:cNvGraphicFramePr>
          <p:nvPr>
            <p:ph idx="1"/>
            <p:extLst>
              <p:ext uri="{D42A27DB-BD31-4B8C-83A1-F6EECF244321}">
                <p14:modId xmlns:p14="http://schemas.microsoft.com/office/powerpoint/2010/main" val="416577714"/>
              </p:ext>
            </p:extLst>
          </p:nvPr>
        </p:nvGraphicFramePr>
        <p:xfrm>
          <a:off x="-1" y="-387424"/>
          <a:ext cx="12188825" cy="7245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5329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E70B0BB-5CCC-4603-BE94-214E37CC1CB9}"/>
              </a:ext>
            </a:extLst>
          </p:cNvPr>
          <p:cNvSpPr>
            <a:spLocks noGrp="1"/>
          </p:cNvSpPr>
          <p:nvPr>
            <p:ph type="title"/>
          </p:nvPr>
        </p:nvSpPr>
        <p:spPr>
          <a:xfrm>
            <a:off x="1218883" y="188641"/>
            <a:ext cx="10360501" cy="1080119"/>
          </a:xfrm>
        </p:spPr>
        <p:txBody>
          <a:bodyPr>
            <a:normAutofit/>
          </a:bodyPr>
          <a:lstStyle/>
          <a:p>
            <a:r>
              <a:rPr lang="fr-FR" dirty="0"/>
              <a:t> Systèmes de sauvegarde automatisées</a:t>
            </a:r>
          </a:p>
        </p:txBody>
      </p:sp>
      <p:sp>
        <p:nvSpPr>
          <p:cNvPr id="3" name="Espace réservé du contenu 2">
            <a:extLst>
              <a:ext uri="{FF2B5EF4-FFF2-40B4-BE49-F238E27FC236}">
                <a16:creationId xmlns:a16="http://schemas.microsoft.com/office/drawing/2014/main" id="{407C3236-4FAE-466D-B0BA-0D8707E2F3F7}"/>
              </a:ext>
            </a:extLst>
          </p:cNvPr>
          <p:cNvSpPr>
            <a:spLocks noGrp="1"/>
          </p:cNvSpPr>
          <p:nvPr>
            <p:ph idx="1"/>
          </p:nvPr>
        </p:nvSpPr>
        <p:spPr/>
        <p:txBody>
          <a:bodyPr>
            <a:normAutofit/>
          </a:bodyPr>
          <a:lstStyle/>
          <a:p>
            <a:pPr algn="just"/>
            <a:r>
              <a:rPr lang="fr-FR" sz="2200" dirty="0"/>
              <a:t>un système de sauvegarde automatique est un système qui permet de récupérer des informations stockées sur des ordinateurs. Des sauvegardes automatiques sont nécessaires pour sauvegarder les données stockées et permettre la récupération des données en cas de panne du système. En automatisant une sauvegarde via un système de sauvegarde classique, l'utilisateur n'a pas à protéger les données manuellement.</a:t>
            </a:r>
          </a:p>
          <a:p>
            <a:pPr algn="just"/>
            <a:r>
              <a:rPr lang="fr-FR" sz="2200" dirty="0"/>
              <a:t>Les systèmes de sauvegarde automatisés offrent une solution pratique, fiable et efficace pour protéger vos données. Ils vous permettent de planifier des sauvegardes régulières, de réduire les erreurs humaines et de bénéficier d'une sauvegarde continue sans interrompre vos activités. Avec ces avantages, vous pouvez être sûr que vos données sont protégées de manière fiable et que vous pouvez les récupérer en cas de besoin.</a:t>
            </a:r>
          </a:p>
        </p:txBody>
      </p:sp>
    </p:spTree>
    <p:extLst>
      <p:ext uri="{BB962C8B-B14F-4D97-AF65-F5344CB8AC3E}">
        <p14:creationId xmlns:p14="http://schemas.microsoft.com/office/powerpoint/2010/main" val="1727534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E70B0BB-5CCC-4603-BE94-214E37CC1CB9}"/>
              </a:ext>
            </a:extLst>
          </p:cNvPr>
          <p:cNvSpPr>
            <a:spLocks noGrp="1"/>
          </p:cNvSpPr>
          <p:nvPr>
            <p:ph type="title"/>
          </p:nvPr>
        </p:nvSpPr>
        <p:spPr/>
        <p:txBody>
          <a:bodyPr>
            <a:normAutofit fontScale="90000"/>
          </a:bodyPr>
          <a:lstStyle/>
          <a:p>
            <a:r>
              <a:rPr lang="fr-FR" dirty="0"/>
              <a:t>Systèmes de sauvegarde automatisées : Planification des sauvegardes régulières </a:t>
            </a:r>
          </a:p>
        </p:txBody>
      </p:sp>
      <p:sp>
        <p:nvSpPr>
          <p:cNvPr id="3" name="Espace réservé du contenu 2">
            <a:extLst>
              <a:ext uri="{FF2B5EF4-FFF2-40B4-BE49-F238E27FC236}">
                <a16:creationId xmlns:a16="http://schemas.microsoft.com/office/drawing/2014/main" id="{407C3236-4FAE-466D-B0BA-0D8707E2F3F7}"/>
              </a:ext>
            </a:extLst>
          </p:cNvPr>
          <p:cNvSpPr>
            <a:spLocks noGrp="1"/>
          </p:cNvSpPr>
          <p:nvPr>
            <p:ph idx="1"/>
          </p:nvPr>
        </p:nvSpPr>
        <p:spPr>
          <a:xfrm>
            <a:off x="1069569" y="2492896"/>
            <a:ext cx="10055781" cy="3679304"/>
          </a:xfrm>
        </p:spPr>
        <p:txBody>
          <a:bodyPr>
            <a:normAutofit/>
          </a:bodyPr>
          <a:lstStyle/>
          <a:p>
            <a:pPr algn="just"/>
            <a:r>
              <a:rPr lang="fr-FR" sz="2200" dirty="0"/>
              <a:t>Les systèmes automatisés permettent de définir des planifications régulières pour les sauvegardes.</a:t>
            </a:r>
          </a:p>
          <a:p>
            <a:pPr algn="just"/>
            <a:r>
              <a:rPr lang="fr-FR" sz="2200" dirty="0"/>
              <a:t>Vous pouvez configurer des sauvegardes quotidiennes, hebdomadaires ou mensuelles selon vos besoins.</a:t>
            </a:r>
          </a:p>
          <a:p>
            <a:pPr algn="just"/>
            <a:r>
              <a:rPr lang="fr-FR" sz="2200" dirty="0"/>
              <a:t>Cela garantit que vos données sont sauvegardées de manière cohérente et à jour, sans nécessiter une intervention manuelle constante.</a:t>
            </a:r>
          </a:p>
          <a:p>
            <a:pPr algn="just"/>
            <a:endParaRPr lang="fr-FR" dirty="0"/>
          </a:p>
        </p:txBody>
      </p:sp>
    </p:spTree>
    <p:extLst>
      <p:ext uri="{BB962C8B-B14F-4D97-AF65-F5344CB8AC3E}">
        <p14:creationId xmlns:p14="http://schemas.microsoft.com/office/powerpoint/2010/main" val="1113913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E70B0BB-5CCC-4603-BE94-214E37CC1CB9}"/>
              </a:ext>
            </a:extLst>
          </p:cNvPr>
          <p:cNvSpPr>
            <a:spLocks noGrp="1"/>
          </p:cNvSpPr>
          <p:nvPr>
            <p:ph type="title"/>
          </p:nvPr>
        </p:nvSpPr>
        <p:spPr/>
        <p:txBody>
          <a:bodyPr>
            <a:normAutofit fontScale="90000"/>
          </a:bodyPr>
          <a:lstStyle/>
          <a:p>
            <a:r>
              <a:rPr lang="fr-FR" dirty="0"/>
              <a:t>Systèmes de sauvegarde automatisées: Réduction du risque d'erreur humaine :</a:t>
            </a:r>
            <a:br>
              <a:rPr lang="fr-FR" dirty="0"/>
            </a:br>
            <a:endParaRPr lang="fr-FR" dirty="0"/>
          </a:p>
        </p:txBody>
      </p:sp>
      <p:sp>
        <p:nvSpPr>
          <p:cNvPr id="3" name="Espace réservé du contenu 2">
            <a:extLst>
              <a:ext uri="{FF2B5EF4-FFF2-40B4-BE49-F238E27FC236}">
                <a16:creationId xmlns:a16="http://schemas.microsoft.com/office/drawing/2014/main" id="{407C3236-4FAE-466D-B0BA-0D8707E2F3F7}"/>
              </a:ext>
            </a:extLst>
          </p:cNvPr>
          <p:cNvSpPr>
            <a:spLocks noGrp="1"/>
          </p:cNvSpPr>
          <p:nvPr>
            <p:ph idx="1"/>
          </p:nvPr>
        </p:nvSpPr>
        <p:spPr/>
        <p:txBody>
          <a:bodyPr>
            <a:normAutofit/>
          </a:bodyPr>
          <a:lstStyle/>
          <a:p>
            <a:pPr algn="just"/>
            <a:r>
              <a:rPr lang="fr-FR" sz="2200" dirty="0"/>
              <a:t>Les erreurs humaines sont une cause courante de perte de données lors des sauvegardes manuelles.</a:t>
            </a:r>
          </a:p>
          <a:p>
            <a:pPr algn="just"/>
            <a:r>
              <a:rPr lang="fr-FR" sz="2200" dirty="0"/>
              <a:t>Les systèmes automatisés éliminent ce risque en exécutant les sauvegardes selon les paramètres préalablement définis.</a:t>
            </a:r>
          </a:p>
          <a:p>
            <a:pPr algn="just"/>
            <a:r>
              <a:rPr lang="fr-FR" sz="2200" dirty="0"/>
              <a:t>Il n'est plus nécessaire de se souvenir d'effectuer manuellement les sauvegardes, ainsi que les risques d'oubli ou de négligence.</a:t>
            </a:r>
          </a:p>
          <a:p>
            <a:pPr algn="just"/>
            <a:endParaRPr lang="fr-FR" dirty="0"/>
          </a:p>
        </p:txBody>
      </p:sp>
    </p:spTree>
    <p:extLst>
      <p:ext uri="{BB962C8B-B14F-4D97-AF65-F5344CB8AC3E}">
        <p14:creationId xmlns:p14="http://schemas.microsoft.com/office/powerpoint/2010/main" val="4221599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E70B0BB-5CCC-4603-BE94-214E37CC1CB9}"/>
              </a:ext>
            </a:extLst>
          </p:cNvPr>
          <p:cNvSpPr>
            <a:spLocks noGrp="1"/>
          </p:cNvSpPr>
          <p:nvPr>
            <p:ph type="title"/>
          </p:nvPr>
        </p:nvSpPr>
        <p:spPr/>
        <p:txBody>
          <a:bodyPr>
            <a:normAutofit fontScale="90000"/>
          </a:bodyPr>
          <a:lstStyle/>
          <a:p>
            <a:r>
              <a:rPr lang="fr-FR" dirty="0"/>
              <a:t>Systèmes de sauvegarde automatisées: Sauvegarde continue en arrière-plan :</a:t>
            </a:r>
            <a:br>
              <a:rPr lang="fr-FR" dirty="0"/>
            </a:br>
            <a:endParaRPr lang="fr-FR" dirty="0"/>
          </a:p>
        </p:txBody>
      </p:sp>
      <p:sp>
        <p:nvSpPr>
          <p:cNvPr id="3" name="Espace réservé du contenu 2">
            <a:extLst>
              <a:ext uri="{FF2B5EF4-FFF2-40B4-BE49-F238E27FC236}">
                <a16:creationId xmlns:a16="http://schemas.microsoft.com/office/drawing/2014/main" id="{407C3236-4FAE-466D-B0BA-0D8707E2F3F7}"/>
              </a:ext>
            </a:extLst>
          </p:cNvPr>
          <p:cNvSpPr>
            <a:spLocks noGrp="1"/>
          </p:cNvSpPr>
          <p:nvPr>
            <p:ph idx="1"/>
          </p:nvPr>
        </p:nvSpPr>
        <p:spPr/>
        <p:txBody>
          <a:bodyPr>
            <a:normAutofit/>
          </a:bodyPr>
          <a:lstStyle/>
          <a:p>
            <a:pPr algn="just"/>
            <a:r>
              <a:rPr lang="fr-FR" dirty="0"/>
              <a:t>Les systèmes automatisés peuvent fonctionner en arrière-plan de manière transparente, sans perturber vos activités quotidiennes.</a:t>
            </a:r>
          </a:p>
          <a:p>
            <a:pPr algn="just"/>
            <a:r>
              <a:rPr lang="fr-FR" dirty="0"/>
              <a:t>Les sauvegardes sont effectuées de manière continue, assurant la protection des données en temps réel.</a:t>
            </a:r>
          </a:p>
          <a:p>
            <a:pPr algn="just"/>
            <a:r>
              <a:rPr lang="fr-FR" dirty="0"/>
              <a:t>Vous pouvez travailler en toute tranquillité d'esprit, sachant que vos données sont automatiquement sauvegardées pendant que vous travaillez.</a:t>
            </a:r>
          </a:p>
          <a:p>
            <a:pPr algn="just"/>
            <a:endParaRPr lang="fr-FR" dirty="0"/>
          </a:p>
          <a:p>
            <a:pPr algn="just"/>
            <a:endParaRPr lang="fr-FR" dirty="0"/>
          </a:p>
        </p:txBody>
      </p:sp>
    </p:spTree>
    <p:extLst>
      <p:ext uri="{BB962C8B-B14F-4D97-AF65-F5344CB8AC3E}">
        <p14:creationId xmlns:p14="http://schemas.microsoft.com/office/powerpoint/2010/main" val="409722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extLst>
              <a:ext uri="{837473B0-CC2E-450A-ABE3-18F120FF3D39}">
                <a1611:picAttrSrcUrl xmlns:a1611="http://schemas.microsoft.com/office/drawing/2016/11/main" r:id="rId3"/>
              </a:ext>
            </a:extLst>
          </a:blip>
          <a:srcRect/>
          <a:stretch>
            <a:fillRect/>
          </a:stretch>
        </a:blipFill>
        <a:effectLst/>
      </p:bgPr>
    </p:bg>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41371079-583F-4E50-900F-36E1DBEAC29B}"/>
              </a:ext>
            </a:extLst>
          </p:cNvPr>
          <p:cNvSpPr>
            <a:spLocks noGrp="1"/>
          </p:cNvSpPr>
          <p:nvPr>
            <p:ph type="ctrTitle"/>
          </p:nvPr>
        </p:nvSpPr>
        <p:spPr>
          <a:xfrm>
            <a:off x="405780" y="260648"/>
            <a:ext cx="8735325" cy="2000251"/>
          </a:xfrm>
        </p:spPr>
        <p:txBody>
          <a:bodyPr/>
          <a:lstStyle/>
          <a:p>
            <a:r>
              <a:rPr lang="fr-FR" b="1" i="1" dirty="0">
                <a:solidFill>
                  <a:srgbClr val="FFFF00"/>
                </a:solidFill>
                <a:effectLst>
                  <a:outerShdw blurRad="38100" dist="38100" dir="2700000" algn="tl">
                    <a:srgbClr val="000000">
                      <a:alpha val="43137"/>
                    </a:srgbClr>
                  </a:outerShdw>
                </a:effectLst>
              </a:rPr>
              <a:t>SECURITÉ DES SAUVEGARDES</a:t>
            </a:r>
          </a:p>
        </p:txBody>
      </p:sp>
    </p:spTree>
    <p:extLst>
      <p:ext uri="{BB962C8B-B14F-4D97-AF65-F5344CB8AC3E}">
        <p14:creationId xmlns:p14="http://schemas.microsoft.com/office/powerpoint/2010/main" val="2214388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EDD232-0AC3-41A7-8459-3696381C3979}"/>
              </a:ext>
            </a:extLst>
          </p:cNvPr>
          <p:cNvSpPr>
            <a:spLocks noGrp="1"/>
          </p:cNvSpPr>
          <p:nvPr>
            <p:ph type="title"/>
          </p:nvPr>
        </p:nvSpPr>
        <p:spPr>
          <a:xfrm>
            <a:off x="1069569" y="484632"/>
            <a:ext cx="10055781" cy="928144"/>
          </a:xfrm>
        </p:spPr>
        <p:txBody>
          <a:bodyPr/>
          <a:lstStyle/>
          <a:p>
            <a:r>
              <a:rPr lang="fr-FR" dirty="0"/>
              <a:t>    Sécurité des sauvegardes</a:t>
            </a:r>
          </a:p>
        </p:txBody>
      </p:sp>
      <p:sp>
        <p:nvSpPr>
          <p:cNvPr id="3" name="Espace réservé du contenu 2">
            <a:extLst>
              <a:ext uri="{FF2B5EF4-FFF2-40B4-BE49-F238E27FC236}">
                <a16:creationId xmlns:a16="http://schemas.microsoft.com/office/drawing/2014/main" id="{76B108CA-C0E4-413B-840B-C0A779BB0F42}"/>
              </a:ext>
            </a:extLst>
          </p:cNvPr>
          <p:cNvSpPr>
            <a:spLocks noGrp="1"/>
          </p:cNvSpPr>
          <p:nvPr>
            <p:ph idx="1"/>
          </p:nvPr>
        </p:nvSpPr>
        <p:spPr/>
        <p:txBody>
          <a:bodyPr>
            <a:noAutofit/>
          </a:bodyPr>
          <a:lstStyle/>
          <a:p>
            <a:pPr algn="just"/>
            <a:r>
              <a:rPr lang="fr-FR" sz="1800" kern="1900" dirty="0"/>
              <a:t>La sécurité des sauvegardes est d'une importance cruciale pour protéger vos données contre les accès non autorisés et les pertes potentielles. La sécurité des sauvegardes garantit l'intégrité et la confidentialité de vos données. Le chiffrement des données, l'accès restreint aux sauvegardes et les sauvegardes hors site offrent une protection renforcée contre les attaques malveillantes, les pertes de données accidentelles et les catastrophes. Préserver à mettre en œuvre des mesures de sécurité appropriées pour protéger vos sauvegardes et garantir la continuité de vos activités en cas d'incident.</a:t>
            </a:r>
          </a:p>
          <a:p>
            <a:pPr algn="just"/>
            <a:r>
              <a:rPr lang="fr-FR" sz="1800" kern="1900" dirty="0"/>
              <a:t> Voici quelques points clés :</a:t>
            </a:r>
          </a:p>
          <a:p>
            <a:pPr algn="just"/>
            <a:r>
              <a:rPr lang="fr-FR" sz="1800" kern="1900" dirty="0"/>
              <a:t>Chiffrement des données :</a:t>
            </a:r>
          </a:p>
          <a:p>
            <a:pPr lvl="1" algn="just"/>
            <a:r>
              <a:rPr lang="fr-FR" sz="1800" kern="1900" dirty="0"/>
              <a:t>Le chiffrement des données consiste à convertir les informations en un format illisible sans la clé de déchiffrement correspondante.</a:t>
            </a:r>
          </a:p>
          <a:p>
            <a:pPr lvl="1" algn="just"/>
            <a:r>
              <a:rPr lang="fr-FR" sz="1800" kern="1900" dirty="0"/>
              <a:t>Il est essentiel d'utiliser des algorithmes de chiffrement forts pour protéger vos sauvegardes contre les attaques potentielles.</a:t>
            </a:r>
          </a:p>
          <a:p>
            <a:pPr lvl="1" algn="just"/>
            <a:r>
              <a:rPr lang="fr-FR" sz="1800" kern="1900" dirty="0"/>
              <a:t>Le chiffrement garantit que même si quelqu'un accède physiquement ou électroniquement aux sauvegardes, les données restent inaccessibles sans la clé de déchiffrement.</a:t>
            </a:r>
          </a:p>
          <a:p>
            <a:endParaRPr lang="fr-FR" sz="1800" kern="1900" dirty="0"/>
          </a:p>
        </p:txBody>
      </p:sp>
    </p:spTree>
    <p:extLst>
      <p:ext uri="{BB962C8B-B14F-4D97-AF65-F5344CB8AC3E}">
        <p14:creationId xmlns:p14="http://schemas.microsoft.com/office/powerpoint/2010/main" val="196702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EDD232-0AC3-41A7-8459-3696381C3979}"/>
              </a:ext>
            </a:extLst>
          </p:cNvPr>
          <p:cNvSpPr>
            <a:spLocks noGrp="1"/>
          </p:cNvSpPr>
          <p:nvPr>
            <p:ph type="title"/>
          </p:nvPr>
        </p:nvSpPr>
        <p:spPr/>
        <p:txBody>
          <a:bodyPr/>
          <a:lstStyle/>
          <a:p>
            <a:r>
              <a:rPr lang="fr-FR" dirty="0"/>
              <a:t>  Sécurité des sauvegardes</a:t>
            </a:r>
          </a:p>
        </p:txBody>
      </p:sp>
      <p:sp>
        <p:nvSpPr>
          <p:cNvPr id="3" name="Espace réservé du contenu 2">
            <a:extLst>
              <a:ext uri="{FF2B5EF4-FFF2-40B4-BE49-F238E27FC236}">
                <a16:creationId xmlns:a16="http://schemas.microsoft.com/office/drawing/2014/main" id="{76B108CA-C0E4-413B-840B-C0A779BB0F42}"/>
              </a:ext>
            </a:extLst>
          </p:cNvPr>
          <p:cNvSpPr>
            <a:spLocks noGrp="1"/>
          </p:cNvSpPr>
          <p:nvPr>
            <p:ph idx="1"/>
          </p:nvPr>
        </p:nvSpPr>
        <p:spPr/>
        <p:txBody>
          <a:bodyPr lIns="288000">
            <a:normAutofit fontScale="92500" lnSpcReduction="10000"/>
          </a:bodyPr>
          <a:lstStyle/>
          <a:p>
            <a:pPr algn="just"/>
            <a:r>
              <a:rPr lang="fr-FR" dirty="0"/>
              <a:t>Accès restreint aux sauvegardes :</a:t>
            </a:r>
          </a:p>
          <a:p>
            <a:pPr algn="just"/>
            <a:r>
              <a:rPr lang="fr-FR" dirty="0"/>
              <a:t>Limitez l'accès aux sauvegardes uniquement aux personnes autorisées pour éviter les fuites ou les modifications non autorisées.</a:t>
            </a:r>
          </a:p>
          <a:p>
            <a:pPr algn="just"/>
            <a:r>
              <a:rPr lang="fr-FR" dirty="0"/>
              <a:t>Mettez en place des systèmes d'authentification solides, tels que des mots de passe forts et des mesures de sécurité supplémentaires, comme l'authentification à deux facteurs.</a:t>
            </a:r>
          </a:p>
          <a:p>
            <a:pPr algn="just"/>
            <a:r>
              <a:rPr lang="fr-FR" dirty="0"/>
              <a:t>Sauvegardes hors site pour éviter la perte totale en cas de catastrophe :</a:t>
            </a:r>
          </a:p>
          <a:p>
            <a:pPr algn="just"/>
            <a:r>
              <a:rPr lang="fr-FR" dirty="0"/>
              <a:t>Il est essentiel de stocker certaines sauvegardes dans des emplacements géographiquement éloignés pour éviter la perte totale des données en cas de catastrophe locale.</a:t>
            </a:r>
          </a:p>
          <a:p>
            <a:pPr algn="just"/>
            <a:r>
              <a:rPr lang="fr-FR" dirty="0"/>
              <a:t>Les incendies, les inondations ou les catastrophes naturelles peuvent détruire les données sauvegardées localement, d'où l'importance des sauvegardes hors site.</a:t>
            </a:r>
          </a:p>
          <a:p>
            <a:pPr algn="just"/>
            <a:r>
              <a:rPr lang="fr-FR" dirty="0"/>
              <a:t>Les centres de données externes ou les services de cloud permettent des solutions de sauvegarde hors site sécurisées.</a:t>
            </a:r>
          </a:p>
          <a:p>
            <a:pPr algn="just"/>
            <a:endParaRPr lang="fr-FR" dirty="0"/>
          </a:p>
        </p:txBody>
      </p:sp>
    </p:spTree>
    <p:extLst>
      <p:ext uri="{BB962C8B-B14F-4D97-AF65-F5344CB8AC3E}">
        <p14:creationId xmlns:p14="http://schemas.microsoft.com/office/powerpoint/2010/main" val="2403792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1B2D7C3-F037-458E-A561-621C44B00103}"/>
              </a:ext>
            </a:extLst>
          </p:cNvPr>
          <p:cNvSpPr>
            <a:spLocks noGrp="1"/>
          </p:cNvSpPr>
          <p:nvPr>
            <p:ph type="title"/>
          </p:nvPr>
        </p:nvSpPr>
        <p:spPr/>
        <p:txBody>
          <a:bodyPr/>
          <a:lstStyle/>
          <a:p>
            <a:r>
              <a:rPr lang="fr-FR" dirty="0"/>
              <a:t>Meilleurs pratiques de sauvegarde</a:t>
            </a:r>
          </a:p>
        </p:txBody>
      </p:sp>
      <p:sp>
        <p:nvSpPr>
          <p:cNvPr id="3" name="Espace réservé du contenu 2">
            <a:extLst>
              <a:ext uri="{FF2B5EF4-FFF2-40B4-BE49-F238E27FC236}">
                <a16:creationId xmlns:a16="http://schemas.microsoft.com/office/drawing/2014/main" id="{46A36570-D7B9-462D-9DBF-2D28A39A9EE7}"/>
              </a:ext>
            </a:extLst>
          </p:cNvPr>
          <p:cNvSpPr>
            <a:spLocks noGrp="1"/>
          </p:cNvSpPr>
          <p:nvPr>
            <p:ph idx="1"/>
          </p:nvPr>
        </p:nvSpPr>
        <p:spPr/>
        <p:txBody>
          <a:bodyPr>
            <a:normAutofit/>
          </a:bodyPr>
          <a:lstStyle/>
          <a:p>
            <a:pPr algn="just"/>
            <a:r>
              <a:rPr lang="fr-FR" dirty="0"/>
              <a:t>Pour assurer l'efficacité et la fiabilité de votre système de sauvegarde, il est essentiel de suivre certaines meilleures pratiques. Voici quelques recommandations importantes :</a:t>
            </a:r>
          </a:p>
          <a:p>
            <a:pPr algn="just"/>
            <a:r>
              <a:rPr lang="fr-FR" dirty="0"/>
              <a:t>Établir une stratégie de sauvegarde claire :</a:t>
            </a:r>
          </a:p>
          <a:p>
            <a:pPr lvl="1" algn="just"/>
            <a:r>
              <a:rPr lang="fr-FR" dirty="0"/>
              <a:t>Identifiez les données critiques à sauvegarder, en tenant compte de leur importance pour votre organisation.</a:t>
            </a:r>
          </a:p>
          <a:p>
            <a:pPr lvl="1" algn="just"/>
            <a:r>
              <a:rPr lang="fr-FR" dirty="0"/>
              <a:t>Définissez la fréquence des sauvegardes en fonction de la criticité des données et de leur taux de modification.</a:t>
            </a:r>
          </a:p>
          <a:p>
            <a:pPr lvl="1" algn="just"/>
            <a:r>
              <a:rPr lang="fr-FR" dirty="0"/>
              <a:t>Déterminez les méthodes de sauvegarde appropriées (complète, différentielle, incrémentielle) en fonction de vos besoins en termes de temps de restauration et d'utilisation de l'espace de stockage.</a:t>
            </a:r>
          </a:p>
          <a:p>
            <a:pPr algn="just"/>
            <a:endParaRPr lang="fr-FR" dirty="0"/>
          </a:p>
        </p:txBody>
      </p:sp>
    </p:spTree>
    <p:extLst>
      <p:ext uri="{BB962C8B-B14F-4D97-AF65-F5344CB8AC3E}">
        <p14:creationId xmlns:p14="http://schemas.microsoft.com/office/powerpoint/2010/main" val="672611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288A8D4-F266-4736-A0D8-130A78AE7109}"/>
              </a:ext>
            </a:extLst>
          </p:cNvPr>
          <p:cNvSpPr>
            <a:spLocks noGrp="1"/>
          </p:cNvSpPr>
          <p:nvPr>
            <p:ph type="title"/>
          </p:nvPr>
        </p:nvSpPr>
        <p:spPr/>
        <p:txBody>
          <a:bodyPr/>
          <a:lstStyle/>
          <a:p>
            <a:r>
              <a:rPr lang="fr-FR" dirty="0"/>
              <a:t>Meilleurs pratiques de sauvegarde</a:t>
            </a:r>
          </a:p>
        </p:txBody>
      </p:sp>
      <p:sp>
        <p:nvSpPr>
          <p:cNvPr id="3" name="Espace réservé du contenu 2">
            <a:extLst>
              <a:ext uri="{FF2B5EF4-FFF2-40B4-BE49-F238E27FC236}">
                <a16:creationId xmlns:a16="http://schemas.microsoft.com/office/drawing/2014/main" id="{463693E2-960F-4119-A6C7-8FB30A7DFF55}"/>
              </a:ext>
            </a:extLst>
          </p:cNvPr>
          <p:cNvSpPr>
            <a:spLocks noGrp="1"/>
          </p:cNvSpPr>
          <p:nvPr>
            <p:ph idx="1"/>
          </p:nvPr>
        </p:nvSpPr>
        <p:spPr/>
        <p:txBody>
          <a:bodyPr>
            <a:normAutofit/>
          </a:bodyPr>
          <a:lstStyle/>
          <a:p>
            <a:pPr algn="just"/>
            <a:r>
              <a:rPr lang="fr-FR" dirty="0"/>
              <a:t>Automatiser les sauvegardes régulières :</a:t>
            </a:r>
          </a:p>
          <a:p>
            <a:pPr lvl="1" algn="just"/>
            <a:r>
              <a:rPr lang="fr-FR" dirty="0"/>
              <a:t>Configurez des sauvegardes automatiques selon la stratégie définie.</a:t>
            </a:r>
          </a:p>
          <a:p>
            <a:pPr lvl="1" algn="just"/>
            <a:r>
              <a:rPr lang="fr-FR" dirty="0"/>
              <a:t>Utilisez des outils de planification intégrés ou des logiciels de sauvegarde pour automatiser le processus de sauvegarde.</a:t>
            </a:r>
          </a:p>
          <a:p>
            <a:pPr lvl="1" algn="just"/>
            <a:r>
              <a:rPr lang="fr-FR" dirty="0"/>
              <a:t>Vérifiez que les sauvegardes sont effectivement exécutées conformément au planning établi.</a:t>
            </a:r>
          </a:p>
          <a:p>
            <a:pPr algn="just"/>
            <a:r>
              <a:rPr lang="fr-FR" dirty="0"/>
              <a:t>Vérifier régulièrement l'intégrité des sauvegardes :</a:t>
            </a:r>
          </a:p>
          <a:p>
            <a:pPr lvl="1" algn="just"/>
            <a:r>
              <a:rPr lang="fr-FR" dirty="0"/>
              <a:t>Effectuez des vérifications périodiques pour vous assurer que les sauvegardes sont intactes et lisibles.</a:t>
            </a:r>
          </a:p>
          <a:p>
            <a:pPr lvl="1" algn="just"/>
            <a:r>
              <a:rPr lang="fr-FR" dirty="0"/>
              <a:t>Vérifiez l'intégrité des données en effectuant des vérifications de hash ou en comparant les fichiers sauvegardés avec les originaux.</a:t>
            </a:r>
          </a:p>
          <a:p>
            <a:pPr lvl="1" algn="just"/>
            <a:r>
              <a:rPr lang="fr-FR" dirty="0"/>
              <a:t>Si possible, effectuez des tests de restauration sur des données de test pour vous assurer que les sauvegardes sont récupérables.</a:t>
            </a:r>
          </a:p>
          <a:p>
            <a:pPr algn="just"/>
            <a:endParaRPr lang="fr-FR" dirty="0"/>
          </a:p>
        </p:txBody>
      </p:sp>
    </p:spTree>
    <p:extLst>
      <p:ext uri="{BB962C8B-B14F-4D97-AF65-F5344CB8AC3E}">
        <p14:creationId xmlns:p14="http://schemas.microsoft.com/office/powerpoint/2010/main" val="3746830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8C1A8BD-AD96-432C-9280-27D81BCB7F3D}"/>
              </a:ext>
            </a:extLst>
          </p:cNvPr>
          <p:cNvSpPr>
            <a:spLocks noGrp="1"/>
          </p:cNvSpPr>
          <p:nvPr>
            <p:ph type="title"/>
          </p:nvPr>
        </p:nvSpPr>
        <p:spPr/>
        <p:txBody>
          <a:bodyPr/>
          <a:lstStyle/>
          <a:p>
            <a:r>
              <a:rPr lang="fr-FR" dirty="0"/>
              <a:t>Meilleurs pratiques de sauvegarde</a:t>
            </a:r>
          </a:p>
        </p:txBody>
      </p:sp>
      <p:sp>
        <p:nvSpPr>
          <p:cNvPr id="3" name="Espace réservé du contenu 2">
            <a:extLst>
              <a:ext uri="{FF2B5EF4-FFF2-40B4-BE49-F238E27FC236}">
                <a16:creationId xmlns:a16="http://schemas.microsoft.com/office/drawing/2014/main" id="{9D722C78-CE9C-41BA-B357-348AE13016B9}"/>
              </a:ext>
            </a:extLst>
          </p:cNvPr>
          <p:cNvSpPr>
            <a:spLocks noGrp="1"/>
          </p:cNvSpPr>
          <p:nvPr>
            <p:ph idx="1"/>
          </p:nvPr>
        </p:nvSpPr>
        <p:spPr/>
        <p:txBody>
          <a:bodyPr>
            <a:normAutofit/>
          </a:bodyPr>
          <a:lstStyle/>
          <a:p>
            <a:pPr algn="just"/>
            <a:r>
              <a:rPr lang="fr-FR" sz="1800" dirty="0"/>
              <a:t>Stocker les sauvegardes dans un endroit sûr :</a:t>
            </a:r>
          </a:p>
          <a:p>
            <a:pPr algn="just"/>
            <a:r>
              <a:rPr lang="fr-FR" sz="1800" dirty="0"/>
              <a:t>Choisissez un emplacement de stockage sécurisé pour vos sauvegardes, tel qu'un NAS, un serveur distant ou un service de sauvegarde cloud réputé.</a:t>
            </a:r>
          </a:p>
          <a:p>
            <a:pPr algn="just"/>
            <a:r>
              <a:rPr lang="fr-FR" sz="1800" dirty="0"/>
              <a:t>Protégez les sauvegardes avec des mesures de sécurité appropriées, telles que le chiffrement des données et des accès restreints.</a:t>
            </a:r>
          </a:p>
          <a:p>
            <a:pPr algn="just"/>
            <a:r>
              <a:rPr lang="fr-FR" sz="1800" dirty="0"/>
              <a:t>Si vous utilisez des supports physiques, tels que des disques externes, assurez-vous de les conserver dans un endroit sûr, à l'abri des risques de vol, d'incendie ou de dommages.</a:t>
            </a:r>
          </a:p>
          <a:p>
            <a:pPr algn="just"/>
            <a:endParaRPr lang="fr-FR" sz="1800" dirty="0"/>
          </a:p>
        </p:txBody>
      </p:sp>
    </p:spTree>
    <p:extLst>
      <p:ext uri="{BB962C8B-B14F-4D97-AF65-F5344CB8AC3E}">
        <p14:creationId xmlns:p14="http://schemas.microsoft.com/office/powerpoint/2010/main" val="3113871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16C78A-A851-4958-AEC3-8C286A79087F}"/>
              </a:ext>
            </a:extLst>
          </p:cNvPr>
          <p:cNvSpPr>
            <a:spLocks noGrp="1"/>
          </p:cNvSpPr>
          <p:nvPr>
            <p:ph type="title"/>
          </p:nvPr>
        </p:nvSpPr>
        <p:spPr>
          <a:xfrm>
            <a:off x="94878" y="188640"/>
            <a:ext cx="11999067" cy="1297133"/>
          </a:xfrm>
        </p:spPr>
        <p:txBody>
          <a:bodyPr>
            <a:normAutofit fontScale="90000"/>
          </a:bodyPr>
          <a:lstStyle/>
          <a:p>
            <a:r>
              <a:rPr lang="fr-FR" dirty="0"/>
              <a:t>les facteurs à considérer lors du choix d'un système de  sauvegarde   </a:t>
            </a:r>
          </a:p>
        </p:txBody>
      </p:sp>
      <p:sp>
        <p:nvSpPr>
          <p:cNvPr id="3" name="Espace réservé du contenu 2">
            <a:extLst>
              <a:ext uri="{FF2B5EF4-FFF2-40B4-BE49-F238E27FC236}">
                <a16:creationId xmlns:a16="http://schemas.microsoft.com/office/drawing/2014/main" id="{001D67AC-80BB-4654-A5E6-12358C15FC28}"/>
              </a:ext>
            </a:extLst>
          </p:cNvPr>
          <p:cNvSpPr>
            <a:spLocks noGrp="1"/>
          </p:cNvSpPr>
          <p:nvPr>
            <p:ph idx="1"/>
          </p:nvPr>
        </p:nvSpPr>
        <p:spPr/>
        <p:txBody>
          <a:bodyPr>
            <a:normAutofit/>
          </a:bodyPr>
          <a:lstStyle/>
          <a:p>
            <a:pPr algn="just"/>
            <a:r>
              <a:rPr lang="fr-FR" sz="1800" dirty="0"/>
              <a:t>Lors de la mise en place d'un système de sauvegarde, il est essentiel de prendre en compte plusieurs facteurs afin d'assurer une protection adéquate de vos données. Voici quelques facteurs clés à considérer :</a:t>
            </a:r>
          </a:p>
          <a:p>
            <a:pPr algn="just"/>
            <a:r>
              <a:rPr lang="fr-FR" sz="1800" dirty="0"/>
              <a:t>Fréquence de sauvegarde : La fréquence de sauvegarde détermine à quelle fréquence vos données sont sauvegardées. Elle dépend de la criticité de vos données et de la fréquence à laquelle elles sont modifiées. Par exemple, les données qui changent fréquemment, telles que les bases de données, peuvent nécessiter des sauvegardes plus régulières pour minimiser la perte de données en cas d'incident.</a:t>
            </a:r>
          </a:p>
          <a:p>
            <a:pPr algn="just"/>
            <a:endParaRPr lang="fr-FR" sz="1800" dirty="0"/>
          </a:p>
        </p:txBody>
      </p:sp>
    </p:spTree>
    <p:extLst>
      <p:ext uri="{BB962C8B-B14F-4D97-AF65-F5344CB8AC3E}">
        <p14:creationId xmlns:p14="http://schemas.microsoft.com/office/powerpoint/2010/main" val="2885434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8BEA0AA-4639-4D67-9EA1-828A8D93E0B4}"/>
              </a:ext>
            </a:extLst>
          </p:cNvPr>
          <p:cNvSpPr>
            <a:spLocks noGrp="1"/>
          </p:cNvSpPr>
          <p:nvPr>
            <p:ph type="title"/>
          </p:nvPr>
        </p:nvSpPr>
        <p:spPr>
          <a:xfrm>
            <a:off x="837829" y="260648"/>
            <a:ext cx="10284474" cy="1609344"/>
          </a:xfrm>
        </p:spPr>
        <p:txBody>
          <a:bodyPr>
            <a:normAutofit/>
          </a:bodyPr>
          <a:lstStyle/>
          <a:p>
            <a:r>
              <a:rPr lang="fr-FR" dirty="0"/>
              <a:t> les facteurs à considérer lors du choix d'un système de sauvegarde </a:t>
            </a:r>
          </a:p>
        </p:txBody>
      </p:sp>
      <p:sp>
        <p:nvSpPr>
          <p:cNvPr id="3" name="Espace réservé du contenu 2">
            <a:extLst>
              <a:ext uri="{FF2B5EF4-FFF2-40B4-BE49-F238E27FC236}">
                <a16:creationId xmlns:a16="http://schemas.microsoft.com/office/drawing/2014/main" id="{8FA21E59-4500-449A-9C72-5B2E07A2C245}"/>
              </a:ext>
            </a:extLst>
          </p:cNvPr>
          <p:cNvSpPr>
            <a:spLocks noGrp="1"/>
          </p:cNvSpPr>
          <p:nvPr>
            <p:ph idx="1"/>
          </p:nvPr>
        </p:nvSpPr>
        <p:spPr/>
        <p:txBody>
          <a:bodyPr>
            <a:normAutofit/>
          </a:bodyPr>
          <a:lstStyle/>
          <a:p>
            <a:pPr algn="just"/>
            <a:r>
              <a:rPr lang="fr-FR" sz="1800" dirty="0"/>
              <a:t>Taille des données : La taille de vos données joue un rôle crucial dans le choix d'un système de sauvegarde. Si vous avez de grandes quantités de données à sauvegarder, vous devrez vous assurer que votre solution de sauvegarde dispose de suffisamment d'espace de stockage pour accueillir l'ensemble des données. Vous pouvez également envisager la compression des données pour réduire l'espace de stockage nécessaire.</a:t>
            </a:r>
          </a:p>
          <a:p>
            <a:pPr algn="just"/>
            <a:r>
              <a:rPr lang="fr-FR" sz="1800" dirty="0"/>
              <a:t>Temps de sauvegarde : Le temps nécessaire pour effectuer une sauvegarde est un facteur à prendre en compte, en particulier si vous avez une fenêtre de sauvegarde limitée. Certaines méthodes de sauvegarde, comme la sauvegarde complète, peuvent prendre plus de temps que d'autres, ce qui peut avoir un impact sur les opérations normales de votre système. Il est important de trouver un équilibre entre la rapidité de sauvegarde et la fiabilité des données sauvegardées.</a:t>
            </a:r>
          </a:p>
          <a:p>
            <a:pPr algn="just"/>
            <a:endParaRPr lang="fr-FR" sz="1800" dirty="0"/>
          </a:p>
        </p:txBody>
      </p:sp>
    </p:spTree>
    <p:extLst>
      <p:ext uri="{BB962C8B-B14F-4D97-AF65-F5344CB8AC3E}">
        <p14:creationId xmlns:p14="http://schemas.microsoft.com/office/powerpoint/2010/main" val="537770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74BF98-9060-40B3-8046-BDB69CAC2158}"/>
              </a:ext>
            </a:extLst>
          </p:cNvPr>
          <p:cNvSpPr>
            <a:spLocks noGrp="1"/>
          </p:cNvSpPr>
          <p:nvPr>
            <p:ph type="title"/>
          </p:nvPr>
        </p:nvSpPr>
        <p:spPr>
          <a:xfrm>
            <a:off x="1052883" y="188640"/>
            <a:ext cx="10055781" cy="1644736"/>
          </a:xfrm>
        </p:spPr>
        <p:txBody>
          <a:bodyPr>
            <a:normAutofit/>
          </a:bodyPr>
          <a:lstStyle/>
          <a:p>
            <a:r>
              <a:rPr lang="fr-FR" dirty="0"/>
              <a:t> les facteurs à considérer lors du choix d'un système de sauvegarde </a:t>
            </a:r>
          </a:p>
        </p:txBody>
      </p:sp>
      <p:sp>
        <p:nvSpPr>
          <p:cNvPr id="3" name="Espace réservé du contenu 2">
            <a:extLst>
              <a:ext uri="{FF2B5EF4-FFF2-40B4-BE49-F238E27FC236}">
                <a16:creationId xmlns:a16="http://schemas.microsoft.com/office/drawing/2014/main" id="{682319A2-48B0-415A-888F-2FE303FDF6AB}"/>
              </a:ext>
            </a:extLst>
          </p:cNvPr>
          <p:cNvSpPr>
            <a:spLocks noGrp="1"/>
          </p:cNvSpPr>
          <p:nvPr>
            <p:ph idx="1"/>
          </p:nvPr>
        </p:nvSpPr>
        <p:spPr/>
        <p:txBody>
          <a:bodyPr>
            <a:normAutofit/>
          </a:bodyPr>
          <a:lstStyle/>
          <a:p>
            <a:pPr algn="just"/>
            <a:r>
              <a:rPr lang="fr-FR" sz="1800" dirty="0"/>
              <a:t>Coût : Le coût est un facteur important à considérer lors du choix d'un système de sauvegarde. Il peut inclure le coût initial d'acquisition de la solution de sauvegarde, ainsi que les coûts récurrents tels que l'espace de stockage supplémentaire ou les licences de logiciels. Il est essentiel de tenir compte de votre budget et de choisir une solution de sauvegarde qui offre un bon rapport qualité-prix.</a:t>
            </a:r>
          </a:p>
          <a:p>
            <a:pPr algn="just"/>
            <a:r>
              <a:rPr lang="fr-FR" sz="1800" dirty="0"/>
              <a:t>Facilité de restauration des données : La facilité de restauration des données est un aspect crucial à considérer. Lorsque vous devez récupérer des données à partir de votre sauvegarde, il est essentiel que le processus soit simple, rapide et fiable. Vérifiez la convivialité de l'interface de restauration, les fonctionnalités de recherche et de récupération des données, ainsi que la possibilité de tester régulièrement vos sauvegardes pour vous assurer de leur intégrité.</a:t>
            </a:r>
          </a:p>
          <a:p>
            <a:pPr algn="just"/>
            <a:endParaRPr lang="fr-FR" sz="1800" dirty="0"/>
          </a:p>
        </p:txBody>
      </p:sp>
    </p:spTree>
    <p:extLst>
      <p:ext uri="{BB962C8B-B14F-4D97-AF65-F5344CB8AC3E}">
        <p14:creationId xmlns:p14="http://schemas.microsoft.com/office/powerpoint/2010/main" val="2171509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extLst>
              <a:ext uri="{837473B0-CC2E-450A-ABE3-18F120FF3D39}">
                <a1611:picAttrSrcUrl xmlns:a1611="http://schemas.microsoft.com/office/drawing/2016/11/main" r:id="rId3"/>
              </a:ext>
            </a:extLst>
          </a:blip>
          <a:srcRect/>
          <a:stretch>
            <a:fillRect t="-17000" b="-17000"/>
          </a:stretch>
        </a:blipFill>
        <a:effectLst/>
      </p:bgPr>
    </p:bg>
    <p:spTree>
      <p:nvGrpSpPr>
        <p:cNvPr id="1" name=""/>
        <p:cNvGrpSpPr/>
        <p:nvPr/>
      </p:nvGrpSpPr>
      <p:grpSpPr>
        <a:xfrm>
          <a:off x="0" y="0"/>
          <a:ext cx="0" cy="0"/>
          <a:chOff x="0" y="0"/>
          <a:chExt cx="0" cy="0"/>
        </a:xfrm>
      </p:grpSpPr>
      <p:sp>
        <p:nvSpPr>
          <p:cNvPr id="19" name="Titre 18">
            <a:extLst>
              <a:ext uri="{FF2B5EF4-FFF2-40B4-BE49-F238E27FC236}">
                <a16:creationId xmlns:a16="http://schemas.microsoft.com/office/drawing/2014/main" id="{C85696A6-A7DC-45D6-8897-1F7856F01233}"/>
              </a:ext>
            </a:extLst>
          </p:cNvPr>
          <p:cNvSpPr>
            <a:spLocks noGrp="1"/>
          </p:cNvSpPr>
          <p:nvPr>
            <p:ph type="ctrTitle"/>
          </p:nvPr>
        </p:nvSpPr>
        <p:spPr>
          <a:xfrm>
            <a:off x="333772" y="116632"/>
            <a:ext cx="8735325" cy="2000251"/>
          </a:xfrm>
        </p:spPr>
        <p:txBody>
          <a:bodyPr/>
          <a:lstStyle/>
          <a:p>
            <a:br>
              <a:rPr lang="fr-FR" b="1" i="1" dirty="0">
                <a:solidFill>
                  <a:srgbClr val="FFFF00"/>
                </a:solidFill>
                <a:effectLst>
                  <a:outerShdw blurRad="38100" dist="38100" dir="2700000" algn="tl">
                    <a:srgbClr val="000000">
                      <a:alpha val="43137"/>
                    </a:srgbClr>
                  </a:outerShdw>
                </a:effectLst>
              </a:rPr>
            </a:br>
            <a:r>
              <a:rPr lang="fr-FR" b="1" i="1" dirty="0">
                <a:solidFill>
                  <a:srgbClr val="FFFF00"/>
                </a:solidFill>
                <a:effectLst>
                  <a:outerShdw blurRad="38100" dist="38100" dir="2700000" algn="tl">
                    <a:srgbClr val="000000">
                      <a:alpha val="43137"/>
                    </a:srgbClr>
                  </a:outerShdw>
                </a:effectLst>
              </a:rPr>
              <a:t>OUTILS DE SAUVEGARDE</a:t>
            </a:r>
          </a:p>
        </p:txBody>
      </p:sp>
    </p:spTree>
    <p:extLst>
      <p:ext uri="{BB962C8B-B14F-4D97-AF65-F5344CB8AC3E}">
        <p14:creationId xmlns:p14="http://schemas.microsoft.com/office/powerpoint/2010/main" val="629568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E92701-0735-4AF0-B88D-3133DC13C789}"/>
              </a:ext>
            </a:extLst>
          </p:cNvPr>
          <p:cNvSpPr>
            <a:spLocks noGrp="1"/>
          </p:cNvSpPr>
          <p:nvPr>
            <p:ph type="title"/>
          </p:nvPr>
        </p:nvSpPr>
        <p:spPr>
          <a:xfrm>
            <a:off x="549796" y="120554"/>
            <a:ext cx="11008573" cy="1148206"/>
          </a:xfrm>
        </p:spPr>
        <p:txBody>
          <a:bodyPr>
            <a:normAutofit fontScale="90000"/>
          </a:bodyPr>
          <a:lstStyle/>
          <a:p>
            <a:r>
              <a:rPr lang="fr-FR" dirty="0"/>
              <a:t>Quelques outils de sauvegarde: Open source </a:t>
            </a:r>
            <a:br>
              <a:rPr lang="fr-FR" dirty="0"/>
            </a:br>
            <a:endParaRPr lang="fr-FR" dirty="0"/>
          </a:p>
        </p:txBody>
      </p:sp>
      <p:sp>
        <p:nvSpPr>
          <p:cNvPr id="4" name="Espace réservé du contenu 3">
            <a:extLst>
              <a:ext uri="{FF2B5EF4-FFF2-40B4-BE49-F238E27FC236}">
                <a16:creationId xmlns:a16="http://schemas.microsoft.com/office/drawing/2014/main" id="{D827692F-D78E-4356-97EA-44404540B37B}"/>
              </a:ext>
            </a:extLst>
          </p:cNvPr>
          <p:cNvSpPr>
            <a:spLocks noGrp="1"/>
          </p:cNvSpPr>
          <p:nvPr>
            <p:ph idx="1"/>
          </p:nvPr>
        </p:nvSpPr>
        <p:spPr>
          <a:xfrm>
            <a:off x="297768" y="1124744"/>
            <a:ext cx="11593287" cy="5581802"/>
          </a:xfrm>
        </p:spPr>
        <p:txBody>
          <a:bodyPr>
            <a:noAutofit/>
          </a:bodyPr>
          <a:lstStyle/>
          <a:p>
            <a:pPr algn="just"/>
            <a:r>
              <a:rPr lang="fr-FR" sz="1800" b="1" dirty="0"/>
              <a:t>Duplicati</a:t>
            </a:r>
            <a:r>
              <a:rPr lang="fr-FR" sz="1800" dirty="0"/>
              <a:t> (Plateformes : Windows, macOS, Linux)</a:t>
            </a:r>
          </a:p>
          <a:p>
            <a:pPr lvl="1" algn="just"/>
            <a:r>
              <a:rPr lang="fr-FR" sz="1800" dirty="0"/>
              <a:t>Un outil de sauvegarde open source avec cryptage et compression.</a:t>
            </a:r>
          </a:p>
          <a:p>
            <a:pPr lvl="1" algn="just"/>
            <a:r>
              <a:rPr lang="fr-FR" sz="1800" dirty="0"/>
              <a:t>Prend en charge le stockage sur le cloud, FTP, SFTP, etc.</a:t>
            </a:r>
          </a:p>
          <a:p>
            <a:pPr algn="just"/>
            <a:r>
              <a:rPr lang="fr-FR" sz="1800" b="1" dirty="0"/>
              <a:t>Amanda</a:t>
            </a:r>
            <a:r>
              <a:rPr lang="fr-FR" sz="1800" dirty="0"/>
              <a:t> (Plateformes : Linux, Unix)</a:t>
            </a:r>
          </a:p>
          <a:p>
            <a:pPr lvl="1" algn="just"/>
            <a:r>
              <a:rPr lang="fr-FR" sz="1800" dirty="0"/>
              <a:t>Un logiciel de sauvegarde open source destiné aux entreprises.</a:t>
            </a:r>
          </a:p>
          <a:p>
            <a:pPr lvl="1" algn="just"/>
            <a:r>
              <a:rPr lang="fr-FR" sz="1800" dirty="0"/>
              <a:t>Offre une prise en charge des sauvegardes sur disque, bande, cloud, etc.</a:t>
            </a:r>
          </a:p>
          <a:p>
            <a:pPr algn="just"/>
            <a:r>
              <a:rPr lang="fr-FR" sz="1800" b="1" dirty="0"/>
              <a:t>Cobian Backup</a:t>
            </a:r>
            <a:r>
              <a:rPr lang="fr-FR" sz="1800" dirty="0"/>
              <a:t> (Plateformes : Windows)</a:t>
            </a:r>
          </a:p>
          <a:p>
            <a:pPr lvl="1" algn="just"/>
            <a:r>
              <a:rPr lang="fr-FR" sz="1800" dirty="0"/>
              <a:t>Un logiciel de sauvegarde open source pour les utilisateurs de Windows.</a:t>
            </a:r>
          </a:p>
          <a:p>
            <a:pPr lvl="1" algn="just"/>
            <a:r>
              <a:rPr lang="fr-FR" sz="1800" dirty="0"/>
              <a:t>Prend en charge la sauvegarde locale, réseau, FTP, SFTP, etc.</a:t>
            </a:r>
          </a:p>
          <a:p>
            <a:pPr algn="just"/>
            <a:r>
              <a:rPr lang="fr-FR" sz="1800" b="1" dirty="0"/>
              <a:t>Bareos</a:t>
            </a:r>
            <a:r>
              <a:rPr lang="fr-FR" sz="1800" dirty="0"/>
              <a:t> (Plateformes : Windows, macOS, Linux, Unix)</a:t>
            </a:r>
          </a:p>
          <a:p>
            <a:pPr lvl="1" algn="just"/>
            <a:r>
              <a:rPr lang="fr-FR" sz="1800" dirty="0"/>
              <a:t>Une solution de sauvegarde open source basée sur Bacula, mais avec des fonctionnalités supplémentaires et des améliorations.</a:t>
            </a:r>
          </a:p>
          <a:p>
            <a:pPr algn="just"/>
            <a:r>
              <a:rPr lang="fr-FR" sz="1800" b="1" dirty="0"/>
              <a:t>Bacula</a:t>
            </a:r>
            <a:r>
              <a:rPr lang="fr-FR" sz="1800" dirty="0"/>
              <a:t> (Plateformes : Windows, macOS, Linux, Unix)</a:t>
            </a:r>
          </a:p>
          <a:p>
            <a:pPr lvl="1" algn="just"/>
            <a:r>
              <a:rPr lang="fr-FR" sz="1800" dirty="0"/>
              <a:t>Un système de sauvegarde et de restauration open source puissant et extensible.</a:t>
            </a:r>
          </a:p>
          <a:p>
            <a:pPr lvl="1" algn="just"/>
            <a:r>
              <a:rPr lang="fr-FR" sz="1800" dirty="0"/>
              <a:t>Offre une architecture client-serveur pour la sauvegarde et la récupération de données.</a:t>
            </a:r>
          </a:p>
          <a:p>
            <a:pPr lvl="1" algn="just"/>
            <a:endParaRPr lang="fr-FR" sz="1800" dirty="0"/>
          </a:p>
          <a:p>
            <a:pPr algn="just"/>
            <a:endParaRPr lang="fr-FR" sz="1600" dirty="0"/>
          </a:p>
        </p:txBody>
      </p:sp>
    </p:spTree>
    <p:extLst>
      <p:ext uri="{BB962C8B-B14F-4D97-AF65-F5344CB8AC3E}">
        <p14:creationId xmlns:p14="http://schemas.microsoft.com/office/powerpoint/2010/main" val="2979388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E92701-0735-4AF0-B88D-3133DC13C789}"/>
              </a:ext>
            </a:extLst>
          </p:cNvPr>
          <p:cNvSpPr>
            <a:spLocks noGrp="1"/>
          </p:cNvSpPr>
          <p:nvPr>
            <p:ph type="title"/>
          </p:nvPr>
        </p:nvSpPr>
        <p:spPr>
          <a:xfrm>
            <a:off x="1218883" y="260649"/>
            <a:ext cx="10360501" cy="648072"/>
          </a:xfrm>
        </p:spPr>
        <p:txBody>
          <a:bodyPr>
            <a:normAutofit fontScale="90000"/>
          </a:bodyPr>
          <a:lstStyle/>
          <a:p>
            <a:r>
              <a:rPr lang="fr-FR" dirty="0"/>
              <a:t> Quelques outils de sauvegarde: payants</a:t>
            </a:r>
          </a:p>
        </p:txBody>
      </p:sp>
      <p:sp>
        <p:nvSpPr>
          <p:cNvPr id="4" name="Espace réservé du contenu 3">
            <a:extLst>
              <a:ext uri="{FF2B5EF4-FFF2-40B4-BE49-F238E27FC236}">
                <a16:creationId xmlns:a16="http://schemas.microsoft.com/office/drawing/2014/main" id="{D827692F-D78E-4356-97EA-44404540B37B}"/>
              </a:ext>
            </a:extLst>
          </p:cNvPr>
          <p:cNvSpPr>
            <a:spLocks noGrp="1"/>
          </p:cNvSpPr>
          <p:nvPr>
            <p:ph idx="1"/>
          </p:nvPr>
        </p:nvSpPr>
        <p:spPr>
          <a:xfrm>
            <a:off x="1218883" y="1052736"/>
            <a:ext cx="10360501" cy="5256583"/>
          </a:xfrm>
        </p:spPr>
        <p:txBody>
          <a:bodyPr>
            <a:normAutofit fontScale="92500" lnSpcReduction="10000"/>
          </a:bodyPr>
          <a:lstStyle/>
          <a:p>
            <a:pPr algn="just"/>
            <a:r>
              <a:rPr lang="fr-FR" b="1" dirty="0"/>
              <a:t>Acronis True Image</a:t>
            </a:r>
            <a:r>
              <a:rPr lang="fr-FR" dirty="0"/>
              <a:t> (Plateformes : Windows, macOS)</a:t>
            </a:r>
          </a:p>
          <a:p>
            <a:pPr lvl="1" algn="just"/>
            <a:r>
              <a:rPr lang="fr-FR" dirty="0"/>
              <a:t>Un logiciel de sauvegarde complet avec des fonctionnalités avancées de récupération.</a:t>
            </a:r>
          </a:p>
          <a:p>
            <a:pPr lvl="1" algn="just"/>
            <a:r>
              <a:rPr lang="fr-FR" dirty="0"/>
              <a:t>Prend en charge le stockage sur le cloud, disque dur externe, etc.</a:t>
            </a:r>
          </a:p>
          <a:p>
            <a:pPr algn="just"/>
            <a:r>
              <a:rPr lang="fr-FR" b="1" dirty="0"/>
              <a:t>Macrium Reflect</a:t>
            </a:r>
            <a:r>
              <a:rPr lang="fr-FR" dirty="0"/>
              <a:t> (Plateformes : Windows)</a:t>
            </a:r>
          </a:p>
          <a:p>
            <a:pPr lvl="1" algn="just"/>
            <a:r>
              <a:rPr lang="fr-FR" dirty="0"/>
              <a:t>Une solution de sauvegarde pour Windows avec des options de sauvegarde différentielle et incrémentielle.</a:t>
            </a:r>
          </a:p>
          <a:p>
            <a:pPr lvl="1" algn="just"/>
            <a:r>
              <a:rPr lang="fr-FR" dirty="0"/>
              <a:t>Permet la sauvegarde vers des disques durs externes, des partages réseau, etc.</a:t>
            </a:r>
          </a:p>
          <a:p>
            <a:pPr algn="just"/>
            <a:r>
              <a:rPr lang="fr-FR" b="1" dirty="0"/>
              <a:t>BackupAssist</a:t>
            </a:r>
            <a:r>
              <a:rPr lang="fr-FR" dirty="0"/>
              <a:t> (Plateformes : Windows)</a:t>
            </a:r>
          </a:p>
          <a:p>
            <a:pPr lvl="1" algn="just"/>
            <a:r>
              <a:rPr lang="fr-FR" dirty="0"/>
              <a:t>Un logiciel de sauvegarde pour les petites et moyennes entreprises.</a:t>
            </a:r>
          </a:p>
          <a:p>
            <a:pPr lvl="1" algn="just"/>
            <a:r>
              <a:rPr lang="fr-FR" dirty="0"/>
              <a:t>Prend en charge diverses options de sauvegarde, y compris le cloud et les disques durs externes.</a:t>
            </a:r>
          </a:p>
          <a:p>
            <a:pPr algn="just"/>
            <a:r>
              <a:rPr lang="fr-FR" b="1" dirty="0"/>
              <a:t>Retrospect</a:t>
            </a:r>
            <a:r>
              <a:rPr lang="fr-FR" dirty="0"/>
              <a:t> (Plateformes : Windows, macOS)</a:t>
            </a:r>
          </a:p>
          <a:p>
            <a:pPr lvl="1" algn="just"/>
            <a:r>
              <a:rPr lang="fr-FR" dirty="0"/>
              <a:t>Un logiciel de sauvegarde professionnel avec prise en charge des environnements mixtes (Windows, macOS, Linux).</a:t>
            </a:r>
          </a:p>
          <a:p>
            <a:pPr lvl="1" algn="just"/>
            <a:r>
              <a:rPr lang="fr-FR" dirty="0"/>
              <a:t>Offre des fonctionnalités de sauvegarde complète et de restauration granulaire.</a:t>
            </a:r>
          </a:p>
          <a:p>
            <a:pPr algn="just"/>
            <a:r>
              <a:rPr lang="fr-FR" b="1" dirty="0"/>
              <a:t>Veeam Backup &amp; Replication</a:t>
            </a:r>
            <a:r>
              <a:rPr lang="fr-FR" dirty="0"/>
              <a:t> (Plateformes : Windows, VMware vSphere, Microsoft Hyper-V)</a:t>
            </a:r>
          </a:p>
          <a:p>
            <a:pPr lvl="1" algn="just"/>
            <a:r>
              <a:rPr lang="fr-FR" dirty="0"/>
              <a:t>Une solution de sauvegarde et de reprise après sinistre pour les environnements virtualisés.</a:t>
            </a:r>
          </a:p>
          <a:p>
            <a:pPr lvl="1" algn="just"/>
            <a:r>
              <a:rPr lang="fr-FR" dirty="0"/>
              <a:t>Prend en charge la sauvegarde sur disque, sur bande et dans le cloud.</a:t>
            </a:r>
          </a:p>
          <a:p>
            <a:pPr marL="377886" lvl="1" indent="0" algn="just">
              <a:buNone/>
            </a:pPr>
            <a:endParaRPr lang="fr-FR" sz="1800" dirty="0"/>
          </a:p>
          <a:p>
            <a:pPr lvl="1" algn="just"/>
            <a:endParaRPr lang="fr-FR" sz="1800" dirty="0"/>
          </a:p>
          <a:p>
            <a:pPr algn="just"/>
            <a:endParaRPr lang="fr-FR" sz="1800" dirty="0"/>
          </a:p>
        </p:txBody>
      </p:sp>
    </p:spTree>
    <p:extLst>
      <p:ext uri="{BB962C8B-B14F-4D97-AF65-F5344CB8AC3E}">
        <p14:creationId xmlns:p14="http://schemas.microsoft.com/office/powerpoint/2010/main" val="354565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20CA50-D2A8-4E5D-95F7-D042E0BC8474}"/>
              </a:ext>
            </a:extLst>
          </p:cNvPr>
          <p:cNvSpPr>
            <a:spLocks noGrp="1"/>
          </p:cNvSpPr>
          <p:nvPr>
            <p:ph type="title"/>
          </p:nvPr>
        </p:nvSpPr>
        <p:spPr>
          <a:xfrm>
            <a:off x="333773" y="484632"/>
            <a:ext cx="10791578" cy="928144"/>
          </a:xfrm>
        </p:spPr>
        <p:txBody>
          <a:bodyPr>
            <a:normAutofit/>
          </a:bodyPr>
          <a:lstStyle/>
          <a:p>
            <a:r>
              <a:rPr lang="fr-FR" dirty="0"/>
              <a:t>                 Etude de cas</a:t>
            </a:r>
          </a:p>
        </p:txBody>
      </p:sp>
      <p:pic>
        <p:nvPicPr>
          <p:cNvPr id="7" name="Espace réservé du contenu 6">
            <a:extLst>
              <a:ext uri="{FF2B5EF4-FFF2-40B4-BE49-F238E27FC236}">
                <a16:creationId xmlns:a16="http://schemas.microsoft.com/office/drawing/2014/main" id="{9C98146A-E064-4F83-97A5-907BE42B0CD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5820" y="1628800"/>
            <a:ext cx="11089232" cy="4954563"/>
          </a:xfrm>
        </p:spPr>
      </p:pic>
    </p:spTree>
    <p:extLst>
      <p:ext uri="{BB962C8B-B14F-4D97-AF65-F5344CB8AC3E}">
        <p14:creationId xmlns:p14="http://schemas.microsoft.com/office/powerpoint/2010/main" val="2580884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03D877-9F1D-483A-907F-AF7533FC6D19}"/>
              </a:ext>
            </a:extLst>
          </p:cNvPr>
          <p:cNvSpPr>
            <a:spLocks noGrp="1"/>
          </p:cNvSpPr>
          <p:nvPr>
            <p:ph type="title"/>
          </p:nvPr>
        </p:nvSpPr>
        <p:spPr/>
        <p:txBody>
          <a:bodyPr/>
          <a:lstStyle/>
          <a:p>
            <a:r>
              <a:rPr lang="fr-FR" dirty="0"/>
              <a:t>                                       Conclusion</a:t>
            </a:r>
          </a:p>
        </p:txBody>
      </p:sp>
      <p:sp>
        <p:nvSpPr>
          <p:cNvPr id="3" name="Espace réservé du contenu 2">
            <a:extLst>
              <a:ext uri="{FF2B5EF4-FFF2-40B4-BE49-F238E27FC236}">
                <a16:creationId xmlns:a16="http://schemas.microsoft.com/office/drawing/2014/main" id="{FC20DF31-D2E7-4E79-929B-7D3362BB7BE5}"/>
              </a:ext>
            </a:extLst>
          </p:cNvPr>
          <p:cNvSpPr>
            <a:spLocks noGrp="1"/>
          </p:cNvSpPr>
          <p:nvPr>
            <p:ph idx="1"/>
          </p:nvPr>
        </p:nvSpPr>
        <p:spPr/>
        <p:txBody>
          <a:bodyPr/>
          <a:lstStyle/>
          <a:p>
            <a:pPr algn="just" fontAlgn="base">
              <a:buSzPct val="113000"/>
              <a:buBlip>
                <a:blip r:embed="rId2">
                  <a:extLst>
                    <a:ext uri="{837473B0-CC2E-450A-ABE3-18F120FF3D39}">
                      <a1611:picAttrSrcUrl xmlns:a1611="http://schemas.microsoft.com/office/drawing/2016/11/main" r:id="rId3"/>
                    </a:ext>
                  </a:extLst>
                </a:blip>
              </a:buBlip>
            </a:pPr>
            <a:r>
              <a:rPr lang="fr-FR" dirty="0"/>
              <a:t>La sauvegarde informatique permet de sécuriser les informations, de parer à toute éventualité de perte ou blocage des données, et permet de restaurer rapidement postes de travail et systèmes afin de reprendre son activité le plus rapidement possible.</a:t>
            </a:r>
          </a:p>
          <a:p>
            <a:pPr algn="just" fontAlgn="base"/>
            <a:r>
              <a:rPr lang="fr-FR" dirty="0"/>
              <a:t>La mise en place d’une politique de sauvegarde va garantir à une entreprise de préserver une copie de l’ensemble de ses données. Et permet notamment de récupérer les versions précédentes de fichiers ou de restaurer un système à un instant T.</a:t>
            </a:r>
          </a:p>
          <a:p>
            <a:pPr algn="just"/>
            <a:endParaRPr lang="fr-FR" dirty="0"/>
          </a:p>
        </p:txBody>
      </p:sp>
    </p:spTree>
    <p:extLst>
      <p:ext uri="{BB962C8B-B14F-4D97-AF65-F5344CB8AC3E}">
        <p14:creationId xmlns:p14="http://schemas.microsoft.com/office/powerpoint/2010/main" val="4062642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0701CE79-581D-4223-B7A3-9262DDDAC6B8}"/>
              </a:ext>
            </a:extLst>
          </p:cNvPr>
          <p:cNvSpPr>
            <a:spLocks noGrp="1"/>
          </p:cNvSpPr>
          <p:nvPr>
            <p:ph type="ctrTitle"/>
          </p:nvPr>
        </p:nvSpPr>
        <p:spPr>
          <a:xfrm>
            <a:off x="0" y="584200"/>
            <a:ext cx="11855052" cy="4717008"/>
          </a:xfrm>
        </p:spPr>
        <p:txBody>
          <a:bodyPr/>
          <a:lstStyle/>
          <a:p>
            <a:r>
              <a:rPr lang="fr-FR" dirty="0"/>
              <a:t>Merci pour votre      attention</a:t>
            </a:r>
          </a:p>
        </p:txBody>
      </p:sp>
    </p:spTree>
    <p:extLst>
      <p:ext uri="{BB962C8B-B14F-4D97-AF65-F5344CB8AC3E}">
        <p14:creationId xmlns:p14="http://schemas.microsoft.com/office/powerpoint/2010/main" val="2457960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ype de bois">
  <a:themeElements>
    <a:clrScheme name="Type de bois">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Type de bois">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Type de bois">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Thème Offic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ppt/theme/theme3.xml><?xml version="1.0" encoding="utf-8"?>
<a:theme xmlns:a="http://schemas.openxmlformats.org/drawingml/2006/main" name="Thème Offic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ocPublishedLinkedAssetsLookup xmlns="4873beb7-5857-4685-be1f-d57550cc96cc" xsi:nil="true"/>
    <ApprovalStatus xmlns="4873beb7-5857-4685-be1f-d57550cc96cc">InProgress</ApprovalStatus>
    <MarketSpecific xmlns="4873beb7-5857-4685-be1f-d57550cc96cc">false</MarketSpecific>
    <LocComments xmlns="4873beb7-5857-4685-be1f-d57550cc96cc" xsi:nil="true"/>
    <LocLastLocAttemptVersionTypeLookup xmlns="4873beb7-5857-4685-be1f-d57550cc96cc" xsi:nil="true"/>
    <DirectSourceMarket xmlns="4873beb7-5857-4685-be1f-d57550cc96cc" xsi:nil="true"/>
    <ThumbnailAssetId xmlns="4873beb7-5857-4685-be1f-d57550cc96cc" xsi:nil="true"/>
    <PrimaryImageGen xmlns="4873beb7-5857-4685-be1f-d57550cc96cc">false</PrimaryImageGen>
    <LocNewPublishedVersionLookup xmlns="4873beb7-5857-4685-be1f-d57550cc96cc" xsi:nil="true"/>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LocOverallPublishStatusLookup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LocOverallLocStatusLookup xmlns="4873beb7-5857-4685-be1f-d57550cc96cc" xsi:nil="tru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1345093</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This simple template design works for technology and  businesses, but it's versatile enough to use in other contexts.  It features multiple slide layouts designed for widescreen (16x9 resolution) and includes a sample SmartArt list and chart that are easily editable.</APDescription>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2011-11-26T00:30:00+00:00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TemplateStatus xmlns="4873beb7-5857-4685-be1f-d57550cc96cc">Complete</TemplateStatus>
    <Downloads xmlns="4873beb7-5857-4685-be1f-d57550cc96cc">0</Downloads>
    <OOCacheId xmlns="4873beb7-5857-4685-be1f-d57550cc96cc" xsi:nil="true"/>
    <IsDeleted xmlns="4873beb7-5857-4685-be1f-d57550cc96cc">false</IsDeleted>
    <LocPublishedDependentAssetsLookup xmlns="4873beb7-5857-4685-be1f-d57550cc96cc" xsi:nil="true"/>
    <TPExecutable xmlns="4873beb7-5857-4685-be1f-d57550cc96cc" xsi:nil="true"/>
    <EditorialTags xmlns="4873beb7-5857-4685-be1f-d57550cc96cc" xsi:nil="true"/>
    <SubmitterId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TP102787989</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694266</LocLastLocAttemptVersionLookup>
    <LocProcessedForHandoffsLookup xmlns="4873beb7-5857-4685-be1f-d57550cc96cc" xsi:nil="true"/>
    <IsSearchable xmlns="4873beb7-5857-4685-be1f-d57550cc96cc">true</IsSearchable>
    <TemplateTemplateType xmlns="4873beb7-5857-4685-be1f-d57550cc96cc">PowerPoint Presentation Template</TemplateTemplateType>
    <CampaignTagsTaxHTField0 xmlns="4873beb7-5857-4685-be1f-d57550cc96cc">
      <Terms xmlns="http://schemas.microsoft.com/office/infopath/2007/PartnerControls"/>
    </CampaignTagsTaxHTField0>
    <TPNamespace xmlns="4873beb7-5857-4685-be1f-d57550cc96cc" xsi:nil="true"/>
    <LocOverallPreviewStatusLookup xmlns="4873beb7-5857-4685-be1f-d57550cc96cc" xsi:nil="true"/>
    <TaxCatchAll xmlns="4873beb7-5857-4685-be1f-d57550cc96cc"/>
    <Markets xmlns="4873beb7-5857-4685-be1f-d57550cc96cc"/>
    <UAProjectedTotalWords xmlns="4873beb7-5857-4685-be1f-d57550cc96cc" xsi:nil="true"/>
    <IntlLangReview xmlns="4873beb7-5857-4685-be1f-d57550cc96cc" xsi:nil="true"/>
    <OutputCachingOn xmlns="4873beb7-5857-4685-be1f-d57550cc96cc">false</OutputCachingOn>
    <AverageRating xmlns="4873beb7-5857-4685-be1f-d57550cc96cc" xsi:nil="true"/>
    <APAuthor xmlns="4873beb7-5857-4685-be1f-d57550cc96cc">
      <UserInfo>
        <DisplayName>REDMOND\kristaa</DisplayName>
        <AccountId>136</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LocProcessedForMarketsLookup xmlns="4873beb7-5857-4685-be1f-d57550cc96cc" xsi:nil="true"/>
    <TPLaunchHelpLinkType xmlns="4873beb7-5857-4685-be1f-d57550cc96cc">Template</TPLaunchHelpLinkType>
    <OriginalRelease xmlns="4873beb7-5857-4685-be1f-d57550cc96cc">15</OriginalRelease>
    <LocalizationTagsTaxHTField0 xmlns="4873beb7-5857-4685-be1f-d57550cc96cc">
      <Terms xmlns="http://schemas.microsoft.com/office/infopath/2007/PartnerControls"/>
    </LocalizationTagsTaxHTField0>
    <UACurrentWords xmlns="4873beb7-5857-4685-be1f-d57550cc96cc" xsi:nil="true"/>
    <ArtSampleDocs xmlns="4873beb7-5857-4685-be1f-d57550cc96cc" xsi:nil="true"/>
    <UALocRecommendation xmlns="4873beb7-5857-4685-be1f-d57550cc96cc">Localize</UALocRecommendation>
    <Manager xmlns="4873beb7-5857-4685-be1f-d57550cc96cc" xsi:nil="true"/>
    <LocOverallHandbackStatusLookup xmlns="4873beb7-5857-4685-be1f-d57550cc96cc" xsi:nil="true"/>
    <ShowIn xmlns="4873beb7-5857-4685-be1f-d57550cc96cc">Show everywhere</ShowIn>
    <UANotes xmlns="4873beb7-5857-4685-be1f-d57550cc96cc" xsi:nil="true"/>
    <InternalTagsTaxHTField0 xmlns="4873beb7-5857-4685-be1f-d57550cc96cc">
      <Terms xmlns="http://schemas.microsoft.com/office/infopath/2007/PartnerControls"/>
    </InternalTagsTaxHTField0>
    <CSXHash xmlns="4873beb7-5857-4685-be1f-d57550cc96cc" xsi:nil="true"/>
    <VoteCount xmlns="4873beb7-5857-4685-be1f-d57550cc96cc" xsi:nil="true"/>
    <AssetExpire xmlns="4873beb7-5857-4685-be1f-d57550cc96cc">2029-05-12T07:00:00+00:00</AssetExpire>
    <DSATActionTaken xmlns="4873beb7-5857-4685-be1f-d57550cc96cc" xsi:nil="true"/>
    <CSXSubmissionMarket xmlns="4873beb7-5857-4685-be1f-d57550cc96cc" xsi:nil="true"/>
    <LocMarketGroupTiers2 xmlns="4873beb7-5857-4685-be1f-d57550cc96cc" xsi:nil="true"/>
  </documentManagement>
</p:properties>
</file>

<file path=customXml/itemProps1.xml><?xml version="1.0" encoding="utf-8"?>
<ds:datastoreItem xmlns:ds="http://schemas.openxmlformats.org/officeDocument/2006/customXml" ds:itemID="{3836F65B-1B07-41EE-A0E8-BC6EF3855225}">
  <ds:schemaRefs>
    <ds:schemaRef ds:uri="http://schemas.microsoft.com/sharepoint/v3/contenttype/forms"/>
  </ds:schemaRefs>
</ds:datastoreItem>
</file>

<file path=customXml/itemProps2.xml><?xml version="1.0" encoding="utf-8"?>
<ds:datastoreItem xmlns:ds="http://schemas.openxmlformats.org/officeDocument/2006/customXml" ds:itemID="{A09BF4D4-EF60-4196-BFC3-9462D60797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0C67BEE-D13F-4BD2-98A5-34D8A0977F68}">
  <ds:schemaRefs>
    <ds:schemaRef ds:uri="4873beb7-5857-4685-be1f-d57550cc96cc"/>
    <ds:schemaRef ds:uri="http://schemas.openxmlformats.org/package/2006/metadata/core-properties"/>
    <ds:schemaRef ds:uri="http://purl.org/dc/terms/"/>
    <ds:schemaRef ds:uri="http://schemas.microsoft.com/office/2006/documentManagement/types"/>
    <ds:schemaRef ds:uri="http://purl.org/dc/elements/1.1/"/>
    <ds:schemaRef ds:uri="http://schemas.microsoft.com/office/2006/metadata/properties"/>
    <ds:schemaRef ds:uri="http://schemas.microsoft.com/office/infopath/2007/PartnerControl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Type de bois</Template>
  <TotalTime>3979</TotalTime>
  <Words>3547</Words>
  <Application>Microsoft Office PowerPoint</Application>
  <PresentationFormat>Personnalisé</PresentationFormat>
  <Paragraphs>214</Paragraphs>
  <Slides>39</Slides>
  <Notes>11</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39</vt:i4>
      </vt:variant>
    </vt:vector>
  </HeadingPairs>
  <TitlesOfParts>
    <vt:vector size="44" baseType="lpstr">
      <vt:lpstr>Calibri</vt:lpstr>
      <vt:lpstr>Rockwell</vt:lpstr>
      <vt:lpstr>Rockwell Condensed</vt:lpstr>
      <vt:lpstr>Wingdings</vt:lpstr>
      <vt:lpstr>Type de bois</vt:lpstr>
      <vt:lpstr>Systèmes de sauvegarde                           Protégez vos données précieuses</vt:lpstr>
      <vt:lpstr>Sommaire</vt:lpstr>
      <vt:lpstr>                Introduction</vt:lpstr>
      <vt:lpstr>                  Définition d’un système de sauvegarde </vt:lpstr>
      <vt:lpstr>TYPES DE BACKUP</vt:lpstr>
      <vt:lpstr>                           Types de BACKUP</vt:lpstr>
      <vt:lpstr>Les types de backup: sauvegarde totale </vt:lpstr>
      <vt:lpstr>Les types de backup: sauvegarde totale </vt:lpstr>
      <vt:lpstr>Les types de backup:         sauvegarde différentielles</vt:lpstr>
      <vt:lpstr>    Les types de backup:             sauvegarde différentielles </vt:lpstr>
      <vt:lpstr>  Les types de backup:              sauvegarde incrémentielles </vt:lpstr>
      <vt:lpstr>     Les types de backup:            sauvegarde incrémentielles </vt:lpstr>
      <vt:lpstr>  Les types de backup: Tableau résumant les méthodes de sauvegardes </vt:lpstr>
      <vt:lpstr>Présentation PowerPoint</vt:lpstr>
      <vt:lpstr> Méthode de sauvegarde: Sauvegarde locale</vt:lpstr>
      <vt:lpstr>Methode de sauvegarde:Sauvegarde sur                 cloud</vt:lpstr>
      <vt:lpstr> Méthode de sauvegarde: Sauvegarde sur cloud</vt:lpstr>
      <vt:lpstr> Méthode de sauvegarde: Sauvegarde sur serveur distant</vt:lpstr>
      <vt:lpstr>Méthode de sauvegarde: Il est essentiel de choisir la méthode de sauvegarde qui convient le mieux à vos besoins spécifiques en termes de sécurité, d'accessibilité et de coûts. Une combinaison de sauvegardes locales et en ligne peut offrir une protection plus complète et une redondance pour vos données critiques.</vt:lpstr>
      <vt:lpstr>Présentation PowerPoint</vt:lpstr>
      <vt:lpstr> Systèmes de sauvegarde automatisées</vt:lpstr>
      <vt:lpstr>Systèmes de sauvegarde automatisées : Planification des sauvegardes régulières </vt:lpstr>
      <vt:lpstr>Systèmes de sauvegarde automatisées: Réduction du risque d'erreur humaine : </vt:lpstr>
      <vt:lpstr>Systèmes de sauvegarde automatisées: Sauvegarde continue en arrière-plan : </vt:lpstr>
      <vt:lpstr>SECURITÉ DES SAUVEGARDES</vt:lpstr>
      <vt:lpstr>    Sécurité des sauvegardes</vt:lpstr>
      <vt:lpstr>  Sécurité des sauvegardes</vt:lpstr>
      <vt:lpstr>Meilleurs pratiques de sauvegarde</vt:lpstr>
      <vt:lpstr>Meilleurs pratiques de sauvegarde</vt:lpstr>
      <vt:lpstr>Meilleurs pratiques de sauvegarde</vt:lpstr>
      <vt:lpstr>les facteurs à considérer lors du choix d'un système de  sauvegarde   </vt:lpstr>
      <vt:lpstr> les facteurs à considérer lors du choix d'un système de sauvegarde </vt:lpstr>
      <vt:lpstr> les facteurs à considérer lors du choix d'un système de sauvegarde </vt:lpstr>
      <vt:lpstr> OUTILS DE SAUVEGARDE</vt:lpstr>
      <vt:lpstr>Quelques outils de sauvegarde: Open source  </vt:lpstr>
      <vt:lpstr> Quelques outils de sauvegarde: payants</vt:lpstr>
      <vt:lpstr>                 Etude de cas</vt:lpstr>
      <vt:lpstr>                                       Conclusion</vt:lpstr>
      <vt:lpstr>Merci pour votre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SYSTÈME DE SAUVEGARDE</dc:title>
  <dc:creator>HP</dc:creator>
  <cp:lastModifiedBy>Aboudramane Traore</cp:lastModifiedBy>
  <cp:revision>37</cp:revision>
  <dcterms:created xsi:type="dcterms:W3CDTF">2023-04-16T12:26:20Z</dcterms:created>
  <dcterms:modified xsi:type="dcterms:W3CDTF">2023-07-27T12:27:03Z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
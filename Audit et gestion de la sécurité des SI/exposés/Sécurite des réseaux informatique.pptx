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8" r:id="rId2"/>
    <p:sldId id="257" r:id="rId3"/>
    <p:sldId id="259" r:id="rId4"/>
    <p:sldId id="273" r:id="rId5"/>
    <p:sldId id="275" r:id="rId6"/>
    <p:sldId id="277" r:id="rId7"/>
    <p:sldId id="279" r:id="rId8"/>
    <p:sldId id="261" r:id="rId9"/>
    <p:sldId id="280" r:id="rId10"/>
    <p:sldId id="281" r:id="rId11"/>
    <p:sldId id="282" r:id="rId12"/>
    <p:sldId id="284" r:id="rId13"/>
    <p:sldId id="285" r:id="rId14"/>
    <p:sldId id="286" r:id="rId15"/>
    <p:sldId id="292" r:id="rId16"/>
    <p:sldId id="290" r:id="rId17"/>
    <p:sldId id="289" r:id="rId18"/>
    <p:sldId id="288" r:id="rId19"/>
    <p:sldId id="294" r:id="rId20"/>
    <p:sldId id="293" r:id="rId21"/>
    <p:sldId id="296" r:id="rId22"/>
    <p:sldId id="295" r:id="rId23"/>
    <p:sldId id="297" r:id="rId24"/>
    <p:sldId id="298" r:id="rId25"/>
    <p:sldId id="299" r:id="rId26"/>
    <p:sldId id="272" r:id="rId27"/>
    <p:sldId id="301" r:id="rId28"/>
    <p:sldId id="300" r:id="rId29"/>
    <p:sldId id="265" r:id="rId30"/>
    <p:sldId id="27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077623-9642-4F10-9032-406C84F9424A}" type="datetimeFigureOut">
              <a:rPr lang="fr-FR" smtClean="0"/>
              <a:t>26/06/2025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332CC9-5D0C-4F0D-8A88-1F144EBB9BE7}" type="slidenum">
              <a:rPr lang="fr-FR" smtClean="0"/>
              <a:t>‹N°›</a:t>
            </a:fld>
            <a:endParaRPr lang="fr-FR"/>
          </a:p>
        </p:txBody>
      </p:sp>
    </p:spTree>
    <p:extLst>
      <p:ext uri="{BB962C8B-B14F-4D97-AF65-F5344CB8AC3E}">
        <p14:creationId xmlns:p14="http://schemas.microsoft.com/office/powerpoint/2010/main" val="2592267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a:t>
            </a:fld>
            <a:endParaRPr lang="fr-FR"/>
          </a:p>
        </p:txBody>
      </p:sp>
    </p:spTree>
    <p:extLst>
      <p:ext uri="{BB962C8B-B14F-4D97-AF65-F5344CB8AC3E}">
        <p14:creationId xmlns:p14="http://schemas.microsoft.com/office/powerpoint/2010/main" val="3497513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a:t>
            </a:fld>
            <a:endParaRPr lang="fr-FR"/>
          </a:p>
        </p:txBody>
      </p:sp>
    </p:spTree>
    <p:extLst>
      <p:ext uri="{BB962C8B-B14F-4D97-AF65-F5344CB8AC3E}">
        <p14:creationId xmlns:p14="http://schemas.microsoft.com/office/powerpoint/2010/main" val="1978784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3</a:t>
            </a:fld>
            <a:endParaRPr lang="fr-FR"/>
          </a:p>
        </p:txBody>
      </p:sp>
    </p:spTree>
    <p:extLst>
      <p:ext uri="{BB962C8B-B14F-4D97-AF65-F5344CB8AC3E}">
        <p14:creationId xmlns:p14="http://schemas.microsoft.com/office/powerpoint/2010/main" val="425394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4</a:t>
            </a:fld>
            <a:endParaRPr lang="fr-FR"/>
          </a:p>
        </p:txBody>
      </p:sp>
    </p:spTree>
    <p:extLst>
      <p:ext uri="{BB962C8B-B14F-4D97-AF65-F5344CB8AC3E}">
        <p14:creationId xmlns:p14="http://schemas.microsoft.com/office/powerpoint/2010/main" val="2121937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5</a:t>
            </a:fld>
            <a:endParaRPr lang="fr-FR"/>
          </a:p>
        </p:txBody>
      </p:sp>
    </p:spTree>
    <p:extLst>
      <p:ext uri="{BB962C8B-B14F-4D97-AF65-F5344CB8AC3E}">
        <p14:creationId xmlns:p14="http://schemas.microsoft.com/office/powerpoint/2010/main" val="1302186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6</a:t>
            </a:fld>
            <a:endParaRPr lang="fr-FR"/>
          </a:p>
        </p:txBody>
      </p:sp>
    </p:spTree>
    <p:extLst>
      <p:ext uri="{BB962C8B-B14F-4D97-AF65-F5344CB8AC3E}">
        <p14:creationId xmlns:p14="http://schemas.microsoft.com/office/powerpoint/2010/main" val="2113703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7</a:t>
            </a:fld>
            <a:endParaRPr lang="fr-FR"/>
          </a:p>
        </p:txBody>
      </p:sp>
    </p:spTree>
    <p:extLst>
      <p:ext uri="{BB962C8B-B14F-4D97-AF65-F5344CB8AC3E}">
        <p14:creationId xmlns:p14="http://schemas.microsoft.com/office/powerpoint/2010/main" val="890803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8</a:t>
            </a:fld>
            <a:endParaRPr lang="fr-FR"/>
          </a:p>
        </p:txBody>
      </p:sp>
    </p:spTree>
    <p:extLst>
      <p:ext uri="{BB962C8B-B14F-4D97-AF65-F5344CB8AC3E}">
        <p14:creationId xmlns:p14="http://schemas.microsoft.com/office/powerpoint/2010/main" val="2970901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9</a:t>
            </a:fld>
            <a:endParaRPr lang="fr-FR"/>
          </a:p>
        </p:txBody>
      </p:sp>
    </p:spTree>
    <p:extLst>
      <p:ext uri="{BB962C8B-B14F-4D97-AF65-F5344CB8AC3E}">
        <p14:creationId xmlns:p14="http://schemas.microsoft.com/office/powerpoint/2010/main" val="2301549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10</a:t>
            </a:fld>
            <a:endParaRPr lang="fr-FR"/>
          </a:p>
        </p:txBody>
      </p:sp>
    </p:spTree>
    <p:extLst>
      <p:ext uri="{BB962C8B-B14F-4D97-AF65-F5344CB8AC3E}">
        <p14:creationId xmlns:p14="http://schemas.microsoft.com/office/powerpoint/2010/main" val="6174144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11</a:t>
            </a:fld>
            <a:endParaRPr lang="fr-FR"/>
          </a:p>
        </p:txBody>
      </p:sp>
    </p:spTree>
    <p:extLst>
      <p:ext uri="{BB962C8B-B14F-4D97-AF65-F5344CB8AC3E}">
        <p14:creationId xmlns:p14="http://schemas.microsoft.com/office/powerpoint/2010/main" val="2427943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12</a:t>
            </a:fld>
            <a:endParaRPr lang="fr-FR"/>
          </a:p>
        </p:txBody>
      </p:sp>
    </p:spTree>
    <p:extLst>
      <p:ext uri="{BB962C8B-B14F-4D97-AF65-F5344CB8AC3E}">
        <p14:creationId xmlns:p14="http://schemas.microsoft.com/office/powerpoint/2010/main" val="2374415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13</a:t>
            </a:fld>
            <a:endParaRPr lang="fr-FR"/>
          </a:p>
        </p:txBody>
      </p:sp>
    </p:spTree>
    <p:extLst>
      <p:ext uri="{BB962C8B-B14F-4D97-AF65-F5344CB8AC3E}">
        <p14:creationId xmlns:p14="http://schemas.microsoft.com/office/powerpoint/2010/main" val="914201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14</a:t>
            </a:fld>
            <a:endParaRPr lang="fr-FR"/>
          </a:p>
        </p:txBody>
      </p:sp>
    </p:spTree>
    <p:extLst>
      <p:ext uri="{BB962C8B-B14F-4D97-AF65-F5344CB8AC3E}">
        <p14:creationId xmlns:p14="http://schemas.microsoft.com/office/powerpoint/2010/main" val="3809856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15</a:t>
            </a:fld>
            <a:endParaRPr lang="fr-FR"/>
          </a:p>
        </p:txBody>
      </p:sp>
    </p:spTree>
    <p:extLst>
      <p:ext uri="{BB962C8B-B14F-4D97-AF65-F5344CB8AC3E}">
        <p14:creationId xmlns:p14="http://schemas.microsoft.com/office/powerpoint/2010/main" val="1926881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16</a:t>
            </a:fld>
            <a:endParaRPr lang="fr-FR"/>
          </a:p>
        </p:txBody>
      </p:sp>
    </p:spTree>
    <p:extLst>
      <p:ext uri="{BB962C8B-B14F-4D97-AF65-F5344CB8AC3E}">
        <p14:creationId xmlns:p14="http://schemas.microsoft.com/office/powerpoint/2010/main" val="201312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17</a:t>
            </a:fld>
            <a:endParaRPr lang="fr-FR"/>
          </a:p>
        </p:txBody>
      </p:sp>
    </p:spTree>
    <p:extLst>
      <p:ext uri="{BB962C8B-B14F-4D97-AF65-F5344CB8AC3E}">
        <p14:creationId xmlns:p14="http://schemas.microsoft.com/office/powerpoint/2010/main" val="903691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18</a:t>
            </a:fld>
            <a:endParaRPr lang="fr-FR"/>
          </a:p>
        </p:txBody>
      </p:sp>
    </p:spTree>
    <p:extLst>
      <p:ext uri="{BB962C8B-B14F-4D97-AF65-F5344CB8AC3E}">
        <p14:creationId xmlns:p14="http://schemas.microsoft.com/office/powerpoint/2010/main" val="14080380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19</a:t>
            </a:fld>
            <a:endParaRPr lang="fr-FR"/>
          </a:p>
        </p:txBody>
      </p:sp>
    </p:spTree>
    <p:extLst>
      <p:ext uri="{BB962C8B-B14F-4D97-AF65-F5344CB8AC3E}">
        <p14:creationId xmlns:p14="http://schemas.microsoft.com/office/powerpoint/2010/main" val="280946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20</a:t>
            </a:fld>
            <a:endParaRPr lang="fr-FR"/>
          </a:p>
        </p:txBody>
      </p:sp>
    </p:spTree>
    <p:extLst>
      <p:ext uri="{BB962C8B-B14F-4D97-AF65-F5344CB8AC3E}">
        <p14:creationId xmlns:p14="http://schemas.microsoft.com/office/powerpoint/2010/main" val="2961306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21</a:t>
            </a:fld>
            <a:endParaRPr lang="fr-FR"/>
          </a:p>
        </p:txBody>
      </p:sp>
    </p:spTree>
    <p:extLst>
      <p:ext uri="{BB962C8B-B14F-4D97-AF65-F5344CB8AC3E}">
        <p14:creationId xmlns:p14="http://schemas.microsoft.com/office/powerpoint/2010/main" val="3403520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22</a:t>
            </a:fld>
            <a:endParaRPr lang="fr-FR"/>
          </a:p>
        </p:txBody>
      </p:sp>
    </p:spTree>
    <p:extLst>
      <p:ext uri="{BB962C8B-B14F-4D97-AF65-F5344CB8AC3E}">
        <p14:creationId xmlns:p14="http://schemas.microsoft.com/office/powerpoint/2010/main" val="513637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23</a:t>
            </a:fld>
            <a:endParaRPr lang="fr-FR"/>
          </a:p>
        </p:txBody>
      </p:sp>
    </p:spTree>
    <p:extLst>
      <p:ext uri="{BB962C8B-B14F-4D97-AF65-F5344CB8AC3E}">
        <p14:creationId xmlns:p14="http://schemas.microsoft.com/office/powerpoint/2010/main" val="24455051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24</a:t>
            </a:fld>
            <a:endParaRPr lang="fr-FR"/>
          </a:p>
        </p:txBody>
      </p:sp>
    </p:spTree>
    <p:extLst>
      <p:ext uri="{BB962C8B-B14F-4D97-AF65-F5344CB8AC3E}">
        <p14:creationId xmlns:p14="http://schemas.microsoft.com/office/powerpoint/2010/main" val="21827871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25</a:t>
            </a:fld>
            <a:endParaRPr lang="fr-FR"/>
          </a:p>
        </p:txBody>
      </p:sp>
    </p:spTree>
    <p:extLst>
      <p:ext uri="{BB962C8B-B14F-4D97-AF65-F5344CB8AC3E}">
        <p14:creationId xmlns:p14="http://schemas.microsoft.com/office/powerpoint/2010/main" val="10998310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26</a:t>
            </a:fld>
            <a:endParaRPr lang="fr-FR"/>
          </a:p>
        </p:txBody>
      </p:sp>
    </p:spTree>
    <p:extLst>
      <p:ext uri="{BB962C8B-B14F-4D97-AF65-F5344CB8AC3E}">
        <p14:creationId xmlns:p14="http://schemas.microsoft.com/office/powerpoint/2010/main" val="21883055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27</a:t>
            </a:fld>
            <a:endParaRPr lang="fr-FR"/>
          </a:p>
        </p:txBody>
      </p:sp>
    </p:spTree>
    <p:extLst>
      <p:ext uri="{BB962C8B-B14F-4D97-AF65-F5344CB8AC3E}">
        <p14:creationId xmlns:p14="http://schemas.microsoft.com/office/powerpoint/2010/main" val="1342498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28</a:t>
            </a:fld>
            <a:endParaRPr lang="fr-FR"/>
          </a:p>
        </p:txBody>
      </p:sp>
    </p:spTree>
    <p:extLst>
      <p:ext uri="{BB962C8B-B14F-4D97-AF65-F5344CB8AC3E}">
        <p14:creationId xmlns:p14="http://schemas.microsoft.com/office/powerpoint/2010/main" val="8620411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29</a:t>
            </a:fld>
            <a:endParaRPr lang="fr-FR"/>
          </a:p>
        </p:txBody>
      </p:sp>
    </p:spTree>
    <p:extLst>
      <p:ext uri="{BB962C8B-B14F-4D97-AF65-F5344CB8AC3E}">
        <p14:creationId xmlns:p14="http://schemas.microsoft.com/office/powerpoint/2010/main" val="8705828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D9332CC9-5D0C-4F0D-8A88-1F144EBB9BE7}" type="slidenum">
              <a:rPr lang="fr-FR" smtClean="0"/>
              <a:t>30</a:t>
            </a:fld>
            <a:endParaRPr lang="fr-FR"/>
          </a:p>
        </p:txBody>
      </p:sp>
    </p:spTree>
    <p:extLst>
      <p:ext uri="{BB962C8B-B14F-4D97-AF65-F5344CB8AC3E}">
        <p14:creationId xmlns:p14="http://schemas.microsoft.com/office/powerpoint/2010/main" val="3257937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fr-FR"/>
              <a:t>Modifiez le style du titre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F09881D-01DF-4E2B-BAE2-AF1B4D8D1619}" type="datetimeFigureOut">
              <a:rPr lang="en-US" smtClean="0"/>
              <a:t>6/26/2025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1754208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F09881D-01DF-4E2B-BAE2-AF1B4D8D1619}" type="datetimeFigureOut">
              <a:rPr lang="en-US" smtClean="0"/>
              <a:t>6/26/2025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3665328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8F09881D-01DF-4E2B-BAE2-AF1B4D8D1619}" type="datetimeFigureOut">
              <a:rPr lang="en-US" smtClean="0"/>
              <a:t>6/26/2025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1089993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F09881D-01DF-4E2B-BAE2-AF1B4D8D1619}" type="datetimeFigureOut">
              <a:rPr lang="en-US" smtClean="0"/>
              <a:t>6/26/2025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439666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fr-FR"/>
              <a:t>Modifiez le style du titre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1141410" y="3073397"/>
            <a:ext cx="4878391" cy="2717801"/>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172200" y="3073397"/>
            <a:ext cx="4875210" cy="2717801"/>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F09881D-01DF-4E2B-BAE2-AF1B4D8D1619}" type="datetimeFigureOut">
              <a:rPr lang="en-US" smtClean="0"/>
              <a:t>6/26/2025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4263678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F09881D-01DF-4E2B-BAE2-AF1B4D8D1619}" type="datetimeFigureOut">
              <a:rPr lang="en-US" smtClean="0"/>
              <a:t>6/26/2025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3713581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09881D-01DF-4E2B-BAE2-AF1B4D8D1619}" type="datetimeFigureOut">
              <a:rPr lang="en-US" smtClean="0"/>
              <a:t>6/26/2025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2756826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6/26/2025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4116628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6/26/2025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940670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fr-FR"/>
              <a:t>Cliquez sur l'icône pour ajouter une image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6/26/2025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3484976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6/26/2025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1499752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fr-FR"/>
              <a:t>Modifiez le style du titre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6/26/2025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350477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8F09881D-01DF-4E2B-BAE2-AF1B4D8D1619}" type="datetimeFigureOut">
              <a:rPr lang="en-US" smtClean="0"/>
              <a:t>6/26/2025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1733151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fr-FR"/>
              <a:t>Modifiez le style du titre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3" name="Date Placeholder 2"/>
          <p:cNvSpPr>
            <a:spLocks noGrp="1"/>
          </p:cNvSpPr>
          <p:nvPr>
            <p:ph type="dt" sz="half" idx="10"/>
          </p:nvPr>
        </p:nvSpPr>
        <p:spPr/>
        <p:txBody>
          <a:bodyPr/>
          <a:lstStyle/>
          <a:p>
            <a:fld id="{8F09881D-01DF-4E2B-BAE2-AF1B4D8D1619}" type="datetimeFigureOut">
              <a:rPr lang="en-US" smtClean="0"/>
              <a:t>6/26/2025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38977657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fr-FR"/>
              <a:t>Modifiez le style du titre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a:t>Cliquez sur l'icône pour ajouter une image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3" name="Date Placeholder 2"/>
          <p:cNvSpPr>
            <a:spLocks noGrp="1"/>
          </p:cNvSpPr>
          <p:nvPr>
            <p:ph type="dt" sz="half" idx="10"/>
          </p:nvPr>
        </p:nvSpPr>
        <p:spPr/>
        <p:txBody>
          <a:bodyPr/>
          <a:lstStyle/>
          <a:p>
            <a:fld id="{8F09881D-01DF-4E2B-BAE2-AF1B4D8D1619}" type="datetimeFigureOut">
              <a:rPr lang="en-US" smtClean="0"/>
              <a:t>6/26/2025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3701362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F09881D-01DF-4E2B-BAE2-AF1B4D8D1619}" type="datetimeFigureOut">
              <a:rPr lang="en-US" smtClean="0"/>
              <a:t>6/26/2025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28203836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F09881D-01DF-4E2B-BAE2-AF1B4D8D1619}" type="datetimeFigureOut">
              <a:rPr lang="en-US" smtClean="0"/>
              <a:t>6/26/2025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68745-A359-449B-9370-23FEB329D320}" type="slidenum">
              <a:rPr lang="en-US" smtClean="0"/>
              <a:t>‹N°›</a:t>
            </a:fld>
            <a:endParaRPr lang="en-US"/>
          </a:p>
        </p:txBody>
      </p:sp>
    </p:spTree>
    <p:extLst>
      <p:ext uri="{BB962C8B-B14F-4D97-AF65-F5344CB8AC3E}">
        <p14:creationId xmlns:p14="http://schemas.microsoft.com/office/powerpoint/2010/main" val="507022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F09881D-01DF-4E2B-BAE2-AF1B4D8D1619}" type="datetimeFigureOut">
              <a:rPr lang="en-US" smtClean="0"/>
              <a:t>6/26/2025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EE68745-A359-449B-9370-23FEB329D320}" type="slidenum">
              <a:rPr lang="en-US" smtClean="0"/>
              <a:t>‹N°›</a:t>
            </a:fld>
            <a:endParaRPr lang="en-US"/>
          </a:p>
        </p:txBody>
      </p:sp>
    </p:spTree>
    <p:extLst>
      <p:ext uri="{BB962C8B-B14F-4D97-AF65-F5344CB8AC3E}">
        <p14:creationId xmlns:p14="http://schemas.microsoft.com/office/powerpoint/2010/main" val="28067779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F5281ADF-769D-4273-9514-B23D3E1902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76684" y="2018214"/>
            <a:ext cx="4629297" cy="3167064"/>
          </a:xfrm>
          <a:prstGeom prst="ellipse">
            <a:avLst/>
          </a:prstGeom>
          <a:ln w="63500" cap="rnd">
            <a:noFill/>
          </a:ln>
          <a:effectLst>
            <a:softEdge rad="0"/>
          </a:effectLst>
          <a:scene3d>
            <a:camera prst="orthographicFront">
              <a:rot lat="0" lon="0" rev="0"/>
            </a:camera>
            <a:lightRig rig="contrasting" dir="t">
              <a:rot lat="0" lon="0" rev="7800000"/>
            </a:lightRig>
          </a:scene3d>
          <a:sp3d>
            <a:bevelT w="139700" h="139700"/>
          </a:sp3d>
        </p:spPr>
      </p:pic>
      <p:sp>
        <p:nvSpPr>
          <p:cNvPr id="2" name="Parchemin horizontal 1"/>
          <p:cNvSpPr/>
          <p:nvPr/>
        </p:nvSpPr>
        <p:spPr>
          <a:xfrm>
            <a:off x="1243596" y="998583"/>
            <a:ext cx="9104514" cy="1138565"/>
          </a:xfrm>
          <a:prstGeom prst="horizontalScroll">
            <a:avLst/>
          </a:prstGeom>
          <a:solidFill>
            <a:srgbClr val="002060"/>
          </a:solidFill>
          <a:ln>
            <a:solidFill>
              <a:srgbClr val="002060"/>
            </a:solidFill>
          </a:ln>
          <a:effectLst>
            <a:innerShdw blurRad="63500" dist="50800" dir="54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ln/>
                <a:solidFill>
                  <a:schemeClr val="tx1"/>
                </a:solidFill>
                <a:latin typeface="Times New Roman" panose="02020603050405020304" pitchFamily="18" charset="0"/>
                <a:cs typeface="Times New Roman" panose="02020603050405020304" pitchFamily="18" charset="0"/>
              </a:rPr>
              <a:t>Sécurité des réseaux informatiques</a:t>
            </a:r>
          </a:p>
        </p:txBody>
      </p:sp>
      <p:grpSp>
        <p:nvGrpSpPr>
          <p:cNvPr id="17" name="Groupe 16"/>
          <p:cNvGrpSpPr/>
          <p:nvPr/>
        </p:nvGrpSpPr>
        <p:grpSpPr>
          <a:xfrm>
            <a:off x="9917432" y="757826"/>
            <a:ext cx="1541144" cy="265430"/>
            <a:chOff x="0" y="0"/>
            <a:chExt cx="1541721" cy="265814"/>
          </a:xfrm>
        </p:grpSpPr>
        <p:sp>
          <p:nvSpPr>
            <p:cNvPr id="18" name="Rectangle 17"/>
            <p:cNvSpPr/>
            <p:nvPr/>
          </p:nvSpPr>
          <p:spPr>
            <a:xfrm>
              <a:off x="0" y="0"/>
              <a:ext cx="510363" cy="265814"/>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ML" sz="12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9" name="Rectangle 18"/>
            <p:cNvSpPr/>
            <p:nvPr/>
          </p:nvSpPr>
          <p:spPr>
            <a:xfrm>
              <a:off x="520995" y="0"/>
              <a:ext cx="510363" cy="265814"/>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ML"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1031358" y="0"/>
              <a:ext cx="510363" cy="26581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ML" sz="12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6" name="ZoneTexte 15"/>
          <p:cNvSpPr txBox="1"/>
          <p:nvPr/>
        </p:nvSpPr>
        <p:spPr>
          <a:xfrm>
            <a:off x="9005888" y="20324"/>
            <a:ext cx="3186112" cy="584775"/>
          </a:xfrm>
          <a:prstGeom prst="rect">
            <a:avLst/>
          </a:prstGeom>
          <a:noFill/>
        </p:spPr>
        <p:txBody>
          <a:bodyPr wrap="square" rtlCol="0">
            <a:spAutoFit/>
          </a:bodyPr>
          <a:lstStyle/>
          <a:p>
            <a:pPr algn="ctr"/>
            <a:r>
              <a:rPr lang="fr-ML" sz="1600" b="1" dirty="0">
                <a:latin typeface="Times New Roman" panose="02020603050405020304" pitchFamily="18" charset="0"/>
                <a:cs typeface="Times New Roman" panose="02020603050405020304" pitchFamily="18" charset="0"/>
              </a:rPr>
              <a:t>République du Mali</a:t>
            </a:r>
          </a:p>
          <a:p>
            <a:pPr algn="ctr"/>
            <a:r>
              <a:rPr lang="fr-ML" sz="1600" b="1" dirty="0">
                <a:latin typeface="Times New Roman" panose="02020603050405020304" pitchFamily="18" charset="0"/>
                <a:cs typeface="Times New Roman" panose="02020603050405020304" pitchFamily="18" charset="0"/>
              </a:rPr>
              <a:t>Un peuple-Un but-Une foi</a:t>
            </a:r>
            <a:endParaRPr lang="en-US" sz="1600" b="1" dirty="0">
              <a:latin typeface="Times New Roman" panose="02020603050405020304" pitchFamily="18" charset="0"/>
              <a:cs typeface="Times New Roman" panose="02020603050405020304" pitchFamily="18" charset="0"/>
            </a:endParaRPr>
          </a:p>
        </p:txBody>
      </p:sp>
      <p:sp>
        <p:nvSpPr>
          <p:cNvPr id="21" name="ZoneTexte 20"/>
          <p:cNvSpPr txBox="1"/>
          <p:nvPr/>
        </p:nvSpPr>
        <p:spPr>
          <a:xfrm>
            <a:off x="781699" y="191774"/>
            <a:ext cx="3771902" cy="584775"/>
          </a:xfrm>
          <a:prstGeom prst="rect">
            <a:avLst/>
          </a:prstGeom>
          <a:noFill/>
        </p:spPr>
        <p:txBody>
          <a:bodyPr wrap="square" rtlCol="0">
            <a:spAutoFit/>
          </a:bodyPr>
          <a:lstStyle/>
          <a:p>
            <a:r>
              <a:rPr lang="fr-ML" sz="1600" b="1" dirty="0">
                <a:latin typeface="Times New Roman" panose="02020603050405020304" pitchFamily="18" charset="0"/>
                <a:cs typeface="Times New Roman" panose="02020603050405020304" pitchFamily="18" charset="0"/>
              </a:rPr>
              <a:t>Ministère de l’enseignement supérieur </a:t>
            </a:r>
          </a:p>
          <a:p>
            <a:r>
              <a:rPr lang="fr-ML" sz="1600" b="1" dirty="0">
                <a:latin typeface="Times New Roman" panose="02020603050405020304" pitchFamily="18" charset="0"/>
                <a:cs typeface="Times New Roman" panose="02020603050405020304" pitchFamily="18" charset="0"/>
              </a:rPr>
              <a:t>et de la recherche scientifique</a:t>
            </a:r>
            <a:endParaRPr lang="en-US" sz="1600" b="1" dirty="0">
              <a:latin typeface="Times New Roman" panose="02020603050405020304" pitchFamily="18" charset="0"/>
              <a:cs typeface="Times New Roman" panose="02020603050405020304" pitchFamily="18" charset="0"/>
            </a:endParaRPr>
          </a:p>
        </p:txBody>
      </p:sp>
      <p:sp>
        <p:nvSpPr>
          <p:cNvPr id="23" name="ZoneTexte 22"/>
          <p:cNvSpPr txBox="1"/>
          <p:nvPr/>
        </p:nvSpPr>
        <p:spPr>
          <a:xfrm>
            <a:off x="781699" y="4815946"/>
            <a:ext cx="2794985" cy="369332"/>
          </a:xfrm>
          <a:prstGeom prst="rect">
            <a:avLst/>
          </a:prstGeom>
          <a:noFill/>
        </p:spPr>
        <p:txBody>
          <a:bodyPr wrap="square" rtlCol="0">
            <a:spAutoFit/>
          </a:bodyPr>
          <a:lstStyle/>
          <a:p>
            <a:pPr algn="ctr"/>
            <a:r>
              <a:rPr lang="fr-ML" b="1" dirty="0">
                <a:latin typeface="Times New Roman" panose="02020603050405020304" pitchFamily="18" charset="0"/>
                <a:cs typeface="Times New Roman" panose="02020603050405020304" pitchFamily="18" charset="0"/>
              </a:rPr>
              <a:t>Présenté par :</a:t>
            </a:r>
            <a:endParaRPr lang="en-US" b="1" dirty="0">
              <a:latin typeface="Times New Roman" panose="02020603050405020304" pitchFamily="18" charset="0"/>
              <a:cs typeface="Times New Roman" panose="02020603050405020304" pitchFamily="18" charset="0"/>
            </a:endParaRPr>
          </a:p>
        </p:txBody>
      </p:sp>
      <p:sp>
        <p:nvSpPr>
          <p:cNvPr id="25" name="ZoneTexte 24"/>
          <p:cNvSpPr txBox="1"/>
          <p:nvPr/>
        </p:nvSpPr>
        <p:spPr>
          <a:xfrm>
            <a:off x="971551" y="5364342"/>
            <a:ext cx="3798402" cy="923330"/>
          </a:xfrm>
          <a:prstGeom prst="rect">
            <a:avLst/>
          </a:prstGeom>
          <a:noFill/>
        </p:spPr>
        <p:txBody>
          <a:bodyPr wrap="square" rtlCol="0">
            <a:spAutoFit/>
          </a:bodyPr>
          <a:lstStyle/>
          <a:p>
            <a:r>
              <a:rPr lang="fr-ML" b="1" dirty="0" err="1">
                <a:latin typeface="Times New Roman" panose="02020603050405020304" pitchFamily="18" charset="0"/>
                <a:cs typeface="Times New Roman" panose="02020603050405020304" pitchFamily="18" charset="0"/>
              </a:rPr>
              <a:t>Bagaoussou</a:t>
            </a:r>
            <a:r>
              <a:rPr lang="fr-ML" b="1" dirty="0">
                <a:latin typeface="Times New Roman" panose="02020603050405020304" pitchFamily="18" charset="0"/>
                <a:cs typeface="Times New Roman" panose="02020603050405020304" pitchFamily="18" charset="0"/>
              </a:rPr>
              <a:t>     COULIBALY</a:t>
            </a:r>
          </a:p>
          <a:p>
            <a:endParaRPr lang="fr-ML" b="1" dirty="0">
              <a:latin typeface="Times New Roman" panose="02020603050405020304" pitchFamily="18" charset="0"/>
              <a:cs typeface="Times New Roman" panose="02020603050405020304" pitchFamily="18" charset="0"/>
            </a:endParaRPr>
          </a:p>
          <a:p>
            <a:r>
              <a:rPr lang="fr-ML" b="1" dirty="0">
                <a:latin typeface="Times New Roman" panose="02020603050405020304" pitchFamily="18" charset="0"/>
                <a:cs typeface="Times New Roman" panose="02020603050405020304" pitchFamily="18" charset="0"/>
              </a:rPr>
              <a:t>Etudiant en master 2 MSI</a:t>
            </a:r>
          </a:p>
        </p:txBody>
      </p:sp>
      <p:sp>
        <p:nvSpPr>
          <p:cNvPr id="26" name="ZoneTexte 25"/>
          <p:cNvSpPr txBox="1"/>
          <p:nvPr/>
        </p:nvSpPr>
        <p:spPr>
          <a:xfrm>
            <a:off x="8822597" y="4726384"/>
            <a:ext cx="2385798" cy="369332"/>
          </a:xfrm>
          <a:prstGeom prst="rect">
            <a:avLst/>
          </a:prstGeom>
          <a:noFill/>
        </p:spPr>
        <p:txBody>
          <a:bodyPr wrap="square" rtlCol="0">
            <a:spAutoFit/>
          </a:bodyPr>
          <a:lstStyle/>
          <a:p>
            <a:pPr algn="ctr"/>
            <a:r>
              <a:rPr lang="fr-ML" b="1" dirty="0">
                <a:latin typeface="Times New Roman" panose="02020603050405020304" pitchFamily="18" charset="0"/>
                <a:cs typeface="Times New Roman" panose="02020603050405020304" pitchFamily="18" charset="0"/>
              </a:rPr>
              <a:t>Professeur:</a:t>
            </a:r>
            <a:endParaRPr lang="en-US" b="1" dirty="0">
              <a:latin typeface="Times New Roman" panose="02020603050405020304" pitchFamily="18" charset="0"/>
              <a:cs typeface="Times New Roman" panose="02020603050405020304" pitchFamily="18" charset="0"/>
            </a:endParaRPr>
          </a:p>
        </p:txBody>
      </p:sp>
      <p:sp>
        <p:nvSpPr>
          <p:cNvPr id="27" name="ZoneTexte 26"/>
          <p:cNvSpPr txBox="1"/>
          <p:nvPr/>
        </p:nvSpPr>
        <p:spPr>
          <a:xfrm>
            <a:off x="8765794" y="5462775"/>
            <a:ext cx="2975155" cy="369332"/>
          </a:xfrm>
          <a:prstGeom prst="rect">
            <a:avLst/>
          </a:prstGeom>
          <a:noFill/>
        </p:spPr>
        <p:txBody>
          <a:bodyPr wrap="square" rtlCol="0">
            <a:spAutoFit/>
          </a:bodyPr>
          <a:lstStyle/>
          <a:p>
            <a:pPr algn="ctr"/>
            <a:r>
              <a:rPr lang="fr-ML" b="1" dirty="0">
                <a:latin typeface="Times New Roman" panose="02020603050405020304" pitchFamily="18" charset="0"/>
                <a:cs typeface="Times New Roman" panose="02020603050405020304" pitchFamily="18" charset="0"/>
              </a:rPr>
              <a:t>Dr. Abdoulaye Sidibé</a:t>
            </a:r>
            <a:endParaRPr lang="en-US" b="1" dirty="0">
              <a:latin typeface="Times New Roman" panose="02020603050405020304" pitchFamily="18" charset="0"/>
              <a:cs typeface="Times New Roman" panose="02020603050405020304" pitchFamily="18" charset="0"/>
            </a:endParaRPr>
          </a:p>
        </p:txBody>
      </p:sp>
      <p:sp>
        <p:nvSpPr>
          <p:cNvPr id="24" name="Parchemin horizontal 23"/>
          <p:cNvSpPr/>
          <p:nvPr/>
        </p:nvSpPr>
        <p:spPr>
          <a:xfrm>
            <a:off x="4898130" y="6285582"/>
            <a:ext cx="3411940" cy="468537"/>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b="1" dirty="0">
                <a:latin typeface="Times New Roman" panose="02020603050405020304" pitchFamily="18" charset="0"/>
                <a:cs typeface="Times New Roman" panose="02020603050405020304" pitchFamily="18" charset="0"/>
              </a:rPr>
              <a:t>Année universitaire 2024-2025</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9105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SOMMAIRE</a:t>
            </a:r>
            <a:endParaRPr lang="en-US" sz="2400" b="1" dirty="0">
              <a:latin typeface="Times New Roman" panose="02020603050405020304" pitchFamily="18" charset="0"/>
              <a:cs typeface="Times New Roman" panose="02020603050405020304" pitchFamily="18" charset="0"/>
            </a:endParaRPr>
          </a:p>
        </p:txBody>
      </p:sp>
      <p:grpSp>
        <p:nvGrpSpPr>
          <p:cNvPr id="5" name="Groupe 4"/>
          <p:cNvGrpSpPr/>
          <p:nvPr/>
        </p:nvGrpSpPr>
        <p:grpSpPr>
          <a:xfrm>
            <a:off x="1296521" y="1501254"/>
            <a:ext cx="7107891" cy="682388"/>
            <a:chOff x="1296521" y="1501254"/>
            <a:chExt cx="6701061" cy="682388"/>
          </a:xfrm>
        </p:grpSpPr>
        <p:sp>
          <p:nvSpPr>
            <p:cNvPr id="3" name="Organigramme : Disque magnétique 2"/>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1</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4" name="Organigramme : Données stockées 3"/>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6" name="Rectangle 5"/>
          <p:cNvSpPr/>
          <p:nvPr/>
        </p:nvSpPr>
        <p:spPr>
          <a:xfrm>
            <a:off x="3322009" y="1657782"/>
            <a:ext cx="2650085" cy="461665"/>
          </a:xfrm>
          <a:prstGeom prst="rect">
            <a:avLst/>
          </a:prstGeom>
        </p:spPr>
        <p:txBody>
          <a:bodyPr wrap="none">
            <a:spAutoFit/>
          </a:bodyPr>
          <a:lstStyle/>
          <a:p>
            <a:pPr algn="ctr"/>
            <a:r>
              <a:rPr lang="fr-FR" sz="2400" b="1" dirty="0">
                <a:solidFill>
                  <a:schemeClr val="bg1"/>
                </a:solidFill>
                <a:latin typeface="Times New Roman" panose="02020603050405020304" pitchFamily="18" charset="0"/>
                <a:cs typeface="Times New Roman" panose="02020603050405020304" pitchFamily="18" charset="0"/>
              </a:rPr>
              <a:t>INTRODUCTION</a:t>
            </a:r>
            <a:endParaRPr lang="en-US" sz="2400" b="1" dirty="0">
              <a:solidFill>
                <a:schemeClr val="bg1"/>
              </a:solidFill>
              <a:latin typeface="Times New Roman" panose="02020603050405020304" pitchFamily="18" charset="0"/>
              <a:cs typeface="Times New Roman" panose="02020603050405020304" pitchFamily="18" charset="0"/>
            </a:endParaRPr>
          </a:p>
        </p:txBody>
      </p:sp>
      <p:grpSp>
        <p:nvGrpSpPr>
          <p:cNvPr id="7" name="Groupe 6"/>
          <p:cNvGrpSpPr/>
          <p:nvPr/>
        </p:nvGrpSpPr>
        <p:grpSpPr>
          <a:xfrm>
            <a:off x="1296521" y="2750024"/>
            <a:ext cx="7403726" cy="682388"/>
            <a:chOff x="1296521" y="1501254"/>
            <a:chExt cx="6701061" cy="682388"/>
          </a:xfrm>
        </p:grpSpPr>
        <p:sp>
          <p:nvSpPr>
            <p:cNvPr id="8" name="Organigramme : Disque magnétique 7"/>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2</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9" name="Organigramme : Données stockées 8"/>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0" name="Groupe 9"/>
          <p:cNvGrpSpPr/>
          <p:nvPr/>
        </p:nvGrpSpPr>
        <p:grpSpPr>
          <a:xfrm>
            <a:off x="1121709" y="3804243"/>
            <a:ext cx="7578538" cy="682388"/>
            <a:chOff x="1296521" y="1501254"/>
            <a:chExt cx="6701061" cy="682388"/>
          </a:xfrm>
        </p:grpSpPr>
        <p:sp>
          <p:nvSpPr>
            <p:cNvPr id="11" name="Organigramme : Disque magnétique 10"/>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3</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2" name="Organigramme : Données stockées 11"/>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3" name="Groupe 12"/>
          <p:cNvGrpSpPr/>
          <p:nvPr/>
        </p:nvGrpSpPr>
        <p:grpSpPr>
          <a:xfrm>
            <a:off x="1296521" y="4932405"/>
            <a:ext cx="7578538" cy="682388"/>
            <a:chOff x="1296521" y="1501254"/>
            <a:chExt cx="6701061" cy="682388"/>
          </a:xfrm>
        </p:grpSpPr>
        <p:sp>
          <p:nvSpPr>
            <p:cNvPr id="14" name="Organigramme : Disque magnétique 13"/>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4</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5" name="Organigramme : Données stockées 14"/>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grpSp>
        <p:nvGrpSpPr>
          <p:cNvPr id="16" name="Groupe 15"/>
          <p:cNvGrpSpPr/>
          <p:nvPr/>
        </p:nvGrpSpPr>
        <p:grpSpPr>
          <a:xfrm>
            <a:off x="1296521" y="5941079"/>
            <a:ext cx="7578538" cy="682388"/>
            <a:chOff x="1296521" y="1501254"/>
            <a:chExt cx="6701061" cy="682388"/>
          </a:xfrm>
        </p:grpSpPr>
        <p:sp>
          <p:nvSpPr>
            <p:cNvPr id="17" name="Organigramme : Disque magnétique 16"/>
            <p:cNvSpPr/>
            <p:nvPr/>
          </p:nvSpPr>
          <p:spPr>
            <a:xfrm>
              <a:off x="1296522" y="1501254"/>
              <a:ext cx="1105476" cy="682388"/>
            </a:xfrm>
            <a:prstGeom prst="flowChartMagneticDisk">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FR" sz="2200" b="1" dirty="0">
                  <a:solidFill>
                    <a:schemeClr val="bg1"/>
                  </a:solidFill>
                  <a:latin typeface="Times New Roman" panose="02020603050405020304" pitchFamily="18" charset="0"/>
                  <a:cs typeface="Times New Roman" panose="02020603050405020304" pitchFamily="18" charset="0"/>
                </a:rPr>
                <a:t>5</a:t>
              </a:r>
              <a:endParaRPr lang="en-US" sz="2200" b="1" dirty="0">
                <a:solidFill>
                  <a:schemeClr val="bg1"/>
                </a:solidFill>
                <a:latin typeface="Times New Roman" panose="02020603050405020304" pitchFamily="18" charset="0"/>
                <a:cs typeface="Times New Roman" panose="02020603050405020304" pitchFamily="18" charset="0"/>
              </a:endParaRPr>
            </a:p>
          </p:txBody>
        </p:sp>
        <p:sp>
          <p:nvSpPr>
            <p:cNvPr id="18" name="Organigramme : Données stockées 17"/>
            <p:cNvSpPr/>
            <p:nvPr/>
          </p:nvSpPr>
          <p:spPr>
            <a:xfrm rot="10800000">
              <a:off x="1296521" y="1589965"/>
              <a:ext cx="6701061" cy="504966"/>
            </a:xfrm>
            <a:prstGeom prst="flowChartOnlineStorag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p>
          </p:txBody>
        </p:sp>
      </p:grpSp>
      <p:sp>
        <p:nvSpPr>
          <p:cNvPr id="19" name="Rectangle 18"/>
          <p:cNvSpPr/>
          <p:nvPr/>
        </p:nvSpPr>
        <p:spPr>
          <a:xfrm>
            <a:off x="2337077" y="2852509"/>
            <a:ext cx="6363170" cy="400110"/>
          </a:xfrm>
          <a:prstGeom prst="rect">
            <a:avLst/>
          </a:prstGeom>
        </p:spPr>
        <p:txBody>
          <a:bodyPr wrap="square">
            <a:spAutoFit/>
          </a:bodyPr>
          <a:lstStyle/>
          <a:p>
            <a:pPr algn="ctr"/>
            <a:r>
              <a:rPr lang="fr-FR" sz="2000" b="1" dirty="0">
                <a:solidFill>
                  <a:schemeClr val="bg1"/>
                </a:solidFill>
                <a:latin typeface="Times New Roman" panose="02020603050405020304" pitchFamily="18" charset="0"/>
                <a:cs typeface="Times New Roman" panose="02020603050405020304" pitchFamily="18" charset="0"/>
              </a:rPr>
              <a:t>ATTAQUE,MENANCE,VULNERABILITE</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2432262" y="3945382"/>
            <a:ext cx="5675143" cy="400110"/>
          </a:xfrm>
          <a:prstGeom prst="rect">
            <a:avLst/>
          </a:prstGeom>
        </p:spPr>
        <p:txBody>
          <a:bodyPr wrap="none">
            <a:spAutoFit/>
          </a:bodyPr>
          <a:lstStyle/>
          <a:p>
            <a:pPr algn="ctr"/>
            <a:r>
              <a:rPr lang="fr-FR" sz="2000" b="1" dirty="0">
                <a:solidFill>
                  <a:schemeClr val="bg1"/>
                </a:solidFill>
                <a:latin typeface="Times New Roman" panose="02020603050405020304" pitchFamily="18" charset="0"/>
                <a:cs typeface="Times New Roman" panose="02020603050405020304" pitchFamily="18" charset="0"/>
              </a:rPr>
              <a:t>DISPOSITIFS ET MÉCANISME DE SÉCURITÉ</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21" name="Rectangle 20"/>
          <p:cNvSpPr/>
          <p:nvPr/>
        </p:nvSpPr>
        <p:spPr>
          <a:xfrm>
            <a:off x="2228475" y="5089061"/>
            <a:ext cx="6363024" cy="400110"/>
          </a:xfrm>
          <a:prstGeom prst="rect">
            <a:avLst/>
          </a:prstGeom>
        </p:spPr>
        <p:txBody>
          <a:bodyPr wrap="none">
            <a:spAutoFit/>
          </a:bodyPr>
          <a:lstStyle/>
          <a:p>
            <a:pPr algn="ctr"/>
            <a:r>
              <a:rPr lang="fr-FR" sz="2000" b="1" dirty="0">
                <a:solidFill>
                  <a:schemeClr val="bg1"/>
                </a:solidFill>
                <a:latin typeface="Times New Roman" panose="02020603050405020304" pitchFamily="18" charset="0"/>
                <a:cs typeface="Times New Roman" panose="02020603050405020304" pitchFamily="18" charset="0"/>
              </a:rPr>
              <a:t>BONNE PRATIQUE ET POLITIQUES DE SÉCURITÉ</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22" name="Rectangle 21"/>
          <p:cNvSpPr/>
          <p:nvPr/>
        </p:nvSpPr>
        <p:spPr>
          <a:xfrm>
            <a:off x="3943595" y="6014186"/>
            <a:ext cx="2273379" cy="461665"/>
          </a:xfrm>
          <a:prstGeom prst="rect">
            <a:avLst/>
          </a:prstGeom>
        </p:spPr>
        <p:txBody>
          <a:bodyPr wrap="none">
            <a:spAutoFit/>
          </a:bodyPr>
          <a:lstStyle/>
          <a:p>
            <a:pPr algn="ctr"/>
            <a:r>
              <a:rPr lang="fr-FR" sz="2400" b="1" dirty="0">
                <a:solidFill>
                  <a:schemeClr val="bg1"/>
                </a:solidFill>
                <a:latin typeface="Times New Roman" panose="02020603050405020304" pitchFamily="18" charset="0"/>
                <a:cs typeface="Times New Roman" panose="02020603050405020304" pitchFamily="18" charset="0"/>
              </a:rPr>
              <a:t>CONCLUSION</a:t>
            </a:r>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23" name="Ellipse 22">
            <a:extLst>
              <a:ext uri="{FF2B5EF4-FFF2-40B4-BE49-F238E27FC236}">
                <a16:creationId xmlns:a16="http://schemas.microsoft.com/office/drawing/2014/main" id="{A8690BAE-2985-4400-A818-2294F60368CD}"/>
              </a:ext>
            </a:extLst>
          </p:cNvPr>
          <p:cNvSpPr/>
          <p:nvPr/>
        </p:nvSpPr>
        <p:spPr>
          <a:xfrm>
            <a:off x="11160122" y="6058254"/>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8037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INTRODUCTION</a:t>
            </a:r>
            <a:endParaRPr lang="en-US" sz="2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083523" y="971530"/>
            <a:ext cx="10238900" cy="1692771"/>
          </a:xfrm>
          <a:prstGeom prst="rect">
            <a:avLst/>
          </a:prstGeom>
        </p:spPr>
        <p:txBody>
          <a:bodyPr wrap="square">
            <a:spAutoFit/>
          </a:bodyPr>
          <a:lstStyle/>
          <a:p>
            <a:pPr algn="just"/>
            <a:r>
              <a:rPr lang="fr-FR" sz="2400" dirty="0">
                <a:effectLst/>
                <a:latin typeface="Times New Roman" panose="02020603050405020304" pitchFamily="18" charset="0"/>
                <a:ea typeface="Calibri" panose="020F0502020204030204" pitchFamily="34" charset="0"/>
                <a:cs typeface="Times New Roman" panose="02020603050405020304" pitchFamily="18" charset="0"/>
              </a:rPr>
              <a:t>Nous vivons aujourd’hui dans un monde de plus en plus connecté où les réseaux informatiques et l’Internet sont devenu une infrastructure essentielle pour de nombreuses opérations : Financière, Commerciale, Santé, Militaire </a:t>
            </a:r>
            <a:r>
              <a:rPr lang="fr-FR" sz="2400" dirty="0">
                <a:latin typeface="Times New Roman" panose="02020603050405020304" pitchFamily="18" charset="0"/>
                <a:ea typeface="Calibri" panose="020F0502020204030204" pitchFamily="34" charset="0"/>
                <a:cs typeface="Times New Roman" panose="02020603050405020304" pitchFamily="18" charset="0"/>
              </a:rPr>
              <a:t>et</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éducative.</a:t>
            </a:r>
            <a:endParaRPr lang="en-US" sz="3200" dirty="0">
              <a:latin typeface="Times New Roman" panose="02020603050405020304" pitchFamily="18" charset="0"/>
              <a:cs typeface="Times New Roman" panose="02020603050405020304" pitchFamily="18" charset="0"/>
            </a:endParaRPr>
          </a:p>
          <a:p>
            <a:pPr algn="just"/>
            <a:endParaRPr lang="en-US" sz="3200" dirty="0"/>
          </a:p>
        </p:txBody>
      </p:sp>
      <p:pic>
        <p:nvPicPr>
          <p:cNvPr id="4" name="Image 3">
            <a:extLst>
              <a:ext uri="{FF2B5EF4-FFF2-40B4-BE49-F238E27FC236}">
                <a16:creationId xmlns:a16="http://schemas.microsoft.com/office/drawing/2014/main" id="{C7358569-245A-4F91-BBAE-6C88F60AA217}"/>
              </a:ext>
            </a:extLst>
          </p:cNvPr>
          <p:cNvPicPr/>
          <p:nvPr/>
        </p:nvPicPr>
        <p:blipFill>
          <a:blip r:embed="rId3"/>
          <a:stretch>
            <a:fillRect/>
          </a:stretch>
        </p:blipFill>
        <p:spPr>
          <a:xfrm>
            <a:off x="1640541" y="2612248"/>
            <a:ext cx="8216153" cy="3974402"/>
          </a:xfrm>
          <a:prstGeom prst="rect">
            <a:avLst/>
          </a:prstGeom>
        </p:spPr>
      </p:pic>
      <p:sp>
        <p:nvSpPr>
          <p:cNvPr id="5" name="Ellipse 4">
            <a:extLst>
              <a:ext uri="{FF2B5EF4-FFF2-40B4-BE49-F238E27FC236}">
                <a16:creationId xmlns:a16="http://schemas.microsoft.com/office/drawing/2014/main" id="{BB475B01-0A3C-40E3-8A26-DF3E43A698FC}"/>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684302936"/>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INTRODUCTION</a:t>
            </a:r>
            <a:endParaRPr lang="en-US" sz="2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110416" y="1127683"/>
            <a:ext cx="10454053" cy="2048766"/>
          </a:xfrm>
          <a:prstGeom prst="rect">
            <a:avLst/>
          </a:prstGeom>
        </p:spPr>
        <p:txBody>
          <a:bodyPr wrap="square">
            <a:spAutoFit/>
          </a:bodyPr>
          <a:lstStyle/>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L'intégration des réseaux locaux dans les systèmes d'information des entreprises a donné naissance au concept de réseau d'entreprise, permettant aux utilisateurs d'accéder aux ressources de l'entreprise. Cependant, ces systèmes et réseaux sont souvent menacés par des attaques, dont le taux de réussite augmente, ce qui pose un risque important pour la sécurité et la confidentialité des données</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ZoneTexte 5">
            <a:extLst>
              <a:ext uri="{FF2B5EF4-FFF2-40B4-BE49-F238E27FC236}">
                <a16:creationId xmlns:a16="http://schemas.microsoft.com/office/drawing/2014/main" id="{B89DD239-E333-4657-81A3-A98BD326EED7}"/>
              </a:ext>
            </a:extLst>
          </p:cNvPr>
          <p:cNvSpPr txBox="1"/>
          <p:nvPr/>
        </p:nvSpPr>
        <p:spPr>
          <a:xfrm>
            <a:off x="763636" y="3176449"/>
            <a:ext cx="11147612" cy="2048766"/>
          </a:xfrm>
          <a:prstGeom prst="rect">
            <a:avLst/>
          </a:prstGeom>
          <a:noFill/>
        </p:spPr>
        <p:txBody>
          <a:bodyPr wrap="square">
            <a:spAutoFit/>
          </a:bodyPr>
          <a:lstStyle/>
          <a:p>
            <a:pPr marL="457200">
              <a:lnSpc>
                <a:spcPct val="107000"/>
              </a:lnSpc>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Il est donc important pour les entreprises et les organisations de mettre en place des mesures de sécurité informatique efficaces pour protéger leurs systèmes et leurs données contre ces menaces. D’où l’objet de cette exposer sur la sécurité des réseaux informatiques.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Ellipse 4">
            <a:extLst>
              <a:ext uri="{FF2B5EF4-FFF2-40B4-BE49-F238E27FC236}">
                <a16:creationId xmlns:a16="http://schemas.microsoft.com/office/drawing/2014/main" id="{2844BD1E-3D45-4224-9556-168FE3072599}"/>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2778630929"/>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EA4C0BD2-A3EF-495B-B189-7C53D2199857}"/>
              </a:ext>
            </a:extLst>
          </p:cNvPr>
          <p:cNvSpPr txBox="1"/>
          <p:nvPr/>
        </p:nvSpPr>
        <p:spPr>
          <a:xfrm>
            <a:off x="564777" y="1198009"/>
            <a:ext cx="6104964" cy="530594"/>
          </a:xfrm>
          <a:prstGeom prst="rect">
            <a:avLst/>
          </a:prstGeom>
          <a:noFill/>
        </p:spPr>
        <p:txBody>
          <a:bodyPr wrap="square">
            <a:spAutoFit/>
          </a:bodyPr>
          <a:lstStyle/>
          <a:p>
            <a:pPr marL="457200">
              <a:lnSpc>
                <a:spcPct val="107000"/>
              </a:lnSpc>
              <a:spcAft>
                <a:spcPts val="800"/>
              </a:spcAft>
            </a:pPr>
            <a:r>
              <a:rPr lang="fr-FR" sz="2800" b="1"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C’est quoi le réseau informatique ?</a:t>
            </a:r>
            <a:endParaRPr lang="fr-FR" sz="28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ZoneTexte 5">
            <a:extLst>
              <a:ext uri="{FF2B5EF4-FFF2-40B4-BE49-F238E27FC236}">
                <a16:creationId xmlns:a16="http://schemas.microsoft.com/office/drawing/2014/main" id="{A267213C-56BC-4E29-A090-7BF0223C2901}"/>
              </a:ext>
            </a:extLst>
          </p:cNvPr>
          <p:cNvSpPr txBox="1"/>
          <p:nvPr/>
        </p:nvSpPr>
        <p:spPr>
          <a:xfrm>
            <a:off x="932329" y="1746513"/>
            <a:ext cx="10327341" cy="1268489"/>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Le réseau informatique</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a:t>
            </a:r>
            <a:r>
              <a:rPr lang="fr-FR" sz="2400" dirty="0">
                <a:latin typeface="Times New Roman" panose="02020603050405020304" pitchFamily="18" charset="0"/>
                <a:ea typeface="Calibri" panose="020F0502020204030204" pitchFamily="34" charset="0"/>
                <a:cs typeface="Times New Roman" panose="02020603050405020304" pitchFamily="18" charset="0"/>
              </a:rPr>
              <a:t>c’</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est un ensemble d'ordinateurs et des périphériques connectés les uns aux autres afin de partager des ressources et des données. </a:t>
            </a:r>
          </a:p>
          <a:p>
            <a:pPr>
              <a:lnSpc>
                <a:spcPct val="107000"/>
              </a:lnSpc>
              <a:spcAft>
                <a:spcPts val="800"/>
              </a:spcAft>
            </a:pP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id="{C673D90A-B98F-49CD-BA34-0B6AB32D756D}"/>
              </a:ext>
            </a:extLst>
          </p:cNvPr>
          <p:cNvPicPr/>
          <p:nvPr/>
        </p:nvPicPr>
        <p:blipFill>
          <a:blip r:embed="rId3"/>
          <a:stretch>
            <a:fillRect/>
          </a:stretch>
        </p:blipFill>
        <p:spPr>
          <a:xfrm>
            <a:off x="1855694" y="2942114"/>
            <a:ext cx="7974106" cy="3670398"/>
          </a:xfrm>
          <a:prstGeom prst="rect">
            <a:avLst/>
          </a:prstGeom>
        </p:spPr>
      </p:pic>
      <p:sp>
        <p:nvSpPr>
          <p:cNvPr id="8" name="Ellipse 7">
            <a:extLst>
              <a:ext uri="{FF2B5EF4-FFF2-40B4-BE49-F238E27FC236}">
                <a16:creationId xmlns:a16="http://schemas.microsoft.com/office/drawing/2014/main" id="{ADA6AE19-E247-4FA6-8D99-2F1677C77316}"/>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2523576522"/>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916907" y="163773"/>
            <a:ext cx="3411940"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INTRODUCTION</a:t>
            </a:r>
            <a:endParaRPr lang="en-US" sz="2400" b="1" dirty="0">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4150C051-486E-4AAE-9606-B6DC023741D3}"/>
              </a:ext>
            </a:extLst>
          </p:cNvPr>
          <p:cNvSpPr txBox="1"/>
          <p:nvPr/>
        </p:nvSpPr>
        <p:spPr>
          <a:xfrm>
            <a:off x="904370" y="1380234"/>
            <a:ext cx="5707446" cy="4024628"/>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La sécurité des réseaux informatique</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c’est l’ensemble des mécanismes, des procédures, et des dispositif mise en place pour pouvoir protéger l’ensemble du système d’information contre les attaques et les menace pour parfaire la sécurité de son système d’information. Elle vise à garantir : </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la confidentialité, la disponibilités, l’intégrité et la non répudiation et l’authentification. </a:t>
            </a:r>
            <a:endParaRPr lang="fr-FR" b="1"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Image 5">
            <a:extLst>
              <a:ext uri="{FF2B5EF4-FFF2-40B4-BE49-F238E27FC236}">
                <a16:creationId xmlns:a16="http://schemas.microsoft.com/office/drawing/2014/main" id="{3F92F91A-EA0B-4614-ACC7-2DDD3BEE39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4013" y="1403094"/>
            <a:ext cx="5289452" cy="3464171"/>
          </a:xfrm>
          <a:prstGeom prst="rect">
            <a:avLst/>
          </a:prstGeom>
          <a:effectLst>
            <a:outerShdw blurRad="50800" dist="38100" algn="l" rotWithShape="0">
              <a:prstClr val="black">
                <a:alpha val="40000"/>
              </a:prstClr>
            </a:outerShdw>
            <a:reflection blurRad="6350" stA="50000" endA="300" endPos="38500" dist="50800" dir="5400000" sy="-100000" algn="bl" rotWithShape="0"/>
            <a:softEdge rad="101600"/>
          </a:effectLst>
        </p:spPr>
      </p:pic>
      <p:sp>
        <p:nvSpPr>
          <p:cNvPr id="5" name="Ellipse 4">
            <a:extLst>
              <a:ext uri="{FF2B5EF4-FFF2-40B4-BE49-F238E27FC236}">
                <a16:creationId xmlns:a16="http://schemas.microsoft.com/office/drawing/2014/main" id="{ACB8D4CC-0995-4AEE-98BF-7CE3E80BC1EF}"/>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876285825"/>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2653415" y="0"/>
            <a:ext cx="5553636"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attaques</a:t>
            </a:r>
            <a:endPar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FCB4C94B-38B1-4414-808D-D1ECABCA38AE}"/>
              </a:ext>
            </a:extLst>
          </p:cNvPr>
          <p:cNvSpPr txBox="1"/>
          <p:nvPr/>
        </p:nvSpPr>
        <p:spPr>
          <a:xfrm>
            <a:off x="858750" y="1462021"/>
            <a:ext cx="5223803" cy="2443939"/>
          </a:xfrm>
          <a:prstGeom prst="rect">
            <a:avLst/>
          </a:prstGeom>
          <a:noFill/>
        </p:spPr>
        <p:txBody>
          <a:bodyPr wrap="square">
            <a:spAutoFit/>
          </a:bodyPr>
          <a:lstStyle/>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Est une tentative malveillante visant à accéder de manière non autorisée à un ordinateur, un système ou un réseau informatique dans le but de voler, modifier, détruire ou perturber des données ou services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age 3">
            <a:extLst>
              <a:ext uri="{FF2B5EF4-FFF2-40B4-BE49-F238E27FC236}">
                <a16:creationId xmlns:a16="http://schemas.microsoft.com/office/drawing/2014/main" id="{0E789C71-B914-41BA-953C-D07C26D622B3}"/>
              </a:ext>
            </a:extLst>
          </p:cNvPr>
          <p:cNvPicPr/>
          <p:nvPr/>
        </p:nvPicPr>
        <p:blipFill>
          <a:blip r:embed="rId3"/>
          <a:stretch>
            <a:fillRect/>
          </a:stretch>
        </p:blipFill>
        <p:spPr>
          <a:xfrm>
            <a:off x="5701553" y="859809"/>
            <a:ext cx="6662915" cy="52451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Ellipse 4">
            <a:extLst>
              <a:ext uri="{FF2B5EF4-FFF2-40B4-BE49-F238E27FC236}">
                <a16:creationId xmlns:a16="http://schemas.microsoft.com/office/drawing/2014/main" id="{5C322FCE-06A6-40FC-9C8A-03FDC2C53AF0}"/>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6</a:t>
            </a:r>
          </a:p>
        </p:txBody>
      </p:sp>
    </p:spTree>
    <p:extLst>
      <p:ext uri="{BB962C8B-B14F-4D97-AF65-F5344CB8AC3E}">
        <p14:creationId xmlns:p14="http://schemas.microsoft.com/office/powerpoint/2010/main" val="3515119149"/>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Attaque par déni de service : résultats (121) d'images libres de droits, de  photos de stock et d'illustrations | Shutterstock">
            <a:extLst>
              <a:ext uri="{FF2B5EF4-FFF2-40B4-BE49-F238E27FC236}">
                <a16:creationId xmlns:a16="http://schemas.microsoft.com/office/drawing/2014/main" id="{9E953DAF-BADD-4039-871D-C1228E6D7B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1080" y="2209075"/>
            <a:ext cx="5028834" cy="4051047"/>
          </a:xfrm>
          <a:prstGeom prst="rect">
            <a:avLst/>
          </a:prstGeom>
          <a:noFill/>
          <a:extLst>
            <a:ext uri="{909E8E84-426E-40DD-AFC4-6F175D3DCCD1}">
              <a14:hiddenFill xmlns:a14="http://schemas.microsoft.com/office/drawing/2010/main">
                <a:solidFill>
                  <a:srgbClr val="FFFFFF"/>
                </a:solidFill>
              </a14:hiddenFill>
            </a:ext>
          </a:extLst>
        </p:spPr>
      </p:pic>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attaques</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76D94FFB-32FF-40F9-886C-7B5BC3C446B3}"/>
              </a:ext>
            </a:extLst>
          </p:cNvPr>
          <p:cNvSpPr txBox="1"/>
          <p:nvPr/>
        </p:nvSpPr>
        <p:spPr>
          <a:xfrm>
            <a:off x="956602" y="1219924"/>
            <a:ext cx="9931792" cy="863250"/>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Attaque par déni de service (</a:t>
            </a:r>
            <a:r>
              <a:rPr lang="fr-FR" sz="2400" b="1" dirty="0" err="1">
                <a:effectLst/>
                <a:latin typeface="Times New Roman" panose="02020603050405020304" pitchFamily="18" charset="0"/>
                <a:ea typeface="Calibri" panose="020F0502020204030204" pitchFamily="34" charset="0"/>
                <a:cs typeface="Times New Roman" panose="02020603050405020304" pitchFamily="18" charset="0"/>
              </a:rPr>
              <a:t>DoS</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/DDoS)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saturer un système ou un réseau pour le rendre indisponible.</a:t>
            </a:r>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050" name="Picture 2" descr="2 100+ Attaque Par Déni De Service Stock Illustrations, graphiques  vectoriels libre de droits et Clip Art - iStock">
            <a:extLst>
              <a:ext uri="{FF2B5EF4-FFF2-40B4-BE49-F238E27FC236}">
                <a16:creationId xmlns:a16="http://schemas.microsoft.com/office/drawing/2014/main" id="{D31E556D-6831-4E35-B458-E7B5419C3F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201" y="1913030"/>
            <a:ext cx="6144879" cy="4643136"/>
          </a:xfrm>
          <a:prstGeom prst="rect">
            <a:avLst/>
          </a:prstGeom>
          <a:noFill/>
          <a:effectLst>
            <a:softEdge rad="342900"/>
          </a:effectLst>
          <a:extLst>
            <a:ext uri="{909E8E84-426E-40DD-AFC4-6F175D3DCCD1}">
              <a14:hiddenFill xmlns:a14="http://schemas.microsoft.com/office/drawing/2010/main">
                <a:solidFill>
                  <a:srgbClr val="FFFFFF"/>
                </a:solidFill>
              </a14:hiddenFill>
            </a:ext>
          </a:extLst>
        </p:spPr>
      </p:pic>
      <p:sp>
        <p:nvSpPr>
          <p:cNvPr id="6" name="Ellipse 5">
            <a:extLst>
              <a:ext uri="{FF2B5EF4-FFF2-40B4-BE49-F238E27FC236}">
                <a16:creationId xmlns:a16="http://schemas.microsoft.com/office/drawing/2014/main" id="{1108555E-CDFB-460B-B902-82D344A35CAC}"/>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7</a:t>
            </a:r>
          </a:p>
        </p:txBody>
      </p:sp>
    </p:spTree>
    <p:extLst>
      <p:ext uri="{BB962C8B-B14F-4D97-AF65-F5344CB8AC3E}">
        <p14:creationId xmlns:p14="http://schemas.microsoft.com/office/powerpoint/2010/main" val="25013886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attaques</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582CF419-42C3-4240-90E2-9FB06C3460A7}"/>
              </a:ext>
            </a:extLst>
          </p:cNvPr>
          <p:cNvSpPr txBox="1"/>
          <p:nvPr/>
        </p:nvSpPr>
        <p:spPr>
          <a:xfrm>
            <a:off x="1083212" y="1104203"/>
            <a:ext cx="9959926" cy="830997"/>
          </a:xfrm>
          <a:prstGeom prst="rect">
            <a:avLst/>
          </a:prstGeom>
          <a:noFill/>
        </p:spPr>
        <p:txBody>
          <a:bodyPr wrap="square">
            <a:spAutoFit/>
          </a:bodyPr>
          <a:lstStyle/>
          <a:p>
            <a:r>
              <a:rPr lang="fr-FR" sz="2400" b="1" dirty="0">
                <a:effectLst/>
                <a:latin typeface="Times New Roman" panose="02020603050405020304" pitchFamily="18" charset="0"/>
                <a:ea typeface="Calibri" panose="020F0502020204030204" pitchFamily="34" charset="0"/>
              </a:rPr>
              <a:t>Phishing (hameçonnage)</a:t>
            </a:r>
            <a:r>
              <a:rPr lang="fr-FR" sz="2400" dirty="0">
                <a:effectLst/>
                <a:latin typeface="Times New Roman" panose="02020603050405020304" pitchFamily="18" charset="0"/>
                <a:ea typeface="Calibri" panose="020F0502020204030204" pitchFamily="34" charset="0"/>
              </a:rPr>
              <a:t> : tromper les utilisateurs pour obtenir des informations confidentielles comme des mots de passe. </a:t>
            </a:r>
            <a:endParaRPr lang="fr-FR" sz="2400" dirty="0"/>
          </a:p>
        </p:txBody>
      </p:sp>
      <p:pic>
        <p:nvPicPr>
          <p:cNvPr id="4098" name="Picture 2" descr="Qu'est-ce que le phishing ? | Prévention des attaques par phishing |  Cloudflare">
            <a:extLst>
              <a:ext uri="{FF2B5EF4-FFF2-40B4-BE49-F238E27FC236}">
                <a16:creationId xmlns:a16="http://schemas.microsoft.com/office/drawing/2014/main" id="{BFD42D11-8264-4171-9BF1-124F3D9804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57" y="2164031"/>
            <a:ext cx="11197883" cy="4300073"/>
          </a:xfrm>
          <a:prstGeom prst="rect">
            <a:avLst/>
          </a:prstGeom>
          <a:noFill/>
          <a:extLst>
            <a:ext uri="{909E8E84-426E-40DD-AFC4-6F175D3DCCD1}">
              <a14:hiddenFill xmlns:a14="http://schemas.microsoft.com/office/drawing/2010/main">
                <a:solidFill>
                  <a:srgbClr val="FFFFFF"/>
                </a:solidFill>
              </a14:hiddenFill>
            </a:ext>
          </a:extLst>
        </p:spPr>
      </p:pic>
      <p:sp>
        <p:nvSpPr>
          <p:cNvPr id="5" name="Ellipse 4">
            <a:extLst>
              <a:ext uri="{FF2B5EF4-FFF2-40B4-BE49-F238E27FC236}">
                <a16:creationId xmlns:a16="http://schemas.microsoft.com/office/drawing/2014/main" id="{4DCA5411-1411-4E85-A3F5-1D0AAD3409F6}"/>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8</a:t>
            </a:r>
          </a:p>
        </p:txBody>
      </p:sp>
    </p:spTree>
    <p:extLst>
      <p:ext uri="{BB962C8B-B14F-4D97-AF65-F5344CB8AC3E}">
        <p14:creationId xmlns:p14="http://schemas.microsoft.com/office/powerpoint/2010/main" val="36619040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298208" y="175006"/>
            <a:ext cx="5595583" cy="859809"/>
          </a:xfrm>
          <a:prstGeom prst="horizontalScroll">
            <a:avLst>
              <a:gd name="adj" fmla="val 11911"/>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attaques</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39D1ECDE-05CD-4E76-B046-6C6D00FCED28}"/>
              </a:ext>
            </a:extLst>
          </p:cNvPr>
          <p:cNvSpPr txBox="1"/>
          <p:nvPr/>
        </p:nvSpPr>
        <p:spPr>
          <a:xfrm>
            <a:off x="1291882" y="1096096"/>
            <a:ext cx="9608234" cy="863250"/>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Intrusion et piratage</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accès illégal à un système pour voler ou modifier des données.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28" name="Picture 4" descr="Image générée">
            <a:extLst>
              <a:ext uri="{FF2B5EF4-FFF2-40B4-BE49-F238E27FC236}">
                <a16:creationId xmlns:a16="http://schemas.microsoft.com/office/drawing/2014/main" id="{AE2D6079-CD10-46D5-8D31-BA57976B71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586" y="2020627"/>
            <a:ext cx="9735432" cy="4460299"/>
          </a:xfrm>
          <a:prstGeom prst="rect">
            <a:avLst/>
          </a:prstGeom>
          <a:noFill/>
          <a:extLst>
            <a:ext uri="{909E8E84-426E-40DD-AFC4-6F175D3DCCD1}">
              <a14:hiddenFill xmlns:a14="http://schemas.microsoft.com/office/drawing/2010/main">
                <a:solidFill>
                  <a:srgbClr val="FFFFFF"/>
                </a:solidFill>
              </a14:hiddenFill>
            </a:ext>
          </a:extLst>
        </p:spPr>
      </p:pic>
      <p:sp>
        <p:nvSpPr>
          <p:cNvPr id="5" name="Ellipse 4">
            <a:extLst>
              <a:ext uri="{FF2B5EF4-FFF2-40B4-BE49-F238E27FC236}">
                <a16:creationId xmlns:a16="http://schemas.microsoft.com/office/drawing/2014/main" id="{BE3D5F13-B6E5-4A20-ABF2-50D813F3478B}"/>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9</a:t>
            </a:r>
          </a:p>
        </p:txBody>
      </p:sp>
    </p:spTree>
    <p:extLst>
      <p:ext uri="{BB962C8B-B14F-4D97-AF65-F5344CB8AC3E}">
        <p14:creationId xmlns:p14="http://schemas.microsoft.com/office/powerpoint/2010/main" val="12209996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attaques</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4DBF1918-A147-43D2-94D3-E7AC363EB3C3}"/>
              </a:ext>
            </a:extLst>
          </p:cNvPr>
          <p:cNvSpPr txBox="1"/>
          <p:nvPr/>
        </p:nvSpPr>
        <p:spPr>
          <a:xfrm>
            <a:off x="872195" y="1316322"/>
            <a:ext cx="11094721" cy="1653594"/>
          </a:xfrm>
          <a:prstGeom prst="rect">
            <a:avLst/>
          </a:prstGeom>
          <a:noFill/>
        </p:spPr>
        <p:txBody>
          <a:bodyPr wrap="square">
            <a:spAutoFit/>
          </a:bodyPr>
          <a:lstStyle/>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Un spyware</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est un logiciel espion conçu pour surveiller discrètement un utilisateur, collecter ses données personnelles et les transmettre à des acteurs externes sans autorisation, causant ainsi des risques importants pour la sécurité et la confidentialité des informations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124" name="Picture 4" descr="Tout ce qu'il faut savoir sur le spyware">
            <a:extLst>
              <a:ext uri="{FF2B5EF4-FFF2-40B4-BE49-F238E27FC236}">
                <a16:creationId xmlns:a16="http://schemas.microsoft.com/office/drawing/2014/main" id="{FE5F11AF-A222-4A86-9428-E02CB31B21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1" t="16000" b="12615"/>
          <a:stretch/>
        </p:blipFill>
        <p:spPr bwMode="auto">
          <a:xfrm>
            <a:off x="2681932" y="2825922"/>
            <a:ext cx="6202759" cy="3917341"/>
          </a:xfrm>
          <a:prstGeom prst="rect">
            <a:avLst/>
          </a:prstGeom>
          <a:noFill/>
          <a:effectLst>
            <a:softEdge rad="228600"/>
          </a:effectLst>
          <a:extLst>
            <a:ext uri="{909E8E84-426E-40DD-AFC4-6F175D3DCCD1}">
              <a14:hiddenFill xmlns:a14="http://schemas.microsoft.com/office/drawing/2010/main">
                <a:solidFill>
                  <a:srgbClr val="FFFFFF"/>
                </a:solidFill>
              </a14:hiddenFill>
            </a:ext>
          </a:extLst>
        </p:spPr>
      </p:pic>
      <p:sp>
        <p:nvSpPr>
          <p:cNvPr id="5" name="Ellipse 4">
            <a:extLst>
              <a:ext uri="{FF2B5EF4-FFF2-40B4-BE49-F238E27FC236}">
                <a16:creationId xmlns:a16="http://schemas.microsoft.com/office/drawing/2014/main" id="{87328606-A4EA-47FF-BECE-1C02D1CD0097}"/>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10</a:t>
            </a:r>
          </a:p>
        </p:txBody>
      </p:sp>
    </p:spTree>
    <p:extLst>
      <p:ext uri="{BB962C8B-B14F-4D97-AF65-F5344CB8AC3E}">
        <p14:creationId xmlns:p14="http://schemas.microsoft.com/office/powerpoint/2010/main" val="38667643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attaques</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069A5EA0-2A80-4B46-A308-3671923312F6}"/>
              </a:ext>
            </a:extLst>
          </p:cNvPr>
          <p:cNvSpPr txBox="1"/>
          <p:nvPr/>
        </p:nvSpPr>
        <p:spPr>
          <a:xfrm>
            <a:off x="942534" y="1303196"/>
            <a:ext cx="10649243" cy="863250"/>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Logiciels malveillants (malwares)</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virus, ransomwares, spywares qui infectent les systèmes pour voler des données, demander une rançon ou espionner.</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194" name="Picture 2" descr="Qu'est-ce qu'un logiciel malveillant ? | Akamai">
            <a:extLst>
              <a:ext uri="{FF2B5EF4-FFF2-40B4-BE49-F238E27FC236}">
                <a16:creationId xmlns:a16="http://schemas.microsoft.com/office/drawing/2014/main" id="{6C889B09-903C-4625-B4B8-B0ECE40B88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5071" y="2276329"/>
            <a:ext cx="8145193" cy="4581671"/>
          </a:xfrm>
          <a:prstGeom prst="rect">
            <a:avLst/>
          </a:prstGeom>
          <a:noFill/>
          <a:effectLst>
            <a:softEdge rad="381000"/>
          </a:effectLst>
          <a:extLst>
            <a:ext uri="{909E8E84-426E-40DD-AFC4-6F175D3DCCD1}">
              <a14:hiddenFill xmlns:a14="http://schemas.microsoft.com/office/drawing/2010/main">
                <a:solidFill>
                  <a:srgbClr val="FFFFFF"/>
                </a:solidFill>
              </a14:hiddenFill>
            </a:ext>
          </a:extLst>
        </p:spPr>
      </p:pic>
      <p:sp>
        <p:nvSpPr>
          <p:cNvPr id="5" name="Ellipse 4">
            <a:extLst>
              <a:ext uri="{FF2B5EF4-FFF2-40B4-BE49-F238E27FC236}">
                <a16:creationId xmlns:a16="http://schemas.microsoft.com/office/drawing/2014/main" id="{B29F22C4-FAB9-4FF8-941A-96C8A2FBCF3B}"/>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11</a:t>
            </a:r>
          </a:p>
        </p:txBody>
      </p:sp>
    </p:spTree>
    <p:extLst>
      <p:ext uri="{BB962C8B-B14F-4D97-AF65-F5344CB8AC3E}">
        <p14:creationId xmlns:p14="http://schemas.microsoft.com/office/powerpoint/2010/main" val="22830082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attaques</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5A3C59E8-8121-4CAE-A39D-7A2DDCA18312}"/>
              </a:ext>
            </a:extLst>
          </p:cNvPr>
          <p:cNvSpPr txBox="1"/>
          <p:nvPr/>
        </p:nvSpPr>
        <p:spPr>
          <a:xfrm>
            <a:off x="1083211" y="996287"/>
            <a:ext cx="10269417" cy="863250"/>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Attaques ciblant les DNS</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comme le DNS spoofing ou cache </a:t>
            </a:r>
            <a:r>
              <a:rPr lang="fr-FR" sz="2400" dirty="0" err="1">
                <a:effectLst/>
                <a:latin typeface="Times New Roman" panose="02020603050405020304" pitchFamily="18" charset="0"/>
                <a:ea typeface="Calibri" panose="020F0502020204030204" pitchFamily="34" charset="0"/>
                <a:cs typeface="Times New Roman" panose="02020603050405020304" pitchFamily="18" charset="0"/>
              </a:rPr>
              <a:t>poisoning</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qui détournent le trafic réseau.</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2" descr="DNS Spoofing - En quoi consiste-t-il et comment s'en protéger ?">
            <a:extLst>
              <a:ext uri="{FF2B5EF4-FFF2-40B4-BE49-F238E27FC236}">
                <a16:creationId xmlns:a16="http://schemas.microsoft.com/office/drawing/2014/main" id="{277A2AD4-3FFB-4B86-AC0D-D1C114111E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038" y="1167618"/>
            <a:ext cx="10828337" cy="5690381"/>
          </a:xfrm>
          <a:prstGeom prst="rect">
            <a:avLst/>
          </a:prstGeom>
          <a:noFill/>
          <a:extLst>
            <a:ext uri="{909E8E84-426E-40DD-AFC4-6F175D3DCCD1}">
              <a14:hiddenFill xmlns:a14="http://schemas.microsoft.com/office/drawing/2010/main">
                <a:solidFill>
                  <a:srgbClr val="FFFFFF"/>
                </a:solidFill>
              </a14:hiddenFill>
            </a:ext>
          </a:extLst>
        </p:spPr>
      </p:pic>
      <p:sp>
        <p:nvSpPr>
          <p:cNvPr id="5" name="Ellipse 4">
            <a:extLst>
              <a:ext uri="{FF2B5EF4-FFF2-40B4-BE49-F238E27FC236}">
                <a16:creationId xmlns:a16="http://schemas.microsoft.com/office/drawing/2014/main" id="{B631D27C-D358-466A-AA72-7121829289E1}"/>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12</a:t>
            </a:r>
          </a:p>
        </p:txBody>
      </p:sp>
    </p:spTree>
    <p:extLst>
      <p:ext uri="{BB962C8B-B14F-4D97-AF65-F5344CB8AC3E}">
        <p14:creationId xmlns:p14="http://schemas.microsoft.com/office/powerpoint/2010/main" val="39304349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atégories d'attaques informatiques - Les menaces de cybersécurité à connaitre">
            <a:extLst>
              <a:ext uri="{FF2B5EF4-FFF2-40B4-BE49-F238E27FC236}">
                <a16:creationId xmlns:a16="http://schemas.microsoft.com/office/drawing/2014/main" id="{AE8E871C-64C1-425F-85FE-FD6ABF0B51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03" y="2638519"/>
            <a:ext cx="11749797" cy="3636498"/>
          </a:xfrm>
          <a:prstGeom prst="rect">
            <a:avLst/>
          </a:prstGeom>
          <a:noFill/>
          <a:effectLst>
            <a:softEdge rad="177800"/>
          </a:effectLst>
          <a:extLst>
            <a:ext uri="{909E8E84-426E-40DD-AFC4-6F175D3DCCD1}">
              <a14:hiddenFill xmlns:a14="http://schemas.microsoft.com/office/drawing/2010/main">
                <a:solidFill>
                  <a:srgbClr val="FFFFFF"/>
                </a:solidFill>
              </a14:hiddenFill>
            </a:ext>
          </a:extLst>
        </p:spPr>
      </p:pic>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menaces</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67534A53-F0F3-4465-8B03-4E3F17968D8C}"/>
              </a:ext>
            </a:extLst>
          </p:cNvPr>
          <p:cNvSpPr txBox="1"/>
          <p:nvPr/>
        </p:nvSpPr>
        <p:spPr>
          <a:xfrm>
            <a:off x="1181686" y="1380098"/>
            <a:ext cx="10522634" cy="1258421"/>
          </a:xfrm>
          <a:prstGeom prst="rect">
            <a:avLst/>
          </a:prstGeom>
          <a:noFill/>
        </p:spPr>
        <p:txBody>
          <a:bodyPr wrap="square">
            <a:spAutoFit/>
          </a:bodyPr>
          <a:lstStyle/>
          <a:p>
            <a:pPr>
              <a:lnSpc>
                <a:spcPct val="107000"/>
              </a:lnSpc>
              <a:spcAft>
                <a:spcPts val="800"/>
              </a:spcAft>
            </a:pPr>
            <a:r>
              <a:rPr lang="fr-FR" sz="2400" b="1" dirty="0">
                <a:latin typeface="Times New Roman" panose="02020603050405020304" pitchFamily="18" charset="0"/>
                <a:ea typeface="Calibri" panose="020F0502020204030204" pitchFamily="34" charset="0"/>
                <a:cs typeface="Times New Roman" panose="02020603050405020304" pitchFamily="18" charset="0"/>
              </a:rPr>
              <a:t>U</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ne menace informatique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est un danger potentiel qui peut compromettre la confidentialité, l’intégrité ou la disponibilité des systèmes et des données, nécessitant des mesures de sécurité adaptées pour s’en protéger</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 4">
            <a:extLst>
              <a:ext uri="{FF2B5EF4-FFF2-40B4-BE49-F238E27FC236}">
                <a16:creationId xmlns:a16="http://schemas.microsoft.com/office/drawing/2014/main" id="{B3AA5F5C-FDFF-4C7F-BF5E-8274D955D5EF}"/>
              </a:ext>
            </a:extLst>
          </p:cNvPr>
          <p:cNvPicPr/>
          <p:nvPr/>
        </p:nvPicPr>
        <p:blipFill>
          <a:blip r:embed="rId4">
            <a:extLst>
              <a:ext uri="{28A0092B-C50C-407E-A947-70E740481C1C}">
                <a14:useLocalDpi xmlns:a14="http://schemas.microsoft.com/office/drawing/2010/main" val="0"/>
              </a:ext>
            </a:extLst>
          </a:blip>
          <a:stretch>
            <a:fillRect/>
          </a:stretch>
        </p:blipFill>
        <p:spPr>
          <a:xfrm>
            <a:off x="2434787" y="2770094"/>
            <a:ext cx="6346141" cy="3737399"/>
          </a:xfrm>
          <a:prstGeom prst="rect">
            <a:avLst/>
          </a:prstGeom>
          <a:effectLst>
            <a:softEdge rad="241300"/>
          </a:effectLst>
        </p:spPr>
      </p:pic>
      <p:sp>
        <p:nvSpPr>
          <p:cNvPr id="6" name="Ellipse 5">
            <a:extLst>
              <a:ext uri="{FF2B5EF4-FFF2-40B4-BE49-F238E27FC236}">
                <a16:creationId xmlns:a16="http://schemas.microsoft.com/office/drawing/2014/main" id="{5C09C595-5A25-4822-8229-11EB638D470C}"/>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13</a:t>
            </a:r>
          </a:p>
        </p:txBody>
      </p:sp>
    </p:spTree>
    <p:extLst>
      <p:ext uri="{BB962C8B-B14F-4D97-AF65-F5344CB8AC3E}">
        <p14:creationId xmlns:p14="http://schemas.microsoft.com/office/powerpoint/2010/main" val="37112385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Threat vs vulnerability vs risk">
            <a:extLst>
              <a:ext uri="{FF2B5EF4-FFF2-40B4-BE49-F238E27FC236}">
                <a16:creationId xmlns:a16="http://schemas.microsoft.com/office/drawing/2014/main" id="{56938269-9755-4030-A487-0BF3EB0592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098" y="2203145"/>
            <a:ext cx="11380763" cy="4356053"/>
          </a:xfrm>
          <a:prstGeom prst="rect">
            <a:avLst/>
          </a:prstGeom>
          <a:noFill/>
          <a:effectLst>
            <a:softEdge rad="254000"/>
          </a:effectLst>
          <a:extLst>
            <a:ext uri="{909E8E84-426E-40DD-AFC4-6F175D3DCCD1}">
              <a14:hiddenFill xmlns:a14="http://schemas.microsoft.com/office/drawing/2010/main">
                <a:solidFill>
                  <a:srgbClr val="FFFFFF"/>
                </a:solidFill>
              </a14:hiddenFill>
            </a:ext>
          </a:extLst>
        </p:spPr>
      </p:pic>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vulnérabilités</a:t>
            </a:r>
            <a:endPar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4B31A88D-9470-4748-9ABF-9B63FE2D2062}"/>
              </a:ext>
            </a:extLst>
          </p:cNvPr>
          <p:cNvSpPr txBox="1"/>
          <p:nvPr/>
        </p:nvSpPr>
        <p:spPr>
          <a:xfrm>
            <a:off x="829994" y="1359085"/>
            <a:ext cx="10986867" cy="1258421"/>
          </a:xfrm>
          <a:prstGeom prst="rect">
            <a:avLst/>
          </a:prstGeom>
          <a:noFill/>
        </p:spPr>
        <p:txBody>
          <a:bodyPr wrap="square">
            <a:spAutoFit/>
          </a:bodyPr>
          <a:lstStyle/>
          <a:p>
            <a:pPr>
              <a:lnSpc>
                <a:spcPct val="107000"/>
              </a:lnSpc>
              <a:spcAft>
                <a:spcPts val="800"/>
              </a:spcAft>
            </a:pPr>
            <a:r>
              <a:rPr lang="fr-FR" sz="2400" dirty="0">
                <a:latin typeface="Times New Roman" panose="02020603050405020304" pitchFamily="18" charset="0"/>
                <a:ea typeface="Calibri" panose="020F0502020204030204" pitchFamily="34" charset="0"/>
                <a:cs typeface="Times New Roman" panose="02020603050405020304" pitchFamily="18" charset="0"/>
              </a:rPr>
              <a:t>C’est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une faiblesse ou une faille dans un système informatique, une application ou un protocole de communication qui peut être exploitée par des attaquants pour compromettre la sécurité du système ou pour accéder à des informations sensibles.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 4">
            <a:extLst>
              <a:ext uri="{FF2B5EF4-FFF2-40B4-BE49-F238E27FC236}">
                <a16:creationId xmlns:a16="http://schemas.microsoft.com/office/drawing/2014/main" id="{7C5D8FA9-F74B-4456-95D0-FA9F9630E54F}"/>
              </a:ext>
            </a:extLst>
          </p:cNvPr>
          <p:cNvPicPr/>
          <p:nvPr/>
        </p:nvPicPr>
        <p:blipFill>
          <a:blip r:embed="rId4"/>
          <a:stretch>
            <a:fillRect/>
          </a:stretch>
        </p:blipFill>
        <p:spPr>
          <a:xfrm>
            <a:off x="2319190" y="2743200"/>
            <a:ext cx="6248035" cy="3671667"/>
          </a:xfrm>
          <a:prstGeom prst="rect">
            <a:avLst/>
          </a:prstGeom>
          <a:effectLst>
            <a:softEdge rad="190500"/>
          </a:effectLst>
        </p:spPr>
      </p:pic>
      <p:pic>
        <p:nvPicPr>
          <p:cNvPr id="14340" name="Picture 4" descr="Illustration signe Vulnérable sur fond blanc - 10080020">
            <a:extLst>
              <a:ext uri="{FF2B5EF4-FFF2-40B4-BE49-F238E27FC236}">
                <a16:creationId xmlns:a16="http://schemas.microsoft.com/office/drawing/2014/main" id="{B4F1F0EC-A710-406E-86CC-308C8F7B98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40163" y="3055160"/>
            <a:ext cx="1997611" cy="1326011"/>
          </a:xfrm>
          <a:prstGeom prst="rect">
            <a:avLst/>
          </a:prstGeom>
          <a:noFill/>
          <a:extLst>
            <a:ext uri="{909E8E84-426E-40DD-AFC4-6F175D3DCCD1}">
              <a14:hiddenFill xmlns:a14="http://schemas.microsoft.com/office/drawing/2010/main">
                <a:solidFill>
                  <a:srgbClr val="FFFFFF"/>
                </a:solidFill>
              </a14:hiddenFill>
            </a:ext>
          </a:extLst>
        </p:spPr>
      </p:pic>
      <p:sp>
        <p:nvSpPr>
          <p:cNvPr id="7" name="Ellipse 6">
            <a:extLst>
              <a:ext uri="{FF2B5EF4-FFF2-40B4-BE49-F238E27FC236}">
                <a16:creationId xmlns:a16="http://schemas.microsoft.com/office/drawing/2014/main" id="{C3C0BA3F-11A6-4741-B47C-62BD1A3D82A8}"/>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14</a:t>
            </a:r>
          </a:p>
        </p:txBody>
      </p:sp>
    </p:spTree>
    <p:extLst>
      <p:ext uri="{BB962C8B-B14F-4D97-AF65-F5344CB8AC3E}">
        <p14:creationId xmlns:p14="http://schemas.microsoft.com/office/powerpoint/2010/main" val="27031220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Scan des vulnérabilités : sécurisez vos assets informatiques">
            <a:extLst>
              <a:ext uri="{FF2B5EF4-FFF2-40B4-BE49-F238E27FC236}">
                <a16:creationId xmlns:a16="http://schemas.microsoft.com/office/drawing/2014/main" id="{796D51F7-81B1-4BF5-AFEC-70C3CEE682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0283" y="0"/>
            <a:ext cx="4651717" cy="6721521"/>
          </a:xfrm>
          <a:prstGeom prst="rect">
            <a:avLst/>
          </a:prstGeom>
          <a:noFill/>
          <a:extLst>
            <a:ext uri="{909E8E84-426E-40DD-AFC4-6F175D3DCCD1}">
              <a14:hiddenFill xmlns:a14="http://schemas.microsoft.com/office/drawing/2010/main">
                <a:solidFill>
                  <a:srgbClr val="FFFFFF"/>
                </a:solidFill>
              </a14:hiddenFill>
            </a:ext>
          </a:extLst>
        </p:spPr>
      </p:pic>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Les types de </a:t>
            </a:r>
            <a:r>
              <a:rPr lang="fr-ML" sz="2400" b="1" dirty="0" err="1">
                <a:latin typeface="Times New Roman" panose="02020603050405020304" pitchFamily="18" charset="0"/>
                <a:cs typeface="Times New Roman" panose="02020603050405020304" pitchFamily="18" charset="0"/>
              </a:rPr>
              <a:t>vulnerabilités</a:t>
            </a:r>
            <a:endParaRPr lang="en-US" sz="2400" b="1" dirty="0">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E811B512-B2E3-4C49-8C6E-8F9C9C975B63}"/>
              </a:ext>
            </a:extLst>
          </p:cNvPr>
          <p:cNvSpPr txBox="1"/>
          <p:nvPr/>
        </p:nvSpPr>
        <p:spPr>
          <a:xfrm>
            <a:off x="942537" y="1153045"/>
            <a:ext cx="6499272" cy="5122749"/>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Vulnérabilités logicielles</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erreurs dans le code ou la conception d’un logiciel (ex : dépassement de tampon, injection SQL).</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Vulnérabilités réseau</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faiblesses dans la configuration des équipements réseau comme les pare-feu ou routeurs.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Vulnérabilités humaines</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erreurs ou négligences des utilisateurs, comme des mots de passe faibles ou un manque de sensibilisation.</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Vulnérabilités physiques</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accès non autorisé aux équipements ou locaux permettant d’introduire des attaques.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Ellipse 4">
            <a:extLst>
              <a:ext uri="{FF2B5EF4-FFF2-40B4-BE49-F238E27FC236}">
                <a16:creationId xmlns:a16="http://schemas.microsoft.com/office/drawing/2014/main" id="{20B3527A-44A9-4F0C-9AF9-99D90CCE33B8}"/>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15</a:t>
            </a:r>
          </a:p>
        </p:txBody>
      </p:sp>
    </p:spTree>
    <p:extLst>
      <p:ext uri="{BB962C8B-B14F-4D97-AF65-F5344CB8AC3E}">
        <p14:creationId xmlns:p14="http://schemas.microsoft.com/office/powerpoint/2010/main" val="3446956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Les dispositive et </a:t>
            </a:r>
            <a:r>
              <a:rPr lang="en-US" sz="2400" b="1" dirty="0" err="1">
                <a:latin typeface="Times New Roman" panose="02020603050405020304" pitchFamily="18" charset="0"/>
                <a:cs typeface="Times New Roman" panose="02020603050405020304" pitchFamily="18" charset="0"/>
              </a:rPr>
              <a:t>mecanisme</a:t>
            </a:r>
            <a:r>
              <a:rPr lang="en-US" sz="2400" b="1" dirty="0">
                <a:latin typeface="Times New Roman" panose="02020603050405020304" pitchFamily="18" charset="0"/>
                <a:cs typeface="Times New Roman" panose="02020603050405020304" pitchFamily="18" charset="0"/>
              </a:rPr>
              <a:t> de </a:t>
            </a:r>
            <a:r>
              <a:rPr lang="en-US" sz="2400" b="1" dirty="0" err="1">
                <a:latin typeface="Times New Roman" panose="02020603050405020304" pitchFamily="18" charset="0"/>
                <a:cs typeface="Times New Roman" panose="02020603050405020304" pitchFamily="18" charset="0"/>
              </a:rPr>
              <a:t>securité</a:t>
            </a:r>
            <a:endParaRPr lang="en-US" sz="2400" b="1" dirty="0">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F707332C-CC99-45B9-93C4-4AA34300C90B}"/>
              </a:ext>
            </a:extLst>
          </p:cNvPr>
          <p:cNvSpPr txBox="1"/>
          <p:nvPr/>
        </p:nvSpPr>
        <p:spPr>
          <a:xfrm>
            <a:off x="1156447" y="1242083"/>
            <a:ext cx="9533965" cy="1200329"/>
          </a:xfrm>
          <a:prstGeom prst="rect">
            <a:avLst/>
          </a:prstGeom>
          <a:noFill/>
        </p:spPr>
        <p:txBody>
          <a:bodyPr wrap="square">
            <a:spAutoFit/>
          </a:bodyPr>
          <a:lstStyle/>
          <a:p>
            <a:r>
              <a:rPr lang="fr-FR" sz="2400" dirty="0">
                <a:effectLst/>
                <a:latin typeface="Times New Roman" panose="02020603050405020304" pitchFamily="18" charset="0"/>
                <a:ea typeface="Calibri" panose="020F0502020204030204" pitchFamily="34" charset="0"/>
              </a:rPr>
              <a:t>Les dispositifs et mécanismes de sécurité sont des outils, technologies et méthodes mis en place pour protéger les systèmes informatiques, les réseaux et les données contre les attaques, intrusions et autres menaces.</a:t>
            </a:r>
            <a:endParaRPr lang="fr-FR" sz="2400" dirty="0"/>
          </a:p>
        </p:txBody>
      </p:sp>
      <p:pic>
        <p:nvPicPr>
          <p:cNvPr id="2050" name="Picture 2" descr="Renforcement de sécurité du système d'informations - DigDeo">
            <a:extLst>
              <a:ext uri="{FF2B5EF4-FFF2-40B4-BE49-F238E27FC236}">
                <a16:creationId xmlns:a16="http://schemas.microsoft.com/office/drawing/2014/main" id="{A3D55FD5-CC5E-49C6-A442-D5F4E91F6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5863" y="2809231"/>
            <a:ext cx="8555131" cy="3772651"/>
          </a:xfrm>
          <a:prstGeom prst="rect">
            <a:avLst/>
          </a:prstGeom>
          <a:noFill/>
          <a:extLst>
            <a:ext uri="{909E8E84-426E-40DD-AFC4-6F175D3DCCD1}">
              <a14:hiddenFill xmlns:a14="http://schemas.microsoft.com/office/drawing/2010/main">
                <a:solidFill>
                  <a:srgbClr val="FFFFFF"/>
                </a:solidFill>
              </a14:hiddenFill>
            </a:ext>
          </a:extLst>
        </p:spPr>
      </p:pic>
      <p:sp>
        <p:nvSpPr>
          <p:cNvPr id="5" name="Ellipse 4">
            <a:extLst>
              <a:ext uri="{FF2B5EF4-FFF2-40B4-BE49-F238E27FC236}">
                <a16:creationId xmlns:a16="http://schemas.microsoft.com/office/drawing/2014/main" id="{2CC68C2E-4746-4870-BEEC-D53A171394AC}"/>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16</a:t>
            </a:r>
          </a:p>
        </p:txBody>
      </p:sp>
    </p:spTree>
    <p:extLst>
      <p:ext uri="{BB962C8B-B14F-4D97-AF65-F5344CB8AC3E}">
        <p14:creationId xmlns:p14="http://schemas.microsoft.com/office/powerpoint/2010/main" val="40186103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Définition | Firewall">
            <a:extLst>
              <a:ext uri="{FF2B5EF4-FFF2-40B4-BE49-F238E27FC236}">
                <a16:creationId xmlns:a16="http://schemas.microsoft.com/office/drawing/2014/main" id="{93993AA6-79E6-4993-B531-D733F5FD1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6231" y="1781776"/>
            <a:ext cx="4298887" cy="2230606"/>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2" name="Parchemin horizontal 1"/>
          <p:cNvSpPr/>
          <p:nvPr/>
        </p:nvSpPr>
        <p:spPr>
          <a:xfrm>
            <a:off x="1748119" y="136478"/>
            <a:ext cx="7463116" cy="1154440"/>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Calibri" panose="020F0502020204030204" pitchFamily="34" charset="0"/>
              </a:rPr>
              <a:t>D</a:t>
            </a:r>
            <a:r>
              <a:rPr lang="fr-FR" sz="2400" b="1" dirty="0">
                <a:effectLst/>
                <a:latin typeface="Times New Roman" panose="02020603050405020304" pitchFamily="18" charset="0"/>
                <a:ea typeface="Calibri" panose="020F0502020204030204" pitchFamily="34" charset="0"/>
              </a:rPr>
              <a:t>ispositifs et mécanismes de sécurité couramment utilisés:</a:t>
            </a:r>
            <a:endParaRPr lang="en-US" sz="3200" b="1" dirty="0">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4D794900-A48F-4134-B653-6FB16C3430F9}"/>
              </a:ext>
            </a:extLst>
          </p:cNvPr>
          <p:cNvSpPr txBox="1"/>
          <p:nvPr/>
        </p:nvSpPr>
        <p:spPr>
          <a:xfrm>
            <a:off x="905435" y="1152566"/>
            <a:ext cx="10381130" cy="1258421"/>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Pare-feu (Firewall)</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c’est un système de protection (logiciel et/ou matériel) qui a pour mission de filtrer le trafic entrant et sortant sur un réseau informatique selon des règles définies, empêchant ainsi les accès non autorisés.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074" name="Picture 2" descr="Qu'est-ce qu'un pare-feu ? - WayToLearnX">
            <a:extLst>
              <a:ext uri="{FF2B5EF4-FFF2-40B4-BE49-F238E27FC236}">
                <a16:creationId xmlns:a16="http://schemas.microsoft.com/office/drawing/2014/main" id="{8F1C890C-1EA3-4124-9F3D-E5EC655653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2078" y="3126613"/>
            <a:ext cx="8809506" cy="3374784"/>
          </a:xfrm>
          <a:prstGeom prst="rect">
            <a:avLst/>
          </a:prstGeom>
          <a:noFill/>
          <a:extLst>
            <a:ext uri="{909E8E84-426E-40DD-AFC4-6F175D3DCCD1}">
              <a14:hiddenFill xmlns:a14="http://schemas.microsoft.com/office/drawing/2010/main">
                <a:solidFill>
                  <a:srgbClr val="FFFFFF"/>
                </a:solidFill>
              </a14:hiddenFill>
            </a:ext>
          </a:extLst>
        </p:spPr>
      </p:pic>
      <p:sp>
        <p:nvSpPr>
          <p:cNvPr id="6" name="Ellipse 5">
            <a:extLst>
              <a:ext uri="{FF2B5EF4-FFF2-40B4-BE49-F238E27FC236}">
                <a16:creationId xmlns:a16="http://schemas.microsoft.com/office/drawing/2014/main" id="{787B5C38-D786-49D4-B273-A20845E7F438}"/>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17</a:t>
            </a:r>
          </a:p>
        </p:txBody>
      </p:sp>
    </p:spTree>
    <p:extLst>
      <p:ext uri="{BB962C8B-B14F-4D97-AF65-F5344CB8AC3E}">
        <p14:creationId xmlns:p14="http://schemas.microsoft.com/office/powerpoint/2010/main" val="5276352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1748119" y="136478"/>
            <a:ext cx="7463116"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Calibri" panose="020F0502020204030204" pitchFamily="34" charset="0"/>
              </a:rPr>
              <a:t>D</a:t>
            </a:r>
            <a:r>
              <a:rPr lang="fr-FR" sz="2400" b="1" dirty="0">
                <a:effectLst/>
                <a:latin typeface="Times New Roman" panose="02020603050405020304" pitchFamily="18" charset="0"/>
                <a:ea typeface="Calibri" panose="020F0502020204030204" pitchFamily="34" charset="0"/>
              </a:rPr>
              <a:t>ispositifs et mécanismes de sécurité couramment utilisés:</a:t>
            </a:r>
            <a:endParaRPr lang="en-US" sz="3200" b="1" dirty="0">
              <a:latin typeface="Times New Roman" panose="02020603050405020304" pitchFamily="18" charset="0"/>
              <a:cs typeface="Times New Roman" panose="02020603050405020304" pitchFamily="18" charset="0"/>
            </a:endParaRPr>
          </a:p>
        </p:txBody>
      </p:sp>
      <p:pic>
        <p:nvPicPr>
          <p:cNvPr id="4098" name="Picture 2" descr="Firewall (pare-feu)">
            <a:extLst>
              <a:ext uri="{FF2B5EF4-FFF2-40B4-BE49-F238E27FC236}">
                <a16:creationId xmlns:a16="http://schemas.microsoft.com/office/drawing/2014/main" id="{6AD0668F-66C7-4802-8F5A-C42BCE86F0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894" y="1452282"/>
            <a:ext cx="10186142" cy="443752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3D7710B-15E8-4E54-B91D-5F030B7923BA}"/>
              </a:ext>
            </a:extLst>
          </p:cNvPr>
          <p:cNvSpPr/>
          <p:nvPr/>
        </p:nvSpPr>
        <p:spPr>
          <a:xfrm>
            <a:off x="1196788" y="4343400"/>
            <a:ext cx="3509683" cy="135815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5" name="Ellipse 4">
            <a:extLst>
              <a:ext uri="{FF2B5EF4-FFF2-40B4-BE49-F238E27FC236}">
                <a16:creationId xmlns:a16="http://schemas.microsoft.com/office/drawing/2014/main" id="{91101471-80F5-4899-B62A-FD6816F49483}"/>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18</a:t>
            </a:r>
          </a:p>
        </p:txBody>
      </p:sp>
    </p:spTree>
    <p:extLst>
      <p:ext uri="{BB962C8B-B14F-4D97-AF65-F5344CB8AC3E}">
        <p14:creationId xmlns:p14="http://schemas.microsoft.com/office/powerpoint/2010/main" val="3803083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1748119" y="136478"/>
            <a:ext cx="7463116"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Calibri" panose="020F0502020204030204" pitchFamily="34" charset="0"/>
              </a:rPr>
              <a:t>D</a:t>
            </a:r>
            <a:r>
              <a:rPr lang="fr-FR" sz="2400" b="1" dirty="0">
                <a:effectLst/>
                <a:latin typeface="Times New Roman" panose="02020603050405020304" pitchFamily="18" charset="0"/>
                <a:ea typeface="Calibri" panose="020F0502020204030204" pitchFamily="34" charset="0"/>
              </a:rPr>
              <a:t>ispositifs et mécanismes de sécurité couramment utilisés:</a:t>
            </a:r>
            <a:endParaRPr lang="en-US" sz="3200" b="1" dirty="0">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2DAB4F7E-7747-4FBC-80D8-DCD99DFA5FB1}"/>
              </a:ext>
            </a:extLst>
          </p:cNvPr>
          <p:cNvSpPr txBox="1"/>
          <p:nvPr/>
        </p:nvSpPr>
        <p:spPr>
          <a:xfrm>
            <a:off x="753035" y="1185207"/>
            <a:ext cx="11066930" cy="2546531"/>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Un IDS (Intrusion </a:t>
            </a:r>
            <a:r>
              <a:rPr lang="fr-FR" sz="2400" b="1" dirty="0" err="1">
                <a:effectLst/>
                <a:latin typeface="Times New Roman" panose="02020603050405020304" pitchFamily="18" charset="0"/>
                <a:ea typeface="Calibri" panose="020F0502020204030204" pitchFamily="34" charset="0"/>
                <a:cs typeface="Times New Roman" panose="02020603050405020304" pitchFamily="18" charset="0"/>
              </a:rPr>
              <a:t>Detection</a:t>
            </a: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 System)</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:est un système de sécurité informatique qui surveille le trafic réseau ou les activités d’un système pour détecter des comportements suspects, des menaces connues ou des activités malveillantes. Lorsqu’une intrusion ou une anomalie est détectée, l’IDS génère une alerte pour informer les équipes de sécurité, mais il n’intervient pas directement pour bloquer l’attaque</a:t>
            </a:r>
            <a:endParaRPr lang="fr-FR"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IDS</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détection et alerte des intrusions (système passif)</a:t>
            </a:r>
            <a:endParaRPr lang="fr-FR"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122" name="Picture 2" descr="What is IDS and IPS diagram">
            <a:extLst>
              <a:ext uri="{FF2B5EF4-FFF2-40B4-BE49-F238E27FC236}">
                <a16:creationId xmlns:a16="http://schemas.microsoft.com/office/drawing/2014/main" id="{3D18730A-8572-4A5F-9009-B5D583F880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035" y="3731739"/>
            <a:ext cx="10919012" cy="3053662"/>
          </a:xfrm>
          <a:prstGeom prst="rect">
            <a:avLst/>
          </a:prstGeom>
          <a:noFill/>
          <a:extLst>
            <a:ext uri="{909E8E84-426E-40DD-AFC4-6F175D3DCCD1}">
              <a14:hiddenFill xmlns:a14="http://schemas.microsoft.com/office/drawing/2010/main">
                <a:solidFill>
                  <a:srgbClr val="FFFFFF"/>
                </a:solidFill>
              </a14:hiddenFill>
            </a:ext>
          </a:extLst>
        </p:spPr>
      </p:pic>
      <p:sp>
        <p:nvSpPr>
          <p:cNvPr id="5" name="Ellipse 4">
            <a:extLst>
              <a:ext uri="{FF2B5EF4-FFF2-40B4-BE49-F238E27FC236}">
                <a16:creationId xmlns:a16="http://schemas.microsoft.com/office/drawing/2014/main" id="{26A671F6-D0C5-463D-A4C9-6A797E2397DF}"/>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19</a:t>
            </a:r>
          </a:p>
        </p:txBody>
      </p:sp>
    </p:spTree>
    <p:extLst>
      <p:ext uri="{BB962C8B-B14F-4D97-AF65-F5344CB8AC3E}">
        <p14:creationId xmlns:p14="http://schemas.microsoft.com/office/powerpoint/2010/main" val="9287459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1748119" y="136478"/>
            <a:ext cx="7463116"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Calibri" panose="020F0502020204030204" pitchFamily="34" charset="0"/>
              </a:rPr>
              <a:t>D</a:t>
            </a:r>
            <a:r>
              <a:rPr lang="fr-FR" sz="2400" b="1" dirty="0">
                <a:effectLst/>
                <a:latin typeface="Times New Roman" panose="02020603050405020304" pitchFamily="18" charset="0"/>
                <a:ea typeface="Calibri" panose="020F0502020204030204" pitchFamily="34" charset="0"/>
              </a:rPr>
              <a:t>ispositifs et mécanismes de sécurité couramment utilisés:</a:t>
            </a:r>
            <a:endParaRPr lang="en-US" sz="3200" b="1" dirty="0">
              <a:latin typeface="Times New Roman" panose="02020603050405020304" pitchFamily="18" charset="0"/>
              <a:cs typeface="Times New Roman" panose="02020603050405020304" pitchFamily="18" charset="0"/>
            </a:endParaRPr>
          </a:p>
        </p:txBody>
      </p:sp>
      <p:pic>
        <p:nvPicPr>
          <p:cNvPr id="6" name="Image 5">
            <a:extLst>
              <a:ext uri="{FF2B5EF4-FFF2-40B4-BE49-F238E27FC236}">
                <a16:creationId xmlns:a16="http://schemas.microsoft.com/office/drawing/2014/main" id="{211270B8-F78C-4D04-90F7-261479C37912}"/>
              </a:ext>
            </a:extLst>
          </p:cNvPr>
          <p:cNvPicPr>
            <a:picLocks noChangeAspect="1"/>
          </p:cNvPicPr>
          <p:nvPr/>
        </p:nvPicPr>
        <p:blipFill>
          <a:blip r:embed="rId3"/>
          <a:stretch>
            <a:fillRect/>
          </a:stretch>
        </p:blipFill>
        <p:spPr>
          <a:xfrm>
            <a:off x="1188945" y="2787266"/>
            <a:ext cx="9334500" cy="3627624"/>
          </a:xfrm>
          <a:prstGeom prst="rect">
            <a:avLst/>
          </a:prstGeom>
          <a:effectLst>
            <a:softEdge rad="203200"/>
          </a:effectLst>
        </p:spPr>
      </p:pic>
      <p:sp>
        <p:nvSpPr>
          <p:cNvPr id="12" name="ZoneTexte 11">
            <a:extLst>
              <a:ext uri="{FF2B5EF4-FFF2-40B4-BE49-F238E27FC236}">
                <a16:creationId xmlns:a16="http://schemas.microsoft.com/office/drawing/2014/main" id="{63CCF882-F461-4EC1-93DC-DFCA4EC38F3B}"/>
              </a:ext>
            </a:extLst>
          </p:cNvPr>
          <p:cNvSpPr txBox="1"/>
          <p:nvPr/>
        </p:nvSpPr>
        <p:spPr>
          <a:xfrm>
            <a:off x="1006065" y="996287"/>
            <a:ext cx="10754526" cy="1938992"/>
          </a:xfrm>
          <a:prstGeom prst="rect">
            <a:avLst/>
          </a:prstGeom>
          <a:noFill/>
        </p:spPr>
        <p:txBody>
          <a:bodyPr wrap="square">
            <a:spAutoFit/>
          </a:bodyPr>
          <a:lstStyle/>
          <a:p>
            <a:r>
              <a:rPr lang="fr-FR" sz="2400" dirty="0">
                <a:latin typeface="Times New Roman" panose="02020603050405020304" pitchFamily="18" charset="0"/>
                <a:cs typeface="Times New Roman" panose="02020603050405020304" pitchFamily="18" charset="0"/>
              </a:rPr>
              <a:t>Le système de prévention d’intrusion (IPS): est un dispositif de sécurité qui surveille les activités du réseau et/ou du système informatique à la recherche des comportements indésirables afin de les empêcher à produire des incidents de sécurité</a:t>
            </a:r>
          </a:p>
          <a:p>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	IPS</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détection + prévention active des intrusions (système actif)</a:t>
            </a:r>
            <a:endParaRPr lang="fr-FR"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sz="2400" dirty="0">
              <a:latin typeface="Times New Roman" panose="02020603050405020304" pitchFamily="18" charset="0"/>
              <a:cs typeface="Times New Roman" panose="02020603050405020304" pitchFamily="18" charset="0"/>
            </a:endParaRPr>
          </a:p>
        </p:txBody>
      </p:sp>
      <p:sp>
        <p:nvSpPr>
          <p:cNvPr id="5" name="Ellipse 4">
            <a:extLst>
              <a:ext uri="{FF2B5EF4-FFF2-40B4-BE49-F238E27FC236}">
                <a16:creationId xmlns:a16="http://schemas.microsoft.com/office/drawing/2014/main" id="{B555A481-6ABA-4923-AA65-2711AD70C19D}"/>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20</a:t>
            </a:r>
          </a:p>
        </p:txBody>
      </p:sp>
    </p:spTree>
    <p:extLst>
      <p:ext uri="{BB962C8B-B14F-4D97-AF65-F5344CB8AC3E}">
        <p14:creationId xmlns:p14="http://schemas.microsoft.com/office/powerpoint/2010/main" val="18890026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1748119" y="136478"/>
            <a:ext cx="7463116" cy="982168"/>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Calibri" panose="020F0502020204030204" pitchFamily="34" charset="0"/>
              </a:rPr>
              <a:t>D</a:t>
            </a:r>
            <a:r>
              <a:rPr lang="fr-FR" sz="2400" b="1" dirty="0">
                <a:effectLst/>
                <a:latin typeface="Times New Roman" panose="02020603050405020304" pitchFamily="18" charset="0"/>
                <a:ea typeface="Calibri" panose="020F0502020204030204" pitchFamily="34" charset="0"/>
              </a:rPr>
              <a:t>ispositifs et mécanismes de sécurité couramment utilisés:</a:t>
            </a:r>
            <a:endParaRPr lang="en-US" sz="3200" b="1" dirty="0">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49356859-0A1F-41EB-B186-6E2738989D51}"/>
              </a:ext>
            </a:extLst>
          </p:cNvPr>
          <p:cNvSpPr txBox="1"/>
          <p:nvPr/>
        </p:nvSpPr>
        <p:spPr>
          <a:xfrm>
            <a:off x="914398" y="1775406"/>
            <a:ext cx="5978771" cy="1653594"/>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Antivirus et anti-malwares</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logiciels qui identifient, bloquent et suppriment les programmes malveillants comme virus, spywares ou ransomwares.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194" name="Picture 2" descr="Images de Protection Antivirus – Téléchargement gratuit sur Freepik">
            <a:extLst>
              <a:ext uri="{FF2B5EF4-FFF2-40B4-BE49-F238E27FC236}">
                <a16:creationId xmlns:a16="http://schemas.microsoft.com/office/drawing/2014/main" id="{A52E4E15-BDA2-4FEB-BCB2-2170409FF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3462" y="1118646"/>
            <a:ext cx="5016452" cy="3481490"/>
          </a:xfrm>
          <a:prstGeom prst="rect">
            <a:avLst/>
          </a:prstGeom>
          <a:noFill/>
          <a:effectLst>
            <a:reflection blurRad="6350" stA="50000" endA="300" endPos="55500" dist="50800" dir="5400000" sy="-100000" algn="bl" rotWithShape="0"/>
          </a:effectLst>
          <a:extLst>
            <a:ext uri="{909E8E84-426E-40DD-AFC4-6F175D3DCCD1}">
              <a14:hiddenFill xmlns:a14="http://schemas.microsoft.com/office/drawing/2010/main">
                <a:solidFill>
                  <a:srgbClr val="FFFFFF"/>
                </a:solidFill>
              </a14:hiddenFill>
            </a:ext>
          </a:extLst>
        </p:spPr>
      </p:pic>
      <p:sp>
        <p:nvSpPr>
          <p:cNvPr id="6" name="Ellipse 5">
            <a:extLst>
              <a:ext uri="{FF2B5EF4-FFF2-40B4-BE49-F238E27FC236}">
                <a16:creationId xmlns:a16="http://schemas.microsoft.com/office/drawing/2014/main" id="{E91F5BF0-921A-4A22-BA7E-43904A8E3E9E}"/>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21</a:t>
            </a:r>
          </a:p>
        </p:txBody>
      </p:sp>
    </p:spTree>
    <p:extLst>
      <p:ext uri="{BB962C8B-B14F-4D97-AF65-F5344CB8AC3E}">
        <p14:creationId xmlns:p14="http://schemas.microsoft.com/office/powerpoint/2010/main" val="27973631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847B8CA3-FD16-4DB5-A74C-32B9B336C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6553" y="3247195"/>
            <a:ext cx="4318781" cy="3106089"/>
          </a:xfrm>
          <a:prstGeom prst="rect">
            <a:avLst/>
          </a:prstGeom>
          <a:effectLst>
            <a:softEdge rad="304800"/>
          </a:effectLst>
        </p:spPr>
      </p:pic>
      <p:sp>
        <p:nvSpPr>
          <p:cNvPr id="2" name="Parchemin horizontal 1"/>
          <p:cNvSpPr/>
          <p:nvPr/>
        </p:nvSpPr>
        <p:spPr>
          <a:xfrm>
            <a:off x="1748119" y="136478"/>
            <a:ext cx="7463116" cy="1068182"/>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Calibri" panose="020F0502020204030204" pitchFamily="34" charset="0"/>
              </a:rPr>
              <a:t>D</a:t>
            </a:r>
            <a:r>
              <a:rPr lang="fr-FR" sz="2400" b="1" dirty="0">
                <a:effectLst/>
                <a:latin typeface="Times New Roman" panose="02020603050405020304" pitchFamily="18" charset="0"/>
                <a:ea typeface="Calibri" panose="020F0502020204030204" pitchFamily="34" charset="0"/>
              </a:rPr>
              <a:t>ispositifs et mécanismes de sécurité couramment utilisés:</a:t>
            </a:r>
            <a:endParaRPr lang="en-US" sz="3200" b="1" dirty="0">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4FD11C1E-F04A-40A5-8AF3-9C391F1092E5}"/>
              </a:ext>
            </a:extLst>
          </p:cNvPr>
          <p:cNvSpPr txBox="1"/>
          <p:nvPr/>
        </p:nvSpPr>
        <p:spPr>
          <a:xfrm>
            <a:off x="1181684" y="996287"/>
            <a:ext cx="10297553" cy="1258421"/>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VPN (Réseaux privés virtuels) :</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technologie qui crée un tunnel sécurisé et chiffré pour protéger les communications sur Internet, notamment pour les connexions à distance.</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170" name="Picture 2" descr="VPN - la sécurité et l'anonymat avec un seul outil | ICESI">
            <a:extLst>
              <a:ext uri="{FF2B5EF4-FFF2-40B4-BE49-F238E27FC236}">
                <a16:creationId xmlns:a16="http://schemas.microsoft.com/office/drawing/2014/main" id="{4BBAD745-8EB1-4863-8575-17EEF7676E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098" y="2197147"/>
            <a:ext cx="7488700" cy="4524375"/>
          </a:xfrm>
          <a:prstGeom prst="rect">
            <a:avLst/>
          </a:prstGeom>
          <a:noFill/>
          <a:extLst>
            <a:ext uri="{909E8E84-426E-40DD-AFC4-6F175D3DCCD1}">
              <a14:hiddenFill xmlns:a14="http://schemas.microsoft.com/office/drawing/2010/main">
                <a:solidFill>
                  <a:srgbClr val="FFFFFF"/>
                </a:solidFill>
              </a14:hiddenFill>
            </a:ext>
          </a:extLst>
        </p:spPr>
      </p:pic>
      <p:sp>
        <p:nvSpPr>
          <p:cNvPr id="7" name="Ellipse 6">
            <a:extLst>
              <a:ext uri="{FF2B5EF4-FFF2-40B4-BE49-F238E27FC236}">
                <a16:creationId xmlns:a16="http://schemas.microsoft.com/office/drawing/2014/main" id="{95E42024-96CF-46D7-AE55-5A60BBFA146E}"/>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22</a:t>
            </a:r>
          </a:p>
        </p:txBody>
      </p:sp>
    </p:spTree>
    <p:extLst>
      <p:ext uri="{BB962C8B-B14F-4D97-AF65-F5344CB8AC3E}">
        <p14:creationId xmlns:p14="http://schemas.microsoft.com/office/powerpoint/2010/main" val="37554794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1748119" y="136478"/>
            <a:ext cx="8985530" cy="1075912"/>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Calibri" panose="020F0502020204030204" pitchFamily="34" charset="0"/>
              </a:rPr>
              <a:t>D</a:t>
            </a:r>
            <a:r>
              <a:rPr lang="fr-FR" sz="2400" b="1" dirty="0">
                <a:effectLst/>
                <a:latin typeface="Times New Roman" panose="02020603050405020304" pitchFamily="18" charset="0"/>
                <a:ea typeface="Calibri" panose="020F0502020204030204" pitchFamily="34" charset="0"/>
              </a:rPr>
              <a:t>ispositifs et mécanismes de sécurité couramment utilisés:</a:t>
            </a:r>
            <a:endParaRPr lang="en-US" sz="3200" b="1" dirty="0">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301D1045-2D2E-409E-B0E3-4F07153207B4}"/>
              </a:ext>
            </a:extLst>
          </p:cNvPr>
          <p:cNvSpPr txBox="1"/>
          <p:nvPr/>
        </p:nvSpPr>
        <p:spPr>
          <a:xfrm>
            <a:off x="1252024" y="1212390"/>
            <a:ext cx="9973993" cy="1569660"/>
          </a:xfrm>
          <a:prstGeom prst="rect">
            <a:avLst/>
          </a:prstGeom>
          <a:noFill/>
        </p:spPr>
        <p:txBody>
          <a:bodyPr wrap="square">
            <a:spAutoFit/>
          </a:bodyPr>
          <a:lstStyle/>
          <a:p>
            <a:r>
              <a:rPr lang="fr-FR" sz="2400" dirty="0">
                <a:effectLst/>
                <a:latin typeface="Times New Roman" panose="02020603050405020304" pitchFamily="18" charset="0"/>
                <a:ea typeface="Calibri" panose="020F0502020204030204" pitchFamily="34" charset="0"/>
              </a:rPr>
              <a:t>Un VLAN (Virtual Local Area Network) est un réseau local virtuel, c’est-à-dire un sous-réseau logique créé à l’intérieur d’un réseau physique. </a:t>
            </a:r>
          </a:p>
          <a:p>
            <a:r>
              <a:rPr lang="fr-FR" sz="2400" dirty="0">
                <a:effectLst/>
                <a:latin typeface="Times New Roman" panose="02020603050405020304" pitchFamily="18" charset="0"/>
                <a:ea typeface="Calibri" panose="020F0502020204030204" pitchFamily="34" charset="0"/>
              </a:rPr>
              <a:t>Il diviser un réseau physique en plusieurs réseaux logiques indépendants, ce qui réduit la taille des domaines de diffusion et améliore les performances.</a:t>
            </a:r>
            <a:endParaRPr lang="fr-FR" sz="3200" dirty="0"/>
          </a:p>
        </p:txBody>
      </p:sp>
      <p:pic>
        <p:nvPicPr>
          <p:cNvPr id="9218" name="Picture 2" descr="VLAN - Wikipedia">
            <a:extLst>
              <a:ext uri="{FF2B5EF4-FFF2-40B4-BE49-F238E27FC236}">
                <a16:creationId xmlns:a16="http://schemas.microsoft.com/office/drawing/2014/main" id="{6F15DC61-9C89-4F94-A373-B89EB07289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9644" y="2883877"/>
            <a:ext cx="7315200" cy="3974122"/>
          </a:xfrm>
          <a:prstGeom prst="rect">
            <a:avLst/>
          </a:prstGeom>
          <a:noFill/>
          <a:extLst>
            <a:ext uri="{909E8E84-426E-40DD-AFC4-6F175D3DCCD1}">
              <a14:hiddenFill xmlns:a14="http://schemas.microsoft.com/office/drawing/2010/main">
                <a:solidFill>
                  <a:srgbClr val="FFFFFF"/>
                </a:solidFill>
              </a14:hiddenFill>
            </a:ext>
          </a:extLst>
        </p:spPr>
      </p:pic>
      <p:sp>
        <p:nvSpPr>
          <p:cNvPr id="5" name="Ellipse 4">
            <a:extLst>
              <a:ext uri="{FF2B5EF4-FFF2-40B4-BE49-F238E27FC236}">
                <a16:creationId xmlns:a16="http://schemas.microsoft.com/office/drawing/2014/main" id="{ED43B599-54DA-4CFA-A19F-0EF784ACE784}"/>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23</a:t>
            </a:r>
          </a:p>
        </p:txBody>
      </p:sp>
    </p:spTree>
    <p:extLst>
      <p:ext uri="{BB962C8B-B14F-4D97-AF65-F5344CB8AC3E}">
        <p14:creationId xmlns:p14="http://schemas.microsoft.com/office/powerpoint/2010/main" val="17704517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1748119" y="136478"/>
            <a:ext cx="7463116"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Calibri" panose="020F0502020204030204" pitchFamily="34" charset="0"/>
              </a:rPr>
              <a:t>D</a:t>
            </a:r>
            <a:r>
              <a:rPr lang="fr-FR" sz="2400" b="1" dirty="0">
                <a:effectLst/>
                <a:latin typeface="Times New Roman" panose="02020603050405020304" pitchFamily="18" charset="0"/>
                <a:ea typeface="Calibri" panose="020F0502020204030204" pitchFamily="34" charset="0"/>
              </a:rPr>
              <a:t>ispositifs et mécanismes de sécurité couramment utilisés:</a:t>
            </a:r>
            <a:endParaRPr lang="en-US" sz="3200" b="1"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5243BAB6-7574-4535-9988-DF8EF6E2B956}"/>
              </a:ext>
            </a:extLst>
          </p:cNvPr>
          <p:cNvSpPr txBox="1"/>
          <p:nvPr/>
        </p:nvSpPr>
        <p:spPr>
          <a:xfrm>
            <a:off x="1195754" y="1303196"/>
            <a:ext cx="10199077" cy="863250"/>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Calibri" panose="020F0502020204030204" pitchFamily="34" charset="0"/>
                <a:cs typeface="Times New Roman" panose="02020603050405020304" pitchFamily="18" charset="0"/>
              </a:rPr>
              <a:t>Cryptographie</a:t>
            </a: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 : chiffrement des données pour garantir leur confidentialité et intégrité lors du stockage ou de la transmission.</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ZoneTexte 4">
            <a:extLst>
              <a:ext uri="{FF2B5EF4-FFF2-40B4-BE49-F238E27FC236}">
                <a16:creationId xmlns:a16="http://schemas.microsoft.com/office/drawing/2014/main" id="{257C0314-A5D3-47A9-B33A-80866845A1F7}"/>
              </a:ext>
            </a:extLst>
          </p:cNvPr>
          <p:cNvSpPr txBox="1"/>
          <p:nvPr/>
        </p:nvSpPr>
        <p:spPr>
          <a:xfrm>
            <a:off x="1195754" y="2828835"/>
            <a:ext cx="10340788" cy="1200329"/>
          </a:xfrm>
          <a:prstGeom prst="rect">
            <a:avLst/>
          </a:prstGeom>
          <a:noFill/>
        </p:spPr>
        <p:txBody>
          <a:bodyPr wrap="square">
            <a:spAutoFit/>
          </a:bodyPr>
          <a:lstStyle/>
          <a:p>
            <a:r>
              <a:rPr lang="fr-FR" sz="2400" b="0" i="0" dirty="0">
                <a:solidFill>
                  <a:srgbClr val="EEF0FF"/>
                </a:solidFill>
                <a:effectLst/>
                <a:latin typeface="Times New Roman" panose="02020603050405020304" pitchFamily="18" charset="0"/>
                <a:cs typeface="Times New Roman" panose="02020603050405020304" pitchFamily="18" charset="0"/>
              </a:rPr>
              <a:t>Exemple: Le code de César, aussi appelé chiffre de César, est une méthode de chiffrement très simple où chaque lettre d'un message est remplacée par une autre lettre décalée d'un certain nombre de positions dans l'alphabet</a:t>
            </a:r>
            <a:endParaRPr lang="fr-FR" sz="2400" dirty="0">
              <a:latin typeface="Times New Roman" panose="02020603050405020304" pitchFamily="18" charset="0"/>
              <a:cs typeface="Times New Roman" panose="02020603050405020304" pitchFamily="18" charset="0"/>
            </a:endParaRPr>
          </a:p>
        </p:txBody>
      </p:sp>
      <p:sp>
        <p:nvSpPr>
          <p:cNvPr id="7" name="Ellipse 6">
            <a:extLst>
              <a:ext uri="{FF2B5EF4-FFF2-40B4-BE49-F238E27FC236}">
                <a16:creationId xmlns:a16="http://schemas.microsoft.com/office/drawing/2014/main" id="{01A8ADB5-902E-41EF-B5D2-07F1C74673BB}"/>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24</a:t>
            </a:r>
          </a:p>
        </p:txBody>
      </p:sp>
    </p:spTree>
    <p:extLst>
      <p:ext uri="{BB962C8B-B14F-4D97-AF65-F5344CB8AC3E}">
        <p14:creationId xmlns:p14="http://schemas.microsoft.com/office/powerpoint/2010/main" val="38612435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nvGraphicFramePr>
        <p:xfrm>
          <a:off x="822949" y="1139998"/>
          <a:ext cx="10672371" cy="1724298"/>
        </p:xfrm>
        <a:graphic>
          <a:graphicData uri="http://schemas.openxmlformats.org/drawingml/2006/table">
            <a:tbl>
              <a:tblPr firstRow="1" bandRow="1">
                <a:tableStyleId>{5C22544A-7EE6-4342-B048-85BDC9FD1C3A}</a:tableStyleId>
              </a:tblPr>
              <a:tblGrid>
                <a:gridCol w="395273">
                  <a:extLst>
                    <a:ext uri="{9D8B030D-6E8A-4147-A177-3AD203B41FA5}">
                      <a16:colId xmlns:a16="http://schemas.microsoft.com/office/drawing/2014/main" val="2136141785"/>
                    </a:ext>
                  </a:extLst>
                </a:gridCol>
                <a:gridCol w="395273">
                  <a:extLst>
                    <a:ext uri="{9D8B030D-6E8A-4147-A177-3AD203B41FA5}">
                      <a16:colId xmlns:a16="http://schemas.microsoft.com/office/drawing/2014/main" val="4198275946"/>
                    </a:ext>
                  </a:extLst>
                </a:gridCol>
                <a:gridCol w="395273">
                  <a:extLst>
                    <a:ext uri="{9D8B030D-6E8A-4147-A177-3AD203B41FA5}">
                      <a16:colId xmlns:a16="http://schemas.microsoft.com/office/drawing/2014/main" val="1733160673"/>
                    </a:ext>
                  </a:extLst>
                </a:gridCol>
                <a:gridCol w="395273">
                  <a:extLst>
                    <a:ext uri="{9D8B030D-6E8A-4147-A177-3AD203B41FA5}">
                      <a16:colId xmlns:a16="http://schemas.microsoft.com/office/drawing/2014/main" val="3611444004"/>
                    </a:ext>
                  </a:extLst>
                </a:gridCol>
                <a:gridCol w="395273">
                  <a:extLst>
                    <a:ext uri="{9D8B030D-6E8A-4147-A177-3AD203B41FA5}">
                      <a16:colId xmlns:a16="http://schemas.microsoft.com/office/drawing/2014/main" val="3441937963"/>
                    </a:ext>
                  </a:extLst>
                </a:gridCol>
                <a:gridCol w="395273">
                  <a:extLst>
                    <a:ext uri="{9D8B030D-6E8A-4147-A177-3AD203B41FA5}">
                      <a16:colId xmlns:a16="http://schemas.microsoft.com/office/drawing/2014/main" val="2366942668"/>
                    </a:ext>
                  </a:extLst>
                </a:gridCol>
                <a:gridCol w="395273">
                  <a:extLst>
                    <a:ext uri="{9D8B030D-6E8A-4147-A177-3AD203B41FA5}">
                      <a16:colId xmlns:a16="http://schemas.microsoft.com/office/drawing/2014/main" val="3398856069"/>
                    </a:ext>
                  </a:extLst>
                </a:gridCol>
                <a:gridCol w="395273">
                  <a:extLst>
                    <a:ext uri="{9D8B030D-6E8A-4147-A177-3AD203B41FA5}">
                      <a16:colId xmlns:a16="http://schemas.microsoft.com/office/drawing/2014/main" val="376814066"/>
                    </a:ext>
                  </a:extLst>
                </a:gridCol>
                <a:gridCol w="395273">
                  <a:extLst>
                    <a:ext uri="{9D8B030D-6E8A-4147-A177-3AD203B41FA5}">
                      <a16:colId xmlns:a16="http://schemas.microsoft.com/office/drawing/2014/main" val="2701767470"/>
                    </a:ext>
                  </a:extLst>
                </a:gridCol>
                <a:gridCol w="395273">
                  <a:extLst>
                    <a:ext uri="{9D8B030D-6E8A-4147-A177-3AD203B41FA5}">
                      <a16:colId xmlns:a16="http://schemas.microsoft.com/office/drawing/2014/main" val="1382698141"/>
                    </a:ext>
                  </a:extLst>
                </a:gridCol>
                <a:gridCol w="395273">
                  <a:extLst>
                    <a:ext uri="{9D8B030D-6E8A-4147-A177-3AD203B41FA5}">
                      <a16:colId xmlns:a16="http://schemas.microsoft.com/office/drawing/2014/main" val="3080590335"/>
                    </a:ext>
                  </a:extLst>
                </a:gridCol>
                <a:gridCol w="395273">
                  <a:extLst>
                    <a:ext uri="{9D8B030D-6E8A-4147-A177-3AD203B41FA5}">
                      <a16:colId xmlns:a16="http://schemas.microsoft.com/office/drawing/2014/main" val="712353137"/>
                    </a:ext>
                  </a:extLst>
                </a:gridCol>
                <a:gridCol w="395273">
                  <a:extLst>
                    <a:ext uri="{9D8B030D-6E8A-4147-A177-3AD203B41FA5}">
                      <a16:colId xmlns:a16="http://schemas.microsoft.com/office/drawing/2014/main" val="39314104"/>
                    </a:ext>
                  </a:extLst>
                </a:gridCol>
                <a:gridCol w="395273">
                  <a:extLst>
                    <a:ext uri="{9D8B030D-6E8A-4147-A177-3AD203B41FA5}">
                      <a16:colId xmlns:a16="http://schemas.microsoft.com/office/drawing/2014/main" val="3486594747"/>
                    </a:ext>
                  </a:extLst>
                </a:gridCol>
                <a:gridCol w="395273">
                  <a:extLst>
                    <a:ext uri="{9D8B030D-6E8A-4147-A177-3AD203B41FA5}">
                      <a16:colId xmlns:a16="http://schemas.microsoft.com/office/drawing/2014/main" val="2180069000"/>
                    </a:ext>
                  </a:extLst>
                </a:gridCol>
                <a:gridCol w="395273">
                  <a:extLst>
                    <a:ext uri="{9D8B030D-6E8A-4147-A177-3AD203B41FA5}">
                      <a16:colId xmlns:a16="http://schemas.microsoft.com/office/drawing/2014/main" val="1597045814"/>
                    </a:ext>
                  </a:extLst>
                </a:gridCol>
                <a:gridCol w="395273">
                  <a:extLst>
                    <a:ext uri="{9D8B030D-6E8A-4147-A177-3AD203B41FA5}">
                      <a16:colId xmlns:a16="http://schemas.microsoft.com/office/drawing/2014/main" val="4216174059"/>
                    </a:ext>
                  </a:extLst>
                </a:gridCol>
                <a:gridCol w="395273">
                  <a:extLst>
                    <a:ext uri="{9D8B030D-6E8A-4147-A177-3AD203B41FA5}">
                      <a16:colId xmlns:a16="http://schemas.microsoft.com/office/drawing/2014/main" val="3164346637"/>
                    </a:ext>
                  </a:extLst>
                </a:gridCol>
                <a:gridCol w="395273">
                  <a:extLst>
                    <a:ext uri="{9D8B030D-6E8A-4147-A177-3AD203B41FA5}">
                      <a16:colId xmlns:a16="http://schemas.microsoft.com/office/drawing/2014/main" val="4159268625"/>
                    </a:ext>
                  </a:extLst>
                </a:gridCol>
                <a:gridCol w="395273">
                  <a:extLst>
                    <a:ext uri="{9D8B030D-6E8A-4147-A177-3AD203B41FA5}">
                      <a16:colId xmlns:a16="http://schemas.microsoft.com/office/drawing/2014/main" val="2638846050"/>
                    </a:ext>
                  </a:extLst>
                </a:gridCol>
                <a:gridCol w="389466">
                  <a:extLst>
                    <a:ext uri="{9D8B030D-6E8A-4147-A177-3AD203B41FA5}">
                      <a16:colId xmlns:a16="http://schemas.microsoft.com/office/drawing/2014/main" val="3447596839"/>
                    </a:ext>
                  </a:extLst>
                </a:gridCol>
                <a:gridCol w="401080">
                  <a:extLst>
                    <a:ext uri="{9D8B030D-6E8A-4147-A177-3AD203B41FA5}">
                      <a16:colId xmlns:a16="http://schemas.microsoft.com/office/drawing/2014/main" val="2773197165"/>
                    </a:ext>
                  </a:extLst>
                </a:gridCol>
                <a:gridCol w="395273">
                  <a:extLst>
                    <a:ext uri="{9D8B030D-6E8A-4147-A177-3AD203B41FA5}">
                      <a16:colId xmlns:a16="http://schemas.microsoft.com/office/drawing/2014/main" val="3804480755"/>
                    </a:ext>
                  </a:extLst>
                </a:gridCol>
                <a:gridCol w="444618">
                  <a:extLst>
                    <a:ext uri="{9D8B030D-6E8A-4147-A177-3AD203B41FA5}">
                      <a16:colId xmlns:a16="http://schemas.microsoft.com/office/drawing/2014/main" val="839843615"/>
                    </a:ext>
                  </a:extLst>
                </a:gridCol>
                <a:gridCol w="345928">
                  <a:extLst>
                    <a:ext uri="{9D8B030D-6E8A-4147-A177-3AD203B41FA5}">
                      <a16:colId xmlns:a16="http://schemas.microsoft.com/office/drawing/2014/main" val="2536072023"/>
                    </a:ext>
                  </a:extLst>
                </a:gridCol>
                <a:gridCol w="395273">
                  <a:extLst>
                    <a:ext uri="{9D8B030D-6E8A-4147-A177-3AD203B41FA5}">
                      <a16:colId xmlns:a16="http://schemas.microsoft.com/office/drawing/2014/main" val="92565591"/>
                    </a:ext>
                  </a:extLst>
                </a:gridCol>
                <a:gridCol w="395273">
                  <a:extLst>
                    <a:ext uri="{9D8B030D-6E8A-4147-A177-3AD203B41FA5}">
                      <a16:colId xmlns:a16="http://schemas.microsoft.com/office/drawing/2014/main" val="2764285910"/>
                    </a:ext>
                  </a:extLst>
                </a:gridCol>
              </a:tblGrid>
              <a:tr h="848885">
                <a:tc>
                  <a:txBody>
                    <a:bodyPr/>
                    <a:lstStyle/>
                    <a:p>
                      <a:endParaRPr lang="en-US" dirty="0"/>
                    </a:p>
                  </a:txBody>
                  <a:tcPr>
                    <a:solidFill>
                      <a:srgbClr val="FFCC99"/>
                    </a:solidFill>
                  </a:tcPr>
                </a:tc>
                <a:tc>
                  <a:txBody>
                    <a:bodyPr/>
                    <a:lstStyle/>
                    <a:p>
                      <a:r>
                        <a:rPr lang="fr-FR" sz="3200" dirty="0">
                          <a:solidFill>
                            <a:schemeClr val="tx1"/>
                          </a:solidFill>
                        </a:rPr>
                        <a:t>A</a:t>
                      </a:r>
                      <a:endParaRPr lang="en-US" sz="3200" dirty="0">
                        <a:solidFill>
                          <a:schemeClr val="tx1"/>
                        </a:solidFill>
                      </a:endParaRPr>
                    </a:p>
                  </a:txBody>
                  <a:tcPr>
                    <a:solidFill>
                      <a:srgbClr val="FFCC99"/>
                    </a:solidFill>
                  </a:tcPr>
                </a:tc>
                <a:tc>
                  <a:txBody>
                    <a:bodyPr/>
                    <a:lstStyle/>
                    <a:p>
                      <a:r>
                        <a:rPr lang="fr-FR" sz="3200" dirty="0">
                          <a:solidFill>
                            <a:schemeClr val="tx1"/>
                          </a:solidFill>
                        </a:rPr>
                        <a:t>B</a:t>
                      </a:r>
                      <a:endParaRPr lang="en-US" sz="3200" dirty="0">
                        <a:solidFill>
                          <a:schemeClr val="tx1"/>
                        </a:solidFill>
                      </a:endParaRPr>
                    </a:p>
                  </a:txBody>
                  <a:tcPr>
                    <a:solidFill>
                      <a:srgbClr val="FFCC99"/>
                    </a:solidFill>
                  </a:tcPr>
                </a:tc>
                <a:tc>
                  <a:txBody>
                    <a:bodyPr/>
                    <a:lstStyle/>
                    <a:p>
                      <a:r>
                        <a:rPr lang="fr-FR" sz="3200" dirty="0">
                          <a:solidFill>
                            <a:schemeClr val="tx1"/>
                          </a:solidFill>
                        </a:rPr>
                        <a:t>C</a:t>
                      </a:r>
                      <a:endParaRPr lang="en-US" sz="3200" dirty="0">
                        <a:solidFill>
                          <a:schemeClr val="tx1"/>
                        </a:solidFill>
                      </a:endParaRPr>
                    </a:p>
                  </a:txBody>
                  <a:tcPr>
                    <a:solidFill>
                      <a:srgbClr val="FFCC99"/>
                    </a:solidFill>
                  </a:tcPr>
                </a:tc>
                <a:tc>
                  <a:txBody>
                    <a:bodyPr/>
                    <a:lstStyle/>
                    <a:p>
                      <a:r>
                        <a:rPr lang="fr-FR" sz="3200" dirty="0">
                          <a:solidFill>
                            <a:schemeClr val="tx1"/>
                          </a:solidFill>
                        </a:rPr>
                        <a:t>D</a:t>
                      </a:r>
                      <a:endParaRPr lang="en-US" sz="3200" dirty="0">
                        <a:solidFill>
                          <a:schemeClr val="tx1"/>
                        </a:solidFill>
                      </a:endParaRPr>
                    </a:p>
                  </a:txBody>
                  <a:tcPr>
                    <a:solidFill>
                      <a:srgbClr val="FFCC99"/>
                    </a:solidFill>
                  </a:tcPr>
                </a:tc>
                <a:tc>
                  <a:txBody>
                    <a:bodyPr/>
                    <a:lstStyle/>
                    <a:p>
                      <a:r>
                        <a:rPr lang="fr-FR" sz="3200" dirty="0">
                          <a:solidFill>
                            <a:schemeClr val="tx1"/>
                          </a:solidFill>
                        </a:rPr>
                        <a:t>E</a:t>
                      </a:r>
                      <a:endParaRPr lang="en-US" sz="3200" dirty="0">
                        <a:solidFill>
                          <a:schemeClr val="tx1"/>
                        </a:solidFill>
                      </a:endParaRPr>
                    </a:p>
                  </a:txBody>
                  <a:tcPr>
                    <a:solidFill>
                      <a:srgbClr val="FFCC99"/>
                    </a:solidFill>
                  </a:tcPr>
                </a:tc>
                <a:tc>
                  <a:txBody>
                    <a:bodyPr/>
                    <a:lstStyle/>
                    <a:p>
                      <a:r>
                        <a:rPr lang="fr-FR" sz="3200" dirty="0">
                          <a:solidFill>
                            <a:schemeClr val="tx1"/>
                          </a:solidFill>
                        </a:rPr>
                        <a:t>F</a:t>
                      </a:r>
                      <a:endParaRPr lang="en-US" sz="3200" dirty="0">
                        <a:solidFill>
                          <a:schemeClr val="tx1"/>
                        </a:solidFill>
                      </a:endParaRPr>
                    </a:p>
                  </a:txBody>
                  <a:tcPr>
                    <a:solidFill>
                      <a:srgbClr val="FFCC99"/>
                    </a:solidFill>
                  </a:tcPr>
                </a:tc>
                <a:tc>
                  <a:txBody>
                    <a:bodyPr/>
                    <a:lstStyle/>
                    <a:p>
                      <a:r>
                        <a:rPr lang="fr-FR" sz="3200" dirty="0">
                          <a:solidFill>
                            <a:schemeClr val="tx1"/>
                          </a:solidFill>
                        </a:rPr>
                        <a:t>G</a:t>
                      </a:r>
                      <a:endParaRPr lang="en-US" sz="3200" dirty="0">
                        <a:solidFill>
                          <a:schemeClr val="tx1"/>
                        </a:solidFill>
                      </a:endParaRPr>
                    </a:p>
                  </a:txBody>
                  <a:tcPr>
                    <a:solidFill>
                      <a:srgbClr val="FFCC99"/>
                    </a:solidFill>
                  </a:tcPr>
                </a:tc>
                <a:tc>
                  <a:txBody>
                    <a:bodyPr/>
                    <a:lstStyle/>
                    <a:p>
                      <a:r>
                        <a:rPr lang="fr-FR" sz="3200" dirty="0">
                          <a:solidFill>
                            <a:schemeClr val="tx1"/>
                          </a:solidFill>
                        </a:rPr>
                        <a:t>H</a:t>
                      </a:r>
                      <a:endParaRPr lang="en-US" sz="3200" dirty="0">
                        <a:solidFill>
                          <a:schemeClr val="tx1"/>
                        </a:solidFill>
                      </a:endParaRPr>
                    </a:p>
                  </a:txBody>
                  <a:tcPr>
                    <a:solidFill>
                      <a:srgbClr val="FFCC99"/>
                    </a:solidFill>
                  </a:tcPr>
                </a:tc>
                <a:tc>
                  <a:txBody>
                    <a:bodyPr/>
                    <a:lstStyle/>
                    <a:p>
                      <a:r>
                        <a:rPr lang="fr-FR" sz="3200" dirty="0">
                          <a:solidFill>
                            <a:schemeClr val="tx1"/>
                          </a:solidFill>
                        </a:rPr>
                        <a:t>I</a:t>
                      </a:r>
                      <a:endParaRPr lang="en-US" sz="3200" dirty="0">
                        <a:solidFill>
                          <a:schemeClr val="tx1"/>
                        </a:solidFill>
                      </a:endParaRPr>
                    </a:p>
                  </a:txBody>
                  <a:tcPr>
                    <a:solidFill>
                      <a:srgbClr val="FFCC99"/>
                    </a:solidFill>
                  </a:tcPr>
                </a:tc>
                <a:tc>
                  <a:txBody>
                    <a:bodyPr/>
                    <a:lstStyle/>
                    <a:p>
                      <a:r>
                        <a:rPr lang="fr-FR" sz="3200" dirty="0">
                          <a:solidFill>
                            <a:schemeClr val="tx1"/>
                          </a:solidFill>
                        </a:rPr>
                        <a:t>J</a:t>
                      </a:r>
                      <a:endParaRPr lang="en-US" sz="3200" dirty="0">
                        <a:solidFill>
                          <a:schemeClr val="tx1"/>
                        </a:solidFill>
                      </a:endParaRPr>
                    </a:p>
                  </a:txBody>
                  <a:tcPr>
                    <a:solidFill>
                      <a:srgbClr val="FFCC99"/>
                    </a:solidFill>
                  </a:tcPr>
                </a:tc>
                <a:tc>
                  <a:txBody>
                    <a:bodyPr/>
                    <a:lstStyle/>
                    <a:p>
                      <a:r>
                        <a:rPr lang="fr-FR" sz="3200" dirty="0">
                          <a:solidFill>
                            <a:schemeClr val="tx1"/>
                          </a:solidFill>
                        </a:rPr>
                        <a:t>K</a:t>
                      </a:r>
                      <a:endParaRPr lang="en-US" sz="3200" dirty="0">
                        <a:solidFill>
                          <a:schemeClr val="tx1"/>
                        </a:solidFill>
                      </a:endParaRPr>
                    </a:p>
                  </a:txBody>
                  <a:tcPr>
                    <a:solidFill>
                      <a:srgbClr val="FFCC99"/>
                    </a:solidFill>
                  </a:tcPr>
                </a:tc>
                <a:tc>
                  <a:txBody>
                    <a:bodyPr/>
                    <a:lstStyle/>
                    <a:p>
                      <a:r>
                        <a:rPr lang="fr-FR" sz="3200" dirty="0">
                          <a:solidFill>
                            <a:schemeClr val="tx1"/>
                          </a:solidFill>
                        </a:rPr>
                        <a:t>L</a:t>
                      </a:r>
                      <a:endParaRPr lang="en-US" sz="3200" dirty="0">
                        <a:solidFill>
                          <a:schemeClr val="tx1"/>
                        </a:solidFill>
                      </a:endParaRPr>
                    </a:p>
                  </a:txBody>
                  <a:tcPr>
                    <a:solidFill>
                      <a:srgbClr val="FFCC99"/>
                    </a:solidFill>
                  </a:tcPr>
                </a:tc>
                <a:tc>
                  <a:txBody>
                    <a:bodyPr/>
                    <a:lstStyle/>
                    <a:p>
                      <a:r>
                        <a:rPr lang="fr-FR" sz="3200" dirty="0">
                          <a:solidFill>
                            <a:schemeClr val="tx1"/>
                          </a:solidFill>
                        </a:rPr>
                        <a:t>M</a:t>
                      </a:r>
                      <a:endParaRPr lang="en-US" sz="3200" dirty="0">
                        <a:solidFill>
                          <a:schemeClr val="tx1"/>
                        </a:solidFill>
                      </a:endParaRPr>
                    </a:p>
                  </a:txBody>
                  <a:tcPr>
                    <a:solidFill>
                      <a:srgbClr val="FFCC99"/>
                    </a:solidFill>
                  </a:tcPr>
                </a:tc>
                <a:tc>
                  <a:txBody>
                    <a:bodyPr/>
                    <a:lstStyle/>
                    <a:p>
                      <a:r>
                        <a:rPr lang="fr-FR" sz="3200" dirty="0">
                          <a:solidFill>
                            <a:schemeClr val="tx1"/>
                          </a:solidFill>
                        </a:rPr>
                        <a:t>N</a:t>
                      </a:r>
                      <a:endParaRPr lang="en-US" sz="3200" dirty="0">
                        <a:solidFill>
                          <a:schemeClr val="tx1"/>
                        </a:solidFill>
                      </a:endParaRPr>
                    </a:p>
                  </a:txBody>
                  <a:tcPr>
                    <a:solidFill>
                      <a:srgbClr val="FFCC99"/>
                    </a:solidFill>
                  </a:tcPr>
                </a:tc>
                <a:tc>
                  <a:txBody>
                    <a:bodyPr/>
                    <a:lstStyle/>
                    <a:p>
                      <a:r>
                        <a:rPr lang="fr-FR" sz="3200" dirty="0">
                          <a:solidFill>
                            <a:schemeClr val="tx1"/>
                          </a:solidFill>
                        </a:rPr>
                        <a:t>O</a:t>
                      </a:r>
                      <a:endParaRPr lang="en-US" sz="3200" dirty="0">
                        <a:solidFill>
                          <a:schemeClr val="tx1"/>
                        </a:solidFill>
                      </a:endParaRPr>
                    </a:p>
                  </a:txBody>
                  <a:tcPr>
                    <a:solidFill>
                      <a:srgbClr val="FFCC99"/>
                    </a:solidFill>
                  </a:tcPr>
                </a:tc>
                <a:tc>
                  <a:txBody>
                    <a:bodyPr/>
                    <a:lstStyle/>
                    <a:p>
                      <a:r>
                        <a:rPr lang="fr-FR" sz="3200" dirty="0">
                          <a:solidFill>
                            <a:schemeClr val="tx1"/>
                          </a:solidFill>
                        </a:rPr>
                        <a:t>P</a:t>
                      </a:r>
                      <a:endParaRPr lang="en-US" sz="3200" dirty="0">
                        <a:solidFill>
                          <a:schemeClr val="tx1"/>
                        </a:solidFill>
                      </a:endParaRPr>
                    </a:p>
                  </a:txBody>
                  <a:tcPr>
                    <a:solidFill>
                      <a:srgbClr val="FFCC99"/>
                    </a:solidFill>
                  </a:tcPr>
                </a:tc>
                <a:tc>
                  <a:txBody>
                    <a:bodyPr/>
                    <a:lstStyle/>
                    <a:p>
                      <a:r>
                        <a:rPr lang="fr-FR" sz="3200" dirty="0">
                          <a:solidFill>
                            <a:schemeClr val="tx1"/>
                          </a:solidFill>
                        </a:rPr>
                        <a:t>Q</a:t>
                      </a:r>
                      <a:endParaRPr lang="en-US" sz="3200" dirty="0">
                        <a:solidFill>
                          <a:schemeClr val="tx1"/>
                        </a:solidFill>
                      </a:endParaRPr>
                    </a:p>
                  </a:txBody>
                  <a:tcPr>
                    <a:solidFill>
                      <a:srgbClr val="FFCC99"/>
                    </a:solidFill>
                  </a:tcPr>
                </a:tc>
                <a:tc>
                  <a:txBody>
                    <a:bodyPr/>
                    <a:lstStyle/>
                    <a:p>
                      <a:r>
                        <a:rPr lang="fr-FR" sz="3200" dirty="0">
                          <a:solidFill>
                            <a:schemeClr val="tx1"/>
                          </a:solidFill>
                        </a:rPr>
                        <a:t>R</a:t>
                      </a:r>
                      <a:endParaRPr lang="en-US" sz="3200" dirty="0">
                        <a:solidFill>
                          <a:schemeClr val="tx1"/>
                        </a:solidFill>
                      </a:endParaRPr>
                    </a:p>
                  </a:txBody>
                  <a:tcPr>
                    <a:solidFill>
                      <a:srgbClr val="FFCC99"/>
                    </a:solidFill>
                  </a:tcPr>
                </a:tc>
                <a:tc>
                  <a:txBody>
                    <a:bodyPr/>
                    <a:lstStyle/>
                    <a:p>
                      <a:r>
                        <a:rPr lang="fr-FR" sz="3200" dirty="0">
                          <a:solidFill>
                            <a:schemeClr val="tx1"/>
                          </a:solidFill>
                        </a:rPr>
                        <a:t>S</a:t>
                      </a:r>
                      <a:endParaRPr lang="en-US" sz="3200" dirty="0">
                        <a:solidFill>
                          <a:schemeClr val="tx1"/>
                        </a:solidFill>
                      </a:endParaRPr>
                    </a:p>
                  </a:txBody>
                  <a:tcPr>
                    <a:solidFill>
                      <a:srgbClr val="FFCC99"/>
                    </a:solidFill>
                  </a:tcPr>
                </a:tc>
                <a:tc>
                  <a:txBody>
                    <a:bodyPr/>
                    <a:lstStyle/>
                    <a:p>
                      <a:r>
                        <a:rPr lang="fr-FR" sz="3200" dirty="0">
                          <a:solidFill>
                            <a:schemeClr val="tx1"/>
                          </a:solidFill>
                        </a:rPr>
                        <a:t>T</a:t>
                      </a:r>
                      <a:endParaRPr lang="en-US" sz="3200" dirty="0">
                        <a:solidFill>
                          <a:schemeClr val="tx1"/>
                        </a:solidFill>
                      </a:endParaRPr>
                    </a:p>
                  </a:txBody>
                  <a:tcPr>
                    <a:solidFill>
                      <a:srgbClr val="FFCC99"/>
                    </a:solidFill>
                  </a:tcPr>
                </a:tc>
                <a:tc>
                  <a:txBody>
                    <a:bodyPr/>
                    <a:lstStyle/>
                    <a:p>
                      <a:r>
                        <a:rPr lang="fr-FR" sz="3200" dirty="0">
                          <a:solidFill>
                            <a:schemeClr val="tx1"/>
                          </a:solidFill>
                        </a:rPr>
                        <a:t>U</a:t>
                      </a:r>
                      <a:endParaRPr lang="en-US" sz="3200" dirty="0">
                        <a:solidFill>
                          <a:schemeClr val="tx1"/>
                        </a:solidFill>
                      </a:endParaRPr>
                    </a:p>
                  </a:txBody>
                  <a:tcPr>
                    <a:solidFill>
                      <a:srgbClr val="FFCC99"/>
                    </a:solidFill>
                  </a:tcPr>
                </a:tc>
                <a:tc>
                  <a:txBody>
                    <a:bodyPr/>
                    <a:lstStyle/>
                    <a:p>
                      <a:r>
                        <a:rPr lang="fr-FR" sz="3200" dirty="0">
                          <a:solidFill>
                            <a:schemeClr val="tx1"/>
                          </a:solidFill>
                        </a:rPr>
                        <a:t>V</a:t>
                      </a:r>
                      <a:endParaRPr lang="en-US" sz="3200" dirty="0">
                        <a:solidFill>
                          <a:schemeClr val="tx1"/>
                        </a:solidFill>
                      </a:endParaRPr>
                    </a:p>
                  </a:txBody>
                  <a:tcPr>
                    <a:solidFill>
                      <a:srgbClr val="FFCC99"/>
                    </a:solidFill>
                  </a:tcPr>
                </a:tc>
                <a:tc>
                  <a:txBody>
                    <a:bodyPr/>
                    <a:lstStyle/>
                    <a:p>
                      <a:r>
                        <a:rPr lang="fr-FR" sz="3200" dirty="0">
                          <a:solidFill>
                            <a:schemeClr val="tx1"/>
                          </a:solidFill>
                        </a:rPr>
                        <a:t>W</a:t>
                      </a:r>
                      <a:endParaRPr lang="en-US" sz="3200" dirty="0">
                        <a:solidFill>
                          <a:schemeClr val="tx1"/>
                        </a:solidFill>
                      </a:endParaRPr>
                    </a:p>
                  </a:txBody>
                  <a:tcPr>
                    <a:solidFill>
                      <a:srgbClr val="FFCC99"/>
                    </a:solidFill>
                  </a:tcPr>
                </a:tc>
                <a:tc>
                  <a:txBody>
                    <a:bodyPr/>
                    <a:lstStyle/>
                    <a:p>
                      <a:r>
                        <a:rPr lang="fr-FR" sz="3200" dirty="0">
                          <a:solidFill>
                            <a:schemeClr val="tx1"/>
                          </a:solidFill>
                        </a:rPr>
                        <a:t>X</a:t>
                      </a:r>
                      <a:endParaRPr lang="en-US" sz="3200" dirty="0">
                        <a:solidFill>
                          <a:schemeClr val="tx1"/>
                        </a:solidFill>
                      </a:endParaRPr>
                    </a:p>
                  </a:txBody>
                  <a:tcPr>
                    <a:solidFill>
                      <a:srgbClr val="FFCC99"/>
                    </a:solidFill>
                  </a:tcPr>
                </a:tc>
                <a:tc>
                  <a:txBody>
                    <a:bodyPr/>
                    <a:lstStyle/>
                    <a:p>
                      <a:r>
                        <a:rPr lang="fr-FR" sz="3200" dirty="0">
                          <a:solidFill>
                            <a:schemeClr val="tx1"/>
                          </a:solidFill>
                        </a:rPr>
                        <a:t>Y</a:t>
                      </a:r>
                      <a:endParaRPr lang="en-US" sz="3200" dirty="0">
                        <a:solidFill>
                          <a:schemeClr val="tx1"/>
                        </a:solidFill>
                      </a:endParaRPr>
                    </a:p>
                  </a:txBody>
                  <a:tcPr>
                    <a:solidFill>
                      <a:srgbClr val="FFCC99"/>
                    </a:solidFill>
                  </a:tcPr>
                </a:tc>
                <a:tc>
                  <a:txBody>
                    <a:bodyPr/>
                    <a:lstStyle/>
                    <a:p>
                      <a:r>
                        <a:rPr lang="fr-FR" sz="3200" dirty="0">
                          <a:solidFill>
                            <a:schemeClr val="tx1"/>
                          </a:solidFill>
                        </a:rPr>
                        <a:t>Z</a:t>
                      </a:r>
                      <a:endParaRPr lang="en-US" sz="3200" dirty="0">
                        <a:solidFill>
                          <a:schemeClr val="tx1"/>
                        </a:solidFill>
                      </a:endParaRPr>
                    </a:p>
                  </a:txBody>
                  <a:tcPr>
                    <a:solidFill>
                      <a:srgbClr val="FFCC99"/>
                    </a:solidFill>
                  </a:tcPr>
                </a:tc>
                <a:extLst>
                  <a:ext uri="{0D108BD9-81ED-4DB2-BD59-A6C34878D82A}">
                    <a16:rowId xmlns:a16="http://schemas.microsoft.com/office/drawing/2014/main" val="2291551512"/>
                  </a:ext>
                </a:extLst>
              </a:tr>
              <a:tr h="875413">
                <a:tc>
                  <a:txBody>
                    <a:bodyPr/>
                    <a:lstStyle/>
                    <a:p>
                      <a:endParaRPr lang="en-US" dirty="0"/>
                    </a:p>
                  </a:txBody>
                  <a:tcPr>
                    <a:solidFill>
                      <a:srgbClr val="FFCC99"/>
                    </a:solidFill>
                  </a:tcPr>
                </a:tc>
                <a:tc>
                  <a:txBody>
                    <a:bodyPr/>
                    <a:lstStyle/>
                    <a:p>
                      <a:endParaRPr lang="en-US" sz="3200" b="1" dirty="0">
                        <a:solidFill>
                          <a:schemeClr val="bg1"/>
                        </a:solidFill>
                      </a:endParaRPr>
                    </a:p>
                  </a:txBody>
                  <a:tcPr>
                    <a:solidFill>
                      <a:srgbClr val="FFCC99"/>
                    </a:solidFill>
                  </a:tcPr>
                </a:tc>
                <a:tc>
                  <a:txBody>
                    <a:bodyPr/>
                    <a:lstStyle/>
                    <a:p>
                      <a:endParaRPr lang="en-US" sz="3200" b="1" dirty="0">
                        <a:solidFill>
                          <a:schemeClr val="bg1"/>
                        </a:solidFill>
                      </a:endParaRPr>
                    </a:p>
                  </a:txBody>
                  <a:tcPr>
                    <a:solidFill>
                      <a:srgbClr val="FFCC99"/>
                    </a:solidFill>
                  </a:tcPr>
                </a:tc>
                <a:tc>
                  <a:txBody>
                    <a:bodyPr/>
                    <a:lstStyle/>
                    <a:p>
                      <a:endParaRPr lang="en-US" sz="3200" b="1" dirty="0">
                        <a:solidFill>
                          <a:schemeClr val="bg1"/>
                        </a:solidFill>
                      </a:endParaRPr>
                    </a:p>
                  </a:txBody>
                  <a:tcPr>
                    <a:solidFill>
                      <a:srgbClr val="FFCC99"/>
                    </a:solidFill>
                  </a:tcPr>
                </a:tc>
                <a:tc>
                  <a:txBody>
                    <a:bodyPr/>
                    <a:lstStyle/>
                    <a:p>
                      <a:endParaRPr lang="en-US" dirty="0"/>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dirty="0"/>
                    </a:p>
                  </a:txBody>
                  <a:tcPr>
                    <a:solidFill>
                      <a:srgbClr val="FFCC99"/>
                    </a:solidFill>
                  </a:tcPr>
                </a:tc>
                <a:tc>
                  <a:txBody>
                    <a:bodyPr/>
                    <a:lstStyle/>
                    <a:p>
                      <a:endParaRPr lang="en-US"/>
                    </a:p>
                  </a:txBody>
                  <a:tcPr>
                    <a:solidFill>
                      <a:srgbClr val="FFCC99"/>
                    </a:solidFill>
                  </a:tcPr>
                </a:tc>
                <a:tc>
                  <a:txBody>
                    <a:bodyPr/>
                    <a:lstStyle/>
                    <a:p>
                      <a:endParaRPr lang="en-US" dirty="0"/>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dirty="0"/>
                    </a:p>
                  </a:txBody>
                  <a:tcPr>
                    <a:solidFill>
                      <a:srgbClr val="FFCC99"/>
                    </a:solidFill>
                  </a:tcPr>
                </a:tc>
                <a:tc>
                  <a:txBody>
                    <a:bodyPr/>
                    <a:lstStyle/>
                    <a:p>
                      <a:endParaRPr lang="en-US"/>
                    </a:p>
                  </a:txBody>
                  <a:tcPr>
                    <a:solidFill>
                      <a:srgbClr val="FFCC99"/>
                    </a:solidFill>
                  </a:tcPr>
                </a:tc>
                <a:tc>
                  <a:txBody>
                    <a:bodyPr/>
                    <a:lstStyle/>
                    <a:p>
                      <a:endParaRPr lang="en-US"/>
                    </a:p>
                  </a:txBody>
                  <a:tcPr>
                    <a:solidFill>
                      <a:srgbClr val="FFCC99"/>
                    </a:solidFill>
                  </a:tcPr>
                </a:tc>
                <a:tc>
                  <a:txBody>
                    <a:bodyPr/>
                    <a:lstStyle/>
                    <a:p>
                      <a:endParaRPr lang="en-US" sz="3200" b="1" dirty="0">
                        <a:solidFill>
                          <a:schemeClr val="bg1"/>
                        </a:solidFill>
                      </a:endParaRPr>
                    </a:p>
                  </a:txBody>
                  <a:tcPr>
                    <a:solidFill>
                      <a:srgbClr val="FFCC99"/>
                    </a:solidFill>
                  </a:tcPr>
                </a:tc>
                <a:tc>
                  <a:txBody>
                    <a:bodyPr/>
                    <a:lstStyle/>
                    <a:p>
                      <a:endParaRPr lang="en-US" sz="3200" b="1" dirty="0">
                        <a:solidFill>
                          <a:schemeClr val="bg1"/>
                        </a:solidFill>
                      </a:endParaRPr>
                    </a:p>
                  </a:txBody>
                  <a:tcPr>
                    <a:solidFill>
                      <a:srgbClr val="FFCC99"/>
                    </a:solidFill>
                  </a:tcPr>
                </a:tc>
                <a:tc>
                  <a:txBody>
                    <a:bodyPr/>
                    <a:lstStyle/>
                    <a:p>
                      <a:endParaRPr lang="en-US" sz="3200" b="1" dirty="0">
                        <a:solidFill>
                          <a:schemeClr val="bg1"/>
                        </a:solidFill>
                      </a:endParaRPr>
                    </a:p>
                  </a:txBody>
                  <a:tcPr>
                    <a:solidFill>
                      <a:srgbClr val="FFCC99"/>
                    </a:solidFill>
                  </a:tcPr>
                </a:tc>
                <a:extLst>
                  <a:ext uri="{0D108BD9-81ED-4DB2-BD59-A6C34878D82A}">
                    <a16:rowId xmlns:a16="http://schemas.microsoft.com/office/drawing/2014/main" val="1843113611"/>
                  </a:ext>
                </a:extLst>
              </a:tr>
            </a:tbl>
          </a:graphicData>
        </a:graphic>
      </p:graphicFrame>
      <p:sp>
        <p:nvSpPr>
          <p:cNvPr id="3" name="Rectangle 2"/>
          <p:cNvSpPr/>
          <p:nvPr/>
        </p:nvSpPr>
        <p:spPr>
          <a:xfrm>
            <a:off x="4323805" y="129677"/>
            <a:ext cx="4637315" cy="613955"/>
          </a:xfrm>
          <a:prstGeom prst="rect">
            <a:avLst/>
          </a:prstGeom>
          <a:solidFill>
            <a:srgbClr val="FFCC99"/>
          </a:solidFill>
          <a:ln>
            <a:solidFill>
              <a:srgbClr val="FFCC99"/>
            </a:solid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000" b="1" dirty="0">
                <a:solidFill>
                  <a:schemeClr val="tx1"/>
                </a:solidFill>
              </a:rPr>
              <a:t>Le code de césar</a:t>
            </a:r>
          </a:p>
        </p:txBody>
      </p:sp>
      <p:graphicFrame>
        <p:nvGraphicFramePr>
          <p:cNvPr id="4" name="Tableau 3"/>
          <p:cNvGraphicFramePr>
            <a:graphicFrameLocks noGrp="1"/>
          </p:cNvGraphicFramePr>
          <p:nvPr/>
        </p:nvGraphicFramePr>
        <p:xfrm>
          <a:off x="1836057" y="3059380"/>
          <a:ext cx="8128000" cy="704185"/>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377653559"/>
                    </a:ext>
                  </a:extLst>
                </a:gridCol>
              </a:tblGrid>
              <a:tr h="704185">
                <a:tc>
                  <a:txBody>
                    <a:bodyPr/>
                    <a:lstStyle/>
                    <a:p>
                      <a:pPr algn="ctr"/>
                      <a:r>
                        <a:rPr lang="fr-FR" sz="3200" dirty="0">
                          <a:solidFill>
                            <a:schemeClr val="tx1"/>
                          </a:solidFill>
                        </a:rPr>
                        <a:t>GOOD</a:t>
                      </a:r>
                      <a:endParaRPr lang="en-US" sz="3200" dirty="0">
                        <a:solidFill>
                          <a:schemeClr val="tx1"/>
                        </a:solidFill>
                      </a:endParaRPr>
                    </a:p>
                  </a:txBody>
                  <a:tcPr>
                    <a:solidFill>
                      <a:srgbClr val="FFC000"/>
                    </a:solidFill>
                  </a:tcPr>
                </a:tc>
                <a:extLst>
                  <a:ext uri="{0D108BD9-81ED-4DB2-BD59-A6C34878D82A}">
                    <a16:rowId xmlns:a16="http://schemas.microsoft.com/office/drawing/2014/main" val="1165035710"/>
                  </a:ext>
                </a:extLst>
              </a:tr>
            </a:tbl>
          </a:graphicData>
        </a:graphic>
      </p:graphicFrame>
      <p:graphicFrame>
        <p:nvGraphicFramePr>
          <p:cNvPr id="5" name="Tableau 4"/>
          <p:cNvGraphicFramePr>
            <a:graphicFrameLocks noGrp="1"/>
          </p:cNvGraphicFramePr>
          <p:nvPr/>
        </p:nvGraphicFramePr>
        <p:xfrm>
          <a:off x="1836057" y="3831296"/>
          <a:ext cx="8128000" cy="704185"/>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377653559"/>
                    </a:ext>
                  </a:extLst>
                </a:gridCol>
              </a:tblGrid>
              <a:tr h="704185">
                <a:tc>
                  <a:txBody>
                    <a:bodyPr/>
                    <a:lstStyle/>
                    <a:p>
                      <a:pPr algn="ctr"/>
                      <a:endParaRPr lang="en-US" sz="3200" dirty="0">
                        <a:solidFill>
                          <a:srgbClr val="00B050"/>
                        </a:solidFill>
                      </a:endParaRPr>
                    </a:p>
                  </a:txBody>
                  <a:tcPr>
                    <a:solidFill>
                      <a:schemeClr val="bg1"/>
                    </a:solidFill>
                  </a:tcPr>
                </a:tc>
                <a:extLst>
                  <a:ext uri="{0D108BD9-81ED-4DB2-BD59-A6C34878D82A}">
                    <a16:rowId xmlns:a16="http://schemas.microsoft.com/office/drawing/2014/main" val="1165035710"/>
                  </a:ext>
                </a:extLst>
              </a:tr>
            </a:tbl>
          </a:graphicData>
        </a:graphic>
      </p:graphicFrame>
      <p:graphicFrame>
        <p:nvGraphicFramePr>
          <p:cNvPr id="6" name="Tableau 5"/>
          <p:cNvGraphicFramePr>
            <a:graphicFrameLocks noGrp="1"/>
          </p:cNvGraphicFramePr>
          <p:nvPr>
            <p:extLst>
              <p:ext uri="{D42A27DB-BD31-4B8C-83A1-F6EECF244321}">
                <p14:modId xmlns:p14="http://schemas.microsoft.com/office/powerpoint/2010/main" val="1954360802"/>
              </p:ext>
            </p:extLst>
          </p:nvPr>
        </p:nvGraphicFramePr>
        <p:xfrm>
          <a:off x="1836057" y="4797693"/>
          <a:ext cx="8128000" cy="704185"/>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377653559"/>
                    </a:ext>
                  </a:extLst>
                </a:gridCol>
              </a:tblGrid>
              <a:tr h="704185">
                <a:tc>
                  <a:txBody>
                    <a:bodyPr/>
                    <a:lstStyle/>
                    <a:p>
                      <a:pPr algn="ctr"/>
                      <a:r>
                        <a:rPr lang="fr-FR" sz="3200" dirty="0">
                          <a:solidFill>
                            <a:schemeClr val="tx1"/>
                          </a:solidFill>
                        </a:rPr>
                        <a:t>ARGENT</a:t>
                      </a:r>
                      <a:endParaRPr lang="en-US" sz="3200" dirty="0">
                        <a:solidFill>
                          <a:schemeClr val="tx1"/>
                        </a:solidFill>
                      </a:endParaRPr>
                    </a:p>
                  </a:txBody>
                  <a:tcPr>
                    <a:solidFill>
                      <a:srgbClr val="FFC000"/>
                    </a:solidFill>
                  </a:tcPr>
                </a:tc>
                <a:extLst>
                  <a:ext uri="{0D108BD9-81ED-4DB2-BD59-A6C34878D82A}">
                    <a16:rowId xmlns:a16="http://schemas.microsoft.com/office/drawing/2014/main" val="1165035710"/>
                  </a:ext>
                </a:extLst>
              </a:tr>
            </a:tbl>
          </a:graphicData>
        </a:graphic>
      </p:graphicFrame>
      <p:graphicFrame>
        <p:nvGraphicFramePr>
          <p:cNvPr id="7" name="Tableau 6"/>
          <p:cNvGraphicFramePr>
            <a:graphicFrameLocks noGrp="1"/>
          </p:cNvGraphicFramePr>
          <p:nvPr>
            <p:extLst>
              <p:ext uri="{D42A27DB-BD31-4B8C-83A1-F6EECF244321}">
                <p14:modId xmlns:p14="http://schemas.microsoft.com/office/powerpoint/2010/main" val="743020372"/>
              </p:ext>
            </p:extLst>
          </p:nvPr>
        </p:nvGraphicFramePr>
        <p:xfrm>
          <a:off x="1836057" y="5569609"/>
          <a:ext cx="8128000" cy="704185"/>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377653559"/>
                    </a:ext>
                  </a:extLst>
                </a:gridCol>
              </a:tblGrid>
              <a:tr h="704185">
                <a:tc>
                  <a:txBody>
                    <a:bodyPr/>
                    <a:lstStyle/>
                    <a:p>
                      <a:pPr algn="ctr"/>
                      <a:r>
                        <a:rPr lang="fr-FR" sz="3200" dirty="0">
                          <a:solidFill>
                            <a:srgbClr val="00B050"/>
                          </a:solidFill>
                        </a:rPr>
                        <a:t>DUJHQW</a:t>
                      </a:r>
                      <a:endParaRPr lang="en-US" sz="3200" dirty="0">
                        <a:solidFill>
                          <a:srgbClr val="00B050"/>
                        </a:solidFill>
                      </a:endParaRPr>
                    </a:p>
                  </a:txBody>
                  <a:tcPr>
                    <a:solidFill>
                      <a:schemeClr val="bg1"/>
                    </a:solidFill>
                  </a:tcPr>
                </a:tc>
                <a:extLst>
                  <a:ext uri="{0D108BD9-81ED-4DB2-BD59-A6C34878D82A}">
                    <a16:rowId xmlns:a16="http://schemas.microsoft.com/office/drawing/2014/main" val="1165035710"/>
                  </a:ext>
                </a:extLst>
              </a:tr>
            </a:tbl>
          </a:graphicData>
        </a:graphic>
      </p:graphicFrame>
      <p:sp>
        <p:nvSpPr>
          <p:cNvPr id="8" name="Rectangle 7"/>
          <p:cNvSpPr/>
          <p:nvPr/>
        </p:nvSpPr>
        <p:spPr>
          <a:xfrm>
            <a:off x="1175645" y="1989079"/>
            <a:ext cx="438337" cy="862149"/>
          </a:xfrm>
          <a:prstGeom prst="rect">
            <a:avLst/>
          </a:prstGeom>
          <a:solidFill>
            <a:srgbClr val="FF000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bg1"/>
                </a:solidFill>
              </a:rPr>
              <a:t>D</a:t>
            </a:r>
            <a:endParaRPr lang="en-US" sz="3200" b="1" dirty="0">
              <a:solidFill>
                <a:schemeClr val="bg1"/>
              </a:solidFill>
            </a:endParaRPr>
          </a:p>
        </p:txBody>
      </p:sp>
      <p:sp>
        <p:nvSpPr>
          <p:cNvPr id="9" name="Rectangle 8"/>
          <p:cNvSpPr/>
          <p:nvPr/>
        </p:nvSpPr>
        <p:spPr>
          <a:xfrm>
            <a:off x="1613982" y="1989083"/>
            <a:ext cx="365761" cy="862149"/>
          </a:xfrm>
          <a:prstGeom prst="rect">
            <a:avLst/>
          </a:prstGeom>
          <a:solidFill>
            <a:srgbClr val="FF000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bg1"/>
                </a:solidFill>
              </a:rPr>
              <a:t>E</a:t>
            </a:r>
            <a:endParaRPr lang="en-US" sz="3200" b="1" dirty="0">
              <a:solidFill>
                <a:schemeClr val="bg1"/>
              </a:solidFill>
            </a:endParaRPr>
          </a:p>
        </p:txBody>
      </p:sp>
      <p:sp>
        <p:nvSpPr>
          <p:cNvPr id="10" name="Rectangle 9"/>
          <p:cNvSpPr/>
          <p:nvPr/>
        </p:nvSpPr>
        <p:spPr>
          <a:xfrm>
            <a:off x="1986988" y="2002146"/>
            <a:ext cx="418029" cy="862149"/>
          </a:xfrm>
          <a:prstGeom prst="rect">
            <a:avLst/>
          </a:prstGeom>
          <a:solidFill>
            <a:srgbClr val="FF000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bg1"/>
                </a:solidFill>
              </a:rPr>
              <a:t>F</a:t>
            </a:r>
            <a:endParaRPr lang="en-US" sz="3200" b="1" dirty="0">
              <a:solidFill>
                <a:schemeClr val="bg1"/>
              </a:solidFill>
            </a:endParaRPr>
          </a:p>
        </p:txBody>
      </p:sp>
      <p:sp>
        <p:nvSpPr>
          <p:cNvPr id="11" name="Rectangle 10"/>
          <p:cNvSpPr/>
          <p:nvPr/>
        </p:nvSpPr>
        <p:spPr>
          <a:xfrm>
            <a:off x="10339976" y="1989079"/>
            <a:ext cx="384634" cy="862149"/>
          </a:xfrm>
          <a:prstGeom prst="rect">
            <a:avLst/>
          </a:prstGeom>
          <a:solidFill>
            <a:srgbClr val="0070C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bg1"/>
                </a:solidFill>
              </a:rPr>
              <a:t>A</a:t>
            </a:r>
            <a:endParaRPr lang="en-US" sz="3200" b="1" dirty="0">
              <a:solidFill>
                <a:schemeClr val="bg1"/>
              </a:solidFill>
            </a:endParaRPr>
          </a:p>
        </p:txBody>
      </p:sp>
      <p:sp>
        <p:nvSpPr>
          <p:cNvPr id="12" name="Rectangle 11"/>
          <p:cNvSpPr/>
          <p:nvPr/>
        </p:nvSpPr>
        <p:spPr>
          <a:xfrm>
            <a:off x="10705737" y="1989082"/>
            <a:ext cx="444148" cy="862149"/>
          </a:xfrm>
          <a:prstGeom prst="rect">
            <a:avLst/>
          </a:prstGeom>
          <a:solidFill>
            <a:srgbClr val="0070C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bg1"/>
                </a:solidFill>
              </a:rPr>
              <a:t>B</a:t>
            </a:r>
            <a:endParaRPr lang="en-US" sz="3200" b="1" dirty="0">
              <a:solidFill>
                <a:schemeClr val="bg1"/>
              </a:solidFill>
            </a:endParaRPr>
          </a:p>
        </p:txBody>
      </p:sp>
      <p:sp>
        <p:nvSpPr>
          <p:cNvPr id="13" name="Rectangle 12"/>
          <p:cNvSpPr/>
          <p:nvPr/>
        </p:nvSpPr>
        <p:spPr>
          <a:xfrm>
            <a:off x="11131011" y="1989080"/>
            <a:ext cx="444148" cy="862149"/>
          </a:xfrm>
          <a:prstGeom prst="rect">
            <a:avLst/>
          </a:prstGeom>
          <a:solidFill>
            <a:srgbClr val="0070C0"/>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bg1"/>
                </a:solidFill>
              </a:rPr>
              <a:t>C</a:t>
            </a:r>
            <a:endParaRPr lang="en-US" sz="3200" b="1" dirty="0">
              <a:solidFill>
                <a:schemeClr val="bg1"/>
              </a:solidFill>
            </a:endParaRPr>
          </a:p>
        </p:txBody>
      </p:sp>
      <p:sp>
        <p:nvSpPr>
          <p:cNvPr id="14" name="Rectangle 13"/>
          <p:cNvSpPr/>
          <p:nvPr/>
        </p:nvSpPr>
        <p:spPr>
          <a:xfrm>
            <a:off x="4838333" y="3861602"/>
            <a:ext cx="384634" cy="5611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rgbClr val="00B050"/>
                </a:solidFill>
              </a:rPr>
              <a:t>J</a:t>
            </a:r>
            <a:endParaRPr lang="en-US" sz="3200" b="1" dirty="0">
              <a:solidFill>
                <a:schemeClr val="bg1"/>
              </a:solidFill>
            </a:endParaRPr>
          </a:p>
        </p:txBody>
      </p:sp>
      <p:sp>
        <p:nvSpPr>
          <p:cNvPr id="15" name="Rectangle 14"/>
          <p:cNvSpPr/>
          <p:nvPr/>
        </p:nvSpPr>
        <p:spPr>
          <a:xfrm>
            <a:off x="5601231" y="3853781"/>
            <a:ext cx="384634" cy="5611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rgbClr val="00B050"/>
                </a:solidFill>
              </a:rPr>
              <a:t>R</a:t>
            </a:r>
            <a:endParaRPr lang="en-US" sz="3200" b="1" dirty="0">
              <a:solidFill>
                <a:schemeClr val="bg1"/>
              </a:solidFill>
            </a:endParaRPr>
          </a:p>
        </p:txBody>
      </p:sp>
      <p:sp>
        <p:nvSpPr>
          <p:cNvPr id="16" name="Rectangle 15"/>
          <p:cNvSpPr/>
          <p:nvPr/>
        </p:nvSpPr>
        <p:spPr>
          <a:xfrm>
            <a:off x="5219782" y="3861602"/>
            <a:ext cx="384634" cy="5611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rgbClr val="00B050"/>
                </a:solidFill>
              </a:rPr>
              <a:t>R</a:t>
            </a:r>
            <a:endParaRPr lang="en-US" sz="3200" b="1" dirty="0">
              <a:solidFill>
                <a:schemeClr val="bg1"/>
              </a:solidFill>
            </a:endParaRPr>
          </a:p>
        </p:txBody>
      </p:sp>
      <p:sp>
        <p:nvSpPr>
          <p:cNvPr id="17" name="Rectangle 16"/>
          <p:cNvSpPr/>
          <p:nvPr/>
        </p:nvSpPr>
        <p:spPr>
          <a:xfrm>
            <a:off x="6018683" y="3831296"/>
            <a:ext cx="384634" cy="5611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rgbClr val="00B050"/>
                </a:solidFill>
              </a:rPr>
              <a:t>G</a:t>
            </a:r>
            <a:endParaRPr lang="en-US" sz="3200" b="1" dirty="0">
              <a:solidFill>
                <a:schemeClr val="bg1"/>
              </a:solidFill>
            </a:endParaRPr>
          </a:p>
        </p:txBody>
      </p:sp>
      <p:sp>
        <p:nvSpPr>
          <p:cNvPr id="28" name="Rectangle 27"/>
          <p:cNvSpPr/>
          <p:nvPr/>
        </p:nvSpPr>
        <p:spPr>
          <a:xfrm>
            <a:off x="6306761" y="2135164"/>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Q</a:t>
            </a:r>
            <a:endParaRPr lang="en-US" sz="3200" b="1" dirty="0">
              <a:solidFill>
                <a:schemeClr val="tx1"/>
              </a:solidFill>
            </a:endParaRPr>
          </a:p>
        </p:txBody>
      </p:sp>
      <p:sp>
        <p:nvSpPr>
          <p:cNvPr id="29" name="Rectangle 28"/>
          <p:cNvSpPr/>
          <p:nvPr/>
        </p:nvSpPr>
        <p:spPr>
          <a:xfrm>
            <a:off x="7151101" y="2110399"/>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S</a:t>
            </a:r>
            <a:endParaRPr lang="en-US" sz="3200" b="1" dirty="0">
              <a:solidFill>
                <a:schemeClr val="tx1"/>
              </a:solidFill>
            </a:endParaRPr>
          </a:p>
        </p:txBody>
      </p:sp>
      <p:sp>
        <p:nvSpPr>
          <p:cNvPr id="30" name="Rectangle 29"/>
          <p:cNvSpPr/>
          <p:nvPr/>
        </p:nvSpPr>
        <p:spPr>
          <a:xfrm>
            <a:off x="6737076" y="2120188"/>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R</a:t>
            </a:r>
            <a:endParaRPr lang="en-US" sz="3200" b="1" dirty="0">
              <a:solidFill>
                <a:schemeClr val="tx1"/>
              </a:solidFill>
            </a:endParaRPr>
          </a:p>
        </p:txBody>
      </p:sp>
      <p:sp>
        <p:nvSpPr>
          <p:cNvPr id="31" name="Rectangle 30"/>
          <p:cNvSpPr/>
          <p:nvPr/>
        </p:nvSpPr>
        <p:spPr>
          <a:xfrm>
            <a:off x="7539298" y="2119045"/>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T</a:t>
            </a:r>
            <a:endParaRPr lang="en-US" sz="3200" b="1" dirty="0">
              <a:solidFill>
                <a:schemeClr val="tx1"/>
              </a:solidFill>
            </a:endParaRPr>
          </a:p>
        </p:txBody>
      </p:sp>
      <p:sp>
        <p:nvSpPr>
          <p:cNvPr id="32" name="Rectangle 31"/>
          <p:cNvSpPr/>
          <p:nvPr/>
        </p:nvSpPr>
        <p:spPr>
          <a:xfrm>
            <a:off x="8735291" y="2135164"/>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W</a:t>
            </a:r>
            <a:endParaRPr lang="en-US" sz="3200" b="1" dirty="0">
              <a:solidFill>
                <a:schemeClr val="tx1"/>
              </a:solidFill>
            </a:endParaRPr>
          </a:p>
        </p:txBody>
      </p:sp>
      <p:sp>
        <p:nvSpPr>
          <p:cNvPr id="33" name="Rectangle 32"/>
          <p:cNvSpPr/>
          <p:nvPr/>
        </p:nvSpPr>
        <p:spPr>
          <a:xfrm>
            <a:off x="7946879" y="2152670"/>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U</a:t>
            </a:r>
            <a:endParaRPr lang="en-US" sz="3200" b="1" dirty="0">
              <a:solidFill>
                <a:schemeClr val="tx1"/>
              </a:solidFill>
            </a:endParaRPr>
          </a:p>
        </p:txBody>
      </p:sp>
      <p:sp>
        <p:nvSpPr>
          <p:cNvPr id="34" name="Rectangle 33"/>
          <p:cNvSpPr/>
          <p:nvPr/>
        </p:nvSpPr>
        <p:spPr>
          <a:xfrm>
            <a:off x="8334513" y="2139557"/>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V</a:t>
            </a:r>
            <a:endParaRPr lang="en-US" sz="3200" b="1" dirty="0">
              <a:solidFill>
                <a:schemeClr val="tx1"/>
              </a:solidFill>
            </a:endParaRPr>
          </a:p>
        </p:txBody>
      </p:sp>
      <p:sp>
        <p:nvSpPr>
          <p:cNvPr id="35" name="Rectangle 34"/>
          <p:cNvSpPr/>
          <p:nvPr/>
        </p:nvSpPr>
        <p:spPr>
          <a:xfrm>
            <a:off x="9135601" y="2135164"/>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X</a:t>
            </a:r>
            <a:endParaRPr lang="en-US" sz="3200" b="1" dirty="0">
              <a:solidFill>
                <a:schemeClr val="tx1"/>
              </a:solidFill>
            </a:endParaRPr>
          </a:p>
        </p:txBody>
      </p:sp>
      <p:sp>
        <p:nvSpPr>
          <p:cNvPr id="36" name="Rectangle 35"/>
          <p:cNvSpPr/>
          <p:nvPr/>
        </p:nvSpPr>
        <p:spPr>
          <a:xfrm flipH="1">
            <a:off x="9560841" y="2102678"/>
            <a:ext cx="378825" cy="55831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Y</a:t>
            </a:r>
            <a:endParaRPr lang="en-US" sz="3200" b="1" dirty="0">
              <a:solidFill>
                <a:schemeClr val="tx1"/>
              </a:solidFill>
            </a:endParaRPr>
          </a:p>
        </p:txBody>
      </p:sp>
      <p:sp>
        <p:nvSpPr>
          <p:cNvPr id="37" name="Rectangle 36"/>
          <p:cNvSpPr/>
          <p:nvPr/>
        </p:nvSpPr>
        <p:spPr>
          <a:xfrm>
            <a:off x="9950550" y="2135164"/>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Z</a:t>
            </a:r>
            <a:endParaRPr lang="en-US" sz="3200" b="1" dirty="0">
              <a:solidFill>
                <a:schemeClr val="tx1"/>
              </a:solidFill>
            </a:endParaRPr>
          </a:p>
        </p:txBody>
      </p:sp>
      <p:sp>
        <p:nvSpPr>
          <p:cNvPr id="41" name="Rectangle 40"/>
          <p:cNvSpPr/>
          <p:nvPr/>
        </p:nvSpPr>
        <p:spPr>
          <a:xfrm>
            <a:off x="3581251" y="2135164"/>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J</a:t>
            </a:r>
            <a:endParaRPr lang="en-US" sz="3200" b="1" dirty="0">
              <a:solidFill>
                <a:schemeClr val="tx1"/>
              </a:solidFill>
            </a:endParaRPr>
          </a:p>
        </p:txBody>
      </p:sp>
      <p:sp>
        <p:nvSpPr>
          <p:cNvPr id="42" name="Rectangle 41"/>
          <p:cNvSpPr/>
          <p:nvPr/>
        </p:nvSpPr>
        <p:spPr>
          <a:xfrm>
            <a:off x="5146724" y="2166361"/>
            <a:ext cx="340515" cy="578604"/>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N</a:t>
            </a:r>
            <a:endParaRPr lang="en-US" sz="3200" b="1" dirty="0">
              <a:solidFill>
                <a:schemeClr val="tx1"/>
              </a:solidFill>
            </a:endParaRPr>
          </a:p>
        </p:txBody>
      </p:sp>
      <p:sp>
        <p:nvSpPr>
          <p:cNvPr id="43" name="Rectangle 42"/>
          <p:cNvSpPr/>
          <p:nvPr/>
        </p:nvSpPr>
        <p:spPr>
          <a:xfrm>
            <a:off x="4653122" y="2166721"/>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M</a:t>
            </a:r>
            <a:endParaRPr lang="en-US" sz="3200" b="1" dirty="0">
              <a:solidFill>
                <a:schemeClr val="tx1"/>
              </a:solidFill>
            </a:endParaRPr>
          </a:p>
        </p:txBody>
      </p:sp>
      <p:sp>
        <p:nvSpPr>
          <p:cNvPr id="44" name="Rectangle 43"/>
          <p:cNvSpPr/>
          <p:nvPr/>
        </p:nvSpPr>
        <p:spPr>
          <a:xfrm>
            <a:off x="3983912" y="2135164"/>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K</a:t>
            </a:r>
            <a:endParaRPr lang="en-US" sz="3200" b="1" dirty="0">
              <a:solidFill>
                <a:schemeClr val="tx1"/>
              </a:solidFill>
            </a:endParaRPr>
          </a:p>
        </p:txBody>
      </p:sp>
      <p:sp>
        <p:nvSpPr>
          <p:cNvPr id="45" name="Rectangle 44"/>
          <p:cNvSpPr/>
          <p:nvPr/>
        </p:nvSpPr>
        <p:spPr>
          <a:xfrm>
            <a:off x="4388505" y="2152670"/>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L</a:t>
            </a:r>
            <a:endParaRPr lang="en-US" sz="3200" b="1" dirty="0">
              <a:solidFill>
                <a:schemeClr val="tx1"/>
              </a:solidFill>
            </a:endParaRPr>
          </a:p>
        </p:txBody>
      </p:sp>
      <p:sp>
        <p:nvSpPr>
          <p:cNvPr id="46" name="Rectangle 45"/>
          <p:cNvSpPr/>
          <p:nvPr/>
        </p:nvSpPr>
        <p:spPr>
          <a:xfrm>
            <a:off x="5525407" y="2175113"/>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O</a:t>
            </a:r>
            <a:endParaRPr lang="en-US" sz="3200" b="1" dirty="0">
              <a:solidFill>
                <a:schemeClr val="tx1"/>
              </a:solidFill>
            </a:endParaRPr>
          </a:p>
        </p:txBody>
      </p:sp>
      <p:sp>
        <p:nvSpPr>
          <p:cNvPr id="47" name="Rectangle 46"/>
          <p:cNvSpPr/>
          <p:nvPr/>
        </p:nvSpPr>
        <p:spPr>
          <a:xfrm>
            <a:off x="5935988" y="2158364"/>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P</a:t>
            </a:r>
            <a:endParaRPr lang="en-US" sz="3200" b="1" dirty="0">
              <a:solidFill>
                <a:schemeClr val="tx1"/>
              </a:solidFill>
            </a:endParaRPr>
          </a:p>
        </p:txBody>
      </p:sp>
      <p:sp>
        <p:nvSpPr>
          <p:cNvPr id="48" name="Rectangle 47"/>
          <p:cNvSpPr/>
          <p:nvPr/>
        </p:nvSpPr>
        <p:spPr>
          <a:xfrm>
            <a:off x="2394432" y="2183865"/>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G</a:t>
            </a:r>
            <a:endParaRPr lang="en-US" sz="3200" b="1" dirty="0">
              <a:solidFill>
                <a:schemeClr val="tx1"/>
              </a:solidFill>
            </a:endParaRPr>
          </a:p>
        </p:txBody>
      </p:sp>
      <p:sp>
        <p:nvSpPr>
          <p:cNvPr id="49" name="Rectangle 48"/>
          <p:cNvSpPr/>
          <p:nvPr/>
        </p:nvSpPr>
        <p:spPr>
          <a:xfrm>
            <a:off x="2788138" y="2183865"/>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H</a:t>
            </a:r>
            <a:endParaRPr lang="en-US" sz="3200" b="1" dirty="0">
              <a:solidFill>
                <a:schemeClr val="tx1"/>
              </a:solidFill>
            </a:endParaRPr>
          </a:p>
        </p:txBody>
      </p:sp>
      <p:sp>
        <p:nvSpPr>
          <p:cNvPr id="50" name="Rectangle 49"/>
          <p:cNvSpPr/>
          <p:nvPr/>
        </p:nvSpPr>
        <p:spPr>
          <a:xfrm>
            <a:off x="3201306" y="2152670"/>
            <a:ext cx="384634" cy="561100"/>
          </a:xfrm>
          <a:prstGeom prst="rect">
            <a:avLst/>
          </a:prstGeom>
          <a:solidFill>
            <a:srgbClr val="FFCC99"/>
          </a:solidFill>
          <a:ln>
            <a:solidFill>
              <a:srgbClr val="FF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b="1" dirty="0">
                <a:solidFill>
                  <a:schemeClr val="tx1"/>
                </a:solidFill>
              </a:rPr>
              <a:t>I</a:t>
            </a:r>
            <a:endParaRPr lang="en-US" sz="3200" b="1" dirty="0">
              <a:solidFill>
                <a:schemeClr val="tx1"/>
              </a:solidFill>
            </a:endParaRPr>
          </a:p>
        </p:txBody>
      </p:sp>
      <p:sp>
        <p:nvSpPr>
          <p:cNvPr id="38" name="Ellipse 37">
            <a:extLst>
              <a:ext uri="{FF2B5EF4-FFF2-40B4-BE49-F238E27FC236}">
                <a16:creationId xmlns:a16="http://schemas.microsoft.com/office/drawing/2014/main" id="{64C93DB2-9DE5-4DCF-BDFC-8BE29FA056A7}"/>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25</a:t>
            </a:r>
          </a:p>
        </p:txBody>
      </p:sp>
    </p:spTree>
    <p:extLst>
      <p:ext uri="{BB962C8B-B14F-4D97-AF65-F5344CB8AC3E}">
        <p14:creationId xmlns:p14="http://schemas.microsoft.com/office/powerpoint/2010/main" val="20736175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ppt_x"/>
                                          </p:val>
                                        </p:tav>
                                        <p:tav tm="100000">
                                          <p:val>
                                            <p:strVal val="#ppt_x"/>
                                          </p:val>
                                        </p:tav>
                                      </p:tavLst>
                                    </p:anim>
                                    <p:anim calcmode="lin" valueType="num">
                                      <p:cBhvr additive="base">
                                        <p:cTn id="3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ppt_x</p:attrName>
                                        </p:attrNameLst>
                                      </p:cBhvr>
                                      <p:tavLst>
                                        <p:tav tm="0">
                                          <p:val>
                                            <p:strVal val="#ppt_x"/>
                                          </p:val>
                                        </p:tav>
                                        <p:tav tm="100000">
                                          <p:val>
                                            <p:strVal val="#ppt_x"/>
                                          </p:val>
                                        </p:tav>
                                      </p:tavLst>
                                    </p:anim>
                                    <p:anim calcmode="lin" valueType="num">
                                      <p:cBhvr additive="base">
                                        <p:cTn id="3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ppt_x"/>
                                          </p:val>
                                        </p:tav>
                                        <p:tav tm="100000">
                                          <p:val>
                                            <p:strVal val="#ppt_x"/>
                                          </p:val>
                                        </p:tav>
                                      </p:tavLst>
                                    </p:anim>
                                    <p:anim calcmode="lin" valueType="num">
                                      <p:cBhvr additive="base">
                                        <p:cTn id="4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48"/>
                                        </p:tgtEl>
                                        <p:attrNameLst>
                                          <p:attrName>style.visibility</p:attrName>
                                        </p:attrNameLst>
                                      </p:cBhvr>
                                      <p:to>
                                        <p:strVal val="visible"/>
                                      </p:to>
                                    </p:set>
                                    <p:anim calcmode="lin" valueType="num">
                                      <p:cBhvr additive="base">
                                        <p:cTn id="48" dur="500" fill="hold"/>
                                        <p:tgtEl>
                                          <p:spTgt spid="48"/>
                                        </p:tgtEl>
                                        <p:attrNameLst>
                                          <p:attrName>ppt_x</p:attrName>
                                        </p:attrNameLst>
                                      </p:cBhvr>
                                      <p:tavLst>
                                        <p:tav tm="0">
                                          <p:val>
                                            <p:strVal val="#ppt_x"/>
                                          </p:val>
                                        </p:tav>
                                        <p:tav tm="100000">
                                          <p:val>
                                            <p:strVal val="#ppt_x"/>
                                          </p:val>
                                        </p:tav>
                                      </p:tavLst>
                                    </p:anim>
                                    <p:anim calcmode="lin" valueType="num">
                                      <p:cBhvr additive="base">
                                        <p:cTn id="49" dur="500" fill="hold"/>
                                        <p:tgtEl>
                                          <p:spTgt spid="48"/>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49"/>
                                        </p:tgtEl>
                                        <p:attrNameLst>
                                          <p:attrName>style.visibility</p:attrName>
                                        </p:attrNameLst>
                                      </p:cBhvr>
                                      <p:to>
                                        <p:strVal val="visible"/>
                                      </p:to>
                                    </p:set>
                                    <p:anim calcmode="lin" valueType="num">
                                      <p:cBhvr additive="base">
                                        <p:cTn id="52" dur="500" fill="hold"/>
                                        <p:tgtEl>
                                          <p:spTgt spid="49"/>
                                        </p:tgtEl>
                                        <p:attrNameLst>
                                          <p:attrName>ppt_x</p:attrName>
                                        </p:attrNameLst>
                                      </p:cBhvr>
                                      <p:tavLst>
                                        <p:tav tm="0">
                                          <p:val>
                                            <p:strVal val="#ppt_x"/>
                                          </p:val>
                                        </p:tav>
                                        <p:tav tm="100000">
                                          <p:val>
                                            <p:strVal val="#ppt_x"/>
                                          </p:val>
                                        </p:tav>
                                      </p:tavLst>
                                    </p:anim>
                                    <p:anim calcmode="lin" valueType="num">
                                      <p:cBhvr additive="base">
                                        <p:cTn id="53" dur="500" fill="hold"/>
                                        <p:tgtEl>
                                          <p:spTgt spid="49"/>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50"/>
                                        </p:tgtEl>
                                        <p:attrNameLst>
                                          <p:attrName>style.visibility</p:attrName>
                                        </p:attrNameLst>
                                      </p:cBhvr>
                                      <p:to>
                                        <p:strVal val="visible"/>
                                      </p:to>
                                    </p:set>
                                    <p:anim calcmode="lin" valueType="num">
                                      <p:cBhvr additive="base">
                                        <p:cTn id="56" dur="500" fill="hold"/>
                                        <p:tgtEl>
                                          <p:spTgt spid="50"/>
                                        </p:tgtEl>
                                        <p:attrNameLst>
                                          <p:attrName>ppt_x</p:attrName>
                                        </p:attrNameLst>
                                      </p:cBhvr>
                                      <p:tavLst>
                                        <p:tav tm="0">
                                          <p:val>
                                            <p:strVal val="#ppt_x"/>
                                          </p:val>
                                        </p:tav>
                                        <p:tav tm="100000">
                                          <p:val>
                                            <p:strVal val="#ppt_x"/>
                                          </p:val>
                                        </p:tav>
                                      </p:tavLst>
                                    </p:anim>
                                    <p:anim calcmode="lin" valueType="num">
                                      <p:cBhvr additive="base">
                                        <p:cTn id="57" dur="500" fill="hold"/>
                                        <p:tgtEl>
                                          <p:spTgt spid="50"/>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anim calcmode="lin" valueType="num">
                                      <p:cBhvr additive="base">
                                        <p:cTn id="60" dur="500" fill="hold"/>
                                        <p:tgtEl>
                                          <p:spTgt spid="41"/>
                                        </p:tgtEl>
                                        <p:attrNameLst>
                                          <p:attrName>ppt_x</p:attrName>
                                        </p:attrNameLst>
                                      </p:cBhvr>
                                      <p:tavLst>
                                        <p:tav tm="0">
                                          <p:val>
                                            <p:strVal val="#ppt_x"/>
                                          </p:val>
                                        </p:tav>
                                        <p:tav tm="100000">
                                          <p:val>
                                            <p:strVal val="#ppt_x"/>
                                          </p:val>
                                        </p:tav>
                                      </p:tavLst>
                                    </p:anim>
                                    <p:anim calcmode="lin" valueType="num">
                                      <p:cBhvr additive="base">
                                        <p:cTn id="61" dur="500" fill="hold"/>
                                        <p:tgtEl>
                                          <p:spTgt spid="41"/>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 calcmode="lin" valueType="num">
                                      <p:cBhvr additive="base">
                                        <p:cTn id="64" dur="500" fill="hold"/>
                                        <p:tgtEl>
                                          <p:spTgt spid="44"/>
                                        </p:tgtEl>
                                        <p:attrNameLst>
                                          <p:attrName>ppt_x</p:attrName>
                                        </p:attrNameLst>
                                      </p:cBhvr>
                                      <p:tavLst>
                                        <p:tav tm="0">
                                          <p:val>
                                            <p:strVal val="#ppt_x"/>
                                          </p:val>
                                        </p:tav>
                                        <p:tav tm="100000">
                                          <p:val>
                                            <p:strVal val="#ppt_x"/>
                                          </p:val>
                                        </p:tav>
                                      </p:tavLst>
                                    </p:anim>
                                    <p:anim calcmode="lin" valueType="num">
                                      <p:cBhvr additive="base">
                                        <p:cTn id="65" dur="500" fill="hold"/>
                                        <p:tgtEl>
                                          <p:spTgt spid="44"/>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anim calcmode="lin" valueType="num">
                                      <p:cBhvr additive="base">
                                        <p:cTn id="68" dur="500" fill="hold"/>
                                        <p:tgtEl>
                                          <p:spTgt spid="45"/>
                                        </p:tgtEl>
                                        <p:attrNameLst>
                                          <p:attrName>ppt_x</p:attrName>
                                        </p:attrNameLst>
                                      </p:cBhvr>
                                      <p:tavLst>
                                        <p:tav tm="0">
                                          <p:val>
                                            <p:strVal val="#ppt_x"/>
                                          </p:val>
                                        </p:tav>
                                        <p:tav tm="100000">
                                          <p:val>
                                            <p:strVal val="#ppt_x"/>
                                          </p:val>
                                        </p:tav>
                                      </p:tavLst>
                                    </p:anim>
                                    <p:anim calcmode="lin" valueType="num">
                                      <p:cBhvr additive="base">
                                        <p:cTn id="69" dur="500" fill="hold"/>
                                        <p:tgtEl>
                                          <p:spTgt spid="45"/>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43"/>
                                        </p:tgtEl>
                                        <p:attrNameLst>
                                          <p:attrName>style.visibility</p:attrName>
                                        </p:attrNameLst>
                                      </p:cBhvr>
                                      <p:to>
                                        <p:strVal val="visible"/>
                                      </p:to>
                                    </p:set>
                                    <p:anim calcmode="lin" valueType="num">
                                      <p:cBhvr additive="base">
                                        <p:cTn id="72" dur="500" fill="hold"/>
                                        <p:tgtEl>
                                          <p:spTgt spid="43"/>
                                        </p:tgtEl>
                                        <p:attrNameLst>
                                          <p:attrName>ppt_x</p:attrName>
                                        </p:attrNameLst>
                                      </p:cBhvr>
                                      <p:tavLst>
                                        <p:tav tm="0">
                                          <p:val>
                                            <p:strVal val="#ppt_x"/>
                                          </p:val>
                                        </p:tav>
                                        <p:tav tm="100000">
                                          <p:val>
                                            <p:strVal val="#ppt_x"/>
                                          </p:val>
                                        </p:tav>
                                      </p:tavLst>
                                    </p:anim>
                                    <p:anim calcmode="lin" valueType="num">
                                      <p:cBhvr additive="base">
                                        <p:cTn id="73" dur="500" fill="hold"/>
                                        <p:tgtEl>
                                          <p:spTgt spid="43"/>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anim calcmode="lin" valueType="num">
                                      <p:cBhvr additive="base">
                                        <p:cTn id="76" dur="500" fill="hold"/>
                                        <p:tgtEl>
                                          <p:spTgt spid="42"/>
                                        </p:tgtEl>
                                        <p:attrNameLst>
                                          <p:attrName>ppt_x</p:attrName>
                                        </p:attrNameLst>
                                      </p:cBhvr>
                                      <p:tavLst>
                                        <p:tav tm="0">
                                          <p:val>
                                            <p:strVal val="#ppt_x"/>
                                          </p:val>
                                        </p:tav>
                                        <p:tav tm="100000">
                                          <p:val>
                                            <p:strVal val="#ppt_x"/>
                                          </p:val>
                                        </p:tav>
                                      </p:tavLst>
                                    </p:anim>
                                    <p:anim calcmode="lin" valueType="num">
                                      <p:cBhvr additive="base">
                                        <p:cTn id="77" dur="500" fill="hold"/>
                                        <p:tgtEl>
                                          <p:spTgt spid="42"/>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46"/>
                                        </p:tgtEl>
                                        <p:attrNameLst>
                                          <p:attrName>style.visibility</p:attrName>
                                        </p:attrNameLst>
                                      </p:cBhvr>
                                      <p:to>
                                        <p:strVal val="visible"/>
                                      </p:to>
                                    </p:set>
                                    <p:anim calcmode="lin" valueType="num">
                                      <p:cBhvr additive="base">
                                        <p:cTn id="80" dur="500" fill="hold"/>
                                        <p:tgtEl>
                                          <p:spTgt spid="46"/>
                                        </p:tgtEl>
                                        <p:attrNameLst>
                                          <p:attrName>ppt_x</p:attrName>
                                        </p:attrNameLst>
                                      </p:cBhvr>
                                      <p:tavLst>
                                        <p:tav tm="0">
                                          <p:val>
                                            <p:strVal val="#ppt_x"/>
                                          </p:val>
                                        </p:tav>
                                        <p:tav tm="100000">
                                          <p:val>
                                            <p:strVal val="#ppt_x"/>
                                          </p:val>
                                        </p:tav>
                                      </p:tavLst>
                                    </p:anim>
                                    <p:anim calcmode="lin" valueType="num">
                                      <p:cBhvr additive="base">
                                        <p:cTn id="81" dur="500" fill="hold"/>
                                        <p:tgtEl>
                                          <p:spTgt spid="46"/>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47"/>
                                        </p:tgtEl>
                                        <p:attrNameLst>
                                          <p:attrName>style.visibility</p:attrName>
                                        </p:attrNameLst>
                                      </p:cBhvr>
                                      <p:to>
                                        <p:strVal val="visible"/>
                                      </p:to>
                                    </p:set>
                                    <p:anim calcmode="lin" valueType="num">
                                      <p:cBhvr additive="base">
                                        <p:cTn id="84" dur="500" fill="hold"/>
                                        <p:tgtEl>
                                          <p:spTgt spid="47"/>
                                        </p:tgtEl>
                                        <p:attrNameLst>
                                          <p:attrName>ppt_x</p:attrName>
                                        </p:attrNameLst>
                                      </p:cBhvr>
                                      <p:tavLst>
                                        <p:tav tm="0">
                                          <p:val>
                                            <p:strVal val="#ppt_x"/>
                                          </p:val>
                                        </p:tav>
                                        <p:tav tm="100000">
                                          <p:val>
                                            <p:strVal val="#ppt_x"/>
                                          </p:val>
                                        </p:tav>
                                      </p:tavLst>
                                    </p:anim>
                                    <p:anim calcmode="lin" valueType="num">
                                      <p:cBhvr additive="base">
                                        <p:cTn id="85" dur="500" fill="hold"/>
                                        <p:tgtEl>
                                          <p:spTgt spid="47"/>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cBhvr additive="base">
                                        <p:cTn id="88" dur="500" fill="hold"/>
                                        <p:tgtEl>
                                          <p:spTgt spid="28"/>
                                        </p:tgtEl>
                                        <p:attrNameLst>
                                          <p:attrName>ppt_x</p:attrName>
                                        </p:attrNameLst>
                                      </p:cBhvr>
                                      <p:tavLst>
                                        <p:tav tm="0">
                                          <p:val>
                                            <p:strVal val="#ppt_x"/>
                                          </p:val>
                                        </p:tav>
                                        <p:tav tm="100000">
                                          <p:val>
                                            <p:strVal val="#ppt_x"/>
                                          </p:val>
                                        </p:tav>
                                      </p:tavLst>
                                    </p:anim>
                                    <p:anim calcmode="lin" valueType="num">
                                      <p:cBhvr additive="base">
                                        <p:cTn id="89" dur="500" fill="hold"/>
                                        <p:tgtEl>
                                          <p:spTgt spid="28"/>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 calcmode="lin" valueType="num">
                                      <p:cBhvr additive="base">
                                        <p:cTn id="92" dur="500" fill="hold"/>
                                        <p:tgtEl>
                                          <p:spTgt spid="30"/>
                                        </p:tgtEl>
                                        <p:attrNameLst>
                                          <p:attrName>ppt_x</p:attrName>
                                        </p:attrNameLst>
                                      </p:cBhvr>
                                      <p:tavLst>
                                        <p:tav tm="0">
                                          <p:val>
                                            <p:strVal val="#ppt_x"/>
                                          </p:val>
                                        </p:tav>
                                        <p:tav tm="100000">
                                          <p:val>
                                            <p:strVal val="#ppt_x"/>
                                          </p:val>
                                        </p:tav>
                                      </p:tavLst>
                                    </p:anim>
                                    <p:anim calcmode="lin" valueType="num">
                                      <p:cBhvr additive="base">
                                        <p:cTn id="93" dur="500" fill="hold"/>
                                        <p:tgtEl>
                                          <p:spTgt spid="30"/>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1+#ppt_h/2"/>
                                          </p:val>
                                        </p:tav>
                                        <p:tav tm="100000">
                                          <p:val>
                                            <p:strVal val="#ppt_y"/>
                                          </p:val>
                                        </p:tav>
                                      </p:tavLst>
                                    </p:anim>
                                  </p:childTnLst>
                                </p:cTn>
                              </p:par>
                              <p:par>
                                <p:cTn id="98" presetID="2" presetClass="entr" presetSubtype="4" fill="hold" grpId="0" nodeType="withEffect">
                                  <p:stCondLst>
                                    <p:cond delay="0"/>
                                  </p:stCondLst>
                                  <p:childTnLst>
                                    <p:set>
                                      <p:cBhvr>
                                        <p:cTn id="99" dur="1" fill="hold">
                                          <p:stCondLst>
                                            <p:cond delay="0"/>
                                          </p:stCondLst>
                                        </p:cTn>
                                        <p:tgtEl>
                                          <p:spTgt spid="31"/>
                                        </p:tgtEl>
                                        <p:attrNameLst>
                                          <p:attrName>style.visibility</p:attrName>
                                        </p:attrNameLst>
                                      </p:cBhvr>
                                      <p:to>
                                        <p:strVal val="visible"/>
                                      </p:to>
                                    </p:set>
                                    <p:anim calcmode="lin" valueType="num">
                                      <p:cBhvr additive="base">
                                        <p:cTn id="100" dur="500" fill="hold"/>
                                        <p:tgtEl>
                                          <p:spTgt spid="31"/>
                                        </p:tgtEl>
                                        <p:attrNameLst>
                                          <p:attrName>ppt_x</p:attrName>
                                        </p:attrNameLst>
                                      </p:cBhvr>
                                      <p:tavLst>
                                        <p:tav tm="0">
                                          <p:val>
                                            <p:strVal val="#ppt_x"/>
                                          </p:val>
                                        </p:tav>
                                        <p:tav tm="100000">
                                          <p:val>
                                            <p:strVal val="#ppt_x"/>
                                          </p:val>
                                        </p:tav>
                                      </p:tavLst>
                                    </p:anim>
                                    <p:anim calcmode="lin" valueType="num">
                                      <p:cBhvr additive="base">
                                        <p:cTn id="101" dur="500" fill="hold"/>
                                        <p:tgtEl>
                                          <p:spTgt spid="31"/>
                                        </p:tgtEl>
                                        <p:attrNameLst>
                                          <p:attrName>ppt_y</p:attrName>
                                        </p:attrNameLst>
                                      </p:cBhvr>
                                      <p:tavLst>
                                        <p:tav tm="0">
                                          <p:val>
                                            <p:strVal val="1+#ppt_h/2"/>
                                          </p:val>
                                        </p:tav>
                                        <p:tav tm="100000">
                                          <p:val>
                                            <p:strVal val="#ppt_y"/>
                                          </p:val>
                                        </p:tav>
                                      </p:tavLst>
                                    </p:anim>
                                  </p:childTnLst>
                                </p:cTn>
                              </p:par>
                              <p:par>
                                <p:cTn id="102" presetID="2" presetClass="entr" presetSubtype="4"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anim calcmode="lin" valueType="num">
                                      <p:cBhvr additive="base">
                                        <p:cTn id="104" dur="500" fill="hold"/>
                                        <p:tgtEl>
                                          <p:spTgt spid="33"/>
                                        </p:tgtEl>
                                        <p:attrNameLst>
                                          <p:attrName>ppt_x</p:attrName>
                                        </p:attrNameLst>
                                      </p:cBhvr>
                                      <p:tavLst>
                                        <p:tav tm="0">
                                          <p:val>
                                            <p:strVal val="#ppt_x"/>
                                          </p:val>
                                        </p:tav>
                                        <p:tav tm="100000">
                                          <p:val>
                                            <p:strVal val="#ppt_x"/>
                                          </p:val>
                                        </p:tav>
                                      </p:tavLst>
                                    </p:anim>
                                    <p:anim calcmode="lin" valueType="num">
                                      <p:cBhvr additive="base">
                                        <p:cTn id="105" dur="500" fill="hold"/>
                                        <p:tgtEl>
                                          <p:spTgt spid="33"/>
                                        </p:tgtEl>
                                        <p:attrNameLst>
                                          <p:attrName>ppt_y</p:attrName>
                                        </p:attrNameLst>
                                      </p:cBhvr>
                                      <p:tavLst>
                                        <p:tav tm="0">
                                          <p:val>
                                            <p:strVal val="1+#ppt_h/2"/>
                                          </p:val>
                                        </p:tav>
                                        <p:tav tm="100000">
                                          <p:val>
                                            <p:strVal val="#ppt_y"/>
                                          </p:val>
                                        </p:tav>
                                      </p:tavLst>
                                    </p:anim>
                                  </p:childTnLst>
                                </p:cTn>
                              </p:par>
                              <p:par>
                                <p:cTn id="106" presetID="2" presetClass="entr" presetSubtype="4" fill="hold" grpId="0" nodeType="withEffect">
                                  <p:stCondLst>
                                    <p:cond delay="0"/>
                                  </p:stCondLst>
                                  <p:childTnLst>
                                    <p:set>
                                      <p:cBhvr>
                                        <p:cTn id="107" dur="1" fill="hold">
                                          <p:stCondLst>
                                            <p:cond delay="0"/>
                                          </p:stCondLst>
                                        </p:cTn>
                                        <p:tgtEl>
                                          <p:spTgt spid="34"/>
                                        </p:tgtEl>
                                        <p:attrNameLst>
                                          <p:attrName>style.visibility</p:attrName>
                                        </p:attrNameLst>
                                      </p:cBhvr>
                                      <p:to>
                                        <p:strVal val="visible"/>
                                      </p:to>
                                    </p:set>
                                    <p:anim calcmode="lin" valueType="num">
                                      <p:cBhvr additive="base">
                                        <p:cTn id="108" dur="500" fill="hold"/>
                                        <p:tgtEl>
                                          <p:spTgt spid="34"/>
                                        </p:tgtEl>
                                        <p:attrNameLst>
                                          <p:attrName>ppt_x</p:attrName>
                                        </p:attrNameLst>
                                      </p:cBhvr>
                                      <p:tavLst>
                                        <p:tav tm="0">
                                          <p:val>
                                            <p:strVal val="#ppt_x"/>
                                          </p:val>
                                        </p:tav>
                                        <p:tav tm="100000">
                                          <p:val>
                                            <p:strVal val="#ppt_x"/>
                                          </p:val>
                                        </p:tav>
                                      </p:tavLst>
                                    </p:anim>
                                    <p:anim calcmode="lin" valueType="num">
                                      <p:cBhvr additive="base">
                                        <p:cTn id="109" dur="500" fill="hold"/>
                                        <p:tgtEl>
                                          <p:spTgt spid="34"/>
                                        </p:tgtEl>
                                        <p:attrNameLst>
                                          <p:attrName>ppt_y</p:attrName>
                                        </p:attrNameLst>
                                      </p:cBhvr>
                                      <p:tavLst>
                                        <p:tav tm="0">
                                          <p:val>
                                            <p:strVal val="1+#ppt_h/2"/>
                                          </p:val>
                                        </p:tav>
                                        <p:tav tm="100000">
                                          <p:val>
                                            <p:strVal val="#ppt_y"/>
                                          </p:val>
                                        </p:tav>
                                      </p:tavLst>
                                    </p:anim>
                                  </p:childTnLst>
                                </p:cTn>
                              </p:par>
                              <p:par>
                                <p:cTn id="110" presetID="2" presetClass="entr" presetSubtype="4" fill="hold" grpId="0" nodeType="withEffect">
                                  <p:stCondLst>
                                    <p:cond delay="0"/>
                                  </p:stCondLst>
                                  <p:childTnLst>
                                    <p:set>
                                      <p:cBhvr>
                                        <p:cTn id="111" dur="1" fill="hold">
                                          <p:stCondLst>
                                            <p:cond delay="0"/>
                                          </p:stCondLst>
                                        </p:cTn>
                                        <p:tgtEl>
                                          <p:spTgt spid="32"/>
                                        </p:tgtEl>
                                        <p:attrNameLst>
                                          <p:attrName>style.visibility</p:attrName>
                                        </p:attrNameLst>
                                      </p:cBhvr>
                                      <p:to>
                                        <p:strVal val="visible"/>
                                      </p:to>
                                    </p:set>
                                    <p:anim calcmode="lin" valueType="num">
                                      <p:cBhvr additive="base">
                                        <p:cTn id="112" dur="500" fill="hold"/>
                                        <p:tgtEl>
                                          <p:spTgt spid="32"/>
                                        </p:tgtEl>
                                        <p:attrNameLst>
                                          <p:attrName>ppt_x</p:attrName>
                                        </p:attrNameLst>
                                      </p:cBhvr>
                                      <p:tavLst>
                                        <p:tav tm="0">
                                          <p:val>
                                            <p:strVal val="#ppt_x"/>
                                          </p:val>
                                        </p:tav>
                                        <p:tav tm="100000">
                                          <p:val>
                                            <p:strVal val="#ppt_x"/>
                                          </p:val>
                                        </p:tav>
                                      </p:tavLst>
                                    </p:anim>
                                    <p:anim calcmode="lin" valueType="num">
                                      <p:cBhvr additive="base">
                                        <p:cTn id="113" dur="500" fill="hold"/>
                                        <p:tgtEl>
                                          <p:spTgt spid="32"/>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0"/>
                                  </p:stCondLst>
                                  <p:childTnLst>
                                    <p:set>
                                      <p:cBhvr>
                                        <p:cTn id="115" dur="1" fill="hold">
                                          <p:stCondLst>
                                            <p:cond delay="0"/>
                                          </p:stCondLst>
                                        </p:cTn>
                                        <p:tgtEl>
                                          <p:spTgt spid="35"/>
                                        </p:tgtEl>
                                        <p:attrNameLst>
                                          <p:attrName>style.visibility</p:attrName>
                                        </p:attrNameLst>
                                      </p:cBhvr>
                                      <p:to>
                                        <p:strVal val="visible"/>
                                      </p:to>
                                    </p:set>
                                    <p:anim calcmode="lin" valueType="num">
                                      <p:cBhvr additive="base">
                                        <p:cTn id="116" dur="500" fill="hold"/>
                                        <p:tgtEl>
                                          <p:spTgt spid="35"/>
                                        </p:tgtEl>
                                        <p:attrNameLst>
                                          <p:attrName>ppt_x</p:attrName>
                                        </p:attrNameLst>
                                      </p:cBhvr>
                                      <p:tavLst>
                                        <p:tav tm="0">
                                          <p:val>
                                            <p:strVal val="#ppt_x"/>
                                          </p:val>
                                        </p:tav>
                                        <p:tav tm="100000">
                                          <p:val>
                                            <p:strVal val="#ppt_x"/>
                                          </p:val>
                                        </p:tav>
                                      </p:tavLst>
                                    </p:anim>
                                    <p:anim calcmode="lin" valueType="num">
                                      <p:cBhvr additive="base">
                                        <p:cTn id="117" dur="500" fill="hold"/>
                                        <p:tgtEl>
                                          <p:spTgt spid="35"/>
                                        </p:tgtEl>
                                        <p:attrNameLst>
                                          <p:attrName>ppt_y</p:attrName>
                                        </p:attrNameLst>
                                      </p:cBhvr>
                                      <p:tavLst>
                                        <p:tav tm="0">
                                          <p:val>
                                            <p:strVal val="1+#ppt_h/2"/>
                                          </p:val>
                                        </p:tav>
                                        <p:tav tm="100000">
                                          <p:val>
                                            <p:strVal val="#ppt_y"/>
                                          </p:val>
                                        </p:tav>
                                      </p:tavLst>
                                    </p:anim>
                                  </p:childTnLst>
                                </p:cTn>
                              </p:par>
                              <p:par>
                                <p:cTn id="118" presetID="2" presetClass="entr" presetSubtype="4" fill="hold" grpId="0" nodeType="withEffect">
                                  <p:stCondLst>
                                    <p:cond delay="0"/>
                                  </p:stCondLst>
                                  <p:childTnLst>
                                    <p:set>
                                      <p:cBhvr>
                                        <p:cTn id="119" dur="1" fill="hold">
                                          <p:stCondLst>
                                            <p:cond delay="0"/>
                                          </p:stCondLst>
                                        </p:cTn>
                                        <p:tgtEl>
                                          <p:spTgt spid="36"/>
                                        </p:tgtEl>
                                        <p:attrNameLst>
                                          <p:attrName>style.visibility</p:attrName>
                                        </p:attrNameLst>
                                      </p:cBhvr>
                                      <p:to>
                                        <p:strVal val="visible"/>
                                      </p:to>
                                    </p:set>
                                    <p:anim calcmode="lin" valueType="num">
                                      <p:cBhvr additive="base">
                                        <p:cTn id="120" dur="500" fill="hold"/>
                                        <p:tgtEl>
                                          <p:spTgt spid="36"/>
                                        </p:tgtEl>
                                        <p:attrNameLst>
                                          <p:attrName>ppt_x</p:attrName>
                                        </p:attrNameLst>
                                      </p:cBhvr>
                                      <p:tavLst>
                                        <p:tav tm="0">
                                          <p:val>
                                            <p:strVal val="#ppt_x"/>
                                          </p:val>
                                        </p:tav>
                                        <p:tav tm="100000">
                                          <p:val>
                                            <p:strVal val="#ppt_x"/>
                                          </p:val>
                                        </p:tav>
                                      </p:tavLst>
                                    </p:anim>
                                    <p:anim calcmode="lin" valueType="num">
                                      <p:cBhvr additive="base">
                                        <p:cTn id="121" dur="500" fill="hold"/>
                                        <p:tgtEl>
                                          <p:spTgt spid="36"/>
                                        </p:tgtEl>
                                        <p:attrNameLst>
                                          <p:attrName>ppt_y</p:attrName>
                                        </p:attrNameLst>
                                      </p:cBhvr>
                                      <p:tavLst>
                                        <p:tav tm="0">
                                          <p:val>
                                            <p:strVal val="1+#ppt_h/2"/>
                                          </p:val>
                                        </p:tav>
                                        <p:tav tm="100000">
                                          <p:val>
                                            <p:strVal val="#ppt_y"/>
                                          </p:val>
                                        </p:tav>
                                      </p:tavLst>
                                    </p:anim>
                                  </p:childTnLst>
                                </p:cTn>
                              </p:par>
                              <p:par>
                                <p:cTn id="122" presetID="2" presetClass="entr" presetSubtype="4" fill="hold" grpId="0" nodeType="withEffect">
                                  <p:stCondLst>
                                    <p:cond delay="0"/>
                                  </p:stCondLst>
                                  <p:childTnLst>
                                    <p:set>
                                      <p:cBhvr>
                                        <p:cTn id="123" dur="1" fill="hold">
                                          <p:stCondLst>
                                            <p:cond delay="0"/>
                                          </p:stCondLst>
                                        </p:cTn>
                                        <p:tgtEl>
                                          <p:spTgt spid="37"/>
                                        </p:tgtEl>
                                        <p:attrNameLst>
                                          <p:attrName>style.visibility</p:attrName>
                                        </p:attrNameLst>
                                      </p:cBhvr>
                                      <p:to>
                                        <p:strVal val="visible"/>
                                      </p:to>
                                    </p:set>
                                    <p:anim calcmode="lin" valueType="num">
                                      <p:cBhvr additive="base">
                                        <p:cTn id="124" dur="500" fill="hold"/>
                                        <p:tgtEl>
                                          <p:spTgt spid="37"/>
                                        </p:tgtEl>
                                        <p:attrNameLst>
                                          <p:attrName>ppt_x</p:attrName>
                                        </p:attrNameLst>
                                      </p:cBhvr>
                                      <p:tavLst>
                                        <p:tav tm="0">
                                          <p:val>
                                            <p:strVal val="#ppt_x"/>
                                          </p:val>
                                        </p:tav>
                                        <p:tav tm="100000">
                                          <p:val>
                                            <p:strVal val="#ppt_x"/>
                                          </p:val>
                                        </p:tav>
                                      </p:tavLst>
                                    </p:anim>
                                    <p:anim calcmode="lin" valueType="num">
                                      <p:cBhvr additive="base">
                                        <p:cTn id="125"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4" fill="hold" nodeType="clickEffect">
                                  <p:stCondLst>
                                    <p:cond delay="0"/>
                                  </p:stCondLst>
                                  <p:childTnLst>
                                    <p:set>
                                      <p:cBhvr>
                                        <p:cTn id="129" dur="1" fill="hold">
                                          <p:stCondLst>
                                            <p:cond delay="0"/>
                                          </p:stCondLst>
                                        </p:cTn>
                                        <p:tgtEl>
                                          <p:spTgt spid="4"/>
                                        </p:tgtEl>
                                        <p:attrNameLst>
                                          <p:attrName>style.visibility</p:attrName>
                                        </p:attrNameLst>
                                      </p:cBhvr>
                                      <p:to>
                                        <p:strVal val="visible"/>
                                      </p:to>
                                    </p:set>
                                    <p:anim calcmode="lin" valueType="num">
                                      <p:cBhvr additive="base">
                                        <p:cTn id="130" dur="500" fill="hold"/>
                                        <p:tgtEl>
                                          <p:spTgt spid="4"/>
                                        </p:tgtEl>
                                        <p:attrNameLst>
                                          <p:attrName>ppt_x</p:attrName>
                                        </p:attrNameLst>
                                      </p:cBhvr>
                                      <p:tavLst>
                                        <p:tav tm="0">
                                          <p:val>
                                            <p:strVal val="#ppt_x"/>
                                          </p:val>
                                        </p:tav>
                                        <p:tav tm="100000">
                                          <p:val>
                                            <p:strVal val="#ppt_x"/>
                                          </p:val>
                                        </p:tav>
                                      </p:tavLst>
                                    </p:anim>
                                    <p:anim calcmode="lin" valueType="num">
                                      <p:cBhvr additive="base">
                                        <p:cTn id="13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nodeType="clickEffect">
                                  <p:stCondLst>
                                    <p:cond delay="0"/>
                                  </p:stCondLst>
                                  <p:childTnLst>
                                    <p:set>
                                      <p:cBhvr>
                                        <p:cTn id="135" dur="1" fill="hold">
                                          <p:stCondLst>
                                            <p:cond delay="0"/>
                                          </p:stCondLst>
                                        </p:cTn>
                                        <p:tgtEl>
                                          <p:spTgt spid="5"/>
                                        </p:tgtEl>
                                        <p:attrNameLst>
                                          <p:attrName>style.visibility</p:attrName>
                                        </p:attrNameLst>
                                      </p:cBhvr>
                                      <p:to>
                                        <p:strVal val="visible"/>
                                      </p:to>
                                    </p:set>
                                    <p:anim calcmode="lin" valueType="num">
                                      <p:cBhvr additive="base">
                                        <p:cTn id="136" dur="500" fill="hold"/>
                                        <p:tgtEl>
                                          <p:spTgt spid="5"/>
                                        </p:tgtEl>
                                        <p:attrNameLst>
                                          <p:attrName>ppt_x</p:attrName>
                                        </p:attrNameLst>
                                      </p:cBhvr>
                                      <p:tavLst>
                                        <p:tav tm="0">
                                          <p:val>
                                            <p:strVal val="#ppt_x"/>
                                          </p:val>
                                        </p:tav>
                                        <p:tav tm="100000">
                                          <p:val>
                                            <p:strVal val="#ppt_x"/>
                                          </p:val>
                                        </p:tav>
                                      </p:tavLst>
                                    </p:anim>
                                    <p:anim calcmode="lin" valueType="num">
                                      <p:cBhvr additive="base">
                                        <p:cTn id="137" dur="500" fill="hold"/>
                                        <p:tgtEl>
                                          <p:spTgt spid="5"/>
                                        </p:tgtEl>
                                        <p:attrNameLst>
                                          <p:attrName>ppt_y</p:attrName>
                                        </p:attrNameLst>
                                      </p:cBhvr>
                                      <p:tavLst>
                                        <p:tav tm="0">
                                          <p:val>
                                            <p:strVal val="1+#ppt_h/2"/>
                                          </p:val>
                                        </p:tav>
                                        <p:tav tm="100000">
                                          <p:val>
                                            <p:strVal val="#ppt_y"/>
                                          </p:val>
                                        </p:tav>
                                      </p:tavLst>
                                    </p:anim>
                                  </p:childTnLst>
                                </p:cTn>
                              </p:par>
                              <p:par>
                                <p:cTn id="138" presetID="2" presetClass="entr" presetSubtype="4" fill="hold" grpId="0" nodeType="withEffect">
                                  <p:stCondLst>
                                    <p:cond delay="0"/>
                                  </p:stCondLst>
                                  <p:childTnLst>
                                    <p:set>
                                      <p:cBhvr>
                                        <p:cTn id="139" dur="1" fill="hold">
                                          <p:stCondLst>
                                            <p:cond delay="0"/>
                                          </p:stCondLst>
                                        </p:cTn>
                                        <p:tgtEl>
                                          <p:spTgt spid="14"/>
                                        </p:tgtEl>
                                        <p:attrNameLst>
                                          <p:attrName>style.visibility</p:attrName>
                                        </p:attrNameLst>
                                      </p:cBhvr>
                                      <p:to>
                                        <p:strVal val="visible"/>
                                      </p:to>
                                    </p:set>
                                    <p:anim calcmode="lin" valueType="num">
                                      <p:cBhvr additive="base">
                                        <p:cTn id="140" dur="500" fill="hold"/>
                                        <p:tgtEl>
                                          <p:spTgt spid="14"/>
                                        </p:tgtEl>
                                        <p:attrNameLst>
                                          <p:attrName>ppt_x</p:attrName>
                                        </p:attrNameLst>
                                      </p:cBhvr>
                                      <p:tavLst>
                                        <p:tav tm="0">
                                          <p:val>
                                            <p:strVal val="#ppt_x"/>
                                          </p:val>
                                        </p:tav>
                                        <p:tav tm="100000">
                                          <p:val>
                                            <p:strVal val="#ppt_x"/>
                                          </p:val>
                                        </p:tav>
                                      </p:tavLst>
                                    </p:anim>
                                    <p:anim calcmode="lin" valueType="num">
                                      <p:cBhvr additive="base">
                                        <p:cTn id="14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2" presetClass="entr" presetSubtype="4" fill="hold" grpId="0" nodeType="clickEffect">
                                  <p:stCondLst>
                                    <p:cond delay="0"/>
                                  </p:stCondLst>
                                  <p:childTnLst>
                                    <p:set>
                                      <p:cBhvr>
                                        <p:cTn id="145" dur="1" fill="hold">
                                          <p:stCondLst>
                                            <p:cond delay="0"/>
                                          </p:stCondLst>
                                        </p:cTn>
                                        <p:tgtEl>
                                          <p:spTgt spid="16"/>
                                        </p:tgtEl>
                                        <p:attrNameLst>
                                          <p:attrName>style.visibility</p:attrName>
                                        </p:attrNameLst>
                                      </p:cBhvr>
                                      <p:to>
                                        <p:strVal val="visible"/>
                                      </p:to>
                                    </p:set>
                                    <p:anim calcmode="lin" valueType="num">
                                      <p:cBhvr additive="base">
                                        <p:cTn id="146" dur="500" fill="hold"/>
                                        <p:tgtEl>
                                          <p:spTgt spid="16"/>
                                        </p:tgtEl>
                                        <p:attrNameLst>
                                          <p:attrName>ppt_x</p:attrName>
                                        </p:attrNameLst>
                                      </p:cBhvr>
                                      <p:tavLst>
                                        <p:tav tm="0">
                                          <p:val>
                                            <p:strVal val="#ppt_x"/>
                                          </p:val>
                                        </p:tav>
                                        <p:tav tm="100000">
                                          <p:val>
                                            <p:strVal val="#ppt_x"/>
                                          </p:val>
                                        </p:tav>
                                      </p:tavLst>
                                    </p:anim>
                                    <p:anim calcmode="lin" valueType="num">
                                      <p:cBhvr additive="base">
                                        <p:cTn id="147"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2" presetClass="entr" presetSubtype="4" fill="hold" grpId="0" nodeType="clickEffect">
                                  <p:stCondLst>
                                    <p:cond delay="0"/>
                                  </p:stCondLst>
                                  <p:childTnLst>
                                    <p:set>
                                      <p:cBhvr>
                                        <p:cTn id="151" dur="1" fill="hold">
                                          <p:stCondLst>
                                            <p:cond delay="0"/>
                                          </p:stCondLst>
                                        </p:cTn>
                                        <p:tgtEl>
                                          <p:spTgt spid="15"/>
                                        </p:tgtEl>
                                        <p:attrNameLst>
                                          <p:attrName>style.visibility</p:attrName>
                                        </p:attrNameLst>
                                      </p:cBhvr>
                                      <p:to>
                                        <p:strVal val="visible"/>
                                      </p:to>
                                    </p:set>
                                    <p:anim calcmode="lin" valueType="num">
                                      <p:cBhvr additive="base">
                                        <p:cTn id="152" dur="500" fill="hold"/>
                                        <p:tgtEl>
                                          <p:spTgt spid="15"/>
                                        </p:tgtEl>
                                        <p:attrNameLst>
                                          <p:attrName>ppt_x</p:attrName>
                                        </p:attrNameLst>
                                      </p:cBhvr>
                                      <p:tavLst>
                                        <p:tav tm="0">
                                          <p:val>
                                            <p:strVal val="#ppt_x"/>
                                          </p:val>
                                        </p:tav>
                                        <p:tav tm="100000">
                                          <p:val>
                                            <p:strVal val="#ppt_x"/>
                                          </p:val>
                                        </p:tav>
                                      </p:tavLst>
                                    </p:anim>
                                    <p:anim calcmode="lin" valueType="num">
                                      <p:cBhvr additive="base">
                                        <p:cTn id="15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presetID="2" presetClass="entr" presetSubtype="4" fill="hold" grpId="0" nodeType="clickEffect">
                                  <p:stCondLst>
                                    <p:cond delay="0"/>
                                  </p:stCondLst>
                                  <p:childTnLst>
                                    <p:set>
                                      <p:cBhvr>
                                        <p:cTn id="157" dur="1" fill="hold">
                                          <p:stCondLst>
                                            <p:cond delay="0"/>
                                          </p:stCondLst>
                                        </p:cTn>
                                        <p:tgtEl>
                                          <p:spTgt spid="17"/>
                                        </p:tgtEl>
                                        <p:attrNameLst>
                                          <p:attrName>style.visibility</p:attrName>
                                        </p:attrNameLst>
                                      </p:cBhvr>
                                      <p:to>
                                        <p:strVal val="visible"/>
                                      </p:to>
                                    </p:set>
                                    <p:anim calcmode="lin" valueType="num">
                                      <p:cBhvr additive="base">
                                        <p:cTn id="158" dur="500" fill="hold"/>
                                        <p:tgtEl>
                                          <p:spTgt spid="17"/>
                                        </p:tgtEl>
                                        <p:attrNameLst>
                                          <p:attrName>ppt_x</p:attrName>
                                        </p:attrNameLst>
                                      </p:cBhvr>
                                      <p:tavLst>
                                        <p:tav tm="0">
                                          <p:val>
                                            <p:strVal val="#ppt_x"/>
                                          </p:val>
                                        </p:tav>
                                        <p:tav tm="100000">
                                          <p:val>
                                            <p:strVal val="#ppt_x"/>
                                          </p:val>
                                        </p:tav>
                                      </p:tavLst>
                                    </p:anim>
                                    <p:anim calcmode="lin" valueType="num">
                                      <p:cBhvr additive="base">
                                        <p:cTn id="15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60" fill="hold">
                      <p:stCondLst>
                        <p:cond delay="indefinite"/>
                      </p:stCondLst>
                      <p:childTnLst>
                        <p:par>
                          <p:cTn id="161" fill="hold">
                            <p:stCondLst>
                              <p:cond delay="0"/>
                            </p:stCondLst>
                            <p:childTnLst>
                              <p:par>
                                <p:cTn id="162" presetID="2" presetClass="entr" presetSubtype="4" fill="hold" nodeType="clickEffect">
                                  <p:stCondLst>
                                    <p:cond delay="0"/>
                                  </p:stCondLst>
                                  <p:childTnLst>
                                    <p:set>
                                      <p:cBhvr>
                                        <p:cTn id="163" dur="1" fill="hold">
                                          <p:stCondLst>
                                            <p:cond delay="0"/>
                                          </p:stCondLst>
                                        </p:cTn>
                                        <p:tgtEl>
                                          <p:spTgt spid="6"/>
                                        </p:tgtEl>
                                        <p:attrNameLst>
                                          <p:attrName>style.visibility</p:attrName>
                                        </p:attrNameLst>
                                      </p:cBhvr>
                                      <p:to>
                                        <p:strVal val="visible"/>
                                      </p:to>
                                    </p:set>
                                    <p:anim calcmode="lin" valueType="num">
                                      <p:cBhvr additive="base">
                                        <p:cTn id="164" dur="500" fill="hold"/>
                                        <p:tgtEl>
                                          <p:spTgt spid="6"/>
                                        </p:tgtEl>
                                        <p:attrNameLst>
                                          <p:attrName>ppt_x</p:attrName>
                                        </p:attrNameLst>
                                      </p:cBhvr>
                                      <p:tavLst>
                                        <p:tav tm="0">
                                          <p:val>
                                            <p:strVal val="#ppt_x"/>
                                          </p:val>
                                        </p:tav>
                                        <p:tav tm="100000">
                                          <p:val>
                                            <p:strVal val="#ppt_x"/>
                                          </p:val>
                                        </p:tav>
                                      </p:tavLst>
                                    </p:anim>
                                    <p:anim calcmode="lin" valueType="num">
                                      <p:cBhvr additive="base">
                                        <p:cTn id="16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6" fill="hold">
                      <p:stCondLst>
                        <p:cond delay="indefinite"/>
                      </p:stCondLst>
                      <p:childTnLst>
                        <p:par>
                          <p:cTn id="167" fill="hold">
                            <p:stCondLst>
                              <p:cond delay="0"/>
                            </p:stCondLst>
                            <p:childTnLst>
                              <p:par>
                                <p:cTn id="168" presetID="2" presetClass="entr" presetSubtype="4" fill="hold" nodeType="clickEffect">
                                  <p:stCondLst>
                                    <p:cond delay="0"/>
                                  </p:stCondLst>
                                  <p:childTnLst>
                                    <p:set>
                                      <p:cBhvr>
                                        <p:cTn id="169" dur="1" fill="hold">
                                          <p:stCondLst>
                                            <p:cond delay="0"/>
                                          </p:stCondLst>
                                        </p:cTn>
                                        <p:tgtEl>
                                          <p:spTgt spid="7"/>
                                        </p:tgtEl>
                                        <p:attrNameLst>
                                          <p:attrName>style.visibility</p:attrName>
                                        </p:attrNameLst>
                                      </p:cBhvr>
                                      <p:to>
                                        <p:strVal val="visible"/>
                                      </p:to>
                                    </p:set>
                                    <p:anim calcmode="lin" valueType="num">
                                      <p:cBhvr additive="base">
                                        <p:cTn id="170" dur="500" fill="hold"/>
                                        <p:tgtEl>
                                          <p:spTgt spid="7"/>
                                        </p:tgtEl>
                                        <p:attrNameLst>
                                          <p:attrName>ppt_x</p:attrName>
                                        </p:attrNameLst>
                                      </p:cBhvr>
                                      <p:tavLst>
                                        <p:tav tm="0">
                                          <p:val>
                                            <p:strVal val="#ppt_x"/>
                                          </p:val>
                                        </p:tav>
                                        <p:tav tm="100000">
                                          <p:val>
                                            <p:strVal val="#ppt_x"/>
                                          </p:val>
                                        </p:tav>
                                      </p:tavLst>
                                    </p:anim>
                                    <p:anim calcmode="lin" valueType="num">
                                      <p:cBhvr additive="base">
                                        <p:cTn id="17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1748119" y="136478"/>
            <a:ext cx="7463116"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Times New Roman" panose="02020603050405020304" pitchFamily="18" charset="0"/>
                <a:ea typeface="Calibri" panose="020F0502020204030204" pitchFamily="34" charset="0"/>
              </a:rPr>
              <a:t>D</a:t>
            </a:r>
            <a:r>
              <a:rPr lang="fr-FR" sz="2400" b="1" dirty="0">
                <a:effectLst/>
                <a:latin typeface="Times New Roman" panose="02020603050405020304" pitchFamily="18" charset="0"/>
                <a:ea typeface="Calibri" panose="020F0502020204030204" pitchFamily="34" charset="0"/>
              </a:rPr>
              <a:t>ispositifs et mécanismes de sécurité couramment utilisés:</a:t>
            </a:r>
            <a:endParaRPr lang="en-US" sz="3200" b="1" dirty="0">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6D4A0C22-B831-41E6-B8E0-B099D28A6AD7}"/>
              </a:ext>
            </a:extLst>
          </p:cNvPr>
          <p:cNvPicPr>
            <a:picLocks noChangeAspect="1"/>
          </p:cNvPicPr>
          <p:nvPr/>
        </p:nvPicPr>
        <p:blipFill>
          <a:blip r:embed="rId3"/>
          <a:stretch>
            <a:fillRect/>
          </a:stretch>
        </p:blipFill>
        <p:spPr>
          <a:xfrm>
            <a:off x="1447800" y="996287"/>
            <a:ext cx="9296400" cy="5845126"/>
          </a:xfrm>
          <a:prstGeom prst="rect">
            <a:avLst/>
          </a:prstGeom>
        </p:spPr>
      </p:pic>
      <p:sp>
        <p:nvSpPr>
          <p:cNvPr id="4" name="Ellipse 3">
            <a:extLst>
              <a:ext uri="{FF2B5EF4-FFF2-40B4-BE49-F238E27FC236}">
                <a16:creationId xmlns:a16="http://schemas.microsoft.com/office/drawing/2014/main" id="{605CC0BA-5E43-45F7-9129-400DA1288111}"/>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26</a:t>
            </a:r>
          </a:p>
        </p:txBody>
      </p:sp>
    </p:spTree>
    <p:extLst>
      <p:ext uri="{BB962C8B-B14F-4D97-AF65-F5344CB8AC3E}">
        <p14:creationId xmlns:p14="http://schemas.microsoft.com/office/powerpoint/2010/main" val="28185407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1748119" y="136478"/>
            <a:ext cx="7463116"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effectLst/>
                <a:latin typeface="Times New Roman" panose="02020603050405020304" pitchFamily="18" charset="0"/>
                <a:ea typeface="Calibri" panose="020F0502020204030204" pitchFamily="34" charset="0"/>
              </a:rPr>
              <a:t>Bonnes pratiques et politiques de sécurité</a:t>
            </a:r>
          </a:p>
        </p:txBody>
      </p:sp>
      <p:sp>
        <p:nvSpPr>
          <p:cNvPr id="5" name="ZoneTexte 4">
            <a:extLst>
              <a:ext uri="{FF2B5EF4-FFF2-40B4-BE49-F238E27FC236}">
                <a16:creationId xmlns:a16="http://schemas.microsoft.com/office/drawing/2014/main" id="{07F4265D-D064-40CF-B998-569578D90E30}"/>
              </a:ext>
            </a:extLst>
          </p:cNvPr>
          <p:cNvSpPr txBox="1"/>
          <p:nvPr/>
        </p:nvSpPr>
        <p:spPr>
          <a:xfrm>
            <a:off x="1083212" y="1364708"/>
            <a:ext cx="10396025" cy="3732047"/>
          </a:xfrm>
          <a:prstGeom prst="rect">
            <a:avLst/>
          </a:prstGeom>
          <a:noFill/>
        </p:spPr>
        <p:txBody>
          <a:bodyPr wrap="square">
            <a:spAutoFit/>
          </a:bodyPr>
          <a:lstStyle/>
          <a:p>
            <a:pPr>
              <a:lnSpc>
                <a:spcPct val="107000"/>
              </a:lnSpc>
              <a:spcBef>
                <a:spcPts val="1200"/>
              </a:spcBef>
            </a:pPr>
            <a:r>
              <a:rPr lang="fr-FR" sz="2400" dirty="0"/>
              <a:t>Bonnes pratiques et politiques de sécurité</a:t>
            </a:r>
          </a:p>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Au-delà des outils techniques, il est essentiel d’adopter des bonnes pratiques. Cela commence par une évaluation régulière des risques et une gestion proactive des vulnérabilités. Les politiques de sécurité définissent les règles d’accès, imposent des méthodes d’authentification fortes, et organisent la gestion des identités.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La sensibilisation des utilisateurs est également cruciale, car beaucoup d’attaques exploitent des erreurs humaines. Former les employés à reconnaître les tentatives de phishing, à utiliser des mots de passe robustes et à respecter les procédures de sécurité réduit considérablement les risques.</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llipse 3">
            <a:extLst>
              <a:ext uri="{FF2B5EF4-FFF2-40B4-BE49-F238E27FC236}">
                <a16:creationId xmlns:a16="http://schemas.microsoft.com/office/drawing/2014/main" id="{F49F37E9-E7FB-4090-A304-A9743DCB95B6}"/>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27</a:t>
            </a:r>
          </a:p>
        </p:txBody>
      </p:sp>
    </p:spTree>
    <p:extLst>
      <p:ext uri="{BB962C8B-B14F-4D97-AF65-F5344CB8AC3E}">
        <p14:creationId xmlns:p14="http://schemas.microsoft.com/office/powerpoint/2010/main" val="7030561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chemin horizontal 1"/>
          <p:cNvSpPr/>
          <p:nvPr/>
        </p:nvSpPr>
        <p:spPr>
          <a:xfrm>
            <a:off x="3289109" y="136478"/>
            <a:ext cx="5595583" cy="859809"/>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sz="2400" b="1" dirty="0">
                <a:latin typeface="Times New Roman" panose="02020603050405020304" pitchFamily="18" charset="0"/>
                <a:cs typeface="Times New Roman" panose="02020603050405020304" pitchFamily="18" charset="0"/>
              </a:rPr>
              <a:t>Conclusion</a:t>
            </a:r>
            <a:endParaRPr lang="en-US" sz="2400" b="1" dirty="0">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D2EB44F3-CDD4-464A-8B36-83C95391D537}"/>
              </a:ext>
            </a:extLst>
          </p:cNvPr>
          <p:cNvSpPr txBox="1"/>
          <p:nvPr/>
        </p:nvSpPr>
        <p:spPr>
          <a:xfrm>
            <a:off x="900332" y="1322363"/>
            <a:ext cx="10677378" cy="3234283"/>
          </a:xfrm>
          <a:prstGeom prst="rect">
            <a:avLst/>
          </a:prstGeom>
          <a:noFill/>
        </p:spPr>
        <p:txBody>
          <a:bodyPr wrap="square">
            <a:spAutoFit/>
          </a:bodyPr>
          <a:lstStyle/>
          <a:p>
            <a:pPr>
              <a:lnSpc>
                <a:spcPct val="107000"/>
              </a:lnSpc>
              <a:spcAft>
                <a:spcPts val="800"/>
              </a:spcAft>
            </a:pPr>
            <a:r>
              <a:rPr lang="fr-FR" sz="2400" dirty="0">
                <a:effectLst/>
                <a:latin typeface="Times New Roman" panose="02020603050405020304" pitchFamily="18" charset="0"/>
                <a:ea typeface="Calibri" panose="020F0502020204030204" pitchFamily="34" charset="0"/>
                <a:cs typeface="Times New Roman" panose="02020603050405020304" pitchFamily="18" charset="0"/>
              </a:rPr>
              <a:t>En résumé, la sécurité des réseaux informatiques est un domaine complexe qui nécessite une approche globale. Les menaces sont nombreuses et évoluent constamment, mais grâce à des dispositifs comme les firewalls, IDS, VPN, et à des pratiques rigoureuses, il est possible de protéger efficacement les réseaux. La combinaison de technologies avancées, de politiques adaptées et de la sensibilisation des utilisateurs constitue la meilleure défense contre les cyberattaques. Face à l’évolution rapide des menaces, il est indispensable de rester vigilant et d’adapter continuellement les mesures de sécurité. </a:t>
            </a:r>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Ellipse 3">
            <a:extLst>
              <a:ext uri="{FF2B5EF4-FFF2-40B4-BE49-F238E27FC236}">
                <a16:creationId xmlns:a16="http://schemas.microsoft.com/office/drawing/2014/main" id="{8FC0DEB3-DB46-45CB-838E-3789E21E9FA0}"/>
              </a:ext>
            </a:extLst>
          </p:cNvPr>
          <p:cNvSpPr/>
          <p:nvPr/>
        </p:nvSpPr>
        <p:spPr>
          <a:xfrm>
            <a:off x="11173570" y="5940258"/>
            <a:ext cx="736979" cy="609281"/>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fr-FR" sz="2400" b="1" dirty="0">
                <a:latin typeface="Times New Roman" panose="02020603050405020304" pitchFamily="18" charset="0"/>
                <a:cs typeface="Times New Roman" panose="02020603050405020304" pitchFamily="18" charset="0"/>
              </a:rPr>
              <a:t>28</a:t>
            </a:r>
          </a:p>
        </p:txBody>
      </p:sp>
    </p:spTree>
    <p:extLst>
      <p:ext uri="{BB962C8B-B14F-4D97-AF65-F5344CB8AC3E}">
        <p14:creationId xmlns:p14="http://schemas.microsoft.com/office/powerpoint/2010/main" val="1339056811"/>
      </p:ext>
    </p:extLst>
  </p:cSld>
  <p:clrMapOvr>
    <a:masterClrMapping/>
  </p:clrMapOvr>
  <p:transition spd="med">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rotWithShape="1">
          <a:blip r:embed="rId3">
            <a:extLst>
              <a:ext uri="{28A0092B-C50C-407E-A947-70E740481C1C}">
                <a14:useLocalDpi xmlns:a14="http://schemas.microsoft.com/office/drawing/2010/main" val="0"/>
              </a:ext>
            </a:extLst>
          </a:blip>
          <a:srcRect l="2514" t="1489" r="419" b="20995"/>
          <a:stretch/>
        </p:blipFill>
        <p:spPr>
          <a:xfrm>
            <a:off x="6833549" y="481294"/>
            <a:ext cx="4867128" cy="4943688"/>
          </a:xfrm>
          <a:prstGeom prst="ellipse">
            <a:avLst/>
          </a:prstGeom>
          <a:ln>
            <a:noFill/>
          </a:ln>
          <a:effectLst>
            <a:outerShdw blurRad="190500" dist="228600" dir="2700000" algn="ctr">
              <a:srgbClr val="000000">
                <a:alpha val="30000"/>
              </a:srgbClr>
            </a:outerShdw>
            <a:softEdge rad="112500"/>
          </a:effectLst>
          <a:scene3d>
            <a:camera prst="orthographicFront">
              <a:rot lat="0" lon="0" rev="0"/>
            </a:camera>
            <a:lightRig rig="glow" dir="t">
              <a:rot lat="0" lon="0" rev="4800000"/>
            </a:lightRig>
          </a:scene3d>
          <a:sp3d prstMaterial="matte">
            <a:bevelT w="127000" h="63500"/>
          </a:sp3d>
        </p:spPr>
      </p:pic>
      <p:pic>
        <p:nvPicPr>
          <p:cNvPr id="3" name="Image 2"/>
          <p:cNvPicPr>
            <a:picLocks noChangeAspect="1"/>
          </p:cNvPicPr>
          <p:nvPr/>
        </p:nvPicPr>
        <p:blipFill rotWithShape="1">
          <a:blip r:embed="rId4">
            <a:extLst>
              <a:ext uri="{28A0092B-C50C-407E-A947-70E740481C1C}">
                <a14:useLocalDpi xmlns:a14="http://schemas.microsoft.com/office/drawing/2010/main" val="0"/>
              </a:ext>
            </a:extLst>
          </a:blip>
          <a:srcRect t="59522" b="11743"/>
          <a:stretch/>
        </p:blipFill>
        <p:spPr>
          <a:xfrm>
            <a:off x="0" y="5807121"/>
            <a:ext cx="12192000" cy="1050879"/>
          </a:xfrm>
          <a:prstGeom prst="rect">
            <a:avLst/>
          </a:prstGeom>
        </p:spPr>
      </p:pic>
      <p:sp>
        <p:nvSpPr>
          <p:cNvPr id="4" name="Rectangle 3"/>
          <p:cNvSpPr/>
          <p:nvPr/>
        </p:nvSpPr>
        <p:spPr>
          <a:xfrm>
            <a:off x="1226662" y="481294"/>
            <a:ext cx="4980722" cy="4928978"/>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lnSpc>
                <a:spcPct val="150000"/>
              </a:lnSpc>
            </a:pPr>
            <a:r>
              <a:rPr lang="fr-FR" sz="5400" b="1" cap="none" spc="0" dirty="0">
                <a:ln/>
                <a:effectLst/>
                <a:latin typeface="Times New Roman" panose="02020603050405020304" pitchFamily="18" charset="0"/>
                <a:cs typeface="Times New Roman" panose="02020603050405020304" pitchFamily="18" charset="0"/>
              </a:rPr>
              <a:t>MERCI </a:t>
            </a:r>
          </a:p>
          <a:p>
            <a:pPr algn="ctr">
              <a:lnSpc>
                <a:spcPct val="150000"/>
              </a:lnSpc>
            </a:pPr>
            <a:r>
              <a:rPr lang="fr-FR" sz="5400" b="1" cap="none" spc="0" dirty="0">
                <a:ln/>
                <a:effectLst/>
                <a:latin typeface="Times New Roman" panose="02020603050405020304" pitchFamily="18" charset="0"/>
                <a:cs typeface="Times New Roman" panose="02020603050405020304" pitchFamily="18" charset="0"/>
              </a:rPr>
              <a:t>POUR</a:t>
            </a:r>
          </a:p>
          <a:p>
            <a:pPr algn="ctr">
              <a:lnSpc>
                <a:spcPct val="150000"/>
              </a:lnSpc>
            </a:pPr>
            <a:r>
              <a:rPr lang="fr-FR" sz="5400" b="1" dirty="0">
                <a:ln/>
                <a:latin typeface="Times New Roman" panose="02020603050405020304" pitchFamily="18" charset="0"/>
                <a:cs typeface="Times New Roman" panose="02020603050405020304" pitchFamily="18" charset="0"/>
              </a:rPr>
              <a:t>VOTRE</a:t>
            </a:r>
          </a:p>
          <a:p>
            <a:pPr algn="ctr">
              <a:lnSpc>
                <a:spcPct val="150000"/>
              </a:lnSpc>
            </a:pPr>
            <a:r>
              <a:rPr lang="fr-FR" sz="5400" b="1" cap="none" spc="0" dirty="0">
                <a:ln/>
                <a:effectLst/>
                <a:latin typeface="Times New Roman" panose="02020603050405020304" pitchFamily="18" charset="0"/>
                <a:cs typeface="Times New Roman" panose="02020603050405020304" pitchFamily="18" charset="0"/>
              </a:rPr>
              <a:t>ATTENTION!!!</a:t>
            </a:r>
          </a:p>
        </p:txBody>
      </p:sp>
    </p:spTree>
    <p:extLst>
      <p:ext uri="{BB962C8B-B14F-4D97-AF65-F5344CB8AC3E}">
        <p14:creationId xmlns:p14="http://schemas.microsoft.com/office/powerpoint/2010/main" val="3487223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2348</TotalTime>
  <Words>1430</Words>
  <Application>Microsoft Office PowerPoint</Application>
  <PresentationFormat>Grand écran</PresentationFormat>
  <Paragraphs>210</Paragraphs>
  <Slides>30</Slides>
  <Notes>30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30</vt:i4>
      </vt:variant>
    </vt:vector>
  </HeadingPairs>
  <TitlesOfParts>
    <vt:vector size="36" baseType="lpstr">
      <vt:lpstr>Arial</vt:lpstr>
      <vt:lpstr>Calibri</vt:lpstr>
      <vt:lpstr>Symbol</vt:lpstr>
      <vt:lpstr>Times New Roman</vt:lpstr>
      <vt:lpstr>Tw Cen MT</vt:lpstr>
      <vt:lpstr>Circuit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MARIKO DJARA</dc:creator>
  <cp:lastModifiedBy>BAGAOUSSOU</cp:lastModifiedBy>
  <cp:revision>78</cp:revision>
  <dcterms:created xsi:type="dcterms:W3CDTF">2024-12-28T17:30:22Z</dcterms:created>
  <dcterms:modified xsi:type="dcterms:W3CDTF">2025-06-26T11:19:32Z</dcterms:modified>
</cp:coreProperties>
</file>
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handoutMasterIdLst>
    <p:handoutMasterId r:id="rId31"/>
  </p:handoutMasterIdLst>
  <p:sldIdLst>
    <p:sldId id="259" r:id="rId2"/>
    <p:sldId id="260" r:id="rId3"/>
    <p:sldId id="264" r:id="rId4"/>
    <p:sldId id="265" r:id="rId5"/>
    <p:sldId id="261" r:id="rId6"/>
    <p:sldId id="262" r:id="rId7"/>
    <p:sldId id="267" r:id="rId8"/>
    <p:sldId id="277" r:id="rId9"/>
    <p:sldId id="266" r:id="rId10"/>
    <p:sldId id="268" r:id="rId11"/>
    <p:sldId id="263" r:id="rId12"/>
    <p:sldId id="256" r:id="rId13"/>
    <p:sldId id="269" r:id="rId14"/>
    <p:sldId id="281" r:id="rId15"/>
    <p:sldId id="270" r:id="rId16"/>
    <p:sldId id="278" r:id="rId17"/>
    <p:sldId id="282" r:id="rId18"/>
    <p:sldId id="279" r:id="rId19"/>
    <p:sldId id="280" r:id="rId20"/>
    <p:sldId id="271" r:id="rId21"/>
    <p:sldId id="283" r:id="rId22"/>
    <p:sldId id="272" r:id="rId23"/>
    <p:sldId id="257" r:id="rId24"/>
    <p:sldId id="274" r:id="rId25"/>
    <p:sldId id="275" r:id="rId26"/>
    <p:sldId id="273" r:id="rId27"/>
    <p:sldId id="258" r:id="rId28"/>
    <p:sldId id="276"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222911E8-1087-4E20-9338-C35CA1B5835E}">
          <p14:sldIdLst>
            <p14:sldId id="259"/>
            <p14:sldId id="260"/>
            <p14:sldId id="264"/>
            <p14:sldId id="265"/>
            <p14:sldId id="261"/>
            <p14:sldId id="262"/>
            <p14:sldId id="267"/>
            <p14:sldId id="277"/>
            <p14:sldId id="266"/>
            <p14:sldId id="268"/>
            <p14:sldId id="263"/>
            <p14:sldId id="256"/>
            <p14:sldId id="269"/>
            <p14:sldId id="281"/>
            <p14:sldId id="270"/>
            <p14:sldId id="278"/>
            <p14:sldId id="282"/>
            <p14:sldId id="279"/>
            <p14:sldId id="280"/>
            <p14:sldId id="271"/>
            <p14:sldId id="283"/>
            <p14:sldId id="272"/>
            <p14:sldId id="257"/>
            <p14:sldId id="274"/>
            <p14:sldId id="275"/>
            <p14:sldId id="273"/>
          </p14:sldIdLst>
        </p14:section>
        <p14:section name="Section sans titre" id="{DACD9679-86DB-4909-A15D-234DB3F42537}">
          <p14:sldIdLst>
            <p14:sldId id="258"/>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44" autoAdjust="0"/>
    <p:restoredTop sz="94643"/>
  </p:normalViewPr>
  <p:slideViewPr>
    <p:cSldViewPr snapToGrid="0" snapToObjects="1">
      <p:cViewPr varScale="1">
        <p:scale>
          <a:sx n="74" d="100"/>
          <a:sy n="74" d="100"/>
        </p:scale>
        <p:origin x="9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31F8A5CC-D7AB-EF57-1F42-81CA8C6DFFE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551F1D72-079D-C039-E8E6-7367E41D1C6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CDA030C-38E7-4DBA-85FC-319199DC0990}" type="datetimeFigureOut">
              <a:rPr lang="fr-FR" smtClean="0"/>
              <a:t>19/06/2025</a:t>
            </a:fld>
            <a:endParaRPr lang="fr-FR"/>
          </a:p>
        </p:txBody>
      </p:sp>
      <p:sp>
        <p:nvSpPr>
          <p:cNvPr id="4" name="Espace réservé du pied de page 3">
            <a:extLst>
              <a:ext uri="{FF2B5EF4-FFF2-40B4-BE49-F238E27FC236}">
                <a16:creationId xmlns:a16="http://schemas.microsoft.com/office/drawing/2014/main" id="{6B62FD6A-2346-9068-70A8-D6CA290166E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199644E9-4FDD-F0FC-678C-E06E589CDFC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A146F0-C161-4E49-9DF0-1E086944CF3F}" type="slidenum">
              <a:rPr lang="fr-FR" smtClean="0"/>
              <a:t>‹N°›</a:t>
            </a:fld>
            <a:endParaRPr lang="fr-FR"/>
          </a:p>
        </p:txBody>
      </p:sp>
    </p:spTree>
    <p:extLst>
      <p:ext uri="{BB962C8B-B14F-4D97-AF65-F5344CB8AC3E}">
        <p14:creationId xmlns:p14="http://schemas.microsoft.com/office/powerpoint/2010/main" val="20947786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70719B-D4D0-524D-B7AC-063E287448CF}" type="datetimeFigureOut">
              <a:rPr lang="fr-FR" smtClean="0"/>
              <a:t>19/06/2025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E3541-48F6-E242-97A2-EA6ED7AB9A0F}" type="slidenum">
              <a:rPr lang="fr-FR" smtClean="0"/>
              <a:t>‹N°›</a:t>
            </a:fld>
            <a:endParaRPr lang="fr-FR"/>
          </a:p>
        </p:txBody>
      </p:sp>
    </p:spTree>
    <p:extLst>
      <p:ext uri="{BB962C8B-B14F-4D97-AF65-F5344CB8AC3E}">
        <p14:creationId xmlns:p14="http://schemas.microsoft.com/office/powerpoint/2010/main" val="175272757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i="0" dirty="0">
                <a:solidFill>
                  <a:srgbClr val="404040"/>
                </a:solidFill>
                <a:effectLst/>
                <a:latin typeface="quote-cjk-patch"/>
              </a:rPr>
              <a:t>La norme aborde plusieurs aspects critiques :</a:t>
            </a:r>
          </a:p>
          <a:p>
            <a:endParaRPr lang="fr-FR" dirty="0"/>
          </a:p>
        </p:txBody>
      </p:sp>
      <p:sp>
        <p:nvSpPr>
          <p:cNvPr id="4" name="Espace réservé du numéro de diapositive 3"/>
          <p:cNvSpPr>
            <a:spLocks noGrp="1"/>
          </p:cNvSpPr>
          <p:nvPr>
            <p:ph type="sldNum" sz="quarter" idx="5"/>
          </p:nvPr>
        </p:nvSpPr>
        <p:spPr/>
        <p:txBody>
          <a:bodyPr/>
          <a:lstStyle/>
          <a:p>
            <a:fld id="{958E3541-48F6-E242-97A2-EA6ED7AB9A0F}" type="slidenum">
              <a:rPr lang="fr-FR" smtClean="0"/>
              <a:t>18</a:t>
            </a:fld>
            <a:endParaRPr lang="fr-FR"/>
          </a:p>
        </p:txBody>
      </p:sp>
      <p:sp>
        <p:nvSpPr>
          <p:cNvPr id="5" name="Espace réservé du pied de page 4">
            <a:extLst>
              <a:ext uri="{FF2B5EF4-FFF2-40B4-BE49-F238E27FC236}">
                <a16:creationId xmlns:a16="http://schemas.microsoft.com/office/drawing/2014/main" id="{BD4C3C81-455A-C09F-B054-548291C0CDF8}"/>
              </a:ext>
            </a:extLst>
          </p:cNvPr>
          <p:cNvSpPr>
            <a:spLocks noGrp="1"/>
          </p:cNvSpPr>
          <p:nvPr>
            <p:ph type="ftr" sz="quarter" idx="4"/>
          </p:nvPr>
        </p:nvSpPr>
        <p:spPr/>
        <p:txBody>
          <a:bodyPr/>
          <a:lstStyle/>
          <a:p>
            <a:endParaRPr lang="fr-FR"/>
          </a:p>
        </p:txBody>
      </p:sp>
    </p:spTree>
    <p:extLst>
      <p:ext uri="{BB962C8B-B14F-4D97-AF65-F5344CB8AC3E}">
        <p14:creationId xmlns:p14="http://schemas.microsoft.com/office/powerpoint/2010/main" val="3967418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kern="1200" dirty="0">
                <a:solidFill>
                  <a:schemeClr val="tx1"/>
                </a:solidFill>
                <a:effectLst/>
                <a:latin typeface="+mn-lt"/>
                <a:ea typeface="+mn-ea"/>
                <a:cs typeface="+mn-cs"/>
              </a:rPr>
              <a:t>Si l’audit est concluant et que l’organisation respecte les critères de la norme, elle obtient la certification ISO 27001. </a:t>
            </a:r>
            <a:r>
              <a:rPr lang="fr-FR" sz="1200" b="1" kern="1200">
                <a:solidFill>
                  <a:schemeClr val="tx1"/>
                </a:solidFill>
                <a:effectLst/>
                <a:latin typeface="+mn-lt"/>
                <a:ea typeface="+mn-ea"/>
                <a:cs typeface="+mn-cs"/>
              </a:rPr>
              <a:t>Cette</a:t>
            </a:r>
            <a:r>
              <a:rPr lang="fr-FR" sz="1200" kern="1200">
                <a:solidFill>
                  <a:schemeClr val="tx1"/>
                </a:solidFill>
                <a:effectLst/>
                <a:latin typeface="+mn-lt"/>
                <a:ea typeface="+mn-ea"/>
                <a:cs typeface="+mn-cs"/>
              </a:rPr>
              <a:t> </a:t>
            </a:r>
            <a:r>
              <a:rPr lang="fr-FR" sz="1200" b="1" kern="1200">
                <a:solidFill>
                  <a:schemeClr val="tx1"/>
                </a:solidFill>
                <a:effectLst/>
                <a:latin typeface="+mn-lt"/>
                <a:ea typeface="+mn-ea"/>
                <a:cs typeface="+mn-cs"/>
              </a:rPr>
              <a:t>certification est valide pour trois ans</a:t>
            </a:r>
            <a:r>
              <a:rPr lang="fr-FR" sz="1200" kern="1200">
                <a:solidFill>
                  <a:schemeClr val="tx1"/>
                </a:solidFill>
                <a:effectLst/>
                <a:latin typeface="+mn-lt"/>
                <a:ea typeface="+mn-ea"/>
                <a:cs typeface="+mn-cs"/>
              </a:rPr>
              <a:t>, </a:t>
            </a:r>
            <a:r>
              <a:rPr lang="fr-FR" sz="1200" b="1" kern="1200">
                <a:solidFill>
                  <a:schemeClr val="tx1"/>
                </a:solidFill>
                <a:effectLst/>
                <a:latin typeface="+mn-lt"/>
                <a:ea typeface="+mn-ea"/>
                <a:cs typeface="+mn-cs"/>
              </a:rPr>
              <a:t>avec des audits de suivi annuels</a:t>
            </a:r>
            <a:r>
              <a:rPr lang="fr-FR" sz="1200" kern="1200">
                <a:solidFill>
                  <a:schemeClr val="tx1"/>
                </a:solidFill>
                <a:effectLst/>
                <a:latin typeface="+mn-lt"/>
                <a:ea typeface="+mn-ea"/>
                <a:cs typeface="+mn-cs"/>
              </a:rPr>
              <a:t> pour s’assurer de la conformité continue.</a:t>
            </a:r>
            <a:r>
              <a:rPr lang="fr-FR">
                <a:effectLst/>
              </a:rPr>
              <a:t> </a:t>
            </a:r>
            <a:endParaRPr lang="fr-FR"/>
          </a:p>
        </p:txBody>
      </p:sp>
      <p:sp>
        <p:nvSpPr>
          <p:cNvPr id="4" name="Espace réservé du numéro de diapositive 3"/>
          <p:cNvSpPr>
            <a:spLocks noGrp="1"/>
          </p:cNvSpPr>
          <p:nvPr>
            <p:ph type="sldNum" sz="quarter" idx="10"/>
          </p:nvPr>
        </p:nvSpPr>
        <p:spPr/>
        <p:txBody>
          <a:bodyPr/>
          <a:lstStyle/>
          <a:p>
            <a:fld id="{958E3541-48F6-E242-97A2-EA6ED7AB9A0F}" type="slidenum">
              <a:rPr lang="fr-FR" smtClean="0"/>
              <a:t>23</a:t>
            </a:fld>
            <a:endParaRPr lang="fr-FR"/>
          </a:p>
        </p:txBody>
      </p:sp>
      <p:sp>
        <p:nvSpPr>
          <p:cNvPr id="5" name="Espace réservé du pied de page 4">
            <a:extLst>
              <a:ext uri="{FF2B5EF4-FFF2-40B4-BE49-F238E27FC236}">
                <a16:creationId xmlns:a16="http://schemas.microsoft.com/office/drawing/2014/main" id="{736D6586-97F2-97B5-656D-9500C308659D}"/>
              </a:ext>
            </a:extLst>
          </p:cNvPr>
          <p:cNvSpPr>
            <a:spLocks noGrp="1"/>
          </p:cNvSpPr>
          <p:nvPr>
            <p:ph type="ftr" sz="quarter" idx="4"/>
          </p:nvPr>
        </p:nvSpPr>
        <p:spPr/>
        <p:txBody>
          <a:bodyPr/>
          <a:lstStyle/>
          <a:p>
            <a:endParaRPr lang="fr-FR"/>
          </a:p>
        </p:txBody>
      </p:sp>
    </p:spTree>
    <p:extLst>
      <p:ext uri="{BB962C8B-B14F-4D97-AF65-F5344CB8AC3E}">
        <p14:creationId xmlns:p14="http://schemas.microsoft.com/office/powerpoint/2010/main" val="1059200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fr-FR"/>
              <a:t>Cliquez et modifiez le titre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endParaRPr lang="en-US" dirty="0"/>
          </a:p>
        </p:txBody>
      </p:sp>
      <p:sp>
        <p:nvSpPr>
          <p:cNvPr id="4" name="Date Placeholder 3"/>
          <p:cNvSpPr>
            <a:spLocks noGrp="1"/>
          </p:cNvSpPr>
          <p:nvPr>
            <p:ph type="dt" sz="half" idx="10"/>
          </p:nvPr>
        </p:nvSpPr>
        <p:spPr/>
        <p:txBody>
          <a:bodyPr/>
          <a:lstStyle/>
          <a:p>
            <a:fld id="{6405CE8D-271B-49A5-A36F-40C3BA6E6967}" type="datetime1">
              <a:rPr lang="en-US" smtClean="0"/>
              <a:t>6/19/2025</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r>
              <a:rPr lang="en-US"/>
              <a:t>MAIGA A 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Cliquez et modifiez le titre</a:t>
            </a:r>
            <a:endParaRPr lang="en-US" dirty="0"/>
          </a:p>
        </p:txBody>
      </p:sp>
      <p:sp>
        <p:nvSpPr>
          <p:cNvPr id="3" name="Content Placeholder 2"/>
          <p:cNvSpPr>
            <a:spLocks noGrp="1"/>
          </p:cNvSpPr>
          <p:nvPr>
            <p:ph idx="1"/>
          </p:nvPr>
        </p:nvSpPr>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D9B3B2E-82FF-4236-BAFE-FAE7A2CBF245}" type="datetime1">
              <a:rPr lang="en-US" smtClean="0"/>
              <a:t>6/19/2025</a:t>
            </a:fld>
            <a:endParaRPr lang="en-US" dirty="0"/>
          </a:p>
        </p:txBody>
      </p:sp>
      <p:sp>
        <p:nvSpPr>
          <p:cNvPr id="5" name="Footer Placeholder 4"/>
          <p:cNvSpPr>
            <a:spLocks noGrp="1"/>
          </p:cNvSpPr>
          <p:nvPr>
            <p:ph type="ftr" sz="quarter" idx="11"/>
          </p:nvPr>
        </p:nvSpPr>
        <p:spPr/>
        <p:txBody>
          <a:bodyPr/>
          <a:lstStyle/>
          <a:p>
            <a:r>
              <a:rPr lang="en-US"/>
              <a:t>MAIGA A S</a:t>
            </a:r>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fr-FR"/>
              <a:t>Cliquez et modifiez le titre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C1FBDA6-DC23-4636-B091-7E94CCDB95A3}" type="datetime1">
              <a:rPr lang="en-US" smtClean="0"/>
              <a:t>6/19/2025</a:t>
            </a:fld>
            <a:endParaRPr lang="en-US" dirty="0"/>
          </a:p>
        </p:txBody>
      </p:sp>
      <p:sp>
        <p:nvSpPr>
          <p:cNvPr id="5" name="Footer Placeholder 4"/>
          <p:cNvSpPr>
            <a:spLocks noGrp="1"/>
          </p:cNvSpPr>
          <p:nvPr>
            <p:ph type="ftr" sz="quarter" idx="11"/>
          </p:nvPr>
        </p:nvSpPr>
        <p:spPr/>
        <p:txBody>
          <a:bodyPr/>
          <a:lstStyle/>
          <a:p>
            <a:r>
              <a:rPr lang="en-US"/>
              <a:t>MAIGA A 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fr-FR"/>
              <a:t>Cliquez et modifiez le titre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F52EE358-7C1C-4E01-B604-88EA7E3DB688}" type="datetime1">
              <a:rPr lang="en-US" smtClean="0"/>
              <a:t>6/19/2025</a:t>
            </a:fld>
            <a:endParaRPr lang="en-US" dirty="0"/>
          </a:p>
        </p:txBody>
      </p:sp>
      <p:sp>
        <p:nvSpPr>
          <p:cNvPr id="6" name="Footer Placeholder 5"/>
          <p:cNvSpPr>
            <a:spLocks noGrp="1"/>
          </p:cNvSpPr>
          <p:nvPr>
            <p:ph type="ftr" sz="quarter" idx="11"/>
          </p:nvPr>
        </p:nvSpPr>
        <p:spPr/>
        <p:txBody>
          <a:bodyPr/>
          <a:lstStyle/>
          <a:p>
            <a:r>
              <a:rPr lang="en-US"/>
              <a:t>MAIGA A S</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Cliquez et modifiez le titre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72D63FD8-4733-433B-B2FF-FD5851FE5E4A}" type="datetime1">
              <a:rPr lang="en-US" smtClean="0"/>
              <a:t>6/19/2025</a:t>
            </a:fld>
            <a:endParaRPr lang="en-US" dirty="0"/>
          </a:p>
        </p:txBody>
      </p:sp>
      <p:sp>
        <p:nvSpPr>
          <p:cNvPr id="8" name="Footer Placeholder 7"/>
          <p:cNvSpPr>
            <a:spLocks noGrp="1"/>
          </p:cNvSpPr>
          <p:nvPr>
            <p:ph type="ftr" sz="quarter" idx="11"/>
          </p:nvPr>
        </p:nvSpPr>
        <p:spPr/>
        <p:txBody>
          <a:bodyPr/>
          <a:lstStyle/>
          <a:p>
            <a:r>
              <a:rPr lang="en-US"/>
              <a:t>MAIGA A S</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Cliquez et modifiez le titre</a:t>
            </a:r>
            <a:endParaRPr lang="en-US" dirty="0"/>
          </a:p>
        </p:txBody>
      </p:sp>
      <p:sp>
        <p:nvSpPr>
          <p:cNvPr id="3" name="Date Placeholder 2"/>
          <p:cNvSpPr>
            <a:spLocks noGrp="1"/>
          </p:cNvSpPr>
          <p:nvPr>
            <p:ph type="dt" sz="half" idx="10"/>
          </p:nvPr>
        </p:nvSpPr>
        <p:spPr/>
        <p:txBody>
          <a:bodyPr/>
          <a:lstStyle/>
          <a:p>
            <a:fld id="{CF3F09F1-AF91-471B-8CFD-23E36157EBE0}" type="datetime1">
              <a:rPr lang="en-US" smtClean="0"/>
              <a:t>6/19/2025</a:t>
            </a:fld>
            <a:endParaRPr lang="en-US" dirty="0"/>
          </a:p>
        </p:txBody>
      </p:sp>
      <p:sp>
        <p:nvSpPr>
          <p:cNvPr id="4" name="Footer Placeholder 3"/>
          <p:cNvSpPr>
            <a:spLocks noGrp="1"/>
          </p:cNvSpPr>
          <p:nvPr>
            <p:ph type="ftr" sz="quarter" idx="11"/>
          </p:nvPr>
        </p:nvSpPr>
        <p:spPr/>
        <p:txBody>
          <a:bodyPr/>
          <a:lstStyle/>
          <a:p>
            <a:r>
              <a:rPr lang="en-US"/>
              <a:t>MAIGA A S</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825EB0-B04F-40C8-840C-4A3AB562BB59}" type="datetime1">
              <a:rPr lang="en-US" smtClean="0"/>
              <a:t>6/19/2025</a:t>
            </a:fld>
            <a:endParaRPr lang="en-US" dirty="0"/>
          </a:p>
        </p:txBody>
      </p:sp>
      <p:sp>
        <p:nvSpPr>
          <p:cNvPr id="3" name="Footer Placeholder 2"/>
          <p:cNvSpPr>
            <a:spLocks noGrp="1"/>
          </p:cNvSpPr>
          <p:nvPr>
            <p:ph type="ftr" sz="quarter" idx="11"/>
          </p:nvPr>
        </p:nvSpPr>
        <p:spPr/>
        <p:txBody>
          <a:bodyPr/>
          <a:lstStyle/>
          <a:p>
            <a:r>
              <a:rPr lang="en-US"/>
              <a:t>MAIGA A S</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fr-FR"/>
              <a:t>Cliquez et modifiez le titre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FC5D4A9C-6EF7-4E79-9150-5D75ACB32FA1}" type="datetime1">
              <a:rPr lang="en-US" smtClean="0"/>
              <a:t>6/19/2025</a:t>
            </a:fld>
            <a:endParaRPr lang="en-US" dirty="0"/>
          </a:p>
        </p:txBody>
      </p:sp>
      <p:sp>
        <p:nvSpPr>
          <p:cNvPr id="6" name="Footer Placeholder 5"/>
          <p:cNvSpPr>
            <a:spLocks noGrp="1"/>
          </p:cNvSpPr>
          <p:nvPr>
            <p:ph type="ftr" sz="quarter" idx="11"/>
          </p:nvPr>
        </p:nvSpPr>
        <p:spPr/>
        <p:txBody>
          <a:bodyPr/>
          <a:lstStyle/>
          <a:p>
            <a:r>
              <a:rPr lang="en-US"/>
              <a:t>MAIGA A S</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fr-FR"/>
              <a:t>Cliquez et modifiez le titre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Faire glisser l'image vers l'espace réservé ou cliquer sur l'icône pour l'ajouter</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02BF3306-93E0-47CE-9C4B-E51CB6CB67F1}" type="datetime1">
              <a:rPr lang="en-US" smtClean="0"/>
              <a:t>6/19/2025</a:t>
            </a:fld>
            <a:endParaRPr lang="en-US" dirty="0"/>
          </a:p>
        </p:txBody>
      </p:sp>
      <p:sp>
        <p:nvSpPr>
          <p:cNvPr id="6" name="Footer Placeholder 5"/>
          <p:cNvSpPr>
            <a:spLocks noGrp="1"/>
          </p:cNvSpPr>
          <p:nvPr>
            <p:ph type="ftr" sz="quarter" idx="11"/>
          </p:nvPr>
        </p:nvSpPr>
        <p:spPr/>
        <p:txBody>
          <a:bodyPr/>
          <a:lstStyle/>
          <a:p>
            <a:r>
              <a:rPr lang="en-US"/>
              <a:t>MAIGA A S</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fr-FR"/>
              <a:t>Cliquez et modifiez le titre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Faire glisser l'image vers l'espace réservé ou cliquer sur l'icône pour l'ajouter</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C06A4BC-2725-44C5-B2BC-58D15A362505}" type="datetime1">
              <a:rPr lang="en-US" smtClean="0"/>
              <a:t>6/19/2025</a:t>
            </a:fld>
            <a:endParaRPr lang="en-US" dirty="0"/>
          </a:p>
        </p:txBody>
      </p:sp>
      <p:sp>
        <p:nvSpPr>
          <p:cNvPr id="6" name="Footer Placeholder 5"/>
          <p:cNvSpPr>
            <a:spLocks noGrp="1"/>
          </p:cNvSpPr>
          <p:nvPr>
            <p:ph type="ftr" sz="quarter" idx="11"/>
          </p:nvPr>
        </p:nvSpPr>
        <p:spPr/>
        <p:txBody>
          <a:bodyPr/>
          <a:lstStyle/>
          <a:p>
            <a:r>
              <a:rPr lang="en-US"/>
              <a:t>MAIGA A S</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fr-FR"/>
              <a:t>Cliquez et modifiez le titre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36FAEE4-DCDA-4D7A-AAC3-C828B3167508}" type="datetime1">
              <a:rPr lang="en-US" smtClean="0"/>
              <a:t>6/19/2025</a:t>
            </a:fld>
            <a:endParaRPr lang="en-US" dirty="0"/>
          </a:p>
        </p:txBody>
      </p:sp>
      <p:sp>
        <p:nvSpPr>
          <p:cNvPr id="5" name="Footer Placeholder 4"/>
          <p:cNvSpPr>
            <a:spLocks noGrp="1"/>
          </p:cNvSpPr>
          <p:nvPr>
            <p:ph type="ftr" sz="quarter" idx="11"/>
          </p:nvPr>
        </p:nvSpPr>
        <p:spPr/>
        <p:txBody>
          <a:bodyPr/>
          <a:lstStyle/>
          <a:p>
            <a:r>
              <a:rPr lang="en-US"/>
              <a:t>MAIGA A 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fr-FR"/>
              <a:t>Cliquez et modifiez le titre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9CFAF57-0BFB-4721-B434-6B8B9220DC22}" type="datetime1">
              <a:rPr lang="en-US" smtClean="0"/>
              <a:t>6/19/2025</a:t>
            </a:fld>
            <a:endParaRPr lang="en-US" dirty="0"/>
          </a:p>
        </p:txBody>
      </p:sp>
      <p:sp>
        <p:nvSpPr>
          <p:cNvPr id="5" name="Footer Placeholder 4"/>
          <p:cNvSpPr>
            <a:spLocks noGrp="1"/>
          </p:cNvSpPr>
          <p:nvPr>
            <p:ph type="ftr" sz="quarter" idx="11"/>
          </p:nvPr>
        </p:nvSpPr>
        <p:spPr/>
        <p:txBody>
          <a:bodyPr/>
          <a:lstStyle/>
          <a:p>
            <a:r>
              <a:rPr lang="en-US"/>
              <a:t>MAIGA A 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fr-FR"/>
              <a:t>Cliquez et modifiez le titre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DE0583F-77F7-4E5B-B2DD-6B88B9E33CB9}" type="datetime1">
              <a:rPr lang="en-US" smtClean="0"/>
              <a:t>6/19/2025</a:t>
            </a:fld>
            <a:endParaRPr lang="en-US" dirty="0"/>
          </a:p>
        </p:txBody>
      </p:sp>
      <p:sp>
        <p:nvSpPr>
          <p:cNvPr id="5" name="Footer Placeholder 4"/>
          <p:cNvSpPr>
            <a:spLocks noGrp="1"/>
          </p:cNvSpPr>
          <p:nvPr>
            <p:ph type="ftr" sz="quarter" idx="11"/>
          </p:nvPr>
        </p:nvSpPr>
        <p:spPr/>
        <p:txBody>
          <a:bodyPr/>
          <a:lstStyle/>
          <a:p>
            <a:r>
              <a:rPr lang="en-US"/>
              <a:t>MAIGA A 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fr-FR"/>
              <a:t>Cliquez et modifiez le titre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fr-FR"/>
              <a:t>Cliquez pour modifier les styles du texte du masque</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998EC391-F155-4BBB-8282-E08228515005}" type="datetime1">
              <a:rPr lang="en-US" smtClean="0"/>
              <a:t>6/19/2025</a:t>
            </a:fld>
            <a:endParaRPr lang="en-US" dirty="0"/>
          </a:p>
        </p:txBody>
      </p:sp>
      <p:sp>
        <p:nvSpPr>
          <p:cNvPr id="5" name="Footer Placeholder 4"/>
          <p:cNvSpPr>
            <a:spLocks noGrp="1"/>
          </p:cNvSpPr>
          <p:nvPr>
            <p:ph type="ftr" sz="quarter" idx="11"/>
          </p:nvPr>
        </p:nvSpPr>
        <p:spPr/>
        <p:txBody>
          <a:bodyPr/>
          <a:lstStyle/>
          <a:p>
            <a:r>
              <a:rPr lang="en-US"/>
              <a:t>MAIGA A 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fr-FR"/>
              <a:t>Cliquez et modifiez le titre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fr-FR"/>
              <a:t>Cliquez pour modifier les styles du texte du masque</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E17ABAA-9B4A-4F68-9057-3C582DE26032}" type="datetime1">
              <a:rPr lang="en-US" smtClean="0"/>
              <a:t>6/19/2025</a:t>
            </a:fld>
            <a:endParaRPr lang="en-US" dirty="0"/>
          </a:p>
        </p:txBody>
      </p:sp>
      <p:sp>
        <p:nvSpPr>
          <p:cNvPr id="5" name="Footer Placeholder 4"/>
          <p:cNvSpPr>
            <a:spLocks noGrp="1"/>
          </p:cNvSpPr>
          <p:nvPr>
            <p:ph type="ftr" sz="quarter" idx="11"/>
          </p:nvPr>
        </p:nvSpPr>
        <p:spPr/>
        <p:txBody>
          <a:bodyPr/>
          <a:lstStyle/>
          <a:p>
            <a:r>
              <a:rPr lang="en-US"/>
              <a:t>MAIGA A 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fr-FR"/>
              <a:t>Cliquez et modifiez le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DD619FF-D785-4235-9236-9A4167B5E156}" type="datetime1">
              <a:rPr lang="en-US" smtClean="0"/>
              <a:t>6/19/2025</a:t>
            </a:fld>
            <a:endParaRPr lang="en-US" dirty="0"/>
          </a:p>
        </p:txBody>
      </p:sp>
      <p:sp>
        <p:nvSpPr>
          <p:cNvPr id="5" name="Footer Placeholder 4"/>
          <p:cNvSpPr>
            <a:spLocks noGrp="1"/>
          </p:cNvSpPr>
          <p:nvPr>
            <p:ph type="ftr" sz="quarter" idx="11"/>
          </p:nvPr>
        </p:nvSpPr>
        <p:spPr/>
        <p:txBody>
          <a:bodyPr/>
          <a:lstStyle/>
          <a:p>
            <a:r>
              <a:rPr lang="en-US"/>
              <a:t>MAIGA A 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fr-FR"/>
              <a:t>Cliquez et modifiez le titre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34DBC83-FEE3-4146-9428-4EFDBC4BDEE7}" type="datetime1">
              <a:rPr lang="en-US" smtClean="0"/>
              <a:t>6/19/2025</a:t>
            </a:fld>
            <a:endParaRPr lang="en-US" dirty="0"/>
          </a:p>
        </p:txBody>
      </p:sp>
      <p:sp>
        <p:nvSpPr>
          <p:cNvPr id="5" name="Footer Placeholder 4"/>
          <p:cNvSpPr>
            <a:spLocks noGrp="1"/>
          </p:cNvSpPr>
          <p:nvPr>
            <p:ph type="ftr" sz="quarter" idx="11"/>
          </p:nvPr>
        </p:nvSpPr>
        <p:spPr/>
        <p:txBody>
          <a:bodyPr/>
          <a:lstStyle/>
          <a:p>
            <a:r>
              <a:rPr lang="en-US"/>
              <a:t>MAIGA A 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fr-FR"/>
              <a:t>Cliquez et modifiez le titre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E22CA94-F692-4428-86EB-5667358A761C}" type="datetime1">
              <a:rPr lang="en-US" smtClean="0"/>
              <a:t>6/19/2025</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MAIGA A S</a:t>
            </a:r>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FD91585-7418-4371-8A44-C64FC7269C86}"/>
              </a:ext>
            </a:extLst>
          </p:cNvPr>
          <p:cNvSpPr>
            <a:spLocks noGrp="1" noChangeArrowheads="1"/>
          </p:cNvSpPr>
          <p:nvPr/>
        </p:nvSpPr>
        <p:spPr bwMode="auto">
          <a:xfrm>
            <a:off x="2102605" y="1578291"/>
            <a:ext cx="8609379" cy="2377440"/>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3600" kern="1200">
                <a:solidFill>
                  <a:schemeClr val="bg1"/>
                </a:solidFill>
                <a:latin typeface="+mj-lt"/>
                <a:ea typeface="+mj-ea"/>
                <a:cs typeface="+mj-cs"/>
              </a:defRPr>
            </a:lvl1pPr>
            <a:lvl2pPr algn="l" rtl="0" eaLnBrk="1" fontAlgn="base" hangingPunct="1">
              <a:spcBef>
                <a:spcPct val="0"/>
              </a:spcBef>
              <a:spcAft>
                <a:spcPct val="0"/>
              </a:spcAft>
              <a:defRPr sz="4400">
                <a:solidFill>
                  <a:schemeClr val="hlink"/>
                </a:solidFill>
                <a:latin typeface="Microsoft Sans Serif" panose="020B0604020202020204" pitchFamily="34" charset="0"/>
              </a:defRPr>
            </a:lvl2pPr>
            <a:lvl3pPr algn="l" rtl="0" eaLnBrk="1" fontAlgn="base" hangingPunct="1">
              <a:spcBef>
                <a:spcPct val="0"/>
              </a:spcBef>
              <a:spcAft>
                <a:spcPct val="0"/>
              </a:spcAft>
              <a:defRPr sz="4400">
                <a:solidFill>
                  <a:schemeClr val="hlink"/>
                </a:solidFill>
                <a:latin typeface="Microsoft Sans Serif" panose="020B0604020202020204" pitchFamily="34" charset="0"/>
              </a:defRPr>
            </a:lvl3pPr>
            <a:lvl4pPr algn="l" rtl="0" eaLnBrk="1" fontAlgn="base" hangingPunct="1">
              <a:spcBef>
                <a:spcPct val="0"/>
              </a:spcBef>
              <a:spcAft>
                <a:spcPct val="0"/>
              </a:spcAft>
              <a:defRPr sz="4400">
                <a:solidFill>
                  <a:schemeClr val="hlink"/>
                </a:solidFill>
                <a:latin typeface="Microsoft Sans Serif" panose="020B0604020202020204" pitchFamily="34" charset="0"/>
              </a:defRPr>
            </a:lvl4pPr>
            <a:lvl5pPr algn="l" rtl="0" eaLnBrk="1" fontAlgn="base" hangingPunct="1">
              <a:spcBef>
                <a:spcPct val="0"/>
              </a:spcBef>
              <a:spcAft>
                <a:spcPct val="0"/>
              </a:spcAft>
              <a:defRPr sz="4400">
                <a:solidFill>
                  <a:schemeClr val="hlink"/>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hlink"/>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hlink"/>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hlink"/>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hlink"/>
                </a:solidFill>
                <a:latin typeface="Microsoft Sans Serif" panose="020B0604020202020204" pitchFamily="34" charset="0"/>
              </a:defRPr>
            </a:lvl9pPr>
          </a:lstStyle>
          <a:p>
            <a:pPr algn="ctr"/>
            <a:r>
              <a:rPr lang="en-US" altLang="fr-FR" sz="3200" b="1" dirty="0">
                <a:ln>
                  <a:solidFill>
                    <a:schemeClr val="accent2">
                      <a:lumMod val="60000"/>
                      <a:lumOff val="40000"/>
                    </a:schemeClr>
                  </a:solidFill>
                </a:ln>
                <a:effectLst>
                  <a:reflection blurRad="6350" stA="55000" endA="50" endPos="85000" dist="29997" dir="5400000" sy="-100000" algn="bl" rotWithShape="0"/>
                </a:effectLst>
                <a:latin typeface="Bodoni MT Black" panose="02070A03080606020203" pitchFamily="18" charset="0"/>
              </a:rPr>
              <a:t>Norme ISO 27001, ISO 27002 &amp; 27032</a:t>
            </a:r>
          </a:p>
        </p:txBody>
      </p:sp>
      <p:sp>
        <p:nvSpPr>
          <p:cNvPr id="7" name="Rectangle : coins arrondis 6">
            <a:extLst>
              <a:ext uri="{FF2B5EF4-FFF2-40B4-BE49-F238E27FC236}">
                <a16:creationId xmlns:a16="http://schemas.microsoft.com/office/drawing/2014/main" id="{21EBEE5D-218F-D09D-DB87-8A8E4FA4BDE9}"/>
              </a:ext>
            </a:extLst>
          </p:cNvPr>
          <p:cNvSpPr/>
          <p:nvPr/>
        </p:nvSpPr>
        <p:spPr>
          <a:xfrm>
            <a:off x="1615440" y="4547869"/>
            <a:ext cx="3779520" cy="1524349"/>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fr-FR" dirty="0"/>
              <a:t>Réalisé et Présenté par M. MAIGA Alassane Samba</a:t>
            </a:r>
          </a:p>
          <a:p>
            <a:pPr algn="ctr"/>
            <a:r>
              <a:rPr lang="fr-FR" sz="1800" dirty="0">
                <a:latin typeface="Times New Roman" panose="02020603050405020304" pitchFamily="18" charset="0"/>
                <a:cs typeface="Times New Roman" panose="02020603050405020304" pitchFamily="18" charset="0"/>
              </a:rPr>
              <a:t>Etudiant en Master2, spécialité MSI ENI/ABT</a:t>
            </a:r>
            <a:endParaRPr lang="fr-FR" dirty="0"/>
          </a:p>
        </p:txBody>
      </p:sp>
      <p:sp>
        <p:nvSpPr>
          <p:cNvPr id="8" name="Rectangle : coins arrondis 7">
            <a:extLst>
              <a:ext uri="{FF2B5EF4-FFF2-40B4-BE49-F238E27FC236}">
                <a16:creationId xmlns:a16="http://schemas.microsoft.com/office/drawing/2014/main" id="{62CD7592-3B53-EA5C-EC0C-2A269EC45FBC}"/>
              </a:ext>
            </a:extLst>
          </p:cNvPr>
          <p:cNvSpPr/>
          <p:nvPr/>
        </p:nvSpPr>
        <p:spPr>
          <a:xfrm>
            <a:off x="8473440" y="4256881"/>
            <a:ext cx="3291840" cy="1312942"/>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2400" b="1" dirty="0"/>
              <a:t>Encadreur: </a:t>
            </a:r>
          </a:p>
          <a:p>
            <a:pPr algn="ctr"/>
            <a:r>
              <a:rPr lang="fr-FR" sz="2400" b="1" dirty="0"/>
              <a:t>Dr A SIDIBE</a:t>
            </a:r>
          </a:p>
        </p:txBody>
      </p:sp>
      <p:sp>
        <p:nvSpPr>
          <p:cNvPr id="3" name="Espace réservé du numéro de diapositive 2">
            <a:extLst>
              <a:ext uri="{FF2B5EF4-FFF2-40B4-BE49-F238E27FC236}">
                <a16:creationId xmlns:a16="http://schemas.microsoft.com/office/drawing/2014/main" id="{18A085E6-BDC3-AA92-190A-AD0A63650908}"/>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
        <p:nvSpPr>
          <p:cNvPr id="4" name="ZoneTexte 3">
            <a:extLst>
              <a:ext uri="{FF2B5EF4-FFF2-40B4-BE49-F238E27FC236}">
                <a16:creationId xmlns:a16="http://schemas.microsoft.com/office/drawing/2014/main" id="{BE1A3D68-A8D2-7858-4559-69FFACB41DDA}"/>
              </a:ext>
            </a:extLst>
          </p:cNvPr>
          <p:cNvSpPr txBox="1"/>
          <p:nvPr/>
        </p:nvSpPr>
        <p:spPr>
          <a:xfrm>
            <a:off x="9750226" y="6192520"/>
            <a:ext cx="2194560" cy="369332"/>
          </a:xfrm>
          <a:prstGeom prst="rect">
            <a:avLst/>
          </a:prstGeom>
          <a:noFill/>
        </p:spPr>
        <p:txBody>
          <a:bodyPr wrap="square" rtlCol="0">
            <a:spAutoFit/>
          </a:bodyPr>
          <a:lstStyle/>
          <a:p>
            <a:r>
              <a:rPr lang="fr-FR" dirty="0"/>
              <a:t>Le 19 Juin 2025</a:t>
            </a:r>
          </a:p>
        </p:txBody>
      </p:sp>
      <p:grpSp>
        <p:nvGrpSpPr>
          <p:cNvPr id="2" name="Groupe 1">
            <a:extLst>
              <a:ext uri="{FF2B5EF4-FFF2-40B4-BE49-F238E27FC236}">
                <a16:creationId xmlns:a16="http://schemas.microsoft.com/office/drawing/2014/main" id="{55CDBF24-C02E-FD1E-46DE-782A073EC19E}"/>
              </a:ext>
            </a:extLst>
          </p:cNvPr>
          <p:cNvGrpSpPr/>
          <p:nvPr/>
        </p:nvGrpSpPr>
        <p:grpSpPr>
          <a:xfrm>
            <a:off x="279684" y="874014"/>
            <a:ext cx="2698577" cy="709865"/>
            <a:chOff x="1327101" y="1181893"/>
            <a:chExt cx="3166414" cy="588557"/>
          </a:xfrm>
        </p:grpSpPr>
        <p:sp>
          <p:nvSpPr>
            <p:cNvPr id="5" name="Rectangle : coins arrondis 4">
              <a:extLst>
                <a:ext uri="{FF2B5EF4-FFF2-40B4-BE49-F238E27FC236}">
                  <a16:creationId xmlns:a16="http://schemas.microsoft.com/office/drawing/2014/main" id="{75CB74DC-0193-CBF4-E743-A6A3CDEF1D2F}"/>
                </a:ext>
              </a:extLst>
            </p:cNvPr>
            <p:cNvSpPr/>
            <p:nvPr/>
          </p:nvSpPr>
          <p:spPr>
            <a:xfrm>
              <a:off x="1521691" y="1181893"/>
              <a:ext cx="2971824" cy="588557"/>
            </a:xfrm>
            <a:prstGeom prst="roundRect">
              <a:avLst/>
            </a:pr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fr-FR" noProof="0" dirty="0"/>
            </a:p>
          </p:txBody>
        </p:sp>
        <p:sp>
          <p:nvSpPr>
            <p:cNvPr id="9" name="Rectangle : coins arrondis 4">
              <a:extLst>
                <a:ext uri="{FF2B5EF4-FFF2-40B4-BE49-F238E27FC236}">
                  <a16:creationId xmlns:a16="http://schemas.microsoft.com/office/drawing/2014/main" id="{3B798D1F-4B65-7434-3EA1-2B2F5BBF0C10}"/>
                </a:ext>
              </a:extLst>
            </p:cNvPr>
            <p:cNvSpPr txBox="1"/>
            <p:nvPr/>
          </p:nvSpPr>
          <p:spPr>
            <a:xfrm>
              <a:off x="1327101" y="1234722"/>
              <a:ext cx="2914362" cy="53109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29036" tIns="152400" rIns="152400" bIns="152400" numCol="1" spcCol="1270" anchor="ctr" anchorCtr="0">
              <a:noAutofit/>
            </a:bodyPr>
            <a:lstStyle/>
            <a:p>
              <a:pPr marL="0" lvl="0" indent="0" algn="l" defTabSz="1778000">
                <a:lnSpc>
                  <a:spcPct val="90000"/>
                </a:lnSpc>
                <a:spcBef>
                  <a:spcPct val="0"/>
                </a:spcBef>
                <a:spcAft>
                  <a:spcPct val="35000"/>
                </a:spcAft>
                <a:buNone/>
              </a:pPr>
              <a:r>
                <a:rPr lang="fr-FR" sz="3200" b="1" kern="1200" noProof="0" dirty="0">
                  <a:solidFill>
                    <a:schemeClr val="accent4"/>
                  </a:solidFill>
                  <a:latin typeface="Times New Roman" panose="02020603050405020304" pitchFamily="18" charset="0"/>
                  <a:cs typeface="Times New Roman" panose="02020603050405020304" pitchFamily="18" charset="0"/>
                </a:rPr>
                <a:t>EN</a:t>
              </a:r>
              <a:r>
                <a:rPr lang="fr-FR" sz="3200" b="1" kern="1200" noProof="0" dirty="0">
                  <a:solidFill>
                    <a:srgbClr val="E8D918"/>
                  </a:solidFill>
                  <a:latin typeface="Times New Roman" panose="02020603050405020304" pitchFamily="18" charset="0"/>
                  <a:cs typeface="Times New Roman" panose="02020603050405020304" pitchFamily="18" charset="0"/>
                </a:rPr>
                <a:t>I-A</a:t>
              </a:r>
              <a:r>
                <a:rPr lang="fr-FR" sz="3200" b="1" kern="1200" noProof="0" dirty="0">
                  <a:solidFill>
                    <a:srgbClr val="C00000"/>
                  </a:solidFill>
                  <a:latin typeface="Times New Roman" panose="02020603050405020304" pitchFamily="18" charset="0"/>
                  <a:cs typeface="Times New Roman" panose="02020603050405020304" pitchFamily="18" charset="0"/>
                </a:rPr>
                <a:t>BT</a:t>
              </a:r>
            </a:p>
          </p:txBody>
        </p:sp>
      </p:grpSp>
      <p:sp>
        <p:nvSpPr>
          <p:cNvPr id="10" name="Ellipse 9">
            <a:extLst>
              <a:ext uri="{FF2B5EF4-FFF2-40B4-BE49-F238E27FC236}">
                <a16:creationId xmlns:a16="http://schemas.microsoft.com/office/drawing/2014/main" id="{E859DA67-4260-1589-A7F6-F86DC971860F}"/>
              </a:ext>
            </a:extLst>
          </p:cNvPr>
          <p:cNvSpPr/>
          <p:nvPr/>
        </p:nvSpPr>
        <p:spPr>
          <a:xfrm>
            <a:off x="120848" y="-95567"/>
            <a:ext cx="1208824" cy="1100137"/>
          </a:xfrm>
          <a:prstGeom prst="ellipse">
            <a:avLst/>
          </a:prstGeom>
          <a:blipFill>
            <a:blip r:embed="rId2" cstate="print">
              <a:extLst>
                <a:ext uri="{28A0092B-C50C-407E-A947-70E740481C1C}">
                  <a14:useLocalDpi xmlns:a14="http://schemas.microsoft.com/office/drawing/2010/main" val="0"/>
                </a:ext>
              </a:extLst>
            </a:blip>
            <a:srcRect/>
            <a:stretch>
              <a:fillRect l="-17000" r="-17000"/>
            </a:stretch>
          </a:blipFill>
        </p:spPr>
        <p:style>
          <a:lnRef idx="2">
            <a:schemeClr val="dk1">
              <a:shade val="80000"/>
              <a:hueOff val="0"/>
              <a:satOff val="0"/>
              <a:lumOff val="0"/>
              <a:alphaOff val="0"/>
            </a:schemeClr>
          </a:lnRef>
          <a:fillRef idx="1">
            <a:scrgbClr r="0" g="0" b="0"/>
          </a:fillRef>
          <a:effectRef idx="0">
            <a:schemeClr val="dk1">
              <a:tint val="40000"/>
              <a:hueOff val="0"/>
              <a:satOff val="0"/>
              <a:lumOff val="0"/>
              <a:alphaOff val="0"/>
            </a:schemeClr>
          </a:effectRef>
          <a:fontRef idx="minor">
            <a:schemeClr val="lt1">
              <a:hueOff val="0"/>
              <a:satOff val="0"/>
              <a:lumOff val="0"/>
              <a:alphaOff val="0"/>
            </a:schemeClr>
          </a:fontRef>
        </p:style>
        <p:txBody>
          <a:bodyPr/>
          <a:lstStyle/>
          <a:p>
            <a:endParaRPr lang="fr-FR" noProof="0" dirty="0"/>
          </a:p>
        </p:txBody>
      </p:sp>
      <p:sp>
        <p:nvSpPr>
          <p:cNvPr id="11" name="TextBox 18">
            <a:extLst>
              <a:ext uri="{FF2B5EF4-FFF2-40B4-BE49-F238E27FC236}">
                <a16:creationId xmlns:a16="http://schemas.microsoft.com/office/drawing/2014/main" id="{5A5768F8-46F5-BB83-E045-EF87AE443B3C}"/>
              </a:ext>
            </a:extLst>
          </p:cNvPr>
          <p:cNvSpPr txBox="1"/>
          <p:nvPr/>
        </p:nvSpPr>
        <p:spPr>
          <a:xfrm>
            <a:off x="120848" y="6203869"/>
            <a:ext cx="3030261" cy="455061"/>
          </a:xfrm>
          <a:prstGeom prst="rect">
            <a:avLst/>
          </a:prstGeom>
        </p:spPr>
        <p:txBody>
          <a:bodyPr wrap="square" lIns="0" tIns="0" rIns="0" bIns="0" rtlCol="0" anchor="t">
            <a:spAutoFit/>
          </a:bodyPr>
          <a:lstStyle/>
          <a:p>
            <a:pPr algn="l">
              <a:lnSpc>
                <a:spcPts val="3855"/>
              </a:lnSpc>
              <a:spcBef>
                <a:spcPct val="0"/>
              </a:spcBef>
            </a:pPr>
            <a:r>
              <a:rPr lang="fr-FR" sz="2753" b="1" spc="-55" dirty="0">
                <a:solidFill>
                  <a:srgbClr val="051D40"/>
                </a:solidFill>
                <a:latin typeface="Poppins"/>
                <a:ea typeface="Poppins"/>
                <a:cs typeface="Poppins"/>
                <a:sym typeface="Poppins"/>
              </a:rPr>
              <a:t>Classe : </a:t>
            </a:r>
            <a:r>
              <a:rPr lang="fr-FR" sz="2753" spc="-55" dirty="0">
                <a:solidFill>
                  <a:srgbClr val="051D40"/>
                </a:solidFill>
                <a:latin typeface="Poppins"/>
                <a:ea typeface="Poppins"/>
                <a:cs typeface="Poppins"/>
                <a:sym typeface="Poppins"/>
              </a:rPr>
              <a:t>GIT M2S3</a:t>
            </a:r>
            <a:endParaRPr lang="fr-FR" sz="2753" spc="-55" noProof="0" dirty="0">
              <a:solidFill>
                <a:srgbClr val="051D40"/>
              </a:solidFill>
              <a:latin typeface="Poppins"/>
              <a:ea typeface="Poppins"/>
              <a:cs typeface="Poppins"/>
              <a:sym typeface="Poppins"/>
            </a:endParaRPr>
          </a:p>
        </p:txBody>
      </p:sp>
      <p:sp>
        <p:nvSpPr>
          <p:cNvPr id="12" name="TextBox 18">
            <a:extLst>
              <a:ext uri="{FF2B5EF4-FFF2-40B4-BE49-F238E27FC236}">
                <a16:creationId xmlns:a16="http://schemas.microsoft.com/office/drawing/2014/main" id="{639AFD2D-7382-2780-1FFD-D8131CA90036}"/>
              </a:ext>
            </a:extLst>
          </p:cNvPr>
          <p:cNvSpPr txBox="1"/>
          <p:nvPr/>
        </p:nvSpPr>
        <p:spPr>
          <a:xfrm>
            <a:off x="7764135" y="296148"/>
            <a:ext cx="4295786" cy="444802"/>
          </a:xfrm>
          <a:prstGeom prst="rect">
            <a:avLst/>
          </a:prstGeom>
        </p:spPr>
        <p:txBody>
          <a:bodyPr wrap="square" lIns="0" tIns="0" rIns="0" bIns="0" rtlCol="0" anchor="t">
            <a:spAutoFit/>
          </a:bodyPr>
          <a:lstStyle/>
          <a:p>
            <a:pPr algn="l">
              <a:lnSpc>
                <a:spcPts val="3855"/>
              </a:lnSpc>
              <a:spcBef>
                <a:spcPct val="0"/>
              </a:spcBef>
            </a:pPr>
            <a:r>
              <a:rPr lang="fr-FR" sz="2400" b="1" spc="-55" dirty="0">
                <a:solidFill>
                  <a:srgbClr val="051D40"/>
                </a:solidFill>
                <a:latin typeface="Poppins"/>
                <a:ea typeface="Poppins"/>
                <a:cs typeface="Poppins"/>
                <a:sym typeface="Poppins"/>
              </a:rPr>
              <a:t>Année Académique : </a:t>
            </a:r>
            <a:r>
              <a:rPr lang="fr-FR" sz="2400" spc="-55" dirty="0">
                <a:solidFill>
                  <a:srgbClr val="051D40"/>
                </a:solidFill>
                <a:latin typeface="Poppins"/>
                <a:ea typeface="Poppins"/>
                <a:cs typeface="Poppins"/>
                <a:sym typeface="Poppins"/>
              </a:rPr>
              <a:t>2024-2025</a:t>
            </a:r>
            <a:endParaRPr lang="fr-FR" sz="2753" spc="-55" noProof="0" dirty="0">
              <a:solidFill>
                <a:srgbClr val="051D40"/>
              </a:solidFill>
              <a:latin typeface="Poppins"/>
              <a:ea typeface="Poppins"/>
              <a:cs typeface="Poppins"/>
              <a:sym typeface="Poppins"/>
            </a:endParaRPr>
          </a:p>
        </p:txBody>
      </p:sp>
    </p:spTree>
    <p:extLst>
      <p:ext uri="{BB962C8B-B14F-4D97-AF65-F5344CB8AC3E}">
        <p14:creationId xmlns:p14="http://schemas.microsoft.com/office/powerpoint/2010/main" val="2022687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2B3D5DE-237C-1037-6C5D-C03FE63AFF00}"/>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
        <p:nvSpPr>
          <p:cNvPr id="5" name="ZoneTexte 4">
            <a:extLst>
              <a:ext uri="{FF2B5EF4-FFF2-40B4-BE49-F238E27FC236}">
                <a16:creationId xmlns:a16="http://schemas.microsoft.com/office/drawing/2014/main" id="{9C6FC0BB-F560-CADE-FFB8-301C1B44991A}"/>
              </a:ext>
            </a:extLst>
          </p:cNvPr>
          <p:cNvSpPr txBox="1"/>
          <p:nvPr/>
        </p:nvSpPr>
        <p:spPr>
          <a:xfrm>
            <a:off x="3293743" y="250666"/>
            <a:ext cx="8209280" cy="5663089"/>
          </a:xfrm>
          <a:prstGeom prst="rect">
            <a:avLst/>
          </a:prstGeom>
          <a:noFill/>
        </p:spPr>
        <p:txBody>
          <a:bodyPr wrap="square" rtlCol="0">
            <a:spAutoFit/>
          </a:bodyPr>
          <a:lstStyle/>
          <a:p>
            <a:pPr algn="ctr"/>
            <a:r>
              <a:rPr lang="fr-FR" sz="4000" b="1" dirty="0">
                <a:solidFill>
                  <a:srgbClr val="FF0000"/>
                </a:solidFill>
              </a:rPr>
              <a:t>Sommaire:</a:t>
            </a:r>
          </a:p>
          <a:p>
            <a:pPr algn="ctr"/>
            <a:endParaRPr lang="fr-FR" sz="4000" b="1" dirty="0">
              <a:solidFill>
                <a:srgbClr val="FF0000"/>
              </a:solidFill>
            </a:endParaRPr>
          </a:p>
          <a:p>
            <a:pPr marL="342900" indent="-342900" algn="just">
              <a:buFont typeface="+mj-lt"/>
              <a:buAutoNum type="arabicPeriod"/>
            </a:pPr>
            <a:r>
              <a:rPr lang="fr-FR" sz="2400" b="1" dirty="0">
                <a:solidFill>
                  <a:srgbClr val="FF0000"/>
                </a:solidFill>
              </a:rPr>
              <a:t>Objectifs pédagogiques</a:t>
            </a:r>
          </a:p>
          <a:p>
            <a:pPr marL="342900" indent="-342900" algn="just">
              <a:buFont typeface="+mj-lt"/>
              <a:buAutoNum type="arabicPeriod"/>
            </a:pPr>
            <a:r>
              <a:rPr lang="fr-FR" sz="2400" b="1" dirty="0">
                <a:solidFill>
                  <a:srgbClr val="FF0000"/>
                </a:solidFill>
              </a:rPr>
              <a:t>Introduction</a:t>
            </a:r>
          </a:p>
          <a:p>
            <a:pPr marL="342900" indent="-342900" algn="just">
              <a:buFont typeface="+mj-lt"/>
              <a:buAutoNum type="arabicPeriod"/>
            </a:pPr>
            <a:r>
              <a:rPr lang="fr-FR" sz="2400" b="1" dirty="0">
                <a:solidFill>
                  <a:srgbClr val="FF0000"/>
                </a:solidFill>
              </a:rPr>
              <a:t>Historiques</a:t>
            </a:r>
          </a:p>
          <a:p>
            <a:pPr marL="342900" indent="-342900" algn="just">
              <a:buFont typeface="+mj-lt"/>
              <a:buAutoNum type="arabicPeriod"/>
            </a:pPr>
            <a:r>
              <a:rPr lang="fr-FR" sz="2400" b="1" dirty="0">
                <a:solidFill>
                  <a:srgbClr val="FF0000"/>
                </a:solidFill>
              </a:rPr>
              <a:t>Présentation</a:t>
            </a:r>
          </a:p>
          <a:p>
            <a:pPr marL="342900" indent="-342900" algn="just">
              <a:buFont typeface="+mj-lt"/>
              <a:buAutoNum type="arabicPeriod"/>
            </a:pPr>
            <a:r>
              <a:rPr lang="fr-FR" sz="2400" b="1" dirty="0">
                <a:solidFill>
                  <a:srgbClr val="FF0000"/>
                </a:solidFill>
              </a:rPr>
              <a:t>ISO 27001</a:t>
            </a:r>
          </a:p>
          <a:p>
            <a:pPr marL="342900" indent="-342900" algn="just">
              <a:buFont typeface="+mj-lt"/>
              <a:buAutoNum type="arabicPeriod"/>
            </a:pPr>
            <a:r>
              <a:rPr lang="fr-FR" sz="2400" b="1" dirty="0">
                <a:solidFill>
                  <a:srgbClr val="FF0000"/>
                </a:solidFill>
              </a:rPr>
              <a:t>ISO 27002</a:t>
            </a:r>
          </a:p>
          <a:p>
            <a:pPr marL="342900" indent="-342900" algn="just">
              <a:buFont typeface="+mj-lt"/>
              <a:buAutoNum type="arabicPeriod"/>
            </a:pPr>
            <a:r>
              <a:rPr lang="fr-FR" sz="2400" b="1" dirty="0">
                <a:solidFill>
                  <a:srgbClr val="FF0000"/>
                </a:solidFill>
              </a:rPr>
              <a:t>ISO 27032</a:t>
            </a:r>
          </a:p>
          <a:p>
            <a:pPr marL="342900" indent="-342900" algn="just">
              <a:buFont typeface="+mj-lt"/>
              <a:buAutoNum type="arabicPeriod"/>
            </a:pPr>
            <a:r>
              <a:rPr lang="fr-FR" sz="2400" b="1" dirty="0">
                <a:solidFill>
                  <a:srgbClr val="FF0000"/>
                </a:solidFill>
              </a:rPr>
              <a:t>Avantage</a:t>
            </a:r>
          </a:p>
          <a:p>
            <a:pPr marL="342900" indent="-342900" algn="just">
              <a:buFont typeface="+mj-lt"/>
              <a:buAutoNum type="arabicPeriod"/>
            </a:pPr>
            <a:r>
              <a:rPr lang="fr-FR" sz="2400" b="1" dirty="0">
                <a:solidFill>
                  <a:srgbClr val="FF0000"/>
                </a:solidFill>
              </a:rPr>
              <a:t>Inconvenant</a:t>
            </a:r>
          </a:p>
          <a:p>
            <a:pPr marL="342900" indent="-342900" algn="just">
              <a:buFont typeface="+mj-lt"/>
              <a:buAutoNum type="arabicPeriod"/>
            </a:pPr>
            <a:r>
              <a:rPr lang="fr-FR" sz="2400" b="1" dirty="0">
                <a:solidFill>
                  <a:srgbClr val="FF0000"/>
                </a:solidFill>
              </a:rPr>
              <a:t>Certification</a:t>
            </a:r>
          </a:p>
          <a:p>
            <a:pPr marL="342900" indent="-342900" algn="just">
              <a:buFont typeface="+mj-lt"/>
              <a:buAutoNum type="arabicPeriod"/>
            </a:pPr>
            <a:r>
              <a:rPr lang="fr-FR" sz="2400" b="1" dirty="0">
                <a:solidFill>
                  <a:srgbClr val="FF0000"/>
                </a:solidFill>
              </a:rPr>
              <a:t>Conclusion</a:t>
            </a:r>
          </a:p>
          <a:p>
            <a:endParaRPr lang="fr-FR" dirty="0"/>
          </a:p>
        </p:txBody>
      </p:sp>
      <p:cxnSp>
        <p:nvCxnSpPr>
          <p:cNvPr id="7" name="Connecteur droit 6">
            <a:extLst>
              <a:ext uri="{FF2B5EF4-FFF2-40B4-BE49-F238E27FC236}">
                <a16:creationId xmlns:a16="http://schemas.microsoft.com/office/drawing/2014/main" id="{27465CF3-1770-5650-4CFF-E75929DB64B1}"/>
              </a:ext>
            </a:extLst>
          </p:cNvPr>
          <p:cNvCxnSpPr>
            <a:cxnSpLocks/>
          </p:cNvCxnSpPr>
          <p:nvPr/>
        </p:nvCxnSpPr>
        <p:spPr>
          <a:xfrm>
            <a:off x="3293743" y="1198880"/>
            <a:ext cx="820928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081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2FE3CD-7C09-69BC-0676-D5D988BB46A4}"/>
              </a:ext>
            </a:extLst>
          </p:cNvPr>
          <p:cNvSpPr>
            <a:spLocks noGrp="1"/>
          </p:cNvSpPr>
          <p:nvPr>
            <p:ph type="title"/>
          </p:nvPr>
        </p:nvSpPr>
        <p:spPr>
          <a:xfrm>
            <a:off x="1484311" y="685801"/>
            <a:ext cx="10018713" cy="868680"/>
          </a:xfrm>
        </p:spPr>
        <p:txBody>
          <a:bodyPr>
            <a:normAutofit fontScale="90000"/>
          </a:bodyPr>
          <a:lstStyle/>
          <a:p>
            <a:r>
              <a:rPr lang="fr-FR" sz="4400" dirty="0">
                <a:solidFill>
                  <a:srgbClr val="FF0000"/>
                </a:solidFill>
              </a:rPr>
              <a:t>Objectifs pédagogiques:</a:t>
            </a:r>
            <a:br>
              <a:rPr lang="fr-FR" dirty="0">
                <a:solidFill>
                  <a:srgbClr val="FF0000"/>
                </a:solidFill>
              </a:rPr>
            </a:br>
            <a:endParaRPr lang="fr-FR" dirty="0">
              <a:solidFill>
                <a:srgbClr val="FF0000"/>
              </a:solidFill>
            </a:endParaRPr>
          </a:p>
        </p:txBody>
      </p:sp>
      <p:sp>
        <p:nvSpPr>
          <p:cNvPr id="3" name="ZoneTexte 2">
            <a:extLst>
              <a:ext uri="{FF2B5EF4-FFF2-40B4-BE49-F238E27FC236}">
                <a16:creationId xmlns:a16="http://schemas.microsoft.com/office/drawing/2014/main" id="{A6E789FF-9E25-9C72-CF9E-504671636150}"/>
              </a:ext>
            </a:extLst>
          </p:cNvPr>
          <p:cNvSpPr txBox="1"/>
          <p:nvPr/>
        </p:nvSpPr>
        <p:spPr>
          <a:xfrm>
            <a:off x="2631440" y="1918384"/>
            <a:ext cx="7955280" cy="1815882"/>
          </a:xfrm>
          <a:prstGeom prst="rect">
            <a:avLst/>
          </a:prstGeom>
          <a:noFill/>
        </p:spPr>
        <p:txBody>
          <a:bodyPr wrap="square" rtlCol="0">
            <a:spAutoFit/>
          </a:bodyPr>
          <a:lstStyle/>
          <a:p>
            <a:pPr marL="285750" indent="-285750">
              <a:buFont typeface="Wingdings" panose="05000000000000000000" pitchFamily="2" charset="2"/>
              <a:buChar char="v"/>
            </a:pPr>
            <a:r>
              <a:rPr lang="fr-FR" sz="2800" dirty="0"/>
              <a:t>Donner une vue d’ensemble de la norme ISO 27000</a:t>
            </a:r>
          </a:p>
          <a:p>
            <a:pPr marL="285750" indent="-285750">
              <a:buFont typeface="Wingdings" panose="05000000000000000000" pitchFamily="2" charset="2"/>
              <a:buChar char="v"/>
            </a:pPr>
            <a:r>
              <a:rPr lang="fr-FR" sz="2800" dirty="0"/>
              <a:t>Parcourir quelques normes pour identifier:</a:t>
            </a:r>
          </a:p>
          <a:p>
            <a:pPr marL="742950" lvl="1" indent="-285750">
              <a:buFont typeface="Wingdings" panose="05000000000000000000" pitchFamily="2" charset="2"/>
              <a:buChar char="ü"/>
            </a:pPr>
            <a:r>
              <a:rPr lang="fr-FR" sz="2800" dirty="0"/>
              <a:t>	les principes;</a:t>
            </a:r>
          </a:p>
          <a:p>
            <a:pPr marL="742950" lvl="1" indent="-285750">
              <a:buFont typeface="Wingdings" panose="05000000000000000000" pitchFamily="2" charset="2"/>
              <a:buChar char="ü"/>
            </a:pPr>
            <a:r>
              <a:rPr lang="fr-FR" sz="2800" dirty="0"/>
              <a:t>	principales exigences</a:t>
            </a:r>
          </a:p>
        </p:txBody>
      </p:sp>
      <p:sp>
        <p:nvSpPr>
          <p:cNvPr id="5" name="Espace réservé du numéro de diapositive 4">
            <a:extLst>
              <a:ext uri="{FF2B5EF4-FFF2-40B4-BE49-F238E27FC236}">
                <a16:creationId xmlns:a16="http://schemas.microsoft.com/office/drawing/2014/main" id="{C93374FA-7408-4D7D-4ED1-029CD12634CC}"/>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3954891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C6F0CB-A64A-1E80-0CC2-51AF94A430A4}"/>
              </a:ext>
            </a:extLst>
          </p:cNvPr>
          <p:cNvSpPr>
            <a:spLocks noGrp="1"/>
          </p:cNvSpPr>
          <p:nvPr>
            <p:ph type="title"/>
          </p:nvPr>
        </p:nvSpPr>
        <p:spPr>
          <a:xfrm>
            <a:off x="1484310" y="15242"/>
            <a:ext cx="10018713" cy="695960"/>
          </a:xfrm>
        </p:spPr>
        <p:txBody>
          <a:bodyPr>
            <a:noAutofit/>
          </a:bodyPr>
          <a:lstStyle/>
          <a:p>
            <a:r>
              <a:rPr lang="fr-FR" dirty="0">
                <a:solidFill>
                  <a:srgbClr val="FF0000"/>
                </a:solidFill>
              </a:rPr>
              <a:t>Introduction:</a:t>
            </a:r>
          </a:p>
        </p:txBody>
      </p:sp>
      <p:sp>
        <p:nvSpPr>
          <p:cNvPr id="4" name="ZoneTexte 3">
            <a:extLst>
              <a:ext uri="{FF2B5EF4-FFF2-40B4-BE49-F238E27FC236}">
                <a16:creationId xmlns:a16="http://schemas.microsoft.com/office/drawing/2014/main" id="{C8C834B3-926C-9192-132F-BE4697BCA128}"/>
              </a:ext>
            </a:extLst>
          </p:cNvPr>
          <p:cNvSpPr txBox="1"/>
          <p:nvPr/>
        </p:nvSpPr>
        <p:spPr>
          <a:xfrm>
            <a:off x="2011680" y="733246"/>
            <a:ext cx="8544560" cy="5693866"/>
          </a:xfrm>
          <a:prstGeom prst="rect">
            <a:avLst/>
          </a:prstGeom>
          <a:noFill/>
        </p:spPr>
        <p:txBody>
          <a:bodyPr wrap="square" rtlCol="0">
            <a:spAutoFit/>
          </a:bodyPr>
          <a:lstStyle/>
          <a:p>
            <a:r>
              <a:rPr lang="fr-FR" sz="2800" dirty="0"/>
              <a:t>L’information, le matériel informatique et les logiciels que possède une organisation est un investissement précieux qu’il faut protéger. Une des meilleures façons de prendre soin de ce trésor est de mettre en place un système de management de la sécurité de l'information (SMSI) suivant la norme ISO 27000.</a:t>
            </a:r>
          </a:p>
          <a:p>
            <a:endParaRPr lang="fr-FR" sz="2800" dirty="0"/>
          </a:p>
          <a:p>
            <a:r>
              <a:rPr lang="fr-FR" sz="2800" dirty="0"/>
              <a:t>L'organisation doit établir, mettre en œuvre, maintenir et améliorer continuellement un système de gestion de la sécurité de l'information, incluant les processus nécessaires et leurs interactions, conformément aux exigences de norme ISO 27000</a:t>
            </a:r>
          </a:p>
          <a:p>
            <a:endParaRPr lang="fr-FR" sz="2800" dirty="0"/>
          </a:p>
        </p:txBody>
      </p:sp>
      <p:sp>
        <p:nvSpPr>
          <p:cNvPr id="5" name="Espace réservé du numéro de diapositive 4">
            <a:extLst>
              <a:ext uri="{FF2B5EF4-FFF2-40B4-BE49-F238E27FC236}">
                <a16:creationId xmlns:a16="http://schemas.microsoft.com/office/drawing/2014/main" id="{1D0E9836-511A-23F2-E8DD-999B033B253A}"/>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3623023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CD0622-D465-3B14-24F1-F45B052DBA24}"/>
              </a:ext>
            </a:extLst>
          </p:cNvPr>
          <p:cNvSpPr>
            <a:spLocks noGrp="1"/>
          </p:cNvSpPr>
          <p:nvPr>
            <p:ph type="ctrTitle"/>
          </p:nvPr>
        </p:nvSpPr>
        <p:spPr>
          <a:xfrm>
            <a:off x="2652817" y="222674"/>
            <a:ext cx="8574622" cy="733212"/>
          </a:xfrm>
        </p:spPr>
        <p:txBody>
          <a:bodyPr>
            <a:noAutofit/>
          </a:bodyPr>
          <a:lstStyle/>
          <a:p>
            <a:pPr algn="ctr"/>
            <a:r>
              <a:rPr lang="fr-FR" sz="3600" dirty="0">
                <a:solidFill>
                  <a:srgbClr val="FF0000"/>
                </a:solidFill>
              </a:rPr>
              <a:t>Qu’est-ce qu’une ISO?</a:t>
            </a:r>
          </a:p>
        </p:txBody>
      </p:sp>
      <p:sp>
        <p:nvSpPr>
          <p:cNvPr id="3" name="Sous-titre 2">
            <a:extLst>
              <a:ext uri="{FF2B5EF4-FFF2-40B4-BE49-F238E27FC236}">
                <a16:creationId xmlns:a16="http://schemas.microsoft.com/office/drawing/2014/main" id="{792DEC93-3CE4-69DF-C640-54BD2A47F7A4}"/>
              </a:ext>
            </a:extLst>
          </p:cNvPr>
          <p:cNvSpPr>
            <a:spLocks noGrp="1"/>
          </p:cNvSpPr>
          <p:nvPr>
            <p:ph type="subTitle" idx="1"/>
          </p:nvPr>
        </p:nvSpPr>
        <p:spPr>
          <a:xfrm>
            <a:off x="2473217" y="1270634"/>
            <a:ext cx="9495263" cy="4886325"/>
          </a:xfrm>
        </p:spPr>
        <p:txBody>
          <a:bodyPr>
            <a:normAutofit fontScale="85000" lnSpcReduction="20000"/>
          </a:bodyPr>
          <a:lstStyle/>
          <a:p>
            <a:pPr algn="ctr"/>
            <a:r>
              <a:rPr lang="fr-FR" sz="3000" dirty="0">
                <a:solidFill>
                  <a:srgbClr val="000000"/>
                </a:solidFill>
                <a:effectLst/>
                <a:latin typeface="Times" panose="02020603060405020304" pitchFamily="18" charset="0"/>
                <a:ea typeface="Calibri" panose="020F0502020204030204" pitchFamily="34" charset="0"/>
                <a:cs typeface="Times" panose="02020603060405020304" pitchFamily="18" charset="0"/>
              </a:rPr>
              <a:t>ISO (Organisation internationale de normalisation) et l’IEC (Commission électrotechnique internationale) forment le système spécialisé de la normalisation mondiale. Les organismes nationaux membres de l'ISO ou de l’IEC participent au développement de Normes internationales par l'intermédiaire des comités techniques. </a:t>
            </a:r>
          </a:p>
          <a:p>
            <a:pPr algn="ctr"/>
            <a:endParaRPr lang="fr-FR" sz="3000" dirty="0">
              <a:solidFill>
                <a:srgbClr val="000000"/>
              </a:solidFill>
              <a:effectLst/>
              <a:latin typeface="Times" panose="02020603060405020304" pitchFamily="18" charset="0"/>
              <a:ea typeface="Calibri" panose="020F0502020204030204" pitchFamily="34" charset="0"/>
              <a:cs typeface="Times" panose="02020603060405020304" pitchFamily="18" charset="0"/>
            </a:endParaRPr>
          </a:p>
          <a:p>
            <a:pPr algn="ctr"/>
            <a:r>
              <a:rPr lang="fr-FR" sz="3000" dirty="0">
                <a:solidFill>
                  <a:srgbClr val="000000"/>
                </a:solidFill>
                <a:effectLst/>
                <a:latin typeface="Times" panose="02020603060405020304" pitchFamily="18" charset="0"/>
                <a:ea typeface="Calibri" panose="020F0502020204030204" pitchFamily="34" charset="0"/>
                <a:cs typeface="Times" panose="02020603060405020304" pitchFamily="18" charset="0"/>
              </a:rPr>
              <a:t>ISO </a:t>
            </a:r>
            <a:r>
              <a:rPr lang="fr-FR" sz="3000" dirty="0">
                <a:solidFill>
                  <a:srgbClr val="000000"/>
                </a:solidFill>
                <a:latin typeface="Times" panose="02020603060405020304" pitchFamily="18" charset="0"/>
                <a:ea typeface="Calibri" panose="020F0502020204030204" pitchFamily="34" charset="0"/>
                <a:cs typeface="Times" panose="02020603060405020304" pitchFamily="18" charset="0"/>
              </a:rPr>
              <a:t>: </a:t>
            </a:r>
            <a:r>
              <a:rPr lang="fr-FR" sz="3000" dirty="0">
                <a:solidFill>
                  <a:srgbClr val="000000"/>
                </a:solidFill>
                <a:latin typeface="Times" panose="02020603060405020304" pitchFamily="18" charset="0"/>
              </a:rPr>
              <a:t>International </a:t>
            </a:r>
            <a:r>
              <a:rPr lang="fr-FR" sz="3000" dirty="0" err="1">
                <a:solidFill>
                  <a:srgbClr val="000000"/>
                </a:solidFill>
                <a:latin typeface="Times" panose="02020603060405020304" pitchFamily="18" charset="0"/>
              </a:rPr>
              <a:t>Organization</a:t>
            </a:r>
            <a:r>
              <a:rPr lang="fr-FR" sz="3000" dirty="0">
                <a:solidFill>
                  <a:srgbClr val="000000"/>
                </a:solidFill>
                <a:latin typeface="Times" panose="02020603060405020304" pitchFamily="18" charset="0"/>
              </a:rPr>
              <a:t> for </a:t>
            </a:r>
            <a:r>
              <a:rPr lang="fr-FR" sz="3000" dirty="0" err="1">
                <a:solidFill>
                  <a:srgbClr val="000000"/>
                </a:solidFill>
                <a:latin typeface="Times" panose="02020603060405020304" pitchFamily="18" charset="0"/>
              </a:rPr>
              <a:t>Standardization</a:t>
            </a:r>
            <a:r>
              <a:rPr lang="fr-FR" sz="3000" dirty="0">
                <a:solidFill>
                  <a:srgbClr val="000000"/>
                </a:solidFill>
                <a:latin typeface="Times" panose="02020603060405020304" pitchFamily="18" charset="0"/>
              </a:rPr>
              <a:t> (Organisation internationale de normalisation)</a:t>
            </a:r>
          </a:p>
          <a:p>
            <a:pPr algn="ctr"/>
            <a:r>
              <a:rPr lang="fr-FR" sz="3000" dirty="0">
                <a:solidFill>
                  <a:srgbClr val="000000"/>
                </a:solidFill>
                <a:latin typeface="Times" panose="02020603060405020304" pitchFamily="18" charset="0"/>
              </a:rPr>
              <a:t>Elle est une organisation non gouvernementale éditrice de normes internationales (plus de 19.500).</a:t>
            </a:r>
          </a:p>
          <a:p>
            <a:pPr algn="ctr"/>
            <a:endParaRPr lang="fr-FR" sz="3000" dirty="0">
              <a:solidFill>
                <a:srgbClr val="000000"/>
              </a:solidFill>
              <a:latin typeface="Times" panose="02020603060405020304" pitchFamily="18" charset="0"/>
            </a:endParaRPr>
          </a:p>
          <a:p>
            <a:pPr algn="ctr"/>
            <a:endParaRPr lang="fr-FR" sz="1800" dirty="0">
              <a:solidFill>
                <a:srgbClr val="000000"/>
              </a:solidFill>
              <a:latin typeface="Times" panose="02020603060405020304" pitchFamily="18" charset="0"/>
            </a:endParaRPr>
          </a:p>
          <a:p>
            <a:pPr algn="ctr"/>
            <a:r>
              <a:rPr lang="fr-FR" sz="1800" dirty="0">
                <a:solidFill>
                  <a:srgbClr val="031AF3"/>
                </a:solidFill>
                <a:effectLst/>
                <a:latin typeface="Times" panose="02020603060405020304" pitchFamily="18" charset="0"/>
                <a:ea typeface="Calibri" panose="020F0502020204030204" pitchFamily="34" charset="0"/>
                <a:cs typeface="Times" panose="02020603060405020304" pitchFamily="18" charset="0"/>
              </a:rPr>
              <a:t>Site </a:t>
            </a:r>
            <a:r>
              <a:rPr lang="fr-FR" sz="1800" dirty="0" err="1">
                <a:solidFill>
                  <a:srgbClr val="031AF3"/>
                </a:solidFill>
                <a:effectLst/>
                <a:latin typeface="Times" panose="02020603060405020304" pitchFamily="18" charset="0"/>
                <a:ea typeface="Calibri" panose="020F0502020204030204" pitchFamily="34" charset="0"/>
                <a:cs typeface="Times" panose="02020603060405020304" pitchFamily="18" charset="0"/>
              </a:rPr>
              <a:t>Web:www.iso.org</a:t>
            </a:r>
            <a:endParaRPr lang="fr-FR" dirty="0"/>
          </a:p>
        </p:txBody>
      </p:sp>
      <p:sp>
        <p:nvSpPr>
          <p:cNvPr id="5" name="Espace réservé du numéro de diapositive 4">
            <a:extLst>
              <a:ext uri="{FF2B5EF4-FFF2-40B4-BE49-F238E27FC236}">
                <a16:creationId xmlns:a16="http://schemas.microsoft.com/office/drawing/2014/main" id="{EACECB1F-D008-CCBB-76C7-523C40FBE07B}"/>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483648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DC232F-5D90-9F97-B1D2-A51C0313BD0C}"/>
              </a:ext>
            </a:extLst>
          </p:cNvPr>
          <p:cNvSpPr>
            <a:spLocks noGrp="1"/>
          </p:cNvSpPr>
          <p:nvPr>
            <p:ph type="ctrTitle"/>
          </p:nvPr>
        </p:nvSpPr>
        <p:spPr>
          <a:xfrm>
            <a:off x="2928401" y="81280"/>
            <a:ext cx="8574622" cy="1595121"/>
          </a:xfrm>
        </p:spPr>
        <p:txBody>
          <a:bodyPr>
            <a:normAutofit/>
          </a:bodyPr>
          <a:lstStyle/>
          <a:p>
            <a:pPr algn="ctr"/>
            <a:r>
              <a:rPr lang="fr-FR" sz="4000" dirty="0">
                <a:solidFill>
                  <a:srgbClr val="FF0000"/>
                </a:solidFill>
              </a:rPr>
              <a:t>Présentation:</a:t>
            </a:r>
          </a:p>
        </p:txBody>
      </p:sp>
      <p:sp>
        <p:nvSpPr>
          <p:cNvPr id="3" name="Sous-titre 2">
            <a:extLst>
              <a:ext uri="{FF2B5EF4-FFF2-40B4-BE49-F238E27FC236}">
                <a16:creationId xmlns:a16="http://schemas.microsoft.com/office/drawing/2014/main" id="{B5C2EB38-C080-FD19-D47D-2D48A5B2C616}"/>
              </a:ext>
            </a:extLst>
          </p:cNvPr>
          <p:cNvSpPr>
            <a:spLocks noGrp="1"/>
          </p:cNvSpPr>
          <p:nvPr>
            <p:ph type="subTitle" idx="1"/>
          </p:nvPr>
        </p:nvSpPr>
        <p:spPr>
          <a:xfrm>
            <a:off x="4642320" y="2424853"/>
            <a:ext cx="5146783" cy="902548"/>
          </a:xfrm>
        </p:spPr>
        <p:txBody>
          <a:bodyPr>
            <a:normAutofit fontScale="92500"/>
          </a:bodyPr>
          <a:lstStyle/>
          <a:p>
            <a:pPr algn="l"/>
            <a:r>
              <a:rPr lang="fr-FR" sz="3600" kern="1800" spc="-10" dirty="0">
                <a:solidFill>
                  <a:srgbClr val="000000"/>
                </a:solidFill>
                <a:effectLst/>
                <a:latin typeface="var(--fonts--titres)"/>
                <a:ea typeface="Times New Roman" panose="02020603050405020304" pitchFamily="18" charset="0"/>
                <a:cs typeface="Times New Roman" panose="02020603050405020304" pitchFamily="18" charset="0"/>
              </a:rPr>
              <a:t>ISO 27000, 27001 et 27032 </a:t>
            </a:r>
            <a:endParaRPr lang="fr-FR" sz="36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fr-FR" dirty="0"/>
          </a:p>
        </p:txBody>
      </p:sp>
      <p:sp>
        <p:nvSpPr>
          <p:cNvPr id="5" name="Espace réservé du numéro de diapositive 4">
            <a:extLst>
              <a:ext uri="{FF2B5EF4-FFF2-40B4-BE49-F238E27FC236}">
                <a16:creationId xmlns:a16="http://schemas.microsoft.com/office/drawing/2014/main" id="{719C852F-FD1F-0D05-65C4-AEB9F99D45DE}"/>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3718926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97A7B7-8570-3479-C248-981ABB8DA589}"/>
              </a:ext>
            </a:extLst>
          </p:cNvPr>
          <p:cNvSpPr>
            <a:spLocks noGrp="1"/>
          </p:cNvSpPr>
          <p:nvPr>
            <p:ph type="title"/>
          </p:nvPr>
        </p:nvSpPr>
        <p:spPr>
          <a:xfrm>
            <a:off x="1484311" y="146819"/>
            <a:ext cx="10018713" cy="465990"/>
          </a:xfrm>
        </p:spPr>
        <p:txBody>
          <a:bodyPr>
            <a:noAutofit/>
          </a:bodyPr>
          <a:lstStyle/>
          <a:p>
            <a:r>
              <a:rPr lang="fr-FR" dirty="0">
                <a:solidFill>
                  <a:srgbClr val="FF0000"/>
                </a:solidFill>
              </a:rPr>
              <a:t>ISO 27000</a:t>
            </a:r>
          </a:p>
        </p:txBody>
      </p:sp>
      <p:sp>
        <p:nvSpPr>
          <p:cNvPr id="3" name="ZoneTexte 2">
            <a:extLst>
              <a:ext uri="{FF2B5EF4-FFF2-40B4-BE49-F238E27FC236}">
                <a16:creationId xmlns:a16="http://schemas.microsoft.com/office/drawing/2014/main" id="{8EACAD40-D58A-6BD2-D3EF-B4C92DFFDD08}"/>
              </a:ext>
            </a:extLst>
          </p:cNvPr>
          <p:cNvSpPr txBox="1"/>
          <p:nvPr/>
        </p:nvSpPr>
        <p:spPr>
          <a:xfrm>
            <a:off x="1789111" y="700764"/>
            <a:ext cx="10018713" cy="1631216"/>
          </a:xfrm>
          <a:prstGeom prst="rect">
            <a:avLst/>
          </a:prstGeom>
          <a:noFill/>
        </p:spPr>
        <p:txBody>
          <a:bodyPr wrap="square" rtlCol="0">
            <a:spAutoFit/>
          </a:bodyPr>
          <a:lstStyle/>
          <a:p>
            <a:r>
              <a:rPr lang="fr-FR" sz="2400" dirty="0"/>
              <a:t>La norme ISO 27000 définit à la fois des exigences d’organisation (processus) et de gouvernance .</a:t>
            </a:r>
          </a:p>
          <a:p>
            <a:r>
              <a:rPr lang="fr-FR" sz="2400" dirty="0"/>
              <a:t>Ce sont les éléments de pilotages (analyse de risque, audite interne, revue de direction etc</a:t>
            </a:r>
            <a:r>
              <a:rPr lang="fr-FR" sz="2800" dirty="0"/>
              <a:t>.</a:t>
            </a:r>
          </a:p>
        </p:txBody>
      </p:sp>
      <p:sp>
        <p:nvSpPr>
          <p:cNvPr id="4" name="ZoneTexte 3">
            <a:extLst>
              <a:ext uri="{FF2B5EF4-FFF2-40B4-BE49-F238E27FC236}">
                <a16:creationId xmlns:a16="http://schemas.microsoft.com/office/drawing/2014/main" id="{4379DC05-86DB-0A72-9D1A-661411320633}"/>
              </a:ext>
            </a:extLst>
          </p:cNvPr>
          <p:cNvSpPr txBox="1"/>
          <p:nvPr/>
        </p:nvSpPr>
        <p:spPr>
          <a:xfrm>
            <a:off x="1950720" y="2546459"/>
            <a:ext cx="7782560" cy="1261884"/>
          </a:xfrm>
          <a:prstGeom prst="rect">
            <a:avLst/>
          </a:prstGeom>
          <a:noFill/>
        </p:spPr>
        <p:txBody>
          <a:bodyPr wrap="square" rtlCol="0">
            <a:spAutoFit/>
          </a:bodyPr>
          <a:lstStyle/>
          <a:p>
            <a:r>
              <a:rPr lang="fr-FR" sz="2400" b="0" i="0" u="none" strike="noStrike" baseline="0" dirty="0">
                <a:solidFill>
                  <a:srgbClr val="000000"/>
                </a:solidFill>
                <a:latin typeface="Arial" panose="020B0604020202020204" pitchFamily="34" charset="0"/>
              </a:rPr>
              <a:t>Les trois propriétés essentielles de la sécurité de l’information sont la </a:t>
            </a:r>
            <a:r>
              <a:rPr lang="fr-FR" sz="2400" b="1" i="0" u="none" strike="noStrike" baseline="0" dirty="0">
                <a:solidFill>
                  <a:srgbClr val="000000"/>
                </a:solidFill>
                <a:latin typeface="Arial" panose="020B0604020202020204" pitchFamily="34" charset="0"/>
              </a:rPr>
              <a:t>confidentialité, l’intégrité et la disponibilité </a:t>
            </a:r>
            <a:r>
              <a:rPr lang="fr-FR" sz="2400" b="0" i="0" u="none" strike="noStrike" baseline="0" dirty="0">
                <a:solidFill>
                  <a:srgbClr val="000000"/>
                </a:solidFill>
                <a:latin typeface="Arial" panose="020B0604020202020204" pitchFamily="34" charset="0"/>
              </a:rPr>
              <a:t>comme montré dans la figure</a:t>
            </a:r>
            <a:r>
              <a:rPr lang="fr-FR" sz="2800" b="0" i="0" u="none" strike="noStrike" baseline="0" dirty="0">
                <a:solidFill>
                  <a:srgbClr val="000000"/>
                </a:solidFill>
                <a:latin typeface="Arial" panose="020B0604020202020204" pitchFamily="34" charset="0"/>
              </a:rPr>
              <a:t>. </a:t>
            </a:r>
            <a:endParaRPr lang="fr-FR" sz="2800" dirty="0"/>
          </a:p>
        </p:txBody>
      </p:sp>
      <p:pic>
        <p:nvPicPr>
          <p:cNvPr id="6" name="Image 5">
            <a:extLst>
              <a:ext uri="{FF2B5EF4-FFF2-40B4-BE49-F238E27FC236}">
                <a16:creationId xmlns:a16="http://schemas.microsoft.com/office/drawing/2014/main" id="{0D2B56FE-8786-1AB2-1478-E3FCDA32D342}"/>
              </a:ext>
            </a:extLst>
          </p:cNvPr>
          <p:cNvPicPr>
            <a:picLocks noChangeAspect="1"/>
          </p:cNvPicPr>
          <p:nvPr/>
        </p:nvPicPr>
        <p:blipFill>
          <a:blip r:embed="rId2"/>
          <a:stretch>
            <a:fillRect/>
          </a:stretch>
        </p:blipFill>
        <p:spPr>
          <a:xfrm>
            <a:off x="5273367" y="4019651"/>
            <a:ext cx="5678489" cy="2924709"/>
          </a:xfrm>
          <a:prstGeom prst="rect">
            <a:avLst/>
          </a:prstGeom>
        </p:spPr>
      </p:pic>
      <p:sp>
        <p:nvSpPr>
          <p:cNvPr id="7" name="Espace réservé du numéro de diapositive 6">
            <a:extLst>
              <a:ext uri="{FF2B5EF4-FFF2-40B4-BE49-F238E27FC236}">
                <a16:creationId xmlns:a16="http://schemas.microsoft.com/office/drawing/2014/main" id="{5755FFA3-9CC8-6274-73DF-DF468D546C47}"/>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3387256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2FE83563-EE6D-4BDD-A8C0-12D045208A87}"/>
              </a:ext>
            </a:extLst>
          </p:cNvPr>
          <p:cNvSpPr txBox="1"/>
          <p:nvPr/>
        </p:nvSpPr>
        <p:spPr>
          <a:xfrm>
            <a:off x="1930400" y="629920"/>
            <a:ext cx="9906000" cy="3447098"/>
          </a:xfrm>
          <a:prstGeom prst="rect">
            <a:avLst/>
          </a:prstGeom>
          <a:noFill/>
        </p:spPr>
        <p:txBody>
          <a:bodyPr wrap="square" rtlCol="0">
            <a:spAutoFit/>
          </a:bodyPr>
          <a:lstStyle/>
          <a:p>
            <a:r>
              <a:rPr lang="fr-FR" sz="2000" dirty="0"/>
              <a:t>• Confidentialité : Garantir l'accès aux informations uniquement aux personnes autorisées</a:t>
            </a:r>
          </a:p>
          <a:p>
            <a:br>
              <a:rPr lang="fr-FR" sz="2000" dirty="0"/>
            </a:br>
            <a:r>
              <a:rPr lang="fr-FR" sz="2000" dirty="0"/>
              <a:t>• Intégrité : Préserver l'exactitude et la fiabilité des informations</a:t>
            </a:r>
          </a:p>
          <a:p>
            <a:br>
              <a:rPr lang="fr-FR" sz="2000" dirty="0"/>
            </a:br>
            <a:r>
              <a:rPr lang="fr-FR" sz="2000" dirty="0"/>
              <a:t>• Disponibilité : Garantir l'accès aux informations en cas de besoin</a:t>
            </a:r>
          </a:p>
          <a:p>
            <a:br>
              <a:rPr lang="fr-FR" sz="2000" dirty="0"/>
            </a:br>
            <a:r>
              <a:rPr lang="fr-FR" sz="2000" dirty="0"/>
              <a:t>    - Approche axée sur les risques : Identifier et atténuer les risques</a:t>
            </a:r>
          </a:p>
          <a:p>
            <a:br>
              <a:rPr lang="fr-FR" sz="2000" dirty="0"/>
            </a:br>
            <a:r>
              <a:rPr lang="fr-FR" sz="2000" dirty="0"/>
              <a:t>  - Amélioration continue : Mise à jour régulière des mesures de sécurité</a:t>
            </a:r>
            <a:br>
              <a:rPr lang="fr-FR" sz="2000" dirty="0"/>
            </a:br>
            <a:br>
              <a:rPr lang="fr-FR" sz="2000" dirty="0"/>
            </a:br>
            <a:endParaRPr lang="fr-FR" sz="2000" dirty="0"/>
          </a:p>
        </p:txBody>
      </p:sp>
      <p:sp>
        <p:nvSpPr>
          <p:cNvPr id="7" name="ZoneTexte 6">
            <a:extLst>
              <a:ext uri="{FF2B5EF4-FFF2-40B4-BE49-F238E27FC236}">
                <a16:creationId xmlns:a16="http://schemas.microsoft.com/office/drawing/2014/main" id="{4E65C447-AC7E-D5A5-84F5-4D88837F6DA6}"/>
              </a:ext>
            </a:extLst>
          </p:cNvPr>
          <p:cNvSpPr txBox="1"/>
          <p:nvPr/>
        </p:nvSpPr>
        <p:spPr>
          <a:xfrm>
            <a:off x="2387600" y="3891955"/>
            <a:ext cx="9804400" cy="2554545"/>
          </a:xfrm>
          <a:prstGeom prst="rect">
            <a:avLst/>
          </a:prstGeom>
          <a:noFill/>
        </p:spPr>
        <p:txBody>
          <a:bodyPr wrap="square" rtlCol="0">
            <a:spAutoFit/>
          </a:bodyPr>
          <a:lstStyle/>
          <a:p>
            <a:r>
              <a:rPr lang="fr-FR" sz="2000" dirty="0"/>
              <a:t>Prenons comme exemple votre compte en banque. L’information sur le compte doit être protégée :</a:t>
            </a:r>
          </a:p>
          <a:p>
            <a:endParaRPr lang="fr-FR" sz="2000" dirty="0"/>
          </a:p>
          <a:p>
            <a:pPr marL="285750" indent="-285750">
              <a:buFont typeface="Wingdings" panose="05000000000000000000" pitchFamily="2" charset="2"/>
              <a:buChar char="Ø"/>
            </a:pPr>
            <a:r>
              <a:rPr lang="fr-FR" sz="2000" dirty="0"/>
              <a:t>sa confidentialité – l’information doit rester secrète</a:t>
            </a:r>
          </a:p>
          <a:p>
            <a:endParaRPr lang="fr-FR" sz="2000" dirty="0"/>
          </a:p>
          <a:p>
            <a:pPr marL="285750" indent="-285750">
              <a:buFont typeface="Wingdings" panose="05000000000000000000" pitchFamily="2" charset="2"/>
              <a:buChar char="Ø"/>
            </a:pPr>
            <a:r>
              <a:rPr lang="fr-FR" sz="2000" dirty="0"/>
              <a:t>son intégrité – l’information du total doit être exacte et ne doit pas changer</a:t>
            </a:r>
          </a:p>
          <a:p>
            <a:endParaRPr lang="fr-FR" sz="2000" dirty="0"/>
          </a:p>
          <a:p>
            <a:pPr marL="285750" indent="-285750">
              <a:buFont typeface="Wingdings" panose="05000000000000000000" pitchFamily="2" charset="2"/>
              <a:buChar char="Ø"/>
            </a:pPr>
            <a:r>
              <a:rPr lang="fr-FR" sz="2000" dirty="0"/>
              <a:t>sa disponibilité – l’information doit rester accessible en temps voulu</a:t>
            </a:r>
          </a:p>
        </p:txBody>
      </p:sp>
      <p:sp>
        <p:nvSpPr>
          <p:cNvPr id="4" name="Espace réservé du numéro de diapositive 3">
            <a:extLst>
              <a:ext uri="{FF2B5EF4-FFF2-40B4-BE49-F238E27FC236}">
                <a16:creationId xmlns:a16="http://schemas.microsoft.com/office/drawing/2014/main" id="{D70B4008-0E98-D462-AFD5-345783E550B2}"/>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1496827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3E9ABD-1700-D3C2-C637-BF1E8FECCB57}"/>
              </a:ext>
            </a:extLst>
          </p:cNvPr>
          <p:cNvSpPr>
            <a:spLocks noGrp="1"/>
          </p:cNvSpPr>
          <p:nvPr>
            <p:ph type="title"/>
          </p:nvPr>
        </p:nvSpPr>
        <p:spPr/>
        <p:txBody>
          <a:bodyPr>
            <a:normAutofit/>
          </a:bodyPr>
          <a:lstStyle/>
          <a:p>
            <a:r>
              <a:rPr lang="fr-FR" sz="3600" dirty="0">
                <a:solidFill>
                  <a:srgbClr val="FF0000"/>
                </a:solidFill>
              </a:rPr>
              <a:t>Historiques</a:t>
            </a:r>
          </a:p>
        </p:txBody>
      </p:sp>
      <p:pic>
        <p:nvPicPr>
          <p:cNvPr id="5" name="Image 4">
            <a:extLst>
              <a:ext uri="{FF2B5EF4-FFF2-40B4-BE49-F238E27FC236}">
                <a16:creationId xmlns:a16="http://schemas.microsoft.com/office/drawing/2014/main" id="{51BC5664-DEEC-83C9-3CC2-29C2C9EDC447}"/>
              </a:ext>
            </a:extLst>
          </p:cNvPr>
          <p:cNvPicPr>
            <a:picLocks noChangeAspect="1"/>
          </p:cNvPicPr>
          <p:nvPr/>
        </p:nvPicPr>
        <p:blipFill>
          <a:blip r:embed="rId2"/>
          <a:stretch>
            <a:fillRect/>
          </a:stretch>
        </p:blipFill>
        <p:spPr>
          <a:xfrm>
            <a:off x="1788160" y="1920240"/>
            <a:ext cx="9377680" cy="4622800"/>
          </a:xfrm>
          <a:prstGeom prst="rect">
            <a:avLst/>
          </a:prstGeom>
        </p:spPr>
      </p:pic>
      <p:sp>
        <p:nvSpPr>
          <p:cNvPr id="4" name="Espace réservé du numéro de diapositive 3">
            <a:extLst>
              <a:ext uri="{FF2B5EF4-FFF2-40B4-BE49-F238E27FC236}">
                <a16:creationId xmlns:a16="http://schemas.microsoft.com/office/drawing/2014/main" id="{5B096FA4-1C01-13E1-E436-A7C3C11CC563}"/>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455640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473760-7BEE-0B7F-B5DF-9609DCFF844B}"/>
              </a:ext>
            </a:extLst>
          </p:cNvPr>
          <p:cNvSpPr>
            <a:spLocks noGrp="1"/>
          </p:cNvSpPr>
          <p:nvPr>
            <p:ph type="title"/>
          </p:nvPr>
        </p:nvSpPr>
        <p:spPr/>
        <p:txBody>
          <a:bodyPr/>
          <a:lstStyle/>
          <a:p>
            <a:r>
              <a:rPr lang="fr-FR" dirty="0">
                <a:solidFill>
                  <a:srgbClr val="FF0000"/>
                </a:solidFill>
              </a:rPr>
              <a:t>ISO 27001</a:t>
            </a:r>
          </a:p>
        </p:txBody>
      </p:sp>
      <p:sp>
        <p:nvSpPr>
          <p:cNvPr id="4" name="Espace réservé du numéro de diapositive 3">
            <a:extLst>
              <a:ext uri="{FF2B5EF4-FFF2-40B4-BE49-F238E27FC236}">
                <a16:creationId xmlns:a16="http://schemas.microsoft.com/office/drawing/2014/main" id="{2F50EBFB-4495-3AC5-DFF0-52889946845E}"/>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735162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DDD101-411A-F9E1-BCD8-4F0C556A6718}"/>
              </a:ext>
            </a:extLst>
          </p:cNvPr>
          <p:cNvSpPr>
            <a:spLocks noGrp="1"/>
          </p:cNvSpPr>
          <p:nvPr>
            <p:ph type="title"/>
          </p:nvPr>
        </p:nvSpPr>
        <p:spPr>
          <a:xfrm>
            <a:off x="1310640" y="685800"/>
            <a:ext cx="10312399" cy="5410200"/>
          </a:xfrm>
        </p:spPr>
        <p:txBody>
          <a:bodyPr>
            <a:normAutofit/>
          </a:bodyPr>
          <a:lstStyle/>
          <a:p>
            <a:pPr>
              <a:spcAft>
                <a:spcPts val="750"/>
              </a:spcAft>
            </a:pPr>
            <a:r>
              <a:rPr lang="fr-FR"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ISO 27001 est la norme internationale de référence pour la gestion de la sécurité de l'information. Elle aide les entreprises à structurer leur protection des données. </a:t>
            </a:r>
            <a:br>
              <a:rPr lang="fr-FR" sz="1800" dirty="0">
                <a:solidFill>
                  <a:srgbClr val="000000"/>
                </a:solidFill>
                <a:latin typeface="Arial" panose="020B0604020202020204" pitchFamily="34" charset="0"/>
                <a:ea typeface="Calibri" panose="020F0502020204030204" pitchFamily="34" charset="0"/>
                <a:cs typeface="Times New Roman" panose="02020603050405020304" pitchFamily="18" charset="0"/>
              </a:rPr>
            </a:br>
            <a:br>
              <a:rPr lang="fr-FR" sz="1800" dirty="0">
                <a:solidFill>
                  <a:srgbClr val="000000"/>
                </a:solidFill>
                <a:latin typeface="Arial" panose="020B0604020202020204" pitchFamily="34" charset="0"/>
                <a:ea typeface="Calibri" panose="020F0502020204030204" pitchFamily="34" charset="0"/>
                <a:cs typeface="Times New Roman" panose="02020603050405020304" pitchFamily="18" charset="0"/>
              </a:rPr>
            </a:br>
            <a:r>
              <a:rPr lang="fr-FR" sz="1800" dirty="0">
                <a:solidFill>
                  <a:srgbClr val="3B3B3B"/>
                </a:solidFill>
                <a:latin typeface="Arial" panose="020B0604020202020204" pitchFamily="34" charset="0"/>
                <a:ea typeface="Calibri" panose="020F0502020204030204" pitchFamily="34" charset="0"/>
                <a:cs typeface="Times New Roman" panose="02020603050405020304" pitchFamily="18" charset="0"/>
              </a:rPr>
              <a:t>Elle</a:t>
            </a:r>
            <a:r>
              <a:rPr lang="fr-FR" sz="1800" dirty="0">
                <a:solidFill>
                  <a:srgbClr val="3B3B3B"/>
                </a:solidFill>
                <a:effectLst/>
                <a:latin typeface="Arial" panose="020B0604020202020204" pitchFamily="34" charset="0"/>
                <a:ea typeface="Calibri" panose="020F0502020204030204" pitchFamily="34" charset="0"/>
              </a:rPr>
              <a:t> est une </a:t>
            </a:r>
            <a:r>
              <a:rPr lang="fr-FR" sz="1800" b="1" dirty="0">
                <a:solidFill>
                  <a:srgbClr val="3B3B3B"/>
                </a:solidFill>
                <a:effectLst/>
                <a:latin typeface="Arial" panose="020B0604020202020204" pitchFamily="34" charset="0"/>
                <a:ea typeface="Calibri" panose="020F0502020204030204" pitchFamily="34" charset="0"/>
              </a:rPr>
              <a:t>norme internationale</a:t>
            </a:r>
            <a:r>
              <a:rPr lang="fr-FR" sz="1800" dirty="0">
                <a:solidFill>
                  <a:srgbClr val="3B3B3B"/>
                </a:solidFill>
                <a:effectLst/>
                <a:latin typeface="Arial" panose="020B0604020202020204" pitchFamily="34" charset="0"/>
                <a:ea typeface="Calibri" panose="020F0502020204030204" pitchFamily="34" charset="0"/>
              </a:rPr>
              <a:t> qui définit </a:t>
            </a:r>
            <a:r>
              <a:rPr lang="fr-FR" sz="1800" b="1" dirty="0">
                <a:solidFill>
                  <a:srgbClr val="3B3B3B"/>
                </a:solidFill>
                <a:effectLst/>
                <a:latin typeface="Arial" panose="020B0604020202020204" pitchFamily="34" charset="0"/>
                <a:ea typeface="Calibri" panose="020F0502020204030204" pitchFamily="34" charset="0"/>
              </a:rPr>
              <a:t>les exigences à respecter pour la sécurité de l'information</a:t>
            </a:r>
            <a:r>
              <a:rPr lang="fr-FR" sz="1800" dirty="0">
                <a:solidFill>
                  <a:srgbClr val="3B3B3B"/>
                </a:solidFill>
                <a:effectLst/>
                <a:latin typeface="Arial" panose="020B0604020202020204" pitchFamily="34" charset="0"/>
                <a:ea typeface="Calibri" panose="020F0502020204030204" pitchFamily="34" charset="0"/>
              </a:rPr>
              <a:t>. Elle aide les organisations (TPE, PME,…) à garantir </a:t>
            </a:r>
            <a:r>
              <a:rPr lang="fr-FR" sz="1800" b="1" dirty="0">
                <a:solidFill>
                  <a:srgbClr val="3B3B3B"/>
                </a:solidFill>
                <a:effectLst/>
                <a:latin typeface="Arial" panose="020B0604020202020204" pitchFamily="34" charset="0"/>
                <a:ea typeface="Calibri" panose="020F0502020204030204" pitchFamily="34" charset="0"/>
              </a:rPr>
              <a:t>la confidentialité, l’intégrité et la disponibilité</a:t>
            </a:r>
            <a:r>
              <a:rPr lang="fr-FR" sz="1800" dirty="0">
                <a:solidFill>
                  <a:srgbClr val="3B3B3B"/>
                </a:solidFill>
                <a:effectLst/>
                <a:latin typeface="Arial" panose="020B0604020202020204" pitchFamily="34" charset="0"/>
                <a:ea typeface="Calibri" panose="020F0502020204030204" pitchFamily="34" charset="0"/>
              </a:rPr>
              <a:t> des données.</a:t>
            </a:r>
            <a:br>
              <a:rPr lang="fr-FR" sz="1800" dirty="0">
                <a:solidFill>
                  <a:srgbClr val="3B3B3B"/>
                </a:solidFill>
                <a:effectLst/>
                <a:latin typeface="Arial" panose="020B0604020202020204" pitchFamily="34" charset="0"/>
                <a:ea typeface="Calibri" panose="020F0502020204030204" pitchFamily="34" charset="0"/>
              </a:rPr>
            </a:br>
            <a:br>
              <a:rPr lang="fr-FR" sz="1800" dirty="0">
                <a:effectLst/>
                <a:latin typeface="Times New Roman" panose="02020603050405020304" pitchFamily="18" charset="0"/>
                <a:ea typeface="Calibri" panose="020F0502020204030204" pitchFamily="34" charset="0"/>
              </a:rPr>
            </a:br>
            <a:r>
              <a:rPr lang="fr-FR" sz="1800" dirty="0">
                <a:solidFill>
                  <a:srgbClr val="3B3B3B"/>
                </a:solidFill>
                <a:effectLst/>
                <a:latin typeface="Arial" panose="020B0604020202020204" pitchFamily="34" charset="0"/>
                <a:ea typeface="Calibri" panose="020F0502020204030204" pitchFamily="34" charset="0"/>
              </a:rPr>
              <a:t>Devenue un standard essentiel face à la montée des cyberattaques et violations de données, l'ISO 27001 aide les organisations à </a:t>
            </a:r>
            <a:r>
              <a:rPr lang="fr-FR" sz="1800" b="1" dirty="0">
                <a:solidFill>
                  <a:srgbClr val="3B3B3B"/>
                </a:solidFill>
                <a:effectLst/>
                <a:latin typeface="Arial" panose="020B0604020202020204" pitchFamily="34" charset="0"/>
                <a:ea typeface="Calibri" panose="020F0502020204030204" pitchFamily="34" charset="0"/>
              </a:rPr>
              <a:t>mieux gérer les risques et à protéger les informations sensibles</a:t>
            </a:r>
            <a:r>
              <a:rPr lang="fr-FR" sz="1800" dirty="0">
                <a:solidFill>
                  <a:srgbClr val="3B3B3B"/>
                </a:solidFill>
                <a:effectLst/>
                <a:latin typeface="Arial" panose="020B0604020202020204" pitchFamily="34" charset="0"/>
                <a:ea typeface="Calibri" panose="020F0502020204030204" pitchFamily="34" charset="0"/>
              </a:rPr>
              <a:t>.</a:t>
            </a:r>
            <a:br>
              <a:rPr lang="fr-FR" sz="1800" dirty="0">
                <a:effectLst/>
                <a:latin typeface="Times New Roman" panose="02020603050405020304" pitchFamily="18" charset="0"/>
                <a:ea typeface="Calibri" panose="020F0502020204030204" pitchFamily="34" charset="0"/>
              </a:rPr>
            </a:br>
            <a:r>
              <a:rPr lang="fr-FR" sz="1800" dirty="0">
                <a:solidFill>
                  <a:srgbClr val="3B3B3B"/>
                </a:solidFill>
                <a:effectLst/>
                <a:latin typeface="Arial" panose="020B0604020202020204" pitchFamily="34" charset="0"/>
                <a:ea typeface="Calibri" panose="020F0502020204030204" pitchFamily="34" charset="0"/>
              </a:rPr>
              <a:t>Cette norme </a:t>
            </a:r>
            <a:r>
              <a:rPr lang="fr-FR" sz="1800" b="1" dirty="0">
                <a:solidFill>
                  <a:srgbClr val="3B3B3B"/>
                </a:solidFill>
                <a:effectLst/>
                <a:latin typeface="Arial" panose="020B0604020202020204" pitchFamily="34" charset="0"/>
                <a:ea typeface="Calibri" panose="020F0502020204030204" pitchFamily="34" charset="0"/>
              </a:rPr>
              <a:t>s'applique à toutes les organisations</a:t>
            </a:r>
            <a:r>
              <a:rPr lang="fr-FR" sz="1800" dirty="0">
                <a:solidFill>
                  <a:srgbClr val="3B3B3B"/>
                </a:solidFill>
                <a:effectLst/>
                <a:latin typeface="Arial" panose="020B0604020202020204" pitchFamily="34" charset="0"/>
                <a:ea typeface="Calibri" panose="020F0502020204030204" pitchFamily="34" charset="0"/>
              </a:rPr>
              <a:t>, grandes ou petites, publiques ou privées, quel que soit leur secteur. Elle est adaptée à tous ceux qui souhaitent sécuriser leurs données et répondre aux exigences croissantes en matière de protection des informations.</a:t>
            </a:r>
            <a:br>
              <a:rPr lang="fr-FR" sz="1800" dirty="0">
                <a:effectLst/>
                <a:latin typeface="Times New Roman" panose="02020603050405020304" pitchFamily="18" charset="0"/>
                <a:ea typeface="Calibri" panose="020F0502020204030204" pitchFamily="34" charset="0"/>
              </a:rPr>
            </a:br>
            <a:endParaRPr lang="fr-FR" dirty="0"/>
          </a:p>
        </p:txBody>
      </p:sp>
      <p:sp>
        <p:nvSpPr>
          <p:cNvPr id="4" name="Espace réservé du numéro de diapositive 3">
            <a:extLst>
              <a:ext uri="{FF2B5EF4-FFF2-40B4-BE49-F238E27FC236}">
                <a16:creationId xmlns:a16="http://schemas.microsoft.com/office/drawing/2014/main" id="{1A14648B-5696-8580-BD54-319A7CC3C5C3}"/>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2795846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2928401" y="1380068"/>
            <a:ext cx="8574622" cy="3059852"/>
          </a:xfrm>
        </p:spPr>
        <p:txBody>
          <a:bodyPr>
            <a:noAutofit/>
          </a:bodyPr>
          <a:lstStyle/>
          <a:p>
            <a:pPr algn="l"/>
            <a:r>
              <a:rPr lang="fr-FR" sz="3200" b="1" dirty="0"/>
              <a:t>Le rôle de l'analyse de risques:</a:t>
            </a:r>
            <a:br>
              <a:rPr lang="fr-FR" sz="3200" b="1" dirty="0"/>
            </a:br>
            <a:br>
              <a:rPr lang="fr-FR" sz="1800" b="1" dirty="0"/>
            </a:br>
            <a:r>
              <a:rPr lang="fr-FR" sz="2000" dirty="0"/>
              <a:t>L’analyse des risques est une étape fondamentale dans l’ISO 27001. Elle permet à l’organisation d</a:t>
            </a:r>
            <a:r>
              <a:rPr lang="fr-FR" sz="2000" b="1" dirty="0"/>
              <a:t>’identifier les vulnérabilités et les menaces</a:t>
            </a:r>
            <a:r>
              <a:rPr lang="fr-FR" sz="2000" dirty="0"/>
              <a:t> pesant sur ses informations, et de </a:t>
            </a:r>
            <a:r>
              <a:rPr lang="fr-FR" sz="2000" b="1" dirty="0"/>
              <a:t>développer des scénarios de risques associés.</a:t>
            </a:r>
            <a:br>
              <a:rPr lang="fr-FR" sz="2000" dirty="0"/>
            </a:br>
            <a:r>
              <a:rPr lang="fr-FR" sz="2000" dirty="0"/>
              <a:t>En évaluant chaque risque en fonction de sa gravité (faible, moyen ou critique), l’organisation peut</a:t>
            </a:r>
            <a:r>
              <a:rPr lang="fr-FR" sz="2000" b="1" dirty="0"/>
              <a:t> prioriser les actions </a:t>
            </a:r>
            <a:r>
              <a:rPr lang="fr-FR" sz="2000" dirty="0"/>
              <a:t>à entreprendre. Cette évaluation aide à comprendre l'impact potentiel des risques et à prendre des </a:t>
            </a:r>
            <a:r>
              <a:rPr lang="fr-FR" sz="2000" b="1" dirty="0"/>
              <a:t>décisions éclairées. </a:t>
            </a:r>
            <a:r>
              <a:rPr lang="fr-FR" sz="2000" dirty="0"/>
              <a:t> </a:t>
            </a:r>
            <a:br>
              <a:rPr lang="fr-FR" sz="2000" dirty="0"/>
            </a:br>
            <a:endParaRPr lang="fr-FR" sz="1800" dirty="0"/>
          </a:p>
        </p:txBody>
      </p:sp>
      <p:sp>
        <p:nvSpPr>
          <p:cNvPr id="5" name="Espace réservé du numéro de diapositive 4">
            <a:extLst>
              <a:ext uri="{FF2B5EF4-FFF2-40B4-BE49-F238E27FC236}">
                <a16:creationId xmlns:a16="http://schemas.microsoft.com/office/drawing/2014/main" id="{E76FE876-B7A2-DA58-9BBC-ACD6FAAB5CF2}"/>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1713498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103D28-67B9-A4AF-AC2E-694381A81973}"/>
              </a:ext>
            </a:extLst>
          </p:cNvPr>
          <p:cNvSpPr>
            <a:spLocks noGrp="1"/>
          </p:cNvSpPr>
          <p:nvPr>
            <p:ph type="title"/>
          </p:nvPr>
        </p:nvSpPr>
        <p:spPr/>
        <p:txBody>
          <a:bodyPr/>
          <a:lstStyle/>
          <a:p>
            <a:r>
              <a:rPr lang="fr-FR" dirty="0">
                <a:solidFill>
                  <a:srgbClr val="FF0000"/>
                </a:solidFill>
              </a:rPr>
              <a:t>ISO 27002</a:t>
            </a:r>
          </a:p>
        </p:txBody>
      </p:sp>
      <p:sp>
        <p:nvSpPr>
          <p:cNvPr id="4" name="Espace réservé du numéro de diapositive 3">
            <a:extLst>
              <a:ext uri="{FF2B5EF4-FFF2-40B4-BE49-F238E27FC236}">
                <a16:creationId xmlns:a16="http://schemas.microsoft.com/office/drawing/2014/main" id="{1916787D-AB37-BE17-4359-1FB93E48EE11}"/>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527346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44B1928-CADD-3A0D-7A4D-C58D9E1B8D84}"/>
              </a:ext>
            </a:extLst>
          </p:cNvPr>
          <p:cNvSpPr txBox="1"/>
          <p:nvPr/>
        </p:nvSpPr>
        <p:spPr>
          <a:xfrm>
            <a:off x="2214880" y="2613124"/>
            <a:ext cx="9215120" cy="2423740"/>
          </a:xfrm>
          <a:prstGeom prst="rect">
            <a:avLst/>
          </a:prstGeom>
          <a:noFill/>
        </p:spPr>
        <p:txBody>
          <a:bodyPr wrap="square" rtlCol="0">
            <a:spAutoFit/>
          </a:bodyPr>
          <a:lstStyle/>
          <a:p>
            <a:pPr algn="l">
              <a:buNone/>
            </a:pPr>
            <a:r>
              <a:rPr lang="fr-FR" b="1" i="0" dirty="0">
                <a:solidFill>
                  <a:srgbClr val="404040"/>
                </a:solidFill>
                <a:effectLst/>
                <a:latin typeface="quote-cjk-patch"/>
              </a:rPr>
              <a:t>Objectifs principaux de l’ISO 27002:</a:t>
            </a:r>
          </a:p>
          <a:p>
            <a:pPr algn="l">
              <a:buNone/>
            </a:pPr>
            <a:endParaRPr lang="fr-FR" b="1" i="0" dirty="0">
              <a:solidFill>
                <a:srgbClr val="404040"/>
              </a:solidFill>
              <a:effectLst/>
              <a:latin typeface="quote-cjk-patch"/>
            </a:endParaRPr>
          </a:p>
          <a:p>
            <a:pPr algn="l">
              <a:buFont typeface="+mj-lt"/>
              <a:buAutoNum type="arabicPeriod"/>
            </a:pPr>
            <a:r>
              <a:rPr lang="fr-FR" b="1" i="0" dirty="0">
                <a:solidFill>
                  <a:srgbClr val="404040"/>
                </a:solidFill>
                <a:effectLst/>
                <a:latin typeface="quote-cjk-patch"/>
              </a:rPr>
              <a:t>Fournir un référentiel de bonnes pratiques</a:t>
            </a:r>
            <a:r>
              <a:rPr lang="fr-FR" b="0" i="0" dirty="0">
                <a:solidFill>
                  <a:srgbClr val="404040"/>
                </a:solidFill>
                <a:effectLst/>
                <a:latin typeface="quote-cjk-patch"/>
              </a:rPr>
              <a:t> pour la sécurité de l'information.</a:t>
            </a:r>
          </a:p>
          <a:p>
            <a:pPr algn="l">
              <a:buFont typeface="+mj-lt"/>
              <a:buAutoNum type="arabicPeriod"/>
            </a:pPr>
            <a:endParaRPr lang="fr-FR" b="0" i="0" dirty="0">
              <a:solidFill>
                <a:srgbClr val="404040"/>
              </a:solidFill>
              <a:effectLst/>
              <a:latin typeface="quote-cjk-patch"/>
            </a:endParaRPr>
          </a:p>
          <a:p>
            <a:pPr algn="l">
              <a:spcBef>
                <a:spcPts val="300"/>
              </a:spcBef>
              <a:buFont typeface="+mj-lt"/>
              <a:buAutoNum type="arabicPeriod"/>
            </a:pPr>
            <a:r>
              <a:rPr lang="fr-FR" b="1" i="0" dirty="0">
                <a:solidFill>
                  <a:srgbClr val="404040"/>
                </a:solidFill>
                <a:effectLst/>
                <a:latin typeface="quote-cjk-patch"/>
              </a:rPr>
              <a:t>Guider les organisations</a:t>
            </a:r>
            <a:r>
              <a:rPr lang="fr-FR" b="0" i="0" dirty="0">
                <a:solidFill>
                  <a:srgbClr val="404040"/>
                </a:solidFill>
                <a:effectLst/>
                <a:latin typeface="quote-cjk-patch"/>
              </a:rPr>
              <a:t> dans la sélection et l’implémentation des contrôles de sécurité.</a:t>
            </a:r>
          </a:p>
          <a:p>
            <a:pPr algn="l">
              <a:spcBef>
                <a:spcPts val="300"/>
              </a:spcBef>
              <a:buFont typeface="+mj-lt"/>
              <a:buAutoNum type="arabicPeriod"/>
            </a:pPr>
            <a:endParaRPr lang="fr-FR" b="0" i="0" dirty="0">
              <a:solidFill>
                <a:srgbClr val="404040"/>
              </a:solidFill>
              <a:effectLst/>
              <a:latin typeface="quote-cjk-patch"/>
            </a:endParaRPr>
          </a:p>
          <a:p>
            <a:pPr algn="l">
              <a:spcBef>
                <a:spcPts val="300"/>
              </a:spcBef>
              <a:buFont typeface="+mj-lt"/>
              <a:buAutoNum type="arabicPeriod"/>
            </a:pPr>
            <a:r>
              <a:rPr lang="fr-FR" b="1" i="0" dirty="0">
                <a:solidFill>
                  <a:srgbClr val="404040"/>
                </a:solidFill>
                <a:effectLst/>
                <a:latin typeface="quote-cjk-patch"/>
              </a:rPr>
              <a:t>Compléter ISO 27001</a:t>
            </a:r>
            <a:r>
              <a:rPr lang="fr-FR" b="0" i="0" dirty="0">
                <a:solidFill>
                  <a:srgbClr val="404040"/>
                </a:solidFill>
                <a:effectLst/>
                <a:latin typeface="quote-cjk-patch"/>
              </a:rPr>
              <a:t> en détaillant les mesures techniques, organisationnelles et juridiques.</a:t>
            </a:r>
          </a:p>
          <a:p>
            <a:endParaRPr lang="fr-FR" dirty="0"/>
          </a:p>
        </p:txBody>
      </p:sp>
      <p:sp>
        <p:nvSpPr>
          <p:cNvPr id="3" name="ZoneTexte 2">
            <a:extLst>
              <a:ext uri="{FF2B5EF4-FFF2-40B4-BE49-F238E27FC236}">
                <a16:creationId xmlns:a16="http://schemas.microsoft.com/office/drawing/2014/main" id="{246F14D3-3A2E-B206-DFB9-E9612ECA8EE4}"/>
              </a:ext>
            </a:extLst>
          </p:cNvPr>
          <p:cNvSpPr txBox="1"/>
          <p:nvPr/>
        </p:nvSpPr>
        <p:spPr>
          <a:xfrm>
            <a:off x="2113280" y="579120"/>
            <a:ext cx="9032240" cy="2308324"/>
          </a:xfrm>
          <a:prstGeom prst="rect">
            <a:avLst/>
          </a:prstGeom>
          <a:noFill/>
        </p:spPr>
        <p:txBody>
          <a:bodyPr wrap="square" rtlCol="0">
            <a:spAutoFit/>
          </a:bodyPr>
          <a:lstStyle/>
          <a:p>
            <a:pPr algn="l">
              <a:buNone/>
            </a:pPr>
            <a:r>
              <a:rPr lang="fr-FR" b="0" i="0" dirty="0">
                <a:solidFill>
                  <a:srgbClr val="404040"/>
                </a:solidFill>
                <a:effectLst/>
                <a:latin typeface="quote-cjk-patch"/>
              </a:rPr>
              <a:t>L'</a:t>
            </a:r>
            <a:r>
              <a:rPr lang="fr-FR" b="1" i="0" dirty="0">
                <a:solidFill>
                  <a:srgbClr val="404040"/>
                </a:solidFill>
                <a:effectLst/>
                <a:latin typeface="quote-cjk-patch"/>
              </a:rPr>
              <a:t>ISO/IEC 27002</a:t>
            </a:r>
            <a:r>
              <a:rPr lang="fr-FR" b="0" i="0" dirty="0">
                <a:solidFill>
                  <a:srgbClr val="404040"/>
                </a:solidFill>
                <a:effectLst/>
                <a:latin typeface="quote-cjk-patch"/>
              </a:rPr>
              <a:t> est une norme internationale qui fournit des </a:t>
            </a:r>
            <a:r>
              <a:rPr lang="fr-FR" b="1" i="0" dirty="0">
                <a:solidFill>
                  <a:srgbClr val="404040"/>
                </a:solidFill>
                <a:effectLst/>
                <a:latin typeface="quote-cjk-patch"/>
              </a:rPr>
              <a:t>lignes directrices pour la mise en œuvre des contrôles de sécurité de l'information</a:t>
            </a:r>
            <a:r>
              <a:rPr lang="fr-FR" b="0" i="0" dirty="0">
                <a:solidFill>
                  <a:srgbClr val="404040"/>
                </a:solidFill>
                <a:effectLst/>
                <a:latin typeface="quote-cjk-patch"/>
              </a:rPr>
              <a:t> dans le cadre d'un Système de Management de la Sécurité de l'Information (SMSI) conforme à </a:t>
            </a:r>
            <a:r>
              <a:rPr lang="fr-FR" b="1" i="0" dirty="0">
                <a:solidFill>
                  <a:srgbClr val="404040"/>
                </a:solidFill>
                <a:effectLst/>
                <a:latin typeface="quote-cjk-patch"/>
              </a:rPr>
              <a:t>ISO/IEC 27001</a:t>
            </a:r>
            <a:r>
              <a:rPr lang="fr-FR" b="0" i="0" dirty="0">
                <a:solidFill>
                  <a:srgbClr val="404040"/>
                </a:solidFill>
                <a:effectLst/>
                <a:latin typeface="quote-cjk-patch"/>
              </a:rPr>
              <a:t>.</a:t>
            </a:r>
          </a:p>
          <a:p>
            <a:pPr algn="l">
              <a:buNone/>
            </a:pPr>
            <a:endParaRPr lang="fr-FR" b="0" i="0" dirty="0">
              <a:solidFill>
                <a:srgbClr val="404040"/>
              </a:solidFill>
              <a:effectLst/>
              <a:latin typeface="quote-cjk-patch"/>
            </a:endParaRPr>
          </a:p>
          <a:p>
            <a:pPr algn="l">
              <a:buNone/>
            </a:pPr>
            <a:r>
              <a:rPr lang="fr-FR" b="0" i="0" dirty="0">
                <a:solidFill>
                  <a:srgbClr val="404040"/>
                </a:solidFill>
                <a:effectLst/>
                <a:latin typeface="quote-cjk-patch"/>
              </a:rPr>
              <a:t>Contrairement à </a:t>
            </a:r>
            <a:r>
              <a:rPr lang="fr-FR" b="1" i="0" dirty="0">
                <a:solidFill>
                  <a:srgbClr val="404040"/>
                </a:solidFill>
                <a:effectLst/>
                <a:latin typeface="quote-cjk-patch"/>
              </a:rPr>
              <a:t>ISO 27001</a:t>
            </a:r>
            <a:r>
              <a:rPr lang="fr-FR" b="0" i="0" dirty="0">
                <a:solidFill>
                  <a:srgbClr val="404040"/>
                </a:solidFill>
                <a:effectLst/>
                <a:latin typeface="quote-cjk-patch"/>
              </a:rPr>
              <a:t>  ou </a:t>
            </a:r>
            <a:r>
              <a:rPr lang="fr-FR" b="1" i="0" dirty="0">
                <a:solidFill>
                  <a:srgbClr val="404040"/>
                </a:solidFill>
                <a:effectLst/>
                <a:latin typeface="quote-cjk-patch"/>
              </a:rPr>
              <a:t>ISO 27032</a:t>
            </a:r>
            <a:r>
              <a:rPr lang="fr-FR" b="0" i="0" dirty="0">
                <a:solidFill>
                  <a:srgbClr val="404040"/>
                </a:solidFill>
                <a:effectLst/>
                <a:latin typeface="quote-cjk-patch"/>
              </a:rPr>
              <a:t> , </a:t>
            </a:r>
            <a:r>
              <a:rPr lang="fr-FR" b="1" i="0" dirty="0">
                <a:solidFill>
                  <a:srgbClr val="404040"/>
                </a:solidFill>
                <a:effectLst/>
                <a:latin typeface="quote-cjk-patch"/>
              </a:rPr>
              <a:t>ISO 27002 se concentre sur les mesures de sécurité concrètes</a:t>
            </a:r>
            <a:r>
              <a:rPr lang="fr-FR" b="0" i="0" dirty="0">
                <a:solidFill>
                  <a:srgbClr val="404040"/>
                </a:solidFill>
                <a:effectLst/>
                <a:latin typeface="quote-cjk-patch"/>
              </a:rPr>
              <a:t> à appliquer pour protéger les actifs informationnels.</a:t>
            </a:r>
          </a:p>
          <a:p>
            <a:pPr>
              <a:buNone/>
            </a:pPr>
            <a:br>
              <a:rPr lang="fr-FR" dirty="0"/>
            </a:br>
            <a:endParaRPr lang="fr-FR" dirty="0"/>
          </a:p>
        </p:txBody>
      </p:sp>
      <p:sp>
        <p:nvSpPr>
          <p:cNvPr id="4" name="ZoneTexte 3">
            <a:extLst>
              <a:ext uri="{FF2B5EF4-FFF2-40B4-BE49-F238E27FC236}">
                <a16:creationId xmlns:a16="http://schemas.microsoft.com/office/drawing/2014/main" id="{B90527BE-F005-F563-AD74-A65A25B3FD99}"/>
              </a:ext>
            </a:extLst>
          </p:cNvPr>
          <p:cNvSpPr txBox="1"/>
          <p:nvPr/>
        </p:nvSpPr>
        <p:spPr>
          <a:xfrm>
            <a:off x="3302000" y="5042896"/>
            <a:ext cx="9184640" cy="1477328"/>
          </a:xfrm>
          <a:prstGeom prst="rect">
            <a:avLst/>
          </a:prstGeom>
          <a:noFill/>
        </p:spPr>
        <p:txBody>
          <a:bodyPr wrap="square" rtlCol="0">
            <a:spAutoFit/>
          </a:bodyPr>
          <a:lstStyle/>
          <a:p>
            <a:pPr algn="l">
              <a:buNone/>
            </a:pPr>
            <a:r>
              <a:rPr lang="fr-FR" b="1" i="0" dirty="0">
                <a:solidFill>
                  <a:srgbClr val="404040"/>
                </a:solidFill>
                <a:effectLst/>
                <a:latin typeface="quote-cjk-patch"/>
              </a:rPr>
              <a:t>Pourquoi utiliser ISO 27002 ?</a:t>
            </a:r>
          </a:p>
          <a:p>
            <a:pPr marL="285750" indent="-285750" algn="l">
              <a:buFont typeface="Wingdings" panose="05000000000000000000" pitchFamily="2" charset="2"/>
              <a:buChar char="ü"/>
            </a:pPr>
            <a:r>
              <a:rPr lang="fr-FR" b="0" i="0" dirty="0">
                <a:solidFill>
                  <a:srgbClr val="404040"/>
                </a:solidFill>
                <a:effectLst/>
                <a:latin typeface="quote-cjk-patch"/>
              </a:rPr>
              <a:t> </a:t>
            </a:r>
            <a:r>
              <a:rPr lang="fr-FR" b="1" i="0" dirty="0">
                <a:solidFill>
                  <a:srgbClr val="404040"/>
                </a:solidFill>
                <a:effectLst/>
                <a:latin typeface="quote-cjk-patch"/>
              </a:rPr>
              <a:t>Compléter ISO 27001</a:t>
            </a:r>
            <a:r>
              <a:rPr lang="fr-FR" b="0" i="0" dirty="0">
                <a:solidFill>
                  <a:srgbClr val="404040"/>
                </a:solidFill>
                <a:effectLst/>
                <a:latin typeface="quote-cjk-patch"/>
              </a:rPr>
              <a:t> en choisissant les bons contrôles</a:t>
            </a:r>
          </a:p>
          <a:p>
            <a:pPr marL="285750" indent="-285750" algn="l">
              <a:buFont typeface="Wingdings" panose="05000000000000000000" pitchFamily="2" charset="2"/>
              <a:buChar char="ü"/>
            </a:pPr>
            <a:r>
              <a:rPr lang="fr-FR" b="1" i="0" dirty="0">
                <a:solidFill>
                  <a:srgbClr val="404040"/>
                </a:solidFill>
                <a:effectLst/>
                <a:latin typeface="quote-cjk-patch"/>
              </a:rPr>
              <a:t>Améliorer la posture de sécurité</a:t>
            </a:r>
            <a:r>
              <a:rPr lang="fr-FR" b="0" i="0" dirty="0">
                <a:solidFill>
                  <a:srgbClr val="404040"/>
                </a:solidFill>
                <a:effectLst/>
                <a:latin typeface="quote-cjk-patch"/>
              </a:rPr>
              <a:t> avec des mesures éprouvées</a:t>
            </a:r>
          </a:p>
          <a:p>
            <a:pPr marL="285750" indent="-285750" algn="l">
              <a:buFont typeface="Wingdings" panose="05000000000000000000" pitchFamily="2" charset="2"/>
              <a:buChar char="ü"/>
            </a:pPr>
            <a:r>
              <a:rPr lang="fr-FR" b="0" i="0" dirty="0">
                <a:solidFill>
                  <a:srgbClr val="404040"/>
                </a:solidFill>
                <a:effectLst/>
                <a:latin typeface="quote-cjk-patch"/>
              </a:rPr>
              <a:t> </a:t>
            </a:r>
            <a:r>
              <a:rPr lang="fr-FR" b="1" i="0" dirty="0">
                <a:solidFill>
                  <a:srgbClr val="404040"/>
                </a:solidFill>
                <a:effectLst/>
                <a:latin typeface="quote-cjk-patch"/>
              </a:rPr>
              <a:t>S’aligner sur les meilleures pratiques internationales</a:t>
            </a:r>
            <a:r>
              <a:rPr lang="fr-FR" b="0" i="0" dirty="0">
                <a:solidFill>
                  <a:srgbClr val="404040"/>
                </a:solidFill>
                <a:effectLst/>
                <a:latin typeface="quote-cjk-patch"/>
              </a:rPr>
              <a:t>.</a:t>
            </a:r>
          </a:p>
          <a:p>
            <a:endParaRPr lang="fr-FR" dirty="0"/>
          </a:p>
        </p:txBody>
      </p:sp>
      <p:sp>
        <p:nvSpPr>
          <p:cNvPr id="6" name="Espace réservé du numéro de diapositive 5">
            <a:extLst>
              <a:ext uri="{FF2B5EF4-FFF2-40B4-BE49-F238E27FC236}">
                <a16:creationId xmlns:a16="http://schemas.microsoft.com/office/drawing/2014/main" id="{3CD87BF9-FD0B-9916-0F84-BC2042E52B91}"/>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Tree>
    <p:extLst>
      <p:ext uri="{BB962C8B-B14F-4D97-AF65-F5344CB8AC3E}">
        <p14:creationId xmlns:p14="http://schemas.microsoft.com/office/powerpoint/2010/main" val="292121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56B4EB-6D61-D07D-8207-BF59DEB2A323}"/>
              </a:ext>
            </a:extLst>
          </p:cNvPr>
          <p:cNvSpPr>
            <a:spLocks noGrp="1"/>
          </p:cNvSpPr>
          <p:nvPr>
            <p:ph type="title"/>
          </p:nvPr>
        </p:nvSpPr>
        <p:spPr/>
        <p:txBody>
          <a:bodyPr/>
          <a:lstStyle/>
          <a:p>
            <a:r>
              <a:rPr lang="fr-FR" dirty="0">
                <a:solidFill>
                  <a:srgbClr val="FF0000"/>
                </a:solidFill>
              </a:rPr>
              <a:t>ISO 27032</a:t>
            </a:r>
          </a:p>
        </p:txBody>
      </p:sp>
      <p:sp>
        <p:nvSpPr>
          <p:cNvPr id="4" name="Espace réservé du numéro de diapositive 3">
            <a:extLst>
              <a:ext uri="{FF2B5EF4-FFF2-40B4-BE49-F238E27FC236}">
                <a16:creationId xmlns:a16="http://schemas.microsoft.com/office/drawing/2014/main" id="{4F2D80F6-2F15-621B-1C32-8A8BA401E0C8}"/>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2695882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FE90806A-88E1-ABC0-64E9-75B5B1263EBB}"/>
              </a:ext>
            </a:extLst>
          </p:cNvPr>
          <p:cNvSpPr txBox="1"/>
          <p:nvPr/>
        </p:nvSpPr>
        <p:spPr>
          <a:xfrm>
            <a:off x="1635760" y="1558299"/>
            <a:ext cx="10353040" cy="3693319"/>
          </a:xfrm>
          <a:prstGeom prst="rect">
            <a:avLst/>
          </a:prstGeom>
          <a:noFill/>
        </p:spPr>
        <p:txBody>
          <a:bodyPr wrap="square" rtlCol="0">
            <a:spAutoFit/>
          </a:bodyPr>
          <a:lstStyle/>
          <a:p>
            <a:pPr algn="l">
              <a:buNone/>
            </a:pPr>
            <a:r>
              <a:rPr lang="fr-FR" sz="2400" b="1" i="0" dirty="0">
                <a:solidFill>
                  <a:srgbClr val="404040"/>
                </a:solidFill>
                <a:effectLst/>
                <a:latin typeface="quote-cjk-patch"/>
              </a:rPr>
              <a:t>SO/IEC 27032 : Cybersécurité - Guide pour les bonnes pratiques:</a:t>
            </a:r>
          </a:p>
          <a:p>
            <a:pPr algn="l">
              <a:buNone/>
            </a:pPr>
            <a:endParaRPr lang="fr-FR" sz="2400" b="1" i="0" dirty="0">
              <a:solidFill>
                <a:srgbClr val="404040"/>
              </a:solidFill>
              <a:effectLst/>
              <a:latin typeface="quote-cjk-patch"/>
            </a:endParaRPr>
          </a:p>
          <a:p>
            <a:pPr algn="l">
              <a:buNone/>
            </a:pPr>
            <a:r>
              <a:rPr lang="fr-FR" sz="2400" b="0" i="0" dirty="0">
                <a:solidFill>
                  <a:srgbClr val="404040"/>
                </a:solidFill>
                <a:effectLst/>
                <a:latin typeface="quote-cjk-patch"/>
              </a:rPr>
              <a:t>L’</a:t>
            </a:r>
            <a:r>
              <a:rPr lang="fr-FR" sz="2400" b="1" i="0" dirty="0">
                <a:solidFill>
                  <a:srgbClr val="404040"/>
                </a:solidFill>
                <a:effectLst/>
                <a:latin typeface="quote-cjk-patch"/>
              </a:rPr>
              <a:t>ISO/IEC 27032</a:t>
            </a:r>
            <a:r>
              <a:rPr lang="fr-FR" sz="2400" b="0" i="0" dirty="0">
                <a:solidFill>
                  <a:srgbClr val="404040"/>
                </a:solidFill>
                <a:effectLst/>
                <a:latin typeface="quote-cjk-patch"/>
              </a:rPr>
              <a:t> est une norme internationale qui fournit des lignes directrices pour améliorer la cybersécurité dans un contexte collaboratif, en mettant l’accent sur la </a:t>
            </a:r>
            <a:r>
              <a:rPr lang="fr-FR" sz="2400" b="1" i="0" dirty="0">
                <a:solidFill>
                  <a:srgbClr val="404040"/>
                </a:solidFill>
                <a:effectLst/>
                <a:latin typeface="quote-cjk-patch"/>
              </a:rPr>
              <a:t>sécurité des interactions entre différents acteurs</a:t>
            </a:r>
            <a:r>
              <a:rPr lang="fr-FR" sz="2400" b="0" i="0" dirty="0">
                <a:solidFill>
                  <a:srgbClr val="404040"/>
                </a:solidFill>
                <a:effectLst/>
                <a:latin typeface="quote-cjk-patch"/>
              </a:rPr>
              <a:t> (entreprises, gouvernements, particuliers).</a:t>
            </a:r>
          </a:p>
          <a:p>
            <a:pPr algn="l">
              <a:buNone/>
            </a:pPr>
            <a:endParaRPr lang="fr-FR" sz="2400" b="0" i="0" dirty="0">
              <a:solidFill>
                <a:srgbClr val="404040"/>
              </a:solidFill>
              <a:effectLst/>
              <a:latin typeface="quote-cjk-patch"/>
            </a:endParaRPr>
          </a:p>
          <a:p>
            <a:pPr algn="l">
              <a:buNone/>
            </a:pPr>
            <a:r>
              <a:rPr lang="fr-FR" sz="2400" dirty="0">
                <a:solidFill>
                  <a:srgbClr val="404040"/>
                </a:solidFill>
                <a:latin typeface="quote-cjk-patch"/>
              </a:rPr>
              <a:t>Elle </a:t>
            </a:r>
            <a:r>
              <a:rPr lang="fr-FR" sz="2400" b="0" i="0" dirty="0">
                <a:solidFill>
                  <a:srgbClr val="404040"/>
                </a:solidFill>
                <a:effectLst/>
                <a:latin typeface="quote-cjk-patch"/>
              </a:rPr>
              <a:t>se concentrant spécifiquement sur les risques liés aux </a:t>
            </a:r>
            <a:r>
              <a:rPr lang="fr-FR" sz="2400" b="1" i="0" dirty="0">
                <a:solidFill>
                  <a:srgbClr val="404040"/>
                </a:solidFill>
                <a:effectLst/>
                <a:latin typeface="quote-cjk-patch"/>
              </a:rPr>
              <a:t>espaces numériques partagés</a:t>
            </a:r>
            <a:r>
              <a:rPr lang="fr-FR" sz="2400" b="0" i="0" dirty="0">
                <a:solidFill>
                  <a:srgbClr val="404040"/>
                </a:solidFill>
                <a:effectLst/>
                <a:latin typeface="quote-cjk-patch"/>
              </a:rPr>
              <a:t> (cloud, Internet, réseaux sociaux, etc.).</a:t>
            </a:r>
          </a:p>
          <a:p>
            <a:endParaRPr lang="fr-FR" dirty="0"/>
          </a:p>
        </p:txBody>
      </p:sp>
      <p:sp>
        <p:nvSpPr>
          <p:cNvPr id="5" name="Espace réservé du numéro de diapositive 4">
            <a:extLst>
              <a:ext uri="{FF2B5EF4-FFF2-40B4-BE49-F238E27FC236}">
                <a16:creationId xmlns:a16="http://schemas.microsoft.com/office/drawing/2014/main" id="{2CAA7EBC-C6A7-9359-3109-7598900310AA}"/>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Tree>
    <p:extLst>
      <p:ext uri="{BB962C8B-B14F-4D97-AF65-F5344CB8AC3E}">
        <p14:creationId xmlns:p14="http://schemas.microsoft.com/office/powerpoint/2010/main" val="4045553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80BCCEE1-2BA5-6F92-B45C-4466DA4A8769}"/>
              </a:ext>
            </a:extLst>
          </p:cNvPr>
          <p:cNvSpPr txBox="1"/>
          <p:nvPr/>
        </p:nvSpPr>
        <p:spPr>
          <a:xfrm>
            <a:off x="1742440" y="345440"/>
            <a:ext cx="10271760" cy="6370975"/>
          </a:xfrm>
          <a:prstGeom prst="rect">
            <a:avLst/>
          </a:prstGeom>
          <a:noFill/>
        </p:spPr>
        <p:txBody>
          <a:bodyPr wrap="square" rtlCol="0">
            <a:spAutoFit/>
          </a:bodyPr>
          <a:lstStyle/>
          <a:p>
            <a:pPr algn="l">
              <a:buNone/>
            </a:pPr>
            <a:r>
              <a:rPr lang="fr-FR" b="1" i="0" dirty="0">
                <a:solidFill>
                  <a:srgbClr val="404040"/>
                </a:solidFill>
                <a:effectLst/>
                <a:latin typeface="quote-cjk-patch"/>
              </a:rPr>
              <a:t>🔹 </a:t>
            </a:r>
            <a:r>
              <a:rPr lang="fr-FR" sz="2400" b="1" i="0" dirty="0">
                <a:solidFill>
                  <a:srgbClr val="404040"/>
                </a:solidFill>
                <a:effectLst/>
                <a:latin typeface="quote-cjk-patch"/>
              </a:rPr>
              <a:t>Objectifs de l’ISO 27032:</a:t>
            </a:r>
          </a:p>
          <a:p>
            <a:pPr algn="l">
              <a:buNone/>
            </a:pPr>
            <a:endParaRPr lang="fr-FR" sz="2400" b="1" i="0" dirty="0">
              <a:solidFill>
                <a:srgbClr val="404040"/>
              </a:solidFill>
              <a:effectLst/>
              <a:latin typeface="quote-cjk-patch"/>
            </a:endParaRPr>
          </a:p>
          <a:p>
            <a:pPr algn="l">
              <a:spcAft>
                <a:spcPts val="300"/>
              </a:spcAft>
              <a:buFont typeface="+mj-lt"/>
              <a:buAutoNum type="arabicPeriod"/>
            </a:pPr>
            <a:r>
              <a:rPr lang="fr-FR" sz="2400" b="1" i="0" dirty="0">
                <a:solidFill>
                  <a:srgbClr val="404040"/>
                </a:solidFill>
                <a:effectLst/>
                <a:latin typeface="quote-cjk-patch"/>
              </a:rPr>
              <a:t>Encadrer la cybersécurité collaborative</a:t>
            </a:r>
            <a:r>
              <a:rPr lang="fr-FR" sz="2400" b="0" i="0" dirty="0">
                <a:solidFill>
                  <a:srgbClr val="404040"/>
                </a:solidFill>
                <a:effectLst/>
                <a:latin typeface="quote-cjk-patch"/>
              </a:rPr>
              <a:t> :</a:t>
            </a:r>
          </a:p>
          <a:p>
            <a:pPr marL="742950" lvl="1" indent="-285750" algn="l">
              <a:spcBef>
                <a:spcPts val="300"/>
              </a:spcBef>
              <a:buFont typeface="+mj-lt"/>
              <a:buAutoNum type="arabicPeriod"/>
            </a:pPr>
            <a:r>
              <a:rPr lang="fr-FR" sz="2400" b="0" i="0" dirty="0">
                <a:solidFill>
                  <a:srgbClr val="404040"/>
                </a:solidFill>
                <a:effectLst/>
                <a:latin typeface="quote-cjk-patch"/>
              </a:rPr>
              <a:t>Prévenir les attaques comme le phishing, les ransomwares, les attaques APT.</a:t>
            </a:r>
          </a:p>
          <a:p>
            <a:pPr marL="742950" lvl="1" indent="-285750" algn="l">
              <a:spcBef>
                <a:spcPts val="300"/>
              </a:spcBef>
              <a:buFont typeface="+mj-lt"/>
              <a:buAutoNum type="arabicPeriod"/>
            </a:pPr>
            <a:r>
              <a:rPr lang="fr-FR" sz="2400" b="0" i="0" dirty="0">
                <a:solidFill>
                  <a:srgbClr val="404040"/>
                </a:solidFill>
                <a:effectLst/>
                <a:latin typeface="quote-cjk-patch"/>
              </a:rPr>
              <a:t>Favoriser la confiance entre parties prenantes (fournisseurs, clients, partenaires).</a:t>
            </a:r>
          </a:p>
          <a:p>
            <a:pPr lvl="1" algn="l">
              <a:spcBef>
                <a:spcPts val="300"/>
              </a:spcBef>
            </a:pPr>
            <a:endParaRPr lang="fr-FR" sz="2400" b="0" i="0" dirty="0">
              <a:solidFill>
                <a:srgbClr val="404040"/>
              </a:solidFill>
              <a:effectLst/>
              <a:latin typeface="quote-cjk-patch"/>
            </a:endParaRPr>
          </a:p>
          <a:p>
            <a:pPr algn="l">
              <a:spcBef>
                <a:spcPts val="300"/>
              </a:spcBef>
              <a:spcAft>
                <a:spcPts val="300"/>
              </a:spcAft>
              <a:buFont typeface="+mj-lt"/>
              <a:buAutoNum type="arabicPeriod"/>
            </a:pPr>
            <a:r>
              <a:rPr lang="fr-FR" sz="2400" b="1" i="0" dirty="0">
                <a:solidFill>
                  <a:srgbClr val="404040"/>
                </a:solidFill>
                <a:effectLst/>
                <a:latin typeface="quote-cjk-patch"/>
              </a:rPr>
              <a:t>Combler les lacunes entre autres normes</a:t>
            </a:r>
            <a:r>
              <a:rPr lang="fr-FR" sz="2400" b="0" i="0" dirty="0">
                <a:solidFill>
                  <a:srgbClr val="404040"/>
                </a:solidFill>
                <a:effectLst/>
                <a:latin typeface="quote-cjk-patch"/>
              </a:rPr>
              <a:t> :</a:t>
            </a:r>
          </a:p>
          <a:p>
            <a:pPr marL="742950" lvl="1" indent="-285750" algn="l">
              <a:spcBef>
                <a:spcPts val="300"/>
              </a:spcBef>
              <a:buFont typeface="+mj-lt"/>
              <a:buAutoNum type="arabicPeriod"/>
            </a:pPr>
            <a:r>
              <a:rPr lang="fr-FR" sz="2400" b="0" i="0" dirty="0">
                <a:solidFill>
                  <a:srgbClr val="404040"/>
                </a:solidFill>
                <a:effectLst/>
                <a:latin typeface="quote-cjk-patch"/>
              </a:rPr>
              <a:t>Elle ne remplace pas ISO 27001, mais la complète en couvrant des risques non traités ailleurs (ex. : menaces propres aux réseaux sociaux).</a:t>
            </a:r>
          </a:p>
          <a:p>
            <a:pPr lvl="1" algn="l">
              <a:spcBef>
                <a:spcPts val="300"/>
              </a:spcBef>
            </a:pPr>
            <a:endParaRPr lang="fr-FR" sz="2400" b="0" i="0" dirty="0">
              <a:solidFill>
                <a:srgbClr val="404040"/>
              </a:solidFill>
              <a:effectLst/>
              <a:latin typeface="quote-cjk-patch"/>
            </a:endParaRPr>
          </a:p>
          <a:p>
            <a:pPr algn="l">
              <a:spcBef>
                <a:spcPts val="300"/>
              </a:spcBef>
              <a:spcAft>
                <a:spcPts val="300"/>
              </a:spcAft>
              <a:buFont typeface="+mj-lt"/>
              <a:buAutoNum type="arabicPeriod"/>
            </a:pPr>
            <a:r>
              <a:rPr lang="fr-FR" sz="2400" b="1" i="0" dirty="0">
                <a:solidFill>
                  <a:srgbClr val="404040"/>
                </a:solidFill>
                <a:effectLst/>
                <a:latin typeface="quote-cjk-patch"/>
              </a:rPr>
              <a:t>Améliorer la résilience globale</a:t>
            </a:r>
            <a:r>
              <a:rPr lang="fr-FR" sz="2400" b="0" i="0" dirty="0">
                <a:solidFill>
                  <a:srgbClr val="404040"/>
                </a:solidFill>
                <a:effectLst/>
                <a:latin typeface="quote-cjk-patch"/>
              </a:rPr>
              <a:t> :</a:t>
            </a:r>
          </a:p>
          <a:p>
            <a:pPr marL="742950" lvl="1" indent="-285750" algn="l">
              <a:spcBef>
                <a:spcPts val="300"/>
              </a:spcBef>
              <a:buFont typeface="+mj-lt"/>
              <a:buAutoNum type="arabicPeriod"/>
            </a:pPr>
            <a:r>
              <a:rPr lang="fr-FR" sz="2400" b="0" i="0" dirty="0">
                <a:solidFill>
                  <a:srgbClr val="404040"/>
                </a:solidFill>
                <a:effectLst/>
                <a:latin typeface="quote-cjk-patch"/>
              </a:rPr>
              <a:t>Recommandations pour la protection des infrastructures critiques.</a:t>
            </a:r>
          </a:p>
          <a:p>
            <a:pPr marL="742950" lvl="1" indent="-285750" algn="l">
              <a:spcBef>
                <a:spcPts val="300"/>
              </a:spcBef>
              <a:buFont typeface="+mj-lt"/>
              <a:buAutoNum type="arabicPeriod"/>
            </a:pPr>
            <a:r>
              <a:rPr lang="fr-FR" sz="2400" b="0" i="0" dirty="0">
                <a:solidFill>
                  <a:srgbClr val="404040"/>
                </a:solidFill>
                <a:effectLst/>
                <a:latin typeface="quote-cjk-patch"/>
              </a:rPr>
              <a:t>Bonnes pratiques pour la gestion des incidents de cybersécurité.</a:t>
            </a:r>
          </a:p>
          <a:p>
            <a:endParaRPr lang="fr-FR" dirty="0"/>
          </a:p>
        </p:txBody>
      </p:sp>
      <p:sp>
        <p:nvSpPr>
          <p:cNvPr id="3" name="Espace réservé du numéro de diapositive 2">
            <a:extLst>
              <a:ext uri="{FF2B5EF4-FFF2-40B4-BE49-F238E27FC236}">
                <a16:creationId xmlns:a16="http://schemas.microsoft.com/office/drawing/2014/main" id="{1BB07B2D-CD7C-48F7-DF42-2E4834B81E83}"/>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Tree>
    <p:extLst>
      <p:ext uri="{BB962C8B-B14F-4D97-AF65-F5344CB8AC3E}">
        <p14:creationId xmlns:p14="http://schemas.microsoft.com/office/powerpoint/2010/main" val="3107808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37411E9E-C59E-24E1-F89C-33D9A460BDA5}"/>
              </a:ext>
            </a:extLst>
          </p:cNvPr>
          <p:cNvSpPr txBox="1"/>
          <p:nvPr/>
        </p:nvSpPr>
        <p:spPr>
          <a:xfrm>
            <a:off x="1971040" y="548640"/>
            <a:ext cx="9276080" cy="4739759"/>
          </a:xfrm>
          <a:prstGeom prst="rect">
            <a:avLst/>
          </a:prstGeom>
          <a:noFill/>
        </p:spPr>
        <p:txBody>
          <a:bodyPr wrap="square" rtlCol="0">
            <a:spAutoFit/>
          </a:bodyPr>
          <a:lstStyle/>
          <a:p>
            <a:pPr algn="l">
              <a:buNone/>
            </a:pPr>
            <a:r>
              <a:rPr lang="fr-FR" sz="3600" b="1" i="0" dirty="0">
                <a:solidFill>
                  <a:srgbClr val="FF0000"/>
                </a:solidFill>
                <a:effectLst/>
                <a:latin typeface="quote-cjk-patch"/>
              </a:rPr>
              <a:t>Domaines clés couverts par ISO 27032</a:t>
            </a:r>
          </a:p>
          <a:p>
            <a:pPr algn="l">
              <a:buNone/>
            </a:pPr>
            <a:endParaRPr lang="fr-FR" b="1" i="0" dirty="0">
              <a:solidFill>
                <a:srgbClr val="404040"/>
              </a:solidFill>
              <a:effectLst/>
              <a:latin typeface="quote-cjk-patch"/>
            </a:endParaRPr>
          </a:p>
          <a:p>
            <a:pPr algn="l">
              <a:buNone/>
            </a:pPr>
            <a:r>
              <a:rPr lang="fr-FR" b="1" i="0" dirty="0">
                <a:solidFill>
                  <a:srgbClr val="404040"/>
                </a:solidFill>
                <a:effectLst/>
                <a:latin typeface="quote-cjk-patch"/>
              </a:rPr>
              <a:t>1</a:t>
            </a:r>
            <a:r>
              <a:rPr lang="fr-FR" sz="2000" b="1" i="0" dirty="0">
                <a:solidFill>
                  <a:srgbClr val="404040"/>
                </a:solidFill>
                <a:effectLst/>
                <a:latin typeface="quote-cjk-patch"/>
              </a:rPr>
              <a:t>. Sécurité des espaces numériques partagés</a:t>
            </a:r>
          </a:p>
          <a:p>
            <a:pPr lvl="1">
              <a:buFont typeface="Arial" panose="020B0604020202020204" pitchFamily="34" charset="0"/>
              <a:buChar char="•"/>
            </a:pPr>
            <a:r>
              <a:rPr lang="fr-FR" sz="2000" b="0" i="0" dirty="0">
                <a:solidFill>
                  <a:srgbClr val="404040"/>
                </a:solidFill>
                <a:effectLst/>
                <a:latin typeface="quote-cjk-patch"/>
              </a:rPr>
              <a:t>Risques liés aux </a:t>
            </a:r>
            <a:r>
              <a:rPr lang="fr-FR" sz="2000" b="1" i="0" dirty="0">
                <a:solidFill>
                  <a:srgbClr val="404040"/>
                </a:solidFill>
                <a:effectLst/>
                <a:latin typeface="quote-cjk-patch"/>
              </a:rPr>
              <a:t>interconnexions</a:t>
            </a:r>
            <a:r>
              <a:rPr lang="fr-FR" sz="2000" b="0" i="0" dirty="0">
                <a:solidFill>
                  <a:srgbClr val="404040"/>
                </a:solidFill>
                <a:effectLst/>
                <a:latin typeface="quote-cjk-patch"/>
              </a:rPr>
              <a:t> (IoT, cloud, BYOD).</a:t>
            </a:r>
          </a:p>
          <a:p>
            <a:pPr lvl="1">
              <a:spcBef>
                <a:spcPts val="300"/>
              </a:spcBef>
              <a:buFont typeface="Arial" panose="020B0604020202020204" pitchFamily="34" charset="0"/>
              <a:buChar char="•"/>
            </a:pPr>
            <a:r>
              <a:rPr lang="fr-FR" sz="2000" b="0" i="0" dirty="0">
                <a:solidFill>
                  <a:srgbClr val="404040"/>
                </a:solidFill>
                <a:effectLst/>
                <a:latin typeface="quote-cjk-patch"/>
              </a:rPr>
              <a:t>Protection contre les </a:t>
            </a:r>
            <a:r>
              <a:rPr lang="fr-FR" sz="2000" b="1" i="0" dirty="0">
                <a:solidFill>
                  <a:srgbClr val="404040"/>
                </a:solidFill>
                <a:effectLst/>
                <a:latin typeface="quote-cjk-patch"/>
              </a:rPr>
              <a:t>attaques ciblant plusieurs acteurs</a:t>
            </a:r>
            <a:r>
              <a:rPr lang="fr-FR" sz="2000" b="0" i="0" dirty="0">
                <a:solidFill>
                  <a:srgbClr val="404040"/>
                </a:solidFill>
                <a:effectLst/>
                <a:latin typeface="quote-cjk-patch"/>
              </a:rPr>
              <a:t> (ex. : chaînes d’approvisionnement).</a:t>
            </a:r>
          </a:p>
          <a:p>
            <a:pPr algn="l">
              <a:buNone/>
            </a:pPr>
            <a:r>
              <a:rPr lang="fr-FR" sz="2000" b="1" i="0" dirty="0">
                <a:solidFill>
                  <a:srgbClr val="404040"/>
                </a:solidFill>
                <a:effectLst/>
                <a:latin typeface="quote-cjk-patch"/>
              </a:rPr>
              <a:t>2. Collaboration entre parties prenantes</a:t>
            </a:r>
          </a:p>
          <a:p>
            <a:pPr lvl="1">
              <a:buFont typeface="Arial" panose="020B0604020202020204" pitchFamily="34" charset="0"/>
              <a:buChar char="•"/>
            </a:pPr>
            <a:r>
              <a:rPr lang="fr-FR" sz="2000" b="0" i="0" dirty="0">
                <a:solidFill>
                  <a:srgbClr val="404040"/>
                </a:solidFill>
                <a:effectLst/>
                <a:latin typeface="quote-cjk-patch"/>
              </a:rPr>
              <a:t>Méthodes pour </a:t>
            </a:r>
            <a:r>
              <a:rPr lang="fr-FR" sz="2000" b="1" i="0" dirty="0">
                <a:solidFill>
                  <a:srgbClr val="404040"/>
                </a:solidFill>
                <a:effectLst/>
                <a:latin typeface="quote-cjk-patch"/>
              </a:rPr>
              <a:t>partager des informations sur les menaces</a:t>
            </a:r>
            <a:r>
              <a:rPr lang="fr-FR" sz="2000" b="0" i="0" dirty="0">
                <a:solidFill>
                  <a:srgbClr val="404040"/>
                </a:solidFill>
                <a:effectLst/>
                <a:latin typeface="quote-cjk-patch"/>
              </a:rPr>
              <a:t> (</a:t>
            </a:r>
            <a:r>
              <a:rPr lang="fr-FR" sz="2000" b="0" i="0" dirty="0" err="1">
                <a:solidFill>
                  <a:srgbClr val="404040"/>
                </a:solidFill>
                <a:effectLst/>
                <a:latin typeface="quote-cjk-patch"/>
              </a:rPr>
              <a:t>Threat</a:t>
            </a:r>
            <a:r>
              <a:rPr lang="fr-FR" sz="2000" b="0" i="0" dirty="0">
                <a:solidFill>
                  <a:srgbClr val="404040"/>
                </a:solidFill>
                <a:effectLst/>
                <a:latin typeface="quote-cjk-patch"/>
              </a:rPr>
              <a:t> Intelligence).</a:t>
            </a:r>
          </a:p>
          <a:p>
            <a:pPr lvl="1">
              <a:spcBef>
                <a:spcPts val="300"/>
              </a:spcBef>
              <a:buFont typeface="Arial" panose="020B0604020202020204" pitchFamily="34" charset="0"/>
              <a:buChar char="•"/>
            </a:pPr>
            <a:r>
              <a:rPr lang="fr-FR" sz="2000" b="0" i="0" dirty="0">
                <a:solidFill>
                  <a:srgbClr val="404040"/>
                </a:solidFill>
                <a:effectLst/>
                <a:latin typeface="quote-cjk-patch"/>
              </a:rPr>
              <a:t>Cadre pour </a:t>
            </a:r>
            <a:r>
              <a:rPr lang="fr-FR" sz="2000" b="1" i="0" dirty="0">
                <a:solidFill>
                  <a:srgbClr val="404040"/>
                </a:solidFill>
                <a:effectLst/>
                <a:latin typeface="quote-cjk-patch"/>
              </a:rPr>
              <a:t>les accords de sécurité inter-organisationnels</a:t>
            </a:r>
            <a:r>
              <a:rPr lang="fr-FR" sz="2000" b="0" i="0" dirty="0">
                <a:solidFill>
                  <a:srgbClr val="404040"/>
                </a:solidFill>
                <a:effectLst/>
                <a:latin typeface="quote-cjk-patch"/>
              </a:rPr>
              <a:t>.</a:t>
            </a:r>
          </a:p>
          <a:p>
            <a:pPr algn="l">
              <a:buNone/>
            </a:pPr>
            <a:r>
              <a:rPr lang="fr-FR" sz="2000" b="1" i="0" dirty="0">
                <a:solidFill>
                  <a:srgbClr val="404040"/>
                </a:solidFill>
                <a:effectLst/>
                <a:latin typeface="quote-cjk-patch"/>
              </a:rPr>
              <a:t>3. Bonnes pratiques techniques et organisationnelles</a:t>
            </a:r>
          </a:p>
          <a:p>
            <a:pPr lvl="1">
              <a:buFont typeface="Arial" panose="020B0604020202020204" pitchFamily="34" charset="0"/>
              <a:buChar char="•"/>
            </a:pPr>
            <a:r>
              <a:rPr lang="fr-FR" sz="2000" b="1" i="0" dirty="0">
                <a:solidFill>
                  <a:srgbClr val="404040"/>
                </a:solidFill>
                <a:effectLst/>
                <a:latin typeface="quote-cjk-patch"/>
              </a:rPr>
              <a:t>Protection des actifs numériques</a:t>
            </a:r>
            <a:r>
              <a:rPr lang="fr-FR" sz="2000" b="0" i="0" dirty="0">
                <a:solidFill>
                  <a:srgbClr val="404040"/>
                </a:solidFill>
                <a:effectLst/>
                <a:latin typeface="quote-cjk-patch"/>
              </a:rPr>
              <a:t> (données, identités, infrastructures).</a:t>
            </a:r>
          </a:p>
          <a:p>
            <a:pPr lvl="1">
              <a:spcBef>
                <a:spcPts val="300"/>
              </a:spcBef>
              <a:buFont typeface="Arial" panose="020B0604020202020204" pitchFamily="34" charset="0"/>
              <a:buChar char="•"/>
            </a:pPr>
            <a:r>
              <a:rPr lang="fr-FR" sz="2000" b="1" i="0" dirty="0">
                <a:solidFill>
                  <a:srgbClr val="404040"/>
                </a:solidFill>
                <a:effectLst/>
                <a:latin typeface="quote-cjk-patch"/>
              </a:rPr>
              <a:t>Gestion des vulnérabilités</a:t>
            </a:r>
            <a:r>
              <a:rPr lang="fr-FR" sz="2000" b="0" i="0" dirty="0">
                <a:solidFill>
                  <a:srgbClr val="404040"/>
                </a:solidFill>
                <a:effectLst/>
                <a:latin typeface="quote-cjk-patch"/>
              </a:rPr>
              <a:t> et réponse aux incidents.</a:t>
            </a:r>
          </a:p>
          <a:p>
            <a:pPr lvl="1">
              <a:spcBef>
                <a:spcPts val="300"/>
              </a:spcBef>
              <a:buFont typeface="Arial" panose="020B0604020202020204" pitchFamily="34" charset="0"/>
              <a:buChar char="•"/>
            </a:pPr>
            <a:r>
              <a:rPr lang="fr-FR" sz="2000" b="1" i="0" dirty="0">
                <a:solidFill>
                  <a:srgbClr val="404040"/>
                </a:solidFill>
                <a:effectLst/>
                <a:latin typeface="quote-cjk-patch"/>
              </a:rPr>
              <a:t>Sensibilisation des utilisateurs</a:t>
            </a:r>
            <a:r>
              <a:rPr lang="fr-FR" sz="2000" b="0" i="0" dirty="0">
                <a:solidFill>
                  <a:srgbClr val="404040"/>
                </a:solidFill>
                <a:effectLst/>
                <a:latin typeface="quote-cjk-patch"/>
              </a:rPr>
              <a:t> aux risques cyber</a:t>
            </a:r>
            <a:r>
              <a:rPr lang="fr-FR" b="0" i="0" dirty="0">
                <a:solidFill>
                  <a:srgbClr val="404040"/>
                </a:solidFill>
                <a:effectLst/>
                <a:latin typeface="quote-cjk-patch"/>
              </a:rPr>
              <a:t>.</a:t>
            </a:r>
          </a:p>
          <a:p>
            <a:endParaRPr lang="fr-FR" dirty="0"/>
          </a:p>
        </p:txBody>
      </p:sp>
      <p:sp>
        <p:nvSpPr>
          <p:cNvPr id="3" name="ZoneTexte 2">
            <a:extLst>
              <a:ext uri="{FF2B5EF4-FFF2-40B4-BE49-F238E27FC236}">
                <a16:creationId xmlns:a16="http://schemas.microsoft.com/office/drawing/2014/main" id="{4EC00293-7259-C27E-E4A0-3AA79E35C11E}"/>
              </a:ext>
            </a:extLst>
          </p:cNvPr>
          <p:cNvSpPr txBox="1"/>
          <p:nvPr/>
        </p:nvSpPr>
        <p:spPr>
          <a:xfrm>
            <a:off x="3677920" y="5432197"/>
            <a:ext cx="8290560" cy="1754326"/>
          </a:xfrm>
          <a:prstGeom prst="rect">
            <a:avLst/>
          </a:prstGeom>
          <a:noFill/>
        </p:spPr>
        <p:txBody>
          <a:bodyPr wrap="square" rtlCol="0">
            <a:spAutoFit/>
          </a:bodyPr>
          <a:lstStyle/>
          <a:p>
            <a:pPr algn="l">
              <a:buNone/>
            </a:pPr>
            <a:r>
              <a:rPr lang="fr-FR" b="1" i="0" dirty="0">
                <a:solidFill>
                  <a:srgbClr val="404040"/>
                </a:solidFill>
                <a:effectLst/>
                <a:latin typeface="quote-cjk-patch"/>
              </a:rPr>
              <a:t>Pourquoi adopter ISO 27032 ?</a:t>
            </a:r>
          </a:p>
          <a:p>
            <a:pPr marL="285750" indent="-285750" algn="l">
              <a:buFont typeface="Wingdings" panose="05000000000000000000" pitchFamily="2" charset="2"/>
              <a:buChar char="ü"/>
            </a:pPr>
            <a:r>
              <a:rPr lang="fr-FR" b="1" i="0" dirty="0">
                <a:solidFill>
                  <a:srgbClr val="404040"/>
                </a:solidFill>
                <a:effectLst/>
                <a:latin typeface="quote-cjk-patch"/>
              </a:rPr>
              <a:t>Réduire les risques cyber dans un environnement interconnecté</a:t>
            </a:r>
          </a:p>
          <a:p>
            <a:pPr marL="285750" indent="-285750" algn="l">
              <a:buFont typeface="Wingdings" panose="05000000000000000000" pitchFamily="2" charset="2"/>
              <a:buChar char="ü"/>
            </a:pPr>
            <a:r>
              <a:rPr lang="fr-FR" b="0" i="0" dirty="0">
                <a:solidFill>
                  <a:srgbClr val="404040"/>
                </a:solidFill>
                <a:effectLst/>
                <a:latin typeface="quote-cjk-patch"/>
              </a:rPr>
              <a:t> </a:t>
            </a:r>
            <a:r>
              <a:rPr lang="fr-FR" b="1" i="0" dirty="0">
                <a:solidFill>
                  <a:srgbClr val="404040"/>
                </a:solidFill>
                <a:effectLst/>
                <a:latin typeface="quote-cjk-patch"/>
              </a:rPr>
              <a:t>Améliorer la confiance avec les partenaires et clients</a:t>
            </a:r>
          </a:p>
          <a:p>
            <a:pPr marL="285750" indent="-285750" algn="l">
              <a:buFont typeface="Wingdings" panose="05000000000000000000" pitchFamily="2" charset="2"/>
              <a:buChar char="ü"/>
            </a:pPr>
            <a:r>
              <a:rPr lang="fr-FR" b="0" i="0" dirty="0">
                <a:solidFill>
                  <a:srgbClr val="404040"/>
                </a:solidFill>
                <a:effectLst/>
                <a:latin typeface="quote-cjk-patch"/>
              </a:rPr>
              <a:t> </a:t>
            </a:r>
            <a:r>
              <a:rPr lang="fr-FR" b="1" i="0" dirty="0">
                <a:solidFill>
                  <a:srgbClr val="404040"/>
                </a:solidFill>
                <a:effectLst/>
                <a:latin typeface="quote-cjk-patch"/>
              </a:rPr>
              <a:t>Compléter ISO 27001 avec une approche collaborative.</a:t>
            </a:r>
            <a:endParaRPr lang="fr-FR" b="0" i="0" dirty="0">
              <a:solidFill>
                <a:srgbClr val="404040"/>
              </a:solidFill>
              <a:effectLst/>
              <a:latin typeface="quote-cjk-patch"/>
            </a:endParaRPr>
          </a:p>
          <a:p>
            <a:pPr>
              <a:buNone/>
            </a:pPr>
            <a:br>
              <a:rPr lang="fr-FR" dirty="0"/>
            </a:br>
            <a:endParaRPr lang="fr-FR" dirty="0"/>
          </a:p>
        </p:txBody>
      </p:sp>
      <p:sp>
        <p:nvSpPr>
          <p:cNvPr id="5" name="Espace réservé du numéro de diapositive 4">
            <a:extLst>
              <a:ext uri="{FF2B5EF4-FFF2-40B4-BE49-F238E27FC236}">
                <a16:creationId xmlns:a16="http://schemas.microsoft.com/office/drawing/2014/main" id="{7E1E8AD7-0446-1568-7739-70F3DF3D1106}"/>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4290498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a:extLst>
              <a:ext uri="{FF2B5EF4-FFF2-40B4-BE49-F238E27FC236}">
                <a16:creationId xmlns:a16="http://schemas.microsoft.com/office/drawing/2014/main" id="{D50E6E80-05E3-E2A5-8AB3-4A64BD648378}"/>
              </a:ext>
            </a:extLst>
          </p:cNvPr>
          <p:cNvGraphicFramePr>
            <a:graphicFrameLocks noGrp="1"/>
          </p:cNvGraphicFramePr>
          <p:nvPr>
            <p:extLst>
              <p:ext uri="{D42A27DB-BD31-4B8C-83A1-F6EECF244321}">
                <p14:modId xmlns:p14="http://schemas.microsoft.com/office/powerpoint/2010/main" val="3925426620"/>
              </p:ext>
            </p:extLst>
          </p:nvPr>
        </p:nvGraphicFramePr>
        <p:xfrm>
          <a:off x="1320800" y="2101426"/>
          <a:ext cx="8839200" cy="3364654"/>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764877417"/>
                    </a:ext>
                  </a:extLst>
                </a:gridCol>
                <a:gridCol w="2209800">
                  <a:extLst>
                    <a:ext uri="{9D8B030D-6E8A-4147-A177-3AD203B41FA5}">
                      <a16:colId xmlns:a16="http://schemas.microsoft.com/office/drawing/2014/main" val="1710177450"/>
                    </a:ext>
                  </a:extLst>
                </a:gridCol>
                <a:gridCol w="2209800">
                  <a:extLst>
                    <a:ext uri="{9D8B030D-6E8A-4147-A177-3AD203B41FA5}">
                      <a16:colId xmlns:a16="http://schemas.microsoft.com/office/drawing/2014/main" val="2338513858"/>
                    </a:ext>
                  </a:extLst>
                </a:gridCol>
                <a:gridCol w="2209800">
                  <a:extLst>
                    <a:ext uri="{9D8B030D-6E8A-4147-A177-3AD203B41FA5}">
                      <a16:colId xmlns:a16="http://schemas.microsoft.com/office/drawing/2014/main" val="3028778670"/>
                    </a:ext>
                  </a:extLst>
                </a:gridCol>
              </a:tblGrid>
              <a:tr h="567532">
                <a:tc>
                  <a:txBody>
                    <a:bodyPr/>
                    <a:lstStyle/>
                    <a:p>
                      <a:pPr algn="l"/>
                      <a:r>
                        <a:rPr lang="fr-FR" b="1" dirty="0">
                          <a:effectLst/>
                        </a:rPr>
                        <a:t>Aspect</a:t>
                      </a:r>
                    </a:p>
                  </a:txBody>
                  <a:tcPr marR="76200" marT="76200" marB="76200" anchor="ctr"/>
                </a:tc>
                <a:tc>
                  <a:txBody>
                    <a:bodyPr/>
                    <a:lstStyle/>
                    <a:p>
                      <a:pPr algn="l"/>
                      <a:r>
                        <a:rPr lang="fr-FR" b="1">
                          <a:effectLst/>
                        </a:rPr>
                        <a:t>ISO 27001</a:t>
                      </a:r>
                    </a:p>
                  </a:txBody>
                  <a:tcPr marL="76200" marR="76200" marT="76200" marB="76200" anchor="ctr"/>
                </a:tc>
                <a:tc>
                  <a:txBody>
                    <a:bodyPr/>
                    <a:lstStyle/>
                    <a:p>
                      <a:pPr algn="l"/>
                      <a:r>
                        <a:rPr lang="fr-FR" b="1">
                          <a:effectLst/>
                        </a:rPr>
                        <a:t>ISO 27002</a:t>
                      </a:r>
                    </a:p>
                  </a:txBody>
                  <a:tcPr marL="76200" marR="76200" marT="76200" marB="76200" anchor="ctr"/>
                </a:tc>
                <a:tc>
                  <a:txBody>
                    <a:bodyPr/>
                    <a:lstStyle/>
                    <a:p>
                      <a:pPr algn="l"/>
                      <a:r>
                        <a:rPr lang="fr-FR" b="1">
                          <a:effectLst/>
                        </a:rPr>
                        <a:t>ISO 27032</a:t>
                      </a:r>
                    </a:p>
                  </a:txBody>
                  <a:tcPr marL="76200" marR="76200" marT="76200" marB="76200" anchor="ctr"/>
                </a:tc>
                <a:extLst>
                  <a:ext uri="{0D108BD9-81ED-4DB2-BD59-A6C34878D82A}">
                    <a16:rowId xmlns:a16="http://schemas.microsoft.com/office/drawing/2014/main" val="3882698796"/>
                  </a:ext>
                </a:extLst>
              </a:tr>
              <a:tr h="932374">
                <a:tc>
                  <a:txBody>
                    <a:bodyPr/>
                    <a:lstStyle/>
                    <a:p>
                      <a:r>
                        <a:rPr lang="fr-FR" b="1">
                          <a:effectLst/>
                        </a:rPr>
                        <a:t>Objectif</a:t>
                      </a:r>
                      <a:endParaRPr lang="fr-FR">
                        <a:effectLst/>
                      </a:endParaRPr>
                    </a:p>
                  </a:txBody>
                  <a:tcPr marR="76200" marT="76200" marB="76200" anchor="ctr"/>
                </a:tc>
                <a:tc>
                  <a:txBody>
                    <a:bodyPr/>
                    <a:lstStyle/>
                    <a:p>
                      <a:r>
                        <a:rPr lang="fr-FR">
                          <a:effectLst/>
                        </a:rPr>
                        <a:t>SMSI (Système de Management)</a:t>
                      </a:r>
                    </a:p>
                  </a:txBody>
                  <a:tcPr marL="76200" marR="76200" marT="76200" marB="76200" anchor="ctr"/>
                </a:tc>
                <a:tc>
                  <a:txBody>
                    <a:bodyPr/>
                    <a:lstStyle/>
                    <a:p>
                      <a:r>
                        <a:rPr lang="fr-FR">
                          <a:effectLst/>
                        </a:rPr>
                        <a:t>Mesures de sécurité détaillées</a:t>
                      </a:r>
                    </a:p>
                  </a:txBody>
                  <a:tcPr marL="76200" marR="76200" marT="76200" marB="76200" anchor="ctr"/>
                </a:tc>
                <a:tc>
                  <a:txBody>
                    <a:bodyPr/>
                    <a:lstStyle/>
                    <a:p>
                      <a:r>
                        <a:rPr lang="fr-FR">
                          <a:effectLst/>
                        </a:rPr>
                        <a:t>Cybersécurité collaborative</a:t>
                      </a:r>
                    </a:p>
                  </a:txBody>
                  <a:tcPr marL="76200" marR="76200" marT="76200" marB="76200" anchor="ctr"/>
                </a:tc>
                <a:extLst>
                  <a:ext uri="{0D108BD9-81ED-4DB2-BD59-A6C34878D82A}">
                    <a16:rowId xmlns:a16="http://schemas.microsoft.com/office/drawing/2014/main" val="4180118263"/>
                  </a:ext>
                </a:extLst>
              </a:tr>
              <a:tr h="932374">
                <a:tc>
                  <a:txBody>
                    <a:bodyPr/>
                    <a:lstStyle/>
                    <a:p>
                      <a:r>
                        <a:rPr lang="fr-FR" b="1">
                          <a:effectLst/>
                        </a:rPr>
                        <a:t>Portée</a:t>
                      </a:r>
                      <a:endParaRPr lang="fr-FR">
                        <a:effectLst/>
                      </a:endParaRPr>
                    </a:p>
                  </a:txBody>
                  <a:tcPr marR="76200" marT="76200" marB="76200" anchor="ctr"/>
                </a:tc>
                <a:tc>
                  <a:txBody>
                    <a:bodyPr/>
                    <a:lstStyle/>
                    <a:p>
                      <a:r>
                        <a:rPr lang="fr-FR">
                          <a:effectLst/>
                        </a:rPr>
                        <a:t>Sécurité globale de l’info</a:t>
                      </a:r>
                    </a:p>
                  </a:txBody>
                  <a:tcPr marL="76200" marR="76200" marT="76200" marB="76200" anchor="ctr"/>
                </a:tc>
                <a:tc>
                  <a:txBody>
                    <a:bodyPr/>
                    <a:lstStyle/>
                    <a:p>
                      <a:r>
                        <a:rPr lang="fr-FR">
                          <a:effectLst/>
                        </a:rPr>
                        <a:t>Contrôles techniques</a:t>
                      </a:r>
                    </a:p>
                  </a:txBody>
                  <a:tcPr marL="76200" marR="76200" marT="76200" marB="76200" anchor="ctr"/>
                </a:tc>
                <a:tc>
                  <a:txBody>
                    <a:bodyPr/>
                    <a:lstStyle/>
                    <a:p>
                      <a:r>
                        <a:rPr lang="fr-FR">
                          <a:effectLst/>
                        </a:rPr>
                        <a:t>Interactions entre parties</a:t>
                      </a:r>
                    </a:p>
                  </a:txBody>
                  <a:tcPr marL="76200" marR="76200" marT="76200" marB="76200" anchor="ctr"/>
                </a:tc>
                <a:extLst>
                  <a:ext uri="{0D108BD9-81ED-4DB2-BD59-A6C34878D82A}">
                    <a16:rowId xmlns:a16="http://schemas.microsoft.com/office/drawing/2014/main" val="1990716830"/>
                  </a:ext>
                </a:extLst>
              </a:tr>
              <a:tr h="932374">
                <a:tc>
                  <a:txBody>
                    <a:bodyPr/>
                    <a:lstStyle/>
                    <a:p>
                      <a:r>
                        <a:rPr lang="fr-FR" b="1">
                          <a:effectLst/>
                        </a:rPr>
                        <a:t>Approche</a:t>
                      </a:r>
                      <a:endParaRPr lang="fr-FR">
                        <a:effectLst/>
                      </a:endParaRPr>
                    </a:p>
                  </a:txBody>
                  <a:tcPr marR="76200" marT="76200" marB="76200" anchor="ctr"/>
                </a:tc>
                <a:tc>
                  <a:txBody>
                    <a:bodyPr/>
                    <a:lstStyle/>
                    <a:p>
                      <a:r>
                        <a:rPr lang="fr-FR">
                          <a:effectLst/>
                        </a:rPr>
                        <a:t>Certification possible</a:t>
                      </a:r>
                    </a:p>
                  </a:txBody>
                  <a:tcPr marL="76200" marR="76200" marT="76200" marB="76200" anchor="ctr"/>
                </a:tc>
                <a:tc>
                  <a:txBody>
                    <a:bodyPr/>
                    <a:lstStyle/>
                    <a:p>
                      <a:r>
                        <a:rPr lang="fr-FR">
                          <a:effectLst/>
                        </a:rPr>
                        <a:t>Guide d’implémentation</a:t>
                      </a:r>
                    </a:p>
                  </a:txBody>
                  <a:tcPr marL="76200" marR="76200" marT="76200" marB="76200" anchor="ctr"/>
                </a:tc>
                <a:tc>
                  <a:txBody>
                    <a:bodyPr/>
                    <a:lstStyle/>
                    <a:p>
                      <a:r>
                        <a:rPr lang="fr-FR" dirty="0">
                          <a:effectLst/>
                        </a:rPr>
                        <a:t>Recommandations pour </a:t>
                      </a:r>
                      <a:r>
                        <a:rPr lang="fr-FR" sz="1800" b="0" i="0" kern="1200" dirty="0">
                          <a:solidFill>
                            <a:schemeClr val="dk1"/>
                          </a:solidFill>
                          <a:effectLst/>
                          <a:latin typeface="+mn-lt"/>
                          <a:ea typeface="+mn-ea"/>
                          <a:cs typeface="+mn-cs"/>
                        </a:rPr>
                        <a:t> la coopération</a:t>
                      </a:r>
                      <a:endParaRPr lang="fr-FR" dirty="0">
                        <a:effectLst/>
                      </a:endParaRPr>
                    </a:p>
                  </a:txBody>
                  <a:tcPr marL="76200" marR="76200" marT="76200" marB="76200" anchor="ctr"/>
                </a:tc>
                <a:extLst>
                  <a:ext uri="{0D108BD9-81ED-4DB2-BD59-A6C34878D82A}">
                    <a16:rowId xmlns:a16="http://schemas.microsoft.com/office/drawing/2014/main" val="1236305689"/>
                  </a:ext>
                </a:extLst>
              </a:tr>
            </a:tbl>
          </a:graphicData>
        </a:graphic>
      </p:graphicFrame>
      <p:sp>
        <p:nvSpPr>
          <p:cNvPr id="5" name="ZoneTexte 4">
            <a:extLst>
              <a:ext uri="{FF2B5EF4-FFF2-40B4-BE49-F238E27FC236}">
                <a16:creationId xmlns:a16="http://schemas.microsoft.com/office/drawing/2014/main" id="{4AE742C5-42C8-B3F3-E7F6-56B1417C824C}"/>
              </a:ext>
            </a:extLst>
          </p:cNvPr>
          <p:cNvSpPr txBox="1"/>
          <p:nvPr/>
        </p:nvSpPr>
        <p:spPr>
          <a:xfrm>
            <a:off x="2570480" y="558800"/>
            <a:ext cx="7426960" cy="707886"/>
          </a:xfrm>
          <a:prstGeom prst="rect">
            <a:avLst/>
          </a:prstGeom>
          <a:noFill/>
        </p:spPr>
        <p:txBody>
          <a:bodyPr wrap="square" rtlCol="0">
            <a:spAutoFit/>
          </a:bodyPr>
          <a:lstStyle/>
          <a:p>
            <a:r>
              <a:rPr lang="fr-FR" sz="4000" dirty="0">
                <a:solidFill>
                  <a:srgbClr val="FF0000"/>
                </a:solidFill>
              </a:rPr>
              <a:t>A retenir :</a:t>
            </a:r>
          </a:p>
        </p:txBody>
      </p:sp>
      <p:sp>
        <p:nvSpPr>
          <p:cNvPr id="3" name="Espace réservé du numéro de diapositive 2">
            <a:extLst>
              <a:ext uri="{FF2B5EF4-FFF2-40B4-BE49-F238E27FC236}">
                <a16:creationId xmlns:a16="http://schemas.microsoft.com/office/drawing/2014/main" id="{F66E0581-6D1B-BAAC-7322-EF7FACC9895E}"/>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Tree>
    <p:extLst>
      <p:ext uri="{BB962C8B-B14F-4D97-AF65-F5344CB8AC3E}">
        <p14:creationId xmlns:p14="http://schemas.microsoft.com/office/powerpoint/2010/main" val="2232561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50F93B-42EF-6A7A-73CC-BFDB0DA509FD}"/>
              </a:ext>
            </a:extLst>
          </p:cNvPr>
          <p:cNvSpPr>
            <a:spLocks noGrp="1"/>
          </p:cNvSpPr>
          <p:nvPr>
            <p:ph type="title"/>
          </p:nvPr>
        </p:nvSpPr>
        <p:spPr>
          <a:xfrm>
            <a:off x="1697671" y="0"/>
            <a:ext cx="10018713" cy="828040"/>
          </a:xfrm>
        </p:spPr>
        <p:txBody>
          <a:bodyPr/>
          <a:lstStyle/>
          <a:p>
            <a:r>
              <a:rPr lang="fr-FR" dirty="0">
                <a:solidFill>
                  <a:srgbClr val="FF0000"/>
                </a:solidFill>
              </a:rPr>
              <a:t>Avantages</a:t>
            </a:r>
          </a:p>
        </p:txBody>
      </p:sp>
      <p:sp>
        <p:nvSpPr>
          <p:cNvPr id="3" name="ZoneTexte 2">
            <a:extLst>
              <a:ext uri="{FF2B5EF4-FFF2-40B4-BE49-F238E27FC236}">
                <a16:creationId xmlns:a16="http://schemas.microsoft.com/office/drawing/2014/main" id="{27C032B0-A28D-2E31-D81F-1CBC5635FCF8}"/>
              </a:ext>
            </a:extLst>
          </p:cNvPr>
          <p:cNvSpPr txBox="1"/>
          <p:nvPr/>
        </p:nvSpPr>
        <p:spPr>
          <a:xfrm>
            <a:off x="1697671" y="1005840"/>
            <a:ext cx="8483600" cy="5016758"/>
          </a:xfrm>
          <a:prstGeom prst="rect">
            <a:avLst/>
          </a:prstGeom>
          <a:noFill/>
        </p:spPr>
        <p:txBody>
          <a:bodyPr wrap="square" rtlCol="0">
            <a:spAutoFit/>
          </a:bodyPr>
          <a:lstStyle/>
          <a:p>
            <a:pPr marL="457200" indent="-457200">
              <a:buFont typeface="Wingdings" panose="05000000000000000000" pitchFamily="2" charset="2"/>
              <a:buChar char="ü"/>
            </a:pPr>
            <a:r>
              <a:rPr lang="fr-FR" sz="3200" dirty="0"/>
              <a:t>La norme ISO 27001 renforce la crédibilité et la confiance des clients.</a:t>
            </a:r>
          </a:p>
          <a:p>
            <a:pPr marL="457200" indent="-457200">
              <a:buFont typeface="Wingdings" panose="05000000000000000000" pitchFamily="2" charset="2"/>
              <a:buChar char="ü"/>
            </a:pPr>
            <a:r>
              <a:rPr lang="fr-FR" sz="3200" dirty="0"/>
              <a:t>Les entreprises certifiées décrochent de meilleurs contrats et se développent en toute sécurité.</a:t>
            </a:r>
          </a:p>
          <a:p>
            <a:pPr marL="457200" indent="-457200">
              <a:buFont typeface="Wingdings" panose="05000000000000000000" pitchFamily="2" charset="2"/>
              <a:buChar char="ü"/>
            </a:pPr>
            <a:r>
              <a:rPr lang="fr-FR" sz="3200" dirty="0"/>
              <a:t>Réduire les risques de cyberattaques.</a:t>
            </a:r>
          </a:p>
          <a:p>
            <a:pPr marL="457200" indent="-457200">
              <a:buFont typeface="Wingdings" panose="05000000000000000000" pitchFamily="2" charset="2"/>
              <a:buChar char="ü"/>
            </a:pPr>
            <a:r>
              <a:rPr lang="fr-FR" sz="3200" dirty="0"/>
              <a:t>Devenir un partenaire de confiance pour vos clients.</a:t>
            </a:r>
          </a:p>
          <a:p>
            <a:pPr marL="457200" indent="-457200">
              <a:buFont typeface="Wingdings" panose="05000000000000000000" pitchFamily="2" charset="2"/>
              <a:buChar char="ü"/>
            </a:pPr>
            <a:r>
              <a:rPr lang="fr-FR" sz="3200" dirty="0"/>
              <a:t>Accéder à de nouveaux marchés.</a:t>
            </a:r>
          </a:p>
          <a:p>
            <a:pPr marL="457200" indent="-457200">
              <a:buFont typeface="Wingdings" panose="05000000000000000000" pitchFamily="2" charset="2"/>
              <a:buChar char="ü"/>
            </a:pPr>
            <a:endParaRPr lang="fr-FR" sz="3200" dirty="0"/>
          </a:p>
        </p:txBody>
      </p:sp>
      <p:sp>
        <p:nvSpPr>
          <p:cNvPr id="5" name="Espace réservé du numéro de diapositive 4">
            <a:extLst>
              <a:ext uri="{FF2B5EF4-FFF2-40B4-BE49-F238E27FC236}">
                <a16:creationId xmlns:a16="http://schemas.microsoft.com/office/drawing/2014/main" id="{16C9022A-223B-DC25-38C9-AC058977E03D}"/>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Tree>
    <p:extLst>
      <p:ext uri="{BB962C8B-B14F-4D97-AF65-F5344CB8AC3E}">
        <p14:creationId xmlns:p14="http://schemas.microsoft.com/office/powerpoint/2010/main" val="2452742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A6E59B-3379-5EDA-7D64-C6F452683C2C}"/>
              </a:ext>
            </a:extLst>
          </p:cNvPr>
          <p:cNvSpPr>
            <a:spLocks noGrp="1"/>
          </p:cNvSpPr>
          <p:nvPr>
            <p:ph type="title"/>
          </p:nvPr>
        </p:nvSpPr>
        <p:spPr/>
        <p:txBody>
          <a:bodyPr/>
          <a:lstStyle/>
          <a:p>
            <a:r>
              <a:rPr lang="fr-FR" b="1" dirty="0">
                <a:solidFill>
                  <a:srgbClr val="FF0000"/>
                </a:solidFill>
              </a:rPr>
              <a:t>Inconvenants</a:t>
            </a:r>
            <a:br>
              <a:rPr lang="fr-FR" b="1" dirty="0">
                <a:solidFill>
                  <a:srgbClr val="FF0000"/>
                </a:solidFill>
              </a:rPr>
            </a:br>
            <a:endParaRPr lang="fr-FR" dirty="0"/>
          </a:p>
        </p:txBody>
      </p:sp>
      <p:sp>
        <p:nvSpPr>
          <p:cNvPr id="3" name="Espace réservé du numéro de diapositive 2">
            <a:extLst>
              <a:ext uri="{FF2B5EF4-FFF2-40B4-BE49-F238E27FC236}">
                <a16:creationId xmlns:a16="http://schemas.microsoft.com/office/drawing/2014/main" id="{6039093B-1F2F-A470-BAAD-AD93A328780F}"/>
              </a:ext>
            </a:extLst>
          </p:cNvPr>
          <p:cNvSpPr>
            <a:spLocks noGrp="1"/>
          </p:cNvSpPr>
          <p:nvPr>
            <p:ph type="sldNum" sz="quarter" idx="12"/>
          </p:nvPr>
        </p:nvSpPr>
        <p:spPr/>
        <p:txBody>
          <a:bodyPr/>
          <a:lstStyle/>
          <a:p>
            <a:fld id="{D57F1E4F-1CFF-5643-939E-217C01CDF565}" type="slidenum">
              <a:rPr lang="en-US" smtClean="0"/>
              <a:pPr/>
              <a:t>21</a:t>
            </a:fld>
            <a:endParaRPr lang="en-US" dirty="0"/>
          </a:p>
        </p:txBody>
      </p:sp>
      <p:sp>
        <p:nvSpPr>
          <p:cNvPr id="4" name="ZoneTexte 3">
            <a:extLst>
              <a:ext uri="{FF2B5EF4-FFF2-40B4-BE49-F238E27FC236}">
                <a16:creationId xmlns:a16="http://schemas.microsoft.com/office/drawing/2014/main" id="{E5D82F8F-E268-08A0-B294-EF86735D552C}"/>
              </a:ext>
            </a:extLst>
          </p:cNvPr>
          <p:cNvSpPr txBox="1"/>
          <p:nvPr/>
        </p:nvSpPr>
        <p:spPr>
          <a:xfrm>
            <a:off x="2275840" y="2438399"/>
            <a:ext cx="9438640" cy="1661993"/>
          </a:xfrm>
          <a:prstGeom prst="rect">
            <a:avLst/>
          </a:prstGeom>
          <a:noFill/>
        </p:spPr>
        <p:txBody>
          <a:bodyPr wrap="square" rtlCol="0">
            <a:spAutoFit/>
          </a:bodyPr>
          <a:lstStyle/>
          <a:p>
            <a:pPr marL="342900" indent="-342900">
              <a:buFont typeface="Wingdings" panose="05000000000000000000" pitchFamily="2" charset="2"/>
              <a:buChar char="v"/>
            </a:pPr>
            <a:r>
              <a:rPr lang="fr-FR" sz="2800" dirty="0"/>
              <a:t>Adhésion </a:t>
            </a:r>
          </a:p>
          <a:p>
            <a:pPr marL="342900" indent="-342900">
              <a:buFont typeface="Wingdings" panose="05000000000000000000" pitchFamily="2" charset="2"/>
              <a:buChar char="v"/>
            </a:pPr>
            <a:r>
              <a:rPr lang="fr-FR" sz="2800" dirty="0"/>
              <a:t>Mise en place complexe</a:t>
            </a:r>
          </a:p>
          <a:p>
            <a:pPr marL="342900" indent="-342900">
              <a:buFont typeface="Wingdings" panose="05000000000000000000" pitchFamily="2" charset="2"/>
              <a:buChar char="v"/>
            </a:pPr>
            <a:r>
              <a:rPr lang="fr-FR" sz="2800" dirty="0"/>
              <a:t>Maintenir le cap</a:t>
            </a:r>
          </a:p>
          <a:p>
            <a:endParaRPr lang="fr-FR" dirty="0"/>
          </a:p>
        </p:txBody>
      </p:sp>
    </p:spTree>
    <p:extLst>
      <p:ext uri="{BB962C8B-B14F-4D97-AF65-F5344CB8AC3E}">
        <p14:creationId xmlns:p14="http://schemas.microsoft.com/office/powerpoint/2010/main" val="7871999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B5E751-D301-B1BB-6F8D-7D9EE04055B1}"/>
              </a:ext>
            </a:extLst>
          </p:cNvPr>
          <p:cNvSpPr>
            <a:spLocks noGrp="1"/>
          </p:cNvSpPr>
          <p:nvPr>
            <p:ph type="title"/>
          </p:nvPr>
        </p:nvSpPr>
        <p:spPr/>
        <p:txBody>
          <a:bodyPr/>
          <a:lstStyle/>
          <a:p>
            <a:r>
              <a:rPr lang="fr-FR" dirty="0">
                <a:solidFill>
                  <a:srgbClr val="FF0000"/>
                </a:solidFill>
              </a:rPr>
              <a:t>Certification</a:t>
            </a:r>
          </a:p>
        </p:txBody>
      </p:sp>
      <p:sp>
        <p:nvSpPr>
          <p:cNvPr id="4" name="Espace réservé du numéro de diapositive 3">
            <a:extLst>
              <a:ext uri="{FF2B5EF4-FFF2-40B4-BE49-F238E27FC236}">
                <a16:creationId xmlns:a16="http://schemas.microsoft.com/office/drawing/2014/main" id="{BFC082C7-EBED-9B89-5AA8-633802A9FE03}"/>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Tree>
    <p:extLst>
      <p:ext uri="{BB962C8B-B14F-4D97-AF65-F5344CB8AC3E}">
        <p14:creationId xmlns:p14="http://schemas.microsoft.com/office/powerpoint/2010/main" val="1134106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2928401" y="171450"/>
            <a:ext cx="8574622" cy="1914525"/>
          </a:xfrm>
        </p:spPr>
        <p:txBody>
          <a:bodyPr>
            <a:normAutofit/>
          </a:bodyPr>
          <a:lstStyle/>
          <a:p>
            <a:pPr algn="ctr"/>
            <a:r>
              <a:rPr lang="fr-FR" sz="4400" b="1" dirty="0">
                <a:solidFill>
                  <a:srgbClr val="FF0000"/>
                </a:solidFill>
              </a:rPr>
              <a:t>La certification:</a:t>
            </a:r>
            <a:br>
              <a:rPr lang="fr-FR" b="1" dirty="0">
                <a:solidFill>
                  <a:srgbClr val="FF0000"/>
                </a:solidFill>
              </a:rPr>
            </a:br>
            <a:endParaRPr lang="fr-FR" dirty="0">
              <a:solidFill>
                <a:srgbClr val="FF0000"/>
              </a:solidFill>
            </a:endParaRPr>
          </a:p>
        </p:txBody>
      </p:sp>
      <p:sp>
        <p:nvSpPr>
          <p:cNvPr id="3" name="Sous-titre 2"/>
          <p:cNvSpPr>
            <a:spLocks noGrp="1"/>
          </p:cNvSpPr>
          <p:nvPr>
            <p:ph type="subTitle" idx="1"/>
          </p:nvPr>
        </p:nvSpPr>
        <p:spPr>
          <a:xfrm>
            <a:off x="2602177" y="1267142"/>
            <a:ext cx="9203743" cy="4422458"/>
          </a:xfrm>
        </p:spPr>
        <p:txBody>
          <a:bodyPr>
            <a:normAutofit/>
          </a:bodyPr>
          <a:lstStyle/>
          <a:p>
            <a:pPr algn="l"/>
            <a:r>
              <a:rPr lang="fr-FR" dirty="0"/>
              <a:t>L’audit de certification ISO 27001 se compose de deux phases principales. </a:t>
            </a:r>
            <a:r>
              <a:rPr lang="fr-FR" b="1" dirty="0"/>
              <a:t>La première phase est un audit documentaire</a:t>
            </a:r>
            <a:r>
              <a:rPr lang="fr-FR" dirty="0"/>
              <a:t>, au cours duquel l’auditeur examine la documentation du Système de Management de la Sécurité de l'Information (SMSI) mis en place par l’organisation. L’objectif est de vérifier que les politiques, procédures et contrôles sont conformes aux exigences de la norme ISO 27001.</a:t>
            </a:r>
          </a:p>
          <a:p>
            <a:pPr algn="l"/>
            <a:endParaRPr lang="fr-FR" dirty="0"/>
          </a:p>
          <a:p>
            <a:pPr algn="l"/>
            <a:r>
              <a:rPr lang="fr-FR" b="1" dirty="0"/>
              <a:t>La deuxième phase est un audit sur site</a:t>
            </a:r>
            <a:r>
              <a:rPr lang="fr-FR" dirty="0"/>
              <a:t>, où l’auditeur vérifie l’application effective des mesures de sécurité au sein de l’organisation. Il évalue si les contrôles sont correctement mis en œuvre et si les pratiques de sécurité sont respectées au quotidien.  </a:t>
            </a:r>
          </a:p>
          <a:p>
            <a:pPr algn="l"/>
            <a:endParaRPr lang="fr-FR" dirty="0"/>
          </a:p>
        </p:txBody>
      </p:sp>
      <p:sp>
        <p:nvSpPr>
          <p:cNvPr id="5" name="Espace réservé du numéro de diapositive 4">
            <a:extLst>
              <a:ext uri="{FF2B5EF4-FFF2-40B4-BE49-F238E27FC236}">
                <a16:creationId xmlns:a16="http://schemas.microsoft.com/office/drawing/2014/main" id="{D01570E6-7599-775A-E847-EFCE0C6BD0E1}"/>
              </a:ext>
            </a:extLst>
          </p:cNvPr>
          <p:cNvSpPr>
            <a:spLocks noGrp="1"/>
          </p:cNvSpPr>
          <p:nvPr>
            <p:ph type="sldNum" sz="quarter" idx="12"/>
          </p:nvPr>
        </p:nvSpPr>
        <p:spPr/>
        <p:txBody>
          <a:bodyPr/>
          <a:lstStyle/>
          <a:p>
            <a:fld id="{D57F1E4F-1CFF-5643-939E-217C01CDF565}" type="slidenum">
              <a:rPr lang="en-US" smtClean="0"/>
              <a:pPr/>
              <a:t>23</a:t>
            </a:fld>
            <a:endParaRPr lang="en-US" dirty="0"/>
          </a:p>
        </p:txBody>
      </p:sp>
    </p:spTree>
    <p:extLst>
      <p:ext uri="{BB962C8B-B14F-4D97-AF65-F5344CB8AC3E}">
        <p14:creationId xmlns:p14="http://schemas.microsoft.com/office/powerpoint/2010/main" val="16258532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D3EF80-9500-07B6-D759-744CC6CDE3FD}"/>
              </a:ext>
            </a:extLst>
          </p:cNvPr>
          <p:cNvSpPr>
            <a:spLocks noGrp="1"/>
          </p:cNvSpPr>
          <p:nvPr>
            <p:ph type="title"/>
          </p:nvPr>
        </p:nvSpPr>
        <p:spPr>
          <a:xfrm>
            <a:off x="1484311" y="685800"/>
            <a:ext cx="10018713" cy="1752599"/>
          </a:xfrm>
        </p:spPr>
        <p:txBody>
          <a:bodyPr/>
          <a:lstStyle/>
          <a:p>
            <a:r>
              <a:rPr lang="fr-FR" dirty="0">
                <a:solidFill>
                  <a:srgbClr val="FF0000"/>
                </a:solidFill>
              </a:rPr>
              <a:t>Mise en place de ISO 27001 </a:t>
            </a:r>
          </a:p>
        </p:txBody>
      </p:sp>
      <p:sp>
        <p:nvSpPr>
          <p:cNvPr id="3" name="Titre 1">
            <a:extLst>
              <a:ext uri="{FF2B5EF4-FFF2-40B4-BE49-F238E27FC236}">
                <a16:creationId xmlns:a16="http://schemas.microsoft.com/office/drawing/2014/main" id="{BB7DDA9B-1B73-DC84-0C1C-583E41F3C839}"/>
              </a:ext>
            </a:extLst>
          </p:cNvPr>
          <p:cNvSpPr txBox="1">
            <a:spLocks/>
          </p:cNvSpPr>
          <p:nvPr/>
        </p:nvSpPr>
        <p:spPr>
          <a:xfrm>
            <a:off x="1077911" y="3398522"/>
            <a:ext cx="11469689" cy="1021080"/>
          </a:xfrm>
          <a:prstGeom prst="rect">
            <a:avLst/>
          </a:prstGeom>
          <a:effectLst/>
        </p:spPr>
        <p:txBody>
          <a:bodyPr vert="horz" lIns="91440" tIns="45720" rIns="91440" bIns="45720" rtlCol="0" anchor="ctr">
            <a:normAutofit fontScale="92500" lnSpcReduction="2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t>16 étapes pour mettre en place ISO 27001 au sein d’un organisme</a:t>
            </a:r>
          </a:p>
        </p:txBody>
      </p:sp>
      <p:sp>
        <p:nvSpPr>
          <p:cNvPr id="6" name="ZoneTexte 5">
            <a:extLst>
              <a:ext uri="{FF2B5EF4-FFF2-40B4-BE49-F238E27FC236}">
                <a16:creationId xmlns:a16="http://schemas.microsoft.com/office/drawing/2014/main" id="{64DFCF1B-43FA-2DE1-F350-889F67D241BB}"/>
              </a:ext>
            </a:extLst>
          </p:cNvPr>
          <p:cNvSpPr txBox="1"/>
          <p:nvPr/>
        </p:nvSpPr>
        <p:spPr>
          <a:xfrm>
            <a:off x="2113280" y="4643120"/>
            <a:ext cx="9611360" cy="1737360"/>
          </a:xfrm>
          <a:prstGeom prst="rect">
            <a:avLst/>
          </a:prstGeom>
          <a:noFill/>
        </p:spPr>
        <p:txBody>
          <a:bodyPr wrap="square" rtlCol="0">
            <a:spAutoFit/>
          </a:bodyPr>
          <a:lstStyle/>
          <a:p>
            <a:endParaRPr lang="fr-FR" dirty="0"/>
          </a:p>
        </p:txBody>
      </p:sp>
      <p:sp>
        <p:nvSpPr>
          <p:cNvPr id="5" name="Espace réservé du numéro de diapositive 4">
            <a:extLst>
              <a:ext uri="{FF2B5EF4-FFF2-40B4-BE49-F238E27FC236}">
                <a16:creationId xmlns:a16="http://schemas.microsoft.com/office/drawing/2014/main" id="{2B13EC44-89FE-307B-BF83-BE279818AE57}"/>
              </a:ext>
            </a:extLst>
          </p:cNvPr>
          <p:cNvSpPr>
            <a:spLocks noGrp="1"/>
          </p:cNvSpPr>
          <p:nvPr>
            <p:ph type="sldNum" sz="quarter" idx="12"/>
          </p:nvPr>
        </p:nvSpPr>
        <p:spPr/>
        <p:txBody>
          <a:bodyPr/>
          <a:lstStyle/>
          <a:p>
            <a:fld id="{D57F1E4F-1CFF-5643-939E-217C01CDF565}" type="slidenum">
              <a:rPr lang="en-US" smtClean="0"/>
              <a:pPr/>
              <a:t>24</a:t>
            </a:fld>
            <a:endParaRPr lang="en-US" dirty="0"/>
          </a:p>
        </p:txBody>
      </p:sp>
    </p:spTree>
    <p:extLst>
      <p:ext uri="{BB962C8B-B14F-4D97-AF65-F5344CB8AC3E}">
        <p14:creationId xmlns:p14="http://schemas.microsoft.com/office/powerpoint/2010/main" val="16969149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067DA3A-216A-AB86-2DB2-1D21AE86FA07}"/>
              </a:ext>
            </a:extLst>
          </p:cNvPr>
          <p:cNvSpPr txBox="1"/>
          <p:nvPr/>
        </p:nvSpPr>
        <p:spPr>
          <a:xfrm>
            <a:off x="2611120" y="1757680"/>
            <a:ext cx="10109200" cy="5570756"/>
          </a:xfrm>
          <a:prstGeom prst="rect">
            <a:avLst/>
          </a:prstGeom>
          <a:noFill/>
        </p:spPr>
        <p:txBody>
          <a:bodyPr wrap="square" rtlCol="0">
            <a:spAutoFit/>
          </a:bodyPr>
          <a:lstStyle/>
          <a:p>
            <a:r>
              <a:rPr lang="fr-FR" sz="2000" dirty="0"/>
              <a:t>Etape 1: Présentation du projet au collaborateurs</a:t>
            </a:r>
          </a:p>
          <a:p>
            <a:r>
              <a:rPr lang="fr-FR" sz="2000" dirty="0"/>
              <a:t>Etape 2: Description du contexte</a:t>
            </a:r>
          </a:p>
          <a:p>
            <a:r>
              <a:rPr lang="fr-FR" sz="2000" dirty="0"/>
              <a:t>Etape 3: Inventaires des actifs informationnels</a:t>
            </a:r>
          </a:p>
          <a:p>
            <a:r>
              <a:rPr lang="fr-FR" sz="2000" dirty="0"/>
              <a:t>Etape 4: Politique de sécurité de l’information</a:t>
            </a:r>
          </a:p>
          <a:p>
            <a:r>
              <a:rPr lang="fr-FR" sz="2000" dirty="0"/>
              <a:t>Etape 5: Définir le rôle et responsabilité</a:t>
            </a:r>
          </a:p>
          <a:p>
            <a:r>
              <a:rPr lang="fr-FR" sz="2000" dirty="0"/>
              <a:t>Etape 6: Analyse de risque</a:t>
            </a:r>
          </a:p>
          <a:p>
            <a:r>
              <a:rPr lang="fr-FR" sz="2000" dirty="0"/>
              <a:t>Etape 7: les objectifs</a:t>
            </a:r>
          </a:p>
          <a:p>
            <a:r>
              <a:rPr lang="fr-FR" sz="2000" dirty="0"/>
              <a:t>Etape 8 : Gestion des informations documentées</a:t>
            </a:r>
          </a:p>
          <a:p>
            <a:r>
              <a:rPr lang="fr-FR" sz="2000" dirty="0"/>
              <a:t>Etape 9: Points de contrôle</a:t>
            </a:r>
          </a:p>
          <a:p>
            <a:r>
              <a:rPr lang="fr-FR" sz="2000" dirty="0"/>
              <a:t>Etape 10: Communication</a:t>
            </a:r>
          </a:p>
          <a:p>
            <a:r>
              <a:rPr lang="fr-FR" sz="2000" dirty="0"/>
              <a:t>Etape 11: Gestion de non-conformités</a:t>
            </a:r>
          </a:p>
          <a:p>
            <a:r>
              <a:rPr lang="fr-FR" sz="2000" dirty="0"/>
              <a:t>Etape 12: Evaluation de compétences</a:t>
            </a:r>
          </a:p>
          <a:p>
            <a:r>
              <a:rPr lang="fr-FR" sz="2000" dirty="0"/>
              <a:t>Etape 13: Audit interne</a:t>
            </a:r>
          </a:p>
          <a:p>
            <a:r>
              <a:rPr lang="fr-FR" sz="2000" dirty="0"/>
              <a:t>Etape 14 : Revue de direction</a:t>
            </a:r>
          </a:p>
          <a:p>
            <a:r>
              <a:rPr lang="fr-FR" sz="2000" dirty="0"/>
              <a:t>Etape 15 :Gestion des améliorations </a:t>
            </a:r>
          </a:p>
          <a:p>
            <a:r>
              <a:rPr lang="fr-FR" sz="2000" dirty="0"/>
              <a:t>Etape 16: Audit de certification</a:t>
            </a:r>
          </a:p>
          <a:p>
            <a:endParaRPr lang="fr-FR" sz="1800" dirty="0"/>
          </a:p>
          <a:p>
            <a:endParaRPr lang="fr-FR" dirty="0"/>
          </a:p>
        </p:txBody>
      </p:sp>
      <p:sp>
        <p:nvSpPr>
          <p:cNvPr id="2" name="Titre 1">
            <a:extLst>
              <a:ext uri="{FF2B5EF4-FFF2-40B4-BE49-F238E27FC236}">
                <a16:creationId xmlns:a16="http://schemas.microsoft.com/office/drawing/2014/main" id="{651C2D3D-5B72-E314-2EE2-60988F5FBCAB}"/>
              </a:ext>
            </a:extLst>
          </p:cNvPr>
          <p:cNvSpPr txBox="1">
            <a:spLocks/>
          </p:cNvSpPr>
          <p:nvPr/>
        </p:nvSpPr>
        <p:spPr>
          <a:xfrm>
            <a:off x="741680" y="563882"/>
            <a:ext cx="11469689" cy="1021080"/>
          </a:xfrm>
          <a:prstGeom prst="rect">
            <a:avLst/>
          </a:prstGeom>
          <a:effectLst/>
        </p:spPr>
        <p:txBody>
          <a:bodyPr vert="horz" lIns="91440" tIns="45720" rIns="91440" bIns="45720" rtlCol="0" anchor="ctr">
            <a:normAutofit fontScale="92500" lnSpcReduction="2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t>16 étapes pour mettre en place ISO 27001 au sein d’un organisme</a:t>
            </a:r>
          </a:p>
        </p:txBody>
      </p:sp>
      <p:sp>
        <p:nvSpPr>
          <p:cNvPr id="5" name="Espace réservé du numéro de diapositive 4">
            <a:extLst>
              <a:ext uri="{FF2B5EF4-FFF2-40B4-BE49-F238E27FC236}">
                <a16:creationId xmlns:a16="http://schemas.microsoft.com/office/drawing/2014/main" id="{D405B2E6-9295-4746-4F14-35B0120FB36D}"/>
              </a:ext>
            </a:extLst>
          </p:cNvPr>
          <p:cNvSpPr>
            <a:spLocks noGrp="1"/>
          </p:cNvSpPr>
          <p:nvPr>
            <p:ph type="sldNum" sz="quarter" idx="12"/>
          </p:nvPr>
        </p:nvSpPr>
        <p:spPr/>
        <p:txBody>
          <a:bodyPr/>
          <a:lstStyle/>
          <a:p>
            <a:fld id="{D57F1E4F-1CFF-5643-939E-217C01CDF565}" type="slidenum">
              <a:rPr lang="en-US" smtClean="0"/>
              <a:pPr/>
              <a:t>25</a:t>
            </a:fld>
            <a:endParaRPr lang="en-US" dirty="0"/>
          </a:p>
        </p:txBody>
      </p:sp>
    </p:spTree>
    <p:extLst>
      <p:ext uri="{BB962C8B-B14F-4D97-AF65-F5344CB8AC3E}">
        <p14:creationId xmlns:p14="http://schemas.microsoft.com/office/powerpoint/2010/main" val="4244335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09758A-97D1-813B-0A20-F60ABA02038F}"/>
              </a:ext>
            </a:extLst>
          </p:cNvPr>
          <p:cNvSpPr>
            <a:spLocks noGrp="1"/>
          </p:cNvSpPr>
          <p:nvPr>
            <p:ph type="title"/>
          </p:nvPr>
        </p:nvSpPr>
        <p:spPr>
          <a:xfrm>
            <a:off x="1626551" y="1"/>
            <a:ext cx="10018713" cy="914400"/>
          </a:xfrm>
        </p:spPr>
        <p:txBody>
          <a:bodyPr/>
          <a:lstStyle/>
          <a:p>
            <a:r>
              <a:rPr lang="fr-FR" dirty="0">
                <a:solidFill>
                  <a:srgbClr val="FF0000"/>
                </a:solidFill>
              </a:rPr>
              <a:t>Conclusion</a:t>
            </a:r>
          </a:p>
        </p:txBody>
      </p:sp>
      <p:sp>
        <p:nvSpPr>
          <p:cNvPr id="3" name="ZoneTexte 2">
            <a:extLst>
              <a:ext uri="{FF2B5EF4-FFF2-40B4-BE49-F238E27FC236}">
                <a16:creationId xmlns:a16="http://schemas.microsoft.com/office/drawing/2014/main" id="{DBD485CD-0AA4-FB25-755E-B50EBBC48904}"/>
              </a:ext>
            </a:extLst>
          </p:cNvPr>
          <p:cNvSpPr txBox="1"/>
          <p:nvPr/>
        </p:nvSpPr>
        <p:spPr>
          <a:xfrm>
            <a:off x="2113919" y="914401"/>
            <a:ext cx="9113520" cy="5375831"/>
          </a:xfrm>
          <a:prstGeom prst="rect">
            <a:avLst/>
          </a:prstGeom>
          <a:noFill/>
        </p:spPr>
        <p:txBody>
          <a:bodyPr wrap="square" rtlCol="0">
            <a:spAutoFit/>
          </a:bodyPr>
          <a:lstStyle/>
          <a:p>
            <a:r>
              <a:rPr lang="fr-FR" sz="2400" dirty="0">
                <a:latin typeface="+mj-lt"/>
              </a:rPr>
              <a:t>En somme, Elle démontre que l’entreprise est consciente des dangers en cybersécurité et qu’elle dispose un socle de sécurité.</a:t>
            </a:r>
          </a:p>
          <a:p>
            <a:pPr>
              <a:spcAft>
                <a:spcPts val="750"/>
              </a:spcAft>
              <a:buNone/>
            </a:pPr>
            <a:r>
              <a:rPr lang="fr-FR" sz="2400" dirty="0">
                <a:solidFill>
                  <a:srgbClr val="3B3B3B"/>
                </a:solidFill>
                <a:effectLst/>
                <a:latin typeface="+mj-lt"/>
                <a:ea typeface="Calibri" panose="020F0502020204030204" pitchFamily="34" charset="0"/>
              </a:rPr>
              <a:t>L’ISO 27001 </a:t>
            </a:r>
            <a:r>
              <a:rPr lang="fr-FR" sz="2400" b="1" dirty="0">
                <a:solidFill>
                  <a:srgbClr val="3B3B3B"/>
                </a:solidFill>
                <a:effectLst/>
                <a:latin typeface="+mj-lt"/>
                <a:ea typeface="Calibri" panose="020F0502020204030204" pitchFamily="34" charset="0"/>
              </a:rPr>
              <a:t>renforce la sécurité de l’information</a:t>
            </a:r>
            <a:r>
              <a:rPr lang="fr-FR" sz="2400" dirty="0">
                <a:solidFill>
                  <a:srgbClr val="3B3B3B"/>
                </a:solidFill>
                <a:effectLst/>
                <a:latin typeface="+mj-lt"/>
                <a:ea typeface="Calibri" panose="020F0502020204030204" pitchFamily="34" charset="0"/>
              </a:rPr>
              <a:t> en structurant la </a:t>
            </a:r>
            <a:r>
              <a:rPr lang="fr-FR" sz="2400" b="1" dirty="0">
                <a:solidFill>
                  <a:srgbClr val="3B3B3B"/>
                </a:solidFill>
                <a:effectLst/>
                <a:latin typeface="+mj-lt"/>
                <a:ea typeface="Calibri" panose="020F0502020204030204" pitchFamily="34" charset="0"/>
              </a:rPr>
              <a:t>gestion des risques</a:t>
            </a:r>
            <a:r>
              <a:rPr lang="fr-FR" sz="2400" dirty="0">
                <a:solidFill>
                  <a:srgbClr val="3B3B3B"/>
                </a:solidFill>
                <a:effectLst/>
                <a:latin typeface="+mj-lt"/>
                <a:ea typeface="Calibri" panose="020F0502020204030204" pitchFamily="34" charset="0"/>
              </a:rPr>
              <a:t> et en améliorant l’efficacité des pratiques de protection des données. Elle implique la direction et les collaborateurs pour une gouvernance efficace et une prise de décision éclairée.</a:t>
            </a:r>
            <a:endParaRPr lang="fr-FR" sz="2400" dirty="0">
              <a:effectLst/>
              <a:latin typeface="+mj-lt"/>
              <a:ea typeface="Calibri" panose="020F0502020204030204" pitchFamily="34" charset="0"/>
            </a:endParaRPr>
          </a:p>
          <a:p>
            <a:pPr>
              <a:spcAft>
                <a:spcPts val="750"/>
              </a:spcAft>
            </a:pPr>
            <a:r>
              <a:rPr lang="fr-FR" sz="2400" dirty="0">
                <a:solidFill>
                  <a:srgbClr val="3B3B3B"/>
                </a:solidFill>
                <a:effectLst/>
                <a:latin typeface="+mj-lt"/>
                <a:ea typeface="Calibri" panose="020F0502020204030204" pitchFamily="34" charset="0"/>
              </a:rPr>
              <a:t>Sur le plan commercial, elle </a:t>
            </a:r>
            <a:r>
              <a:rPr lang="fr-FR" sz="2400" b="1" dirty="0">
                <a:solidFill>
                  <a:srgbClr val="3B3B3B"/>
                </a:solidFill>
                <a:effectLst/>
                <a:latin typeface="+mj-lt"/>
                <a:ea typeface="Calibri" panose="020F0502020204030204" pitchFamily="34" charset="0"/>
              </a:rPr>
              <a:t>renforce la confiance</a:t>
            </a:r>
            <a:r>
              <a:rPr lang="fr-FR" sz="2400" dirty="0">
                <a:solidFill>
                  <a:srgbClr val="3B3B3B"/>
                </a:solidFill>
                <a:effectLst/>
                <a:latin typeface="+mj-lt"/>
                <a:ea typeface="Calibri" panose="020F0502020204030204" pitchFamily="34" charset="0"/>
              </a:rPr>
              <a:t> des clients et partenaires, tout en</a:t>
            </a:r>
            <a:r>
              <a:rPr lang="fr-FR" sz="2400" b="1" dirty="0">
                <a:solidFill>
                  <a:srgbClr val="3B3B3B"/>
                </a:solidFill>
                <a:effectLst/>
                <a:latin typeface="+mj-lt"/>
                <a:ea typeface="Calibri" panose="020F0502020204030204" pitchFamily="34" charset="0"/>
              </a:rPr>
              <a:t> facilitant l’accès à de nouveaux marchés </a:t>
            </a:r>
            <a:r>
              <a:rPr lang="fr-FR" sz="2400" dirty="0">
                <a:solidFill>
                  <a:srgbClr val="3B3B3B"/>
                </a:solidFill>
                <a:effectLst/>
                <a:latin typeface="+mj-lt"/>
                <a:ea typeface="Calibri" panose="020F0502020204030204" pitchFamily="34" charset="0"/>
              </a:rPr>
              <a:t>où la sécurité des données est un critère clé. En limitant les risques de violations, elle </a:t>
            </a:r>
            <a:r>
              <a:rPr lang="fr-FR" sz="2400" b="1" dirty="0">
                <a:solidFill>
                  <a:srgbClr val="3B3B3B"/>
                </a:solidFill>
                <a:effectLst/>
                <a:latin typeface="+mj-lt"/>
                <a:ea typeface="Calibri" panose="020F0502020204030204" pitchFamily="34" charset="0"/>
              </a:rPr>
              <a:t>réduit les coûts liés aux incidents </a:t>
            </a:r>
            <a:r>
              <a:rPr lang="fr-FR" sz="2400" dirty="0">
                <a:solidFill>
                  <a:srgbClr val="3B3B3B"/>
                </a:solidFill>
                <a:effectLst/>
                <a:latin typeface="+mj-lt"/>
                <a:ea typeface="Calibri" panose="020F0502020204030204" pitchFamily="34" charset="0"/>
              </a:rPr>
              <a:t>et </a:t>
            </a:r>
            <a:r>
              <a:rPr lang="fr-FR" sz="2400" b="1" dirty="0">
                <a:solidFill>
                  <a:srgbClr val="3B3B3B"/>
                </a:solidFill>
                <a:effectLst/>
                <a:latin typeface="+mj-lt"/>
                <a:ea typeface="Calibri" panose="020F0502020204030204" pitchFamily="34" charset="0"/>
              </a:rPr>
              <a:t>protège la réputation</a:t>
            </a:r>
            <a:r>
              <a:rPr lang="fr-FR" sz="2400" dirty="0">
                <a:solidFill>
                  <a:srgbClr val="3B3B3B"/>
                </a:solidFill>
                <a:effectLst/>
                <a:latin typeface="+mj-lt"/>
                <a:ea typeface="Calibri" panose="020F0502020204030204" pitchFamily="34" charset="0"/>
              </a:rPr>
              <a:t> de l’entreprise. Enfin, en intégrant la cybersécurité au cœur des processus, elle crée un avantage concurrentiel durable et favorise une croissance sécurisée.</a:t>
            </a:r>
            <a:endParaRPr lang="fr-FR" sz="2400" dirty="0">
              <a:effectLst/>
              <a:latin typeface="+mj-lt"/>
              <a:ea typeface="Calibri" panose="020F0502020204030204" pitchFamily="34" charset="0"/>
            </a:endParaRPr>
          </a:p>
          <a:p>
            <a:endParaRPr lang="fr-FR" dirty="0"/>
          </a:p>
        </p:txBody>
      </p:sp>
      <p:sp>
        <p:nvSpPr>
          <p:cNvPr id="5" name="Espace réservé du numéro de diapositive 4">
            <a:extLst>
              <a:ext uri="{FF2B5EF4-FFF2-40B4-BE49-F238E27FC236}">
                <a16:creationId xmlns:a16="http://schemas.microsoft.com/office/drawing/2014/main" id="{6EC9541C-FBE6-E730-03D1-77A9C54CDE5B}"/>
              </a:ext>
            </a:extLst>
          </p:cNvPr>
          <p:cNvSpPr>
            <a:spLocks noGrp="1"/>
          </p:cNvSpPr>
          <p:nvPr>
            <p:ph type="sldNum" sz="quarter" idx="12"/>
          </p:nvPr>
        </p:nvSpPr>
        <p:spPr/>
        <p:txBody>
          <a:bodyPr/>
          <a:lstStyle/>
          <a:p>
            <a:fld id="{D57F1E4F-1CFF-5643-939E-217C01CDF565}" type="slidenum">
              <a:rPr lang="en-US" smtClean="0"/>
              <a:pPr/>
              <a:t>26</a:t>
            </a:fld>
            <a:endParaRPr lang="en-US" dirty="0"/>
          </a:p>
        </p:txBody>
      </p:sp>
    </p:spTree>
    <p:extLst>
      <p:ext uri="{BB962C8B-B14F-4D97-AF65-F5344CB8AC3E}">
        <p14:creationId xmlns:p14="http://schemas.microsoft.com/office/powerpoint/2010/main" val="4264325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2928402" y="428624"/>
            <a:ext cx="8613358" cy="4102735"/>
          </a:xfrm>
        </p:spPr>
        <p:txBody>
          <a:bodyPr>
            <a:noAutofit/>
          </a:bodyPr>
          <a:lstStyle/>
          <a:p>
            <a:pPr algn="ctr"/>
            <a:r>
              <a:rPr lang="fr-FR" sz="4400" dirty="0"/>
              <a:t>La norme ISO 27001 n'est pas seulement une certification : c'est un changement de mentalité !</a:t>
            </a:r>
          </a:p>
        </p:txBody>
      </p:sp>
      <p:sp>
        <p:nvSpPr>
          <p:cNvPr id="7" name="Espace réservé du numéro de diapositive 6">
            <a:extLst>
              <a:ext uri="{FF2B5EF4-FFF2-40B4-BE49-F238E27FC236}">
                <a16:creationId xmlns:a16="http://schemas.microsoft.com/office/drawing/2014/main" id="{220A6816-E376-3943-295B-E4C68B7A8009}"/>
              </a:ext>
            </a:extLst>
          </p:cNvPr>
          <p:cNvSpPr>
            <a:spLocks noGrp="1"/>
          </p:cNvSpPr>
          <p:nvPr>
            <p:ph type="sldNum" sz="quarter" idx="12"/>
          </p:nvPr>
        </p:nvSpPr>
        <p:spPr/>
        <p:txBody>
          <a:bodyPr/>
          <a:lstStyle/>
          <a:p>
            <a:fld id="{D57F1E4F-1CFF-5643-939E-217C01CDF565}" type="slidenum">
              <a:rPr lang="en-US" smtClean="0"/>
              <a:pPr/>
              <a:t>27</a:t>
            </a:fld>
            <a:endParaRPr lang="en-US" dirty="0"/>
          </a:p>
        </p:txBody>
      </p:sp>
    </p:spTree>
    <p:extLst>
      <p:ext uri="{BB962C8B-B14F-4D97-AF65-F5344CB8AC3E}">
        <p14:creationId xmlns:p14="http://schemas.microsoft.com/office/powerpoint/2010/main" val="1575470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83E6E5-1F6E-D13E-3325-E2726EC4F6F4}"/>
              </a:ext>
            </a:extLst>
          </p:cNvPr>
          <p:cNvSpPr>
            <a:spLocks noGrp="1"/>
          </p:cNvSpPr>
          <p:nvPr>
            <p:ph type="title"/>
          </p:nvPr>
        </p:nvSpPr>
        <p:spPr/>
        <p:txBody>
          <a:bodyPr>
            <a:normAutofit fontScale="90000"/>
          </a:bodyPr>
          <a:lstStyle/>
          <a:p>
            <a:r>
              <a:rPr lang="fr-FR" dirty="0"/>
              <a:t>Merci de votre aimable attention!</a:t>
            </a:r>
            <a:br>
              <a:rPr lang="fr-FR" dirty="0"/>
            </a:br>
            <a:br>
              <a:rPr lang="fr-FR" dirty="0"/>
            </a:br>
            <a:br>
              <a:rPr lang="fr-FR" dirty="0"/>
            </a:br>
            <a:r>
              <a:rPr lang="fr-FR" dirty="0"/>
              <a:t>Question?</a:t>
            </a:r>
          </a:p>
        </p:txBody>
      </p:sp>
      <p:sp>
        <p:nvSpPr>
          <p:cNvPr id="4" name="Espace réservé du numéro de diapositive 3">
            <a:extLst>
              <a:ext uri="{FF2B5EF4-FFF2-40B4-BE49-F238E27FC236}">
                <a16:creationId xmlns:a16="http://schemas.microsoft.com/office/drawing/2014/main" id="{7424B32E-2374-80A7-DF80-13DF024716F7}"/>
              </a:ext>
            </a:extLst>
          </p:cNvPr>
          <p:cNvSpPr>
            <a:spLocks noGrp="1"/>
          </p:cNvSpPr>
          <p:nvPr>
            <p:ph type="sldNum" sz="quarter" idx="12"/>
          </p:nvPr>
        </p:nvSpPr>
        <p:spPr/>
        <p:txBody>
          <a:bodyPr/>
          <a:lstStyle/>
          <a:p>
            <a:fld id="{D57F1E4F-1CFF-5643-939E-217C01CDF565}" type="slidenum">
              <a:rPr lang="en-US" smtClean="0"/>
              <a:pPr/>
              <a:t>28</a:t>
            </a:fld>
            <a:endParaRPr lang="en-US" dirty="0"/>
          </a:p>
        </p:txBody>
      </p:sp>
    </p:spTree>
    <p:extLst>
      <p:ext uri="{BB962C8B-B14F-4D97-AF65-F5344CB8AC3E}">
        <p14:creationId xmlns:p14="http://schemas.microsoft.com/office/powerpoint/2010/main" val="42720114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e">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ureau">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248</TotalTime>
  <Words>1724</Words>
  <Application>Microsoft Office PowerPoint</Application>
  <PresentationFormat>Grand écran</PresentationFormat>
  <Paragraphs>201</Paragraphs>
  <Slides>28</Slides>
  <Notes>2</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28</vt:i4>
      </vt:variant>
    </vt:vector>
  </HeadingPairs>
  <TitlesOfParts>
    <vt:vector size="39" baseType="lpstr">
      <vt:lpstr>Arial</vt:lpstr>
      <vt:lpstr>Bodoni MT Black</vt:lpstr>
      <vt:lpstr>Calibri</vt:lpstr>
      <vt:lpstr>Corbel</vt:lpstr>
      <vt:lpstr>Poppins</vt:lpstr>
      <vt:lpstr>quote-cjk-patch</vt:lpstr>
      <vt:lpstr>Times</vt:lpstr>
      <vt:lpstr>Times New Roman</vt:lpstr>
      <vt:lpstr>var(--fonts--titres)</vt:lpstr>
      <vt:lpstr>Wingdings</vt:lpstr>
      <vt:lpstr>Parallaxe</vt:lpstr>
      <vt:lpstr>Présentation PowerPoint</vt:lpstr>
      <vt:lpstr>Présentation PowerPoint</vt:lpstr>
      <vt:lpstr>Objectifs pédagogiques: </vt:lpstr>
      <vt:lpstr>Introduction:</vt:lpstr>
      <vt:lpstr>Qu’est-ce qu’une ISO?</vt:lpstr>
      <vt:lpstr>Présentation:</vt:lpstr>
      <vt:lpstr>ISO 27000</vt:lpstr>
      <vt:lpstr>Présentation PowerPoint</vt:lpstr>
      <vt:lpstr>Historiques</vt:lpstr>
      <vt:lpstr>ISO 27001</vt:lpstr>
      <vt:lpstr>ISO 27001 est la norme internationale de référence pour la gestion de la sécurité de l'information. Elle aide les entreprises à structurer leur protection des données.   Elle est une norme internationale qui définit les exigences à respecter pour la sécurité de l'information. Elle aide les organisations (TPE, PME,…) à garantir la confidentialité, l’intégrité et la disponibilité des données.  Devenue un standard essentiel face à la montée des cyberattaques et violations de données, l'ISO 27001 aide les organisations à mieux gérer les risques et à protéger les informations sensibles. Cette norme s'applique à toutes les organisations, grandes ou petites, publiques ou privées, quel que soit leur secteur. Elle est adaptée à tous ceux qui souhaitent sécuriser leurs données et répondre aux exigences croissantes en matière de protection des informations. </vt:lpstr>
      <vt:lpstr>Le rôle de l'analyse de risques:  L’analyse des risques est une étape fondamentale dans l’ISO 27001. Elle permet à l’organisation d’identifier les vulnérabilités et les menaces pesant sur ses informations, et de développer des scénarios de risques associés. En évaluant chaque risque en fonction de sa gravité (faible, moyen ou critique), l’organisation peut prioriser les actions à entreprendre. Cette évaluation aide à comprendre l'impact potentiel des risques et à prendre des décisions éclairées.   </vt:lpstr>
      <vt:lpstr>ISO 27002</vt:lpstr>
      <vt:lpstr>Présentation PowerPoint</vt:lpstr>
      <vt:lpstr>ISO 27032</vt:lpstr>
      <vt:lpstr>Présentation PowerPoint</vt:lpstr>
      <vt:lpstr>Présentation PowerPoint</vt:lpstr>
      <vt:lpstr>Présentation PowerPoint</vt:lpstr>
      <vt:lpstr>Présentation PowerPoint</vt:lpstr>
      <vt:lpstr>Avantages</vt:lpstr>
      <vt:lpstr>Inconvenants </vt:lpstr>
      <vt:lpstr>Certification</vt:lpstr>
      <vt:lpstr>La certification: </vt:lpstr>
      <vt:lpstr>Mise en place de ISO 27001 </vt:lpstr>
      <vt:lpstr>Présentation PowerPoint</vt:lpstr>
      <vt:lpstr>Conclusion</vt:lpstr>
      <vt:lpstr>La norme ISO 27001 n'est pas seulement une certification : c'est un changement de mentalité !</vt:lpstr>
      <vt:lpstr>Merci de votre aimable attention!   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rôle de l'analyse de risques L’analyse des risques est une étape fondamentale dans l’ISO 27001. Elle permet à l’organisation d’identifier les vulnérabilités et les menaces pesant sur ses informations, et de développer des scénarios de risques associés. En évaluant chaque risque en fonction de sa gravité (faible, moyen ou critique), l’organisation peut prioriser les actions à entreprendre. Cette évaluation aide à comprendre l'impact potentiel des risques et à prendre des décisions éclairées.   Pour plus de détails sur la norme, nos experts sont à votre disposition </dc:title>
  <dc:creator>Utilisateur de Microsoft Office</dc:creator>
  <cp:lastModifiedBy>Alassane Samba MAIGA</cp:lastModifiedBy>
  <cp:revision>24</cp:revision>
  <dcterms:created xsi:type="dcterms:W3CDTF">2025-06-17T23:06:21Z</dcterms:created>
  <dcterms:modified xsi:type="dcterms:W3CDTF">2025-06-19T09:12:47Z</dcterms:modified>
</cp:coreProperties>
</file>
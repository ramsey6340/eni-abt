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69" r:id="rId1"/>
  </p:sldMasterIdLst>
  <p:notesMasterIdLst>
    <p:notesMasterId r:id="rId34"/>
  </p:notesMasterIdLst>
  <p:sldIdLst>
    <p:sldId id="264" r:id="rId2"/>
    <p:sldId id="257" r:id="rId3"/>
    <p:sldId id="263" r:id="rId4"/>
    <p:sldId id="258" r:id="rId5"/>
    <p:sldId id="260" r:id="rId6"/>
    <p:sldId id="262" r:id="rId7"/>
    <p:sldId id="268" r:id="rId8"/>
    <p:sldId id="269" r:id="rId9"/>
    <p:sldId id="271" r:id="rId10"/>
    <p:sldId id="275" r:id="rId11"/>
    <p:sldId id="276" r:id="rId12"/>
    <p:sldId id="281" r:id="rId13"/>
    <p:sldId id="280" r:id="rId14"/>
    <p:sldId id="282" r:id="rId15"/>
    <p:sldId id="270" r:id="rId16"/>
    <p:sldId id="295" r:id="rId17"/>
    <p:sldId id="283" r:id="rId18"/>
    <p:sldId id="259" r:id="rId19"/>
    <p:sldId id="284" r:id="rId20"/>
    <p:sldId id="294" r:id="rId21"/>
    <p:sldId id="285" r:id="rId22"/>
    <p:sldId id="286" r:id="rId23"/>
    <p:sldId id="287" r:id="rId24"/>
    <p:sldId id="288" r:id="rId25"/>
    <p:sldId id="289" r:id="rId26"/>
    <p:sldId id="291" r:id="rId27"/>
    <p:sldId id="290" r:id="rId28"/>
    <p:sldId id="277" r:id="rId29"/>
    <p:sldId id="272" r:id="rId30"/>
    <p:sldId id="273" r:id="rId31"/>
    <p:sldId id="278" r:id="rId32"/>
    <p:sldId id="29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E4F7972-C148-4AFB-95E3-8CA73F4AE156}">
          <p14:sldIdLst>
            <p14:sldId id="264"/>
          </p14:sldIdLst>
        </p14:section>
        <p14:section name="Section récapitulative" id="{CEBCD661-50C6-4C86-8AF3-EF5FAAA1129F}">
          <p14:sldIdLst>
            <p14:sldId id="257"/>
            <p14:sldId id="263"/>
          </p14:sldIdLst>
        </p14:section>
        <p14:section name="    " id="{3D64F1AE-F5B1-4842-9518-448143BEC8DC}">
          <p14:sldIdLst>
            <p14:sldId id="258"/>
            <p14:sldId id="260"/>
            <p14:sldId id="262"/>
            <p14:sldId id="268"/>
            <p14:sldId id="269"/>
            <p14:sldId id="271"/>
            <p14:sldId id="275"/>
            <p14:sldId id="276"/>
            <p14:sldId id="281"/>
            <p14:sldId id="280"/>
            <p14:sldId id="282"/>
            <p14:sldId id="270"/>
            <p14:sldId id="295"/>
            <p14:sldId id="283"/>
            <p14:sldId id="259"/>
            <p14:sldId id="284"/>
            <p14:sldId id="294"/>
            <p14:sldId id="285"/>
            <p14:sldId id="286"/>
            <p14:sldId id="287"/>
            <p14:sldId id="288"/>
            <p14:sldId id="289"/>
            <p14:sldId id="291"/>
            <p14:sldId id="290"/>
            <p14:sldId id="277"/>
            <p14:sldId id="272"/>
            <p14:sldId id="273"/>
            <p14:sldId id="278"/>
            <p14:sldId id="29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3"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D9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54477D-2398-4A4A-8953-BC5B333DC564}" type="doc">
      <dgm:prSet loTypeId="urn:microsoft.com/office/officeart/2005/8/layout/cycle7" loCatId="cycle" qsTypeId="urn:microsoft.com/office/officeart/2005/8/quickstyle/simple1" qsCatId="simple" csTypeId="urn:microsoft.com/office/officeart/2005/8/colors/accent1_2" csCatId="accent1"/>
      <dgm:spPr/>
      <dgm:t>
        <a:bodyPr/>
        <a:lstStyle/>
        <a:p>
          <a:endParaRPr lang="fr-FR"/>
        </a:p>
      </dgm:t>
    </dgm:pt>
    <dgm:pt modelId="{9B516658-A0E0-41B6-865A-4B2AA733E549}">
      <dgm:prSet/>
      <dgm:spPr/>
      <dgm:t>
        <a:bodyPr/>
        <a:lstStyle/>
        <a:p>
          <a:r>
            <a:rPr lang="fr-FR" dirty="0"/>
            <a:t>Posture de sécurité amélioré</a:t>
          </a:r>
        </a:p>
      </dgm:t>
    </dgm:pt>
    <dgm:pt modelId="{2570B6DB-699A-4937-A297-DD342CE1D651}" type="parTrans" cxnId="{C3067CF4-0F74-4B4E-B10D-142A814F36D0}">
      <dgm:prSet/>
      <dgm:spPr/>
      <dgm:t>
        <a:bodyPr/>
        <a:lstStyle/>
        <a:p>
          <a:endParaRPr lang="fr-FR"/>
        </a:p>
      </dgm:t>
    </dgm:pt>
    <dgm:pt modelId="{7820CF0D-790C-4CA7-B8E6-A206F35311E4}" type="sibTrans" cxnId="{C3067CF4-0F74-4B4E-B10D-142A814F36D0}">
      <dgm:prSet/>
      <dgm:spPr/>
      <dgm:t>
        <a:bodyPr/>
        <a:lstStyle/>
        <a:p>
          <a:endParaRPr lang="fr-FR"/>
        </a:p>
      </dgm:t>
    </dgm:pt>
    <dgm:pt modelId="{E21C07A4-D9C2-4AFE-A619-D745BED45AA6}">
      <dgm:prSet/>
      <dgm:spPr/>
      <dgm:t>
        <a:bodyPr/>
        <a:lstStyle/>
        <a:p>
          <a:r>
            <a:rPr lang="fr-FR"/>
            <a:t>Risque réduit  de violation</a:t>
          </a:r>
        </a:p>
      </dgm:t>
    </dgm:pt>
    <dgm:pt modelId="{D14503AE-62D6-453D-A41F-0767570C1287}" type="parTrans" cxnId="{081CE599-03FE-4594-B32E-A1CBAD543B07}">
      <dgm:prSet/>
      <dgm:spPr/>
      <dgm:t>
        <a:bodyPr/>
        <a:lstStyle/>
        <a:p>
          <a:endParaRPr lang="fr-FR"/>
        </a:p>
      </dgm:t>
    </dgm:pt>
    <dgm:pt modelId="{B8F40570-01B6-417B-9BA8-E6CEACB86DAF}" type="sibTrans" cxnId="{081CE599-03FE-4594-B32E-A1CBAD543B07}">
      <dgm:prSet/>
      <dgm:spPr/>
      <dgm:t>
        <a:bodyPr/>
        <a:lstStyle/>
        <a:p>
          <a:endParaRPr lang="fr-FR"/>
        </a:p>
      </dgm:t>
    </dgm:pt>
    <dgm:pt modelId="{EA6F63DC-3211-4F56-AEE7-9A366C79E2DF}">
      <dgm:prSet/>
      <dgm:spPr/>
      <dgm:t>
        <a:bodyPr/>
        <a:lstStyle/>
        <a:p>
          <a:r>
            <a:rPr lang="fr-FR"/>
            <a:t>Défenses renforcées contre les menaces en constante évolution</a:t>
          </a:r>
        </a:p>
      </dgm:t>
    </dgm:pt>
    <dgm:pt modelId="{1B64A904-2F64-48DE-9B77-EAC807F81004}" type="parTrans" cxnId="{B37C6782-E5E6-48D0-B782-5061A4867EA4}">
      <dgm:prSet/>
      <dgm:spPr/>
      <dgm:t>
        <a:bodyPr/>
        <a:lstStyle/>
        <a:p>
          <a:endParaRPr lang="fr-FR"/>
        </a:p>
      </dgm:t>
    </dgm:pt>
    <dgm:pt modelId="{7318E5A4-AD1F-4360-8585-11470028A69F}" type="sibTrans" cxnId="{B37C6782-E5E6-48D0-B782-5061A4867EA4}">
      <dgm:prSet/>
      <dgm:spPr/>
      <dgm:t>
        <a:bodyPr/>
        <a:lstStyle/>
        <a:p>
          <a:endParaRPr lang="fr-FR"/>
        </a:p>
      </dgm:t>
    </dgm:pt>
    <dgm:pt modelId="{EE981996-7BE4-4293-A6F5-C69A757AD17D}">
      <dgm:prSet/>
      <dgm:spPr/>
      <dgm:t>
        <a:bodyPr/>
        <a:lstStyle/>
        <a:p>
          <a:r>
            <a:rPr lang="fr-FR"/>
            <a:t>Renforce la confiance des parties prenantes</a:t>
          </a:r>
        </a:p>
      </dgm:t>
    </dgm:pt>
    <dgm:pt modelId="{D15DDF83-149C-4D31-B345-A259A9DABE4A}" type="parTrans" cxnId="{057EDABE-2E40-4B90-823B-ABA00AB75156}">
      <dgm:prSet/>
      <dgm:spPr/>
      <dgm:t>
        <a:bodyPr/>
        <a:lstStyle/>
        <a:p>
          <a:endParaRPr lang="fr-FR"/>
        </a:p>
      </dgm:t>
    </dgm:pt>
    <dgm:pt modelId="{22D0BEB5-47EE-4485-A40E-A18B89E95B4E}" type="sibTrans" cxnId="{057EDABE-2E40-4B90-823B-ABA00AB75156}">
      <dgm:prSet/>
      <dgm:spPr/>
      <dgm:t>
        <a:bodyPr/>
        <a:lstStyle/>
        <a:p>
          <a:endParaRPr lang="fr-FR"/>
        </a:p>
      </dgm:t>
    </dgm:pt>
    <dgm:pt modelId="{6EA528FB-E848-425C-84A9-D4594984E9C7}" type="pres">
      <dgm:prSet presAssocID="{0054477D-2398-4A4A-8953-BC5B333DC564}" presName="Name0" presStyleCnt="0">
        <dgm:presLayoutVars>
          <dgm:dir/>
          <dgm:resizeHandles val="exact"/>
        </dgm:presLayoutVars>
      </dgm:prSet>
      <dgm:spPr/>
    </dgm:pt>
    <dgm:pt modelId="{D1A15F64-3801-4684-94AD-EC6D34EEF915}" type="pres">
      <dgm:prSet presAssocID="{9B516658-A0E0-41B6-865A-4B2AA733E549}" presName="node" presStyleLbl="node1" presStyleIdx="0" presStyleCnt="4">
        <dgm:presLayoutVars>
          <dgm:bulletEnabled val="1"/>
        </dgm:presLayoutVars>
      </dgm:prSet>
      <dgm:spPr/>
    </dgm:pt>
    <dgm:pt modelId="{9AE7A26D-AC6F-4433-85DD-AF344F68538E}" type="pres">
      <dgm:prSet presAssocID="{7820CF0D-790C-4CA7-B8E6-A206F35311E4}" presName="sibTrans" presStyleLbl="sibTrans2D1" presStyleIdx="0" presStyleCnt="4"/>
      <dgm:spPr/>
    </dgm:pt>
    <dgm:pt modelId="{675FEA8C-3ECE-44C6-A386-89E943CDE0A8}" type="pres">
      <dgm:prSet presAssocID="{7820CF0D-790C-4CA7-B8E6-A206F35311E4}" presName="connectorText" presStyleLbl="sibTrans2D1" presStyleIdx="0" presStyleCnt="4"/>
      <dgm:spPr/>
    </dgm:pt>
    <dgm:pt modelId="{F0A45E83-5779-4E76-AA21-37753D6DD250}" type="pres">
      <dgm:prSet presAssocID="{E21C07A4-D9C2-4AFE-A619-D745BED45AA6}" presName="node" presStyleLbl="node1" presStyleIdx="1" presStyleCnt="4">
        <dgm:presLayoutVars>
          <dgm:bulletEnabled val="1"/>
        </dgm:presLayoutVars>
      </dgm:prSet>
      <dgm:spPr/>
    </dgm:pt>
    <dgm:pt modelId="{A0A52489-BE5D-491C-AF92-A2DCEA273090}" type="pres">
      <dgm:prSet presAssocID="{B8F40570-01B6-417B-9BA8-E6CEACB86DAF}" presName="sibTrans" presStyleLbl="sibTrans2D1" presStyleIdx="1" presStyleCnt="4"/>
      <dgm:spPr/>
    </dgm:pt>
    <dgm:pt modelId="{3CC77794-B610-4ACC-B21A-1A1D1FAEAED8}" type="pres">
      <dgm:prSet presAssocID="{B8F40570-01B6-417B-9BA8-E6CEACB86DAF}" presName="connectorText" presStyleLbl="sibTrans2D1" presStyleIdx="1" presStyleCnt="4"/>
      <dgm:spPr/>
    </dgm:pt>
    <dgm:pt modelId="{964CC631-F95B-4F22-9B5A-667D641B6AA7}" type="pres">
      <dgm:prSet presAssocID="{EA6F63DC-3211-4F56-AEE7-9A366C79E2DF}" presName="node" presStyleLbl="node1" presStyleIdx="2" presStyleCnt="4">
        <dgm:presLayoutVars>
          <dgm:bulletEnabled val="1"/>
        </dgm:presLayoutVars>
      </dgm:prSet>
      <dgm:spPr/>
    </dgm:pt>
    <dgm:pt modelId="{B520980A-5EB8-4102-A643-9EE6A6D6B8F9}" type="pres">
      <dgm:prSet presAssocID="{7318E5A4-AD1F-4360-8585-11470028A69F}" presName="sibTrans" presStyleLbl="sibTrans2D1" presStyleIdx="2" presStyleCnt="4"/>
      <dgm:spPr/>
    </dgm:pt>
    <dgm:pt modelId="{9560D4BB-1167-443A-AA9D-C32612C70BD3}" type="pres">
      <dgm:prSet presAssocID="{7318E5A4-AD1F-4360-8585-11470028A69F}" presName="connectorText" presStyleLbl="sibTrans2D1" presStyleIdx="2" presStyleCnt="4"/>
      <dgm:spPr/>
    </dgm:pt>
    <dgm:pt modelId="{70B87659-E305-48C2-9D92-4F6D5DBA3687}" type="pres">
      <dgm:prSet presAssocID="{EE981996-7BE4-4293-A6F5-C69A757AD17D}" presName="node" presStyleLbl="node1" presStyleIdx="3" presStyleCnt="4">
        <dgm:presLayoutVars>
          <dgm:bulletEnabled val="1"/>
        </dgm:presLayoutVars>
      </dgm:prSet>
      <dgm:spPr/>
    </dgm:pt>
    <dgm:pt modelId="{D60200C7-2B6B-4D1A-8F72-4EF71AB09623}" type="pres">
      <dgm:prSet presAssocID="{22D0BEB5-47EE-4485-A40E-A18B89E95B4E}" presName="sibTrans" presStyleLbl="sibTrans2D1" presStyleIdx="3" presStyleCnt="4"/>
      <dgm:spPr/>
    </dgm:pt>
    <dgm:pt modelId="{24805A04-0415-4B3E-A839-A97FD158B4BE}" type="pres">
      <dgm:prSet presAssocID="{22D0BEB5-47EE-4485-A40E-A18B89E95B4E}" presName="connectorText" presStyleLbl="sibTrans2D1" presStyleIdx="3" presStyleCnt="4"/>
      <dgm:spPr/>
    </dgm:pt>
  </dgm:ptLst>
  <dgm:cxnLst>
    <dgm:cxn modelId="{83173D0B-BF70-4591-AACA-C7D80F69887F}" type="presOf" srcId="{B8F40570-01B6-417B-9BA8-E6CEACB86DAF}" destId="{3CC77794-B610-4ACC-B21A-1A1D1FAEAED8}" srcOrd="1" destOrd="0" presId="urn:microsoft.com/office/officeart/2005/8/layout/cycle7"/>
    <dgm:cxn modelId="{E1C5A410-F846-454D-BF36-1CB1216CBA62}" type="presOf" srcId="{22D0BEB5-47EE-4485-A40E-A18B89E95B4E}" destId="{24805A04-0415-4B3E-A839-A97FD158B4BE}" srcOrd="1" destOrd="0" presId="urn:microsoft.com/office/officeart/2005/8/layout/cycle7"/>
    <dgm:cxn modelId="{B9B98525-7D16-413F-AF1A-57673FBDA010}" type="presOf" srcId="{7318E5A4-AD1F-4360-8585-11470028A69F}" destId="{9560D4BB-1167-443A-AA9D-C32612C70BD3}" srcOrd="1" destOrd="0" presId="urn:microsoft.com/office/officeart/2005/8/layout/cycle7"/>
    <dgm:cxn modelId="{E1C63F31-52D0-4C84-B59C-B0628DEFA437}" type="presOf" srcId="{0054477D-2398-4A4A-8953-BC5B333DC564}" destId="{6EA528FB-E848-425C-84A9-D4594984E9C7}" srcOrd="0" destOrd="0" presId="urn:microsoft.com/office/officeart/2005/8/layout/cycle7"/>
    <dgm:cxn modelId="{FCAB3973-CCA8-4831-8618-D9F73134E04D}" type="presOf" srcId="{EE981996-7BE4-4293-A6F5-C69A757AD17D}" destId="{70B87659-E305-48C2-9D92-4F6D5DBA3687}" srcOrd="0" destOrd="0" presId="urn:microsoft.com/office/officeart/2005/8/layout/cycle7"/>
    <dgm:cxn modelId="{B37C6782-E5E6-48D0-B782-5061A4867EA4}" srcId="{0054477D-2398-4A4A-8953-BC5B333DC564}" destId="{EA6F63DC-3211-4F56-AEE7-9A366C79E2DF}" srcOrd="2" destOrd="0" parTransId="{1B64A904-2F64-48DE-9B77-EAC807F81004}" sibTransId="{7318E5A4-AD1F-4360-8585-11470028A69F}"/>
    <dgm:cxn modelId="{D6516D8D-EB4B-48C4-9294-B76760BC47BB}" type="presOf" srcId="{9B516658-A0E0-41B6-865A-4B2AA733E549}" destId="{D1A15F64-3801-4684-94AD-EC6D34EEF915}" srcOrd="0" destOrd="0" presId="urn:microsoft.com/office/officeart/2005/8/layout/cycle7"/>
    <dgm:cxn modelId="{081CE599-03FE-4594-B32E-A1CBAD543B07}" srcId="{0054477D-2398-4A4A-8953-BC5B333DC564}" destId="{E21C07A4-D9C2-4AFE-A619-D745BED45AA6}" srcOrd="1" destOrd="0" parTransId="{D14503AE-62D6-453D-A41F-0767570C1287}" sibTransId="{B8F40570-01B6-417B-9BA8-E6CEACB86DAF}"/>
    <dgm:cxn modelId="{1BD4C79A-43EE-4B6C-A274-D8BEFA8CBF41}" type="presOf" srcId="{EA6F63DC-3211-4F56-AEE7-9A366C79E2DF}" destId="{964CC631-F95B-4F22-9B5A-667D641B6AA7}" srcOrd="0" destOrd="0" presId="urn:microsoft.com/office/officeart/2005/8/layout/cycle7"/>
    <dgm:cxn modelId="{13EC70A3-6A48-489F-BF09-DCC06372AE19}" type="presOf" srcId="{7318E5A4-AD1F-4360-8585-11470028A69F}" destId="{B520980A-5EB8-4102-A643-9EE6A6D6B8F9}" srcOrd="0" destOrd="0" presId="urn:microsoft.com/office/officeart/2005/8/layout/cycle7"/>
    <dgm:cxn modelId="{C76598AE-4A8A-45AA-B4BD-4FB2116E917A}" type="presOf" srcId="{B8F40570-01B6-417B-9BA8-E6CEACB86DAF}" destId="{A0A52489-BE5D-491C-AF92-A2DCEA273090}" srcOrd="0" destOrd="0" presId="urn:microsoft.com/office/officeart/2005/8/layout/cycle7"/>
    <dgm:cxn modelId="{057EDABE-2E40-4B90-823B-ABA00AB75156}" srcId="{0054477D-2398-4A4A-8953-BC5B333DC564}" destId="{EE981996-7BE4-4293-A6F5-C69A757AD17D}" srcOrd="3" destOrd="0" parTransId="{D15DDF83-149C-4D31-B345-A259A9DABE4A}" sibTransId="{22D0BEB5-47EE-4485-A40E-A18B89E95B4E}"/>
    <dgm:cxn modelId="{6A10AEC8-AD8E-451E-B4F0-EF061BD7B20E}" type="presOf" srcId="{7820CF0D-790C-4CA7-B8E6-A206F35311E4}" destId="{9AE7A26D-AC6F-4433-85DD-AF344F68538E}" srcOrd="0" destOrd="0" presId="urn:microsoft.com/office/officeart/2005/8/layout/cycle7"/>
    <dgm:cxn modelId="{9716B5D5-FF28-4606-90D0-CD123094B8ED}" type="presOf" srcId="{E21C07A4-D9C2-4AFE-A619-D745BED45AA6}" destId="{F0A45E83-5779-4E76-AA21-37753D6DD250}" srcOrd="0" destOrd="0" presId="urn:microsoft.com/office/officeart/2005/8/layout/cycle7"/>
    <dgm:cxn modelId="{9D7024DE-B2D6-4334-B507-B8A7CAD206FD}" type="presOf" srcId="{22D0BEB5-47EE-4485-A40E-A18B89E95B4E}" destId="{D60200C7-2B6B-4D1A-8F72-4EF71AB09623}" srcOrd="0" destOrd="0" presId="urn:microsoft.com/office/officeart/2005/8/layout/cycle7"/>
    <dgm:cxn modelId="{C3067CF4-0F74-4B4E-B10D-142A814F36D0}" srcId="{0054477D-2398-4A4A-8953-BC5B333DC564}" destId="{9B516658-A0E0-41B6-865A-4B2AA733E549}" srcOrd="0" destOrd="0" parTransId="{2570B6DB-699A-4937-A297-DD342CE1D651}" sibTransId="{7820CF0D-790C-4CA7-B8E6-A206F35311E4}"/>
    <dgm:cxn modelId="{C4A0ECFC-84D1-4E04-A545-B8D57665939C}" type="presOf" srcId="{7820CF0D-790C-4CA7-B8E6-A206F35311E4}" destId="{675FEA8C-3ECE-44C6-A386-89E943CDE0A8}" srcOrd="1" destOrd="0" presId="urn:microsoft.com/office/officeart/2005/8/layout/cycle7"/>
    <dgm:cxn modelId="{C86C1354-26C6-4D4D-99EA-C743032C52E8}" type="presParOf" srcId="{6EA528FB-E848-425C-84A9-D4594984E9C7}" destId="{D1A15F64-3801-4684-94AD-EC6D34EEF915}" srcOrd="0" destOrd="0" presId="urn:microsoft.com/office/officeart/2005/8/layout/cycle7"/>
    <dgm:cxn modelId="{9E1B09BF-AC6F-429C-8972-1C06E0CF0F93}" type="presParOf" srcId="{6EA528FB-E848-425C-84A9-D4594984E9C7}" destId="{9AE7A26D-AC6F-4433-85DD-AF344F68538E}" srcOrd="1" destOrd="0" presId="urn:microsoft.com/office/officeart/2005/8/layout/cycle7"/>
    <dgm:cxn modelId="{F0B596A4-789C-4376-A8A0-9790C17EAA8A}" type="presParOf" srcId="{9AE7A26D-AC6F-4433-85DD-AF344F68538E}" destId="{675FEA8C-3ECE-44C6-A386-89E943CDE0A8}" srcOrd="0" destOrd="0" presId="urn:microsoft.com/office/officeart/2005/8/layout/cycle7"/>
    <dgm:cxn modelId="{A692E733-FD7C-4D13-93FE-D44EC4697E94}" type="presParOf" srcId="{6EA528FB-E848-425C-84A9-D4594984E9C7}" destId="{F0A45E83-5779-4E76-AA21-37753D6DD250}" srcOrd="2" destOrd="0" presId="urn:microsoft.com/office/officeart/2005/8/layout/cycle7"/>
    <dgm:cxn modelId="{89372195-6CE4-4FDD-959D-3B1F544346E5}" type="presParOf" srcId="{6EA528FB-E848-425C-84A9-D4594984E9C7}" destId="{A0A52489-BE5D-491C-AF92-A2DCEA273090}" srcOrd="3" destOrd="0" presId="urn:microsoft.com/office/officeart/2005/8/layout/cycle7"/>
    <dgm:cxn modelId="{F13E6D4E-7EA3-4B58-A378-7869FF17861A}" type="presParOf" srcId="{A0A52489-BE5D-491C-AF92-A2DCEA273090}" destId="{3CC77794-B610-4ACC-B21A-1A1D1FAEAED8}" srcOrd="0" destOrd="0" presId="urn:microsoft.com/office/officeart/2005/8/layout/cycle7"/>
    <dgm:cxn modelId="{1BBD5AD2-46C8-4769-9B57-58B9068B543C}" type="presParOf" srcId="{6EA528FB-E848-425C-84A9-D4594984E9C7}" destId="{964CC631-F95B-4F22-9B5A-667D641B6AA7}" srcOrd="4" destOrd="0" presId="urn:microsoft.com/office/officeart/2005/8/layout/cycle7"/>
    <dgm:cxn modelId="{334A0F3E-DEAA-4D0D-81F3-C7E8CE99DA73}" type="presParOf" srcId="{6EA528FB-E848-425C-84A9-D4594984E9C7}" destId="{B520980A-5EB8-4102-A643-9EE6A6D6B8F9}" srcOrd="5" destOrd="0" presId="urn:microsoft.com/office/officeart/2005/8/layout/cycle7"/>
    <dgm:cxn modelId="{30C54B97-1C10-46EE-840E-C2BF6178A343}" type="presParOf" srcId="{B520980A-5EB8-4102-A643-9EE6A6D6B8F9}" destId="{9560D4BB-1167-443A-AA9D-C32612C70BD3}" srcOrd="0" destOrd="0" presId="urn:microsoft.com/office/officeart/2005/8/layout/cycle7"/>
    <dgm:cxn modelId="{A3F0B8DC-35D4-4F3E-9A1D-622E1B80380A}" type="presParOf" srcId="{6EA528FB-E848-425C-84A9-D4594984E9C7}" destId="{70B87659-E305-48C2-9D92-4F6D5DBA3687}" srcOrd="6" destOrd="0" presId="urn:microsoft.com/office/officeart/2005/8/layout/cycle7"/>
    <dgm:cxn modelId="{7E7075A7-EBF4-4830-9A61-5CB0231AC16B}" type="presParOf" srcId="{6EA528FB-E848-425C-84A9-D4594984E9C7}" destId="{D60200C7-2B6B-4D1A-8F72-4EF71AB09623}" srcOrd="7" destOrd="0" presId="urn:microsoft.com/office/officeart/2005/8/layout/cycle7"/>
    <dgm:cxn modelId="{304C786E-37F5-47CE-B778-34F52A199435}" type="presParOf" srcId="{D60200C7-2B6B-4D1A-8F72-4EF71AB09623}" destId="{24805A04-0415-4B3E-A839-A97FD158B4BE}"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0D937A-0267-420A-AF5C-AF56F3077FAC}" type="doc">
      <dgm:prSet loTypeId="urn:microsoft.com/office/officeart/2005/8/layout/cycle4" loCatId="matrix" qsTypeId="urn:microsoft.com/office/officeart/2005/8/quickstyle/simple1" qsCatId="simple" csTypeId="urn:microsoft.com/office/officeart/2005/8/colors/accent1_2" csCatId="accent1"/>
      <dgm:spPr/>
      <dgm:t>
        <a:bodyPr/>
        <a:lstStyle/>
        <a:p>
          <a:endParaRPr lang="fr-FR"/>
        </a:p>
      </dgm:t>
    </dgm:pt>
    <dgm:pt modelId="{4141E333-B405-40BB-B270-E23B88F1F11A}">
      <dgm:prSet/>
      <dgm:spPr/>
      <dgm:t>
        <a:bodyPr/>
        <a:lstStyle/>
        <a:p>
          <a:r>
            <a:rPr lang="fr-FR"/>
            <a:t>Peut ne pas couvrir toutes les menaces potentielles</a:t>
          </a:r>
        </a:p>
      </dgm:t>
    </dgm:pt>
    <dgm:pt modelId="{6CB5B07A-30F6-4998-9602-17947C770B03}" type="parTrans" cxnId="{252614B9-977D-499C-B78F-E52C91EF1816}">
      <dgm:prSet/>
      <dgm:spPr/>
      <dgm:t>
        <a:bodyPr/>
        <a:lstStyle/>
        <a:p>
          <a:endParaRPr lang="fr-FR"/>
        </a:p>
      </dgm:t>
    </dgm:pt>
    <dgm:pt modelId="{FA0778E7-26A8-44C5-BDD8-535D82C0CFE9}" type="sibTrans" cxnId="{252614B9-977D-499C-B78F-E52C91EF1816}">
      <dgm:prSet/>
      <dgm:spPr/>
      <dgm:t>
        <a:bodyPr/>
        <a:lstStyle/>
        <a:p>
          <a:endParaRPr lang="fr-FR"/>
        </a:p>
      </dgm:t>
    </dgm:pt>
    <dgm:pt modelId="{AA6C1E35-DA85-4DAC-BAA3-9159FC7C2BB8}">
      <dgm:prSet/>
      <dgm:spPr/>
      <dgm:t>
        <a:bodyPr/>
        <a:lstStyle/>
        <a:p>
          <a:r>
            <a:rPr lang="fr-FR"/>
            <a:t>Dépend de l’expertise de l’auditeur</a:t>
          </a:r>
        </a:p>
      </dgm:t>
    </dgm:pt>
    <dgm:pt modelId="{0072A041-9D31-4524-B88A-87F862BFD742}" type="parTrans" cxnId="{6609F37D-933D-4886-951E-6BDB568E6B8D}">
      <dgm:prSet/>
      <dgm:spPr/>
      <dgm:t>
        <a:bodyPr/>
        <a:lstStyle/>
        <a:p>
          <a:endParaRPr lang="fr-FR"/>
        </a:p>
      </dgm:t>
    </dgm:pt>
    <dgm:pt modelId="{59F85ED8-38CA-48C4-B63D-09B304903527}" type="sibTrans" cxnId="{6609F37D-933D-4886-951E-6BDB568E6B8D}">
      <dgm:prSet/>
      <dgm:spPr/>
      <dgm:t>
        <a:bodyPr/>
        <a:lstStyle/>
        <a:p>
          <a:endParaRPr lang="fr-FR"/>
        </a:p>
      </dgm:t>
    </dgm:pt>
    <dgm:pt modelId="{73112974-8FFF-46F6-8589-8B51EDFF695A}" type="pres">
      <dgm:prSet presAssocID="{DD0D937A-0267-420A-AF5C-AF56F3077FAC}" presName="cycleMatrixDiagram" presStyleCnt="0">
        <dgm:presLayoutVars>
          <dgm:chMax val="1"/>
          <dgm:dir/>
          <dgm:animLvl val="lvl"/>
          <dgm:resizeHandles val="exact"/>
        </dgm:presLayoutVars>
      </dgm:prSet>
      <dgm:spPr/>
    </dgm:pt>
    <dgm:pt modelId="{C919CA2E-FBD5-421B-8E55-AC2616515F73}" type="pres">
      <dgm:prSet presAssocID="{DD0D937A-0267-420A-AF5C-AF56F3077FAC}" presName="children" presStyleCnt="0"/>
      <dgm:spPr/>
    </dgm:pt>
    <dgm:pt modelId="{5EB19082-FB6A-4978-AB4F-419081DDA75E}" type="pres">
      <dgm:prSet presAssocID="{DD0D937A-0267-420A-AF5C-AF56F3077FAC}" presName="childPlaceholder" presStyleCnt="0"/>
      <dgm:spPr/>
    </dgm:pt>
    <dgm:pt modelId="{4FE29F8F-C73A-41EA-B5C0-187937F2FCDB}" type="pres">
      <dgm:prSet presAssocID="{DD0D937A-0267-420A-AF5C-AF56F3077FAC}" presName="circle" presStyleCnt="0"/>
      <dgm:spPr/>
    </dgm:pt>
    <dgm:pt modelId="{441FFB18-D73B-44FB-8F95-C8D14E0A88A7}" type="pres">
      <dgm:prSet presAssocID="{DD0D937A-0267-420A-AF5C-AF56F3077FAC}" presName="quadrant1" presStyleLbl="node1" presStyleIdx="0" presStyleCnt="4">
        <dgm:presLayoutVars>
          <dgm:chMax val="1"/>
          <dgm:bulletEnabled val="1"/>
        </dgm:presLayoutVars>
      </dgm:prSet>
      <dgm:spPr/>
    </dgm:pt>
    <dgm:pt modelId="{1069AD60-59DE-4694-A6C6-1592F546AB36}" type="pres">
      <dgm:prSet presAssocID="{DD0D937A-0267-420A-AF5C-AF56F3077FAC}" presName="quadrant2" presStyleLbl="node1" presStyleIdx="1" presStyleCnt="4">
        <dgm:presLayoutVars>
          <dgm:chMax val="1"/>
          <dgm:bulletEnabled val="1"/>
        </dgm:presLayoutVars>
      </dgm:prSet>
      <dgm:spPr/>
    </dgm:pt>
    <dgm:pt modelId="{20EF3ACF-F939-4F2D-AF5E-C1007E0E3FEB}" type="pres">
      <dgm:prSet presAssocID="{DD0D937A-0267-420A-AF5C-AF56F3077FAC}" presName="quadrant3" presStyleLbl="node1" presStyleIdx="2" presStyleCnt="4">
        <dgm:presLayoutVars>
          <dgm:chMax val="1"/>
          <dgm:bulletEnabled val="1"/>
        </dgm:presLayoutVars>
      </dgm:prSet>
      <dgm:spPr/>
    </dgm:pt>
    <dgm:pt modelId="{F154679F-6C2F-4B9A-AD43-CE102557B51F}" type="pres">
      <dgm:prSet presAssocID="{DD0D937A-0267-420A-AF5C-AF56F3077FAC}" presName="quadrant4" presStyleLbl="node1" presStyleIdx="3" presStyleCnt="4">
        <dgm:presLayoutVars>
          <dgm:chMax val="1"/>
          <dgm:bulletEnabled val="1"/>
        </dgm:presLayoutVars>
      </dgm:prSet>
      <dgm:spPr/>
    </dgm:pt>
    <dgm:pt modelId="{4D5CBCF2-F581-42C5-86D0-4B48BEEDEA3F}" type="pres">
      <dgm:prSet presAssocID="{DD0D937A-0267-420A-AF5C-AF56F3077FAC}" presName="quadrantPlaceholder" presStyleCnt="0"/>
      <dgm:spPr/>
    </dgm:pt>
    <dgm:pt modelId="{2BE64B0D-24E6-4DEE-8023-1C8AEE55D58D}" type="pres">
      <dgm:prSet presAssocID="{DD0D937A-0267-420A-AF5C-AF56F3077FAC}" presName="center1" presStyleLbl="fgShp" presStyleIdx="0" presStyleCnt="2"/>
      <dgm:spPr/>
    </dgm:pt>
    <dgm:pt modelId="{8F37A34E-B558-4AE6-A2BB-5401A2E5CF60}" type="pres">
      <dgm:prSet presAssocID="{DD0D937A-0267-420A-AF5C-AF56F3077FAC}" presName="center2" presStyleLbl="fgShp" presStyleIdx="1" presStyleCnt="2"/>
      <dgm:spPr/>
    </dgm:pt>
  </dgm:ptLst>
  <dgm:cxnLst>
    <dgm:cxn modelId="{09F63734-0B29-4B35-B18C-C5553E2375E2}" type="presOf" srcId="{4141E333-B405-40BB-B270-E23B88F1F11A}" destId="{441FFB18-D73B-44FB-8F95-C8D14E0A88A7}" srcOrd="0" destOrd="0" presId="urn:microsoft.com/office/officeart/2005/8/layout/cycle4"/>
    <dgm:cxn modelId="{0D4FA048-C60D-40FD-BFBE-3578D2F148EA}" type="presOf" srcId="{DD0D937A-0267-420A-AF5C-AF56F3077FAC}" destId="{73112974-8FFF-46F6-8589-8B51EDFF695A}" srcOrd="0" destOrd="0" presId="urn:microsoft.com/office/officeart/2005/8/layout/cycle4"/>
    <dgm:cxn modelId="{6609F37D-933D-4886-951E-6BDB568E6B8D}" srcId="{DD0D937A-0267-420A-AF5C-AF56F3077FAC}" destId="{AA6C1E35-DA85-4DAC-BAA3-9159FC7C2BB8}" srcOrd="1" destOrd="0" parTransId="{0072A041-9D31-4524-B88A-87F862BFD742}" sibTransId="{59F85ED8-38CA-48C4-B63D-09B304903527}"/>
    <dgm:cxn modelId="{7F1143B5-AD89-46DE-9C5F-AD586C8D34F2}" type="presOf" srcId="{AA6C1E35-DA85-4DAC-BAA3-9159FC7C2BB8}" destId="{1069AD60-59DE-4694-A6C6-1592F546AB36}" srcOrd="0" destOrd="0" presId="urn:microsoft.com/office/officeart/2005/8/layout/cycle4"/>
    <dgm:cxn modelId="{252614B9-977D-499C-B78F-E52C91EF1816}" srcId="{DD0D937A-0267-420A-AF5C-AF56F3077FAC}" destId="{4141E333-B405-40BB-B270-E23B88F1F11A}" srcOrd="0" destOrd="0" parTransId="{6CB5B07A-30F6-4998-9602-17947C770B03}" sibTransId="{FA0778E7-26A8-44C5-BDD8-535D82C0CFE9}"/>
    <dgm:cxn modelId="{248ED9EF-8618-41E5-A902-97F8793F7C25}" type="presParOf" srcId="{73112974-8FFF-46F6-8589-8B51EDFF695A}" destId="{C919CA2E-FBD5-421B-8E55-AC2616515F73}" srcOrd="0" destOrd="0" presId="urn:microsoft.com/office/officeart/2005/8/layout/cycle4"/>
    <dgm:cxn modelId="{57091D99-EF90-4703-A1C9-5945E33D3F50}" type="presParOf" srcId="{C919CA2E-FBD5-421B-8E55-AC2616515F73}" destId="{5EB19082-FB6A-4978-AB4F-419081DDA75E}" srcOrd="0" destOrd="0" presId="urn:microsoft.com/office/officeart/2005/8/layout/cycle4"/>
    <dgm:cxn modelId="{31C516AE-B497-4634-AC26-79C213934D64}" type="presParOf" srcId="{73112974-8FFF-46F6-8589-8B51EDFF695A}" destId="{4FE29F8F-C73A-41EA-B5C0-187937F2FCDB}" srcOrd="1" destOrd="0" presId="urn:microsoft.com/office/officeart/2005/8/layout/cycle4"/>
    <dgm:cxn modelId="{2B206779-D973-4CAA-AD50-D8BE37939CDE}" type="presParOf" srcId="{4FE29F8F-C73A-41EA-B5C0-187937F2FCDB}" destId="{441FFB18-D73B-44FB-8F95-C8D14E0A88A7}" srcOrd="0" destOrd="0" presId="urn:microsoft.com/office/officeart/2005/8/layout/cycle4"/>
    <dgm:cxn modelId="{76DB49BE-673D-49C7-BD78-881418349EF3}" type="presParOf" srcId="{4FE29F8F-C73A-41EA-B5C0-187937F2FCDB}" destId="{1069AD60-59DE-4694-A6C6-1592F546AB36}" srcOrd="1" destOrd="0" presId="urn:microsoft.com/office/officeart/2005/8/layout/cycle4"/>
    <dgm:cxn modelId="{C366EA04-1B32-4FCA-A6A1-DBEDB480E3AB}" type="presParOf" srcId="{4FE29F8F-C73A-41EA-B5C0-187937F2FCDB}" destId="{20EF3ACF-F939-4F2D-AF5E-C1007E0E3FEB}" srcOrd="2" destOrd="0" presId="urn:microsoft.com/office/officeart/2005/8/layout/cycle4"/>
    <dgm:cxn modelId="{E63B17FD-813F-4710-90C3-E1584E5637BD}" type="presParOf" srcId="{4FE29F8F-C73A-41EA-B5C0-187937F2FCDB}" destId="{F154679F-6C2F-4B9A-AD43-CE102557B51F}" srcOrd="3" destOrd="0" presId="urn:microsoft.com/office/officeart/2005/8/layout/cycle4"/>
    <dgm:cxn modelId="{BE60ECC7-A979-4BCC-A462-06ABBF250DA8}" type="presParOf" srcId="{4FE29F8F-C73A-41EA-B5C0-187937F2FCDB}" destId="{4D5CBCF2-F581-42C5-86D0-4B48BEEDEA3F}" srcOrd="4" destOrd="0" presId="urn:microsoft.com/office/officeart/2005/8/layout/cycle4"/>
    <dgm:cxn modelId="{EA44415E-D5FF-42E4-A1A9-8BFAB6C859B5}" type="presParOf" srcId="{73112974-8FFF-46F6-8589-8B51EDFF695A}" destId="{2BE64B0D-24E6-4DEE-8023-1C8AEE55D58D}" srcOrd="2" destOrd="0" presId="urn:microsoft.com/office/officeart/2005/8/layout/cycle4"/>
    <dgm:cxn modelId="{B5E38E80-B0FE-4D6B-A6FF-D13A5DB3CEE6}" type="presParOf" srcId="{73112974-8FFF-46F6-8589-8B51EDFF695A}" destId="{8F37A34E-B558-4AE6-A2BB-5401A2E5CF60}"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15F64-3801-4684-94AD-EC6D34EEF915}">
      <dsp:nvSpPr>
        <dsp:cNvPr id="0" name=""/>
        <dsp:cNvSpPr/>
      </dsp:nvSpPr>
      <dsp:spPr>
        <a:xfrm>
          <a:off x="4579385" y="1758"/>
          <a:ext cx="1661628" cy="8308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t>Posture de sécurité amélioré</a:t>
          </a:r>
        </a:p>
      </dsp:txBody>
      <dsp:txXfrm>
        <a:off x="4603719" y="26092"/>
        <a:ext cx="1612960" cy="782146"/>
      </dsp:txXfrm>
    </dsp:sp>
    <dsp:sp modelId="{9AE7A26D-AC6F-4433-85DD-AF344F68538E}">
      <dsp:nvSpPr>
        <dsp:cNvPr id="0" name=""/>
        <dsp:cNvSpPr/>
      </dsp:nvSpPr>
      <dsp:spPr>
        <a:xfrm rot="2700000">
          <a:off x="5775418" y="1069221"/>
          <a:ext cx="864460" cy="29078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5862654" y="1127378"/>
        <a:ext cx="689989" cy="174471"/>
      </dsp:txXfrm>
    </dsp:sp>
    <dsp:sp modelId="{F0A45E83-5779-4E76-AA21-37753D6DD250}">
      <dsp:nvSpPr>
        <dsp:cNvPr id="0" name=""/>
        <dsp:cNvSpPr/>
      </dsp:nvSpPr>
      <dsp:spPr>
        <a:xfrm>
          <a:off x="6174281" y="1596655"/>
          <a:ext cx="1661628" cy="8308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a:t>Risque réduit  de violation</a:t>
          </a:r>
        </a:p>
      </dsp:txBody>
      <dsp:txXfrm>
        <a:off x="6198615" y="1620989"/>
        <a:ext cx="1612960" cy="782146"/>
      </dsp:txXfrm>
    </dsp:sp>
    <dsp:sp modelId="{A0A52489-BE5D-491C-AF92-A2DCEA273090}">
      <dsp:nvSpPr>
        <dsp:cNvPr id="0" name=""/>
        <dsp:cNvSpPr/>
      </dsp:nvSpPr>
      <dsp:spPr>
        <a:xfrm rot="8100000">
          <a:off x="5775418" y="2664118"/>
          <a:ext cx="864460" cy="29078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rot="10800000">
        <a:off x="5862653" y="2722275"/>
        <a:ext cx="689989" cy="174471"/>
      </dsp:txXfrm>
    </dsp:sp>
    <dsp:sp modelId="{964CC631-F95B-4F22-9B5A-667D641B6AA7}">
      <dsp:nvSpPr>
        <dsp:cNvPr id="0" name=""/>
        <dsp:cNvSpPr/>
      </dsp:nvSpPr>
      <dsp:spPr>
        <a:xfrm>
          <a:off x="4579385" y="3191551"/>
          <a:ext cx="1661628" cy="8308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a:t>Défenses renforcées contre les menaces en constante évolution</a:t>
          </a:r>
        </a:p>
      </dsp:txBody>
      <dsp:txXfrm>
        <a:off x="4603719" y="3215885"/>
        <a:ext cx="1612960" cy="782146"/>
      </dsp:txXfrm>
    </dsp:sp>
    <dsp:sp modelId="{B520980A-5EB8-4102-A643-9EE6A6D6B8F9}">
      <dsp:nvSpPr>
        <dsp:cNvPr id="0" name=""/>
        <dsp:cNvSpPr/>
      </dsp:nvSpPr>
      <dsp:spPr>
        <a:xfrm rot="13500000">
          <a:off x="4180521" y="2664118"/>
          <a:ext cx="864460" cy="29078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rot="10800000">
        <a:off x="4267756" y="2722275"/>
        <a:ext cx="689989" cy="174471"/>
      </dsp:txXfrm>
    </dsp:sp>
    <dsp:sp modelId="{70B87659-E305-48C2-9D92-4F6D5DBA3687}">
      <dsp:nvSpPr>
        <dsp:cNvPr id="0" name=""/>
        <dsp:cNvSpPr/>
      </dsp:nvSpPr>
      <dsp:spPr>
        <a:xfrm>
          <a:off x="2984489" y="1596655"/>
          <a:ext cx="1661628" cy="8308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a:t>Renforce la confiance des parties prenantes</a:t>
          </a:r>
        </a:p>
      </dsp:txBody>
      <dsp:txXfrm>
        <a:off x="3008823" y="1620989"/>
        <a:ext cx="1612960" cy="782146"/>
      </dsp:txXfrm>
    </dsp:sp>
    <dsp:sp modelId="{D60200C7-2B6B-4D1A-8F72-4EF71AB09623}">
      <dsp:nvSpPr>
        <dsp:cNvPr id="0" name=""/>
        <dsp:cNvSpPr/>
      </dsp:nvSpPr>
      <dsp:spPr>
        <a:xfrm rot="18900000">
          <a:off x="4180521" y="1069221"/>
          <a:ext cx="864460" cy="29078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fr-FR" sz="1000" kern="1200"/>
        </a:p>
      </dsp:txBody>
      <dsp:txXfrm>
        <a:off x="4267757" y="1127378"/>
        <a:ext cx="689989" cy="1744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FFB18-D73B-44FB-8F95-C8D14E0A88A7}">
      <dsp:nvSpPr>
        <dsp:cNvPr id="0" name=""/>
        <dsp:cNvSpPr/>
      </dsp:nvSpPr>
      <dsp:spPr>
        <a:xfrm>
          <a:off x="3627512" y="229375"/>
          <a:ext cx="1742446" cy="1742446"/>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fr-FR" sz="1400" kern="1200"/>
            <a:t>Peut ne pas couvrir toutes les menaces potentielles</a:t>
          </a:r>
        </a:p>
      </dsp:txBody>
      <dsp:txXfrm>
        <a:off x="4137863" y="739726"/>
        <a:ext cx="1232095" cy="1232095"/>
      </dsp:txXfrm>
    </dsp:sp>
    <dsp:sp modelId="{1069AD60-59DE-4694-A6C6-1592F546AB36}">
      <dsp:nvSpPr>
        <dsp:cNvPr id="0" name=""/>
        <dsp:cNvSpPr/>
      </dsp:nvSpPr>
      <dsp:spPr>
        <a:xfrm rot="5400000">
          <a:off x="5450441" y="229375"/>
          <a:ext cx="1742446" cy="1742446"/>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fr-FR" sz="1400" kern="1200"/>
            <a:t>Dépend de l’expertise de l’auditeur</a:t>
          </a:r>
        </a:p>
      </dsp:txBody>
      <dsp:txXfrm rot="-5400000">
        <a:off x="5450441" y="739726"/>
        <a:ext cx="1232095" cy="1232095"/>
      </dsp:txXfrm>
    </dsp:sp>
    <dsp:sp modelId="{20EF3ACF-F939-4F2D-AF5E-C1007E0E3FEB}">
      <dsp:nvSpPr>
        <dsp:cNvPr id="0" name=""/>
        <dsp:cNvSpPr/>
      </dsp:nvSpPr>
      <dsp:spPr>
        <a:xfrm rot="10800000">
          <a:off x="5450441" y="2052303"/>
          <a:ext cx="1742446" cy="1742446"/>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54679F-6C2F-4B9A-AD43-CE102557B51F}">
      <dsp:nvSpPr>
        <dsp:cNvPr id="0" name=""/>
        <dsp:cNvSpPr/>
      </dsp:nvSpPr>
      <dsp:spPr>
        <a:xfrm rot="16200000">
          <a:off x="3627512" y="2052303"/>
          <a:ext cx="1742446" cy="1742446"/>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E64B0D-24E6-4DEE-8023-1C8AEE55D58D}">
      <dsp:nvSpPr>
        <dsp:cNvPr id="0" name=""/>
        <dsp:cNvSpPr/>
      </dsp:nvSpPr>
      <dsp:spPr>
        <a:xfrm>
          <a:off x="5109396" y="1649891"/>
          <a:ext cx="601606" cy="52313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37A34E-B558-4AE6-A2BB-5401A2E5CF60}">
      <dsp:nvSpPr>
        <dsp:cNvPr id="0" name=""/>
        <dsp:cNvSpPr/>
      </dsp:nvSpPr>
      <dsp:spPr>
        <a:xfrm rot="10800000">
          <a:off x="5109396" y="1851097"/>
          <a:ext cx="601606" cy="523136"/>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9BFF51-32A0-4F36-9DFD-575D9964CD04}" type="datetimeFigureOut">
              <a:rPr lang="fr-FR" smtClean="0"/>
              <a:t>24/10/2025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1278CE-E30F-4AA7-8712-806FE262B1A0}" type="slidenum">
              <a:rPr lang="fr-FR" smtClean="0"/>
              <a:t>‹N°›</a:t>
            </a:fld>
            <a:endParaRPr lang="fr-FR"/>
          </a:p>
        </p:txBody>
      </p:sp>
    </p:spTree>
    <p:extLst>
      <p:ext uri="{BB962C8B-B14F-4D97-AF65-F5344CB8AC3E}">
        <p14:creationId xmlns:p14="http://schemas.microsoft.com/office/powerpoint/2010/main" val="74037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1278CE-E30F-4AA7-8712-806FE262B1A0}" type="slidenum">
              <a:rPr lang="fr-FR" smtClean="0"/>
              <a:t>1</a:t>
            </a:fld>
            <a:endParaRPr lang="fr-FR"/>
          </a:p>
        </p:txBody>
      </p:sp>
    </p:spTree>
    <p:extLst>
      <p:ext uri="{BB962C8B-B14F-4D97-AF65-F5344CB8AC3E}">
        <p14:creationId xmlns:p14="http://schemas.microsoft.com/office/powerpoint/2010/main" val="496441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B1278CE-E30F-4AA7-8712-806FE262B1A0}" type="slidenum">
              <a:rPr lang="fr-FR" smtClean="0"/>
              <a:t>7</a:t>
            </a:fld>
            <a:endParaRPr lang="fr-FR"/>
          </a:p>
        </p:txBody>
      </p:sp>
    </p:spTree>
    <p:extLst>
      <p:ext uri="{BB962C8B-B14F-4D97-AF65-F5344CB8AC3E}">
        <p14:creationId xmlns:p14="http://schemas.microsoft.com/office/powerpoint/2010/main" val="20850638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5ED379A-5CE8-4E40-811F-9DDB81210B26}" type="datetime1">
              <a:rPr lang="fr-FR" smtClean="0"/>
              <a:t>24/10/2025</a:t>
            </a:fld>
            <a:endParaRPr lang="fr-FR"/>
          </a:p>
        </p:txBody>
      </p:sp>
      <p:sp>
        <p:nvSpPr>
          <p:cNvPr id="5" name="Footer Placeholder 4"/>
          <p:cNvSpPr>
            <a:spLocks noGrp="1"/>
          </p:cNvSpPr>
          <p:nvPr>
            <p:ph type="ftr" sz="quarter" idx="11"/>
          </p:nvPr>
        </p:nvSpPr>
        <p:spPr>
          <a:xfrm>
            <a:off x="1371600" y="4323845"/>
            <a:ext cx="6400800" cy="365125"/>
          </a:xfrm>
        </p:spPr>
        <p:txBody>
          <a:bodyPr/>
          <a:lstStyle/>
          <a:p>
            <a:r>
              <a:rPr lang="fr-FR"/>
              <a:t>1</a:t>
            </a:r>
          </a:p>
        </p:txBody>
      </p:sp>
      <p:sp>
        <p:nvSpPr>
          <p:cNvPr id="6" name="Slide Number Placeholder 5"/>
          <p:cNvSpPr>
            <a:spLocks noGrp="1"/>
          </p:cNvSpPr>
          <p:nvPr>
            <p:ph type="sldNum" sz="quarter" idx="12"/>
          </p:nvPr>
        </p:nvSpPr>
        <p:spPr>
          <a:xfrm>
            <a:off x="8077200" y="1430866"/>
            <a:ext cx="2743200" cy="365125"/>
          </a:xfrm>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294457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808E0B9-546B-4D97-A0D8-DEC771448DD3}" type="datetime1">
              <a:rPr lang="fr-FR" smtClean="0"/>
              <a:t>24/10/2025</a:t>
            </a:fld>
            <a:endParaRPr lang="fr-FR"/>
          </a:p>
        </p:txBody>
      </p:sp>
      <p:sp>
        <p:nvSpPr>
          <p:cNvPr id="5" name="Footer Placeholder 4"/>
          <p:cNvSpPr>
            <a:spLocks noGrp="1"/>
          </p:cNvSpPr>
          <p:nvPr>
            <p:ph type="ftr" sz="quarter" idx="11"/>
          </p:nvPr>
        </p:nvSpPr>
        <p:spPr/>
        <p:txBody>
          <a:bodyPr/>
          <a:lstStyle/>
          <a:p>
            <a:r>
              <a:rPr lang="fr-FR"/>
              <a:t>1</a:t>
            </a:r>
          </a:p>
        </p:txBody>
      </p:sp>
      <p:sp>
        <p:nvSpPr>
          <p:cNvPr id="6" name="Slide Number Placeholder 5"/>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1408099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D4845360-F12C-42A4-B56E-FFF748039FC5}" type="datetime1">
              <a:rPr lang="fr-FR" smtClean="0"/>
              <a:t>24/10/2025</a:t>
            </a:fld>
            <a:endParaRPr lang="fr-FR"/>
          </a:p>
        </p:txBody>
      </p:sp>
      <p:sp>
        <p:nvSpPr>
          <p:cNvPr id="5" name="Footer Placeholder 4"/>
          <p:cNvSpPr>
            <a:spLocks noGrp="1"/>
          </p:cNvSpPr>
          <p:nvPr>
            <p:ph type="ftr" sz="quarter" idx="11"/>
          </p:nvPr>
        </p:nvSpPr>
        <p:spPr>
          <a:xfrm>
            <a:off x="685800" y="381001"/>
            <a:ext cx="6991492" cy="364065"/>
          </a:xfrm>
        </p:spPr>
        <p:txBody>
          <a:bodyPr/>
          <a:lstStyle/>
          <a:p>
            <a:r>
              <a:rPr lang="fr-FR"/>
              <a:t>1</a:t>
            </a:r>
          </a:p>
        </p:txBody>
      </p:sp>
      <p:sp>
        <p:nvSpPr>
          <p:cNvPr id="6" name="Slide Number Placeholder 5"/>
          <p:cNvSpPr>
            <a:spLocks noGrp="1"/>
          </p:cNvSpPr>
          <p:nvPr>
            <p:ph type="sldNum" sz="quarter" idx="12"/>
          </p:nvPr>
        </p:nvSpPr>
        <p:spPr>
          <a:xfrm>
            <a:off x="10862452" y="381000"/>
            <a:ext cx="643748" cy="365125"/>
          </a:xfrm>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3887080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5785E0-94B5-4D28-837A-CF58C7D91735}" type="datetime1">
              <a:rPr lang="fr-FR" smtClean="0"/>
              <a:t>24/10/2025</a:t>
            </a:fld>
            <a:endParaRPr lang="fr-FR"/>
          </a:p>
        </p:txBody>
      </p:sp>
      <p:sp>
        <p:nvSpPr>
          <p:cNvPr id="6" name="Footer Placeholder 5"/>
          <p:cNvSpPr>
            <a:spLocks noGrp="1"/>
          </p:cNvSpPr>
          <p:nvPr>
            <p:ph type="ftr" sz="quarter" idx="11"/>
          </p:nvPr>
        </p:nvSpPr>
        <p:spPr/>
        <p:txBody>
          <a:bodyPr/>
          <a:lstStyle/>
          <a:p>
            <a:r>
              <a:rPr lang="fr-FR"/>
              <a:t>1</a:t>
            </a:r>
          </a:p>
        </p:txBody>
      </p:sp>
      <p:sp>
        <p:nvSpPr>
          <p:cNvPr id="7" name="Slide Number Placeholder 6"/>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2714704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DC4DAA3-1A66-4CA4-85D3-06F348E97E71}" type="datetime1">
              <a:rPr lang="fr-FR" smtClean="0"/>
              <a:t>24/10/2025</a:t>
            </a:fld>
            <a:endParaRPr lang="fr-FR"/>
          </a:p>
        </p:txBody>
      </p:sp>
      <p:sp>
        <p:nvSpPr>
          <p:cNvPr id="8" name="Footer Placeholder 7"/>
          <p:cNvSpPr>
            <a:spLocks noGrp="1"/>
          </p:cNvSpPr>
          <p:nvPr>
            <p:ph type="ftr" sz="quarter" idx="11"/>
          </p:nvPr>
        </p:nvSpPr>
        <p:spPr/>
        <p:txBody>
          <a:bodyPr/>
          <a:lstStyle/>
          <a:p>
            <a:r>
              <a:rPr lang="fr-FR"/>
              <a:t>1</a:t>
            </a:r>
          </a:p>
        </p:txBody>
      </p:sp>
      <p:sp>
        <p:nvSpPr>
          <p:cNvPr id="9" name="Slide Number Placeholder 8"/>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4219290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667B9C7-49A1-4726-B3F8-FDA03ACB511E}" type="datetime1">
              <a:rPr lang="fr-FR" smtClean="0"/>
              <a:t>24/10/2025</a:t>
            </a:fld>
            <a:endParaRPr lang="fr-FR"/>
          </a:p>
        </p:txBody>
      </p:sp>
      <p:sp>
        <p:nvSpPr>
          <p:cNvPr id="4" name="Footer Placeholder 3"/>
          <p:cNvSpPr>
            <a:spLocks noGrp="1"/>
          </p:cNvSpPr>
          <p:nvPr>
            <p:ph type="ftr" sz="quarter" idx="11"/>
          </p:nvPr>
        </p:nvSpPr>
        <p:spPr/>
        <p:txBody>
          <a:bodyPr/>
          <a:lstStyle/>
          <a:p>
            <a:r>
              <a:rPr lang="fr-FR"/>
              <a:t>1</a:t>
            </a:r>
          </a:p>
        </p:txBody>
      </p:sp>
      <p:sp>
        <p:nvSpPr>
          <p:cNvPr id="5" name="Slide Number Placeholder 4"/>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51667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EEABBD-C373-4837-9B08-0DBD95A23602}" type="datetime1">
              <a:rPr lang="fr-FR" smtClean="0"/>
              <a:t>24/10/2025</a:t>
            </a:fld>
            <a:endParaRPr lang="fr-FR"/>
          </a:p>
        </p:txBody>
      </p:sp>
      <p:sp>
        <p:nvSpPr>
          <p:cNvPr id="3" name="Footer Placeholder 2"/>
          <p:cNvSpPr>
            <a:spLocks noGrp="1"/>
          </p:cNvSpPr>
          <p:nvPr>
            <p:ph type="ftr" sz="quarter" idx="11"/>
          </p:nvPr>
        </p:nvSpPr>
        <p:spPr/>
        <p:txBody>
          <a:bodyPr/>
          <a:lstStyle/>
          <a:p>
            <a:r>
              <a:rPr lang="fr-FR"/>
              <a:t>1</a:t>
            </a:r>
          </a:p>
        </p:txBody>
      </p:sp>
      <p:sp>
        <p:nvSpPr>
          <p:cNvPr id="4" name="Slide Number Placeholder 3"/>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1232418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3BCE7E8-A445-4D33-B33F-2FDDF278E5D4}" type="datetime1">
              <a:rPr lang="fr-FR" smtClean="0"/>
              <a:t>24/10/2025</a:t>
            </a:fld>
            <a:endParaRPr lang="fr-FR"/>
          </a:p>
        </p:txBody>
      </p:sp>
      <p:sp>
        <p:nvSpPr>
          <p:cNvPr id="6" name="Footer Placeholder 5"/>
          <p:cNvSpPr>
            <a:spLocks noGrp="1"/>
          </p:cNvSpPr>
          <p:nvPr>
            <p:ph type="ftr" sz="quarter" idx="11"/>
          </p:nvPr>
        </p:nvSpPr>
        <p:spPr/>
        <p:txBody>
          <a:bodyPr/>
          <a:lstStyle/>
          <a:p>
            <a:r>
              <a:rPr lang="fr-FR"/>
              <a:t>1</a:t>
            </a:r>
          </a:p>
        </p:txBody>
      </p:sp>
      <p:sp>
        <p:nvSpPr>
          <p:cNvPr id="7" name="Slide Number Placeholder 6"/>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1955929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F86219F-1724-422D-85A2-8D76AD7E5B26}" type="datetime1">
              <a:rPr lang="fr-FR" smtClean="0"/>
              <a:t>24/10/2025</a:t>
            </a:fld>
            <a:endParaRPr lang="fr-FR"/>
          </a:p>
        </p:txBody>
      </p:sp>
      <p:sp>
        <p:nvSpPr>
          <p:cNvPr id="6" name="Footer Placeholder 5"/>
          <p:cNvSpPr>
            <a:spLocks noGrp="1"/>
          </p:cNvSpPr>
          <p:nvPr>
            <p:ph type="ftr" sz="quarter" idx="11"/>
          </p:nvPr>
        </p:nvSpPr>
        <p:spPr/>
        <p:txBody>
          <a:bodyPr/>
          <a:lstStyle/>
          <a:p>
            <a:r>
              <a:rPr lang="fr-FR"/>
              <a:t>1</a:t>
            </a:r>
          </a:p>
        </p:txBody>
      </p:sp>
      <p:sp>
        <p:nvSpPr>
          <p:cNvPr id="7" name="Slide Number Placeholder 6"/>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85783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1E4B00B-3C3E-4544-A490-6E02D81F343E}" type="datetime1">
              <a:rPr lang="fr-FR" smtClean="0"/>
              <a:t>24/10/2025</a:t>
            </a:fld>
            <a:endParaRPr lang="fr-FR"/>
          </a:p>
        </p:txBody>
      </p:sp>
      <p:sp>
        <p:nvSpPr>
          <p:cNvPr id="6" name="Footer Placeholder 5"/>
          <p:cNvSpPr>
            <a:spLocks noGrp="1"/>
          </p:cNvSpPr>
          <p:nvPr>
            <p:ph type="ftr" sz="quarter" idx="11"/>
          </p:nvPr>
        </p:nvSpPr>
        <p:spPr/>
        <p:txBody>
          <a:bodyPr/>
          <a:lstStyle/>
          <a:p>
            <a:r>
              <a:rPr lang="fr-FR"/>
              <a:t>1</a:t>
            </a:r>
          </a:p>
        </p:txBody>
      </p:sp>
      <p:sp>
        <p:nvSpPr>
          <p:cNvPr id="7" name="Slide Number Placeholder 6"/>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3940414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8789F06-EE29-4F21-9A7C-4F83E7ED88CD}" type="datetime1">
              <a:rPr lang="fr-FR" smtClean="0"/>
              <a:t>24/10/2025</a:t>
            </a:fld>
            <a:endParaRPr lang="fr-FR"/>
          </a:p>
        </p:txBody>
      </p:sp>
      <p:sp>
        <p:nvSpPr>
          <p:cNvPr id="6" name="Footer Placeholder 5"/>
          <p:cNvSpPr>
            <a:spLocks noGrp="1"/>
          </p:cNvSpPr>
          <p:nvPr>
            <p:ph type="ftr" sz="quarter" idx="11"/>
          </p:nvPr>
        </p:nvSpPr>
        <p:spPr>
          <a:xfrm>
            <a:off x="685800" y="379941"/>
            <a:ext cx="6991492" cy="365125"/>
          </a:xfrm>
        </p:spPr>
        <p:txBody>
          <a:bodyPr/>
          <a:lstStyle/>
          <a:p>
            <a:r>
              <a:rPr lang="fr-FR"/>
              <a:t>1</a:t>
            </a:r>
          </a:p>
        </p:txBody>
      </p:sp>
      <p:sp>
        <p:nvSpPr>
          <p:cNvPr id="7" name="Slide Number Placeholder 6"/>
          <p:cNvSpPr>
            <a:spLocks noGrp="1"/>
          </p:cNvSpPr>
          <p:nvPr>
            <p:ph type="sldNum" sz="quarter" idx="12"/>
          </p:nvPr>
        </p:nvSpPr>
        <p:spPr>
          <a:xfrm>
            <a:off x="10862452" y="381000"/>
            <a:ext cx="643748" cy="365125"/>
          </a:xfrm>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72481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3857FB6-A5EA-40B5-92D1-3B34F0CB4C73}" type="datetime1">
              <a:rPr lang="fr-FR" smtClean="0"/>
              <a:t>24/10/2025</a:t>
            </a:fld>
            <a:endParaRPr lang="fr-FR"/>
          </a:p>
        </p:txBody>
      </p:sp>
      <p:sp>
        <p:nvSpPr>
          <p:cNvPr id="6" name="Footer Placeholder 5"/>
          <p:cNvSpPr>
            <a:spLocks noGrp="1"/>
          </p:cNvSpPr>
          <p:nvPr>
            <p:ph type="ftr" sz="quarter" idx="11"/>
          </p:nvPr>
        </p:nvSpPr>
        <p:spPr>
          <a:xfrm>
            <a:off x="685800" y="379941"/>
            <a:ext cx="6991492" cy="365125"/>
          </a:xfrm>
        </p:spPr>
        <p:txBody>
          <a:bodyPr/>
          <a:lstStyle/>
          <a:p>
            <a:r>
              <a:rPr lang="fr-FR"/>
              <a:t>1</a:t>
            </a:r>
          </a:p>
        </p:txBody>
      </p:sp>
      <p:sp>
        <p:nvSpPr>
          <p:cNvPr id="7" name="Slide Number Placeholder 6"/>
          <p:cNvSpPr>
            <a:spLocks noGrp="1"/>
          </p:cNvSpPr>
          <p:nvPr>
            <p:ph type="sldNum" sz="quarter" idx="12"/>
          </p:nvPr>
        </p:nvSpPr>
        <p:spPr>
          <a:xfrm>
            <a:off x="10862452" y="381000"/>
            <a:ext cx="643748" cy="365125"/>
          </a:xfrm>
        </p:spPr>
        <p:txBody>
          <a:bodyPr/>
          <a:lstStyle/>
          <a:p>
            <a:fld id="{723B3C61-9534-404A-B1B4-4DCF5EE54D8B}" type="slidenum">
              <a:rPr lang="fr-FR" smtClean="0"/>
              <a:t>‹N°›</a:t>
            </a:fld>
            <a:endParaRPr lang="fr-FR"/>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82280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C1216ED9-D253-4C34-9090-2F7072265915}" type="datetime1">
              <a:rPr lang="fr-FR" smtClean="0"/>
              <a:t>24/10/2025</a:t>
            </a:fld>
            <a:endParaRPr lang="fr-FR"/>
          </a:p>
        </p:txBody>
      </p:sp>
      <p:sp>
        <p:nvSpPr>
          <p:cNvPr id="6" name="Footer Placeholder 5"/>
          <p:cNvSpPr>
            <a:spLocks noGrp="1"/>
          </p:cNvSpPr>
          <p:nvPr>
            <p:ph type="ftr" sz="quarter" idx="11"/>
          </p:nvPr>
        </p:nvSpPr>
        <p:spPr>
          <a:xfrm>
            <a:off x="685800" y="378883"/>
            <a:ext cx="6991492" cy="365125"/>
          </a:xfrm>
        </p:spPr>
        <p:txBody>
          <a:bodyPr/>
          <a:lstStyle/>
          <a:p>
            <a:r>
              <a:rPr lang="fr-FR"/>
              <a:t>1</a:t>
            </a:r>
          </a:p>
        </p:txBody>
      </p:sp>
      <p:sp>
        <p:nvSpPr>
          <p:cNvPr id="7" name="Slide Number Placeholder 6"/>
          <p:cNvSpPr>
            <a:spLocks noGrp="1"/>
          </p:cNvSpPr>
          <p:nvPr>
            <p:ph type="sldNum" sz="quarter" idx="12"/>
          </p:nvPr>
        </p:nvSpPr>
        <p:spPr>
          <a:xfrm>
            <a:off x="10862452" y="381000"/>
            <a:ext cx="643748" cy="365125"/>
          </a:xfrm>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725801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C08A05BC-0E19-4621-AD54-58477289BB84}" type="datetime1">
              <a:rPr lang="fr-FR" smtClean="0"/>
              <a:t>24/10/2025</a:t>
            </a:fld>
            <a:endParaRPr lang="fr-FR"/>
          </a:p>
        </p:txBody>
      </p:sp>
      <p:sp>
        <p:nvSpPr>
          <p:cNvPr id="4" name="Footer Placeholder 3"/>
          <p:cNvSpPr>
            <a:spLocks noGrp="1"/>
          </p:cNvSpPr>
          <p:nvPr>
            <p:ph type="ftr" sz="quarter" idx="11"/>
          </p:nvPr>
        </p:nvSpPr>
        <p:spPr/>
        <p:txBody>
          <a:bodyPr/>
          <a:lstStyle/>
          <a:p>
            <a:r>
              <a:rPr lang="fr-FR"/>
              <a:t>1</a:t>
            </a:r>
          </a:p>
        </p:txBody>
      </p:sp>
      <p:sp>
        <p:nvSpPr>
          <p:cNvPr id="5" name="Slide Number Placeholder 4"/>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2666424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6E199B19-7705-433E-9EF0-B3A5BCCDE271}" type="datetime1">
              <a:rPr lang="fr-FR" smtClean="0"/>
              <a:t>24/10/2025</a:t>
            </a:fld>
            <a:endParaRPr lang="fr-FR"/>
          </a:p>
        </p:txBody>
      </p:sp>
      <p:sp>
        <p:nvSpPr>
          <p:cNvPr id="4" name="Footer Placeholder 3"/>
          <p:cNvSpPr>
            <a:spLocks noGrp="1"/>
          </p:cNvSpPr>
          <p:nvPr>
            <p:ph type="ftr" sz="quarter" idx="11"/>
          </p:nvPr>
        </p:nvSpPr>
        <p:spPr/>
        <p:txBody>
          <a:bodyPr/>
          <a:lstStyle/>
          <a:p>
            <a:r>
              <a:rPr lang="fr-FR"/>
              <a:t>1</a:t>
            </a:r>
          </a:p>
        </p:txBody>
      </p:sp>
      <p:sp>
        <p:nvSpPr>
          <p:cNvPr id="5" name="Slide Number Placeholder 4"/>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8917644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1691C60-3B0A-42F2-8487-A1C853CA2AA2}" type="datetime1">
              <a:rPr lang="fr-FR" smtClean="0"/>
              <a:t>24/10/2025</a:t>
            </a:fld>
            <a:endParaRPr lang="fr-FR"/>
          </a:p>
        </p:txBody>
      </p:sp>
      <p:sp>
        <p:nvSpPr>
          <p:cNvPr id="5" name="Footer Placeholder 4"/>
          <p:cNvSpPr>
            <a:spLocks noGrp="1"/>
          </p:cNvSpPr>
          <p:nvPr>
            <p:ph type="ftr" sz="quarter" idx="11"/>
          </p:nvPr>
        </p:nvSpPr>
        <p:spPr/>
        <p:txBody>
          <a:bodyPr/>
          <a:lstStyle/>
          <a:p>
            <a:r>
              <a:rPr lang="fr-FR"/>
              <a:t>1</a:t>
            </a:r>
          </a:p>
        </p:txBody>
      </p:sp>
      <p:sp>
        <p:nvSpPr>
          <p:cNvPr id="6" name="Slide Number Placeholder 5"/>
          <p:cNvSpPr>
            <a:spLocks noGrp="1"/>
          </p:cNvSpPr>
          <p:nvPr>
            <p:ph type="sldNum" sz="quarter" idx="12"/>
          </p:nvPr>
        </p:nvSpPr>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2879895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AE64A19-C43E-4A2B-891A-8D00CD622B6F}" type="datetime1">
              <a:rPr lang="fr-FR" smtClean="0"/>
              <a:t>24/10/2025</a:t>
            </a:fld>
            <a:endParaRPr lang="fr-FR"/>
          </a:p>
        </p:txBody>
      </p:sp>
      <p:sp>
        <p:nvSpPr>
          <p:cNvPr id="5" name="Footer Placeholder 4"/>
          <p:cNvSpPr>
            <a:spLocks noGrp="1"/>
          </p:cNvSpPr>
          <p:nvPr>
            <p:ph type="ftr" sz="quarter" idx="11"/>
          </p:nvPr>
        </p:nvSpPr>
        <p:spPr>
          <a:xfrm>
            <a:off x="685800" y="381000"/>
            <a:ext cx="6991492" cy="365125"/>
          </a:xfrm>
        </p:spPr>
        <p:txBody>
          <a:bodyPr/>
          <a:lstStyle/>
          <a:p>
            <a:r>
              <a:rPr lang="fr-FR"/>
              <a:t>1</a:t>
            </a:r>
          </a:p>
        </p:txBody>
      </p:sp>
      <p:sp>
        <p:nvSpPr>
          <p:cNvPr id="6" name="Slide Number Placeholder 5"/>
          <p:cNvSpPr>
            <a:spLocks noGrp="1"/>
          </p:cNvSpPr>
          <p:nvPr>
            <p:ph type="sldNum" sz="quarter" idx="12"/>
          </p:nvPr>
        </p:nvSpPr>
        <p:spPr>
          <a:xfrm>
            <a:off x="10862452" y="381000"/>
            <a:ext cx="643748" cy="365125"/>
          </a:xfrm>
        </p:spPr>
        <p:txBody>
          <a:bodyPr/>
          <a:lstStyle/>
          <a:p>
            <a:fld id="{723B3C61-9534-404A-B1B4-4DCF5EE54D8B}" type="slidenum">
              <a:rPr lang="fr-FR" smtClean="0"/>
              <a:t>‹N°›</a:t>
            </a:fld>
            <a:endParaRPr lang="fr-FR"/>
          </a:p>
        </p:txBody>
      </p:sp>
    </p:spTree>
    <p:extLst>
      <p:ext uri="{BB962C8B-B14F-4D97-AF65-F5344CB8AC3E}">
        <p14:creationId xmlns:p14="http://schemas.microsoft.com/office/powerpoint/2010/main" val="241648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CC85237-A9D1-48A5-A38B-DF37AD88EA8F}" type="datetime1">
              <a:rPr lang="fr-FR" smtClean="0"/>
              <a:t>24/10/2025</a:t>
            </a:fld>
            <a:endParaRPr lang="fr-F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fr-FR"/>
              <a:t>1</a:t>
            </a:r>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23B3C61-9534-404A-B1B4-4DCF5EE54D8B}" type="slidenum">
              <a:rPr lang="fr-FR" smtClean="0"/>
              <a:t>‹N°›</a:t>
            </a:fld>
            <a:endParaRPr lang="fr-FR"/>
          </a:p>
        </p:txBody>
      </p:sp>
    </p:spTree>
    <p:extLst>
      <p:ext uri="{BB962C8B-B14F-4D97-AF65-F5344CB8AC3E}">
        <p14:creationId xmlns:p14="http://schemas.microsoft.com/office/powerpoint/2010/main" val="4217258950"/>
      </p:ext>
    </p:extLst>
  </p:cSld>
  <p:clrMap bg1="lt1" tx1="dk1" bg2="lt2" tx2="dk2" accent1="accent1" accent2="accent2" accent3="accent3" accent4="accent4" accent5="accent5" accent6="accent6" hlink="hlink" folHlink="folHlink"/>
  <p:sldLayoutIdLst>
    <p:sldLayoutId id="2147484270" r:id="rId1"/>
    <p:sldLayoutId id="2147484271" r:id="rId2"/>
    <p:sldLayoutId id="2147484272" r:id="rId3"/>
    <p:sldLayoutId id="2147484273" r:id="rId4"/>
    <p:sldLayoutId id="2147484274" r:id="rId5"/>
    <p:sldLayoutId id="2147484275" r:id="rId6"/>
    <p:sldLayoutId id="2147484276" r:id="rId7"/>
    <p:sldLayoutId id="2147484277" r:id="rId8"/>
    <p:sldLayoutId id="2147484278" r:id="rId9"/>
    <p:sldLayoutId id="2147484279" r:id="rId10"/>
    <p:sldLayoutId id="2147484280" r:id="rId11"/>
    <p:sldLayoutId id="2147484281" r:id="rId12"/>
    <p:sldLayoutId id="2147484282" r:id="rId13"/>
    <p:sldLayoutId id="2147484283" r:id="rId14"/>
    <p:sldLayoutId id="2147484284" r:id="rId15"/>
    <p:sldLayoutId id="2147484285" r:id="rId16"/>
    <p:sldLayoutId id="2147484286" r:id="rId17"/>
  </p:sldLayoutIdLst>
  <p:hf hd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tastra.com/blog/security-audit/third-party-penetration-test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tastra.com/blog/security-audit/white-box-penetration-test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tastra.com/blog/security-audit/gray-box-penetration-test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appvizer.fr/services-informatiques/gestion-des-services-informatiques-itsm/ninjaone" TargetMode="External"/><Relationship Id="rId2" Type="http://schemas.openxmlformats.org/officeDocument/2006/relationships/hyperlink" Target="https://www.appvizer.fr/services-informatiques/cybersecurite/connected-risk-engine-cyber"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D03CCC-4A86-42C2-9865-14E11800C29E}"/>
              </a:ext>
            </a:extLst>
          </p:cNvPr>
          <p:cNvSpPr>
            <a:spLocks noGrp="1"/>
          </p:cNvSpPr>
          <p:nvPr>
            <p:ph type="ctrTitle"/>
          </p:nvPr>
        </p:nvSpPr>
        <p:spPr>
          <a:xfrm>
            <a:off x="5069541" y="-406122"/>
            <a:ext cx="5598459" cy="2342498"/>
          </a:xfrm>
        </p:spPr>
        <p:txBody>
          <a:bodyPr>
            <a:normAutofit/>
          </a:bodyPr>
          <a:lstStyle/>
          <a:p>
            <a:r>
              <a:rPr lang="fr-FR" sz="3600" b="1" dirty="0">
                <a:solidFill>
                  <a:srgbClr val="C00000"/>
                </a:solidFill>
                <a:latin typeface="Times New Roman" panose="02020603050405020304" pitchFamily="18" charset="0"/>
                <a:cs typeface="Times New Roman" panose="02020603050405020304" pitchFamily="18" charset="0"/>
              </a:rPr>
              <a:t>L’AUDITE DE SECURITE DE SYSTÈME D’INFORMATIOM</a:t>
            </a:r>
          </a:p>
        </p:txBody>
      </p:sp>
      <p:sp>
        <p:nvSpPr>
          <p:cNvPr id="6" name="ZoneTexte 5">
            <a:extLst>
              <a:ext uri="{FF2B5EF4-FFF2-40B4-BE49-F238E27FC236}">
                <a16:creationId xmlns:a16="http://schemas.microsoft.com/office/drawing/2014/main" id="{EC297BAA-595C-4C04-8899-FCF21D1624AE}"/>
              </a:ext>
            </a:extLst>
          </p:cNvPr>
          <p:cNvSpPr txBox="1"/>
          <p:nvPr/>
        </p:nvSpPr>
        <p:spPr>
          <a:xfrm flipH="1">
            <a:off x="17357" y="3765426"/>
            <a:ext cx="4343398" cy="646331"/>
          </a:xfrm>
          <a:prstGeom prst="rect">
            <a:avLst/>
          </a:prstGeom>
          <a:noFill/>
        </p:spPr>
        <p:txBody>
          <a:bodyPr wrap="square" rtlCol="0">
            <a:spAutoFit/>
          </a:bodyPr>
          <a:lstStyle/>
          <a:p>
            <a:r>
              <a:rPr lang="fr-FR" b="1" dirty="0">
                <a:solidFill>
                  <a:schemeClr val="bg1"/>
                </a:solidFill>
              </a:rPr>
              <a:t>Présenté par:  Diakité Fatoumata</a:t>
            </a:r>
          </a:p>
          <a:p>
            <a:r>
              <a:rPr lang="fr-FR" b="1" dirty="0">
                <a:solidFill>
                  <a:schemeClr val="bg1"/>
                </a:solidFill>
              </a:rPr>
              <a:t>Etudiante en M2 MSI </a:t>
            </a:r>
          </a:p>
        </p:txBody>
      </p:sp>
      <p:sp>
        <p:nvSpPr>
          <p:cNvPr id="8" name="ZoneTexte 7">
            <a:extLst>
              <a:ext uri="{FF2B5EF4-FFF2-40B4-BE49-F238E27FC236}">
                <a16:creationId xmlns:a16="http://schemas.microsoft.com/office/drawing/2014/main" id="{AA090C8D-57F2-48DB-9D5A-70A9338EEEB2}"/>
              </a:ext>
            </a:extLst>
          </p:cNvPr>
          <p:cNvSpPr txBox="1"/>
          <p:nvPr/>
        </p:nvSpPr>
        <p:spPr>
          <a:xfrm>
            <a:off x="303016" y="1336211"/>
            <a:ext cx="3772079" cy="1200329"/>
          </a:xfrm>
          <a:prstGeom prst="rect">
            <a:avLst/>
          </a:prstGeom>
          <a:noFill/>
        </p:spPr>
        <p:txBody>
          <a:bodyPr wrap="square" rtlCol="0">
            <a:spAutoFit/>
          </a:bodyPr>
          <a:lstStyle/>
          <a:p>
            <a:r>
              <a:rPr lang="fr-FR" b="1" dirty="0"/>
              <a:t>Présenté: Diakité Fatoumata</a:t>
            </a:r>
          </a:p>
          <a:p>
            <a:r>
              <a:rPr lang="fr-FR" b="1" dirty="0"/>
              <a:t> Encadre par:  </a:t>
            </a:r>
          </a:p>
          <a:p>
            <a:r>
              <a:rPr lang="fr-FR" b="1" dirty="0"/>
              <a:t>Dr Abdoulaye Sidibé </a:t>
            </a:r>
            <a:endParaRPr lang="fr-FR" dirty="0"/>
          </a:p>
          <a:p>
            <a:r>
              <a:rPr lang="fr-FR" b="1" dirty="0">
                <a:solidFill>
                  <a:schemeClr val="bg1"/>
                </a:solidFill>
              </a:rPr>
              <a:t>    </a:t>
            </a:r>
          </a:p>
        </p:txBody>
      </p:sp>
      <p:pic>
        <p:nvPicPr>
          <p:cNvPr id="7" name="Espace réservé du contenu 3">
            <a:extLst>
              <a:ext uri="{FF2B5EF4-FFF2-40B4-BE49-F238E27FC236}">
                <a16:creationId xmlns:a16="http://schemas.microsoft.com/office/drawing/2014/main" id="{852C938D-DE56-4779-9A28-54086F74110A}"/>
              </a:ext>
            </a:extLst>
          </p:cNvPr>
          <p:cNvPicPr>
            <a:picLocks noChangeAspect="1"/>
          </p:cNvPicPr>
          <p:nvPr/>
        </p:nvPicPr>
        <p:blipFill>
          <a:blip r:embed="rId3"/>
          <a:stretch>
            <a:fillRect/>
          </a:stretch>
        </p:blipFill>
        <p:spPr>
          <a:xfrm>
            <a:off x="17357" y="2266240"/>
            <a:ext cx="12174643" cy="4702595"/>
          </a:xfrm>
          <a:prstGeom prst="rect">
            <a:avLst/>
          </a:prstGeom>
        </p:spPr>
      </p:pic>
      <p:sp>
        <p:nvSpPr>
          <p:cNvPr id="3" name="Espace réservé du pied de page 2">
            <a:extLst>
              <a:ext uri="{FF2B5EF4-FFF2-40B4-BE49-F238E27FC236}">
                <a16:creationId xmlns:a16="http://schemas.microsoft.com/office/drawing/2014/main" id="{BF2406F9-F132-4718-A08C-1E66FB3A672D}"/>
              </a:ext>
            </a:extLst>
          </p:cNvPr>
          <p:cNvSpPr>
            <a:spLocks noGrp="1"/>
          </p:cNvSpPr>
          <p:nvPr>
            <p:ph type="ftr" sz="quarter" idx="11"/>
          </p:nvPr>
        </p:nvSpPr>
        <p:spPr/>
        <p:txBody>
          <a:bodyPr/>
          <a:lstStyle/>
          <a:p>
            <a:r>
              <a:rPr lang="fr-FR"/>
              <a:t>1</a:t>
            </a:r>
          </a:p>
        </p:txBody>
      </p:sp>
      <p:sp>
        <p:nvSpPr>
          <p:cNvPr id="4" name="Espace réservé du numéro de diapositive 3">
            <a:extLst>
              <a:ext uri="{FF2B5EF4-FFF2-40B4-BE49-F238E27FC236}">
                <a16:creationId xmlns:a16="http://schemas.microsoft.com/office/drawing/2014/main" id="{79DFE66A-B98E-4D2B-9B1C-387A43615823}"/>
              </a:ext>
            </a:extLst>
          </p:cNvPr>
          <p:cNvSpPr>
            <a:spLocks noGrp="1"/>
          </p:cNvSpPr>
          <p:nvPr>
            <p:ph type="sldNum" sz="quarter" idx="12"/>
          </p:nvPr>
        </p:nvSpPr>
        <p:spPr/>
        <p:txBody>
          <a:bodyPr/>
          <a:lstStyle/>
          <a:p>
            <a:fld id="{723B3C61-9534-404A-B1B4-4DCF5EE54D8B}" type="slidenum">
              <a:rPr lang="fr-FR" smtClean="0"/>
              <a:t>1</a:t>
            </a:fld>
            <a:endParaRPr lang="fr-FR"/>
          </a:p>
        </p:txBody>
      </p:sp>
    </p:spTree>
    <p:extLst>
      <p:ext uri="{BB962C8B-B14F-4D97-AF65-F5344CB8AC3E}">
        <p14:creationId xmlns:p14="http://schemas.microsoft.com/office/powerpoint/2010/main" val="18873920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140F4D-4D5A-4D14-A184-98E0E158C13E}"/>
              </a:ext>
            </a:extLst>
          </p:cNvPr>
          <p:cNvSpPr>
            <a:spLocks noGrp="1"/>
          </p:cNvSpPr>
          <p:nvPr>
            <p:ph type="title"/>
          </p:nvPr>
        </p:nvSpPr>
        <p:spPr>
          <a:xfrm>
            <a:off x="2895600" y="288598"/>
            <a:ext cx="8610600" cy="814061"/>
          </a:xfrm>
        </p:spPr>
        <p:txBody>
          <a:bodyPr/>
          <a:lstStyle/>
          <a:p>
            <a:r>
              <a:rPr lang="fr-FR" dirty="0"/>
              <a:t>    </a:t>
            </a:r>
          </a:p>
        </p:txBody>
      </p:sp>
      <p:sp>
        <p:nvSpPr>
          <p:cNvPr id="16" name="Espace réservé du contenu 15">
            <a:extLst>
              <a:ext uri="{FF2B5EF4-FFF2-40B4-BE49-F238E27FC236}">
                <a16:creationId xmlns:a16="http://schemas.microsoft.com/office/drawing/2014/main" id="{31118AC0-30DC-482C-86FA-CBDC71748B89}"/>
              </a:ext>
            </a:extLst>
          </p:cNvPr>
          <p:cNvSpPr>
            <a:spLocks noGrp="1"/>
          </p:cNvSpPr>
          <p:nvPr>
            <p:ph idx="1"/>
          </p:nvPr>
        </p:nvSpPr>
        <p:spPr/>
        <p:txBody>
          <a:bodyPr>
            <a:normAutofit fontScale="70000" lnSpcReduction="20000"/>
          </a:bodyPr>
          <a:lstStyle/>
          <a:p>
            <a:r>
              <a:rPr lang="fr-FR" sz="3100" b="1" dirty="0">
                <a:solidFill>
                  <a:srgbClr val="000000"/>
                </a:solidFill>
                <a:latin typeface="Times New Roman" panose="02020603050405020304" pitchFamily="18" charset="0"/>
                <a:cs typeface="Times New Roman" panose="02020603050405020304" pitchFamily="18" charset="0"/>
              </a:rPr>
              <a:t>Introduction </a:t>
            </a:r>
          </a:p>
          <a:p>
            <a:r>
              <a:rPr lang="fr-FR" sz="3100" b="1" dirty="0">
                <a:solidFill>
                  <a:srgbClr val="000000"/>
                </a:solidFill>
                <a:latin typeface="Times New Roman" panose="02020603050405020304" pitchFamily="18" charset="0"/>
                <a:cs typeface="Times New Roman" panose="02020603050405020304" pitchFamily="18" charset="0"/>
              </a:rPr>
              <a:t>Généralité</a:t>
            </a:r>
          </a:p>
          <a:p>
            <a:r>
              <a:rPr lang="fr-FR" sz="3100" b="1" dirty="0">
                <a:solidFill>
                  <a:srgbClr val="000000"/>
                </a:solidFill>
                <a:latin typeface="Times New Roman" panose="02020603050405020304" pitchFamily="18" charset="0"/>
                <a:cs typeface="Times New Roman" panose="02020603050405020304" pitchFamily="18" charset="0"/>
              </a:rPr>
              <a:t>Définition</a:t>
            </a:r>
          </a:p>
          <a:p>
            <a:r>
              <a:rPr lang="fr-FR" sz="3100" b="1" dirty="0">
                <a:solidFill>
                  <a:srgbClr val="000000"/>
                </a:solidFill>
                <a:latin typeface="Times New Roman" panose="02020603050405020304" pitchFamily="18" charset="0"/>
                <a:cs typeface="Times New Roman" panose="02020603050405020304" pitchFamily="18" charset="0"/>
              </a:rPr>
              <a:t>Rôle et Objectifs</a:t>
            </a:r>
          </a:p>
          <a:p>
            <a:r>
              <a:rPr lang="fr-FR" sz="3100" b="1" dirty="0">
                <a:solidFill>
                  <a:srgbClr val="000000"/>
                </a:solidFill>
                <a:latin typeface="Times New Roman" panose="02020603050405020304" pitchFamily="18" charset="0"/>
                <a:cs typeface="Times New Roman" panose="02020603050405020304" pitchFamily="18" charset="0"/>
              </a:rPr>
              <a:t>Les type de l’audite de sécurité informatique</a:t>
            </a:r>
          </a:p>
          <a:p>
            <a:r>
              <a:rPr lang="fr-FR" sz="3100" b="1" dirty="0">
                <a:solidFill>
                  <a:srgbClr val="000000"/>
                </a:solidFill>
                <a:latin typeface="Times New Roman" panose="02020603050405020304" pitchFamily="18" charset="0"/>
                <a:cs typeface="Times New Roman" panose="02020603050405020304" pitchFamily="18" charset="0"/>
              </a:rPr>
              <a:t>Cycle de vie d’audit de sécurité informatique</a:t>
            </a:r>
          </a:p>
          <a:p>
            <a:r>
              <a:rPr lang="fr-FR" sz="3100" b="1" dirty="0">
                <a:solidFill>
                  <a:srgbClr val="000000"/>
                </a:solidFill>
                <a:latin typeface="Times New Roman" panose="02020603050405020304" pitchFamily="18" charset="0"/>
                <a:cs typeface="Times New Roman" panose="02020603050405020304" pitchFamily="18" charset="0"/>
              </a:rPr>
              <a:t>Démarche de réalisation d’un audite de sécurité informatique</a:t>
            </a:r>
          </a:p>
          <a:p>
            <a:r>
              <a:rPr lang="fr-FR" sz="3100" b="1" dirty="0">
                <a:solidFill>
                  <a:srgbClr val="000000"/>
                </a:solidFill>
                <a:latin typeface="Times New Roman" panose="02020603050405020304" pitchFamily="18" charset="0"/>
                <a:cs typeface="Times New Roman" panose="02020603050405020304" pitchFamily="18" charset="0"/>
              </a:rPr>
              <a:t>Les outils de l’audite de sécurité informatique</a:t>
            </a:r>
          </a:p>
          <a:p>
            <a:r>
              <a:rPr lang="fr-FR" sz="3100" b="1" dirty="0">
                <a:solidFill>
                  <a:srgbClr val="000000"/>
                </a:solidFill>
                <a:latin typeface="Times New Roman" panose="02020603050405020304" pitchFamily="18" charset="0"/>
                <a:cs typeface="Times New Roman" panose="02020603050405020304" pitchFamily="18" charset="0"/>
              </a:rPr>
              <a:t>Les limites d’auditer la sécurité de système d’information</a:t>
            </a:r>
          </a:p>
          <a:p>
            <a:r>
              <a:rPr lang="fr-FR" sz="3100" b="1" dirty="0">
                <a:solidFill>
                  <a:srgbClr val="000000"/>
                </a:solidFill>
                <a:latin typeface="Times New Roman" panose="02020603050405020304" pitchFamily="18" charset="0"/>
                <a:cs typeface="Times New Roman" panose="02020603050405020304" pitchFamily="18" charset="0"/>
              </a:rPr>
              <a:t>Les Avantages d’auditer la sécurité de système d’information</a:t>
            </a:r>
          </a:p>
          <a:p>
            <a:r>
              <a:rPr lang="fr-FR" sz="3100" b="1" dirty="0">
                <a:solidFill>
                  <a:srgbClr val="000000"/>
                </a:solidFill>
                <a:latin typeface="Times New Roman" panose="02020603050405020304" pitchFamily="18" charset="0"/>
                <a:cs typeface="Times New Roman" panose="02020603050405020304" pitchFamily="18" charset="0"/>
              </a:rPr>
              <a:t>Conclusion </a:t>
            </a:r>
          </a:p>
          <a:p>
            <a:endParaRPr lang="fr-FR" dirty="0"/>
          </a:p>
          <a:p>
            <a:endParaRPr lang="fr-FR" dirty="0"/>
          </a:p>
          <a:p>
            <a:endParaRPr lang="fr-FR" dirty="0"/>
          </a:p>
        </p:txBody>
      </p:sp>
      <p:sp>
        <p:nvSpPr>
          <p:cNvPr id="17" name="ZoneTexte 16">
            <a:extLst>
              <a:ext uri="{FF2B5EF4-FFF2-40B4-BE49-F238E27FC236}">
                <a16:creationId xmlns:a16="http://schemas.microsoft.com/office/drawing/2014/main" id="{57DA04D6-6FE8-43BE-80F1-F477170E375A}"/>
              </a:ext>
            </a:extLst>
          </p:cNvPr>
          <p:cNvSpPr txBox="1"/>
          <p:nvPr/>
        </p:nvSpPr>
        <p:spPr>
          <a:xfrm flipH="1">
            <a:off x="4147238" y="288598"/>
            <a:ext cx="4211956" cy="707886"/>
          </a:xfrm>
          <a:prstGeom prst="rect">
            <a:avLst/>
          </a:prstGeom>
          <a:noFill/>
        </p:spPr>
        <p:txBody>
          <a:bodyPr wrap="square" rtlCol="0">
            <a:spAutoFit/>
          </a:bodyPr>
          <a:lstStyle/>
          <a:p>
            <a:pPr algn="ctr"/>
            <a:r>
              <a:rPr lang="fr-FR" sz="4000" b="1" dirty="0">
                <a:solidFill>
                  <a:srgbClr val="C00000"/>
                </a:solidFill>
              </a:rPr>
              <a:t>SOMMAIRE</a:t>
            </a:r>
          </a:p>
        </p:txBody>
      </p:sp>
      <p:sp>
        <p:nvSpPr>
          <p:cNvPr id="3" name="Espace réservé du pied de page 2">
            <a:extLst>
              <a:ext uri="{FF2B5EF4-FFF2-40B4-BE49-F238E27FC236}">
                <a16:creationId xmlns:a16="http://schemas.microsoft.com/office/drawing/2014/main" id="{6E9CDE6B-DD3C-4F10-AEB8-E4028D10CA14}"/>
              </a:ext>
            </a:extLst>
          </p:cNvPr>
          <p:cNvSpPr>
            <a:spLocks noGrp="1"/>
          </p:cNvSpPr>
          <p:nvPr>
            <p:ph type="ftr" sz="quarter" idx="11"/>
          </p:nvPr>
        </p:nvSpPr>
        <p:spPr/>
        <p:txBody>
          <a:bodyPr/>
          <a:lstStyle/>
          <a:p>
            <a:r>
              <a:rPr lang="fr-FR"/>
              <a:t>1</a:t>
            </a:r>
          </a:p>
        </p:txBody>
      </p:sp>
      <p:sp>
        <p:nvSpPr>
          <p:cNvPr id="4" name="Espace réservé du numéro de diapositive 3">
            <a:extLst>
              <a:ext uri="{FF2B5EF4-FFF2-40B4-BE49-F238E27FC236}">
                <a16:creationId xmlns:a16="http://schemas.microsoft.com/office/drawing/2014/main" id="{22A5B1A5-40FD-41D8-907F-41ADD5E4D27F}"/>
              </a:ext>
            </a:extLst>
          </p:cNvPr>
          <p:cNvSpPr>
            <a:spLocks noGrp="1"/>
          </p:cNvSpPr>
          <p:nvPr>
            <p:ph type="sldNum" sz="quarter" idx="12"/>
          </p:nvPr>
        </p:nvSpPr>
        <p:spPr/>
        <p:txBody>
          <a:bodyPr/>
          <a:lstStyle/>
          <a:p>
            <a:fld id="{723B3C61-9534-404A-B1B4-4DCF5EE54D8B}" type="slidenum">
              <a:rPr lang="fr-FR" smtClean="0"/>
              <a:t>2</a:t>
            </a:fld>
            <a:endParaRPr lang="fr-FR"/>
          </a:p>
        </p:txBody>
      </p:sp>
    </p:spTree>
    <p:extLst>
      <p:ext uri="{BB962C8B-B14F-4D97-AF65-F5344CB8AC3E}">
        <p14:creationId xmlns:p14="http://schemas.microsoft.com/office/powerpoint/2010/main" val="2875713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D2C3D6-CC2A-46D6-A074-777CF0B74E99}"/>
              </a:ext>
            </a:extLst>
          </p:cNvPr>
          <p:cNvSpPr/>
          <p:nvPr/>
        </p:nvSpPr>
        <p:spPr>
          <a:xfrm>
            <a:off x="1100976" y="1796133"/>
            <a:ext cx="10344150" cy="4893647"/>
          </a:xfrm>
          <a:prstGeom prst="rect">
            <a:avLst/>
          </a:prstGeom>
        </p:spPr>
        <p:txBody>
          <a:bodyPr wrap="square">
            <a:spAutoFit/>
          </a:bodyPr>
          <a:lstStyle/>
          <a:p>
            <a:r>
              <a:rPr lang="fr-FR" sz="2400" dirty="0">
                <a:latin typeface="Times New Roman" panose="02020603050405020304" pitchFamily="18" charset="0"/>
                <a:cs typeface="Times New Roman" panose="02020603050405020304" pitchFamily="18" charset="0"/>
              </a:rPr>
              <a:t>De nos jours les entreprises sont de plus en plus connectées tant en interne que dans le monde entier, profitant ainsi de l’évolution des réseaux informatiques et la dématérialisation des documents. De ce fait, leur système d’information est accessible de l’extérieur pour leurs fournisseurs, clients, partenaires et administrations. L'accessibilité par l’extérieur entraine la vulnérabilité vis à vis les attaques, mais aussi on peut pas négliger les menaces qui viennent de l’intérieur, ce qui rend l’investissement dans des mesures de protection et de sécurité indispensable, et la mise en œuvre d’un plan de sécurité issu d’un examen méthodique d’une situation liée à la sécurité de l’information en vue de vérifier sa conformité à des objectifs, à des règles, et à des normes ou référentiels, afin de cerner les différentes composantes de la sécurité du Système d’Information, et pour atteindre un niveau de sécurisation répondant aux objectifs organisationnels et techniques.</a:t>
            </a:r>
          </a:p>
        </p:txBody>
      </p:sp>
      <p:sp>
        <p:nvSpPr>
          <p:cNvPr id="17" name="ZoneTexte 16">
            <a:extLst>
              <a:ext uri="{FF2B5EF4-FFF2-40B4-BE49-F238E27FC236}">
                <a16:creationId xmlns:a16="http://schemas.microsoft.com/office/drawing/2014/main" id="{DE520598-EEAE-4B42-84D2-A0437C149F30}"/>
              </a:ext>
            </a:extLst>
          </p:cNvPr>
          <p:cNvSpPr txBox="1"/>
          <p:nvPr/>
        </p:nvSpPr>
        <p:spPr>
          <a:xfrm>
            <a:off x="3769380" y="855569"/>
            <a:ext cx="3914774" cy="646331"/>
          </a:xfrm>
          <a:prstGeom prst="rect">
            <a:avLst/>
          </a:prstGeom>
          <a:noFill/>
        </p:spPr>
        <p:txBody>
          <a:bodyPr wrap="square" rtlCol="0">
            <a:sp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INTRODUCTION</a:t>
            </a:r>
          </a:p>
        </p:txBody>
      </p:sp>
      <p:sp>
        <p:nvSpPr>
          <p:cNvPr id="2" name="Espace réservé du pied de page 1">
            <a:extLst>
              <a:ext uri="{FF2B5EF4-FFF2-40B4-BE49-F238E27FC236}">
                <a16:creationId xmlns:a16="http://schemas.microsoft.com/office/drawing/2014/main" id="{32DBCD04-87E1-43EB-B3B3-49B28923BBDF}"/>
              </a:ext>
            </a:extLst>
          </p:cNvPr>
          <p:cNvSpPr>
            <a:spLocks noGrp="1"/>
          </p:cNvSpPr>
          <p:nvPr>
            <p:ph type="ftr" sz="quarter" idx="11"/>
          </p:nvPr>
        </p:nvSpPr>
        <p:spPr/>
        <p:txBody>
          <a:bodyPr/>
          <a:lstStyle/>
          <a:p>
            <a:r>
              <a:rPr lang="fr-FR"/>
              <a:t>1</a:t>
            </a:r>
          </a:p>
        </p:txBody>
      </p:sp>
      <p:sp>
        <p:nvSpPr>
          <p:cNvPr id="3" name="Espace réservé du numéro de diapositive 2">
            <a:extLst>
              <a:ext uri="{FF2B5EF4-FFF2-40B4-BE49-F238E27FC236}">
                <a16:creationId xmlns:a16="http://schemas.microsoft.com/office/drawing/2014/main" id="{565CADC0-2C22-4CA7-97D6-3A03824D4877}"/>
              </a:ext>
            </a:extLst>
          </p:cNvPr>
          <p:cNvSpPr>
            <a:spLocks noGrp="1"/>
          </p:cNvSpPr>
          <p:nvPr>
            <p:ph type="sldNum" sz="quarter" idx="12"/>
          </p:nvPr>
        </p:nvSpPr>
        <p:spPr/>
        <p:txBody>
          <a:bodyPr/>
          <a:lstStyle/>
          <a:p>
            <a:fld id="{723B3C61-9534-404A-B1B4-4DCF5EE54D8B}" type="slidenum">
              <a:rPr lang="fr-FR" smtClean="0"/>
              <a:t>3</a:t>
            </a:fld>
            <a:endParaRPr lang="fr-FR"/>
          </a:p>
        </p:txBody>
      </p:sp>
    </p:spTree>
    <p:extLst>
      <p:ext uri="{BB962C8B-B14F-4D97-AF65-F5344CB8AC3E}">
        <p14:creationId xmlns:p14="http://schemas.microsoft.com/office/powerpoint/2010/main" val="16185074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3514E7-7619-4A33-AC89-C14F81E71168}"/>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Généralité</a:t>
            </a:r>
          </a:p>
        </p:txBody>
      </p:sp>
      <p:sp>
        <p:nvSpPr>
          <p:cNvPr id="3" name="Espace réservé du contenu 2">
            <a:extLst>
              <a:ext uri="{FF2B5EF4-FFF2-40B4-BE49-F238E27FC236}">
                <a16:creationId xmlns:a16="http://schemas.microsoft.com/office/drawing/2014/main" id="{EAD3E2DF-D904-4649-8B42-B17B67308D53}"/>
              </a:ext>
            </a:extLst>
          </p:cNvPr>
          <p:cNvSpPr>
            <a:spLocks noGrp="1"/>
          </p:cNvSpPr>
          <p:nvPr>
            <p:ph idx="1"/>
          </p:nvPr>
        </p:nvSpPr>
        <p:spPr>
          <a:xfrm>
            <a:off x="1035943" y="2298451"/>
            <a:ext cx="9603275" cy="3450613"/>
          </a:xfrm>
        </p:spPr>
        <p:txBody>
          <a:bodyPr>
            <a:normAutofit/>
          </a:bodyPr>
          <a:lstStyle/>
          <a:p>
            <a:pPr marL="0" indent="0">
              <a:buNone/>
            </a:pPr>
            <a:r>
              <a:rPr lang="fr-FR" sz="2400" dirty="0">
                <a:latin typeface="Arial Rounded MT Bold" panose="020F0704030504030204" pitchFamily="34" charset="0"/>
              </a:rPr>
              <a:t> </a:t>
            </a:r>
          </a:p>
          <a:p>
            <a:pPr marL="0" indent="0">
              <a:buNone/>
            </a:pPr>
            <a:r>
              <a:rPr lang="fr-FR" sz="2400" dirty="0">
                <a:latin typeface="Arial Rounded MT Bold" panose="020F0704030504030204" pitchFamily="34" charset="0"/>
              </a:rPr>
              <a:t> </a:t>
            </a:r>
            <a:r>
              <a:rPr lang="fr-FR" sz="2800" b="1" dirty="0">
                <a:latin typeface="Times New Roman" panose="02020603050405020304" pitchFamily="18" charset="0"/>
                <a:cs typeface="Times New Roman" panose="02020603050405020304" pitchFamily="18" charset="0"/>
              </a:rPr>
              <a:t>Qu’est-ce qu’un Systèmes ?</a:t>
            </a:r>
          </a:p>
          <a:p>
            <a:pPr marL="0" indent="0">
              <a:buNone/>
            </a:pPr>
            <a:r>
              <a:rPr lang="fr-FR" sz="2400" dirty="0">
                <a:latin typeface="Times New Roman" panose="02020603050405020304" pitchFamily="18" charset="0"/>
                <a:cs typeface="Times New Roman" panose="02020603050405020304" pitchFamily="18" charset="0"/>
              </a:rPr>
              <a:t>Un système est un ensemble d'éléments en relation les uns les autres et formant un tout. Il représente une unité parfaitement identifiable et évoluant dans un environnement. Il existe donc une limite qui départage le système de son environnement.</a:t>
            </a:r>
          </a:p>
          <a:p>
            <a:pPr marL="0" indent="0">
              <a:buNone/>
            </a:pPr>
            <a:endParaRPr lang="fr-FR" dirty="0"/>
          </a:p>
        </p:txBody>
      </p:sp>
      <p:sp>
        <p:nvSpPr>
          <p:cNvPr id="4" name="Espace réservé du pied de page 3">
            <a:extLst>
              <a:ext uri="{FF2B5EF4-FFF2-40B4-BE49-F238E27FC236}">
                <a16:creationId xmlns:a16="http://schemas.microsoft.com/office/drawing/2014/main" id="{C2C6815A-943E-4F10-9614-C20597064D37}"/>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E9E15121-0A12-4CDA-91E7-F97299D4B3F2}"/>
              </a:ext>
            </a:extLst>
          </p:cNvPr>
          <p:cNvSpPr>
            <a:spLocks noGrp="1"/>
          </p:cNvSpPr>
          <p:nvPr>
            <p:ph type="sldNum" sz="quarter" idx="12"/>
          </p:nvPr>
        </p:nvSpPr>
        <p:spPr/>
        <p:txBody>
          <a:bodyPr/>
          <a:lstStyle/>
          <a:p>
            <a:fld id="{723B3C61-9534-404A-B1B4-4DCF5EE54D8B}" type="slidenum">
              <a:rPr lang="fr-FR" smtClean="0"/>
              <a:t>4</a:t>
            </a:fld>
            <a:endParaRPr lang="fr-FR"/>
          </a:p>
        </p:txBody>
      </p:sp>
    </p:spTree>
    <p:extLst>
      <p:ext uri="{BB962C8B-B14F-4D97-AF65-F5344CB8AC3E}">
        <p14:creationId xmlns:p14="http://schemas.microsoft.com/office/powerpoint/2010/main" val="137728861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9E8B3A-B44F-4A71-B40D-F3EB0063ADF7}"/>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Généralité</a:t>
            </a:r>
            <a:endParaRPr lang="fr-FR" sz="3600" dirty="0">
              <a:solidFill>
                <a:srgbClr val="C00000"/>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12E4B5B5-2663-4191-A1B7-E9E25AFBBF7E}"/>
              </a:ext>
            </a:extLst>
          </p:cNvPr>
          <p:cNvSpPr>
            <a:spLocks noGrp="1"/>
          </p:cNvSpPr>
          <p:nvPr>
            <p:ph idx="1"/>
          </p:nvPr>
        </p:nvSpPr>
        <p:spPr>
          <a:xfrm>
            <a:off x="1417258" y="2172894"/>
            <a:ext cx="9603275" cy="3450613"/>
          </a:xfrm>
        </p:spPr>
        <p:txBody>
          <a:bodyPr>
            <a:normAutofit/>
          </a:bodyPr>
          <a:lstStyle/>
          <a:p>
            <a:pPr marL="0" indent="0">
              <a:buNone/>
            </a:pPr>
            <a:r>
              <a:rPr lang="fr-FR" sz="2800" b="1" dirty="0">
                <a:latin typeface="Times New Roman" panose="02020603050405020304" pitchFamily="18" charset="0"/>
                <a:cs typeface="Times New Roman" panose="02020603050405020304" pitchFamily="18" charset="0"/>
              </a:rPr>
              <a:t>Qu’est-ce qu’un Système d’Information ?</a:t>
            </a:r>
          </a:p>
          <a:p>
            <a:pPr marL="0" indent="0">
              <a:buNone/>
            </a:pPr>
            <a:r>
              <a:rPr lang="fr-FR" sz="2400" dirty="0">
                <a:latin typeface="Times New Roman" panose="02020603050405020304" pitchFamily="18" charset="0"/>
                <a:cs typeface="Times New Roman" panose="02020603050405020304" pitchFamily="18" charset="0"/>
              </a:rPr>
              <a:t>SI est un ensemble organisé de ressources (matériels, logiciels, personnel, données et procédures) qui représente l’ensemble des éléments participant à la gestion, au traitement, au transport et à la diffusion de l’information au sein de l’entreprise. A l’origine les systèmes d’informations ont fait leur première apparition dans les domaines de l’informatique et des télécommunications, cependant nous voyons aujourd’hui apparaître le concept dans tous les secteurs, que ce soit des entreprises privées ou publiques. </a:t>
            </a:r>
          </a:p>
          <a:p>
            <a:pPr marL="0" indent="0">
              <a:buNone/>
            </a:pPr>
            <a:endParaRPr lang="fr-FR" dirty="0"/>
          </a:p>
        </p:txBody>
      </p:sp>
      <p:sp>
        <p:nvSpPr>
          <p:cNvPr id="4" name="Espace réservé du pied de page 3">
            <a:extLst>
              <a:ext uri="{FF2B5EF4-FFF2-40B4-BE49-F238E27FC236}">
                <a16:creationId xmlns:a16="http://schemas.microsoft.com/office/drawing/2014/main" id="{4CFF5347-0DFD-4ADE-B593-73485047F4E9}"/>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7F73EFAE-146F-4DDB-A575-B17E50B9D2C1}"/>
              </a:ext>
            </a:extLst>
          </p:cNvPr>
          <p:cNvSpPr>
            <a:spLocks noGrp="1"/>
          </p:cNvSpPr>
          <p:nvPr>
            <p:ph type="sldNum" sz="quarter" idx="12"/>
          </p:nvPr>
        </p:nvSpPr>
        <p:spPr/>
        <p:txBody>
          <a:bodyPr/>
          <a:lstStyle/>
          <a:p>
            <a:fld id="{723B3C61-9534-404A-B1B4-4DCF5EE54D8B}" type="slidenum">
              <a:rPr lang="fr-FR" smtClean="0"/>
              <a:t>5</a:t>
            </a:fld>
            <a:endParaRPr lang="fr-FR"/>
          </a:p>
        </p:txBody>
      </p:sp>
    </p:spTree>
    <p:extLst>
      <p:ext uri="{BB962C8B-B14F-4D97-AF65-F5344CB8AC3E}">
        <p14:creationId xmlns:p14="http://schemas.microsoft.com/office/powerpoint/2010/main" val="21260377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AEC8E-90C1-4C8C-8DC9-1CACCF44EF49}"/>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Généralité</a:t>
            </a:r>
            <a:endParaRPr lang="fr-FR" sz="3600"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53D59964-2AFF-4B41-8B46-41603FAA6015}"/>
              </a:ext>
            </a:extLst>
          </p:cNvPr>
          <p:cNvSpPr>
            <a:spLocks noGrp="1"/>
          </p:cNvSpPr>
          <p:nvPr>
            <p:ph idx="1"/>
          </p:nvPr>
        </p:nvSpPr>
        <p:spPr/>
        <p:txBody>
          <a:bodyPr/>
          <a:lstStyle/>
          <a:p>
            <a:pPr marL="0" indent="0">
              <a:buNone/>
            </a:pPr>
            <a:r>
              <a:rPr lang="fr-FR" dirty="0"/>
              <a:t> </a:t>
            </a:r>
            <a:r>
              <a:rPr lang="fr-FR" sz="2400" dirty="0">
                <a:latin typeface="Arial Rounded MT Bold" panose="020F0704030504030204" pitchFamily="34" charset="0"/>
              </a:rPr>
              <a:t> </a:t>
            </a:r>
            <a:r>
              <a:rPr lang="fr-FR" sz="2800" b="1" dirty="0">
                <a:latin typeface="Times New Roman" panose="02020603050405020304" pitchFamily="18" charset="0"/>
                <a:cs typeface="Times New Roman" panose="02020603050405020304" pitchFamily="18" charset="0"/>
              </a:rPr>
              <a:t>C’est quoi la « Sécurité de l'information » ?</a:t>
            </a:r>
          </a:p>
          <a:p>
            <a:pPr marL="0" indent="0">
              <a:buNone/>
            </a:pPr>
            <a:r>
              <a:rPr lang="fr-FR" sz="2400" dirty="0">
                <a:latin typeface="Times New Roman" panose="02020603050405020304" pitchFamily="18" charset="0"/>
                <a:cs typeface="Times New Roman" panose="02020603050405020304" pitchFamily="18" charset="0"/>
              </a:rPr>
              <a:t>La sécurité de l'information, l’ensemble des moyens techniques, organisationnels, juridiques, et humains mis en place pour faire face aux risques identifiés, afin d’assurer la confidentialité, l'intégrité, la disponibilité, et la Traçabilité de l'information traitée</a:t>
            </a:r>
          </a:p>
          <a:p>
            <a:pPr marL="0" indent="0">
              <a:buNone/>
            </a:pPr>
            <a:endParaRPr lang="fr-FR" dirty="0"/>
          </a:p>
        </p:txBody>
      </p:sp>
      <p:sp>
        <p:nvSpPr>
          <p:cNvPr id="4" name="Espace réservé du pied de page 3">
            <a:extLst>
              <a:ext uri="{FF2B5EF4-FFF2-40B4-BE49-F238E27FC236}">
                <a16:creationId xmlns:a16="http://schemas.microsoft.com/office/drawing/2014/main" id="{3B6771EA-DB44-4358-857A-73B5D7CB4DDE}"/>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BA6D7EF4-54EB-4E9B-A73C-FE7CE4C3422F}"/>
              </a:ext>
            </a:extLst>
          </p:cNvPr>
          <p:cNvSpPr>
            <a:spLocks noGrp="1"/>
          </p:cNvSpPr>
          <p:nvPr>
            <p:ph type="sldNum" sz="quarter" idx="12"/>
          </p:nvPr>
        </p:nvSpPr>
        <p:spPr/>
        <p:txBody>
          <a:bodyPr/>
          <a:lstStyle/>
          <a:p>
            <a:fld id="{723B3C61-9534-404A-B1B4-4DCF5EE54D8B}" type="slidenum">
              <a:rPr lang="fr-FR" smtClean="0"/>
              <a:t>6</a:t>
            </a:fld>
            <a:endParaRPr lang="fr-FR"/>
          </a:p>
        </p:txBody>
      </p:sp>
    </p:spTree>
    <p:extLst>
      <p:ext uri="{BB962C8B-B14F-4D97-AF65-F5344CB8AC3E}">
        <p14:creationId xmlns:p14="http://schemas.microsoft.com/office/powerpoint/2010/main" val="20749345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D62D9B-29E9-41EB-9C14-3C7870E0A313}"/>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Définition</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F8B86001-E575-4196-BDE5-B59DFA452E68}"/>
              </a:ext>
            </a:extLst>
          </p:cNvPr>
          <p:cNvSpPr>
            <a:spLocks noGrp="1"/>
          </p:cNvSpPr>
          <p:nvPr>
            <p:ph idx="1"/>
          </p:nvPr>
        </p:nvSpPr>
        <p:spPr>
          <a:xfrm>
            <a:off x="445545" y="2057401"/>
            <a:ext cx="11300909" cy="9235013"/>
          </a:xfrm>
        </p:spPr>
        <p:txBody>
          <a:bodyPr>
            <a:normAutofit/>
          </a:bodyPr>
          <a:lstStyle/>
          <a:p>
            <a:pPr marL="0" indent="0">
              <a:buNone/>
            </a:pPr>
            <a:r>
              <a:rPr lang="fr-FR" dirty="0"/>
              <a:t>  </a:t>
            </a:r>
            <a:endParaRPr lang="fr-FR" sz="2400" dirty="0"/>
          </a:p>
          <a:p>
            <a:pPr marL="0" indent="0">
              <a:buNone/>
            </a:pPr>
            <a:r>
              <a:rPr lang="fr-FR" sz="2800" b="1" dirty="0">
                <a:latin typeface="Times New Roman" panose="02020603050405020304" pitchFamily="18" charset="0"/>
                <a:cs typeface="Times New Roman" panose="02020603050405020304" pitchFamily="18" charset="0"/>
              </a:rPr>
              <a:t>Qu’est-ce qu’un audit de sécurité des systèmes d’information?</a:t>
            </a:r>
          </a:p>
          <a:p>
            <a:r>
              <a:rPr lang="fr-FR" sz="2400" dirty="0">
                <a:latin typeface="Times New Roman" panose="02020603050405020304" pitchFamily="18" charset="0"/>
                <a:cs typeface="Times New Roman" panose="02020603050405020304" pitchFamily="18" charset="0"/>
              </a:rPr>
              <a:t>  Un audit de sécurité informatique se concentre sur l'infrastructure technique. Il examine les réseaux, les serveurs, les terminaux et les logiciels afin de garantir une mise en œuvre adéquate de la sécurité.</a:t>
            </a:r>
          </a:p>
          <a:p>
            <a:r>
              <a:rPr lang="fr-FR" sz="2400" dirty="0">
                <a:latin typeface="Times New Roman" panose="02020603050405020304" pitchFamily="18" charset="0"/>
                <a:cs typeface="Times New Roman" panose="02020603050405020304" pitchFamily="18" charset="0"/>
              </a:rPr>
              <a:t>Les audits de sécurité informatique testent les configurations, recherchent les faiblesses et vérifient la protection des points de terminaison, fournissant une évaluation claire des défenses techniques. </a:t>
            </a:r>
          </a:p>
          <a:p>
            <a:r>
              <a:rPr lang="fr-FR" sz="2400" dirty="0">
                <a:latin typeface="Times New Roman" panose="02020603050405020304" pitchFamily="18" charset="0"/>
                <a:cs typeface="Times New Roman" panose="02020603050405020304" pitchFamily="18" charset="0"/>
              </a:rPr>
              <a:t>Pour les entreprises gérant des environnements informatiques étendus, cet audit est essentiel pour éviter des exploits coûteux.</a:t>
            </a:r>
          </a:p>
          <a:p>
            <a:pPr marL="0" indent="0">
              <a:buNone/>
            </a:pPr>
            <a:endParaRPr lang="fr-FR" dirty="0"/>
          </a:p>
        </p:txBody>
      </p:sp>
      <p:sp>
        <p:nvSpPr>
          <p:cNvPr id="4" name="Espace réservé du pied de page 3">
            <a:extLst>
              <a:ext uri="{FF2B5EF4-FFF2-40B4-BE49-F238E27FC236}">
                <a16:creationId xmlns:a16="http://schemas.microsoft.com/office/drawing/2014/main" id="{4BD22ADD-C73C-48A0-8413-257B931C894E}"/>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2B2B5CB9-F828-4E3C-8FC7-0880D9CF1328}"/>
              </a:ext>
            </a:extLst>
          </p:cNvPr>
          <p:cNvSpPr>
            <a:spLocks noGrp="1"/>
          </p:cNvSpPr>
          <p:nvPr>
            <p:ph type="sldNum" sz="quarter" idx="12"/>
          </p:nvPr>
        </p:nvSpPr>
        <p:spPr/>
        <p:txBody>
          <a:bodyPr/>
          <a:lstStyle/>
          <a:p>
            <a:fld id="{723B3C61-9534-404A-B1B4-4DCF5EE54D8B}" type="slidenum">
              <a:rPr lang="fr-FR" smtClean="0"/>
              <a:t>7</a:t>
            </a:fld>
            <a:endParaRPr lang="fr-FR"/>
          </a:p>
        </p:txBody>
      </p:sp>
    </p:spTree>
    <p:extLst>
      <p:ext uri="{BB962C8B-B14F-4D97-AF65-F5344CB8AC3E}">
        <p14:creationId xmlns:p14="http://schemas.microsoft.com/office/powerpoint/2010/main" val="128212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FE7A8B-E260-47D2-AAEE-5717095875F0}"/>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Définition</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2A885E4D-56FC-4C7D-A16A-68D3EBD074D2}"/>
              </a:ext>
            </a:extLst>
          </p:cNvPr>
          <p:cNvSpPr>
            <a:spLocks noGrp="1"/>
          </p:cNvSpPr>
          <p:nvPr>
            <p:ph idx="1"/>
          </p:nvPr>
        </p:nvSpPr>
        <p:spPr>
          <a:xfrm>
            <a:off x="605118" y="2409713"/>
            <a:ext cx="10820400" cy="4024125"/>
          </a:xfrm>
        </p:spPr>
        <p:txBody>
          <a:bodyPr/>
          <a:lstStyle/>
          <a:p>
            <a:pPr marL="0" indent="0">
              <a:buNone/>
            </a:pPr>
            <a:r>
              <a:rPr lang="fr-FR" sz="2800" b="1" dirty="0">
                <a:latin typeface="Times New Roman" panose="02020603050405020304" pitchFamily="18" charset="0"/>
                <a:cs typeface="Times New Roman" panose="02020603050405020304" pitchFamily="18" charset="0"/>
              </a:rPr>
              <a:t>Pourquoi est-il nécessaire de réaliser des audits de sécurité informatique </a:t>
            </a:r>
          </a:p>
          <a:p>
            <a:pPr>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Améliorer la cyber-résilience </a:t>
            </a:r>
          </a:p>
          <a:p>
            <a:pPr>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 Améliorer la conformité </a:t>
            </a:r>
          </a:p>
          <a:p>
            <a:pPr>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Accroître la confiance des parties prenantes</a:t>
            </a:r>
          </a:p>
        </p:txBody>
      </p:sp>
      <p:sp>
        <p:nvSpPr>
          <p:cNvPr id="4" name="Espace réservé du pied de page 3">
            <a:extLst>
              <a:ext uri="{FF2B5EF4-FFF2-40B4-BE49-F238E27FC236}">
                <a16:creationId xmlns:a16="http://schemas.microsoft.com/office/drawing/2014/main" id="{3947B11C-DC5A-4C65-9365-92BD71A67A09}"/>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18C392CE-6282-473D-B575-1200F2D3E1D9}"/>
              </a:ext>
            </a:extLst>
          </p:cNvPr>
          <p:cNvSpPr>
            <a:spLocks noGrp="1"/>
          </p:cNvSpPr>
          <p:nvPr>
            <p:ph type="sldNum" sz="quarter" idx="12"/>
          </p:nvPr>
        </p:nvSpPr>
        <p:spPr/>
        <p:txBody>
          <a:bodyPr/>
          <a:lstStyle/>
          <a:p>
            <a:fld id="{723B3C61-9534-404A-B1B4-4DCF5EE54D8B}" type="slidenum">
              <a:rPr lang="fr-FR" smtClean="0"/>
              <a:t>8</a:t>
            </a:fld>
            <a:endParaRPr lang="fr-FR"/>
          </a:p>
        </p:txBody>
      </p:sp>
    </p:spTree>
    <p:extLst>
      <p:ext uri="{BB962C8B-B14F-4D97-AF65-F5344CB8AC3E}">
        <p14:creationId xmlns:p14="http://schemas.microsoft.com/office/powerpoint/2010/main" val="906489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88AF2B-A5D0-48FA-8D7F-CBA5068C8206}"/>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Rôle et objectifs</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766399B5-1741-461A-94C9-C0D57D0F3D29}"/>
              </a:ext>
            </a:extLst>
          </p:cNvPr>
          <p:cNvSpPr>
            <a:spLocks noGrp="1"/>
          </p:cNvSpPr>
          <p:nvPr>
            <p:ph idx="1"/>
          </p:nvPr>
        </p:nvSpPr>
        <p:spPr/>
        <p:txBody>
          <a:bodyPr>
            <a:normAutofit/>
          </a:bodyPr>
          <a:lstStyle/>
          <a:p>
            <a:pPr marL="0" indent="0">
              <a:buNone/>
            </a:pPr>
            <a:endParaRPr lang="fr-FR" sz="2200" dirty="0"/>
          </a:p>
          <a:p>
            <a:pPr marL="0" indent="0">
              <a:buNone/>
            </a:pPr>
            <a:r>
              <a:rPr lang="fr-FR" sz="2400" dirty="0">
                <a:latin typeface="Times New Roman" panose="02020603050405020304" pitchFamily="18" charset="0"/>
                <a:cs typeface="Times New Roman" panose="02020603050405020304" pitchFamily="18" charset="0"/>
              </a:rPr>
              <a:t>Une mission d’audit vise différents objectifs. En effet nous pouvons énumérer à ce titre </a:t>
            </a:r>
          </a:p>
          <a:p>
            <a:pPr marL="0" indent="0">
              <a:buNone/>
            </a:pPr>
            <a:r>
              <a:rPr lang="fr-FR" sz="2400" dirty="0">
                <a:latin typeface="Times New Roman" panose="02020603050405020304" pitchFamily="18" charset="0"/>
                <a:cs typeface="Times New Roman" panose="02020603050405020304" pitchFamily="18" charset="0"/>
              </a:rPr>
              <a:t>-La détermination des déviations par rapport aux bonnes pratiques de sécurité.</a:t>
            </a:r>
          </a:p>
          <a:p>
            <a:pPr marL="0" indent="0">
              <a:buNone/>
            </a:pPr>
            <a:r>
              <a:rPr lang="fr-FR" sz="2400" dirty="0">
                <a:latin typeface="Times New Roman" panose="02020603050405020304" pitchFamily="18" charset="0"/>
                <a:cs typeface="Times New Roman" panose="02020603050405020304" pitchFamily="18" charset="0"/>
              </a:rPr>
              <a:t> -La proposition d’actions visant l'amélioration du niveau de sécurité du système d’information. </a:t>
            </a:r>
          </a:p>
          <a:p>
            <a:pPr marL="0" indent="0">
              <a:buNone/>
            </a:pPr>
            <a:r>
              <a:rPr lang="fr-FR" sz="2400" dirty="0">
                <a:latin typeface="Times New Roman" panose="02020603050405020304" pitchFamily="18" charset="0"/>
                <a:cs typeface="Times New Roman" panose="02020603050405020304" pitchFamily="18" charset="0"/>
              </a:rPr>
              <a:t>Également, une mission d’audit de sécurité d’un système d’information se présente comme un moyen d'évaluation de la conformité par rapport à une politique de sécurité ou par rapport à un ensemble de règles de sécurité. </a:t>
            </a:r>
          </a:p>
          <a:p>
            <a:endParaRPr lang="fr-FR" dirty="0"/>
          </a:p>
        </p:txBody>
      </p:sp>
      <p:sp>
        <p:nvSpPr>
          <p:cNvPr id="4" name="Espace réservé du pied de page 3">
            <a:extLst>
              <a:ext uri="{FF2B5EF4-FFF2-40B4-BE49-F238E27FC236}">
                <a16:creationId xmlns:a16="http://schemas.microsoft.com/office/drawing/2014/main" id="{3CB788E8-82A8-49EA-9FCA-22EFBC7AA99F}"/>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B8959B86-AF24-47B9-9065-6CA6FACD5E84}"/>
              </a:ext>
            </a:extLst>
          </p:cNvPr>
          <p:cNvSpPr>
            <a:spLocks noGrp="1"/>
          </p:cNvSpPr>
          <p:nvPr>
            <p:ph type="sldNum" sz="quarter" idx="12"/>
          </p:nvPr>
        </p:nvSpPr>
        <p:spPr/>
        <p:txBody>
          <a:bodyPr/>
          <a:lstStyle/>
          <a:p>
            <a:fld id="{723B3C61-9534-404A-B1B4-4DCF5EE54D8B}" type="slidenum">
              <a:rPr lang="fr-FR" smtClean="0"/>
              <a:t>9</a:t>
            </a:fld>
            <a:endParaRPr lang="fr-FR"/>
          </a:p>
        </p:txBody>
      </p:sp>
    </p:spTree>
    <p:extLst>
      <p:ext uri="{BB962C8B-B14F-4D97-AF65-F5344CB8AC3E}">
        <p14:creationId xmlns:p14="http://schemas.microsoft.com/office/powerpoint/2010/main" val="17405651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7170E3-4AC8-4F86-9B76-E45BC3668370}"/>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TYPE DE L’AUDITE DE SECURITE DE système d’information</a:t>
            </a:r>
          </a:p>
        </p:txBody>
      </p:sp>
      <p:sp>
        <p:nvSpPr>
          <p:cNvPr id="3" name="Espace réservé du contenu 2">
            <a:extLst>
              <a:ext uri="{FF2B5EF4-FFF2-40B4-BE49-F238E27FC236}">
                <a16:creationId xmlns:a16="http://schemas.microsoft.com/office/drawing/2014/main" id="{F540F6BF-F393-481E-BAFD-3AA5B88600EC}"/>
              </a:ext>
            </a:extLst>
          </p:cNvPr>
          <p:cNvSpPr>
            <a:spLocks noGrp="1"/>
          </p:cNvSpPr>
          <p:nvPr>
            <p:ph idx="1"/>
          </p:nvPr>
        </p:nvSpPr>
        <p:spPr>
          <a:xfrm>
            <a:off x="685800" y="2208007"/>
            <a:ext cx="10820400" cy="4024125"/>
          </a:xfrm>
        </p:spPr>
        <p:txBody>
          <a:bodyPr>
            <a:normAutofit/>
          </a:bodyPr>
          <a:lstStyle/>
          <a:p>
            <a:pPr marL="0" indent="0">
              <a:buNone/>
            </a:pPr>
            <a:r>
              <a:rPr lang="fr-FR" sz="2400" dirty="0">
                <a:latin typeface="Times New Roman" panose="02020603050405020304" pitchFamily="18" charset="0"/>
                <a:cs typeface="Times New Roman" panose="02020603050405020304" pitchFamily="18" charset="0"/>
              </a:rPr>
              <a:t>Il existe plusieurs façons de classer un audit de sécurité informatique. Généralement, on le classe selon son auteur, son approche, sa méthodologie, etc.</a:t>
            </a:r>
          </a:p>
          <a:p>
            <a:pPr marL="0" indent="0">
              <a:buNone/>
            </a:pPr>
            <a:r>
              <a:rPr lang="fr-FR" sz="2800" b="1" dirty="0">
                <a:latin typeface="Times New Roman" panose="02020603050405020304" pitchFamily="18" charset="0"/>
                <a:cs typeface="Times New Roman" panose="02020603050405020304" pitchFamily="18" charset="0"/>
              </a:rPr>
              <a:t>En fonction de qui l'exécute </a:t>
            </a:r>
            <a:r>
              <a:rPr lang="fr-FR" sz="2800" b="1" dirty="0"/>
              <a:t>:</a:t>
            </a:r>
          </a:p>
          <a:p>
            <a:pPr marL="0" indent="0">
              <a:buNone/>
            </a:pPr>
            <a:r>
              <a:rPr lang="fr-FR" sz="2800" b="1" dirty="0">
                <a:solidFill>
                  <a:srgbClr val="00B0F0"/>
                </a:solidFill>
                <a:latin typeface="Times New Roman" panose="02020603050405020304" pitchFamily="18" charset="0"/>
                <a:cs typeface="Times New Roman" panose="02020603050405020304" pitchFamily="18" charset="0"/>
              </a:rPr>
              <a:t>Audits internes</a:t>
            </a:r>
            <a:r>
              <a:rPr lang="fr-FR" sz="2400" b="1" dirty="0">
                <a:solidFill>
                  <a:srgbClr val="00B0F0"/>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menés par l'équipe de sécurité informatique de l'organisation ou par des auditeurs internes, ils constituent un moyen rentable d'évaluer la posture de sécurité en cours et d'identifier les vulnérabilités à court terme.</a:t>
            </a:r>
            <a:endParaRPr lang="fr-FR" sz="2400" dirty="0">
              <a:solidFill>
                <a:srgbClr val="00B0F0"/>
              </a:solidFill>
              <a:latin typeface="Times New Roman" panose="02020603050405020304" pitchFamily="18" charset="0"/>
              <a:cs typeface="Times New Roman" panose="02020603050405020304" pitchFamily="18" charset="0"/>
            </a:endParaRPr>
          </a:p>
          <a:p>
            <a:pPr marL="0" indent="0">
              <a:buNone/>
            </a:pPr>
            <a:r>
              <a:rPr lang="fr-FR" sz="2800" b="1" dirty="0">
                <a:solidFill>
                  <a:srgbClr val="00B0F0"/>
                </a:solidFill>
                <a:latin typeface="Times New Roman" panose="02020603050405020304" pitchFamily="18" charset="0"/>
                <a:cs typeface="Times New Roman" panose="02020603050405020304" pitchFamily="18" charset="0"/>
              </a:rPr>
              <a:t>Audits externes: </a:t>
            </a:r>
            <a:r>
              <a:rPr lang="fr-FR" sz="2400" dirty="0">
                <a:latin typeface="Times New Roman" panose="02020603050405020304" pitchFamily="18" charset="0"/>
                <a:cs typeface="Times New Roman" panose="02020603050405020304" pitchFamily="18" charset="0"/>
              </a:rPr>
              <a:t>Souvent appelés </a:t>
            </a:r>
            <a:r>
              <a:rPr lang="fr-FR" sz="2400" u="sng" dirty="0">
                <a:latin typeface="Times New Roman" panose="02020603050405020304" pitchFamily="18" charset="0"/>
                <a:cs typeface="Times New Roman" panose="02020603050405020304" pitchFamily="18" charset="0"/>
                <a:hlinkClick r:id="rId2"/>
              </a:rPr>
              <a:t>tests de pénétration tiers</a:t>
            </a:r>
            <a:r>
              <a:rPr lang="fr-FR" sz="2400" dirty="0">
                <a:latin typeface="Times New Roman" panose="02020603050405020304" pitchFamily="18" charset="0"/>
                <a:cs typeface="Times New Roman" panose="02020603050405020304" pitchFamily="18" charset="0"/>
              </a:rPr>
              <a:t> , ils sont effectués par des professionnels ou des entreprises de sécurité indépendants pour fournir une évaluation plus objective et peuvent révéler des angles morts que les équipes internes pourraient manquer.</a:t>
            </a:r>
          </a:p>
          <a:p>
            <a:pPr marL="0" indent="0">
              <a:buNone/>
            </a:pPr>
            <a:endParaRPr lang="fr-FR" sz="2800" dirty="0">
              <a:latin typeface="Times New Roman" panose="02020603050405020304" pitchFamily="18" charset="0"/>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1993DE88-8A77-456F-9F04-CE7595EDD698}"/>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FAD7F516-3B6A-4E7E-B2CF-71BACC11B3A8}"/>
              </a:ext>
            </a:extLst>
          </p:cNvPr>
          <p:cNvSpPr>
            <a:spLocks noGrp="1"/>
          </p:cNvSpPr>
          <p:nvPr>
            <p:ph type="sldNum" sz="quarter" idx="12"/>
          </p:nvPr>
        </p:nvSpPr>
        <p:spPr/>
        <p:txBody>
          <a:bodyPr/>
          <a:lstStyle/>
          <a:p>
            <a:fld id="{723B3C61-9534-404A-B1B4-4DCF5EE54D8B}" type="slidenum">
              <a:rPr lang="fr-FR" smtClean="0"/>
              <a:t>10</a:t>
            </a:fld>
            <a:endParaRPr lang="fr-FR"/>
          </a:p>
        </p:txBody>
      </p:sp>
    </p:spTree>
    <p:extLst>
      <p:ext uri="{BB962C8B-B14F-4D97-AF65-F5344CB8AC3E}">
        <p14:creationId xmlns:p14="http://schemas.microsoft.com/office/powerpoint/2010/main" val="41786690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97948E-6EEA-48A1-B2C7-5806D3B2310F}"/>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TYPE DE L’AUDITE DE SECURITE DE système d’information</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E08CC78A-8301-49E1-A413-D79AA4788AB5}"/>
              </a:ext>
            </a:extLst>
          </p:cNvPr>
          <p:cNvSpPr>
            <a:spLocks noGrp="1"/>
          </p:cNvSpPr>
          <p:nvPr>
            <p:ph idx="1"/>
          </p:nvPr>
        </p:nvSpPr>
        <p:spPr>
          <a:xfrm>
            <a:off x="1294362" y="2242651"/>
            <a:ext cx="9603275" cy="3450613"/>
          </a:xfrm>
        </p:spPr>
        <p:txBody>
          <a:bodyPr>
            <a:normAutofit fontScale="92500" lnSpcReduction="10000"/>
          </a:bodyPr>
          <a:lstStyle/>
          <a:p>
            <a:pPr marL="0" indent="0">
              <a:buNone/>
            </a:pPr>
            <a:r>
              <a:rPr lang="fr-FR" sz="2800" b="1" dirty="0">
                <a:latin typeface="Times New Roman" panose="02020603050405020304" pitchFamily="18" charset="0"/>
                <a:cs typeface="Times New Roman" panose="02020603050405020304" pitchFamily="18" charset="0"/>
              </a:rPr>
              <a:t>Basé sur l'approche </a:t>
            </a:r>
          </a:p>
          <a:p>
            <a:pPr marL="0" indent="0">
              <a:buNone/>
            </a:pPr>
            <a:r>
              <a:rPr lang="fr-FR" sz="3000" b="1" u="sng" dirty="0">
                <a:solidFill>
                  <a:schemeClr val="accent1"/>
                </a:solidFill>
                <a:latin typeface="Times New Roman" panose="02020603050405020304" pitchFamily="18" charset="0"/>
                <a:cs typeface="Times New Roman" panose="02020603050405020304" pitchFamily="18" charset="0"/>
              </a:rPr>
              <a:t>Audit en boîte noire: </a:t>
            </a:r>
            <a:r>
              <a:rPr lang="fr-FR" sz="2600" dirty="0">
                <a:latin typeface="Times New Roman" panose="02020603050405020304" pitchFamily="18" charset="0"/>
                <a:cs typeface="Times New Roman" panose="02020603050405020304" pitchFamily="18" charset="0"/>
              </a:rPr>
              <a:t>l'auditeur possède une connaissance minimale du système et imite un attaquant externe sans information préalable. Cette approche est idéale pour tester la capacité d'une organisation à se défendre contre des menaces inconnues.</a:t>
            </a:r>
          </a:p>
          <a:p>
            <a:pPr marL="0" indent="0">
              <a:buNone/>
            </a:pPr>
            <a:endParaRPr lang="fr-FR" sz="2400" b="1" u="sng"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marL="0" indent="0">
              <a:buNone/>
            </a:pPr>
            <a:r>
              <a:rPr lang="fr-FR" sz="3000" b="1" dirty="0">
                <a:solidFill>
                  <a:schemeClr val="accent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Audit boîte blanche</a:t>
            </a:r>
            <a:r>
              <a:rPr lang="fr-FR" sz="3000" b="1" dirty="0">
                <a:solidFill>
                  <a:schemeClr val="accent1"/>
                </a:solidFill>
                <a:latin typeface="Times New Roman" panose="02020603050405020304" pitchFamily="18" charset="0"/>
                <a:cs typeface="Times New Roman" panose="02020603050405020304" pitchFamily="18" charset="0"/>
              </a:rPr>
              <a:t>: </a:t>
            </a:r>
            <a:r>
              <a:rPr lang="fr-FR" sz="2600" dirty="0">
                <a:latin typeface="Times New Roman" panose="02020603050405020304" pitchFamily="18" charset="0"/>
                <a:cs typeface="Times New Roman" panose="02020603050405020304" pitchFamily="18" charset="0"/>
              </a:rPr>
              <a:t>Dans ce type d'audit de sécurité, l'auditeur a une connaissance complète du système et de sa configuration, ce qui permet une analyse plus approfondie des applications complexes ou personnalisées.</a:t>
            </a:r>
          </a:p>
          <a:p>
            <a:pPr marL="0" indent="0">
              <a:buNone/>
            </a:pPr>
            <a:endParaRPr lang="fr-FR" sz="3000" b="1" dirty="0">
              <a:solidFill>
                <a:schemeClr val="accent1"/>
              </a:solidFill>
              <a:latin typeface="Times New Roman" panose="02020603050405020304" pitchFamily="18" charset="0"/>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AD25A586-A44B-4C45-A550-970CADDCBDE5}"/>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6880EE2B-0315-4AF5-83FB-EBF94AD3032E}"/>
              </a:ext>
            </a:extLst>
          </p:cNvPr>
          <p:cNvSpPr>
            <a:spLocks noGrp="1"/>
          </p:cNvSpPr>
          <p:nvPr>
            <p:ph type="sldNum" sz="quarter" idx="12"/>
          </p:nvPr>
        </p:nvSpPr>
        <p:spPr/>
        <p:txBody>
          <a:bodyPr/>
          <a:lstStyle/>
          <a:p>
            <a:fld id="{723B3C61-9534-404A-B1B4-4DCF5EE54D8B}" type="slidenum">
              <a:rPr lang="fr-FR" smtClean="0"/>
              <a:t>11</a:t>
            </a:fld>
            <a:endParaRPr lang="fr-FR"/>
          </a:p>
        </p:txBody>
      </p:sp>
    </p:spTree>
    <p:extLst>
      <p:ext uri="{BB962C8B-B14F-4D97-AF65-F5344CB8AC3E}">
        <p14:creationId xmlns:p14="http://schemas.microsoft.com/office/powerpoint/2010/main" val="38251904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CC730B-0BB4-4F0F-B416-A80837A120AE}"/>
              </a:ext>
            </a:extLst>
          </p:cNvPr>
          <p:cNvSpPr>
            <a:spLocks noGrp="1"/>
          </p:cNvSpPr>
          <p:nvPr>
            <p:ph type="title"/>
          </p:nvPr>
        </p:nvSpPr>
        <p:spPr/>
        <p:txBody>
          <a:bodyPr/>
          <a:lstStyle/>
          <a:p>
            <a:r>
              <a:rPr lang="fr-FR" b="1" dirty="0">
                <a:solidFill>
                  <a:srgbClr val="C00000"/>
                </a:solidFill>
                <a:latin typeface="Times New Roman" panose="02020603050405020304" pitchFamily="18" charset="0"/>
                <a:cs typeface="Times New Roman" panose="02020603050405020304" pitchFamily="18" charset="0"/>
              </a:rPr>
              <a:t>TYPE DE L’AUDITE DE SECURITE DE système d’information</a:t>
            </a:r>
            <a:endParaRPr lang="fr-FR" dirty="0"/>
          </a:p>
        </p:txBody>
      </p:sp>
      <p:sp>
        <p:nvSpPr>
          <p:cNvPr id="3" name="Espace réservé du contenu 2">
            <a:extLst>
              <a:ext uri="{FF2B5EF4-FFF2-40B4-BE49-F238E27FC236}">
                <a16:creationId xmlns:a16="http://schemas.microsoft.com/office/drawing/2014/main" id="{C48D04AC-C24F-405D-A9D5-68F58AABBCD7}"/>
              </a:ext>
            </a:extLst>
          </p:cNvPr>
          <p:cNvSpPr>
            <a:spLocks noGrp="1"/>
          </p:cNvSpPr>
          <p:nvPr>
            <p:ph idx="1"/>
          </p:nvPr>
        </p:nvSpPr>
        <p:spPr>
          <a:xfrm>
            <a:off x="430306" y="1952513"/>
            <a:ext cx="10820400" cy="4024125"/>
          </a:xfrm>
        </p:spPr>
        <p:txBody>
          <a:bodyPr/>
          <a:lstStyle/>
          <a:p>
            <a:pPr marL="0" indent="0">
              <a:buNone/>
            </a:pPr>
            <a:r>
              <a:rPr lang="fr-FR" sz="2800" b="1" dirty="0">
                <a:solidFill>
                  <a:schemeClr val="accent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Audit de boîte grise</a:t>
            </a:r>
            <a:r>
              <a:rPr lang="fr-FR" sz="2800" b="1" dirty="0">
                <a:solidFill>
                  <a:schemeClr val="accent1"/>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l'auditeur possède certaines connaissances sur le système, telles que son système d'exploitation et ses fonctionnalités de base, pour équilibrer la transparence complète d'un test de boîte blanche et les connaissances limitées d'un test de boîte noire.</a:t>
            </a:r>
            <a:endParaRPr lang="fr-FR" sz="2400" b="1" dirty="0">
              <a:solidFill>
                <a:schemeClr val="accent1"/>
              </a:solidFill>
              <a:latin typeface="Times New Roman" panose="02020603050405020304" pitchFamily="18" charset="0"/>
              <a:cs typeface="Times New Roman" panose="02020603050405020304" pitchFamily="18" charset="0"/>
            </a:endParaRPr>
          </a:p>
          <a:p>
            <a:pPr marL="0" indent="0">
              <a:buNone/>
            </a:pPr>
            <a:r>
              <a:rPr lang="fr-FR" sz="2800" b="1" dirty="0">
                <a:latin typeface="Times New Roman" panose="02020603050405020304" pitchFamily="18" charset="0"/>
                <a:cs typeface="Times New Roman" panose="02020603050405020304" pitchFamily="18" charset="0"/>
              </a:rPr>
              <a:t>Basé sur la méthodologie :</a:t>
            </a:r>
          </a:p>
          <a:p>
            <a:pPr marL="0" indent="0">
              <a:buNone/>
            </a:pPr>
            <a:r>
              <a:rPr lang="fr-FR" sz="2800" b="1" dirty="0">
                <a:solidFill>
                  <a:schemeClr val="accent4"/>
                </a:solidFill>
                <a:latin typeface="Times New Roman" panose="02020603050405020304" pitchFamily="18" charset="0"/>
                <a:cs typeface="Times New Roman" panose="02020603050405020304" pitchFamily="18" charset="0"/>
              </a:rPr>
              <a:t>Tests de vulnérabilité:</a:t>
            </a:r>
            <a:endParaRPr lang="fr-FR" sz="2800" b="1" dirty="0">
              <a:latin typeface="Times New Roman" panose="02020603050405020304" pitchFamily="18" charset="0"/>
              <a:cs typeface="Times New Roman" panose="02020603050405020304" pitchFamily="18" charset="0"/>
            </a:endParaRPr>
          </a:p>
          <a:p>
            <a:pPr marL="0" indent="0">
              <a:buNone/>
            </a:pPr>
            <a:r>
              <a:rPr lang="fr-FR" sz="2400" dirty="0">
                <a:latin typeface="Times New Roman" panose="02020603050405020304" pitchFamily="18" charset="0"/>
                <a:cs typeface="Times New Roman" panose="02020603050405020304" pitchFamily="18" charset="0"/>
              </a:rPr>
              <a:t>Cette approche utilise des outils automatisés pour analyser les systèmes et les applications à la recherche de faiblesses connues. C'est un bon point de départ pour identifier les failles de sécurité potentielles, mais elle peut générer des faux positifs.</a:t>
            </a:r>
          </a:p>
          <a:p>
            <a:endParaRPr lang="fr-FR" dirty="0"/>
          </a:p>
        </p:txBody>
      </p:sp>
      <p:sp>
        <p:nvSpPr>
          <p:cNvPr id="4" name="Espace réservé du pied de page 3">
            <a:extLst>
              <a:ext uri="{FF2B5EF4-FFF2-40B4-BE49-F238E27FC236}">
                <a16:creationId xmlns:a16="http://schemas.microsoft.com/office/drawing/2014/main" id="{D5DE95A2-7F68-4B2C-8A54-F830CE9AD0BA}"/>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DA17D0B9-4E67-4F34-9071-ED79BA59027A}"/>
              </a:ext>
            </a:extLst>
          </p:cNvPr>
          <p:cNvSpPr>
            <a:spLocks noGrp="1"/>
          </p:cNvSpPr>
          <p:nvPr>
            <p:ph type="sldNum" sz="quarter" idx="12"/>
          </p:nvPr>
        </p:nvSpPr>
        <p:spPr/>
        <p:txBody>
          <a:bodyPr/>
          <a:lstStyle/>
          <a:p>
            <a:fld id="{723B3C61-9534-404A-B1B4-4DCF5EE54D8B}" type="slidenum">
              <a:rPr lang="fr-FR" smtClean="0"/>
              <a:t>12</a:t>
            </a:fld>
            <a:endParaRPr lang="fr-FR"/>
          </a:p>
        </p:txBody>
      </p:sp>
    </p:spTree>
    <p:extLst>
      <p:ext uri="{BB962C8B-B14F-4D97-AF65-F5344CB8AC3E}">
        <p14:creationId xmlns:p14="http://schemas.microsoft.com/office/powerpoint/2010/main" val="4149703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5E441B-232F-4F96-BF5B-6C882C2DADD0}"/>
              </a:ext>
            </a:extLst>
          </p:cNvPr>
          <p:cNvSpPr>
            <a:spLocks noGrp="1"/>
          </p:cNvSpPr>
          <p:nvPr>
            <p:ph type="title"/>
          </p:nvPr>
        </p:nvSpPr>
        <p:spPr/>
        <p:txBody>
          <a:bodyPr>
            <a:normAutofit fontScale="90000"/>
          </a:bodyPr>
          <a:lstStyle/>
          <a:p>
            <a:pPr algn="ctr"/>
            <a:r>
              <a:rPr lang="fr-FR" dirty="0"/>
              <a:t> </a:t>
            </a:r>
            <a:r>
              <a:rPr lang="fr-FR" b="1" dirty="0">
                <a:solidFill>
                  <a:srgbClr val="C00000"/>
                </a:solidFill>
                <a:latin typeface="Times New Roman" panose="02020603050405020304" pitchFamily="18" charset="0"/>
                <a:cs typeface="Times New Roman" panose="02020603050405020304" pitchFamily="18" charset="0"/>
              </a:rPr>
              <a:t>TYPE DE L’AUDITE DE SECURITE DE système d’information</a:t>
            </a:r>
            <a:endParaRPr lang="fr-FR"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AC9997BD-F0AC-4459-8695-0D92CE1D943C}"/>
              </a:ext>
            </a:extLst>
          </p:cNvPr>
          <p:cNvSpPr>
            <a:spLocks noGrp="1"/>
          </p:cNvSpPr>
          <p:nvPr>
            <p:ph idx="1"/>
          </p:nvPr>
        </p:nvSpPr>
        <p:spPr>
          <a:xfrm>
            <a:off x="900953" y="2355925"/>
            <a:ext cx="10820400" cy="4024125"/>
          </a:xfrm>
        </p:spPr>
        <p:txBody>
          <a:bodyPr>
            <a:normAutofit/>
          </a:bodyPr>
          <a:lstStyle/>
          <a:p>
            <a:pPr marL="0" indent="0">
              <a:buNone/>
            </a:pPr>
            <a:r>
              <a:rPr lang="fr-FR" sz="2800" b="1" dirty="0">
                <a:solidFill>
                  <a:schemeClr val="accent4"/>
                </a:solidFill>
                <a:latin typeface="Times New Roman" panose="02020603050405020304" pitchFamily="18" charset="0"/>
                <a:cs typeface="Times New Roman" panose="02020603050405020304" pitchFamily="18" charset="0"/>
              </a:rPr>
              <a:t>Tests de pénétration: </a:t>
            </a:r>
            <a:r>
              <a:rPr lang="fr-FR" sz="2400" dirty="0">
                <a:latin typeface="Times New Roman" panose="02020603050405020304" pitchFamily="18" charset="0"/>
                <a:cs typeface="Times New Roman" panose="02020603050405020304" pitchFamily="18" charset="0"/>
              </a:rPr>
              <a:t>l'auditeur tente de prendre le contrôle de l'infrastructure de l'organisation en simulant une attaque réelle et en exploitant les vulnérabilités identifiées précédemment dans vos systèmes.</a:t>
            </a:r>
            <a:endParaRPr lang="fr-FR" sz="2400" b="1" dirty="0">
              <a:solidFill>
                <a:schemeClr val="accent4"/>
              </a:solidFill>
              <a:latin typeface="Times New Roman" panose="02020603050405020304" pitchFamily="18" charset="0"/>
              <a:cs typeface="Times New Roman" panose="02020603050405020304" pitchFamily="18" charset="0"/>
            </a:endParaRPr>
          </a:p>
          <a:p>
            <a:pPr marL="0" indent="0">
              <a:buNone/>
            </a:pPr>
            <a:r>
              <a:rPr lang="fr-FR" sz="2800" b="1" dirty="0">
                <a:solidFill>
                  <a:schemeClr val="accent4"/>
                </a:solidFill>
                <a:latin typeface="Times New Roman" panose="02020603050405020304" pitchFamily="18" charset="0"/>
                <a:cs typeface="Times New Roman" panose="02020603050405020304" pitchFamily="18" charset="0"/>
              </a:rPr>
              <a:t>Audits de conformité:  </a:t>
            </a:r>
            <a:r>
              <a:rPr lang="fr-FR" sz="2400" dirty="0">
                <a:latin typeface="Times New Roman" panose="02020603050405020304" pitchFamily="18" charset="0"/>
                <a:cs typeface="Times New Roman" panose="02020603050405020304" pitchFamily="18" charset="0"/>
              </a:rPr>
              <a:t>réalisés pour vérifier si une organisation respecte des normes ou réglementations de sécurité spécifiques établies par l'industrie ou les organismes gouvernementaux.</a:t>
            </a:r>
            <a:endParaRPr lang="fr-FR" sz="2400" b="1" dirty="0">
              <a:solidFill>
                <a:schemeClr val="accent4"/>
              </a:solidFill>
              <a:latin typeface="Times New Roman" panose="02020603050405020304" pitchFamily="18" charset="0"/>
              <a:cs typeface="Times New Roman" panose="02020603050405020304" pitchFamily="18" charset="0"/>
            </a:endParaRPr>
          </a:p>
          <a:p>
            <a:pPr marL="0" indent="0">
              <a:buNone/>
            </a:pPr>
            <a:r>
              <a:rPr lang="fr-FR" sz="2800" b="1" dirty="0">
                <a:solidFill>
                  <a:schemeClr val="accent4"/>
                </a:solidFill>
                <a:latin typeface="Times New Roman" panose="02020603050405020304" pitchFamily="18" charset="0"/>
                <a:cs typeface="Times New Roman" panose="02020603050405020304" pitchFamily="18" charset="0"/>
              </a:rPr>
              <a:t>Évaluations des risques: </a:t>
            </a:r>
            <a:r>
              <a:rPr lang="fr-FR" sz="2400" dirty="0">
                <a:latin typeface="Times New Roman" panose="02020603050405020304" pitchFamily="18" charset="0"/>
                <a:cs typeface="Times New Roman" panose="02020603050405020304" pitchFamily="18" charset="0"/>
              </a:rPr>
              <a:t>Bien qu’il ne s’agisse pas strictement d’un « audit », une évaluation des risques identifie les actifs critiques, analyse les menaces potentielles et évalue la probabilité et l’impact d’une attaque réussie.</a:t>
            </a:r>
          </a:p>
          <a:p>
            <a:pPr marL="0" indent="0">
              <a:buNone/>
            </a:pPr>
            <a:endParaRPr lang="fr-FR" sz="2800" b="1" dirty="0">
              <a:solidFill>
                <a:schemeClr val="accent4"/>
              </a:solidFill>
              <a:latin typeface="Times New Roman" panose="02020603050405020304" pitchFamily="18" charset="0"/>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61CBD878-7ACE-47AD-A463-4E0B21F93196}"/>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4BDB0030-3B81-4D50-BB43-B90ED6FDB977}"/>
              </a:ext>
            </a:extLst>
          </p:cNvPr>
          <p:cNvSpPr>
            <a:spLocks noGrp="1"/>
          </p:cNvSpPr>
          <p:nvPr>
            <p:ph type="sldNum" sz="quarter" idx="12"/>
          </p:nvPr>
        </p:nvSpPr>
        <p:spPr/>
        <p:txBody>
          <a:bodyPr/>
          <a:lstStyle/>
          <a:p>
            <a:fld id="{723B3C61-9534-404A-B1B4-4DCF5EE54D8B}" type="slidenum">
              <a:rPr lang="fr-FR" smtClean="0"/>
              <a:t>13</a:t>
            </a:fld>
            <a:endParaRPr lang="fr-FR"/>
          </a:p>
        </p:txBody>
      </p:sp>
    </p:spTree>
    <p:extLst>
      <p:ext uri="{BB962C8B-B14F-4D97-AF65-F5344CB8AC3E}">
        <p14:creationId xmlns:p14="http://schemas.microsoft.com/office/powerpoint/2010/main" val="2738220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5AEE26-C85F-4B9A-B168-436DE4D78AFF}"/>
              </a:ext>
            </a:extLst>
          </p:cNvPr>
          <p:cNvSpPr>
            <a:spLocks noGrp="1"/>
          </p:cNvSpPr>
          <p:nvPr>
            <p:ph type="title"/>
          </p:nvPr>
        </p:nvSpPr>
        <p:spPr/>
        <p:txBody>
          <a:bodyPr/>
          <a:lstStyle/>
          <a:p>
            <a:r>
              <a:rPr lang="fr-FR" b="1" dirty="0">
                <a:solidFill>
                  <a:srgbClr val="C00000"/>
                </a:solidFill>
                <a:latin typeface="Times New Roman" panose="02020603050405020304" pitchFamily="18" charset="0"/>
                <a:cs typeface="Times New Roman" panose="02020603050405020304" pitchFamily="18" charset="0"/>
              </a:rPr>
              <a:t>TYPE DE L’AUDITE DE SECURITE DE système d’information</a:t>
            </a:r>
            <a:endParaRPr lang="fr-FR" dirty="0"/>
          </a:p>
        </p:txBody>
      </p:sp>
      <p:sp>
        <p:nvSpPr>
          <p:cNvPr id="3" name="Espace réservé du contenu 2">
            <a:extLst>
              <a:ext uri="{FF2B5EF4-FFF2-40B4-BE49-F238E27FC236}">
                <a16:creationId xmlns:a16="http://schemas.microsoft.com/office/drawing/2014/main" id="{A007A6C7-7D91-43E0-BC4B-7777BF62E523}"/>
              </a:ext>
            </a:extLst>
          </p:cNvPr>
          <p:cNvSpPr>
            <a:spLocks noGrp="1"/>
          </p:cNvSpPr>
          <p:nvPr>
            <p:ph idx="1"/>
          </p:nvPr>
        </p:nvSpPr>
        <p:spPr/>
        <p:txBody>
          <a:bodyPr/>
          <a:lstStyle/>
          <a:p>
            <a:r>
              <a:rPr lang="fr-FR" sz="2400" b="1" dirty="0">
                <a:solidFill>
                  <a:schemeClr val="accent4"/>
                </a:solidFill>
                <a:latin typeface="Times New Roman" panose="02020603050405020304" pitchFamily="18" charset="0"/>
                <a:cs typeface="Times New Roman" panose="02020603050405020304" pitchFamily="18" charset="0"/>
              </a:rPr>
              <a:t>Questionnaires de diligence raisonnable</a:t>
            </a:r>
            <a:r>
              <a:rPr lang="fr-FR" sz="2000" b="1" dirty="0">
                <a:solidFill>
                  <a:schemeClr val="accent4"/>
                </a:solidFill>
                <a:latin typeface="Times New Roman" panose="02020603050405020304" pitchFamily="18" charset="0"/>
                <a:cs typeface="Times New Roman" panose="02020603050405020304" pitchFamily="18" charset="0"/>
              </a:rPr>
              <a:t>: </a:t>
            </a:r>
            <a:endParaRPr lang="fr-FR" sz="2000" dirty="0">
              <a:solidFill>
                <a:schemeClr val="accent4"/>
              </a:solidFill>
              <a:latin typeface="Times New Roman" panose="02020603050405020304" pitchFamily="18" charset="0"/>
              <a:cs typeface="Times New Roman" panose="02020603050405020304" pitchFamily="18" charset="0"/>
            </a:endParaRPr>
          </a:p>
          <a:p>
            <a:pPr marL="0" indent="0">
              <a:buNone/>
            </a:pPr>
            <a:r>
              <a:rPr lang="fr-FR" sz="2400" dirty="0">
                <a:latin typeface="Times New Roman" panose="02020603050405020304" pitchFamily="18" charset="0"/>
                <a:cs typeface="Times New Roman" panose="02020603050405020304" pitchFamily="18" charset="0"/>
              </a:rPr>
              <a:t>les questionnaires de diligence raisonnable, bien que précieux, sont comme des entretiens de sécurité : ils collectent des informations mais ne testent pas activement les contrôles ou ne découvrent pas les vulnérabilités et doivent être associés à des tests d'intrusion pour des résultats idéaux.</a:t>
            </a:r>
          </a:p>
          <a:p>
            <a:pPr marL="0" indent="0">
              <a:buNone/>
            </a:pPr>
            <a:endParaRPr lang="fr-FR" dirty="0"/>
          </a:p>
        </p:txBody>
      </p:sp>
      <p:sp>
        <p:nvSpPr>
          <p:cNvPr id="4" name="Espace réservé du pied de page 3">
            <a:extLst>
              <a:ext uri="{FF2B5EF4-FFF2-40B4-BE49-F238E27FC236}">
                <a16:creationId xmlns:a16="http://schemas.microsoft.com/office/drawing/2014/main" id="{92AEB0A3-9A02-4B37-8470-5EA6D35D21A1}"/>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CA13D091-8590-4E28-8597-D3FEC7FD9D77}"/>
              </a:ext>
            </a:extLst>
          </p:cNvPr>
          <p:cNvSpPr>
            <a:spLocks noGrp="1"/>
          </p:cNvSpPr>
          <p:nvPr>
            <p:ph type="sldNum" sz="quarter" idx="12"/>
          </p:nvPr>
        </p:nvSpPr>
        <p:spPr/>
        <p:txBody>
          <a:bodyPr/>
          <a:lstStyle/>
          <a:p>
            <a:fld id="{723B3C61-9534-404A-B1B4-4DCF5EE54D8B}" type="slidenum">
              <a:rPr lang="fr-FR" smtClean="0"/>
              <a:t>14</a:t>
            </a:fld>
            <a:endParaRPr lang="fr-FR"/>
          </a:p>
        </p:txBody>
      </p:sp>
    </p:spTree>
    <p:extLst>
      <p:ext uri="{BB962C8B-B14F-4D97-AF65-F5344CB8AC3E}">
        <p14:creationId xmlns:p14="http://schemas.microsoft.com/office/powerpoint/2010/main" val="208507599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1D7761-4FCF-42D8-9D14-665CBA4550BE}"/>
              </a:ext>
            </a:extLst>
          </p:cNvPr>
          <p:cNvSpPr>
            <a:spLocks noGrp="1"/>
          </p:cNvSpPr>
          <p:nvPr>
            <p:ph type="title"/>
          </p:nvPr>
        </p:nvSpPr>
        <p:spPr/>
        <p:txBody>
          <a:bodyPr>
            <a:normAutofit fontScale="90000"/>
          </a:bodyPr>
          <a:lstStyle/>
          <a:p>
            <a:pPr algn="ctr"/>
            <a:r>
              <a:rPr lang="fr-FR" sz="3600" b="1" dirty="0">
                <a:solidFill>
                  <a:srgbClr val="C00000"/>
                </a:solidFill>
                <a:latin typeface="Times New Roman" panose="02020603050405020304" pitchFamily="18" charset="0"/>
                <a:cs typeface="Times New Roman" panose="02020603050405020304" pitchFamily="18" charset="0"/>
              </a:rPr>
              <a:t>Cycle de vie d’audit de sécurité de système informatique</a:t>
            </a:r>
            <a:endParaRPr lang="fr-FR" sz="36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AB8EE2E6-33E5-4CCE-B7FB-B013126CBCF7}"/>
              </a:ext>
            </a:extLst>
          </p:cNvPr>
          <p:cNvSpPr>
            <a:spLocks noGrp="1"/>
          </p:cNvSpPr>
          <p:nvPr>
            <p:ph idx="1"/>
          </p:nvPr>
        </p:nvSpPr>
        <p:spPr>
          <a:xfrm>
            <a:off x="1476483" y="1871977"/>
            <a:ext cx="9603275" cy="3450613"/>
          </a:xfrm>
        </p:spPr>
        <p:txBody>
          <a:bodyPr/>
          <a:lstStyle/>
          <a:p>
            <a:pPr marL="0" indent="0">
              <a:buNone/>
            </a:pPr>
            <a:endParaRPr lang="fr-FR" sz="2400" b="1" dirty="0"/>
          </a:p>
          <a:p>
            <a:pPr marL="0" indent="0">
              <a:buNone/>
            </a:pPr>
            <a:r>
              <a:rPr lang="fr-FR" sz="2400" dirty="0">
                <a:latin typeface="Times New Roman" panose="02020603050405020304" pitchFamily="18" charset="0"/>
                <a:cs typeface="Times New Roman" panose="02020603050405020304" pitchFamily="18" charset="0"/>
              </a:rPr>
              <a:t> Le processus d’audit de sécurité est un processus répétitif et perpétuel. Il décrit un cycle de vie qui est schématisé à l’aide de la figure suivante :</a:t>
            </a:r>
          </a:p>
        </p:txBody>
      </p:sp>
      <p:sp>
        <p:nvSpPr>
          <p:cNvPr id="4" name="Ellipse 3">
            <a:extLst>
              <a:ext uri="{FF2B5EF4-FFF2-40B4-BE49-F238E27FC236}">
                <a16:creationId xmlns:a16="http://schemas.microsoft.com/office/drawing/2014/main" id="{C3A71AA7-5610-41CD-817B-41ED65F083DE}"/>
              </a:ext>
            </a:extLst>
          </p:cNvPr>
          <p:cNvSpPr/>
          <p:nvPr/>
        </p:nvSpPr>
        <p:spPr>
          <a:xfrm flipH="1">
            <a:off x="3034240" y="3443287"/>
            <a:ext cx="2168846" cy="1182464"/>
          </a:xfrm>
          <a:prstGeom prst="ellipse">
            <a:avLst/>
          </a:prstGeom>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Système D’information Objet de l’audit</a:t>
            </a:r>
          </a:p>
        </p:txBody>
      </p:sp>
      <p:sp>
        <p:nvSpPr>
          <p:cNvPr id="5" name="Ellipse 4">
            <a:extLst>
              <a:ext uri="{FF2B5EF4-FFF2-40B4-BE49-F238E27FC236}">
                <a16:creationId xmlns:a16="http://schemas.microsoft.com/office/drawing/2014/main" id="{0BCF9D23-ED3C-4D68-8DAE-7C297BEFFDD5}"/>
              </a:ext>
            </a:extLst>
          </p:cNvPr>
          <p:cNvSpPr/>
          <p:nvPr/>
        </p:nvSpPr>
        <p:spPr>
          <a:xfrm>
            <a:off x="8916835" y="3471863"/>
            <a:ext cx="2486025" cy="1287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Audits organisationnel &amp;</a:t>
            </a:r>
          </a:p>
          <a:p>
            <a:pPr algn="ctr"/>
            <a:r>
              <a:rPr lang="fr-FR" dirty="0"/>
              <a:t>Physique</a:t>
            </a:r>
          </a:p>
        </p:txBody>
      </p:sp>
      <p:sp>
        <p:nvSpPr>
          <p:cNvPr id="6" name="Ellipse 5">
            <a:extLst>
              <a:ext uri="{FF2B5EF4-FFF2-40B4-BE49-F238E27FC236}">
                <a16:creationId xmlns:a16="http://schemas.microsoft.com/office/drawing/2014/main" id="{8913D90E-25D2-48BD-ABB2-D78C721D983B}"/>
              </a:ext>
            </a:extLst>
          </p:cNvPr>
          <p:cNvSpPr/>
          <p:nvPr/>
        </p:nvSpPr>
        <p:spPr>
          <a:xfrm>
            <a:off x="2952507" y="5163951"/>
            <a:ext cx="2168847" cy="8895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Audit Intrusions</a:t>
            </a:r>
          </a:p>
        </p:txBody>
      </p:sp>
      <p:sp>
        <p:nvSpPr>
          <p:cNvPr id="7" name="Ellipse 6">
            <a:extLst>
              <a:ext uri="{FF2B5EF4-FFF2-40B4-BE49-F238E27FC236}">
                <a16:creationId xmlns:a16="http://schemas.microsoft.com/office/drawing/2014/main" id="{7C39A186-67F7-4910-91E8-8403E084EA82}"/>
              </a:ext>
            </a:extLst>
          </p:cNvPr>
          <p:cNvSpPr/>
          <p:nvPr/>
        </p:nvSpPr>
        <p:spPr>
          <a:xfrm>
            <a:off x="9231767" y="4986338"/>
            <a:ext cx="2143125" cy="11882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Audit Technique</a:t>
            </a:r>
          </a:p>
        </p:txBody>
      </p:sp>
      <p:sp>
        <p:nvSpPr>
          <p:cNvPr id="11" name="Flèche : droite 10">
            <a:extLst>
              <a:ext uri="{FF2B5EF4-FFF2-40B4-BE49-F238E27FC236}">
                <a16:creationId xmlns:a16="http://schemas.microsoft.com/office/drawing/2014/main" id="{1661845E-991B-40EF-8D6B-81D7ECA8CC08}"/>
              </a:ext>
            </a:extLst>
          </p:cNvPr>
          <p:cNvSpPr/>
          <p:nvPr/>
        </p:nvSpPr>
        <p:spPr>
          <a:xfrm>
            <a:off x="5157787" y="3986213"/>
            <a:ext cx="3771901" cy="242887"/>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gauche 11">
            <a:extLst>
              <a:ext uri="{FF2B5EF4-FFF2-40B4-BE49-F238E27FC236}">
                <a16:creationId xmlns:a16="http://schemas.microsoft.com/office/drawing/2014/main" id="{F313AC84-05C6-4475-931B-F47738141209}"/>
              </a:ext>
            </a:extLst>
          </p:cNvPr>
          <p:cNvSpPr/>
          <p:nvPr/>
        </p:nvSpPr>
        <p:spPr>
          <a:xfrm>
            <a:off x="5054103" y="5549566"/>
            <a:ext cx="4177664" cy="24288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haut 12">
            <a:extLst>
              <a:ext uri="{FF2B5EF4-FFF2-40B4-BE49-F238E27FC236}">
                <a16:creationId xmlns:a16="http://schemas.microsoft.com/office/drawing/2014/main" id="{B4FFF89F-EE72-4EA4-9520-0C22EEA2797B}"/>
              </a:ext>
            </a:extLst>
          </p:cNvPr>
          <p:cNvSpPr/>
          <p:nvPr/>
        </p:nvSpPr>
        <p:spPr>
          <a:xfrm>
            <a:off x="3873338" y="4625751"/>
            <a:ext cx="327187" cy="51702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bas 13">
            <a:extLst>
              <a:ext uri="{FF2B5EF4-FFF2-40B4-BE49-F238E27FC236}">
                <a16:creationId xmlns:a16="http://schemas.microsoft.com/office/drawing/2014/main" id="{1A9E51E7-2A87-4A0E-AA71-54A7C36FEA3D}"/>
              </a:ext>
            </a:extLst>
          </p:cNvPr>
          <p:cNvSpPr/>
          <p:nvPr/>
        </p:nvSpPr>
        <p:spPr>
          <a:xfrm>
            <a:off x="10015538" y="4625751"/>
            <a:ext cx="327187" cy="3573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7">
            <a:extLst>
              <a:ext uri="{FF2B5EF4-FFF2-40B4-BE49-F238E27FC236}">
                <a16:creationId xmlns:a16="http://schemas.microsoft.com/office/drawing/2014/main" id="{52D028FD-ABB4-4F1D-B6B9-B053FBD92611}"/>
              </a:ext>
            </a:extLst>
          </p:cNvPr>
          <p:cNvSpPr>
            <a:spLocks noGrp="1"/>
          </p:cNvSpPr>
          <p:nvPr>
            <p:ph type="ftr" sz="quarter" idx="11"/>
          </p:nvPr>
        </p:nvSpPr>
        <p:spPr/>
        <p:txBody>
          <a:bodyPr/>
          <a:lstStyle/>
          <a:p>
            <a:r>
              <a:rPr lang="fr-FR"/>
              <a:t>1</a:t>
            </a:r>
          </a:p>
        </p:txBody>
      </p:sp>
      <p:sp>
        <p:nvSpPr>
          <p:cNvPr id="9" name="Espace réservé du numéro de diapositive 8">
            <a:extLst>
              <a:ext uri="{FF2B5EF4-FFF2-40B4-BE49-F238E27FC236}">
                <a16:creationId xmlns:a16="http://schemas.microsoft.com/office/drawing/2014/main" id="{C9B4EC76-EFDC-4F93-8B3A-280B8735EAC7}"/>
              </a:ext>
            </a:extLst>
          </p:cNvPr>
          <p:cNvSpPr>
            <a:spLocks noGrp="1"/>
          </p:cNvSpPr>
          <p:nvPr>
            <p:ph type="sldNum" sz="quarter" idx="12"/>
          </p:nvPr>
        </p:nvSpPr>
        <p:spPr/>
        <p:txBody>
          <a:bodyPr/>
          <a:lstStyle/>
          <a:p>
            <a:fld id="{723B3C61-9534-404A-B1B4-4DCF5EE54D8B}" type="slidenum">
              <a:rPr lang="fr-FR" smtClean="0"/>
              <a:t>15</a:t>
            </a:fld>
            <a:endParaRPr lang="fr-FR"/>
          </a:p>
        </p:txBody>
      </p:sp>
    </p:spTree>
    <p:extLst>
      <p:ext uri="{BB962C8B-B14F-4D97-AF65-F5344CB8AC3E}">
        <p14:creationId xmlns:p14="http://schemas.microsoft.com/office/powerpoint/2010/main" val="273621325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8E5970-2CC4-4587-A247-83FA858A46A0}"/>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Cycle de vie d’audit de sécurité de système informatique</a:t>
            </a:r>
            <a:endParaRPr lang="fr-FR" dirty="0"/>
          </a:p>
        </p:txBody>
      </p:sp>
      <p:sp>
        <p:nvSpPr>
          <p:cNvPr id="3" name="Espace réservé du contenu 2">
            <a:extLst>
              <a:ext uri="{FF2B5EF4-FFF2-40B4-BE49-F238E27FC236}">
                <a16:creationId xmlns:a16="http://schemas.microsoft.com/office/drawing/2014/main" id="{F054A673-4C38-47EF-992A-E02BF62856FD}"/>
              </a:ext>
            </a:extLst>
          </p:cNvPr>
          <p:cNvSpPr>
            <a:spLocks noGrp="1"/>
          </p:cNvSpPr>
          <p:nvPr>
            <p:ph idx="1"/>
          </p:nvPr>
        </p:nvSpPr>
        <p:spPr/>
        <p:txBody>
          <a:bodyPr>
            <a:normAutofit/>
          </a:bodyPr>
          <a:lstStyle/>
          <a:p>
            <a:pPr marL="0" indent="0">
              <a:buNone/>
            </a:pPr>
            <a:r>
              <a:rPr lang="fr-FR" sz="2400" dirty="0">
                <a:latin typeface="Times New Roman" panose="02020603050405020304" pitchFamily="18" charset="0"/>
                <a:cs typeface="Times New Roman" panose="02020603050405020304" pitchFamily="18" charset="0"/>
              </a:rPr>
              <a:t>Le cycle de vie d’audit de sécurité L’audit de sécurité informatique se présente essentiellement suivant deux parties comme le présente le précédent schéma : </a:t>
            </a:r>
          </a:p>
          <a:p>
            <a:pPr marL="0" indent="0">
              <a:buNone/>
            </a:pPr>
            <a:r>
              <a:rPr lang="fr-FR" sz="2400" dirty="0">
                <a:latin typeface="Times New Roman" panose="02020603050405020304" pitchFamily="18" charset="0"/>
                <a:cs typeface="Times New Roman" panose="02020603050405020304" pitchFamily="18" charset="0"/>
              </a:rPr>
              <a:t>L’audit organisationnel et physique</a:t>
            </a:r>
          </a:p>
          <a:p>
            <a:pPr marL="0" indent="0">
              <a:buNone/>
            </a:pPr>
            <a:r>
              <a:rPr lang="fr-FR" sz="2400" dirty="0">
                <a:latin typeface="Times New Roman" panose="02020603050405020304" pitchFamily="18" charset="0"/>
                <a:cs typeface="Times New Roman" panose="02020603050405020304" pitchFamily="18" charset="0"/>
              </a:rPr>
              <a:t> - L’audit technique</a:t>
            </a:r>
          </a:p>
          <a:p>
            <a:pPr marL="0" indent="0">
              <a:buNone/>
            </a:pPr>
            <a:r>
              <a:rPr lang="fr-FR" sz="2400" dirty="0">
                <a:latin typeface="Times New Roman" panose="02020603050405020304" pitchFamily="18" charset="0"/>
                <a:cs typeface="Times New Roman" panose="02020603050405020304" pitchFamily="18" charset="0"/>
              </a:rPr>
              <a:t> Une troisième partie optionnelle peut être également considérée. Il s’agit de l’audit Intrusif </a:t>
            </a:r>
          </a:p>
          <a:p>
            <a:pPr marL="0" indent="0">
              <a:buNone/>
            </a:pPr>
            <a:r>
              <a:rPr lang="fr-FR" sz="2400" dirty="0">
                <a:latin typeface="Times New Roman" panose="02020603050405020304" pitchFamily="18" charset="0"/>
                <a:cs typeface="Times New Roman" panose="02020603050405020304" pitchFamily="18" charset="0"/>
              </a:rPr>
              <a:t> Enfin un rapport d’audit est établi à l’issue de ces étapes. Ce rapport présente une synthèse de l’audit. Il présente également les recommandations à mettre en place pour corriger les défaillances organisationnelles ou techniques constatées. </a:t>
            </a:r>
          </a:p>
          <a:p>
            <a:endParaRPr lang="fr-FR" dirty="0"/>
          </a:p>
        </p:txBody>
      </p:sp>
      <p:sp>
        <p:nvSpPr>
          <p:cNvPr id="4" name="Espace réservé du pied de page 3">
            <a:extLst>
              <a:ext uri="{FF2B5EF4-FFF2-40B4-BE49-F238E27FC236}">
                <a16:creationId xmlns:a16="http://schemas.microsoft.com/office/drawing/2014/main" id="{594FDE05-3D17-42ED-94C5-FDC7A593AE68}"/>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0E5B61A3-5DD6-4A67-8A7D-10A8B50C0EA9}"/>
              </a:ext>
            </a:extLst>
          </p:cNvPr>
          <p:cNvSpPr>
            <a:spLocks noGrp="1"/>
          </p:cNvSpPr>
          <p:nvPr>
            <p:ph type="sldNum" sz="quarter" idx="12"/>
          </p:nvPr>
        </p:nvSpPr>
        <p:spPr/>
        <p:txBody>
          <a:bodyPr/>
          <a:lstStyle/>
          <a:p>
            <a:fld id="{723B3C61-9534-404A-B1B4-4DCF5EE54D8B}" type="slidenum">
              <a:rPr lang="fr-FR" smtClean="0"/>
              <a:t>16</a:t>
            </a:fld>
            <a:endParaRPr lang="fr-FR"/>
          </a:p>
        </p:txBody>
      </p:sp>
    </p:spTree>
    <p:extLst>
      <p:ext uri="{BB962C8B-B14F-4D97-AF65-F5344CB8AC3E}">
        <p14:creationId xmlns:p14="http://schemas.microsoft.com/office/powerpoint/2010/main" val="159937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98289-20D4-4ADD-8D28-8925475805F4}"/>
              </a:ext>
            </a:extLst>
          </p:cNvPr>
          <p:cNvSpPr>
            <a:spLocks noGrp="1"/>
          </p:cNvSpPr>
          <p:nvPr>
            <p:ph type="title"/>
          </p:nvPr>
        </p:nvSpPr>
        <p:spPr>
          <a:xfrm>
            <a:off x="2478741" y="639315"/>
            <a:ext cx="8610600" cy="1293028"/>
          </a:xfrm>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 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44DA1C12-40C3-49B7-A1ED-ED313CAE9291}"/>
              </a:ext>
            </a:extLst>
          </p:cNvPr>
          <p:cNvSpPr>
            <a:spLocks noGrp="1"/>
          </p:cNvSpPr>
          <p:nvPr>
            <p:ph idx="1"/>
          </p:nvPr>
        </p:nvSpPr>
        <p:spPr>
          <a:xfrm>
            <a:off x="887505" y="2194560"/>
            <a:ext cx="10820400" cy="4024125"/>
          </a:xfrm>
        </p:spPr>
        <p:txBody>
          <a:bodyPr>
            <a:normAutofit/>
          </a:bodyPr>
          <a:lstStyle/>
          <a:p>
            <a:pPr marL="0" indent="0">
              <a:buNone/>
            </a:pPr>
            <a:r>
              <a:rPr lang="fr-FR" sz="2400" dirty="0">
                <a:latin typeface="Times New Roman" panose="02020603050405020304" pitchFamily="18" charset="0"/>
                <a:cs typeface="Times New Roman" panose="02020603050405020304" pitchFamily="18" charset="0"/>
              </a:rPr>
              <a:t>Nous pouvons schématiser l’ensemble du processus d’audit comme suite : </a:t>
            </a:r>
          </a:p>
        </p:txBody>
      </p:sp>
      <p:sp>
        <p:nvSpPr>
          <p:cNvPr id="6" name="Organigramme : Alternative 5">
            <a:extLst>
              <a:ext uri="{FF2B5EF4-FFF2-40B4-BE49-F238E27FC236}">
                <a16:creationId xmlns:a16="http://schemas.microsoft.com/office/drawing/2014/main" id="{22089C52-45D9-4482-B021-A1220970038A}"/>
              </a:ext>
            </a:extLst>
          </p:cNvPr>
          <p:cNvSpPr/>
          <p:nvPr/>
        </p:nvSpPr>
        <p:spPr>
          <a:xfrm>
            <a:off x="4453217" y="3743879"/>
            <a:ext cx="3657600" cy="406644"/>
          </a:xfrm>
          <a:prstGeom prst="flowChartAlternateProcess">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Préparation de l’audit</a:t>
            </a:r>
          </a:p>
        </p:txBody>
      </p:sp>
      <p:sp>
        <p:nvSpPr>
          <p:cNvPr id="7" name="Organigramme : Alternative 6">
            <a:extLst>
              <a:ext uri="{FF2B5EF4-FFF2-40B4-BE49-F238E27FC236}">
                <a16:creationId xmlns:a16="http://schemas.microsoft.com/office/drawing/2014/main" id="{141EE700-B661-4F80-97E6-67EA96F802B1}"/>
              </a:ext>
            </a:extLst>
          </p:cNvPr>
          <p:cNvSpPr/>
          <p:nvPr/>
        </p:nvSpPr>
        <p:spPr>
          <a:xfrm>
            <a:off x="4419600" y="3043517"/>
            <a:ext cx="3657600" cy="43814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Définition de la charte d’audit</a:t>
            </a:r>
          </a:p>
        </p:txBody>
      </p:sp>
      <p:sp>
        <p:nvSpPr>
          <p:cNvPr id="8" name="Organigramme : Alternative 7">
            <a:extLst>
              <a:ext uri="{FF2B5EF4-FFF2-40B4-BE49-F238E27FC236}">
                <a16:creationId xmlns:a16="http://schemas.microsoft.com/office/drawing/2014/main" id="{624DDB6B-286B-4AE8-BF92-0DE8D37F2961}"/>
              </a:ext>
            </a:extLst>
          </p:cNvPr>
          <p:cNvSpPr/>
          <p:nvPr/>
        </p:nvSpPr>
        <p:spPr>
          <a:xfrm>
            <a:off x="4453217" y="4379720"/>
            <a:ext cx="3657600" cy="40664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Audit organisationnel et Physique</a:t>
            </a:r>
          </a:p>
        </p:txBody>
      </p:sp>
      <p:sp>
        <p:nvSpPr>
          <p:cNvPr id="9" name="Organigramme : Alternative 8">
            <a:extLst>
              <a:ext uri="{FF2B5EF4-FFF2-40B4-BE49-F238E27FC236}">
                <a16:creationId xmlns:a16="http://schemas.microsoft.com/office/drawing/2014/main" id="{C72033DB-DEEB-4D35-9D4E-6BC447A0B3C4}"/>
              </a:ext>
            </a:extLst>
          </p:cNvPr>
          <p:cNvSpPr/>
          <p:nvPr/>
        </p:nvSpPr>
        <p:spPr>
          <a:xfrm>
            <a:off x="4453217" y="5018248"/>
            <a:ext cx="3657600" cy="4412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Audit technique</a:t>
            </a:r>
          </a:p>
        </p:txBody>
      </p:sp>
      <p:sp>
        <p:nvSpPr>
          <p:cNvPr id="10" name="Organigramme : Alternative 9">
            <a:extLst>
              <a:ext uri="{FF2B5EF4-FFF2-40B4-BE49-F238E27FC236}">
                <a16:creationId xmlns:a16="http://schemas.microsoft.com/office/drawing/2014/main" id="{04DC748F-9FB9-4AC4-9657-548AF82FA0BB}"/>
              </a:ext>
            </a:extLst>
          </p:cNvPr>
          <p:cNvSpPr/>
          <p:nvPr/>
        </p:nvSpPr>
        <p:spPr>
          <a:xfrm>
            <a:off x="4453217" y="5672068"/>
            <a:ext cx="3657600" cy="4412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Test d’</a:t>
            </a:r>
            <a:r>
              <a:rPr lang="fr-FR" dirty="0" err="1"/>
              <a:t>instrusion</a:t>
            </a:r>
            <a:endParaRPr lang="fr-FR" dirty="0"/>
          </a:p>
        </p:txBody>
      </p:sp>
      <p:sp>
        <p:nvSpPr>
          <p:cNvPr id="11" name="Organigramme : Alternative 10">
            <a:extLst>
              <a:ext uri="{FF2B5EF4-FFF2-40B4-BE49-F238E27FC236}">
                <a16:creationId xmlns:a16="http://schemas.microsoft.com/office/drawing/2014/main" id="{CFFF4F0C-F683-4E8B-BD03-46729B706CC4}"/>
              </a:ext>
            </a:extLst>
          </p:cNvPr>
          <p:cNvSpPr/>
          <p:nvPr/>
        </p:nvSpPr>
        <p:spPr>
          <a:xfrm>
            <a:off x="4466664" y="6325888"/>
            <a:ext cx="3657600" cy="43798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Rapport de synthèse et </a:t>
            </a:r>
            <a:r>
              <a:rPr lang="fr-FR" dirty="0" err="1"/>
              <a:t>recommadation</a:t>
            </a:r>
            <a:endParaRPr lang="fr-FR" dirty="0"/>
          </a:p>
        </p:txBody>
      </p:sp>
      <p:sp>
        <p:nvSpPr>
          <p:cNvPr id="12" name="Flèche : bas 11">
            <a:extLst>
              <a:ext uri="{FF2B5EF4-FFF2-40B4-BE49-F238E27FC236}">
                <a16:creationId xmlns:a16="http://schemas.microsoft.com/office/drawing/2014/main" id="{AB32A5C4-FB52-47E8-ADA4-530A623F9DC7}"/>
              </a:ext>
            </a:extLst>
          </p:cNvPr>
          <p:cNvSpPr/>
          <p:nvPr/>
        </p:nvSpPr>
        <p:spPr>
          <a:xfrm>
            <a:off x="6096000" y="3513338"/>
            <a:ext cx="89647" cy="198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 bas 12">
            <a:extLst>
              <a:ext uri="{FF2B5EF4-FFF2-40B4-BE49-F238E27FC236}">
                <a16:creationId xmlns:a16="http://schemas.microsoft.com/office/drawing/2014/main" id="{E2D862B9-C025-4527-8A7D-962E20D2A093}"/>
              </a:ext>
            </a:extLst>
          </p:cNvPr>
          <p:cNvSpPr/>
          <p:nvPr/>
        </p:nvSpPr>
        <p:spPr>
          <a:xfrm>
            <a:off x="6096000" y="4150523"/>
            <a:ext cx="45719" cy="2125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bas 13">
            <a:extLst>
              <a:ext uri="{FF2B5EF4-FFF2-40B4-BE49-F238E27FC236}">
                <a16:creationId xmlns:a16="http://schemas.microsoft.com/office/drawing/2014/main" id="{EBF89133-9167-4D42-8DA6-4F3277447461}"/>
              </a:ext>
            </a:extLst>
          </p:cNvPr>
          <p:cNvSpPr/>
          <p:nvPr/>
        </p:nvSpPr>
        <p:spPr>
          <a:xfrm>
            <a:off x="6096000" y="4787707"/>
            <a:ext cx="45719" cy="2305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7DCD2112-310E-4D17-9BCB-8A1675D69993}"/>
              </a:ext>
            </a:extLst>
          </p:cNvPr>
          <p:cNvSpPr/>
          <p:nvPr/>
        </p:nvSpPr>
        <p:spPr>
          <a:xfrm>
            <a:off x="6096000" y="5459506"/>
            <a:ext cx="45719" cy="2305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bas 15">
            <a:extLst>
              <a:ext uri="{FF2B5EF4-FFF2-40B4-BE49-F238E27FC236}">
                <a16:creationId xmlns:a16="http://schemas.microsoft.com/office/drawing/2014/main" id="{BAC7ACA1-CF60-4CF2-BA2C-2A3F12E24C25}"/>
              </a:ext>
            </a:extLst>
          </p:cNvPr>
          <p:cNvSpPr/>
          <p:nvPr/>
        </p:nvSpPr>
        <p:spPr>
          <a:xfrm>
            <a:off x="6096000" y="6113326"/>
            <a:ext cx="45719" cy="2125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pied de page 3">
            <a:extLst>
              <a:ext uri="{FF2B5EF4-FFF2-40B4-BE49-F238E27FC236}">
                <a16:creationId xmlns:a16="http://schemas.microsoft.com/office/drawing/2014/main" id="{CB6F3A74-4708-4341-8D74-BAC04A5678CF}"/>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E905708F-6CA9-421C-A318-3241FBEC3B00}"/>
              </a:ext>
            </a:extLst>
          </p:cNvPr>
          <p:cNvSpPr>
            <a:spLocks noGrp="1"/>
          </p:cNvSpPr>
          <p:nvPr>
            <p:ph type="sldNum" sz="quarter" idx="12"/>
          </p:nvPr>
        </p:nvSpPr>
        <p:spPr/>
        <p:txBody>
          <a:bodyPr/>
          <a:lstStyle/>
          <a:p>
            <a:fld id="{723B3C61-9534-404A-B1B4-4DCF5EE54D8B}" type="slidenum">
              <a:rPr lang="fr-FR" smtClean="0"/>
              <a:t>17</a:t>
            </a:fld>
            <a:endParaRPr lang="fr-FR"/>
          </a:p>
        </p:txBody>
      </p:sp>
    </p:spTree>
    <p:extLst>
      <p:ext uri="{BB962C8B-B14F-4D97-AF65-F5344CB8AC3E}">
        <p14:creationId xmlns:p14="http://schemas.microsoft.com/office/powerpoint/2010/main" val="45510827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77D2F-47E0-4539-A0AC-4BDC3EDB1501}"/>
              </a:ext>
            </a:extLst>
          </p:cNvPr>
          <p:cNvSpPr>
            <a:spLocks noGrp="1"/>
          </p:cNvSpPr>
          <p:nvPr>
            <p:ph type="title"/>
          </p:nvPr>
        </p:nvSpPr>
        <p:spPr/>
        <p:txBody>
          <a:bodyPr>
            <a:normAutofit fontScale="90000"/>
          </a:bodyPr>
          <a:lstStyle/>
          <a:p>
            <a:pPr algn="ctr"/>
            <a:r>
              <a:rPr lang="fr-FR" sz="3600"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sz="3600" b="1" dirty="0">
              <a:latin typeface="Times New Roman" panose="02020603050405020304" pitchFamily="18" charset="0"/>
              <a:cs typeface="Times New Roman" panose="02020603050405020304" pitchFamily="18" charset="0"/>
            </a:endParaRPr>
          </a:p>
        </p:txBody>
      </p:sp>
      <p:sp>
        <p:nvSpPr>
          <p:cNvPr id="9" name="Espace réservé du contenu 8">
            <a:extLst>
              <a:ext uri="{FF2B5EF4-FFF2-40B4-BE49-F238E27FC236}">
                <a16:creationId xmlns:a16="http://schemas.microsoft.com/office/drawing/2014/main" id="{B9EE3E0C-9678-4611-8A31-00E66C07D777}"/>
              </a:ext>
            </a:extLst>
          </p:cNvPr>
          <p:cNvSpPr>
            <a:spLocks noGrp="1"/>
          </p:cNvSpPr>
          <p:nvPr>
            <p:ph idx="1"/>
          </p:nvPr>
        </p:nvSpPr>
        <p:spPr/>
        <p:txBody>
          <a:bodyPr>
            <a:normAutofit lnSpcReduction="10000"/>
          </a:bodyPr>
          <a:lstStyle/>
          <a:p>
            <a:pPr marL="0" indent="0">
              <a:buNone/>
            </a:pPr>
            <a:r>
              <a:rPr lang="fr-FR" dirty="0"/>
              <a:t> </a:t>
            </a:r>
            <a:r>
              <a:rPr lang="fr-FR" sz="2800" b="1" dirty="0">
                <a:latin typeface="Times New Roman" panose="02020603050405020304" pitchFamily="18" charset="0"/>
                <a:cs typeface="Times New Roman" panose="02020603050405020304" pitchFamily="18" charset="0"/>
              </a:rPr>
              <a:t>Définition de la charte d'audit:</a:t>
            </a:r>
          </a:p>
          <a:p>
            <a:pPr marL="0" indent="0">
              <a:buNone/>
            </a:pPr>
            <a:r>
              <a:rPr lang="fr-FR" sz="2400" dirty="0">
                <a:latin typeface="Times New Roman" panose="02020603050405020304" pitchFamily="18" charset="0"/>
                <a:cs typeface="Times New Roman" panose="02020603050405020304" pitchFamily="18" charset="0"/>
              </a:rPr>
              <a:t>Avant de procéder à une mission audit, une chartre d'audit doit être réalisée, elle a pour objet de définir la fonction de l'audit, les limites et modalités de son interventions, ses responsabilités ainsi que les principes régissant les relations entre les auditeurs et les audités. Elle fixe également les qualités professionnelles et morales requises des auditeurs.</a:t>
            </a:r>
          </a:p>
          <a:p>
            <a:pPr marL="0" indent="0">
              <a:buNone/>
            </a:pPr>
            <a:r>
              <a:rPr lang="fr-FR" sz="3000" b="1" dirty="0">
                <a:latin typeface="Times New Roman" panose="02020603050405020304" pitchFamily="18" charset="0"/>
                <a:cs typeface="Times New Roman" panose="02020603050405020304" pitchFamily="18" charset="0"/>
              </a:rPr>
              <a:t>Préparation de l’audit:</a:t>
            </a:r>
          </a:p>
          <a:p>
            <a:pPr marL="0" indent="0">
              <a:buNone/>
            </a:pPr>
            <a:r>
              <a:rPr lang="fr-FR" dirty="0"/>
              <a:t> </a:t>
            </a:r>
            <a:r>
              <a:rPr lang="fr-FR" sz="2400" dirty="0">
                <a:latin typeface="Times New Roman" panose="02020603050405020304" pitchFamily="18" charset="0"/>
                <a:cs typeface="Times New Roman" panose="02020603050405020304" pitchFamily="18" charset="0"/>
              </a:rPr>
              <a:t>Cette phase est aussi appelée phase de pré audit. Elle constitue une phase importante pour la réalisation de l’audit sur terrain. En effet, c’est au cours de cette phase que se dessinent les grands axes qui devront être suivis lors de l’audit sur terrain. Elle se manifeste par des rencontres entre auditeurs et responsables de l’organisme à auditer.</a:t>
            </a:r>
          </a:p>
        </p:txBody>
      </p:sp>
      <p:sp>
        <p:nvSpPr>
          <p:cNvPr id="3" name="Espace réservé du pied de page 2">
            <a:extLst>
              <a:ext uri="{FF2B5EF4-FFF2-40B4-BE49-F238E27FC236}">
                <a16:creationId xmlns:a16="http://schemas.microsoft.com/office/drawing/2014/main" id="{F75844EA-7568-4992-B46F-1D26B7F2A369}"/>
              </a:ext>
            </a:extLst>
          </p:cNvPr>
          <p:cNvSpPr>
            <a:spLocks noGrp="1"/>
          </p:cNvSpPr>
          <p:nvPr>
            <p:ph type="ftr" sz="quarter" idx="11"/>
          </p:nvPr>
        </p:nvSpPr>
        <p:spPr/>
        <p:txBody>
          <a:bodyPr/>
          <a:lstStyle/>
          <a:p>
            <a:r>
              <a:rPr lang="fr-FR"/>
              <a:t>1</a:t>
            </a:r>
          </a:p>
        </p:txBody>
      </p:sp>
      <p:sp>
        <p:nvSpPr>
          <p:cNvPr id="4" name="Espace réservé du numéro de diapositive 3">
            <a:extLst>
              <a:ext uri="{FF2B5EF4-FFF2-40B4-BE49-F238E27FC236}">
                <a16:creationId xmlns:a16="http://schemas.microsoft.com/office/drawing/2014/main" id="{3FD5D55F-B563-4F5B-A4AB-42E8E04A78C4}"/>
              </a:ext>
            </a:extLst>
          </p:cNvPr>
          <p:cNvSpPr>
            <a:spLocks noGrp="1"/>
          </p:cNvSpPr>
          <p:nvPr>
            <p:ph type="sldNum" sz="quarter" idx="12"/>
          </p:nvPr>
        </p:nvSpPr>
        <p:spPr/>
        <p:txBody>
          <a:bodyPr/>
          <a:lstStyle/>
          <a:p>
            <a:fld id="{723B3C61-9534-404A-B1B4-4DCF5EE54D8B}" type="slidenum">
              <a:rPr lang="fr-FR" smtClean="0"/>
              <a:t>18</a:t>
            </a:fld>
            <a:endParaRPr lang="fr-FR"/>
          </a:p>
        </p:txBody>
      </p:sp>
    </p:spTree>
    <p:extLst>
      <p:ext uri="{BB962C8B-B14F-4D97-AF65-F5344CB8AC3E}">
        <p14:creationId xmlns:p14="http://schemas.microsoft.com/office/powerpoint/2010/main" val="18128851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DA0A8C-31E0-4E81-A1F1-23E543FCC746}"/>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2D0D8438-DEAE-4B3F-9599-6701FCE52B75}"/>
              </a:ext>
            </a:extLst>
          </p:cNvPr>
          <p:cNvSpPr>
            <a:spLocks noGrp="1"/>
          </p:cNvSpPr>
          <p:nvPr>
            <p:ph idx="1"/>
          </p:nvPr>
        </p:nvSpPr>
        <p:spPr/>
        <p:txBody>
          <a:bodyPr>
            <a:normAutofit/>
          </a:bodyPr>
          <a:lstStyle/>
          <a:p>
            <a:pPr marL="0" indent="0">
              <a:buNone/>
            </a:pPr>
            <a:r>
              <a:rPr lang="fr-FR" sz="2400" b="1" dirty="0">
                <a:latin typeface="Times New Roman" panose="02020603050405020304" pitchFamily="18" charset="0"/>
                <a:cs typeface="Times New Roman" panose="02020603050405020304" pitchFamily="18" charset="0"/>
              </a:rPr>
              <a:t>Préparation de l’audit:</a:t>
            </a:r>
            <a:endParaRPr lang="fr-FR" sz="2400" dirty="0">
              <a:latin typeface="Times New Roman" panose="02020603050405020304" pitchFamily="18" charset="0"/>
              <a:cs typeface="Times New Roman" panose="02020603050405020304" pitchFamily="18" charset="0"/>
            </a:endParaRPr>
          </a:p>
          <a:p>
            <a:pPr marL="0" indent="0">
              <a:buNone/>
            </a:pPr>
            <a:r>
              <a:rPr lang="fr-FR" sz="2400" dirty="0">
                <a:latin typeface="Times New Roman" panose="02020603050405020304" pitchFamily="18" charset="0"/>
                <a:cs typeface="Times New Roman" panose="02020603050405020304" pitchFamily="18" charset="0"/>
              </a:rPr>
              <a:t>Au cours de ces entretiens, les espérances des responsables vis-à-vis de l’audit devront être exprimées. Aussi, le planning de réalisation de la mission de l’audit doit être fixé. Les personnes qui seront amenées à répondre au questionnaire concernant l’audit organisationnel doivent être également identifiées. L’auditeur pourrait également solliciter les résultats des précédents audits. Cette phase sera suivie par l’audit organisationnel et physique.</a:t>
            </a:r>
          </a:p>
        </p:txBody>
      </p:sp>
      <p:sp>
        <p:nvSpPr>
          <p:cNvPr id="4" name="Espace réservé du pied de page 3">
            <a:extLst>
              <a:ext uri="{FF2B5EF4-FFF2-40B4-BE49-F238E27FC236}">
                <a16:creationId xmlns:a16="http://schemas.microsoft.com/office/drawing/2014/main" id="{F1484723-7E29-4CEB-8EBF-5774C812B309}"/>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1765E8DF-3767-4A60-A27D-75747C942BA6}"/>
              </a:ext>
            </a:extLst>
          </p:cNvPr>
          <p:cNvSpPr>
            <a:spLocks noGrp="1"/>
          </p:cNvSpPr>
          <p:nvPr>
            <p:ph type="sldNum" sz="quarter" idx="12"/>
          </p:nvPr>
        </p:nvSpPr>
        <p:spPr/>
        <p:txBody>
          <a:bodyPr/>
          <a:lstStyle/>
          <a:p>
            <a:fld id="{723B3C61-9534-404A-B1B4-4DCF5EE54D8B}" type="slidenum">
              <a:rPr lang="fr-FR" smtClean="0"/>
              <a:t>19</a:t>
            </a:fld>
            <a:endParaRPr lang="fr-FR"/>
          </a:p>
        </p:txBody>
      </p:sp>
    </p:spTree>
    <p:extLst>
      <p:ext uri="{BB962C8B-B14F-4D97-AF65-F5344CB8AC3E}">
        <p14:creationId xmlns:p14="http://schemas.microsoft.com/office/powerpoint/2010/main" val="403955260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D70653-1158-433D-B282-F7E44424019D}"/>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CFFF40B3-C7C1-4BD8-BA5A-270A8A02505B}"/>
              </a:ext>
            </a:extLst>
          </p:cNvPr>
          <p:cNvSpPr>
            <a:spLocks noGrp="1"/>
          </p:cNvSpPr>
          <p:nvPr>
            <p:ph idx="1"/>
          </p:nvPr>
        </p:nvSpPr>
        <p:spPr/>
        <p:txBody>
          <a:bodyPr/>
          <a:lstStyle/>
          <a:p>
            <a:pPr marL="0" indent="0">
              <a:buNone/>
            </a:pPr>
            <a:r>
              <a:rPr lang="fr-FR" sz="2800" b="1" dirty="0">
                <a:latin typeface="Times New Roman" panose="02020603050405020304" pitchFamily="18" charset="0"/>
                <a:cs typeface="Times New Roman" panose="02020603050405020304" pitchFamily="18" charset="0"/>
              </a:rPr>
              <a:t>Audit organisationnel et physique:</a:t>
            </a:r>
          </a:p>
          <a:p>
            <a:pPr marL="0" indent="0">
              <a:buNone/>
            </a:pPr>
            <a:r>
              <a:rPr lang="fr-FR" sz="2000" dirty="0"/>
              <a:t> </a:t>
            </a:r>
            <a:r>
              <a:rPr lang="fr-FR" sz="2400" b="1" dirty="0">
                <a:latin typeface="Times New Roman" panose="02020603050405020304" pitchFamily="18" charset="0"/>
                <a:cs typeface="Times New Roman" panose="02020603050405020304" pitchFamily="18" charset="0"/>
              </a:rPr>
              <a:t>Objectifs:</a:t>
            </a:r>
            <a:r>
              <a:rPr lang="fr-FR" sz="2000" dirty="0"/>
              <a:t> </a:t>
            </a:r>
            <a:r>
              <a:rPr lang="fr-FR" sz="2400" dirty="0">
                <a:latin typeface="Times New Roman" panose="02020603050405020304" pitchFamily="18" charset="0"/>
                <a:cs typeface="Times New Roman" panose="02020603050405020304" pitchFamily="18" charset="0"/>
              </a:rPr>
              <a:t>Dans cette étape, il s’agit de s’intéresser à l’aspect physique et organisationnel de l’organisme cible, à auditer. Nous nous intéressons donc aux aspects de gestion et d’organisation de la sécurité, sur les plans organisationnels, humains et physiques. L’objectif visé par cette étape est donc d’avoir une vue globale de l´état de sécurité du système d´information et d´identifier les risques potentiels sur le plan organisationnel. </a:t>
            </a:r>
          </a:p>
          <a:p>
            <a:endParaRPr lang="fr-FR" dirty="0"/>
          </a:p>
        </p:txBody>
      </p:sp>
      <p:sp>
        <p:nvSpPr>
          <p:cNvPr id="4" name="Espace réservé du pied de page 3">
            <a:extLst>
              <a:ext uri="{FF2B5EF4-FFF2-40B4-BE49-F238E27FC236}">
                <a16:creationId xmlns:a16="http://schemas.microsoft.com/office/drawing/2014/main" id="{37C9BC6E-B1EC-4054-A878-A75EA61F9C07}"/>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B9218D8D-BFA2-48D7-A591-8AF2B1E3972D}"/>
              </a:ext>
            </a:extLst>
          </p:cNvPr>
          <p:cNvSpPr>
            <a:spLocks noGrp="1"/>
          </p:cNvSpPr>
          <p:nvPr>
            <p:ph type="sldNum" sz="quarter" idx="12"/>
          </p:nvPr>
        </p:nvSpPr>
        <p:spPr/>
        <p:txBody>
          <a:bodyPr/>
          <a:lstStyle/>
          <a:p>
            <a:fld id="{723B3C61-9534-404A-B1B4-4DCF5EE54D8B}" type="slidenum">
              <a:rPr lang="fr-FR" smtClean="0"/>
              <a:t>20</a:t>
            </a:fld>
            <a:endParaRPr lang="fr-FR"/>
          </a:p>
        </p:txBody>
      </p:sp>
    </p:spTree>
    <p:extLst>
      <p:ext uri="{BB962C8B-B14F-4D97-AF65-F5344CB8AC3E}">
        <p14:creationId xmlns:p14="http://schemas.microsoft.com/office/powerpoint/2010/main" val="2803566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8C69A9-3440-4AC1-900B-E3729EF730E8}"/>
              </a:ext>
            </a:extLst>
          </p:cNvPr>
          <p:cNvSpPr>
            <a:spLocks noGrp="1"/>
          </p:cNvSpPr>
          <p:nvPr>
            <p:ph type="title"/>
          </p:nvPr>
        </p:nvSpPr>
        <p:spPr>
          <a:xfrm>
            <a:off x="2895600" y="737479"/>
            <a:ext cx="8610600" cy="1293028"/>
          </a:xfrm>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8A589EB3-0F3C-43B5-86E3-C46E88ED0314}"/>
              </a:ext>
            </a:extLst>
          </p:cNvPr>
          <p:cNvSpPr>
            <a:spLocks noGrp="1"/>
          </p:cNvSpPr>
          <p:nvPr>
            <p:ph idx="1"/>
          </p:nvPr>
        </p:nvSpPr>
        <p:spPr/>
        <p:txBody>
          <a:bodyPr/>
          <a:lstStyle/>
          <a:p>
            <a:pPr marL="0" indent="0">
              <a:buNone/>
            </a:pPr>
            <a:r>
              <a:rPr lang="fr-FR" dirty="0"/>
              <a:t> </a:t>
            </a:r>
            <a:r>
              <a:rPr lang="fr-FR" sz="2400" b="1" dirty="0">
                <a:latin typeface="Times New Roman" panose="02020603050405020304" pitchFamily="18" charset="0"/>
                <a:cs typeface="Times New Roman" panose="02020603050405020304" pitchFamily="18" charset="0"/>
              </a:rPr>
              <a:t>Déroulement:</a:t>
            </a:r>
          </a:p>
          <a:p>
            <a:pPr marL="0" indent="0">
              <a:buNone/>
            </a:pPr>
            <a:r>
              <a:rPr lang="fr-FR" dirty="0"/>
              <a:t> </a:t>
            </a:r>
            <a:r>
              <a:rPr lang="fr-FR" sz="2400" dirty="0">
                <a:latin typeface="Times New Roman" panose="02020603050405020304" pitchFamily="18" charset="0"/>
                <a:cs typeface="Times New Roman" panose="02020603050405020304" pitchFamily="18" charset="0"/>
              </a:rPr>
              <a:t>Afin de réaliser cette étape de l’audit, ce volet doit suivre une approche méthodologique qui s’appuie sur « une batterie de questions ». Ce questionnaire préétabli devra tenir compte et s’adapter aux réalités de l’organisme à auditer. A l’issu de ce questionnaire, et suivant une métrique, l’auditeur est en mesure d’évaluer les failles et d’apprécier le niveau de maturité en termes de sécurité de l’organisme, ainsi que la conformité de cet organisme par rapport à la norme référentielle de l’audit. </a:t>
            </a:r>
          </a:p>
        </p:txBody>
      </p:sp>
      <p:sp>
        <p:nvSpPr>
          <p:cNvPr id="4" name="Espace réservé du pied de page 3">
            <a:extLst>
              <a:ext uri="{FF2B5EF4-FFF2-40B4-BE49-F238E27FC236}">
                <a16:creationId xmlns:a16="http://schemas.microsoft.com/office/drawing/2014/main" id="{9FB60FC6-3D61-48AD-AD2D-6F27BC68C853}"/>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E10FDF35-59CE-4A6D-AC16-4CE1AD7C4624}"/>
              </a:ext>
            </a:extLst>
          </p:cNvPr>
          <p:cNvSpPr>
            <a:spLocks noGrp="1"/>
          </p:cNvSpPr>
          <p:nvPr>
            <p:ph type="sldNum" sz="quarter" idx="12"/>
          </p:nvPr>
        </p:nvSpPr>
        <p:spPr/>
        <p:txBody>
          <a:bodyPr/>
          <a:lstStyle/>
          <a:p>
            <a:fld id="{723B3C61-9534-404A-B1B4-4DCF5EE54D8B}" type="slidenum">
              <a:rPr lang="fr-FR" smtClean="0"/>
              <a:t>21</a:t>
            </a:fld>
            <a:endParaRPr lang="fr-FR"/>
          </a:p>
        </p:txBody>
      </p:sp>
    </p:spTree>
    <p:extLst>
      <p:ext uri="{BB962C8B-B14F-4D97-AF65-F5344CB8AC3E}">
        <p14:creationId xmlns:p14="http://schemas.microsoft.com/office/powerpoint/2010/main" val="55423705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31336-7711-4914-9242-56AE067BB86D}"/>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8413C802-780A-40B4-BB40-A3CFA970511E}"/>
              </a:ext>
            </a:extLst>
          </p:cNvPr>
          <p:cNvSpPr>
            <a:spLocks noGrp="1"/>
          </p:cNvSpPr>
          <p:nvPr>
            <p:ph idx="1"/>
          </p:nvPr>
        </p:nvSpPr>
        <p:spPr/>
        <p:txBody>
          <a:bodyPr>
            <a:normAutofit/>
          </a:bodyPr>
          <a:lstStyle/>
          <a:p>
            <a:pPr marL="0" indent="0">
              <a:buNone/>
            </a:pPr>
            <a:r>
              <a:rPr lang="fr-FR" sz="2800" b="1" dirty="0">
                <a:latin typeface="Times New Roman" panose="02020603050405020304" pitchFamily="18" charset="0"/>
                <a:cs typeface="Times New Roman" panose="02020603050405020304" pitchFamily="18" charset="0"/>
              </a:rPr>
              <a:t>Audit technique:</a:t>
            </a:r>
          </a:p>
          <a:p>
            <a:pPr marL="0" indent="0">
              <a:buNone/>
            </a:pPr>
            <a:r>
              <a:rPr lang="fr-FR" sz="2400" b="1" dirty="0">
                <a:latin typeface="Times New Roman" panose="02020603050405020304" pitchFamily="18" charset="0"/>
                <a:cs typeface="Times New Roman" panose="02020603050405020304" pitchFamily="18" charset="0"/>
              </a:rPr>
              <a:t>Objectifs:</a:t>
            </a:r>
            <a:r>
              <a:rPr lang="fr-FR" sz="2400" dirty="0">
                <a:latin typeface="Times New Roman" panose="02020603050405020304" pitchFamily="18" charset="0"/>
                <a:cs typeface="Times New Roman" panose="02020603050405020304" pitchFamily="18" charset="0"/>
              </a:rPr>
              <a:t> Cette étape de l’audit sur terrain vient en seconde position après celle de l’audit organisationnel. L’audit technique est réalisé suivant une approche méthodique allant de la découverte et la reconnaissance du réseau audité jusqu’au sondage des services réseaux actifs et vulnérables. Cette analyse devra faire apparaître les failles et les risques, les conséquences d’intrusions ou de manipulations illicites de données. Au cours de cette phase, l’auditeur pourra également apprécier l’écart avec les réponses obtenues lors des entretiens. Il testera aussi la robustesse de la sécurité du système d’information et sa capacité à préserver les aspects de confidentialité, d’intégrité, de disponibilité et d’autorisation. Cependant, l’auditeur doit veiller à ce que les tests réalisés ne mettent pas en cause la continuité de service du système audité.</a:t>
            </a:r>
          </a:p>
        </p:txBody>
      </p:sp>
      <p:sp>
        <p:nvSpPr>
          <p:cNvPr id="4" name="Espace réservé du pied de page 3">
            <a:extLst>
              <a:ext uri="{FF2B5EF4-FFF2-40B4-BE49-F238E27FC236}">
                <a16:creationId xmlns:a16="http://schemas.microsoft.com/office/drawing/2014/main" id="{E3F5FDC3-927B-4640-8280-87979DEA9DE6}"/>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F09DB89B-F32D-49A6-BF47-84A79E853D9C}"/>
              </a:ext>
            </a:extLst>
          </p:cNvPr>
          <p:cNvSpPr>
            <a:spLocks noGrp="1"/>
          </p:cNvSpPr>
          <p:nvPr>
            <p:ph type="sldNum" sz="quarter" idx="12"/>
          </p:nvPr>
        </p:nvSpPr>
        <p:spPr/>
        <p:txBody>
          <a:bodyPr/>
          <a:lstStyle/>
          <a:p>
            <a:fld id="{723B3C61-9534-404A-B1B4-4DCF5EE54D8B}" type="slidenum">
              <a:rPr lang="fr-FR" smtClean="0"/>
              <a:t>22</a:t>
            </a:fld>
            <a:endParaRPr lang="fr-FR"/>
          </a:p>
        </p:txBody>
      </p:sp>
    </p:spTree>
    <p:extLst>
      <p:ext uri="{BB962C8B-B14F-4D97-AF65-F5344CB8AC3E}">
        <p14:creationId xmlns:p14="http://schemas.microsoft.com/office/powerpoint/2010/main" val="223559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70031D-7B63-4A51-A444-E84C8302EA3D}"/>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F21840CD-9963-4320-A9AB-85693830EAA5}"/>
              </a:ext>
            </a:extLst>
          </p:cNvPr>
          <p:cNvSpPr>
            <a:spLocks noGrp="1"/>
          </p:cNvSpPr>
          <p:nvPr>
            <p:ph idx="1"/>
          </p:nvPr>
        </p:nvSpPr>
        <p:spPr>
          <a:xfrm>
            <a:off x="685800" y="2369372"/>
            <a:ext cx="10820400" cy="4024125"/>
          </a:xfrm>
        </p:spPr>
        <p:txBody>
          <a:bodyPr>
            <a:normAutofit fontScale="92500"/>
          </a:bodyPr>
          <a:lstStyle/>
          <a:p>
            <a:pPr marL="0" indent="0">
              <a:buNone/>
            </a:pPr>
            <a:r>
              <a:rPr lang="fr-FR" sz="2600" b="1" dirty="0">
                <a:latin typeface="Times New Roman" panose="02020603050405020304" pitchFamily="18" charset="0"/>
                <a:cs typeface="Times New Roman" panose="02020603050405020304" pitchFamily="18" charset="0"/>
              </a:rPr>
              <a:t>Déroulement:</a:t>
            </a:r>
          </a:p>
          <a:p>
            <a:pPr marL="0" indent="0">
              <a:buNone/>
            </a:pPr>
            <a:r>
              <a:rPr lang="fr-FR" sz="2600" dirty="0">
                <a:latin typeface="Times New Roman" panose="02020603050405020304" pitchFamily="18" charset="0"/>
                <a:cs typeface="Times New Roman" panose="02020603050405020304" pitchFamily="18" charset="0"/>
              </a:rPr>
              <a:t>Vu les objectifs escomptés lors de cette étape, leurs aboutissements ne sont possibles que par l’utilisation de différents outils. Chaque outil commercial qui devra être utilisé, doit bénéficier d’une licence d’utilisation en bonne et due forme.</a:t>
            </a:r>
          </a:p>
          <a:p>
            <a:pPr marL="0" indent="0">
              <a:buNone/>
            </a:pPr>
            <a:r>
              <a:rPr lang="fr-FR" sz="2600" dirty="0">
                <a:latin typeface="Times New Roman" panose="02020603050405020304" pitchFamily="18" charset="0"/>
                <a:cs typeface="Times New Roman" panose="02020603050405020304" pitchFamily="18" charset="0"/>
              </a:rPr>
              <a:t>Également les outils disponibles dans le monde du logiciel libre sont admis. L’ensemble des outils utilisés doit couvrir entièrement ou partiellement la liste non exhaustive des catégories ci-après : </a:t>
            </a:r>
          </a:p>
          <a:p>
            <a:pPr>
              <a:buFontTx/>
              <a:buChar char="-"/>
            </a:pPr>
            <a:r>
              <a:rPr lang="fr-FR" sz="2600" dirty="0">
                <a:latin typeface="Times New Roman" panose="02020603050405020304" pitchFamily="18" charset="0"/>
                <a:cs typeface="Times New Roman" panose="02020603050405020304" pitchFamily="18" charset="0"/>
              </a:rPr>
              <a:t>Outils de sondage et de reconnaissance du réseau. </a:t>
            </a:r>
          </a:p>
          <a:p>
            <a:pPr>
              <a:buFontTx/>
              <a:buChar char="-"/>
            </a:pPr>
            <a:r>
              <a:rPr lang="fr-FR" sz="2600" dirty="0">
                <a:latin typeface="Times New Roman" panose="02020603050405020304" pitchFamily="18" charset="0"/>
                <a:cs typeface="Times New Roman" panose="02020603050405020304" pitchFamily="18" charset="0"/>
              </a:rPr>
              <a:t>Outils de test automatique de vulnérabilités du réseau.</a:t>
            </a:r>
          </a:p>
          <a:p>
            <a:pPr marL="0" indent="0">
              <a:buNone/>
            </a:pPr>
            <a:r>
              <a:rPr lang="fr-FR" sz="2600" dirty="0">
                <a:latin typeface="Times New Roman" panose="02020603050405020304" pitchFamily="18" charset="0"/>
                <a:cs typeface="Times New Roman" panose="02020603050405020304" pitchFamily="18" charset="0"/>
              </a:rPr>
              <a:t> </a:t>
            </a:r>
          </a:p>
        </p:txBody>
      </p:sp>
      <p:sp>
        <p:nvSpPr>
          <p:cNvPr id="4" name="Espace réservé du pied de page 3">
            <a:extLst>
              <a:ext uri="{FF2B5EF4-FFF2-40B4-BE49-F238E27FC236}">
                <a16:creationId xmlns:a16="http://schemas.microsoft.com/office/drawing/2014/main" id="{B8B6B8B4-2B32-4F81-A248-0DDB56F11CB8}"/>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82ED8EBC-466F-40BE-8008-A211046760A0}"/>
              </a:ext>
            </a:extLst>
          </p:cNvPr>
          <p:cNvSpPr>
            <a:spLocks noGrp="1"/>
          </p:cNvSpPr>
          <p:nvPr>
            <p:ph type="sldNum" sz="quarter" idx="12"/>
          </p:nvPr>
        </p:nvSpPr>
        <p:spPr/>
        <p:txBody>
          <a:bodyPr/>
          <a:lstStyle/>
          <a:p>
            <a:fld id="{723B3C61-9534-404A-B1B4-4DCF5EE54D8B}" type="slidenum">
              <a:rPr lang="fr-FR" smtClean="0"/>
              <a:t>23</a:t>
            </a:fld>
            <a:endParaRPr lang="fr-FR"/>
          </a:p>
        </p:txBody>
      </p:sp>
    </p:spTree>
    <p:extLst>
      <p:ext uri="{BB962C8B-B14F-4D97-AF65-F5344CB8AC3E}">
        <p14:creationId xmlns:p14="http://schemas.microsoft.com/office/powerpoint/2010/main" val="2075020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78AC75-EFB2-45BA-8F0C-2E34D8B7450A}"/>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9E3CAF40-A42D-42B0-BF39-43D25ACC29C4}"/>
              </a:ext>
            </a:extLst>
          </p:cNvPr>
          <p:cNvSpPr>
            <a:spLocks noGrp="1"/>
          </p:cNvSpPr>
          <p:nvPr>
            <p:ph idx="1"/>
          </p:nvPr>
        </p:nvSpPr>
        <p:spPr/>
        <p:txBody>
          <a:bodyPr/>
          <a:lstStyle/>
          <a:p>
            <a:pPr marL="0" indent="0">
              <a:buNone/>
            </a:pPr>
            <a:r>
              <a:rPr lang="fr-FR" sz="2400" b="1" dirty="0">
                <a:latin typeface="Times New Roman" panose="02020603050405020304" pitchFamily="18" charset="0"/>
                <a:cs typeface="Times New Roman" panose="02020603050405020304" pitchFamily="18" charset="0"/>
              </a:rPr>
              <a:t>Déroulement:</a:t>
            </a:r>
            <a:endParaRPr lang="fr-FR" sz="2400" dirty="0">
              <a:latin typeface="Times New Roman" panose="02020603050405020304" pitchFamily="18" charset="0"/>
              <a:cs typeface="Times New Roman" panose="02020603050405020304" pitchFamily="18" charset="0"/>
            </a:endParaRPr>
          </a:p>
          <a:p>
            <a:pPr marL="0" indent="0">
              <a:buNone/>
            </a:pPr>
            <a:r>
              <a:rPr lang="fr-FR" sz="2400" dirty="0">
                <a:latin typeface="Times New Roman" panose="02020603050405020304" pitchFamily="18" charset="0"/>
                <a:cs typeface="Times New Roman" panose="02020603050405020304" pitchFamily="18" charset="0"/>
              </a:rPr>
              <a:t>- Outils spécialisés dans l’audit des équipements réseau (routeurs, </a:t>
            </a:r>
            <a:r>
              <a:rPr lang="fr-FR" sz="2400" dirty="0" err="1">
                <a:latin typeface="Times New Roman" panose="02020603050405020304" pitchFamily="18" charset="0"/>
                <a:cs typeface="Times New Roman" panose="02020603050405020304" pitchFamily="18" charset="0"/>
              </a:rPr>
              <a:t>switchs</a:t>
            </a:r>
            <a:r>
              <a:rPr lang="fr-FR" sz="2400" dirty="0">
                <a:latin typeface="Times New Roman" panose="02020603050405020304" pitchFamily="18" charset="0"/>
                <a:cs typeface="Times New Roman" panose="02020603050405020304" pitchFamily="18" charset="0"/>
              </a:rPr>
              <a:t>).</a:t>
            </a:r>
          </a:p>
          <a:p>
            <a:pPr marL="0" indent="0">
              <a:buNone/>
            </a:pPr>
            <a:r>
              <a:rPr lang="fr-FR" sz="2400" dirty="0">
                <a:latin typeface="Times New Roman" panose="02020603050405020304" pitchFamily="18" charset="0"/>
                <a:cs typeface="Times New Roman" panose="02020603050405020304" pitchFamily="18" charset="0"/>
              </a:rPr>
              <a:t> - Outils spécialisés dans l’audit des systèmes d’exploitation.</a:t>
            </a:r>
          </a:p>
          <a:p>
            <a:pPr marL="0" indent="0">
              <a:buNone/>
            </a:pPr>
            <a:r>
              <a:rPr lang="fr-FR" sz="2400" dirty="0">
                <a:latin typeface="Times New Roman" panose="02020603050405020304" pitchFamily="18" charset="0"/>
                <a:cs typeface="Times New Roman" panose="02020603050405020304" pitchFamily="18" charset="0"/>
              </a:rPr>
              <a:t> - Outils d’analyse et d’interception de flux réseaux.</a:t>
            </a:r>
          </a:p>
          <a:p>
            <a:pPr marL="0" indent="0">
              <a:buNone/>
            </a:pPr>
            <a:r>
              <a:rPr lang="fr-FR" sz="2400" dirty="0">
                <a:latin typeface="Times New Roman" panose="02020603050405020304" pitchFamily="18" charset="0"/>
                <a:cs typeface="Times New Roman" panose="02020603050405020304" pitchFamily="18" charset="0"/>
              </a:rPr>
              <a:t> - Outils de test de la solidité des objets d’authentification (fichiers de mots clés) </a:t>
            </a:r>
          </a:p>
          <a:p>
            <a:pPr>
              <a:buFontTx/>
              <a:buChar char="-"/>
            </a:pPr>
            <a:r>
              <a:rPr lang="fr-FR" sz="2400" dirty="0">
                <a:latin typeface="Times New Roman" panose="02020603050405020304" pitchFamily="18" charset="0"/>
                <a:cs typeface="Times New Roman" panose="02020603050405020304" pitchFamily="18" charset="0"/>
              </a:rPr>
              <a:t>Outils de test de la solidité des outils de sécurité réseau (firewalls, IDS, outils d’authentification). </a:t>
            </a:r>
          </a:p>
          <a:p>
            <a:pPr>
              <a:buFontTx/>
              <a:buChar char="-"/>
            </a:pPr>
            <a:r>
              <a:rPr lang="fr-FR" sz="2400" dirty="0">
                <a:latin typeface="Times New Roman" panose="02020603050405020304" pitchFamily="18" charset="0"/>
                <a:cs typeface="Times New Roman" panose="02020603050405020304" pitchFamily="18" charset="0"/>
              </a:rPr>
              <a:t>Outils de scanne d’existence de connexions dial-up dangereuses (</a:t>
            </a:r>
            <a:r>
              <a:rPr lang="fr-FR" sz="2400" dirty="0" err="1">
                <a:latin typeface="Times New Roman" panose="02020603050405020304" pitchFamily="18" charset="0"/>
                <a:cs typeface="Times New Roman" panose="02020603050405020304" pitchFamily="18" charset="0"/>
              </a:rPr>
              <a:t>wardialing</a:t>
            </a:r>
            <a:r>
              <a:rPr lang="fr-FR" sz="2400" dirty="0">
                <a:latin typeface="Times New Roman" panose="02020603050405020304" pitchFamily="18" charset="0"/>
                <a:cs typeface="Times New Roman" panose="02020603050405020304" pitchFamily="18" charset="0"/>
              </a:rPr>
              <a:t>).</a:t>
            </a:r>
          </a:p>
          <a:p>
            <a:pPr marL="0" indent="0">
              <a:buNone/>
            </a:pPr>
            <a:r>
              <a:rPr lang="fr-FR" sz="2400" dirty="0">
                <a:latin typeface="Times New Roman" panose="02020603050405020304" pitchFamily="18" charset="0"/>
                <a:cs typeface="Times New Roman" panose="02020603050405020304" pitchFamily="18" charset="0"/>
              </a:rPr>
              <a:t> - Outils spécialisés dans l’audit des SGBD </a:t>
            </a:r>
            <a:r>
              <a:rPr lang="fr-FR" sz="2400" dirty="0" err="1">
                <a:latin typeface="Times New Roman" panose="02020603050405020304" pitchFamily="18" charset="0"/>
                <a:cs typeface="Times New Roman" panose="02020603050405020304" pitchFamily="18" charset="0"/>
              </a:rPr>
              <a:t>exist</a:t>
            </a:r>
            <a:endParaRPr lang="fr-FR" sz="2400" dirty="0">
              <a:latin typeface="Times New Roman" panose="02020603050405020304" pitchFamily="18" charset="0"/>
              <a:cs typeface="Times New Roman" panose="02020603050405020304" pitchFamily="18" charset="0"/>
            </a:endParaRPr>
          </a:p>
          <a:p>
            <a:endParaRPr lang="fr-FR" dirty="0"/>
          </a:p>
        </p:txBody>
      </p:sp>
      <p:sp>
        <p:nvSpPr>
          <p:cNvPr id="4" name="Espace réservé du pied de page 3">
            <a:extLst>
              <a:ext uri="{FF2B5EF4-FFF2-40B4-BE49-F238E27FC236}">
                <a16:creationId xmlns:a16="http://schemas.microsoft.com/office/drawing/2014/main" id="{EAA0D26B-2A55-4155-A877-4362A7F24A3A}"/>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4292B488-04BA-4075-B7FA-3F2CCC40642E}"/>
              </a:ext>
            </a:extLst>
          </p:cNvPr>
          <p:cNvSpPr>
            <a:spLocks noGrp="1"/>
          </p:cNvSpPr>
          <p:nvPr>
            <p:ph type="sldNum" sz="quarter" idx="12"/>
          </p:nvPr>
        </p:nvSpPr>
        <p:spPr/>
        <p:txBody>
          <a:bodyPr/>
          <a:lstStyle/>
          <a:p>
            <a:fld id="{723B3C61-9534-404A-B1B4-4DCF5EE54D8B}" type="slidenum">
              <a:rPr lang="fr-FR" smtClean="0"/>
              <a:t>24</a:t>
            </a:fld>
            <a:endParaRPr lang="fr-FR"/>
          </a:p>
        </p:txBody>
      </p:sp>
    </p:spTree>
    <p:extLst>
      <p:ext uri="{BB962C8B-B14F-4D97-AF65-F5344CB8AC3E}">
        <p14:creationId xmlns:p14="http://schemas.microsoft.com/office/powerpoint/2010/main" val="239820693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7D2CBA-C23D-4C2B-B5B5-6B1F57855380}"/>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9741218E-4BEC-41B8-A55E-A717D129E660}"/>
              </a:ext>
            </a:extLst>
          </p:cNvPr>
          <p:cNvSpPr>
            <a:spLocks noGrp="1"/>
          </p:cNvSpPr>
          <p:nvPr>
            <p:ph idx="1"/>
          </p:nvPr>
        </p:nvSpPr>
        <p:spPr/>
        <p:txBody>
          <a:bodyPr/>
          <a:lstStyle/>
          <a:p>
            <a:pPr marL="0" indent="0">
              <a:buNone/>
            </a:pPr>
            <a:r>
              <a:rPr lang="fr-FR" sz="2800" b="1" dirty="0">
                <a:latin typeface="Times New Roman" panose="02020603050405020304" pitchFamily="18" charset="0"/>
                <a:cs typeface="Times New Roman" panose="02020603050405020304" pitchFamily="18" charset="0"/>
              </a:rPr>
              <a:t> Test d’intrusions (Audit intrusif):</a:t>
            </a:r>
          </a:p>
          <a:p>
            <a:pPr marL="0" indent="0">
              <a:buNone/>
            </a:pPr>
            <a:r>
              <a:rPr lang="fr-FR" dirty="0"/>
              <a:t>  </a:t>
            </a:r>
            <a:r>
              <a:rPr lang="fr-FR" sz="2400" b="1" dirty="0">
                <a:latin typeface="Times New Roman" panose="02020603050405020304" pitchFamily="18" charset="0"/>
                <a:cs typeface="Times New Roman" panose="02020603050405020304" pitchFamily="18" charset="0"/>
              </a:rPr>
              <a:t>Objectifs: </a:t>
            </a:r>
          </a:p>
          <a:p>
            <a:pPr marL="0" indent="0">
              <a:buNone/>
            </a:pPr>
            <a:r>
              <a:rPr lang="fr-FR" sz="2400" dirty="0">
                <a:latin typeface="Times New Roman" panose="02020603050405020304" pitchFamily="18" charset="0"/>
                <a:cs typeface="Times New Roman" panose="02020603050405020304" pitchFamily="18" charset="0"/>
              </a:rPr>
              <a:t>Cet audit permet d’apprécier le comportement du réseau face à des attaques. Également, il permet de sensibiliser les acteurs (management, équipe informatique sur site, les utilisateurs) par des rapports illustrant les failles décelées, les tests qui ont été effectués (scénarios et outils) ainsi que les recommandations pour pallier aux insuffisances identifiées.</a:t>
            </a:r>
          </a:p>
        </p:txBody>
      </p:sp>
      <p:sp>
        <p:nvSpPr>
          <p:cNvPr id="4" name="Espace réservé du pied de page 3">
            <a:extLst>
              <a:ext uri="{FF2B5EF4-FFF2-40B4-BE49-F238E27FC236}">
                <a16:creationId xmlns:a16="http://schemas.microsoft.com/office/drawing/2014/main" id="{6668A0AF-0865-47D3-800B-F164B4D2B8F4}"/>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D2817F6B-ACF7-41B0-9AC3-11E295302ED5}"/>
              </a:ext>
            </a:extLst>
          </p:cNvPr>
          <p:cNvSpPr>
            <a:spLocks noGrp="1"/>
          </p:cNvSpPr>
          <p:nvPr>
            <p:ph type="sldNum" sz="quarter" idx="12"/>
          </p:nvPr>
        </p:nvSpPr>
        <p:spPr/>
        <p:txBody>
          <a:bodyPr/>
          <a:lstStyle/>
          <a:p>
            <a:fld id="{723B3C61-9534-404A-B1B4-4DCF5EE54D8B}" type="slidenum">
              <a:rPr lang="fr-FR" smtClean="0"/>
              <a:t>25</a:t>
            </a:fld>
            <a:endParaRPr lang="fr-FR"/>
          </a:p>
        </p:txBody>
      </p:sp>
    </p:spTree>
    <p:extLst>
      <p:ext uri="{BB962C8B-B14F-4D97-AF65-F5344CB8AC3E}">
        <p14:creationId xmlns:p14="http://schemas.microsoft.com/office/powerpoint/2010/main" val="32932277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252BF2-FA30-46A1-B1C1-72E863A12466}"/>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287B350A-A924-4C0E-9F20-65C2BDAEBF79}"/>
              </a:ext>
            </a:extLst>
          </p:cNvPr>
          <p:cNvSpPr>
            <a:spLocks noGrp="1"/>
          </p:cNvSpPr>
          <p:nvPr>
            <p:ph idx="1"/>
          </p:nvPr>
        </p:nvSpPr>
        <p:spPr/>
        <p:txBody>
          <a:bodyPr/>
          <a:lstStyle/>
          <a:p>
            <a:pPr marL="0" indent="0">
              <a:buNone/>
            </a:pPr>
            <a:r>
              <a:rPr lang="fr-FR" dirty="0"/>
              <a:t> </a:t>
            </a:r>
            <a:r>
              <a:rPr lang="fr-FR" sz="2800" b="1" dirty="0">
                <a:latin typeface="Times New Roman" panose="02020603050405020304" pitchFamily="18" charset="0"/>
                <a:cs typeface="Times New Roman" panose="02020603050405020304" pitchFamily="18" charset="0"/>
              </a:rPr>
              <a:t>Déroulement:</a:t>
            </a:r>
          </a:p>
          <a:p>
            <a:pPr marL="0" indent="0">
              <a:buNone/>
            </a:pPr>
            <a:r>
              <a:rPr lang="fr-FR" dirty="0"/>
              <a:t> </a:t>
            </a:r>
            <a:r>
              <a:rPr lang="fr-FR" sz="2400" dirty="0">
                <a:latin typeface="Times New Roman" panose="02020603050405020304" pitchFamily="18" charset="0"/>
                <a:cs typeface="Times New Roman" panose="02020603050405020304" pitchFamily="18" charset="0"/>
              </a:rPr>
              <a:t>La phase de déroulement de cet audit doit être réalisée par une équipe de personnes ignorante du système audité avec une définition précise des limites et horaires des tests. Etant donné l’aspect risqué (pour la continuité de services du système d’information) que porte ce type d’audit, l’auditeur doit. </a:t>
            </a:r>
          </a:p>
          <a:p>
            <a:pPr>
              <a:buFontTx/>
              <a:buChar char="-"/>
            </a:pPr>
            <a:r>
              <a:rPr lang="fr-FR" sz="2400" dirty="0">
                <a:latin typeface="Times New Roman" panose="02020603050405020304" pitchFamily="18" charset="0"/>
                <a:cs typeface="Times New Roman" panose="02020603050405020304" pitchFamily="18" charset="0"/>
              </a:rPr>
              <a:t>Bénéficier de grandes compétences.</a:t>
            </a:r>
          </a:p>
          <a:p>
            <a:pPr marL="0" indent="0">
              <a:buNone/>
            </a:pPr>
            <a:r>
              <a:rPr lang="fr-FR" sz="2400" dirty="0">
                <a:latin typeface="Times New Roman" panose="02020603050405020304" pitchFamily="18" charset="0"/>
                <a:cs typeface="Times New Roman" panose="02020603050405020304" pitchFamily="18" charset="0"/>
              </a:rPr>
              <a:t> - Adhérer á une charte déontologique.</a:t>
            </a:r>
          </a:p>
          <a:p>
            <a:pPr marL="0" indent="0">
              <a:buNone/>
            </a:pPr>
            <a:r>
              <a:rPr lang="fr-FR" sz="2400" dirty="0">
                <a:latin typeface="Times New Roman" panose="02020603050405020304" pitchFamily="18" charset="0"/>
                <a:cs typeface="Times New Roman" panose="02020603050405020304" pitchFamily="18" charset="0"/>
              </a:rPr>
              <a:t> - S’engager (la charte d’audit) à un non débordement: implication à ne pas provoquer de perturbation du fonctionnement du système, ni de provocation de dommages.</a:t>
            </a:r>
          </a:p>
        </p:txBody>
      </p:sp>
      <p:sp>
        <p:nvSpPr>
          <p:cNvPr id="4" name="Espace réservé du pied de page 3">
            <a:extLst>
              <a:ext uri="{FF2B5EF4-FFF2-40B4-BE49-F238E27FC236}">
                <a16:creationId xmlns:a16="http://schemas.microsoft.com/office/drawing/2014/main" id="{8323DD35-C35F-4EC8-B2CC-7CE5F91E24CB}"/>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DC854478-1C51-47DD-A285-602DC40589EC}"/>
              </a:ext>
            </a:extLst>
          </p:cNvPr>
          <p:cNvSpPr>
            <a:spLocks noGrp="1"/>
          </p:cNvSpPr>
          <p:nvPr>
            <p:ph type="sldNum" sz="quarter" idx="12"/>
          </p:nvPr>
        </p:nvSpPr>
        <p:spPr/>
        <p:txBody>
          <a:bodyPr/>
          <a:lstStyle/>
          <a:p>
            <a:fld id="{723B3C61-9534-404A-B1B4-4DCF5EE54D8B}" type="slidenum">
              <a:rPr lang="fr-FR" smtClean="0"/>
              <a:t>26</a:t>
            </a:fld>
            <a:endParaRPr lang="fr-FR"/>
          </a:p>
        </p:txBody>
      </p:sp>
    </p:spTree>
    <p:extLst>
      <p:ext uri="{BB962C8B-B14F-4D97-AF65-F5344CB8AC3E}">
        <p14:creationId xmlns:p14="http://schemas.microsoft.com/office/powerpoint/2010/main" val="18440484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02A493-AC40-457A-B917-8A7FF24C9486}"/>
              </a:ext>
            </a:extLst>
          </p:cNvPr>
          <p:cNvSpPr>
            <a:spLocks noGrp="1"/>
          </p:cNvSpPr>
          <p:nvPr>
            <p:ph type="title"/>
          </p:nvPr>
        </p:nvSpPr>
        <p:spPr/>
        <p:txBody>
          <a:bodyPr>
            <a:normAutofit fontScale="90000"/>
          </a:bodyPr>
          <a:lstStyle/>
          <a:p>
            <a:pPr algn="ctr"/>
            <a:r>
              <a:rPr lang="fr-FR" b="1" dirty="0">
                <a:solidFill>
                  <a:srgbClr val="C00000"/>
                </a:solidFill>
                <a:latin typeface="Times New Roman" panose="02020603050405020304" pitchFamily="18" charset="0"/>
                <a:cs typeface="Times New Roman" panose="02020603050405020304" pitchFamily="18" charset="0"/>
              </a:rPr>
              <a:t>DEMARCHE DE REALIASATION   d’un audite de sécurité  INFORAMTIQUE</a:t>
            </a:r>
            <a:endParaRPr lang="fr-FR" dirty="0"/>
          </a:p>
        </p:txBody>
      </p:sp>
      <p:sp>
        <p:nvSpPr>
          <p:cNvPr id="3" name="Espace réservé du contenu 2">
            <a:extLst>
              <a:ext uri="{FF2B5EF4-FFF2-40B4-BE49-F238E27FC236}">
                <a16:creationId xmlns:a16="http://schemas.microsoft.com/office/drawing/2014/main" id="{AD01DDA9-F937-4BBA-B673-2581524F3264}"/>
              </a:ext>
            </a:extLst>
          </p:cNvPr>
          <p:cNvSpPr>
            <a:spLocks noGrp="1"/>
          </p:cNvSpPr>
          <p:nvPr>
            <p:ph idx="1"/>
          </p:nvPr>
        </p:nvSpPr>
        <p:spPr/>
        <p:txBody>
          <a:bodyPr/>
          <a:lstStyle/>
          <a:p>
            <a:pPr marL="0" indent="0">
              <a:buNone/>
            </a:pPr>
            <a:r>
              <a:rPr lang="fr-FR" dirty="0"/>
              <a:t> </a:t>
            </a:r>
            <a:r>
              <a:rPr lang="fr-FR" sz="2800" b="1" dirty="0">
                <a:latin typeface="Times New Roman" panose="02020603050405020304" pitchFamily="18" charset="0"/>
                <a:cs typeface="Times New Roman" panose="02020603050405020304" pitchFamily="18" charset="0"/>
              </a:rPr>
              <a:t>Rapport d’audit:</a:t>
            </a:r>
          </a:p>
          <a:p>
            <a:pPr marL="0" indent="0">
              <a:buNone/>
            </a:pPr>
            <a:r>
              <a:rPr lang="fr-FR" dirty="0"/>
              <a:t> </a:t>
            </a:r>
            <a:r>
              <a:rPr lang="fr-FR" sz="2400" dirty="0">
                <a:latin typeface="Times New Roman" panose="02020603050405020304" pitchFamily="18" charset="0"/>
                <a:cs typeface="Times New Roman" panose="02020603050405020304" pitchFamily="18" charset="0"/>
              </a:rPr>
              <a:t>A la fin des précédentes phases d’audit sur terrain, l’auditeur est invité à rédiger un rapport de synthèse sur sa mission d’audit. Cette synthèse doit être révélatrice des défaillances enregistrées. Autant est-il important de déceler un mal, autant il est également important d’y proposer des solutions. Ainsi, l’auditeur est également invité à donner ses recommandations, pour pallier aux défauts qu’il aura constatés. Ces recommandations doivent tenir compte de l’audit organisationnel et physique, ainsi que de celui technique et intrusif. </a:t>
            </a:r>
          </a:p>
        </p:txBody>
      </p:sp>
      <p:sp>
        <p:nvSpPr>
          <p:cNvPr id="4" name="Espace réservé du pied de page 3">
            <a:extLst>
              <a:ext uri="{FF2B5EF4-FFF2-40B4-BE49-F238E27FC236}">
                <a16:creationId xmlns:a16="http://schemas.microsoft.com/office/drawing/2014/main" id="{87BBF038-7CCF-4581-AF62-2D34FA279474}"/>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EF5215B7-320D-4CC9-BB02-03E3B5CB9664}"/>
              </a:ext>
            </a:extLst>
          </p:cNvPr>
          <p:cNvSpPr>
            <a:spLocks noGrp="1"/>
          </p:cNvSpPr>
          <p:nvPr>
            <p:ph type="sldNum" sz="quarter" idx="12"/>
          </p:nvPr>
        </p:nvSpPr>
        <p:spPr/>
        <p:txBody>
          <a:bodyPr/>
          <a:lstStyle/>
          <a:p>
            <a:fld id="{723B3C61-9534-404A-B1B4-4DCF5EE54D8B}" type="slidenum">
              <a:rPr lang="fr-FR" smtClean="0"/>
              <a:t>27</a:t>
            </a:fld>
            <a:endParaRPr lang="fr-FR"/>
          </a:p>
        </p:txBody>
      </p:sp>
    </p:spTree>
    <p:extLst>
      <p:ext uri="{BB962C8B-B14F-4D97-AF65-F5344CB8AC3E}">
        <p14:creationId xmlns:p14="http://schemas.microsoft.com/office/powerpoint/2010/main" val="282209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A450B2-2C23-422E-8019-606406C4AE81}"/>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Les outils de l’audit de sécurité informatique</a:t>
            </a:r>
          </a:p>
        </p:txBody>
      </p:sp>
      <p:sp>
        <p:nvSpPr>
          <p:cNvPr id="3" name="Espace réservé du contenu 2">
            <a:extLst>
              <a:ext uri="{FF2B5EF4-FFF2-40B4-BE49-F238E27FC236}">
                <a16:creationId xmlns:a16="http://schemas.microsoft.com/office/drawing/2014/main" id="{EA4464E5-8647-4280-AFAF-91C7E8C56839}"/>
              </a:ext>
            </a:extLst>
          </p:cNvPr>
          <p:cNvSpPr>
            <a:spLocks noGrp="1"/>
          </p:cNvSpPr>
          <p:nvPr>
            <p:ph idx="1"/>
          </p:nvPr>
        </p:nvSpPr>
        <p:spPr/>
        <p:txBody>
          <a:bodyPr>
            <a:normAutofit/>
          </a:bodyPr>
          <a:lstStyle/>
          <a:p>
            <a:pPr marL="0" indent="0">
              <a:buNone/>
            </a:pPr>
            <a:r>
              <a:rPr lang="fr-FR" sz="2400" b="1" u="sng"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Il existe une </a:t>
            </a:r>
            <a:r>
              <a:rPr lang="fr-FR" sz="2400" b="1" dirty="0">
                <a:latin typeface="Times New Roman" panose="02020603050405020304" pitchFamily="18" charset="0"/>
                <a:cs typeface="Times New Roman" panose="02020603050405020304" pitchFamily="18" charset="0"/>
              </a:rPr>
              <a:t>multitude d’outils</a:t>
            </a:r>
            <a:r>
              <a:rPr lang="fr-FR" sz="2400" dirty="0">
                <a:latin typeface="Times New Roman" panose="02020603050405020304" pitchFamily="18" charset="0"/>
                <a:cs typeface="Times New Roman" panose="02020603050405020304" pitchFamily="18" charset="0"/>
              </a:rPr>
              <a:t> pour vous aider à </a:t>
            </a:r>
            <a:r>
              <a:rPr lang="fr-FR" sz="2400" b="1" dirty="0">
                <a:latin typeface="Times New Roman" panose="02020603050405020304" pitchFamily="18" charset="0"/>
                <a:cs typeface="Times New Roman" panose="02020603050405020304" pitchFamily="18" charset="0"/>
              </a:rPr>
              <a:t>détecter les failles</a:t>
            </a:r>
            <a:r>
              <a:rPr lang="fr-FR" sz="2400" dirty="0">
                <a:latin typeface="Times New Roman" panose="02020603050405020304" pitchFamily="18" charset="0"/>
                <a:cs typeface="Times New Roman" panose="02020603050405020304" pitchFamily="18" charset="0"/>
              </a:rPr>
              <a:t> de votre stratégie et ainsi les corriger.</a:t>
            </a:r>
          </a:p>
          <a:p>
            <a:pPr marL="0" indent="0">
              <a:buNone/>
            </a:pPr>
            <a:r>
              <a:rPr lang="fr-FR" sz="2400" dirty="0">
                <a:latin typeface="Times New Roman" panose="02020603050405020304" pitchFamily="18" charset="0"/>
                <a:cs typeface="Times New Roman" panose="02020603050405020304" pitchFamily="18" charset="0"/>
              </a:rPr>
              <a:t>  Par exemple :</a:t>
            </a:r>
          </a:p>
          <a:p>
            <a:pPr lvl="0"/>
            <a:r>
              <a:rPr lang="fr-FR" sz="2400" u="sng" dirty="0">
                <a:latin typeface="Times New Roman" panose="02020603050405020304" pitchFamily="18" charset="0"/>
                <a:cs typeface="Times New Roman" panose="02020603050405020304" pitchFamily="18" charset="0"/>
                <a:hlinkClick r:id="rId2"/>
              </a:rPr>
              <a:t>Connected Risk Engine Cyber</a:t>
            </a:r>
            <a:r>
              <a:rPr lang="fr-FR" sz="2400" dirty="0">
                <a:latin typeface="Times New Roman" panose="02020603050405020304" pitchFamily="18" charset="0"/>
                <a:cs typeface="Times New Roman" panose="02020603050405020304" pitchFamily="18" charset="0"/>
              </a:rPr>
              <a:t> </a:t>
            </a:r>
          </a:p>
          <a:p>
            <a:pPr lvl="0"/>
            <a:r>
              <a:rPr lang="fr-FR" sz="2400" u="sng" dirty="0">
                <a:latin typeface="Times New Roman" panose="02020603050405020304" pitchFamily="18" charset="0"/>
                <a:cs typeface="Times New Roman" panose="02020603050405020304" pitchFamily="18" charset="0"/>
                <a:hlinkClick r:id="rId3"/>
              </a:rPr>
              <a:t>NinjaOne</a:t>
            </a:r>
            <a:r>
              <a:rPr lang="fr-FR" sz="2400" dirty="0">
                <a:latin typeface="Times New Roman" panose="02020603050405020304" pitchFamily="18" charset="0"/>
                <a:cs typeface="Times New Roman" panose="02020603050405020304" pitchFamily="18" charset="0"/>
              </a:rPr>
              <a:t> </a:t>
            </a:r>
          </a:p>
          <a:p>
            <a:pPr lvl="0"/>
            <a:r>
              <a:rPr lang="fr-FR" sz="2400" dirty="0">
                <a:latin typeface="Times New Roman" panose="02020603050405020304" pitchFamily="18" charset="0"/>
                <a:cs typeface="Times New Roman" panose="02020603050405020304" pitchFamily="18" charset="0"/>
              </a:rPr>
              <a:t> </a:t>
            </a:r>
            <a:r>
              <a:rPr lang="fr-FR" sz="2400" u="sng" dirty="0" err="1">
                <a:latin typeface="Times New Roman" panose="02020603050405020304" pitchFamily="18" charset="0"/>
                <a:cs typeface="Times New Roman" panose="02020603050405020304" pitchFamily="18" charset="0"/>
                <a:hlinkClick r:id="rId3"/>
              </a:rPr>
              <a:t>Mailinblack</a:t>
            </a:r>
            <a:endParaRPr lang="fr-FR" sz="2400" dirty="0">
              <a:latin typeface="Times New Roman" panose="02020603050405020304" pitchFamily="18" charset="0"/>
              <a:cs typeface="Times New Roman" panose="02020603050405020304" pitchFamily="18" charset="0"/>
            </a:endParaRPr>
          </a:p>
          <a:p>
            <a:pPr marL="0" indent="0">
              <a:buNone/>
            </a:pPr>
            <a:endParaRPr lang="fr-FR" dirty="0"/>
          </a:p>
        </p:txBody>
      </p:sp>
      <p:sp>
        <p:nvSpPr>
          <p:cNvPr id="4" name="Espace réservé du pied de page 3">
            <a:extLst>
              <a:ext uri="{FF2B5EF4-FFF2-40B4-BE49-F238E27FC236}">
                <a16:creationId xmlns:a16="http://schemas.microsoft.com/office/drawing/2014/main" id="{D2037C1F-7C80-44C2-88A0-2068BCE6CCB3}"/>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4AF0243E-310A-4B79-B78C-2688C064B5DD}"/>
              </a:ext>
            </a:extLst>
          </p:cNvPr>
          <p:cNvSpPr>
            <a:spLocks noGrp="1"/>
          </p:cNvSpPr>
          <p:nvPr>
            <p:ph type="sldNum" sz="quarter" idx="12"/>
          </p:nvPr>
        </p:nvSpPr>
        <p:spPr/>
        <p:txBody>
          <a:bodyPr/>
          <a:lstStyle/>
          <a:p>
            <a:fld id="{723B3C61-9534-404A-B1B4-4DCF5EE54D8B}" type="slidenum">
              <a:rPr lang="fr-FR" smtClean="0"/>
              <a:t>28</a:t>
            </a:fld>
            <a:endParaRPr lang="fr-FR"/>
          </a:p>
        </p:txBody>
      </p:sp>
    </p:spTree>
    <p:extLst>
      <p:ext uri="{BB962C8B-B14F-4D97-AF65-F5344CB8AC3E}">
        <p14:creationId xmlns:p14="http://schemas.microsoft.com/office/powerpoint/2010/main" val="7396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DCDEE8-C3BA-4533-8A3B-659C42DA2B89}"/>
              </a:ext>
            </a:extLst>
          </p:cNvPr>
          <p:cNvSpPr>
            <a:spLocks noGrp="1"/>
          </p:cNvSpPr>
          <p:nvPr>
            <p:ph type="title"/>
          </p:nvPr>
        </p:nvSpPr>
        <p:spPr>
          <a:xfrm>
            <a:off x="2846294" y="639315"/>
            <a:ext cx="8610600" cy="1293028"/>
          </a:xfrm>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Avantage D’auditer la sécurité de système d’information</a:t>
            </a:r>
          </a:p>
        </p:txBody>
      </p:sp>
      <p:graphicFrame>
        <p:nvGraphicFramePr>
          <p:cNvPr id="3" name="Espace réservé du contenu 2">
            <a:extLst>
              <a:ext uri="{FF2B5EF4-FFF2-40B4-BE49-F238E27FC236}">
                <a16:creationId xmlns:a16="http://schemas.microsoft.com/office/drawing/2014/main" id="{672A99DD-874F-4B0E-B24C-D0B4285DD668}"/>
              </a:ext>
            </a:extLst>
          </p:cNvPr>
          <p:cNvGraphicFramePr>
            <a:graphicFrameLocks noGrp="1"/>
          </p:cNvGraphicFramePr>
          <p:nvPr>
            <p:ph idx="1"/>
            <p:extLst>
              <p:ext uri="{D42A27DB-BD31-4B8C-83A1-F6EECF244321}">
                <p14:modId xmlns:p14="http://schemas.microsoft.com/office/powerpoint/2010/main" val="1402671305"/>
              </p:ext>
            </p:extLst>
          </p:nvPr>
        </p:nvGraphicFramePr>
        <p:xfrm>
          <a:off x="685800" y="2194560"/>
          <a:ext cx="108204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pied de page 3">
            <a:extLst>
              <a:ext uri="{FF2B5EF4-FFF2-40B4-BE49-F238E27FC236}">
                <a16:creationId xmlns:a16="http://schemas.microsoft.com/office/drawing/2014/main" id="{B3EC5CDF-2B24-4C9A-BAEC-12C38F8CA655}"/>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CFB51B9E-5343-41A1-B435-DA3C2E11DC6E}"/>
              </a:ext>
            </a:extLst>
          </p:cNvPr>
          <p:cNvSpPr>
            <a:spLocks noGrp="1"/>
          </p:cNvSpPr>
          <p:nvPr>
            <p:ph type="sldNum" sz="quarter" idx="12"/>
          </p:nvPr>
        </p:nvSpPr>
        <p:spPr/>
        <p:txBody>
          <a:bodyPr/>
          <a:lstStyle/>
          <a:p>
            <a:fld id="{723B3C61-9534-404A-B1B4-4DCF5EE54D8B}" type="slidenum">
              <a:rPr lang="fr-FR" smtClean="0"/>
              <a:t>29</a:t>
            </a:fld>
            <a:endParaRPr lang="fr-FR"/>
          </a:p>
        </p:txBody>
      </p:sp>
    </p:spTree>
    <p:extLst>
      <p:ext uri="{BB962C8B-B14F-4D97-AF65-F5344CB8AC3E}">
        <p14:creationId xmlns:p14="http://schemas.microsoft.com/office/powerpoint/2010/main" val="26128119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842CC4-E87B-416F-894B-E3C71EC16289}"/>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Limite D’auditer la sécurité de système d’information</a:t>
            </a:r>
            <a:endParaRPr lang="fr-FR" sz="3600" b="1" dirty="0">
              <a:latin typeface="Times New Roman" panose="02020603050405020304" pitchFamily="18" charset="0"/>
              <a:cs typeface="Times New Roman" panose="02020603050405020304" pitchFamily="18" charset="0"/>
            </a:endParaRPr>
          </a:p>
        </p:txBody>
      </p:sp>
      <p:graphicFrame>
        <p:nvGraphicFramePr>
          <p:cNvPr id="4" name="Espace réservé du contenu 3">
            <a:extLst>
              <a:ext uri="{FF2B5EF4-FFF2-40B4-BE49-F238E27FC236}">
                <a16:creationId xmlns:a16="http://schemas.microsoft.com/office/drawing/2014/main" id="{2CD85D65-2C29-4DB3-89BB-BA7CE12FFF8A}"/>
              </a:ext>
            </a:extLst>
          </p:cNvPr>
          <p:cNvGraphicFramePr>
            <a:graphicFrameLocks noGrp="1"/>
          </p:cNvGraphicFramePr>
          <p:nvPr>
            <p:ph idx="1"/>
            <p:extLst>
              <p:ext uri="{D42A27DB-BD31-4B8C-83A1-F6EECF244321}">
                <p14:modId xmlns:p14="http://schemas.microsoft.com/office/powerpoint/2010/main" val="2648492467"/>
              </p:ext>
            </p:extLst>
          </p:nvPr>
        </p:nvGraphicFramePr>
        <p:xfrm>
          <a:off x="685800" y="2194560"/>
          <a:ext cx="108204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u pied de page 2">
            <a:extLst>
              <a:ext uri="{FF2B5EF4-FFF2-40B4-BE49-F238E27FC236}">
                <a16:creationId xmlns:a16="http://schemas.microsoft.com/office/drawing/2014/main" id="{557A1A18-C569-45A9-A61B-65701EADB9D2}"/>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BA411AA0-ADAE-4ED7-8677-90B4F86BE4A0}"/>
              </a:ext>
            </a:extLst>
          </p:cNvPr>
          <p:cNvSpPr>
            <a:spLocks noGrp="1"/>
          </p:cNvSpPr>
          <p:nvPr>
            <p:ph type="sldNum" sz="quarter" idx="12"/>
          </p:nvPr>
        </p:nvSpPr>
        <p:spPr/>
        <p:txBody>
          <a:bodyPr/>
          <a:lstStyle/>
          <a:p>
            <a:fld id="{723B3C61-9534-404A-B1B4-4DCF5EE54D8B}" type="slidenum">
              <a:rPr lang="fr-FR" smtClean="0"/>
              <a:t>30</a:t>
            </a:fld>
            <a:endParaRPr lang="fr-FR"/>
          </a:p>
        </p:txBody>
      </p:sp>
    </p:spTree>
    <p:extLst>
      <p:ext uri="{BB962C8B-B14F-4D97-AF65-F5344CB8AC3E}">
        <p14:creationId xmlns:p14="http://schemas.microsoft.com/office/powerpoint/2010/main" val="2222618955"/>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743590-CE59-487C-B1B5-868AC38E5782}"/>
              </a:ext>
            </a:extLst>
          </p:cNvPr>
          <p:cNvSpPr>
            <a:spLocks noGrp="1"/>
          </p:cNvSpPr>
          <p:nvPr>
            <p:ph type="title"/>
          </p:nvPr>
        </p:nvSpPr>
        <p:spPr/>
        <p:txBody>
          <a:bodyPr>
            <a:normAutofit/>
          </a:bodyPr>
          <a:lstStyle/>
          <a:p>
            <a:pPr algn="ctr"/>
            <a:r>
              <a:rPr lang="fr-FR" sz="3600" b="1" dirty="0">
                <a:solidFill>
                  <a:srgbClr val="C00000"/>
                </a:solidFill>
                <a:latin typeface="Times New Roman" panose="02020603050405020304" pitchFamily="18" charset="0"/>
                <a:cs typeface="Times New Roman" panose="02020603050405020304" pitchFamily="18" charset="0"/>
              </a:rPr>
              <a:t>Conclusion</a:t>
            </a:r>
          </a:p>
        </p:txBody>
      </p:sp>
      <p:sp>
        <p:nvSpPr>
          <p:cNvPr id="3" name="Espace réservé du contenu 2">
            <a:extLst>
              <a:ext uri="{FF2B5EF4-FFF2-40B4-BE49-F238E27FC236}">
                <a16:creationId xmlns:a16="http://schemas.microsoft.com/office/drawing/2014/main" id="{4706E844-2488-4EAF-BED3-C68E8C410752}"/>
              </a:ext>
            </a:extLst>
          </p:cNvPr>
          <p:cNvSpPr>
            <a:spLocks noGrp="1"/>
          </p:cNvSpPr>
          <p:nvPr>
            <p:ph idx="1"/>
          </p:nvPr>
        </p:nvSpPr>
        <p:spPr>
          <a:xfrm>
            <a:off x="1451579" y="1958580"/>
            <a:ext cx="9603275" cy="3450613"/>
          </a:xfrm>
        </p:spPr>
        <p:txBody>
          <a:bodyPr>
            <a:noAutofit/>
          </a:bodyPr>
          <a:lstStyle/>
          <a:p>
            <a:pPr marL="0" indent="0">
              <a:buNone/>
            </a:pPr>
            <a:r>
              <a:rPr lang="fr-FR" sz="2400" dirty="0">
                <a:latin typeface="Times New Roman" panose="02020603050405020304" pitchFamily="18" charset="0"/>
                <a:cs typeface="Times New Roman" panose="02020603050405020304" pitchFamily="18" charset="0"/>
              </a:rPr>
              <a:t>Une démarche d’audit de la sécurité des systèmes d’information doit être le fruit d’une réflexion en amont afin d’envisager les meilleurs solutions possibles. Prenant en compte les besoins particuliers de l’organisation, tant organisationnelles que techniques. De nos jours la sécurité des systèmes d’information, ce n’est pas seulement le fait d’avoir une bonne gestion des risques, mais elle s’étend de plus en plus à une gouvernance de la sécurité des système d’information.</a:t>
            </a:r>
          </a:p>
        </p:txBody>
      </p:sp>
      <p:sp>
        <p:nvSpPr>
          <p:cNvPr id="4" name="Espace réservé du pied de page 3">
            <a:extLst>
              <a:ext uri="{FF2B5EF4-FFF2-40B4-BE49-F238E27FC236}">
                <a16:creationId xmlns:a16="http://schemas.microsoft.com/office/drawing/2014/main" id="{17D8C69C-BD4E-4399-B2FD-9680F2D8A99D}"/>
              </a:ext>
            </a:extLst>
          </p:cNvPr>
          <p:cNvSpPr>
            <a:spLocks noGrp="1"/>
          </p:cNvSpPr>
          <p:nvPr>
            <p:ph type="ftr" sz="quarter" idx="11"/>
          </p:nvPr>
        </p:nvSpPr>
        <p:spPr/>
        <p:txBody>
          <a:bodyPr/>
          <a:lstStyle/>
          <a:p>
            <a:r>
              <a:rPr lang="fr-FR"/>
              <a:t>1</a:t>
            </a:r>
          </a:p>
        </p:txBody>
      </p:sp>
      <p:sp>
        <p:nvSpPr>
          <p:cNvPr id="5" name="Espace réservé du numéro de diapositive 4">
            <a:extLst>
              <a:ext uri="{FF2B5EF4-FFF2-40B4-BE49-F238E27FC236}">
                <a16:creationId xmlns:a16="http://schemas.microsoft.com/office/drawing/2014/main" id="{E5E47754-0F0D-46A2-8A30-FCAAF19F1896}"/>
              </a:ext>
            </a:extLst>
          </p:cNvPr>
          <p:cNvSpPr>
            <a:spLocks noGrp="1"/>
          </p:cNvSpPr>
          <p:nvPr>
            <p:ph type="sldNum" sz="quarter" idx="12"/>
          </p:nvPr>
        </p:nvSpPr>
        <p:spPr/>
        <p:txBody>
          <a:bodyPr/>
          <a:lstStyle/>
          <a:p>
            <a:fld id="{723B3C61-9534-404A-B1B4-4DCF5EE54D8B}" type="slidenum">
              <a:rPr lang="fr-FR" smtClean="0"/>
              <a:t>31</a:t>
            </a:fld>
            <a:endParaRPr lang="fr-FR"/>
          </a:p>
        </p:txBody>
      </p:sp>
    </p:spTree>
    <p:extLst>
      <p:ext uri="{BB962C8B-B14F-4D97-AF65-F5344CB8AC3E}">
        <p14:creationId xmlns:p14="http://schemas.microsoft.com/office/powerpoint/2010/main" val="30070825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4256D7C-053A-4BF9-95F3-86A37130B752}"/>
              </a:ext>
            </a:extLst>
          </p:cNvPr>
          <p:cNvSpPr>
            <a:spLocks noGrp="1"/>
          </p:cNvSpPr>
          <p:nvPr>
            <p:ph idx="1"/>
          </p:nvPr>
        </p:nvSpPr>
        <p:spPr/>
        <p:txBody>
          <a:bodyPr>
            <a:normAutofit/>
          </a:bodyPr>
          <a:lstStyle/>
          <a:p>
            <a:endParaRPr lang="fr-FR" dirty="0"/>
          </a:p>
          <a:p>
            <a:pPr marL="0" indent="0" algn="ctr">
              <a:buNone/>
            </a:pPr>
            <a:endParaRPr lang="fr-FR" dirty="0"/>
          </a:p>
          <a:p>
            <a:pPr marL="0" indent="0" algn="ctr">
              <a:buNone/>
            </a:pPr>
            <a:r>
              <a:rPr lang="fr-FR" sz="4000" b="1" dirty="0">
                <a:solidFill>
                  <a:schemeClr val="accent1"/>
                </a:solidFill>
                <a:latin typeface="Times New Roman" panose="02020603050405020304" pitchFamily="18" charset="0"/>
                <a:cs typeface="Times New Roman" panose="02020603050405020304" pitchFamily="18" charset="0"/>
              </a:rPr>
              <a:t>MERCIE POUR</a:t>
            </a:r>
          </a:p>
          <a:p>
            <a:pPr marL="0" indent="0" algn="ctr">
              <a:buNone/>
            </a:pPr>
            <a:r>
              <a:rPr lang="fr-FR" sz="4000" b="1" dirty="0">
                <a:solidFill>
                  <a:schemeClr val="accent1"/>
                </a:solidFill>
                <a:latin typeface="Times New Roman" panose="02020603050405020304" pitchFamily="18" charset="0"/>
                <a:cs typeface="Times New Roman" panose="02020603050405020304" pitchFamily="18" charset="0"/>
              </a:rPr>
              <a:t>  VOTRE  AIMABLE </a:t>
            </a:r>
          </a:p>
          <a:p>
            <a:pPr marL="0" indent="0" algn="ctr">
              <a:buNone/>
            </a:pPr>
            <a:r>
              <a:rPr lang="fr-FR" sz="4000" b="1" dirty="0">
                <a:solidFill>
                  <a:schemeClr val="accent1"/>
                </a:solidFill>
                <a:latin typeface="Times New Roman" panose="02020603050405020304" pitchFamily="18" charset="0"/>
                <a:cs typeface="Times New Roman" panose="02020603050405020304" pitchFamily="18" charset="0"/>
              </a:rPr>
              <a:t>ATTENTIONS</a:t>
            </a:r>
          </a:p>
          <a:p>
            <a:pPr marL="0" indent="0">
              <a:buNone/>
            </a:pPr>
            <a:r>
              <a:rPr lang="fr-FR" sz="4000" b="1" dirty="0">
                <a:solidFill>
                  <a:schemeClr val="accent1"/>
                </a:solidFill>
                <a:latin typeface="Times New Roman" panose="02020603050405020304" pitchFamily="18" charset="0"/>
                <a:cs typeface="Times New Roman" panose="02020603050405020304" pitchFamily="18" charset="0"/>
              </a:rPr>
              <a:t>              </a:t>
            </a:r>
          </a:p>
          <a:p>
            <a:pPr marL="0" indent="0">
              <a:buNone/>
            </a:pPr>
            <a:r>
              <a:rPr lang="fr-FR" dirty="0"/>
              <a:t>                             </a:t>
            </a:r>
          </a:p>
        </p:txBody>
      </p:sp>
      <p:sp>
        <p:nvSpPr>
          <p:cNvPr id="2" name="Espace réservé du pied de page 1">
            <a:extLst>
              <a:ext uri="{FF2B5EF4-FFF2-40B4-BE49-F238E27FC236}">
                <a16:creationId xmlns:a16="http://schemas.microsoft.com/office/drawing/2014/main" id="{B56FDCC5-C04B-41BA-8A04-2EA245B0F65B}"/>
              </a:ext>
            </a:extLst>
          </p:cNvPr>
          <p:cNvSpPr>
            <a:spLocks noGrp="1"/>
          </p:cNvSpPr>
          <p:nvPr>
            <p:ph type="ftr" sz="quarter" idx="11"/>
          </p:nvPr>
        </p:nvSpPr>
        <p:spPr/>
        <p:txBody>
          <a:bodyPr/>
          <a:lstStyle/>
          <a:p>
            <a:r>
              <a:rPr lang="fr-FR"/>
              <a:t>1</a:t>
            </a:r>
          </a:p>
        </p:txBody>
      </p:sp>
      <p:sp>
        <p:nvSpPr>
          <p:cNvPr id="4" name="Espace réservé du numéro de diapositive 3">
            <a:extLst>
              <a:ext uri="{FF2B5EF4-FFF2-40B4-BE49-F238E27FC236}">
                <a16:creationId xmlns:a16="http://schemas.microsoft.com/office/drawing/2014/main" id="{7F4DA39D-6CCC-43A0-9145-C4DEAE70CBD1}"/>
              </a:ext>
            </a:extLst>
          </p:cNvPr>
          <p:cNvSpPr>
            <a:spLocks noGrp="1"/>
          </p:cNvSpPr>
          <p:nvPr>
            <p:ph type="sldNum" sz="quarter" idx="12"/>
          </p:nvPr>
        </p:nvSpPr>
        <p:spPr/>
        <p:txBody>
          <a:bodyPr/>
          <a:lstStyle/>
          <a:p>
            <a:fld id="{723B3C61-9534-404A-B1B4-4DCF5EE54D8B}" type="slidenum">
              <a:rPr lang="fr-FR" smtClean="0"/>
              <a:t>32</a:t>
            </a:fld>
            <a:endParaRPr lang="fr-FR"/>
          </a:p>
        </p:txBody>
      </p:sp>
    </p:spTree>
    <p:extLst>
      <p:ext uri="{BB962C8B-B14F-4D97-AF65-F5344CB8AC3E}">
        <p14:creationId xmlns:p14="http://schemas.microsoft.com/office/powerpoint/2010/main" val="10247912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TM04033937[[fn=Traînée de condensation]]</Template>
  <TotalTime>13920</TotalTime>
  <Words>2385</Words>
  <Application>Microsoft Office PowerPoint</Application>
  <PresentationFormat>Grand écran</PresentationFormat>
  <Paragraphs>229</Paragraphs>
  <Slides>32</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32</vt:i4>
      </vt:variant>
    </vt:vector>
  </HeadingPairs>
  <TitlesOfParts>
    <vt:vector size="39" baseType="lpstr">
      <vt:lpstr>Arial</vt:lpstr>
      <vt:lpstr>Arial Rounded MT Bold</vt:lpstr>
      <vt:lpstr>Calibri</vt:lpstr>
      <vt:lpstr>Century Gothic</vt:lpstr>
      <vt:lpstr>Times New Roman</vt:lpstr>
      <vt:lpstr>Wingdings</vt:lpstr>
      <vt:lpstr>Traînée de condensation</vt:lpstr>
      <vt:lpstr>L’AUDITE DE SECURITE DE SYSTÈME D’INFORMATIOM</vt:lpstr>
      <vt:lpstr>    </vt:lpstr>
      <vt:lpstr>Présentation PowerPoint</vt:lpstr>
      <vt:lpstr>Généralité</vt:lpstr>
      <vt:lpstr>Généralité</vt:lpstr>
      <vt:lpstr>Généralité</vt:lpstr>
      <vt:lpstr>Définition</vt:lpstr>
      <vt:lpstr>Définition</vt:lpstr>
      <vt:lpstr>Rôle et objectifs</vt:lpstr>
      <vt:lpstr>TYPE DE L’AUDITE DE SECURITE DE système d’information</vt:lpstr>
      <vt:lpstr>TYPE DE L’AUDITE DE SECURITE DE système d’information</vt:lpstr>
      <vt:lpstr>TYPE DE L’AUDITE DE SECURITE DE système d’information</vt:lpstr>
      <vt:lpstr> TYPE DE L’AUDITE DE SECURITE DE système d’information</vt:lpstr>
      <vt:lpstr>TYPE DE L’AUDITE DE SECURITE DE système d’information</vt:lpstr>
      <vt:lpstr>Cycle de vie d’audit de sécurité de système informatique</vt:lpstr>
      <vt:lpstr>Cycle de vie d’audit de sécurité de système informatique</vt:lpstr>
      <vt:lpstr> 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DEMARCHE DE REALIASATION   d’un audite de sécurité  INFORAMTIQUE</vt:lpstr>
      <vt:lpstr>Les outils de l’audit de sécurité informatique</vt:lpstr>
      <vt:lpstr>Avantage D’auditer la sécurité de système d’information</vt:lpstr>
      <vt:lpstr>Limite D’auditer la sécurité de système d’information</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85</cp:revision>
  <dcterms:created xsi:type="dcterms:W3CDTF">2025-07-09T16:11:30Z</dcterms:created>
  <dcterms:modified xsi:type="dcterms:W3CDTF">2025-10-23T22:59:51Z</dcterms:modified>
</cp:coreProperties>
</file>
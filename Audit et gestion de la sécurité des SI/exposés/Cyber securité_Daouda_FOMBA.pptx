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34"/>
  </p:notesMasterIdLst>
  <p:sldIdLst>
    <p:sldId id="256" r:id="rId2"/>
    <p:sldId id="258" r:id="rId3"/>
    <p:sldId id="259" r:id="rId4"/>
    <p:sldId id="257" r:id="rId5"/>
    <p:sldId id="307" r:id="rId6"/>
    <p:sldId id="305" r:id="rId7"/>
    <p:sldId id="311" r:id="rId8"/>
    <p:sldId id="312" r:id="rId9"/>
    <p:sldId id="309" r:id="rId10"/>
    <p:sldId id="310" r:id="rId11"/>
    <p:sldId id="308" r:id="rId12"/>
    <p:sldId id="318" r:id="rId13"/>
    <p:sldId id="320" r:id="rId14"/>
    <p:sldId id="321" r:id="rId15"/>
    <p:sldId id="319" r:id="rId16"/>
    <p:sldId id="333" r:id="rId17"/>
    <p:sldId id="313" r:id="rId18"/>
    <p:sldId id="314" r:id="rId19"/>
    <p:sldId id="315" r:id="rId20"/>
    <p:sldId id="316" r:id="rId21"/>
    <p:sldId id="317" r:id="rId22"/>
    <p:sldId id="322" r:id="rId23"/>
    <p:sldId id="325" r:id="rId24"/>
    <p:sldId id="326" r:id="rId25"/>
    <p:sldId id="323" r:id="rId26"/>
    <p:sldId id="327" r:id="rId27"/>
    <p:sldId id="324" r:id="rId28"/>
    <p:sldId id="328" r:id="rId29"/>
    <p:sldId id="329" r:id="rId30"/>
    <p:sldId id="331" r:id="rId31"/>
    <p:sldId id="332" r:id="rId32"/>
    <p:sldId id="330" r:id="rId33"/>
  </p:sldIdLst>
  <p:sldSz cx="9144000" cy="5143500" type="screen16x9"/>
  <p:notesSz cx="6858000" cy="9144000"/>
  <p:embeddedFontLst>
    <p:embeddedFont>
      <p:font typeface="Barlow Semi Condensed" panose="00000506000000000000" pitchFamily="2" charset="0"/>
      <p:regular r:id="rId35"/>
      <p:bold r:id="rId36"/>
      <p:italic r:id="rId37"/>
      <p:boldItalic r:id="rId38"/>
    </p:embeddedFont>
    <p:embeddedFont>
      <p:font typeface="Barlow Semi Condensed Medium" panose="00000606000000000000" pitchFamily="2" charset="0"/>
      <p:regular r:id="rId39"/>
      <p:bold r:id="rId40"/>
      <p:italic r:id="rId41"/>
      <p:boldItalic r:id="rId42"/>
    </p:embeddedFont>
    <p:embeddedFont>
      <p:font typeface="Fjalla One" panose="020B0604020202020204" charset="0"/>
      <p:regular r:id="rId43"/>
    </p:embeddedFont>
    <p:embeddedFont>
      <p:font typeface="Roboto Condensed Light" panose="02000000000000000000" pitchFamily="2" charset="0"/>
      <p:regular r:id="rId44"/>
      <p: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C1EE7A5-04BA-4009-9FAA-5C34508CD1B4}">
  <a:tblStyle styleId="{2C1EE7A5-04BA-4009-9FAA-5C34508CD1B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86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8" name="Google Shape;168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2"/>
        <p:cNvGrpSpPr/>
        <p:nvPr/>
      </p:nvGrpSpPr>
      <p:grpSpPr>
        <a:xfrm>
          <a:off x="0" y="0"/>
          <a:ext cx="0" cy="0"/>
          <a:chOff x="0" y="0"/>
          <a:chExt cx="0" cy="0"/>
        </a:xfrm>
      </p:grpSpPr>
      <p:sp>
        <p:nvSpPr>
          <p:cNvPr id="1893" name="Google Shape;1893;g804e9800b4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4" name="Google Shape;1894;g804e9800b4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73901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2985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079380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47079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1526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76384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2867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49397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01288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23026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93622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13468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43552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23203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1416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00773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05606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437013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164404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94146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06682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28172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78112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89750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62907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42260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431101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22874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5200"/>
            </a:lvl1pPr>
            <a:lvl2pPr lvl="1" algn="r" rtl="0">
              <a:spcBef>
                <a:spcPts val="0"/>
              </a:spcBef>
              <a:spcAft>
                <a:spcPts val="0"/>
              </a:spcAft>
              <a:buSzPts val="5200"/>
              <a:buNone/>
              <a:defRPr sz="5200"/>
            </a:lvl2pPr>
            <a:lvl3pPr lvl="2" algn="r" rtl="0">
              <a:spcBef>
                <a:spcPts val="0"/>
              </a:spcBef>
              <a:spcAft>
                <a:spcPts val="0"/>
              </a:spcAft>
              <a:buSzPts val="5200"/>
              <a:buNone/>
              <a:defRPr sz="5200"/>
            </a:lvl3pPr>
            <a:lvl4pPr lvl="3" algn="r" rtl="0">
              <a:spcBef>
                <a:spcPts val="0"/>
              </a:spcBef>
              <a:spcAft>
                <a:spcPts val="0"/>
              </a:spcAft>
              <a:buSzPts val="5200"/>
              <a:buNone/>
              <a:defRPr sz="5200"/>
            </a:lvl4pPr>
            <a:lvl5pPr lvl="4" algn="r" rtl="0">
              <a:spcBef>
                <a:spcPts val="0"/>
              </a:spcBef>
              <a:spcAft>
                <a:spcPts val="0"/>
              </a:spcAft>
              <a:buSzPts val="5200"/>
              <a:buNone/>
              <a:defRPr sz="5200"/>
            </a:lvl5pPr>
            <a:lvl6pPr lvl="5" algn="r" rtl="0">
              <a:spcBef>
                <a:spcPts val="0"/>
              </a:spcBef>
              <a:spcAft>
                <a:spcPts val="0"/>
              </a:spcAft>
              <a:buSzPts val="5200"/>
              <a:buNone/>
              <a:defRPr sz="5200"/>
            </a:lvl6pPr>
            <a:lvl7pPr lvl="6" algn="r" rtl="0">
              <a:spcBef>
                <a:spcPts val="0"/>
              </a:spcBef>
              <a:spcAft>
                <a:spcPts val="0"/>
              </a:spcAft>
              <a:buSzPts val="5200"/>
              <a:buNone/>
              <a:defRPr sz="5200"/>
            </a:lvl7pPr>
            <a:lvl8pPr lvl="7" algn="r" rtl="0">
              <a:spcBef>
                <a:spcPts val="0"/>
              </a:spcBef>
              <a:spcAft>
                <a:spcPts val="0"/>
              </a:spcAft>
              <a:buSzPts val="5200"/>
              <a:buNone/>
              <a:defRPr sz="5200"/>
            </a:lvl8pPr>
            <a:lvl9pPr lvl="8" algn="r" rtl="0">
              <a:spcBef>
                <a:spcPts val="0"/>
              </a:spcBef>
              <a:spcAft>
                <a:spcPts val="0"/>
              </a:spcAft>
              <a:buSzPts val="5200"/>
              <a:buNone/>
              <a:defRPr sz="5200"/>
            </a:lvl9pPr>
          </a:lstStyle>
          <a:p>
            <a:endParaRPr/>
          </a:p>
        </p:txBody>
      </p:sp>
      <p:sp>
        <p:nvSpPr>
          <p:cNvPr id="9" name="Google Shape;9;p2"/>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10" name="Google Shape;10;p2"/>
          <p:cNvCxnSpPr/>
          <p:nvPr/>
        </p:nvCxnSpPr>
        <p:spPr>
          <a:xfrm flipH="1">
            <a:off x="5827050" y="451300"/>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5690580" y="4258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688325" y="4232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727069" y="4623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724827" y="4597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766657" y="5018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764415" y="4996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grpSp>
        <p:nvGrpSpPr>
          <p:cNvPr id="44" name="Google Shape;44;p3"/>
          <p:cNvGrpSpPr/>
          <p:nvPr/>
        </p:nvGrpSpPr>
        <p:grpSpPr>
          <a:xfrm>
            <a:off x="2132649" y="713253"/>
            <a:ext cx="4878702" cy="3717004"/>
            <a:chOff x="399425" y="238125"/>
            <a:chExt cx="6810025" cy="5187000"/>
          </a:xfrm>
        </p:grpSpPr>
        <p:sp>
          <p:nvSpPr>
            <p:cNvPr id="45" name="Google Shape;45;p3"/>
            <p:cNvSpPr/>
            <p:nvPr/>
          </p:nvSpPr>
          <p:spPr>
            <a:xfrm>
              <a:off x="399425" y="238325"/>
              <a:ext cx="6810025" cy="5186100"/>
            </a:xfrm>
            <a:custGeom>
              <a:avLst/>
              <a:gdLst/>
              <a:ahLst/>
              <a:cxnLst/>
              <a:rect l="l" t="t" r="r" b="b"/>
              <a:pathLst>
                <a:path w="272401" h="207444" extrusionOk="0">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491875" y="238125"/>
              <a:ext cx="6575225" cy="5187000"/>
            </a:xfrm>
            <a:custGeom>
              <a:avLst/>
              <a:gdLst/>
              <a:ahLst/>
              <a:cxnLst/>
              <a:rect l="l" t="t" r="r" b="b"/>
              <a:pathLst>
                <a:path w="263009" h="207480" extrusionOk="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8" name="Google Shape;48;p3"/>
          <p:cNvSpPr txBox="1">
            <a:spLocks noGrp="1"/>
          </p:cNvSpPr>
          <p:nvPr>
            <p:ph type="title" idx="2" hasCustomPrompt="1"/>
          </p:nvPr>
        </p:nvSpPr>
        <p:spPr>
          <a:xfrm>
            <a:off x="2971800" y="1161288"/>
            <a:ext cx="2967600" cy="106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49" name="Google Shape;49;p3"/>
          <p:cNvSpPr txBox="1">
            <a:spLocks noGrp="1"/>
          </p:cNvSpPr>
          <p:nvPr>
            <p:ph type="subTitle" idx="1"/>
          </p:nvPr>
        </p:nvSpPr>
        <p:spPr>
          <a:xfrm>
            <a:off x="2973225" y="2999232"/>
            <a:ext cx="3200400" cy="685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50" name="Google Shape;50;p3"/>
          <p:cNvGrpSpPr/>
          <p:nvPr/>
        </p:nvGrpSpPr>
        <p:grpSpPr>
          <a:xfrm>
            <a:off x="432850" y="0"/>
            <a:ext cx="8278300" cy="5165700"/>
            <a:chOff x="432850" y="0"/>
            <a:chExt cx="8278300" cy="5165700"/>
          </a:xfrm>
        </p:grpSpPr>
        <p:cxnSp>
          <p:nvCxnSpPr>
            <p:cNvPr id="51" name="Google Shape;51;p3"/>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52" name="Google Shape;52;p3"/>
            <p:cNvGrpSpPr/>
            <p:nvPr/>
          </p:nvGrpSpPr>
          <p:grpSpPr>
            <a:xfrm>
              <a:off x="8129350" y="4292175"/>
              <a:ext cx="581800" cy="582350"/>
              <a:chOff x="8064275" y="887850"/>
              <a:chExt cx="581800" cy="582350"/>
            </a:xfrm>
          </p:grpSpPr>
          <p:sp>
            <p:nvSpPr>
              <p:cNvPr id="53" name="Google Shape;53;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59;p3"/>
            <p:cNvGrpSpPr/>
            <p:nvPr/>
          </p:nvGrpSpPr>
          <p:grpSpPr>
            <a:xfrm>
              <a:off x="8274238" y="3720600"/>
              <a:ext cx="292025" cy="292575"/>
              <a:chOff x="7353050" y="316275"/>
              <a:chExt cx="292025" cy="292575"/>
            </a:xfrm>
          </p:grpSpPr>
          <p:sp>
            <p:nvSpPr>
              <p:cNvPr id="60" name="Google Shape;60;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 name="Google Shape;64;p3"/>
            <p:cNvGrpSpPr/>
            <p:nvPr/>
          </p:nvGrpSpPr>
          <p:grpSpPr>
            <a:xfrm>
              <a:off x="8332763" y="3212475"/>
              <a:ext cx="175000" cy="175000"/>
              <a:chOff x="8792300" y="321275"/>
              <a:chExt cx="175000" cy="175000"/>
            </a:xfrm>
          </p:grpSpPr>
          <p:sp>
            <p:nvSpPr>
              <p:cNvPr id="65" name="Google Shape;65;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 name="Google Shape;69;p3"/>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70" name="Google Shape;70;p3"/>
            <p:cNvGrpSpPr/>
            <p:nvPr/>
          </p:nvGrpSpPr>
          <p:grpSpPr>
            <a:xfrm rot="10800000">
              <a:off x="432850" y="291788"/>
              <a:ext cx="581800" cy="582350"/>
              <a:chOff x="8064275" y="887850"/>
              <a:chExt cx="581800" cy="582350"/>
            </a:xfrm>
          </p:grpSpPr>
          <p:sp>
            <p:nvSpPr>
              <p:cNvPr id="71" name="Google Shape;71;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3"/>
            <p:cNvGrpSpPr/>
            <p:nvPr/>
          </p:nvGrpSpPr>
          <p:grpSpPr>
            <a:xfrm rot="10800000">
              <a:off x="577738" y="1153138"/>
              <a:ext cx="292025" cy="292575"/>
              <a:chOff x="7353050" y="316275"/>
              <a:chExt cx="292025" cy="292575"/>
            </a:xfrm>
          </p:grpSpPr>
          <p:sp>
            <p:nvSpPr>
              <p:cNvPr id="78" name="Google Shape;78;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3"/>
            <p:cNvGrpSpPr/>
            <p:nvPr/>
          </p:nvGrpSpPr>
          <p:grpSpPr>
            <a:xfrm rot="10800000">
              <a:off x="636238" y="1778838"/>
              <a:ext cx="175000" cy="175000"/>
              <a:chOff x="8792300" y="321275"/>
              <a:chExt cx="175000" cy="175000"/>
            </a:xfrm>
          </p:grpSpPr>
          <p:sp>
            <p:nvSpPr>
              <p:cNvPr id="83" name="Google Shape;83;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3"/>
            <p:cNvGrpSpPr/>
            <p:nvPr/>
          </p:nvGrpSpPr>
          <p:grpSpPr>
            <a:xfrm>
              <a:off x="432850" y="2003163"/>
              <a:ext cx="175013" cy="27000"/>
              <a:chOff x="5662375" y="212375"/>
              <a:chExt cx="175013" cy="27000"/>
            </a:xfrm>
          </p:grpSpPr>
          <p:sp>
            <p:nvSpPr>
              <p:cNvPr id="88" name="Google Shape;88;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3"/>
            <p:cNvGrpSpPr/>
            <p:nvPr/>
          </p:nvGrpSpPr>
          <p:grpSpPr>
            <a:xfrm>
              <a:off x="788100" y="208488"/>
              <a:ext cx="175013" cy="27000"/>
              <a:chOff x="5662375" y="212375"/>
              <a:chExt cx="175013" cy="27000"/>
            </a:xfrm>
          </p:grpSpPr>
          <p:sp>
            <p:nvSpPr>
              <p:cNvPr id="92" name="Google Shape;92;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3"/>
            <p:cNvGrpSpPr/>
            <p:nvPr/>
          </p:nvGrpSpPr>
          <p:grpSpPr>
            <a:xfrm>
              <a:off x="8129350" y="4988725"/>
              <a:ext cx="175013" cy="27000"/>
              <a:chOff x="5662375" y="212375"/>
              <a:chExt cx="175013" cy="27000"/>
            </a:xfrm>
          </p:grpSpPr>
          <p:sp>
            <p:nvSpPr>
              <p:cNvPr id="96" name="Google Shape;96;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3"/>
            <p:cNvGrpSpPr/>
            <p:nvPr/>
          </p:nvGrpSpPr>
          <p:grpSpPr>
            <a:xfrm>
              <a:off x="8497550" y="3429425"/>
              <a:ext cx="175013" cy="27000"/>
              <a:chOff x="5662375" y="212375"/>
              <a:chExt cx="175013" cy="27000"/>
            </a:xfrm>
          </p:grpSpPr>
          <p:sp>
            <p:nvSpPr>
              <p:cNvPr id="100" name="Google Shape;100;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3" name="Google Shape;103;p3"/>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3"/>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05" name="Google Shape;105;p3"/>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896112" y="2039112"/>
            <a:ext cx="3566100" cy="1362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40" name="Google Shape;440;p9"/>
          <p:cNvSpPr txBox="1">
            <a:spLocks noGrp="1"/>
          </p:cNvSpPr>
          <p:nvPr>
            <p:ph type="body" idx="1"/>
          </p:nvPr>
        </p:nvSpPr>
        <p:spPr>
          <a:xfrm>
            <a:off x="4899150" y="821850"/>
            <a:ext cx="3096000" cy="3478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marL="914400" lvl="1"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marL="1371600" lvl="2"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marL="1828800" lvl="3"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marL="2286000" lvl="4"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marL="2743200" lvl="5"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marL="3200400" lvl="6"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marL="3657600" lvl="7"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marL="4114800" lvl="8"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a:endParaRPr/>
          </a:p>
        </p:txBody>
      </p:sp>
      <p:cxnSp>
        <p:nvCxnSpPr>
          <p:cNvPr id="441" name="Google Shape;441;p9"/>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6" name="Google Shape;456;p9"/>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9"/>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4" name="Google Shape;474;p9"/>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2"/>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625" name="Google Shape;625;p13"/>
          <p:cNvSpPr txBox="1">
            <a:spLocks noGrp="1"/>
          </p:cNvSpPr>
          <p:nvPr>
            <p:ph type="subTitle" idx="1"/>
          </p:nvPr>
        </p:nvSpPr>
        <p:spPr>
          <a:xfrm>
            <a:off x="1664208" y="429768"/>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6" name="Google Shape;626;p13"/>
          <p:cNvSpPr txBox="1">
            <a:spLocks noGrp="1"/>
          </p:cNvSpPr>
          <p:nvPr>
            <p:ph type="subTitle" idx="2"/>
          </p:nvPr>
        </p:nvSpPr>
        <p:spPr>
          <a:xfrm>
            <a:off x="1664208" y="713232"/>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7" name="Google Shape;627;p13"/>
          <p:cNvSpPr txBox="1">
            <a:spLocks noGrp="1"/>
          </p:cNvSpPr>
          <p:nvPr>
            <p:ph type="subTitle" idx="3"/>
          </p:nvPr>
        </p:nvSpPr>
        <p:spPr>
          <a:xfrm>
            <a:off x="1664208" y="1508760"/>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8" name="Google Shape;628;p13"/>
          <p:cNvSpPr txBox="1">
            <a:spLocks noGrp="1"/>
          </p:cNvSpPr>
          <p:nvPr>
            <p:ph type="subTitle" idx="4"/>
          </p:nvPr>
        </p:nvSpPr>
        <p:spPr>
          <a:xfrm>
            <a:off x="1664208" y="1792224"/>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9" name="Google Shape;629;p13"/>
          <p:cNvSpPr txBox="1">
            <a:spLocks noGrp="1"/>
          </p:cNvSpPr>
          <p:nvPr>
            <p:ph type="subTitle" idx="5"/>
          </p:nvPr>
        </p:nvSpPr>
        <p:spPr>
          <a:xfrm>
            <a:off x="1664208" y="2587752"/>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0" name="Google Shape;630;p13"/>
          <p:cNvSpPr txBox="1">
            <a:spLocks noGrp="1"/>
          </p:cNvSpPr>
          <p:nvPr>
            <p:ph type="subTitle" idx="6"/>
          </p:nvPr>
        </p:nvSpPr>
        <p:spPr>
          <a:xfrm>
            <a:off x="1664208" y="2871216"/>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1" name="Google Shape;631;p13"/>
          <p:cNvSpPr txBox="1">
            <a:spLocks noGrp="1"/>
          </p:cNvSpPr>
          <p:nvPr>
            <p:ph type="subTitle" idx="7"/>
          </p:nvPr>
        </p:nvSpPr>
        <p:spPr>
          <a:xfrm>
            <a:off x="1664208" y="3666744"/>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2" name="Google Shape;632;p13"/>
          <p:cNvSpPr txBox="1">
            <a:spLocks noGrp="1"/>
          </p:cNvSpPr>
          <p:nvPr>
            <p:ph type="subTitle" idx="8"/>
          </p:nvPr>
        </p:nvSpPr>
        <p:spPr>
          <a:xfrm>
            <a:off x="1664208" y="3950208"/>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3" name="Google Shape;633;p13"/>
          <p:cNvSpPr txBox="1">
            <a:spLocks noGrp="1"/>
          </p:cNvSpPr>
          <p:nvPr>
            <p:ph type="title" idx="9" hasCustomPrompt="1"/>
          </p:nvPr>
        </p:nvSpPr>
        <p:spPr>
          <a:xfrm>
            <a:off x="813816" y="722376"/>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4" name="Google Shape;634;p13"/>
          <p:cNvSpPr txBox="1">
            <a:spLocks noGrp="1"/>
          </p:cNvSpPr>
          <p:nvPr>
            <p:ph type="title" idx="13" hasCustomPrompt="1"/>
          </p:nvPr>
        </p:nvSpPr>
        <p:spPr>
          <a:xfrm>
            <a:off x="813816" y="1801368"/>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5" name="Google Shape;635;p13"/>
          <p:cNvSpPr txBox="1">
            <a:spLocks noGrp="1"/>
          </p:cNvSpPr>
          <p:nvPr>
            <p:ph type="title" idx="14" hasCustomPrompt="1"/>
          </p:nvPr>
        </p:nvSpPr>
        <p:spPr>
          <a:xfrm>
            <a:off x="813816" y="2880360"/>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6" name="Google Shape;636;p13"/>
          <p:cNvSpPr txBox="1">
            <a:spLocks noGrp="1"/>
          </p:cNvSpPr>
          <p:nvPr>
            <p:ph type="title" idx="15" hasCustomPrompt="1"/>
          </p:nvPr>
        </p:nvSpPr>
        <p:spPr>
          <a:xfrm>
            <a:off x="813816" y="3959352"/>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3">
  <p:cSld name="TITLE_AND_BODY_1">
    <p:spTree>
      <p:nvGrpSpPr>
        <p:cNvPr id="1" name="Shape 1139"/>
        <p:cNvGrpSpPr/>
        <p:nvPr/>
      </p:nvGrpSpPr>
      <p:grpSpPr>
        <a:xfrm>
          <a:off x="0" y="0"/>
          <a:ext cx="0" cy="0"/>
          <a:chOff x="0" y="0"/>
          <a:chExt cx="0" cy="0"/>
        </a:xfrm>
      </p:grpSpPr>
      <p:sp>
        <p:nvSpPr>
          <p:cNvPr id="1140" name="Google Shape;1140;p23"/>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141" name="Google Shape;1141;p23"/>
          <p:cNvSpPr txBox="1">
            <a:spLocks noGrp="1"/>
          </p:cNvSpPr>
          <p:nvPr>
            <p:ph type="body" idx="1"/>
          </p:nvPr>
        </p:nvSpPr>
        <p:spPr>
          <a:xfrm>
            <a:off x="714650" y="1152150"/>
            <a:ext cx="7705500" cy="3529500"/>
          </a:xfrm>
          <a:prstGeom prst="rect">
            <a:avLst/>
          </a:prstGeom>
          <a:noFill/>
          <a:ln>
            <a:noFill/>
          </a:ln>
        </p:spPr>
        <p:txBody>
          <a:bodyPr spcFirstLastPara="1" wrap="square" lIns="91425" tIns="91425" rIns="91425" bIns="91425" anchor="ctr" anchorCtr="0">
            <a:noAutofit/>
          </a:bodyPr>
          <a:lstStyle>
            <a:lvl1pPr marL="457200" lvl="0" indent="-304800" rtl="0">
              <a:spcBef>
                <a:spcPts val="0"/>
              </a:spcBef>
              <a:spcAft>
                <a:spcPts val="0"/>
              </a:spcAft>
              <a:buClr>
                <a:srgbClr val="434343"/>
              </a:buClr>
              <a:buSzPts val="1200"/>
              <a:buFont typeface="Barlow Semi Condensed Medium"/>
              <a:buAutoNum type="arabicPeriod"/>
              <a:defRPr sz="1200">
                <a:solidFill>
                  <a:schemeClr val="dk2"/>
                </a:solidFill>
                <a:latin typeface="Barlow Semi Condensed"/>
                <a:ea typeface="Barlow Semi Condensed"/>
                <a:cs typeface="Barlow Semi Condensed"/>
                <a:sym typeface="Barlow Semi Condensed"/>
              </a:defRPr>
            </a:lvl1pPr>
            <a:lvl2pPr marL="914400" lvl="1"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2pPr>
            <a:lvl3pPr marL="1371600" lvl="2"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3pPr>
            <a:lvl4pPr marL="1828800" lvl="3" indent="-304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4pPr>
            <a:lvl5pPr marL="2286000" lvl="4"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5pPr>
            <a:lvl6pPr marL="2743200" lvl="5"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6pPr>
            <a:lvl7pPr marL="3200400" lvl="6" indent="-304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7pPr>
            <a:lvl8pPr marL="3657600" lvl="7"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8pPr>
            <a:lvl9pPr marL="4114800" lvl="8"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9pPr>
          </a:lstStyle>
          <a:p>
            <a:endParaRPr/>
          </a:p>
        </p:txBody>
      </p:sp>
      <p:cxnSp>
        <p:nvCxnSpPr>
          <p:cNvPr id="1142" name="Google Shape;1142;p23"/>
          <p:cNvCxnSpPr/>
          <p:nvPr/>
        </p:nvCxnSpPr>
        <p:spPr>
          <a:xfrm rot="10800000">
            <a:off x="303000" y="3359375"/>
            <a:ext cx="151800" cy="957300"/>
          </a:xfrm>
          <a:prstGeom prst="straightConnector1">
            <a:avLst/>
          </a:prstGeom>
          <a:noFill/>
          <a:ln w="9525" cap="flat" cmpd="sng">
            <a:solidFill>
              <a:schemeClr val="dk1"/>
            </a:solidFill>
            <a:prstDash val="solid"/>
            <a:round/>
            <a:headEnd type="none" w="med" len="med"/>
            <a:tailEnd type="none" w="med" len="med"/>
          </a:ln>
        </p:spPr>
      </p:cxnSp>
      <p:cxnSp>
        <p:nvCxnSpPr>
          <p:cNvPr id="1143" name="Google Shape;1143;p23"/>
          <p:cNvCxnSpPr/>
          <p:nvPr/>
        </p:nvCxnSpPr>
        <p:spPr>
          <a:xfrm rot="10800000" flipH="1">
            <a:off x="0" y="4332550"/>
            <a:ext cx="446700" cy="663900"/>
          </a:xfrm>
          <a:prstGeom prst="straightConnector1">
            <a:avLst/>
          </a:prstGeom>
          <a:noFill/>
          <a:ln w="9525" cap="flat" cmpd="sng">
            <a:solidFill>
              <a:schemeClr val="dk1"/>
            </a:solidFill>
            <a:prstDash val="solid"/>
            <a:round/>
            <a:headEnd type="none" w="med" len="med"/>
            <a:tailEnd type="none" w="med" len="med"/>
          </a:ln>
        </p:spPr>
      </p:cxnSp>
      <p:grpSp>
        <p:nvGrpSpPr>
          <p:cNvPr id="1144" name="Google Shape;1144;p23"/>
          <p:cNvGrpSpPr/>
          <p:nvPr/>
        </p:nvGrpSpPr>
        <p:grpSpPr>
          <a:xfrm flipH="1">
            <a:off x="300738" y="4167800"/>
            <a:ext cx="292025" cy="292575"/>
            <a:chOff x="7353050" y="316275"/>
            <a:chExt cx="292025" cy="292575"/>
          </a:xfrm>
        </p:grpSpPr>
        <p:sp>
          <p:nvSpPr>
            <p:cNvPr id="1145" name="Google Shape;1145;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9" name="Google Shape;1149;p23"/>
          <p:cNvGrpSpPr/>
          <p:nvPr/>
        </p:nvGrpSpPr>
        <p:grpSpPr>
          <a:xfrm>
            <a:off x="148789" y="3224300"/>
            <a:ext cx="293111" cy="293388"/>
            <a:chOff x="3164039" y="430875"/>
            <a:chExt cx="293111" cy="293388"/>
          </a:xfrm>
        </p:grpSpPr>
        <p:sp>
          <p:nvSpPr>
            <p:cNvPr id="1150" name="Google Shape;1150;p23"/>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3"/>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3"/>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3"/>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3"/>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3"/>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56" name="Google Shape;1156;p23"/>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1157" name="Google Shape;1157;p23"/>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1158" name="Google Shape;1158;p23"/>
          <p:cNvGrpSpPr/>
          <p:nvPr/>
        </p:nvGrpSpPr>
        <p:grpSpPr>
          <a:xfrm>
            <a:off x="8064275" y="526925"/>
            <a:ext cx="581800" cy="582350"/>
            <a:chOff x="8064275" y="887850"/>
            <a:chExt cx="581800" cy="582350"/>
          </a:xfrm>
        </p:grpSpPr>
        <p:sp>
          <p:nvSpPr>
            <p:cNvPr id="1159" name="Google Shape;1159;p2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5" name="Google Shape;1165;p23"/>
          <p:cNvGrpSpPr/>
          <p:nvPr/>
        </p:nvGrpSpPr>
        <p:grpSpPr>
          <a:xfrm>
            <a:off x="7033875" y="170875"/>
            <a:ext cx="292025" cy="292575"/>
            <a:chOff x="7353050" y="316275"/>
            <a:chExt cx="292025" cy="292575"/>
          </a:xfrm>
        </p:grpSpPr>
        <p:sp>
          <p:nvSpPr>
            <p:cNvPr id="1166" name="Google Shape;1166;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0" name="Google Shape;1170;p23"/>
          <p:cNvGrpSpPr/>
          <p:nvPr/>
        </p:nvGrpSpPr>
        <p:grpSpPr>
          <a:xfrm>
            <a:off x="8757950" y="229650"/>
            <a:ext cx="175000" cy="175000"/>
            <a:chOff x="8792300" y="321275"/>
            <a:chExt cx="175000" cy="175000"/>
          </a:xfrm>
        </p:grpSpPr>
        <p:sp>
          <p:nvSpPr>
            <p:cNvPr id="1171" name="Google Shape;1171;p2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2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5" name="Google Shape;1175;p23"/>
          <p:cNvGrpSpPr/>
          <p:nvPr/>
        </p:nvGrpSpPr>
        <p:grpSpPr>
          <a:xfrm>
            <a:off x="8490050" y="170875"/>
            <a:ext cx="175013" cy="27000"/>
            <a:chOff x="5662375" y="212375"/>
            <a:chExt cx="175013" cy="27000"/>
          </a:xfrm>
        </p:grpSpPr>
        <p:sp>
          <p:nvSpPr>
            <p:cNvPr id="1176" name="Google Shape;1176;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9" name="Google Shape;1179;p23"/>
          <p:cNvGrpSpPr/>
          <p:nvPr/>
        </p:nvGrpSpPr>
        <p:grpSpPr>
          <a:xfrm>
            <a:off x="7916350" y="1124600"/>
            <a:ext cx="175013" cy="27000"/>
            <a:chOff x="5662375" y="212375"/>
            <a:chExt cx="175013" cy="27000"/>
          </a:xfrm>
        </p:grpSpPr>
        <p:sp>
          <p:nvSpPr>
            <p:cNvPr id="1180" name="Google Shape;1180;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18">
    <p:spTree>
      <p:nvGrpSpPr>
        <p:cNvPr id="1"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7181408" y="2082400"/>
            <a:ext cx="1342200" cy="3153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7232433" y="736375"/>
            <a:ext cx="1332000" cy="3921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8168433" y="-66600"/>
            <a:ext cx="273900" cy="4071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7407333" y="1284925"/>
            <a:ext cx="581800" cy="582350"/>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8" name="Google Shape;1338;p27"/>
          <p:cNvGrpSpPr/>
          <p:nvPr/>
        </p:nvGrpSpPr>
        <p:grpSpPr>
          <a:xfrm rot="5400000" flipH="1">
            <a:off x="7869720" y="2754200"/>
            <a:ext cx="292025" cy="292575"/>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3" name="Google Shape;1343;p27"/>
          <p:cNvGrpSpPr/>
          <p:nvPr/>
        </p:nvGrpSpPr>
        <p:grpSpPr>
          <a:xfrm rot="5400000" flipH="1">
            <a:off x="8012458" y="178175"/>
            <a:ext cx="175000" cy="175000"/>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27"/>
          <p:cNvGrpSpPr/>
          <p:nvPr/>
        </p:nvGrpSpPr>
        <p:grpSpPr>
          <a:xfrm rot="5400000" flipH="1">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9" name="Google Shape;1359;p27"/>
          <p:cNvCxnSpPr/>
          <p:nvPr/>
        </p:nvCxnSpPr>
        <p:spPr>
          <a:xfrm rot="5400000" flipH="1">
            <a:off x="740850" y="2598325"/>
            <a:ext cx="1672500" cy="126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847100" y="3554000"/>
            <a:ext cx="829500" cy="7434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105775" y="4151250"/>
            <a:ext cx="796500" cy="1188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9" name="Google Shape;1379;p27"/>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7"/>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7"/>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7"/>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7"/>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7"/>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2">
  <p:cSld name="CUSTOM_19">
    <p:spTree>
      <p:nvGrpSpPr>
        <p:cNvPr id="1" name="Shape 1397"/>
        <p:cNvGrpSpPr/>
        <p:nvPr/>
      </p:nvGrpSpPr>
      <p:grpSpPr>
        <a:xfrm>
          <a:off x="0" y="0"/>
          <a:ext cx="0" cy="0"/>
          <a:chOff x="0" y="0"/>
          <a:chExt cx="0" cy="0"/>
        </a:xfrm>
      </p:grpSpPr>
      <p:grpSp>
        <p:nvGrpSpPr>
          <p:cNvPr id="1398" name="Google Shape;1398;p28"/>
          <p:cNvGrpSpPr/>
          <p:nvPr/>
        </p:nvGrpSpPr>
        <p:grpSpPr>
          <a:xfrm>
            <a:off x="261711" y="-1158"/>
            <a:ext cx="8550326" cy="39816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3">
  <p:cSld name="CUSTOM_20">
    <p:spTree>
      <p:nvGrpSpPr>
        <p:cNvPr id="1" name="Shape 1418"/>
        <p:cNvGrpSpPr/>
        <p:nvPr/>
      </p:nvGrpSpPr>
      <p:grpSpPr>
        <a:xfrm>
          <a:off x="0" y="0"/>
          <a:ext cx="0" cy="0"/>
          <a:chOff x="0" y="0"/>
          <a:chExt cx="0" cy="0"/>
        </a:xfrm>
      </p:grpSpPr>
      <p:grpSp>
        <p:nvGrpSpPr>
          <p:cNvPr id="1419" name="Google Shape;1419;p29"/>
          <p:cNvGrpSpPr/>
          <p:nvPr/>
        </p:nvGrpSpPr>
        <p:grpSpPr>
          <a:xfrm>
            <a:off x="432850" y="0"/>
            <a:ext cx="8278300" cy="51657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4">
  <p:cSld name="CUSTOM_21">
    <p:spTree>
      <p:nvGrpSpPr>
        <p:cNvPr id="1"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5" r:id="rId3"/>
    <p:sldLayoutId id="2147483658" r:id="rId4"/>
    <p:sldLayoutId id="2147483659" r:id="rId5"/>
    <p:sldLayoutId id="2147483669" r:id="rId6"/>
    <p:sldLayoutId id="2147483673" r:id="rId7"/>
    <p:sldLayoutId id="2147483674" r:id="rId8"/>
    <p:sldLayoutId id="2147483675" r:id="rId9"/>
    <p:sldLayoutId id="2147483676"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hyperlink" Target="https://fr.wikipedia.org/wiki/Spear_phishing"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https://www.axis-solutions.fr/quel-serveur-choisir-pour-mon-entreprise/" TargetMode="External"/><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fr.cybernews.com/" TargetMode="External"/><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8" Type="http://schemas.openxmlformats.org/officeDocument/2006/relationships/hyperlink" Target="https://www.freenews.fr/actu-du-net/la-legislation-en-matiere-de-cybersecurite-un-cadre-juridique-en-mutation-pour-faire-face-aux-menaces-numeriques" TargetMode="External"/><Relationship Id="rId3" Type="http://schemas.openxmlformats.org/officeDocument/2006/relationships/hyperlink" Target="https://cybersecurityontario.gov.on.ca/mod/page/view.php?id=225&amp;lang=fr_ca" TargetMode="External"/><Relationship Id="rId7" Type="http://schemas.openxmlformats.org/officeDocument/2006/relationships/hyperlink" Target="https://www.avast.com/fr-fr/c-malware" TargetMode="External"/><Relationship Id="rId2" Type="http://schemas.openxmlformats.org/officeDocument/2006/relationships/notesSlide" Target="../notesSlides/notesSlide32.xml"/><Relationship Id="rId1" Type="http://schemas.openxmlformats.org/officeDocument/2006/relationships/slideLayout" Target="../slideLayouts/slideLayout6.xml"/><Relationship Id="rId6" Type="http://schemas.openxmlformats.org/officeDocument/2006/relationships/hyperlink" Target="https://www.axis-solutions.fr/cyberattaques-les-5-types-les-plus-courants/" TargetMode="External"/><Relationship Id="rId5" Type="http://schemas.openxmlformats.org/officeDocument/2006/relationships/hyperlink" Target="https://www.itaia.fr/comment-securiser-un-reseau-informatique/" TargetMode="External"/><Relationship Id="rId4" Type="http://schemas.openxmlformats.org/officeDocument/2006/relationships/hyperlink" Target="https://www.cyber.gc.ca/fr/orientation/introduction-lenvironnement-de-cybermenac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sp>
        <p:nvSpPr>
          <p:cNvPr id="1884" name="Google Shape;1884;p35"/>
          <p:cNvSpPr txBox="1">
            <a:spLocks noGrp="1"/>
          </p:cNvSpPr>
          <p:nvPr>
            <p:ph type="ctrTitle"/>
          </p:nvPr>
        </p:nvSpPr>
        <p:spPr>
          <a:xfrm>
            <a:off x="3745301" y="1228788"/>
            <a:ext cx="3977524" cy="1532717"/>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5000" dirty="0">
                <a:solidFill>
                  <a:schemeClr val="dk2"/>
                </a:solidFill>
              </a:rPr>
              <a:t>CyberSecurité</a:t>
            </a:r>
            <a:endParaRPr sz="5000" dirty="0">
              <a:solidFill>
                <a:schemeClr val="dk2"/>
              </a:solidFill>
            </a:endParaRPr>
          </a:p>
        </p:txBody>
      </p:sp>
      <p:sp>
        <p:nvSpPr>
          <p:cNvPr id="199" name="Google Shape;1885;p35">
            <a:extLst>
              <a:ext uri="{FF2B5EF4-FFF2-40B4-BE49-F238E27FC236}">
                <a16:creationId xmlns:a16="http://schemas.microsoft.com/office/drawing/2014/main" id="{17474D7F-1F15-4744-B3D8-1026A56C74FD}"/>
              </a:ext>
            </a:extLst>
          </p:cNvPr>
          <p:cNvSpPr txBox="1">
            <a:spLocks/>
          </p:cNvSpPr>
          <p:nvPr/>
        </p:nvSpPr>
        <p:spPr>
          <a:xfrm>
            <a:off x="4310677" y="4130714"/>
            <a:ext cx="3199994" cy="645059"/>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r" rtl="0">
              <a:lnSpc>
                <a:spcPct val="100000"/>
              </a:lnSpc>
              <a:spcBef>
                <a:spcPts val="0"/>
              </a:spcBef>
              <a:spcAft>
                <a:spcPts val="0"/>
              </a:spcAft>
              <a:buClr>
                <a:schemeClr val="accent1"/>
              </a:buClr>
              <a:buSzPts val="2800"/>
              <a:buFont typeface="Barlow Semi Condensed Medium"/>
              <a:buNone/>
              <a:defRPr sz="2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a:buClr>
                <a:schemeClr val="dk1"/>
              </a:buClr>
              <a:buSzPts val="1100"/>
              <a:buFont typeface="Arial"/>
              <a:buNone/>
            </a:pPr>
            <a:r>
              <a:rPr lang="fr-FR" sz="2300" dirty="0">
                <a:solidFill>
                  <a:schemeClr val="tx1"/>
                </a:solidFill>
              </a:rPr>
              <a:t>Encadré par Dr A. Sidibé</a:t>
            </a:r>
          </a:p>
        </p:txBody>
      </p:sp>
      <p:pic>
        <p:nvPicPr>
          <p:cNvPr id="3" name="Image 2">
            <a:extLst>
              <a:ext uri="{FF2B5EF4-FFF2-40B4-BE49-F238E27FC236}">
                <a16:creationId xmlns:a16="http://schemas.microsoft.com/office/drawing/2014/main" id="{50A1AE32-591E-4DD7-9430-E570AA28842C}"/>
              </a:ext>
            </a:extLst>
          </p:cNvPr>
          <p:cNvPicPr>
            <a:picLocks noChangeAspect="1"/>
          </p:cNvPicPr>
          <p:nvPr/>
        </p:nvPicPr>
        <p:blipFill>
          <a:blip r:embed="rId3"/>
          <a:stretch>
            <a:fillRect/>
          </a:stretch>
        </p:blipFill>
        <p:spPr>
          <a:xfrm>
            <a:off x="48988" y="-30235"/>
            <a:ext cx="1281900" cy="906649"/>
          </a:xfrm>
          <a:prstGeom prst="rect">
            <a:avLst/>
          </a:prstGeom>
        </p:spPr>
      </p:pic>
      <p:pic>
        <p:nvPicPr>
          <p:cNvPr id="5" name="Image 4">
            <a:extLst>
              <a:ext uri="{FF2B5EF4-FFF2-40B4-BE49-F238E27FC236}">
                <a16:creationId xmlns:a16="http://schemas.microsoft.com/office/drawing/2014/main" id="{1043B208-23A6-4D12-A2EB-F19D3FD163B9}"/>
              </a:ext>
            </a:extLst>
          </p:cNvPr>
          <p:cNvPicPr>
            <a:picLocks noChangeAspect="1"/>
          </p:cNvPicPr>
          <p:nvPr/>
        </p:nvPicPr>
        <p:blipFill>
          <a:blip r:embed="rId4"/>
          <a:stretch>
            <a:fillRect/>
          </a:stretch>
        </p:blipFill>
        <p:spPr>
          <a:xfrm>
            <a:off x="689938" y="1086027"/>
            <a:ext cx="3202481" cy="3202481"/>
          </a:xfrm>
          <a:prstGeom prst="rect">
            <a:avLst/>
          </a:prstGeom>
        </p:spPr>
      </p:pic>
      <p:sp>
        <p:nvSpPr>
          <p:cNvPr id="6" name="Rectangle : coins arrondis 5">
            <a:extLst>
              <a:ext uri="{FF2B5EF4-FFF2-40B4-BE49-F238E27FC236}">
                <a16:creationId xmlns:a16="http://schemas.microsoft.com/office/drawing/2014/main" id="{695FADCF-9C30-46B9-8732-9840BBE0F095}"/>
              </a:ext>
            </a:extLst>
          </p:cNvPr>
          <p:cNvSpPr/>
          <p:nvPr/>
        </p:nvSpPr>
        <p:spPr>
          <a:xfrm>
            <a:off x="4480309" y="2963248"/>
            <a:ext cx="3315739" cy="9657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t>Présenté par Daouda Fomba</a:t>
            </a:r>
          </a:p>
          <a:p>
            <a:pPr algn="ctr"/>
            <a:r>
              <a:rPr lang="fr-FR" sz="1600" dirty="0"/>
              <a:t>Etudiant en M2S3 Option</a:t>
            </a:r>
          </a:p>
          <a:p>
            <a:pPr algn="ctr"/>
            <a:r>
              <a:rPr lang="fr-FR" sz="1600" dirty="0"/>
              <a:t>MSI (ENI-ABT)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95"/>
        <p:cNvGrpSpPr/>
        <p:nvPr/>
      </p:nvGrpSpPr>
      <p:grpSpPr>
        <a:xfrm>
          <a:off x="0" y="0"/>
          <a:ext cx="0" cy="0"/>
          <a:chOff x="0" y="0"/>
          <a:chExt cx="0" cy="0"/>
        </a:xfrm>
      </p:grpSpPr>
      <p:grpSp>
        <p:nvGrpSpPr>
          <p:cNvPr id="2106" name="Google Shape;2106;p37"/>
          <p:cNvGrpSpPr/>
          <p:nvPr/>
        </p:nvGrpSpPr>
        <p:grpSpPr>
          <a:xfrm>
            <a:off x="731647" y="1007121"/>
            <a:ext cx="635100" cy="734640"/>
            <a:chOff x="731647" y="573573"/>
            <a:chExt cx="635100" cy="734640"/>
          </a:xfrm>
        </p:grpSpPr>
        <p:grpSp>
          <p:nvGrpSpPr>
            <p:cNvPr id="2107" name="Google Shape;2107;p37"/>
            <p:cNvGrpSpPr/>
            <p:nvPr/>
          </p:nvGrpSpPr>
          <p:grpSpPr>
            <a:xfrm>
              <a:off x="731647" y="573573"/>
              <a:ext cx="635100" cy="635100"/>
              <a:chOff x="917231" y="750460"/>
              <a:chExt cx="635100" cy="635100"/>
            </a:xfrm>
          </p:grpSpPr>
          <p:sp>
            <p:nvSpPr>
              <p:cNvPr id="2108" name="Google Shape;2108;p37"/>
              <p:cNvSpPr/>
              <p:nvPr/>
            </p:nvSpPr>
            <p:spPr>
              <a:xfrm>
                <a:off x="917231" y="750460"/>
                <a:ext cx="635100" cy="6351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7"/>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0" name="Google Shape;2110;p37"/>
            <p:cNvGrpSpPr/>
            <p:nvPr/>
          </p:nvGrpSpPr>
          <p:grpSpPr>
            <a:xfrm>
              <a:off x="961679" y="1281213"/>
              <a:ext cx="175013" cy="27000"/>
              <a:chOff x="5662375" y="212375"/>
              <a:chExt cx="175013" cy="27000"/>
            </a:xfrm>
          </p:grpSpPr>
          <p:sp>
            <p:nvSpPr>
              <p:cNvPr id="2111" name="Google Shape;2111;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2" name="Google Shape;2112;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3" name="Google Shape;2113;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14" name="Google Shape;2114;p37"/>
          <p:cNvGrpSpPr/>
          <p:nvPr/>
        </p:nvGrpSpPr>
        <p:grpSpPr>
          <a:xfrm>
            <a:off x="731647" y="1973653"/>
            <a:ext cx="635100" cy="733490"/>
            <a:chOff x="731647" y="1650460"/>
            <a:chExt cx="635100" cy="733490"/>
          </a:xfrm>
        </p:grpSpPr>
        <p:grpSp>
          <p:nvGrpSpPr>
            <p:cNvPr id="2115" name="Google Shape;2115;p37"/>
            <p:cNvGrpSpPr/>
            <p:nvPr/>
          </p:nvGrpSpPr>
          <p:grpSpPr>
            <a:xfrm>
              <a:off x="731647" y="1650460"/>
              <a:ext cx="635100" cy="635100"/>
              <a:chOff x="917231" y="1827973"/>
              <a:chExt cx="635100" cy="635100"/>
            </a:xfrm>
          </p:grpSpPr>
          <p:sp>
            <p:nvSpPr>
              <p:cNvPr id="2116" name="Google Shape;2116;p37"/>
              <p:cNvSpPr/>
              <p:nvPr/>
            </p:nvSpPr>
            <p:spPr>
              <a:xfrm>
                <a:off x="917231" y="1827973"/>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37"/>
              <p:cNvSpPr/>
              <p:nvPr/>
            </p:nvSpPr>
            <p:spPr>
              <a:xfrm>
                <a:off x="1001931" y="1912710"/>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8" name="Google Shape;2118;p37"/>
            <p:cNvGrpSpPr/>
            <p:nvPr/>
          </p:nvGrpSpPr>
          <p:grpSpPr>
            <a:xfrm>
              <a:off x="961679" y="2356951"/>
              <a:ext cx="175013" cy="27000"/>
              <a:chOff x="5662375" y="212375"/>
              <a:chExt cx="175013" cy="27000"/>
            </a:xfrm>
          </p:grpSpPr>
          <p:sp>
            <p:nvSpPr>
              <p:cNvPr id="2119" name="Google Shape;2119;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0" name="Google Shape;2120;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1" name="Google Shape;2121;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22" name="Google Shape;2122;p37"/>
          <p:cNvGrpSpPr/>
          <p:nvPr/>
        </p:nvGrpSpPr>
        <p:grpSpPr>
          <a:xfrm>
            <a:off x="731647" y="2823919"/>
            <a:ext cx="635100" cy="734984"/>
            <a:chOff x="731647" y="2728277"/>
            <a:chExt cx="635100" cy="734984"/>
          </a:xfrm>
        </p:grpSpPr>
        <p:grpSp>
          <p:nvGrpSpPr>
            <p:cNvPr id="2123" name="Google Shape;2123;p37"/>
            <p:cNvGrpSpPr/>
            <p:nvPr/>
          </p:nvGrpSpPr>
          <p:grpSpPr>
            <a:xfrm>
              <a:off x="731647" y="2728277"/>
              <a:ext cx="635100" cy="635100"/>
              <a:chOff x="917231" y="2905502"/>
              <a:chExt cx="635100" cy="635100"/>
            </a:xfrm>
          </p:grpSpPr>
          <p:sp>
            <p:nvSpPr>
              <p:cNvPr id="2124" name="Google Shape;2124;p37"/>
              <p:cNvSpPr/>
              <p:nvPr/>
            </p:nvSpPr>
            <p:spPr>
              <a:xfrm>
                <a:off x="917231" y="2905502"/>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37"/>
              <p:cNvSpPr/>
              <p:nvPr/>
            </p:nvSpPr>
            <p:spPr>
              <a:xfrm>
                <a:off x="1001931" y="2990252"/>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6" name="Google Shape;2126;p37"/>
            <p:cNvGrpSpPr/>
            <p:nvPr/>
          </p:nvGrpSpPr>
          <p:grpSpPr>
            <a:xfrm>
              <a:off x="961679" y="3436260"/>
              <a:ext cx="175013" cy="27000"/>
              <a:chOff x="5662375" y="212375"/>
              <a:chExt cx="175013" cy="27000"/>
            </a:xfrm>
          </p:grpSpPr>
          <p:sp>
            <p:nvSpPr>
              <p:cNvPr id="2127" name="Google Shape;2127;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8" name="Google Shape;2128;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9" name="Google Shape;2129;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30" name="Google Shape;2130;p37"/>
          <p:cNvGrpSpPr/>
          <p:nvPr/>
        </p:nvGrpSpPr>
        <p:grpSpPr>
          <a:xfrm>
            <a:off x="751916" y="3803660"/>
            <a:ext cx="635100" cy="734704"/>
            <a:chOff x="731647" y="3806675"/>
            <a:chExt cx="635100" cy="734704"/>
          </a:xfrm>
        </p:grpSpPr>
        <p:grpSp>
          <p:nvGrpSpPr>
            <p:cNvPr id="2131" name="Google Shape;2131;p37"/>
            <p:cNvGrpSpPr/>
            <p:nvPr/>
          </p:nvGrpSpPr>
          <p:grpSpPr>
            <a:xfrm>
              <a:off x="731647" y="3806675"/>
              <a:ext cx="635100" cy="635100"/>
              <a:chOff x="917231" y="3983097"/>
              <a:chExt cx="635100" cy="635100"/>
            </a:xfrm>
          </p:grpSpPr>
          <p:sp>
            <p:nvSpPr>
              <p:cNvPr id="2132" name="Google Shape;2132;p37"/>
              <p:cNvSpPr/>
              <p:nvPr/>
            </p:nvSpPr>
            <p:spPr>
              <a:xfrm>
                <a:off x="917231" y="3983097"/>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7"/>
              <p:cNvSpPr/>
              <p:nvPr/>
            </p:nvSpPr>
            <p:spPr>
              <a:xfrm>
                <a:off x="1001931" y="4067797"/>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4" name="Google Shape;2134;p37"/>
            <p:cNvGrpSpPr/>
            <p:nvPr/>
          </p:nvGrpSpPr>
          <p:grpSpPr>
            <a:xfrm>
              <a:off x="961679" y="4514379"/>
              <a:ext cx="175013" cy="27000"/>
              <a:chOff x="5662375" y="212375"/>
              <a:chExt cx="175013" cy="27000"/>
            </a:xfrm>
          </p:grpSpPr>
          <p:sp>
            <p:nvSpPr>
              <p:cNvPr id="2135" name="Google Shape;2135;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6" name="Google Shape;2136;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7" name="Google Shape;2137;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38" name="Google Shape;2138;p37"/>
          <p:cNvSpPr txBox="1">
            <a:spLocks noGrp="1"/>
          </p:cNvSpPr>
          <p:nvPr>
            <p:ph type="title"/>
          </p:nvPr>
        </p:nvSpPr>
        <p:spPr>
          <a:xfrm>
            <a:off x="3012187" y="128015"/>
            <a:ext cx="2615100" cy="576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Sommaire</a:t>
            </a:r>
            <a:endParaRPr dirty="0"/>
          </a:p>
        </p:txBody>
      </p:sp>
      <p:sp>
        <p:nvSpPr>
          <p:cNvPr id="2141" name="Google Shape;2141;p37"/>
          <p:cNvSpPr txBox="1">
            <a:spLocks noGrp="1"/>
          </p:cNvSpPr>
          <p:nvPr>
            <p:ph type="subTitle" idx="3"/>
          </p:nvPr>
        </p:nvSpPr>
        <p:spPr>
          <a:xfrm>
            <a:off x="1448916" y="1117493"/>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FR" sz="1800" b="1" dirty="0">
                <a:solidFill>
                  <a:schemeClr val="tx1"/>
                </a:solidFill>
                <a:effectLst/>
                <a:latin typeface="Barlow Semi Condensed" panose="00000506000000000000" pitchFamily="2" charset="0"/>
                <a:ea typeface="Times New Roman" panose="02020603050405020304" pitchFamily="18" charset="0"/>
              </a:rPr>
              <a:t>Introduction</a:t>
            </a:r>
            <a:endParaRPr dirty="0">
              <a:solidFill>
                <a:schemeClr val="tx1"/>
              </a:solidFill>
              <a:latin typeface="Barlow Semi Condensed" panose="00000506000000000000" pitchFamily="2" charset="0"/>
            </a:endParaRPr>
          </a:p>
        </p:txBody>
      </p:sp>
      <p:sp>
        <p:nvSpPr>
          <p:cNvPr id="2143" name="Google Shape;2143;p37"/>
          <p:cNvSpPr txBox="1">
            <a:spLocks noGrp="1"/>
          </p:cNvSpPr>
          <p:nvPr>
            <p:ph type="subTitle" idx="5"/>
          </p:nvPr>
        </p:nvSpPr>
        <p:spPr>
          <a:xfrm>
            <a:off x="1385265" y="1930082"/>
            <a:ext cx="3097582" cy="750062"/>
          </a:xfrm>
          <a:prstGeom prst="rect">
            <a:avLst/>
          </a:prstGeom>
        </p:spPr>
        <p:txBody>
          <a:bodyPr spcFirstLastPara="1" wrap="square" lIns="91425" tIns="91425" rIns="91425" bIns="91425" anchor="t" anchorCtr="0">
            <a:noAutofit/>
          </a:bodyPr>
          <a:lstStyle/>
          <a:p>
            <a:pPr marL="0" lvl="0" indent="0" rtl="0">
              <a:lnSpc>
                <a:spcPct val="115000"/>
              </a:lnSpc>
              <a:spcBef>
                <a:spcPts val="0"/>
              </a:spcBef>
              <a:spcAft>
                <a:spcPts val="0"/>
              </a:spcAft>
              <a:buNone/>
            </a:pPr>
            <a:r>
              <a:rPr lang="fr-FR" sz="1600" b="1" dirty="0">
                <a:solidFill>
                  <a:schemeClr val="tx1"/>
                </a:solidFill>
                <a:effectLst/>
                <a:latin typeface="Barlow Semi Condensed" panose="00000506000000000000" pitchFamily="2" charset="0"/>
                <a:ea typeface="Times New Roman" panose="02020603050405020304" pitchFamily="18" charset="0"/>
                <a:cs typeface="Fjalla One" panose="020B0604020202020204" charset="0"/>
              </a:rPr>
              <a:t>Les Périmètres</a:t>
            </a:r>
            <a:r>
              <a:rPr lang="fr-FR" sz="1600" b="1" dirty="0">
                <a:solidFill>
                  <a:schemeClr val="tx1"/>
                </a:solidFill>
                <a:latin typeface="Barlow Semi Condensed" panose="00000506000000000000" pitchFamily="2" charset="0"/>
                <a:ea typeface="Times New Roman" panose="02020603050405020304" pitchFamily="18" charset="0"/>
                <a:cs typeface="Fjalla One" panose="020B0604020202020204" charset="0"/>
              </a:rPr>
              <a:t> de la sécurité et enjeux au sein d’une Organisation</a:t>
            </a:r>
            <a:endParaRPr lang="fr-FR" sz="1600" b="1" dirty="0">
              <a:solidFill>
                <a:schemeClr val="tx1"/>
              </a:solidFill>
              <a:latin typeface="Barlow Semi Condensed" panose="00000506000000000000" pitchFamily="2" charset="0"/>
            </a:endParaRPr>
          </a:p>
        </p:txBody>
      </p:sp>
      <p:sp>
        <p:nvSpPr>
          <p:cNvPr id="2145" name="Google Shape;2145;p37"/>
          <p:cNvSpPr txBox="1">
            <a:spLocks noGrp="1"/>
          </p:cNvSpPr>
          <p:nvPr>
            <p:ph type="subTitle" idx="7"/>
          </p:nvPr>
        </p:nvSpPr>
        <p:spPr>
          <a:xfrm>
            <a:off x="1413753" y="2959855"/>
            <a:ext cx="2847187" cy="635100"/>
          </a:xfrm>
          <a:prstGeom prst="rect">
            <a:avLst/>
          </a:prstGeom>
        </p:spPr>
        <p:txBody>
          <a:bodyPr spcFirstLastPara="1" wrap="square" lIns="91425" tIns="91425" rIns="91425" bIns="91425" anchor="t" anchorCtr="0">
            <a:noAutofit/>
          </a:bodyPr>
          <a:lstStyle/>
          <a:p>
            <a:pPr>
              <a:lnSpc>
                <a:spcPct val="107000"/>
              </a:lnSpc>
              <a:spcAft>
                <a:spcPts val="800"/>
              </a:spcAft>
            </a:pPr>
            <a:r>
              <a:rPr lang="fr-FR" sz="1800" b="1" dirty="0">
                <a:solidFill>
                  <a:schemeClr val="tx1"/>
                </a:solidFill>
                <a:effectLst/>
                <a:latin typeface="Barlow Semi Condensed" panose="00000506000000000000" pitchFamily="2" charset="0"/>
                <a:ea typeface="Times New Roman" panose="02020603050405020304" pitchFamily="18" charset="0"/>
                <a:cs typeface="Times New Roman" panose="02020603050405020304" pitchFamily="18" charset="0"/>
              </a:rPr>
              <a:t>Les </a:t>
            </a:r>
            <a:r>
              <a:rPr lang="fr-FR" sz="1800" b="1" dirty="0">
                <a:solidFill>
                  <a:schemeClr val="tx1"/>
                </a:solidFill>
                <a:effectLst/>
                <a:latin typeface="Barlow Semi Condensed" panose="00000506000000000000" pitchFamily="2" charset="0"/>
                <a:ea typeface="Times New Roman" panose="02020603050405020304" pitchFamily="18" charset="0"/>
                <a:cs typeface="Fjalla One" panose="020B0604020202020204" charset="0"/>
              </a:rPr>
              <a:t>Principales Menaces</a:t>
            </a:r>
            <a:endParaRPr lang="fr-FR" sz="1800" b="1" dirty="0">
              <a:solidFill>
                <a:schemeClr val="tx1"/>
              </a:solidFill>
              <a:effectLst/>
              <a:latin typeface="Barlow Semi Condensed" panose="00000506000000000000" pitchFamily="2" charset="0"/>
              <a:ea typeface="Calibri" panose="020F0502020204030204" pitchFamily="34" charset="0"/>
              <a:cs typeface="Times New Roman" panose="02020603050405020304" pitchFamily="18" charset="0"/>
            </a:endParaRPr>
          </a:p>
        </p:txBody>
      </p:sp>
      <p:sp>
        <p:nvSpPr>
          <p:cNvPr id="2147" name="Google Shape;2147;p37"/>
          <p:cNvSpPr txBox="1">
            <a:spLocks noGrp="1"/>
          </p:cNvSpPr>
          <p:nvPr>
            <p:ph type="title" idx="9"/>
          </p:nvPr>
        </p:nvSpPr>
        <p:spPr>
          <a:xfrm>
            <a:off x="813816" y="1155924"/>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2148" name="Google Shape;2148;p37"/>
          <p:cNvSpPr txBox="1">
            <a:spLocks noGrp="1"/>
          </p:cNvSpPr>
          <p:nvPr>
            <p:ph type="title" idx="13"/>
          </p:nvPr>
        </p:nvSpPr>
        <p:spPr>
          <a:xfrm>
            <a:off x="813816" y="2124561"/>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2149" name="Google Shape;2149;p37"/>
          <p:cNvSpPr txBox="1">
            <a:spLocks noGrp="1"/>
          </p:cNvSpPr>
          <p:nvPr>
            <p:ph type="title" idx="14"/>
          </p:nvPr>
        </p:nvSpPr>
        <p:spPr>
          <a:xfrm>
            <a:off x="813816" y="2998592"/>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2150" name="Google Shape;2150;p37"/>
          <p:cNvSpPr txBox="1">
            <a:spLocks noGrp="1"/>
          </p:cNvSpPr>
          <p:nvPr>
            <p:ph type="title" idx="15"/>
          </p:nvPr>
        </p:nvSpPr>
        <p:spPr>
          <a:xfrm>
            <a:off x="834085" y="3962679"/>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268" name="Google Shape;2145;p37">
            <a:extLst>
              <a:ext uri="{FF2B5EF4-FFF2-40B4-BE49-F238E27FC236}">
                <a16:creationId xmlns:a16="http://schemas.microsoft.com/office/drawing/2014/main" id="{2D7C10AB-0343-4C6D-87B8-DB56210BC5AC}"/>
              </a:ext>
            </a:extLst>
          </p:cNvPr>
          <p:cNvSpPr txBox="1">
            <a:spLocks/>
          </p:cNvSpPr>
          <p:nvPr/>
        </p:nvSpPr>
        <p:spPr>
          <a:xfrm>
            <a:off x="1413753" y="3869461"/>
            <a:ext cx="3084879" cy="635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a:lnSpc>
                <a:spcPct val="115000"/>
              </a:lnSpc>
            </a:pPr>
            <a:r>
              <a:rPr lang="fr-FR" sz="1800" b="1" dirty="0">
                <a:solidFill>
                  <a:schemeClr val="tx1"/>
                </a:solidFill>
                <a:effectLst/>
                <a:latin typeface="Barlow Semi Condensed" panose="00000506000000000000" pitchFamily="2" charset="0"/>
                <a:ea typeface="Times New Roman" panose="02020603050405020304" pitchFamily="18" charset="0"/>
              </a:rPr>
              <a:t>Les acteurs de la cybermenace</a:t>
            </a:r>
            <a:endParaRPr lang="fr-FR" dirty="0">
              <a:solidFill>
                <a:schemeClr val="tx1"/>
              </a:solidFill>
              <a:latin typeface="Barlow Semi Condensed" panose="00000506000000000000" pitchFamily="2" charset="0"/>
            </a:endParaRPr>
          </a:p>
        </p:txBody>
      </p:sp>
      <p:grpSp>
        <p:nvGrpSpPr>
          <p:cNvPr id="269" name="Google Shape;2106;p37">
            <a:extLst>
              <a:ext uri="{FF2B5EF4-FFF2-40B4-BE49-F238E27FC236}">
                <a16:creationId xmlns:a16="http://schemas.microsoft.com/office/drawing/2014/main" id="{DF8F89D6-EF15-45A1-9FF6-2689510F6F35}"/>
              </a:ext>
            </a:extLst>
          </p:cNvPr>
          <p:cNvGrpSpPr/>
          <p:nvPr/>
        </p:nvGrpSpPr>
        <p:grpSpPr>
          <a:xfrm>
            <a:off x="4557429" y="1080691"/>
            <a:ext cx="635100" cy="734640"/>
            <a:chOff x="731647" y="573573"/>
            <a:chExt cx="635100" cy="734640"/>
          </a:xfrm>
        </p:grpSpPr>
        <p:grpSp>
          <p:nvGrpSpPr>
            <p:cNvPr id="270" name="Google Shape;2107;p37">
              <a:extLst>
                <a:ext uri="{FF2B5EF4-FFF2-40B4-BE49-F238E27FC236}">
                  <a16:creationId xmlns:a16="http://schemas.microsoft.com/office/drawing/2014/main" id="{C8DE21C7-6BA7-46BA-9673-31284CD37771}"/>
                </a:ext>
              </a:extLst>
            </p:cNvPr>
            <p:cNvGrpSpPr/>
            <p:nvPr/>
          </p:nvGrpSpPr>
          <p:grpSpPr>
            <a:xfrm>
              <a:off x="731647" y="573573"/>
              <a:ext cx="635100" cy="635100"/>
              <a:chOff x="917231" y="750460"/>
              <a:chExt cx="635100" cy="635100"/>
            </a:xfrm>
          </p:grpSpPr>
          <p:sp>
            <p:nvSpPr>
              <p:cNvPr id="275" name="Google Shape;2108;p37">
                <a:extLst>
                  <a:ext uri="{FF2B5EF4-FFF2-40B4-BE49-F238E27FC236}">
                    <a16:creationId xmlns:a16="http://schemas.microsoft.com/office/drawing/2014/main" id="{B404BE06-A885-49DA-98AC-B3DCB5DF4EC1}"/>
                  </a:ext>
                </a:extLst>
              </p:cNvPr>
              <p:cNvSpPr/>
              <p:nvPr/>
            </p:nvSpPr>
            <p:spPr>
              <a:xfrm>
                <a:off x="917231" y="750460"/>
                <a:ext cx="635100" cy="6351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109;p37">
                <a:extLst>
                  <a:ext uri="{FF2B5EF4-FFF2-40B4-BE49-F238E27FC236}">
                    <a16:creationId xmlns:a16="http://schemas.microsoft.com/office/drawing/2014/main" id="{26C84B46-A939-42E5-B6E5-930ACBF43C01}"/>
                  </a:ext>
                </a:extLst>
              </p:cNvPr>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 name="Google Shape;2110;p37">
              <a:extLst>
                <a:ext uri="{FF2B5EF4-FFF2-40B4-BE49-F238E27FC236}">
                  <a16:creationId xmlns:a16="http://schemas.microsoft.com/office/drawing/2014/main" id="{BA190A20-0E13-447B-86DF-40A89DE54C18}"/>
                </a:ext>
              </a:extLst>
            </p:cNvPr>
            <p:cNvGrpSpPr/>
            <p:nvPr/>
          </p:nvGrpSpPr>
          <p:grpSpPr>
            <a:xfrm>
              <a:off x="961679" y="1281213"/>
              <a:ext cx="175013" cy="27000"/>
              <a:chOff x="5662375" y="212375"/>
              <a:chExt cx="175013" cy="27000"/>
            </a:xfrm>
          </p:grpSpPr>
          <p:sp>
            <p:nvSpPr>
              <p:cNvPr id="272" name="Google Shape;2111;p37">
                <a:extLst>
                  <a:ext uri="{FF2B5EF4-FFF2-40B4-BE49-F238E27FC236}">
                    <a16:creationId xmlns:a16="http://schemas.microsoft.com/office/drawing/2014/main" id="{D1A870BA-98CF-432C-AA4B-9B9E8D1414A6}"/>
                  </a:ext>
                </a:extLst>
              </p:cNvPr>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73" name="Google Shape;2112;p37">
                <a:extLst>
                  <a:ext uri="{FF2B5EF4-FFF2-40B4-BE49-F238E27FC236}">
                    <a16:creationId xmlns:a16="http://schemas.microsoft.com/office/drawing/2014/main" id="{F1BCBEBF-E789-4AA8-AE35-6B5B5A8000AE}"/>
                  </a:ext>
                </a:extLst>
              </p:cNvPr>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74" name="Google Shape;2113;p37">
                <a:extLst>
                  <a:ext uri="{FF2B5EF4-FFF2-40B4-BE49-F238E27FC236}">
                    <a16:creationId xmlns:a16="http://schemas.microsoft.com/office/drawing/2014/main" id="{E2853A4C-220F-46CC-9AB0-C1634876CA99}"/>
                  </a:ext>
                </a:extLst>
              </p:cNvPr>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77" name="Google Shape;2114;p37">
            <a:extLst>
              <a:ext uri="{FF2B5EF4-FFF2-40B4-BE49-F238E27FC236}">
                <a16:creationId xmlns:a16="http://schemas.microsoft.com/office/drawing/2014/main" id="{7F767CA7-DD55-4B3A-ACD0-6F5AEB1C5957}"/>
              </a:ext>
            </a:extLst>
          </p:cNvPr>
          <p:cNvGrpSpPr/>
          <p:nvPr/>
        </p:nvGrpSpPr>
        <p:grpSpPr>
          <a:xfrm>
            <a:off x="4557429" y="2047223"/>
            <a:ext cx="635100" cy="733490"/>
            <a:chOff x="731647" y="1650460"/>
            <a:chExt cx="635100" cy="733490"/>
          </a:xfrm>
        </p:grpSpPr>
        <p:grpSp>
          <p:nvGrpSpPr>
            <p:cNvPr id="278" name="Google Shape;2115;p37">
              <a:extLst>
                <a:ext uri="{FF2B5EF4-FFF2-40B4-BE49-F238E27FC236}">
                  <a16:creationId xmlns:a16="http://schemas.microsoft.com/office/drawing/2014/main" id="{EB45143C-B3ED-49CD-9774-C73C8A428F05}"/>
                </a:ext>
              </a:extLst>
            </p:cNvPr>
            <p:cNvGrpSpPr/>
            <p:nvPr/>
          </p:nvGrpSpPr>
          <p:grpSpPr>
            <a:xfrm>
              <a:off x="731647" y="1650460"/>
              <a:ext cx="635100" cy="635100"/>
              <a:chOff x="917231" y="1827973"/>
              <a:chExt cx="635100" cy="635100"/>
            </a:xfrm>
          </p:grpSpPr>
          <p:sp>
            <p:nvSpPr>
              <p:cNvPr id="283" name="Google Shape;2116;p37">
                <a:extLst>
                  <a:ext uri="{FF2B5EF4-FFF2-40B4-BE49-F238E27FC236}">
                    <a16:creationId xmlns:a16="http://schemas.microsoft.com/office/drawing/2014/main" id="{311B8581-0FEF-4562-BB06-2C2B51C919FD}"/>
                  </a:ext>
                </a:extLst>
              </p:cNvPr>
              <p:cNvSpPr/>
              <p:nvPr/>
            </p:nvSpPr>
            <p:spPr>
              <a:xfrm>
                <a:off x="917231" y="1827973"/>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117;p37">
                <a:extLst>
                  <a:ext uri="{FF2B5EF4-FFF2-40B4-BE49-F238E27FC236}">
                    <a16:creationId xmlns:a16="http://schemas.microsoft.com/office/drawing/2014/main" id="{E976DFD1-4A84-4870-8D21-8AC0C3075EB5}"/>
                  </a:ext>
                </a:extLst>
              </p:cNvPr>
              <p:cNvSpPr/>
              <p:nvPr/>
            </p:nvSpPr>
            <p:spPr>
              <a:xfrm>
                <a:off x="1001931" y="1912710"/>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9" name="Google Shape;2118;p37">
              <a:extLst>
                <a:ext uri="{FF2B5EF4-FFF2-40B4-BE49-F238E27FC236}">
                  <a16:creationId xmlns:a16="http://schemas.microsoft.com/office/drawing/2014/main" id="{8C62358E-2D12-4EC5-92FA-3ADA54E0FC69}"/>
                </a:ext>
              </a:extLst>
            </p:cNvPr>
            <p:cNvGrpSpPr/>
            <p:nvPr/>
          </p:nvGrpSpPr>
          <p:grpSpPr>
            <a:xfrm>
              <a:off x="961679" y="2356951"/>
              <a:ext cx="175013" cy="27000"/>
              <a:chOff x="5662375" y="212375"/>
              <a:chExt cx="175013" cy="27000"/>
            </a:xfrm>
          </p:grpSpPr>
          <p:sp>
            <p:nvSpPr>
              <p:cNvPr id="280" name="Google Shape;2119;p37">
                <a:extLst>
                  <a:ext uri="{FF2B5EF4-FFF2-40B4-BE49-F238E27FC236}">
                    <a16:creationId xmlns:a16="http://schemas.microsoft.com/office/drawing/2014/main" id="{92F71A84-4716-40A8-B206-A7A502792FCA}"/>
                  </a:ext>
                </a:extLst>
              </p:cNvPr>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81" name="Google Shape;2120;p37">
                <a:extLst>
                  <a:ext uri="{FF2B5EF4-FFF2-40B4-BE49-F238E27FC236}">
                    <a16:creationId xmlns:a16="http://schemas.microsoft.com/office/drawing/2014/main" id="{D5EA7040-8C58-4C16-84AF-02826528545D}"/>
                  </a:ext>
                </a:extLst>
              </p:cNvPr>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82" name="Google Shape;2121;p37">
                <a:extLst>
                  <a:ext uri="{FF2B5EF4-FFF2-40B4-BE49-F238E27FC236}">
                    <a16:creationId xmlns:a16="http://schemas.microsoft.com/office/drawing/2014/main" id="{30E448BC-7218-4CE1-87E9-321D6063F1D0}"/>
                  </a:ext>
                </a:extLst>
              </p:cNvPr>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85" name="Google Shape;2122;p37">
            <a:extLst>
              <a:ext uri="{FF2B5EF4-FFF2-40B4-BE49-F238E27FC236}">
                <a16:creationId xmlns:a16="http://schemas.microsoft.com/office/drawing/2014/main" id="{077CF954-C179-4F66-9766-CC34513B126A}"/>
              </a:ext>
            </a:extLst>
          </p:cNvPr>
          <p:cNvGrpSpPr/>
          <p:nvPr/>
        </p:nvGrpSpPr>
        <p:grpSpPr>
          <a:xfrm>
            <a:off x="4557429" y="2897489"/>
            <a:ext cx="635100" cy="734984"/>
            <a:chOff x="731647" y="2728277"/>
            <a:chExt cx="635100" cy="734984"/>
          </a:xfrm>
        </p:grpSpPr>
        <p:grpSp>
          <p:nvGrpSpPr>
            <p:cNvPr id="286" name="Google Shape;2123;p37">
              <a:extLst>
                <a:ext uri="{FF2B5EF4-FFF2-40B4-BE49-F238E27FC236}">
                  <a16:creationId xmlns:a16="http://schemas.microsoft.com/office/drawing/2014/main" id="{626E257E-93F3-4604-A00D-9FC9509DA036}"/>
                </a:ext>
              </a:extLst>
            </p:cNvPr>
            <p:cNvGrpSpPr/>
            <p:nvPr/>
          </p:nvGrpSpPr>
          <p:grpSpPr>
            <a:xfrm>
              <a:off x="731647" y="2728277"/>
              <a:ext cx="635100" cy="635100"/>
              <a:chOff x="917231" y="2905502"/>
              <a:chExt cx="635100" cy="635100"/>
            </a:xfrm>
          </p:grpSpPr>
          <p:sp>
            <p:nvSpPr>
              <p:cNvPr id="291" name="Google Shape;2124;p37">
                <a:extLst>
                  <a:ext uri="{FF2B5EF4-FFF2-40B4-BE49-F238E27FC236}">
                    <a16:creationId xmlns:a16="http://schemas.microsoft.com/office/drawing/2014/main" id="{1F3F9B3E-D151-4DF4-A19F-49A8BBD687BB}"/>
                  </a:ext>
                </a:extLst>
              </p:cNvPr>
              <p:cNvSpPr/>
              <p:nvPr/>
            </p:nvSpPr>
            <p:spPr>
              <a:xfrm>
                <a:off x="917231" y="2905502"/>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125;p37">
                <a:extLst>
                  <a:ext uri="{FF2B5EF4-FFF2-40B4-BE49-F238E27FC236}">
                    <a16:creationId xmlns:a16="http://schemas.microsoft.com/office/drawing/2014/main" id="{97B31420-0498-4C52-935E-90DADF250298}"/>
                  </a:ext>
                </a:extLst>
              </p:cNvPr>
              <p:cNvSpPr/>
              <p:nvPr/>
            </p:nvSpPr>
            <p:spPr>
              <a:xfrm>
                <a:off x="1001931" y="2990252"/>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7" name="Google Shape;2126;p37">
              <a:extLst>
                <a:ext uri="{FF2B5EF4-FFF2-40B4-BE49-F238E27FC236}">
                  <a16:creationId xmlns:a16="http://schemas.microsoft.com/office/drawing/2014/main" id="{C329BDAD-E671-4AF6-A123-20289E730BE7}"/>
                </a:ext>
              </a:extLst>
            </p:cNvPr>
            <p:cNvGrpSpPr/>
            <p:nvPr/>
          </p:nvGrpSpPr>
          <p:grpSpPr>
            <a:xfrm>
              <a:off x="961679" y="3436260"/>
              <a:ext cx="175013" cy="27000"/>
              <a:chOff x="5662375" y="212375"/>
              <a:chExt cx="175013" cy="27000"/>
            </a:xfrm>
          </p:grpSpPr>
          <p:sp>
            <p:nvSpPr>
              <p:cNvPr id="288" name="Google Shape;2127;p37">
                <a:extLst>
                  <a:ext uri="{FF2B5EF4-FFF2-40B4-BE49-F238E27FC236}">
                    <a16:creationId xmlns:a16="http://schemas.microsoft.com/office/drawing/2014/main" id="{35A91A1A-C60C-4C63-815F-775F5FD634B3}"/>
                  </a:ext>
                </a:extLst>
              </p:cNvPr>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89" name="Google Shape;2128;p37">
                <a:extLst>
                  <a:ext uri="{FF2B5EF4-FFF2-40B4-BE49-F238E27FC236}">
                    <a16:creationId xmlns:a16="http://schemas.microsoft.com/office/drawing/2014/main" id="{418382E0-79F0-4B51-97AA-2CF7D8A03FC4}"/>
                  </a:ext>
                </a:extLst>
              </p:cNvPr>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90" name="Google Shape;2129;p37">
                <a:extLst>
                  <a:ext uri="{FF2B5EF4-FFF2-40B4-BE49-F238E27FC236}">
                    <a16:creationId xmlns:a16="http://schemas.microsoft.com/office/drawing/2014/main" id="{D62F07D0-B7A1-4E96-A3FE-EED171671516}"/>
                  </a:ext>
                </a:extLst>
              </p:cNvPr>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93" name="Google Shape;2130;p37">
            <a:extLst>
              <a:ext uri="{FF2B5EF4-FFF2-40B4-BE49-F238E27FC236}">
                <a16:creationId xmlns:a16="http://schemas.microsoft.com/office/drawing/2014/main" id="{86460893-73AE-44B9-9A40-72556179D80C}"/>
              </a:ext>
            </a:extLst>
          </p:cNvPr>
          <p:cNvGrpSpPr/>
          <p:nvPr/>
        </p:nvGrpSpPr>
        <p:grpSpPr>
          <a:xfrm>
            <a:off x="4577698" y="3877230"/>
            <a:ext cx="635100" cy="734704"/>
            <a:chOff x="731647" y="3806675"/>
            <a:chExt cx="635100" cy="734704"/>
          </a:xfrm>
        </p:grpSpPr>
        <p:grpSp>
          <p:nvGrpSpPr>
            <p:cNvPr id="294" name="Google Shape;2131;p37">
              <a:extLst>
                <a:ext uri="{FF2B5EF4-FFF2-40B4-BE49-F238E27FC236}">
                  <a16:creationId xmlns:a16="http://schemas.microsoft.com/office/drawing/2014/main" id="{70D10D11-8852-48FA-B5F2-34DD0FBF929A}"/>
                </a:ext>
              </a:extLst>
            </p:cNvPr>
            <p:cNvGrpSpPr/>
            <p:nvPr/>
          </p:nvGrpSpPr>
          <p:grpSpPr>
            <a:xfrm>
              <a:off x="731647" y="3806675"/>
              <a:ext cx="635100" cy="635100"/>
              <a:chOff x="917231" y="3983097"/>
              <a:chExt cx="635100" cy="635100"/>
            </a:xfrm>
          </p:grpSpPr>
          <p:sp>
            <p:nvSpPr>
              <p:cNvPr id="299" name="Google Shape;2132;p37">
                <a:extLst>
                  <a:ext uri="{FF2B5EF4-FFF2-40B4-BE49-F238E27FC236}">
                    <a16:creationId xmlns:a16="http://schemas.microsoft.com/office/drawing/2014/main" id="{AD31F8EF-1789-4C8C-A827-6E1D64313007}"/>
                  </a:ext>
                </a:extLst>
              </p:cNvPr>
              <p:cNvSpPr/>
              <p:nvPr/>
            </p:nvSpPr>
            <p:spPr>
              <a:xfrm>
                <a:off x="917231" y="3983097"/>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2133;p37">
                <a:extLst>
                  <a:ext uri="{FF2B5EF4-FFF2-40B4-BE49-F238E27FC236}">
                    <a16:creationId xmlns:a16="http://schemas.microsoft.com/office/drawing/2014/main" id="{7EBB6990-68A4-4F23-81F5-42E8BE5B31EC}"/>
                  </a:ext>
                </a:extLst>
              </p:cNvPr>
              <p:cNvSpPr/>
              <p:nvPr/>
            </p:nvSpPr>
            <p:spPr>
              <a:xfrm>
                <a:off x="1001931" y="4067797"/>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 name="Google Shape;2134;p37">
              <a:extLst>
                <a:ext uri="{FF2B5EF4-FFF2-40B4-BE49-F238E27FC236}">
                  <a16:creationId xmlns:a16="http://schemas.microsoft.com/office/drawing/2014/main" id="{88F92CF4-5D4A-4BEF-8EDA-D2F5F4E37722}"/>
                </a:ext>
              </a:extLst>
            </p:cNvPr>
            <p:cNvGrpSpPr/>
            <p:nvPr/>
          </p:nvGrpSpPr>
          <p:grpSpPr>
            <a:xfrm>
              <a:off x="961679" y="4514379"/>
              <a:ext cx="175013" cy="27000"/>
              <a:chOff x="5662375" y="212375"/>
              <a:chExt cx="175013" cy="27000"/>
            </a:xfrm>
          </p:grpSpPr>
          <p:sp>
            <p:nvSpPr>
              <p:cNvPr id="296" name="Google Shape;2135;p37">
                <a:extLst>
                  <a:ext uri="{FF2B5EF4-FFF2-40B4-BE49-F238E27FC236}">
                    <a16:creationId xmlns:a16="http://schemas.microsoft.com/office/drawing/2014/main" id="{5B4A4099-3EED-4F51-B332-2915D32971E7}"/>
                  </a:ext>
                </a:extLst>
              </p:cNvPr>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97" name="Google Shape;2136;p37">
                <a:extLst>
                  <a:ext uri="{FF2B5EF4-FFF2-40B4-BE49-F238E27FC236}">
                    <a16:creationId xmlns:a16="http://schemas.microsoft.com/office/drawing/2014/main" id="{E19B606D-8F0B-4C8B-860E-71D7EA4746E5}"/>
                  </a:ext>
                </a:extLst>
              </p:cNvPr>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98" name="Google Shape;2137;p37">
                <a:extLst>
                  <a:ext uri="{FF2B5EF4-FFF2-40B4-BE49-F238E27FC236}">
                    <a16:creationId xmlns:a16="http://schemas.microsoft.com/office/drawing/2014/main" id="{5584FA01-34F9-4F6E-9E20-926FEA0FF1DE}"/>
                  </a:ext>
                </a:extLst>
              </p:cNvPr>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301" name="Google Shape;2141;p37">
            <a:extLst>
              <a:ext uri="{FF2B5EF4-FFF2-40B4-BE49-F238E27FC236}">
                <a16:creationId xmlns:a16="http://schemas.microsoft.com/office/drawing/2014/main" id="{F87F6E56-3C3F-4E0B-ABB2-C098D9755B67}"/>
              </a:ext>
            </a:extLst>
          </p:cNvPr>
          <p:cNvSpPr txBox="1">
            <a:spLocks/>
          </p:cNvSpPr>
          <p:nvPr/>
        </p:nvSpPr>
        <p:spPr>
          <a:xfrm>
            <a:off x="5240109" y="1165416"/>
            <a:ext cx="2931254" cy="58519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R="0" algn="l" rtl="0">
              <a:lnSpc>
                <a:spcPct val="107000"/>
              </a:lnSpc>
              <a:spcBef>
                <a:spcPts val="0"/>
              </a:spcBef>
              <a:spcAft>
                <a:spcPts val="800"/>
              </a:spcAft>
            </a:pPr>
            <a:r>
              <a:rPr lang="fr-FR" sz="1800" b="1" i="0" dirty="0">
                <a:solidFill>
                  <a:srgbClr val="3D3D3D"/>
                </a:solidFill>
                <a:effectLst/>
                <a:latin typeface="Barlow Semi Condensed" panose="00000506000000000000" pitchFamily="2" charset="0"/>
                <a:ea typeface="Times New Roman" panose="02020603050405020304" pitchFamily="18" charset="0"/>
                <a:cs typeface="Arial" panose="020B0604020202020204" pitchFamily="34" charset="0"/>
              </a:rPr>
              <a:t>Méthodes de Protection</a:t>
            </a:r>
            <a:endParaRPr lang="fr-FR" dirty="0">
              <a:effectLst/>
            </a:endParaRPr>
          </a:p>
        </p:txBody>
      </p:sp>
      <p:sp>
        <p:nvSpPr>
          <p:cNvPr id="302" name="Google Shape;2143;p37">
            <a:extLst>
              <a:ext uri="{FF2B5EF4-FFF2-40B4-BE49-F238E27FC236}">
                <a16:creationId xmlns:a16="http://schemas.microsoft.com/office/drawing/2014/main" id="{3020C842-1DA7-44A7-AA8A-63269BC4C270}"/>
              </a:ext>
            </a:extLst>
          </p:cNvPr>
          <p:cNvSpPr txBox="1">
            <a:spLocks/>
          </p:cNvSpPr>
          <p:nvPr/>
        </p:nvSpPr>
        <p:spPr>
          <a:xfrm>
            <a:off x="5261128" y="2014818"/>
            <a:ext cx="2847187" cy="7500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a:lnSpc>
                <a:spcPct val="115000"/>
              </a:lnSpc>
            </a:pPr>
            <a:r>
              <a:rPr lang="fr-FR" sz="1800" b="1" dirty="0">
                <a:solidFill>
                  <a:schemeClr val="tx1"/>
                </a:solidFill>
                <a:effectLst/>
                <a:latin typeface="Barlow Semi Condensed" panose="00000506000000000000" pitchFamily="2" charset="0"/>
                <a:ea typeface="Times New Roman" panose="02020603050405020304" pitchFamily="18" charset="0"/>
              </a:rPr>
              <a:t>Règlementation et Cadre Juridique</a:t>
            </a:r>
            <a:endParaRPr lang="fr-FR" dirty="0">
              <a:solidFill>
                <a:schemeClr val="tx1"/>
              </a:solidFill>
              <a:latin typeface="Barlow Semi Condensed" panose="00000506000000000000" pitchFamily="2" charset="0"/>
            </a:endParaRPr>
          </a:p>
        </p:txBody>
      </p:sp>
      <p:sp>
        <p:nvSpPr>
          <p:cNvPr id="303" name="Google Shape;2145;p37">
            <a:extLst>
              <a:ext uri="{FF2B5EF4-FFF2-40B4-BE49-F238E27FC236}">
                <a16:creationId xmlns:a16="http://schemas.microsoft.com/office/drawing/2014/main" id="{57ABDAE4-6056-420D-8E66-399BDCB9FB05}"/>
              </a:ext>
            </a:extLst>
          </p:cNvPr>
          <p:cNvSpPr txBox="1">
            <a:spLocks/>
          </p:cNvSpPr>
          <p:nvPr/>
        </p:nvSpPr>
        <p:spPr>
          <a:xfrm>
            <a:off x="5240109" y="2970372"/>
            <a:ext cx="2847187" cy="635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a:lnSpc>
                <a:spcPct val="107000"/>
              </a:lnSpc>
              <a:spcAft>
                <a:spcPts val="800"/>
              </a:spcAft>
            </a:pPr>
            <a:r>
              <a:rPr lang="fr-FR" sz="1800" b="1" dirty="0">
                <a:solidFill>
                  <a:schemeClr val="tx1"/>
                </a:solidFill>
                <a:effectLst/>
                <a:latin typeface="Barlow Semi Condensed" panose="00000506000000000000" pitchFamily="2" charset="0"/>
                <a:ea typeface="Times New Roman" panose="02020603050405020304" pitchFamily="18" charset="0"/>
                <a:cs typeface="Times New Roman" panose="02020603050405020304" pitchFamily="18" charset="0"/>
              </a:rPr>
              <a:t>Tendances et Défis Actuels</a:t>
            </a:r>
            <a:endParaRPr lang="fr-FR" sz="1800" dirty="0">
              <a:solidFill>
                <a:schemeClr val="tx1"/>
              </a:solidFill>
              <a:effectLst/>
              <a:latin typeface="Barlow Semi Condensed" panose="00000506000000000000" pitchFamily="2" charset="0"/>
              <a:ea typeface="Calibri" panose="020F0502020204030204" pitchFamily="34" charset="0"/>
              <a:cs typeface="Times New Roman" panose="02020603050405020304" pitchFamily="18" charset="0"/>
            </a:endParaRPr>
          </a:p>
        </p:txBody>
      </p:sp>
      <p:sp>
        <p:nvSpPr>
          <p:cNvPr id="304" name="Google Shape;2147;p37">
            <a:extLst>
              <a:ext uri="{FF2B5EF4-FFF2-40B4-BE49-F238E27FC236}">
                <a16:creationId xmlns:a16="http://schemas.microsoft.com/office/drawing/2014/main" id="{1F381A73-B106-426B-8BAC-4633B3BDDAC1}"/>
              </a:ext>
            </a:extLst>
          </p:cNvPr>
          <p:cNvSpPr txBox="1">
            <a:spLocks/>
          </p:cNvSpPr>
          <p:nvPr/>
        </p:nvSpPr>
        <p:spPr>
          <a:xfrm>
            <a:off x="4639598" y="1229494"/>
            <a:ext cx="457200" cy="347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1pPr>
            <a:lvl2pPr marR="0" lvl="1"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2pPr>
            <a:lvl3pPr marR="0" lvl="2"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3pPr>
            <a:lvl4pPr marR="0" lvl="3"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4pPr>
            <a:lvl5pPr marR="0" lvl="4"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5pPr>
            <a:lvl6pPr marR="0" lvl="5"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6pPr>
            <a:lvl7pPr marR="0" lvl="6"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7pPr>
            <a:lvl8pPr marR="0" lvl="7"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8pPr>
            <a:lvl9pPr marR="0" lvl="8"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9pPr>
          </a:lstStyle>
          <a:p>
            <a:r>
              <a:rPr lang="en" dirty="0"/>
              <a:t>05</a:t>
            </a:r>
          </a:p>
        </p:txBody>
      </p:sp>
      <p:sp>
        <p:nvSpPr>
          <p:cNvPr id="305" name="Google Shape;2148;p37">
            <a:extLst>
              <a:ext uri="{FF2B5EF4-FFF2-40B4-BE49-F238E27FC236}">
                <a16:creationId xmlns:a16="http://schemas.microsoft.com/office/drawing/2014/main" id="{C32431BC-03F6-48C5-8A4D-779F4A04F4FF}"/>
              </a:ext>
            </a:extLst>
          </p:cNvPr>
          <p:cNvSpPr txBox="1">
            <a:spLocks/>
          </p:cNvSpPr>
          <p:nvPr/>
        </p:nvSpPr>
        <p:spPr>
          <a:xfrm>
            <a:off x="4639598" y="2198131"/>
            <a:ext cx="457200" cy="347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1pPr>
            <a:lvl2pPr marR="0" lvl="1"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2pPr>
            <a:lvl3pPr marR="0" lvl="2"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3pPr>
            <a:lvl4pPr marR="0" lvl="3"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4pPr>
            <a:lvl5pPr marR="0" lvl="4"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5pPr>
            <a:lvl6pPr marR="0" lvl="5"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6pPr>
            <a:lvl7pPr marR="0" lvl="6"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7pPr>
            <a:lvl8pPr marR="0" lvl="7"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8pPr>
            <a:lvl9pPr marR="0" lvl="8"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9pPr>
          </a:lstStyle>
          <a:p>
            <a:r>
              <a:rPr lang="en" dirty="0"/>
              <a:t>06</a:t>
            </a:r>
          </a:p>
        </p:txBody>
      </p:sp>
      <p:sp>
        <p:nvSpPr>
          <p:cNvPr id="306" name="Google Shape;2149;p37">
            <a:extLst>
              <a:ext uri="{FF2B5EF4-FFF2-40B4-BE49-F238E27FC236}">
                <a16:creationId xmlns:a16="http://schemas.microsoft.com/office/drawing/2014/main" id="{AB0BF7DE-DFCB-4C89-8972-4689EE227095}"/>
              </a:ext>
            </a:extLst>
          </p:cNvPr>
          <p:cNvSpPr txBox="1">
            <a:spLocks/>
          </p:cNvSpPr>
          <p:nvPr/>
        </p:nvSpPr>
        <p:spPr>
          <a:xfrm>
            <a:off x="4639598" y="3072162"/>
            <a:ext cx="457200" cy="347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1pPr>
            <a:lvl2pPr marR="0" lvl="1"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2pPr>
            <a:lvl3pPr marR="0" lvl="2"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3pPr>
            <a:lvl4pPr marR="0" lvl="3"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4pPr>
            <a:lvl5pPr marR="0" lvl="4"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5pPr>
            <a:lvl6pPr marR="0" lvl="5"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6pPr>
            <a:lvl7pPr marR="0" lvl="6"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7pPr>
            <a:lvl8pPr marR="0" lvl="7"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8pPr>
            <a:lvl9pPr marR="0" lvl="8"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9pPr>
          </a:lstStyle>
          <a:p>
            <a:r>
              <a:rPr lang="en" dirty="0"/>
              <a:t>07</a:t>
            </a:r>
          </a:p>
        </p:txBody>
      </p:sp>
      <p:sp>
        <p:nvSpPr>
          <p:cNvPr id="307" name="Google Shape;2150;p37">
            <a:extLst>
              <a:ext uri="{FF2B5EF4-FFF2-40B4-BE49-F238E27FC236}">
                <a16:creationId xmlns:a16="http://schemas.microsoft.com/office/drawing/2014/main" id="{9E5588CE-55CA-4548-AE4A-7B396D488D79}"/>
              </a:ext>
            </a:extLst>
          </p:cNvPr>
          <p:cNvSpPr txBox="1">
            <a:spLocks/>
          </p:cNvSpPr>
          <p:nvPr/>
        </p:nvSpPr>
        <p:spPr>
          <a:xfrm>
            <a:off x="4659867" y="4036249"/>
            <a:ext cx="457200" cy="347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1pPr>
            <a:lvl2pPr marR="0" lvl="1"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2pPr>
            <a:lvl3pPr marR="0" lvl="2"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3pPr>
            <a:lvl4pPr marR="0" lvl="3"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4pPr>
            <a:lvl5pPr marR="0" lvl="4"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5pPr>
            <a:lvl6pPr marR="0" lvl="5"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6pPr>
            <a:lvl7pPr marR="0" lvl="6"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7pPr>
            <a:lvl8pPr marR="0" lvl="7"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8pPr>
            <a:lvl9pPr marR="0" lvl="8"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9pPr>
          </a:lstStyle>
          <a:p>
            <a:r>
              <a:rPr lang="en" dirty="0"/>
              <a:t>08</a:t>
            </a:r>
          </a:p>
        </p:txBody>
      </p:sp>
      <p:sp>
        <p:nvSpPr>
          <p:cNvPr id="308" name="Google Shape;2145;p37">
            <a:extLst>
              <a:ext uri="{FF2B5EF4-FFF2-40B4-BE49-F238E27FC236}">
                <a16:creationId xmlns:a16="http://schemas.microsoft.com/office/drawing/2014/main" id="{32CBCCA7-E412-4819-A762-AAFFDCA5EBEB}"/>
              </a:ext>
            </a:extLst>
          </p:cNvPr>
          <p:cNvSpPr txBox="1">
            <a:spLocks/>
          </p:cNvSpPr>
          <p:nvPr/>
        </p:nvSpPr>
        <p:spPr>
          <a:xfrm>
            <a:off x="5298332" y="3874667"/>
            <a:ext cx="2847187" cy="635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a:lnSpc>
                <a:spcPct val="107000"/>
              </a:lnSpc>
              <a:spcAft>
                <a:spcPts val="800"/>
              </a:spcAft>
            </a:pPr>
            <a:r>
              <a:rPr lang="fr-FR" sz="1800" b="1" dirty="0">
                <a:effectLst/>
                <a:latin typeface="Times New Roman" panose="02020603050405020304" pitchFamily="18" charset="0"/>
                <a:ea typeface="Times New Roman" panose="02020603050405020304" pitchFamily="18" charset="0"/>
              </a:rPr>
              <a:t> </a:t>
            </a:r>
            <a:r>
              <a:rPr lang="fr-FR" sz="1800" b="1" dirty="0">
                <a:solidFill>
                  <a:schemeClr val="tx1"/>
                </a:solidFill>
                <a:effectLst/>
                <a:latin typeface="Barlow Semi Condensed" panose="00000506000000000000" pitchFamily="2" charset="0"/>
                <a:ea typeface="Times New Roman" panose="02020603050405020304" pitchFamily="18" charset="0"/>
              </a:rPr>
              <a:t>Conclusion</a:t>
            </a:r>
            <a:endParaRPr lang="fr-FR" dirty="0">
              <a:solidFill>
                <a:schemeClr val="tx1"/>
              </a:solidFill>
              <a:latin typeface="Barlow Semi Condensed" panose="00000506000000000000" pitchFamily="2" charset="0"/>
              <a:ea typeface="Calibri" panose="020F0502020204030204" pitchFamily="34" charset="0"/>
              <a:cs typeface="Times New Roman" panose="02020603050405020304" pitchFamily="18" charset="0"/>
            </a:endParaRPr>
          </a:p>
        </p:txBody>
      </p:sp>
      <p:sp>
        <p:nvSpPr>
          <p:cNvPr id="2" name="Rectangle : coins arrondis 1">
            <a:extLst>
              <a:ext uri="{FF2B5EF4-FFF2-40B4-BE49-F238E27FC236}">
                <a16:creationId xmlns:a16="http://schemas.microsoft.com/office/drawing/2014/main" id="{22A3C7F3-3C4E-47A5-9904-9ED3A349EC3C}"/>
              </a:ext>
            </a:extLst>
          </p:cNvPr>
          <p:cNvSpPr/>
          <p:nvPr/>
        </p:nvSpPr>
        <p:spPr>
          <a:xfrm>
            <a:off x="8308428" y="4611934"/>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700" dirty="0"/>
              <a:t>Introduction</a:t>
            </a:r>
            <a:endParaRPr sz="4700" dirty="0"/>
          </a:p>
        </p:txBody>
      </p:sp>
      <p:sp>
        <p:nvSpPr>
          <p:cNvPr id="2156" name="Google Shape;2156;p38"/>
          <p:cNvSpPr txBox="1">
            <a:spLocks noGrp="1"/>
          </p:cNvSpPr>
          <p:nvPr>
            <p:ph type="title" idx="2"/>
          </p:nvPr>
        </p:nvSpPr>
        <p:spPr>
          <a:xfrm>
            <a:off x="2971800"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4" name="Rectangle : coins arrondis 3">
            <a:extLst>
              <a:ext uri="{FF2B5EF4-FFF2-40B4-BE49-F238E27FC236}">
                <a16:creationId xmlns:a16="http://schemas.microsoft.com/office/drawing/2014/main" id="{8AA61357-E004-4D58-BB68-F5AD27F97A07}"/>
              </a:ext>
            </a:extLst>
          </p:cNvPr>
          <p:cNvSpPr/>
          <p:nvPr/>
        </p:nvSpPr>
        <p:spPr>
          <a:xfrm>
            <a:off x="8308428" y="4611934"/>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1" name="Google Shape;1891;p36"/>
          <p:cNvSpPr txBox="1">
            <a:spLocks noGrp="1"/>
          </p:cNvSpPr>
          <p:nvPr>
            <p:ph type="body" idx="1"/>
          </p:nvPr>
        </p:nvSpPr>
        <p:spPr>
          <a:xfrm>
            <a:off x="785595" y="1101970"/>
            <a:ext cx="7396709" cy="293956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fr-FR" sz="1600" dirty="0">
                <a:latin typeface="Barlow Semi Condensed"/>
                <a:ea typeface="Barlow Semi Condensed"/>
                <a:cs typeface="Barlow Semi Condensed"/>
                <a:sym typeface="Barlow Semi Condensed"/>
              </a:rPr>
              <a:t>La cybersécurité désigne l’ensemble des technologies, processus et pratiques conçus pour protéger les réseaux, les dispositifs, les programmes et les informations contre tout accès non autorisé.</a:t>
            </a:r>
          </a:p>
          <a:p>
            <a:pPr marL="0" lvl="0" indent="0" algn="l" rtl="0">
              <a:spcBef>
                <a:spcPts val="0"/>
              </a:spcBef>
              <a:spcAft>
                <a:spcPts val="0"/>
              </a:spcAft>
              <a:buClr>
                <a:schemeClr val="dk1"/>
              </a:buClr>
              <a:buSzPts val="1100"/>
              <a:buFont typeface="Arial"/>
              <a:buNone/>
            </a:pPr>
            <a:endParaRPr lang="fr-FR" sz="1600" dirty="0">
              <a:latin typeface="Barlow Semi Condensed"/>
              <a:ea typeface="Barlow Semi Condensed"/>
              <a:cs typeface="Barlow Semi Condensed"/>
              <a:sym typeface="Barlow Semi Condensed"/>
            </a:endParaRPr>
          </a:p>
          <a:p>
            <a:pPr marL="0" lvl="0" indent="0" algn="l" rtl="0">
              <a:spcBef>
                <a:spcPts val="0"/>
              </a:spcBef>
              <a:spcAft>
                <a:spcPts val="0"/>
              </a:spcAft>
              <a:buClr>
                <a:schemeClr val="dk1"/>
              </a:buClr>
              <a:buSzPts val="1100"/>
              <a:buFont typeface="Arial"/>
              <a:buNone/>
            </a:pPr>
            <a:r>
              <a:rPr lang="fr-FR" sz="1600" dirty="0">
                <a:latin typeface="Barlow Semi Condensed"/>
                <a:ea typeface="Barlow Semi Condensed"/>
                <a:cs typeface="Barlow Semi Condensed"/>
                <a:sym typeface="Barlow Semi Condensed"/>
              </a:rPr>
              <a:t>La cybersécurité est importante, car le gouvernement et les organisations recueillent, traitent, conservent et envoient des informations. Une grande partie de ces informations sont confidentielles, et un accès ou une exposition non autorisée peut avoir des conséquences négatives.</a:t>
            </a:r>
          </a:p>
          <a:p>
            <a:pPr marL="0" lvl="0" indent="0" algn="l" rtl="0">
              <a:spcBef>
                <a:spcPts val="0"/>
              </a:spcBef>
              <a:spcAft>
                <a:spcPts val="0"/>
              </a:spcAft>
              <a:buClr>
                <a:schemeClr val="dk1"/>
              </a:buClr>
              <a:buSzPts val="1100"/>
              <a:buFont typeface="Arial"/>
              <a:buNone/>
            </a:pPr>
            <a:endParaRPr lang="fr-FR" sz="1600" dirty="0">
              <a:latin typeface="Barlow Semi Condensed"/>
              <a:ea typeface="Barlow Semi Condensed"/>
              <a:cs typeface="Barlow Semi Condensed"/>
              <a:sym typeface="Barlow Semi Condensed"/>
            </a:endParaRPr>
          </a:p>
          <a:p>
            <a:pPr marL="0" lvl="0" indent="0" algn="l" rtl="0">
              <a:spcBef>
                <a:spcPts val="0"/>
              </a:spcBef>
              <a:spcAft>
                <a:spcPts val="0"/>
              </a:spcAft>
              <a:buClr>
                <a:schemeClr val="dk1"/>
              </a:buClr>
              <a:buSzPts val="1100"/>
              <a:buFont typeface="Arial"/>
              <a:buNone/>
            </a:pPr>
            <a:r>
              <a:rPr lang="fr-FR" sz="1600" dirty="0">
                <a:latin typeface="Barlow Semi Condensed"/>
                <a:ea typeface="Barlow Semi Condensed"/>
                <a:cs typeface="Barlow Semi Condensed"/>
                <a:sym typeface="Barlow Semi Condensed"/>
              </a:rPr>
              <a:t>Le défi le plus difficile à relever en matière de cybersécurité est la rapidité avec laquelle les risques de sécurité évoluent.</a:t>
            </a:r>
          </a:p>
          <a:p>
            <a:pPr marL="0" lvl="0" indent="0" algn="l" rtl="0">
              <a:spcBef>
                <a:spcPts val="0"/>
              </a:spcBef>
              <a:spcAft>
                <a:spcPts val="0"/>
              </a:spcAft>
              <a:buNone/>
            </a:pPr>
            <a:endParaRPr sz="1600" dirty="0">
              <a:latin typeface="Barlow Semi Condensed"/>
              <a:ea typeface="Barlow Semi Condensed"/>
              <a:cs typeface="Barlow Semi Condensed"/>
              <a:sym typeface="Barlow Semi Condensed"/>
            </a:endParaRPr>
          </a:p>
        </p:txBody>
      </p:sp>
      <p:sp>
        <p:nvSpPr>
          <p:cNvPr id="3" name="Rectangle : coins arrondis 2">
            <a:extLst>
              <a:ext uri="{FF2B5EF4-FFF2-40B4-BE49-F238E27FC236}">
                <a16:creationId xmlns:a16="http://schemas.microsoft.com/office/drawing/2014/main" id="{83244359-F380-4CA9-8073-0F71DE121DBF}"/>
              </a:ext>
            </a:extLst>
          </p:cNvPr>
          <p:cNvSpPr/>
          <p:nvPr/>
        </p:nvSpPr>
        <p:spPr>
          <a:xfrm>
            <a:off x="8308428" y="4611934"/>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3</a:t>
            </a:r>
          </a:p>
        </p:txBody>
      </p:sp>
      <p:sp>
        <p:nvSpPr>
          <p:cNvPr id="4" name="Google Shape;2155;p38">
            <a:extLst>
              <a:ext uri="{FF2B5EF4-FFF2-40B4-BE49-F238E27FC236}">
                <a16:creationId xmlns:a16="http://schemas.microsoft.com/office/drawing/2014/main" id="{738C4D0B-F12E-40F6-B238-71D5B059029A}"/>
              </a:ext>
            </a:extLst>
          </p:cNvPr>
          <p:cNvSpPr txBox="1">
            <a:spLocks noGrp="1"/>
          </p:cNvSpPr>
          <p:nvPr>
            <p:ph type="title"/>
          </p:nvPr>
        </p:nvSpPr>
        <p:spPr>
          <a:xfrm>
            <a:off x="2883749" y="102792"/>
            <a:ext cx="3200400" cy="80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Introduction</a:t>
            </a:r>
            <a:endParaRPr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1" name="Google Shape;1891;p36"/>
          <p:cNvSpPr txBox="1">
            <a:spLocks noGrp="1"/>
          </p:cNvSpPr>
          <p:nvPr>
            <p:ph type="body" idx="1"/>
          </p:nvPr>
        </p:nvSpPr>
        <p:spPr>
          <a:xfrm>
            <a:off x="706767" y="739363"/>
            <a:ext cx="7396709" cy="334390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fr-FR" sz="1600" dirty="0"/>
              <a:t>La cybersécurité concerne la sécurité informatique et des réseaux des environnements connectés à Internet et accessibles via le </a:t>
            </a:r>
            <a:r>
              <a:rPr lang="fr-FR" sz="1600" b="1" dirty="0"/>
              <a:t>cyberespace</a:t>
            </a:r>
            <a:r>
              <a:rPr lang="fr-FR" sz="2400" dirty="0"/>
              <a:t> </a:t>
            </a:r>
            <a:r>
              <a:rPr lang="fr-FR" sz="1600" dirty="0"/>
              <a:t>(l’ensemble des infrastructures numériques, des données et des services mis en réseaux). Elle peut être mise en défaut, entre autres, par des cyberattaques informatiques. Du fait de l’usage extensif d’Internet, de nouvelles menaces sont apparues générant des risques additionnels dont les impacts, de niveaux d’importance variables, peuvent affecter les individus, les organisations ou les États.</a:t>
            </a:r>
          </a:p>
          <a:p>
            <a:pPr marL="0" lvl="0" indent="0" algn="l" rtl="0">
              <a:spcBef>
                <a:spcPts val="0"/>
              </a:spcBef>
              <a:spcAft>
                <a:spcPts val="0"/>
              </a:spcAft>
              <a:buClr>
                <a:schemeClr val="dk1"/>
              </a:buClr>
              <a:buSzPts val="1100"/>
              <a:buFont typeface="Arial"/>
              <a:buNone/>
            </a:pPr>
            <a:endParaRPr lang="fr-FR" sz="1600" dirty="0"/>
          </a:p>
          <a:p>
            <a:pPr marL="0" lvl="0" indent="0" algn="l" rtl="0">
              <a:spcBef>
                <a:spcPts val="0"/>
              </a:spcBef>
              <a:spcAft>
                <a:spcPts val="0"/>
              </a:spcAft>
              <a:buClr>
                <a:schemeClr val="dk1"/>
              </a:buClr>
              <a:buSzPts val="1100"/>
              <a:buFont typeface="Arial"/>
              <a:buNone/>
            </a:pPr>
            <a:r>
              <a:rPr lang="fr-FR" sz="1600" dirty="0"/>
              <a:t>Une </a:t>
            </a:r>
            <a:r>
              <a:rPr lang="fr-FR" sz="1600" b="1" dirty="0"/>
              <a:t>menace</a:t>
            </a:r>
            <a:r>
              <a:rPr lang="fr-FR" sz="1600" dirty="0"/>
              <a:t> est un signe par lequel se manifeste ce que l’on doit craindre. Une </a:t>
            </a:r>
            <a:r>
              <a:rPr lang="fr-FR" sz="1600" b="1" dirty="0"/>
              <a:t>cybermenace</a:t>
            </a:r>
            <a:r>
              <a:rPr lang="fr-FR" sz="1600" dirty="0"/>
              <a:t> est une menace qui, si elle se concrétisait, affecterait le bon fonctionnement des ordinateurs, des réseaux de télécommunication et de tous les services et activités</a:t>
            </a:r>
          </a:p>
          <a:p>
            <a:pPr marL="0" lvl="0" indent="0" algn="l" rtl="0">
              <a:spcBef>
                <a:spcPts val="0"/>
              </a:spcBef>
              <a:spcAft>
                <a:spcPts val="0"/>
              </a:spcAft>
              <a:buClr>
                <a:schemeClr val="dk1"/>
              </a:buClr>
              <a:buSzPts val="1100"/>
              <a:buFont typeface="Arial"/>
              <a:buNone/>
            </a:pPr>
            <a:r>
              <a:rPr lang="fr-FR" sz="1600" dirty="0"/>
              <a:t>humaines qui en dépendent</a:t>
            </a:r>
            <a:r>
              <a:rPr lang="fr-FR" sz="2400" dirty="0"/>
              <a:t>.</a:t>
            </a:r>
            <a:endParaRPr sz="1600" dirty="0">
              <a:latin typeface="Barlow Semi Condensed"/>
              <a:ea typeface="Barlow Semi Condensed"/>
              <a:cs typeface="Barlow Semi Condensed"/>
              <a:sym typeface="Barlow Semi Condensed"/>
            </a:endParaRPr>
          </a:p>
        </p:txBody>
      </p:sp>
      <p:sp>
        <p:nvSpPr>
          <p:cNvPr id="3" name="Rectangle : coins arrondis 2">
            <a:extLst>
              <a:ext uri="{FF2B5EF4-FFF2-40B4-BE49-F238E27FC236}">
                <a16:creationId xmlns:a16="http://schemas.microsoft.com/office/drawing/2014/main" id="{6BAF4913-A0B9-4B74-95A4-88A0429FCC98}"/>
              </a:ext>
            </a:extLst>
          </p:cNvPr>
          <p:cNvSpPr/>
          <p:nvPr/>
        </p:nvSpPr>
        <p:spPr>
          <a:xfrm>
            <a:off x="8308428" y="4611934"/>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4</a:t>
            </a:r>
          </a:p>
        </p:txBody>
      </p:sp>
    </p:spTree>
    <p:extLst>
      <p:ext uri="{BB962C8B-B14F-4D97-AF65-F5344CB8AC3E}">
        <p14:creationId xmlns:p14="http://schemas.microsoft.com/office/powerpoint/2010/main" val="279648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554014" y="1396643"/>
            <a:ext cx="4414345" cy="2686626"/>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3200" dirty="0">
                <a:effectLst/>
                <a:latin typeface="Fjalla One" panose="020B0604020202020204" charset="0"/>
                <a:ea typeface="Times New Roman" panose="02020603050405020304" pitchFamily="18" charset="0"/>
                <a:cs typeface="Fjalla One" panose="020B0604020202020204" charset="0"/>
              </a:rPr>
              <a:t>Les Périmètres</a:t>
            </a:r>
            <a:r>
              <a:rPr lang="fr-FR" sz="3200" dirty="0">
                <a:latin typeface="Fjalla One" panose="020B0604020202020204" charset="0"/>
                <a:ea typeface="Times New Roman" panose="02020603050405020304" pitchFamily="18" charset="0"/>
                <a:cs typeface="Fjalla One" panose="020B0604020202020204" charset="0"/>
              </a:rPr>
              <a:t> de la sécurité et enjeux au sein d’une Organisation</a:t>
            </a:r>
            <a:endParaRPr sz="3200" dirty="0">
              <a:latin typeface="Fjalla One" panose="020B0604020202020204" charset="0"/>
              <a:cs typeface="Fjalla One" panose="020B0604020202020204" charset="0"/>
            </a:endParaRPr>
          </a:p>
        </p:txBody>
      </p:sp>
      <p:sp>
        <p:nvSpPr>
          <p:cNvPr id="2156" name="Google Shape;2156;p38"/>
          <p:cNvSpPr txBox="1">
            <a:spLocks noGrp="1"/>
          </p:cNvSpPr>
          <p:nvPr>
            <p:ph type="title" idx="2"/>
          </p:nvPr>
        </p:nvSpPr>
        <p:spPr>
          <a:xfrm>
            <a:off x="2971800" y="861743"/>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4" name="Rectangle : coins arrondis 3">
            <a:extLst>
              <a:ext uri="{FF2B5EF4-FFF2-40B4-BE49-F238E27FC236}">
                <a16:creationId xmlns:a16="http://schemas.microsoft.com/office/drawing/2014/main" id="{23970376-B9FF-4F16-9843-A87D0933F24B}"/>
              </a:ext>
            </a:extLst>
          </p:cNvPr>
          <p:cNvSpPr/>
          <p:nvPr/>
        </p:nvSpPr>
        <p:spPr>
          <a:xfrm>
            <a:off x="8308428" y="4611934"/>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5</a:t>
            </a:r>
          </a:p>
        </p:txBody>
      </p:sp>
    </p:spTree>
    <p:extLst>
      <p:ext uri="{BB962C8B-B14F-4D97-AF65-F5344CB8AC3E}">
        <p14:creationId xmlns:p14="http://schemas.microsoft.com/office/powerpoint/2010/main" val="1100232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1" name="Google Shape;1891;p36"/>
          <p:cNvSpPr txBox="1">
            <a:spLocks noGrp="1"/>
          </p:cNvSpPr>
          <p:nvPr>
            <p:ph type="body" idx="1"/>
          </p:nvPr>
        </p:nvSpPr>
        <p:spPr>
          <a:xfrm>
            <a:off x="706767" y="739363"/>
            <a:ext cx="5244716" cy="3533092"/>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Clr>
                <a:schemeClr val="dk1"/>
              </a:buClr>
              <a:buSzPts val="1100"/>
              <a:buFont typeface="Arial"/>
              <a:buNone/>
            </a:pPr>
            <a:r>
              <a:rPr lang="fr-FR" sz="1600" dirty="0"/>
              <a:t>Inutile de se préoccuper de sécurité sans avoir défini ce qui était à protéger : en d’autres termes toute organisation désireuse de protéger ses systèmes et ses réseaux doit déterminer son périmètre de sécurité. Le périmètre de sécurité, au sein de l’univers physique, délimite l’intérieur et l’extérieur, mais sa définition doit aussi englober (ou pas) les entités immatérielles qui peuplent les ordinateurs et les réseaux, essentiellement les logiciels et en particulier les systèmes d’exploitation. Une fois fixé ce périmètre, il faut aussi élaborer une politique de sécurité, c’est à-dire décider de ce qui est autorisé et de ce qui est interdit. À cette politique viennent bien sûr s’ajouter les lois et les règlements en vigueur, qui s’imposent à tous.</a:t>
            </a:r>
            <a:endParaRPr lang="fr-FR" sz="1100" b="1" dirty="0">
              <a:solidFill>
                <a:schemeClr val="accent1">
                  <a:lumMod val="75000"/>
                </a:schemeClr>
              </a:solidFill>
              <a:latin typeface="Barlow Semi Condensed"/>
              <a:ea typeface="Barlow Semi Condensed"/>
              <a:cs typeface="Barlow Semi Condensed"/>
              <a:sym typeface="Barlow Semi Condensed"/>
            </a:endParaRPr>
          </a:p>
        </p:txBody>
      </p:sp>
      <p:pic>
        <p:nvPicPr>
          <p:cNvPr id="3" name="Image 2">
            <a:extLst>
              <a:ext uri="{FF2B5EF4-FFF2-40B4-BE49-F238E27FC236}">
                <a16:creationId xmlns:a16="http://schemas.microsoft.com/office/drawing/2014/main" id="{B94DFB8E-7331-4103-B065-49327723BC8F}"/>
              </a:ext>
            </a:extLst>
          </p:cNvPr>
          <p:cNvPicPr>
            <a:picLocks noChangeAspect="1"/>
          </p:cNvPicPr>
          <p:nvPr/>
        </p:nvPicPr>
        <p:blipFill>
          <a:blip r:embed="rId3"/>
          <a:stretch>
            <a:fillRect/>
          </a:stretch>
        </p:blipFill>
        <p:spPr>
          <a:xfrm>
            <a:off x="6249057" y="1325289"/>
            <a:ext cx="2492922" cy="2492922"/>
          </a:xfrm>
          <a:prstGeom prst="rect">
            <a:avLst/>
          </a:prstGeom>
        </p:spPr>
      </p:pic>
      <p:sp>
        <p:nvSpPr>
          <p:cNvPr id="4" name="Rectangle : coins arrondis 3">
            <a:extLst>
              <a:ext uri="{FF2B5EF4-FFF2-40B4-BE49-F238E27FC236}">
                <a16:creationId xmlns:a16="http://schemas.microsoft.com/office/drawing/2014/main" id="{A68BF906-0FA7-4886-9419-7973CD3969C9}"/>
              </a:ext>
            </a:extLst>
          </p:cNvPr>
          <p:cNvSpPr/>
          <p:nvPr/>
        </p:nvSpPr>
        <p:spPr>
          <a:xfrm>
            <a:off x="8308428" y="4611934"/>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6</a:t>
            </a:r>
          </a:p>
        </p:txBody>
      </p:sp>
      <p:sp>
        <p:nvSpPr>
          <p:cNvPr id="5" name="Google Shape;2155;p38">
            <a:extLst>
              <a:ext uri="{FF2B5EF4-FFF2-40B4-BE49-F238E27FC236}">
                <a16:creationId xmlns:a16="http://schemas.microsoft.com/office/drawing/2014/main" id="{0ECC10B3-3DE8-432E-9B4E-94C69C4FBC8D}"/>
              </a:ext>
            </a:extLst>
          </p:cNvPr>
          <p:cNvSpPr txBox="1">
            <a:spLocks noGrp="1"/>
          </p:cNvSpPr>
          <p:nvPr>
            <p:ph type="title"/>
          </p:nvPr>
        </p:nvSpPr>
        <p:spPr>
          <a:xfrm>
            <a:off x="684814" y="58601"/>
            <a:ext cx="6810704" cy="879448"/>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2000" dirty="0">
                <a:effectLst/>
                <a:latin typeface="Fjalla One" panose="020B0604020202020204" charset="0"/>
                <a:ea typeface="Times New Roman" panose="02020603050405020304" pitchFamily="18" charset="0"/>
                <a:cs typeface="Fjalla One" panose="020B0604020202020204" charset="0"/>
              </a:rPr>
              <a:t>Les Périmètres</a:t>
            </a:r>
            <a:r>
              <a:rPr lang="fr-FR" sz="2000" dirty="0">
                <a:latin typeface="Fjalla One" panose="020B0604020202020204" charset="0"/>
                <a:ea typeface="Times New Roman" panose="02020603050405020304" pitchFamily="18" charset="0"/>
                <a:cs typeface="Fjalla One" panose="020B0604020202020204" charset="0"/>
              </a:rPr>
              <a:t> de la sécurité et enjeux au sein d’une Organisation</a:t>
            </a:r>
            <a:endParaRPr sz="2000" dirty="0">
              <a:latin typeface="Fjalla One" panose="020B0604020202020204" charset="0"/>
              <a:cs typeface="Fjalla One" panose="020B0604020202020204" charset="0"/>
            </a:endParaRPr>
          </a:p>
        </p:txBody>
      </p:sp>
    </p:spTree>
    <p:extLst>
      <p:ext uri="{BB962C8B-B14F-4D97-AF65-F5344CB8AC3E}">
        <p14:creationId xmlns:p14="http://schemas.microsoft.com/office/powerpoint/2010/main" val="1465131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1" name="Google Shape;1891;p36"/>
          <p:cNvSpPr txBox="1">
            <a:spLocks noGrp="1"/>
          </p:cNvSpPr>
          <p:nvPr>
            <p:ph type="body" idx="1"/>
          </p:nvPr>
        </p:nvSpPr>
        <p:spPr>
          <a:xfrm>
            <a:off x="2299085" y="197069"/>
            <a:ext cx="3274026" cy="66215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fr-FR" sz="2400" b="1" dirty="0"/>
              <a:t>Enjeux </a:t>
            </a:r>
            <a:r>
              <a:rPr lang="fr-FR" sz="2400" b="1" dirty="0">
                <a:latin typeface="Barlow Semi Condensed" panose="00000506000000000000" pitchFamily="2" charset="0"/>
                <a:ea typeface="Times New Roman" panose="02020603050405020304" pitchFamily="18" charset="0"/>
                <a:cs typeface="Fjalla One" panose="020B0604020202020204" charset="0"/>
              </a:rPr>
              <a:t>au sein d’une Organisation</a:t>
            </a:r>
            <a:endParaRPr lang="fr-FR" sz="1600" b="1" dirty="0">
              <a:solidFill>
                <a:schemeClr val="accent1">
                  <a:lumMod val="75000"/>
                </a:schemeClr>
              </a:solidFill>
              <a:latin typeface="Barlow Semi Condensed" panose="00000506000000000000" pitchFamily="2" charset="0"/>
              <a:sym typeface="Barlow Semi Condensed"/>
            </a:endParaRPr>
          </a:p>
        </p:txBody>
      </p:sp>
      <p:pic>
        <p:nvPicPr>
          <p:cNvPr id="4" name="Image 3">
            <a:extLst>
              <a:ext uri="{FF2B5EF4-FFF2-40B4-BE49-F238E27FC236}">
                <a16:creationId xmlns:a16="http://schemas.microsoft.com/office/drawing/2014/main" id="{9C998709-1940-446A-BBD6-84CB2415F9C0}"/>
              </a:ext>
            </a:extLst>
          </p:cNvPr>
          <p:cNvPicPr>
            <a:picLocks noChangeAspect="1"/>
          </p:cNvPicPr>
          <p:nvPr/>
        </p:nvPicPr>
        <p:blipFill>
          <a:blip r:embed="rId3"/>
          <a:stretch>
            <a:fillRect/>
          </a:stretch>
        </p:blipFill>
        <p:spPr>
          <a:xfrm>
            <a:off x="6866592" y="2075136"/>
            <a:ext cx="1956895" cy="1956895"/>
          </a:xfrm>
          <a:prstGeom prst="rect">
            <a:avLst/>
          </a:prstGeom>
        </p:spPr>
      </p:pic>
      <p:pic>
        <p:nvPicPr>
          <p:cNvPr id="6" name="Picture 570">
            <a:extLst>
              <a:ext uri="{FF2B5EF4-FFF2-40B4-BE49-F238E27FC236}">
                <a16:creationId xmlns:a16="http://schemas.microsoft.com/office/drawing/2014/main" id="{7BC01CB3-8FA6-4BC5-8C95-16AE003AD041}"/>
              </a:ext>
            </a:extLst>
          </p:cNvPr>
          <p:cNvPicPr/>
          <p:nvPr/>
        </p:nvPicPr>
        <p:blipFill>
          <a:blip r:embed="rId4"/>
          <a:stretch>
            <a:fillRect/>
          </a:stretch>
        </p:blipFill>
        <p:spPr>
          <a:xfrm>
            <a:off x="709448" y="1050109"/>
            <a:ext cx="5415455" cy="3232468"/>
          </a:xfrm>
          <a:prstGeom prst="rect">
            <a:avLst/>
          </a:prstGeom>
        </p:spPr>
      </p:pic>
      <p:sp>
        <p:nvSpPr>
          <p:cNvPr id="5" name="Rectangle : coins arrondis 4">
            <a:extLst>
              <a:ext uri="{FF2B5EF4-FFF2-40B4-BE49-F238E27FC236}">
                <a16:creationId xmlns:a16="http://schemas.microsoft.com/office/drawing/2014/main" id="{C5EA592C-3EF1-4158-AE62-CA146FD27172}"/>
              </a:ext>
            </a:extLst>
          </p:cNvPr>
          <p:cNvSpPr/>
          <p:nvPr/>
        </p:nvSpPr>
        <p:spPr>
          <a:xfrm>
            <a:off x="8308428" y="4611934"/>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7</a:t>
            </a:r>
          </a:p>
        </p:txBody>
      </p:sp>
    </p:spTree>
    <p:extLst>
      <p:ext uri="{BB962C8B-B14F-4D97-AF65-F5344CB8AC3E}">
        <p14:creationId xmlns:p14="http://schemas.microsoft.com/office/powerpoint/2010/main" val="3115087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3074276" y="2341495"/>
            <a:ext cx="4004441" cy="150529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4700" dirty="0">
                <a:effectLst/>
                <a:latin typeface="Fjalla One" panose="020B0604020202020204" charset="0"/>
                <a:ea typeface="Times New Roman" panose="02020603050405020304" pitchFamily="18" charset="0"/>
                <a:cs typeface="Fjalla One" panose="020B0604020202020204" charset="0"/>
              </a:rPr>
              <a:t>Les Principales Menaces</a:t>
            </a:r>
            <a:endParaRPr sz="4700" dirty="0">
              <a:latin typeface="Fjalla One" panose="020B0604020202020204" charset="0"/>
              <a:cs typeface="Fjalla One" panose="020B0604020202020204" charset="0"/>
            </a:endParaRPr>
          </a:p>
        </p:txBody>
      </p:sp>
      <p:sp>
        <p:nvSpPr>
          <p:cNvPr id="2156" name="Google Shape;2156;p38"/>
          <p:cNvSpPr txBox="1">
            <a:spLocks noGrp="1"/>
          </p:cNvSpPr>
          <p:nvPr>
            <p:ph type="title" idx="2"/>
          </p:nvPr>
        </p:nvSpPr>
        <p:spPr>
          <a:xfrm>
            <a:off x="2971800"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4" name="Rectangle : coins arrondis 3">
            <a:extLst>
              <a:ext uri="{FF2B5EF4-FFF2-40B4-BE49-F238E27FC236}">
                <a16:creationId xmlns:a16="http://schemas.microsoft.com/office/drawing/2014/main" id="{B2128FB4-ABC1-4E78-98B2-35DA32FCC6F2}"/>
              </a:ext>
            </a:extLst>
          </p:cNvPr>
          <p:cNvSpPr/>
          <p:nvPr/>
        </p:nvSpPr>
        <p:spPr>
          <a:xfrm>
            <a:off x="8308428" y="4611934"/>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8</a:t>
            </a:r>
          </a:p>
        </p:txBody>
      </p:sp>
    </p:spTree>
    <p:extLst>
      <p:ext uri="{BB962C8B-B14F-4D97-AF65-F5344CB8AC3E}">
        <p14:creationId xmlns:p14="http://schemas.microsoft.com/office/powerpoint/2010/main" val="3310377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1" name="Google Shape;1891;p36"/>
          <p:cNvSpPr txBox="1">
            <a:spLocks noGrp="1"/>
          </p:cNvSpPr>
          <p:nvPr>
            <p:ph type="body" idx="1"/>
          </p:nvPr>
        </p:nvSpPr>
        <p:spPr>
          <a:xfrm>
            <a:off x="375692" y="786658"/>
            <a:ext cx="6119702" cy="4029707"/>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fr-FR" sz="1600" dirty="0"/>
              <a:t>La Sécurité des Systèmes d’Information (SSI) est aujourd’hui un sujet important parce que le système d’information (SI) est pour beaucoup d’entreprises un élément absolument vital .</a:t>
            </a:r>
          </a:p>
          <a:p>
            <a:pPr marL="0" lvl="0" indent="0" algn="l" rtl="0">
              <a:spcBef>
                <a:spcPts val="0"/>
              </a:spcBef>
              <a:spcAft>
                <a:spcPts val="0"/>
              </a:spcAft>
              <a:buClr>
                <a:schemeClr val="dk1"/>
              </a:buClr>
              <a:buSzPts val="1100"/>
              <a:buFont typeface="Arial"/>
              <a:buNone/>
            </a:pPr>
            <a:endParaRPr lang="fr-FR" sz="1600" dirty="0"/>
          </a:p>
          <a:p>
            <a:pPr marL="0" lvl="0" indent="0" algn="l" rtl="0">
              <a:spcBef>
                <a:spcPts val="0"/>
              </a:spcBef>
              <a:spcAft>
                <a:spcPts val="0"/>
              </a:spcAft>
              <a:buClr>
                <a:schemeClr val="dk1"/>
              </a:buClr>
              <a:buSzPts val="1100"/>
              <a:buFont typeface="Arial"/>
              <a:buNone/>
            </a:pPr>
            <a:r>
              <a:rPr lang="fr-FR" sz="1600" dirty="0"/>
              <a:t>Les menaces contre le système d’information entrent dans une des catégories suivantes : atteinte à la disponibilité des systèmes et des données, destruction de données, corruption ou falsification de données, vol ou espionnage de données, usage illicite d’un système ou d’un réseau, usage d’un système compromis pour attaquer d’autres cibles. </a:t>
            </a:r>
          </a:p>
          <a:p>
            <a:pPr marL="0" lvl="0" indent="0" algn="l" rtl="0">
              <a:spcBef>
                <a:spcPts val="0"/>
              </a:spcBef>
              <a:spcAft>
                <a:spcPts val="0"/>
              </a:spcAft>
              <a:buClr>
                <a:schemeClr val="dk1"/>
              </a:buClr>
              <a:buSzPts val="1100"/>
              <a:buFont typeface="Arial"/>
              <a:buNone/>
            </a:pPr>
            <a:endParaRPr lang="fr-FR" sz="1600" dirty="0"/>
          </a:p>
          <a:p>
            <a:pPr marL="0" lvl="0" indent="0" algn="l" rtl="0">
              <a:spcBef>
                <a:spcPts val="0"/>
              </a:spcBef>
              <a:spcAft>
                <a:spcPts val="0"/>
              </a:spcAft>
              <a:buClr>
                <a:schemeClr val="dk1"/>
              </a:buClr>
              <a:buSzPts val="1100"/>
              <a:buFont typeface="Arial"/>
              <a:buNone/>
            </a:pPr>
            <a:r>
              <a:rPr lang="fr-FR" sz="1600" dirty="0"/>
              <a:t>Les menaces engendrent des risques et coûts humains et financiers : </a:t>
            </a:r>
            <a:r>
              <a:rPr lang="fr-FR" sz="1600" b="1" dirty="0"/>
              <a:t>perte de confidentialité </a:t>
            </a:r>
            <a:r>
              <a:rPr lang="fr-FR" sz="1600" dirty="0"/>
              <a:t>de données sensibles, </a:t>
            </a:r>
            <a:r>
              <a:rPr lang="fr-FR" sz="1600" b="1" dirty="0"/>
              <a:t>indisponibilité</a:t>
            </a:r>
            <a:r>
              <a:rPr lang="fr-FR" sz="1600" dirty="0"/>
              <a:t> des infrastructures et des données, </a:t>
            </a:r>
            <a:r>
              <a:rPr lang="fr-FR" sz="1600" b="1" dirty="0"/>
              <a:t>dommages</a:t>
            </a:r>
            <a:r>
              <a:rPr lang="fr-FR" sz="1600" dirty="0"/>
              <a:t> pour le patrimoine intellectuel et la notoriété.</a:t>
            </a:r>
            <a:endParaRPr lang="fr-FR" sz="1600" b="1" dirty="0">
              <a:solidFill>
                <a:schemeClr val="accent1">
                  <a:lumMod val="75000"/>
                </a:schemeClr>
              </a:solidFill>
              <a:latin typeface="Barlow Semi Condensed"/>
              <a:ea typeface="Barlow Semi Condensed"/>
              <a:cs typeface="Barlow Semi Condensed"/>
              <a:sym typeface="Barlow Semi Condensed"/>
            </a:endParaRPr>
          </a:p>
        </p:txBody>
      </p:sp>
      <p:pic>
        <p:nvPicPr>
          <p:cNvPr id="3" name="Image 2">
            <a:extLst>
              <a:ext uri="{FF2B5EF4-FFF2-40B4-BE49-F238E27FC236}">
                <a16:creationId xmlns:a16="http://schemas.microsoft.com/office/drawing/2014/main" id="{D1694A5D-9EA6-4289-84B1-A0AFC83CF852}"/>
              </a:ext>
            </a:extLst>
          </p:cNvPr>
          <p:cNvPicPr>
            <a:picLocks noChangeAspect="1"/>
          </p:cNvPicPr>
          <p:nvPr/>
        </p:nvPicPr>
        <p:blipFill>
          <a:blip r:embed="rId3"/>
          <a:stretch>
            <a:fillRect/>
          </a:stretch>
        </p:blipFill>
        <p:spPr>
          <a:xfrm>
            <a:off x="6815355" y="1381453"/>
            <a:ext cx="2142140" cy="2142140"/>
          </a:xfrm>
          <a:prstGeom prst="rect">
            <a:avLst/>
          </a:prstGeom>
        </p:spPr>
      </p:pic>
      <p:sp>
        <p:nvSpPr>
          <p:cNvPr id="5" name="Rectangle : coins arrondis 4">
            <a:extLst>
              <a:ext uri="{FF2B5EF4-FFF2-40B4-BE49-F238E27FC236}">
                <a16:creationId xmlns:a16="http://schemas.microsoft.com/office/drawing/2014/main" id="{AB93C5C8-8A05-4D8D-B159-6854FECD3AAF}"/>
              </a:ext>
            </a:extLst>
          </p:cNvPr>
          <p:cNvSpPr/>
          <p:nvPr/>
        </p:nvSpPr>
        <p:spPr>
          <a:xfrm>
            <a:off x="8308428" y="4611934"/>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9</a:t>
            </a:r>
          </a:p>
        </p:txBody>
      </p:sp>
      <p:sp>
        <p:nvSpPr>
          <p:cNvPr id="6" name="Google Shape;2155;p38">
            <a:extLst>
              <a:ext uri="{FF2B5EF4-FFF2-40B4-BE49-F238E27FC236}">
                <a16:creationId xmlns:a16="http://schemas.microsoft.com/office/drawing/2014/main" id="{7E799854-6439-49C0-8AA5-384A8791E8D8}"/>
              </a:ext>
            </a:extLst>
          </p:cNvPr>
          <p:cNvSpPr txBox="1">
            <a:spLocks noGrp="1"/>
          </p:cNvSpPr>
          <p:nvPr>
            <p:ph type="title"/>
          </p:nvPr>
        </p:nvSpPr>
        <p:spPr>
          <a:xfrm>
            <a:off x="2364828" y="197385"/>
            <a:ext cx="3752193" cy="80372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2400" dirty="0">
                <a:effectLst/>
                <a:latin typeface="Fjalla One" panose="020B0604020202020204" charset="0"/>
                <a:ea typeface="Times New Roman" panose="02020603050405020304" pitchFamily="18" charset="0"/>
                <a:cs typeface="Fjalla One" panose="020B0604020202020204" charset="0"/>
              </a:rPr>
              <a:t>Les Principales Menaces</a:t>
            </a:r>
            <a:endParaRPr sz="2400" dirty="0">
              <a:latin typeface="Fjalla One" panose="020B0604020202020204" charset="0"/>
              <a:cs typeface="Fjalla One" panose="020B0604020202020204" charset="0"/>
            </a:endParaRPr>
          </a:p>
        </p:txBody>
      </p:sp>
    </p:spTree>
    <p:extLst>
      <p:ext uri="{BB962C8B-B14F-4D97-AF65-F5344CB8AC3E}">
        <p14:creationId xmlns:p14="http://schemas.microsoft.com/office/powerpoint/2010/main" val="3727487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1" name="Google Shape;1891;p36"/>
          <p:cNvSpPr txBox="1">
            <a:spLocks noGrp="1"/>
          </p:cNvSpPr>
          <p:nvPr>
            <p:ph type="body" idx="1"/>
          </p:nvPr>
        </p:nvSpPr>
        <p:spPr>
          <a:xfrm>
            <a:off x="478168" y="157656"/>
            <a:ext cx="7940619" cy="3216166"/>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fr-FR" sz="1600" b="1" dirty="0"/>
              <a:t>Une cyberattaque </a:t>
            </a:r>
            <a:r>
              <a:rPr lang="fr-FR" sz="1600" dirty="0"/>
              <a:t>est l’exploitation délibérée de systèmes informatiques, d’entreprises et de réseaux tributaires de la technologie. Les cyberattaques utilisent des codes malveillants pour modifier le code informatique, la logique ou les données , ce qui entraîne des conséquences perturbatrices qui peuvent compromettre les données  et mener à des cybercrimes, comme le vol d’informations et d’identité. La cyberattaque est également connue sous le nom d’attaque de réseau informatique  (CNA) computer network </a:t>
            </a:r>
            <a:r>
              <a:rPr lang="fr-FR" sz="1600" dirty="0" err="1"/>
              <a:t>attack</a:t>
            </a:r>
            <a:endParaRPr lang="fr-FR" sz="1600" b="1" dirty="0">
              <a:solidFill>
                <a:schemeClr val="accent1">
                  <a:lumMod val="75000"/>
                </a:schemeClr>
              </a:solidFill>
              <a:latin typeface="Barlow Semi Condensed"/>
              <a:ea typeface="Barlow Semi Condensed"/>
              <a:cs typeface="Barlow Semi Condensed"/>
              <a:sym typeface="Barlow Semi Condensed"/>
            </a:endParaRPr>
          </a:p>
        </p:txBody>
      </p:sp>
      <p:sp>
        <p:nvSpPr>
          <p:cNvPr id="3" name="Rectangle : coins arrondis 2">
            <a:extLst>
              <a:ext uri="{FF2B5EF4-FFF2-40B4-BE49-F238E27FC236}">
                <a16:creationId xmlns:a16="http://schemas.microsoft.com/office/drawing/2014/main" id="{2E100354-1D09-4539-8344-A17FBF422D65}"/>
              </a:ext>
            </a:extLst>
          </p:cNvPr>
          <p:cNvSpPr/>
          <p:nvPr/>
        </p:nvSpPr>
        <p:spPr>
          <a:xfrm>
            <a:off x="8308428" y="4611934"/>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10</a:t>
            </a:r>
          </a:p>
        </p:txBody>
      </p:sp>
      <p:sp>
        <p:nvSpPr>
          <p:cNvPr id="4" name="Google Shape;2155;p38">
            <a:extLst>
              <a:ext uri="{FF2B5EF4-FFF2-40B4-BE49-F238E27FC236}">
                <a16:creationId xmlns:a16="http://schemas.microsoft.com/office/drawing/2014/main" id="{2E5C9416-50CF-4772-B4A7-6C80EE3418BA}"/>
              </a:ext>
            </a:extLst>
          </p:cNvPr>
          <p:cNvSpPr txBox="1">
            <a:spLocks noGrp="1"/>
          </p:cNvSpPr>
          <p:nvPr>
            <p:ph type="title"/>
          </p:nvPr>
        </p:nvSpPr>
        <p:spPr>
          <a:xfrm>
            <a:off x="2364828" y="197385"/>
            <a:ext cx="4162096" cy="80372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2400" dirty="0">
                <a:effectLst/>
                <a:latin typeface="Fjalla One" panose="020B0604020202020204" charset="0"/>
                <a:ea typeface="Times New Roman" panose="02020603050405020304" pitchFamily="18" charset="0"/>
                <a:cs typeface="Fjalla One" panose="020B0604020202020204" charset="0"/>
              </a:rPr>
              <a:t>Les Principales Menaces(suite)</a:t>
            </a:r>
            <a:endParaRPr sz="2400" dirty="0">
              <a:latin typeface="Fjalla One" panose="020B0604020202020204" charset="0"/>
              <a:cs typeface="Fjalla One" panose="020B0604020202020204" charset="0"/>
            </a:endParaRPr>
          </a:p>
        </p:txBody>
      </p:sp>
    </p:spTree>
    <p:extLst>
      <p:ext uri="{BB962C8B-B14F-4D97-AF65-F5344CB8AC3E}">
        <p14:creationId xmlns:p14="http://schemas.microsoft.com/office/powerpoint/2010/main" val="2612913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pic>
        <p:nvPicPr>
          <p:cNvPr id="11" name="Image 10">
            <a:extLst>
              <a:ext uri="{FF2B5EF4-FFF2-40B4-BE49-F238E27FC236}">
                <a16:creationId xmlns:a16="http://schemas.microsoft.com/office/drawing/2014/main" id="{B0D51171-8DE8-4D21-8568-EFF6E57A0323}"/>
              </a:ext>
            </a:extLst>
          </p:cNvPr>
          <p:cNvPicPr>
            <a:picLocks noChangeAspect="1"/>
          </p:cNvPicPr>
          <p:nvPr/>
        </p:nvPicPr>
        <p:blipFill>
          <a:blip r:embed="rId3"/>
          <a:stretch>
            <a:fillRect/>
          </a:stretch>
        </p:blipFill>
        <p:spPr>
          <a:xfrm>
            <a:off x="5054154" y="1749971"/>
            <a:ext cx="3767653" cy="2279103"/>
          </a:xfrm>
          <a:prstGeom prst="rect">
            <a:avLst/>
          </a:prstGeom>
        </p:spPr>
      </p:pic>
      <p:sp>
        <p:nvSpPr>
          <p:cNvPr id="13" name="Google Shape;1891;p36">
            <a:extLst>
              <a:ext uri="{FF2B5EF4-FFF2-40B4-BE49-F238E27FC236}">
                <a16:creationId xmlns:a16="http://schemas.microsoft.com/office/drawing/2014/main" id="{DD45E79B-D888-4A65-BA88-ABA2E4FB6E1B}"/>
              </a:ext>
            </a:extLst>
          </p:cNvPr>
          <p:cNvSpPr txBox="1">
            <a:spLocks noGrp="1"/>
          </p:cNvSpPr>
          <p:nvPr>
            <p:ph type="body" idx="1"/>
          </p:nvPr>
        </p:nvSpPr>
        <p:spPr>
          <a:xfrm>
            <a:off x="118241" y="646387"/>
            <a:ext cx="4453759" cy="4114799"/>
          </a:xfrm>
          <a:prstGeom prst="rect">
            <a:avLst/>
          </a:prstGeom>
        </p:spPr>
        <p:txBody>
          <a:bodyPr spcFirstLastPara="1" wrap="square" lIns="91425" tIns="91425" rIns="91425" bIns="91425" anchor="ctr" anchorCtr="0">
            <a:noAutofit/>
          </a:bodyPr>
          <a:lstStyle/>
          <a:p>
            <a:pPr algn="l">
              <a:buFont typeface="Arial" panose="020B0604020202020204" pitchFamily="34" charset="0"/>
              <a:buChar char="•"/>
            </a:pPr>
            <a:r>
              <a:rPr lang="fr-FR" sz="1600" b="1" i="0" dirty="0">
                <a:solidFill>
                  <a:srgbClr val="3F4544"/>
                </a:solidFill>
                <a:effectLst/>
                <a:latin typeface="Barlow Semi Condensed" panose="00000506000000000000" pitchFamily="2" charset="0"/>
              </a:rPr>
              <a:t>le phishing</a:t>
            </a:r>
            <a:r>
              <a:rPr lang="fr-FR" sz="1600" b="0" i="0" dirty="0">
                <a:solidFill>
                  <a:srgbClr val="3F4544"/>
                </a:solidFill>
                <a:effectLst/>
                <a:latin typeface="Barlow Semi Condensed" panose="00000506000000000000" pitchFamily="2" charset="0"/>
              </a:rPr>
              <a:t>: </a:t>
            </a:r>
            <a:r>
              <a:rPr lang="fr-FR" sz="1600" dirty="0">
                <a:solidFill>
                  <a:srgbClr val="3F4544"/>
                </a:solidFill>
                <a:latin typeface="Barlow Semi Condensed" panose="00000506000000000000" pitchFamily="2" charset="0"/>
              </a:rPr>
              <a:t>C</a:t>
            </a:r>
            <a:r>
              <a:rPr lang="fr-FR" sz="1600" b="0" i="0" dirty="0">
                <a:solidFill>
                  <a:srgbClr val="3F4544"/>
                </a:solidFill>
                <a:effectLst/>
                <a:latin typeface="Barlow Semi Condensed" panose="00000506000000000000" pitchFamily="2" charset="0"/>
              </a:rPr>
              <a:t>orrespond à ces emails frauduleux et souvent grossiers, envoyés au hasard sur des milliers d’adresses mail dans le but de soutirer des informations personnelles et/ou de l’argent à leurs destinataires.</a:t>
            </a:r>
          </a:p>
          <a:p>
            <a:pPr algn="l">
              <a:buFont typeface="Arial" panose="020B0604020202020204" pitchFamily="34" charset="0"/>
              <a:buChar char="•"/>
            </a:pPr>
            <a:r>
              <a:rPr lang="fr-FR" sz="1600" b="1" i="0" u="none" strike="noStrike" dirty="0">
                <a:solidFill>
                  <a:srgbClr val="B0CA43"/>
                </a:solidFill>
                <a:effectLst/>
                <a:latin typeface="Barlow Semi Condensed" panose="00000506000000000000" pitchFamily="2" charset="0"/>
                <a:hlinkClick r:id="rId4"/>
              </a:rPr>
              <a:t>le </a:t>
            </a:r>
            <a:r>
              <a:rPr lang="fr-FR" sz="1600" b="1" i="0" u="none" strike="noStrike" dirty="0" err="1">
                <a:solidFill>
                  <a:srgbClr val="B0CA43"/>
                </a:solidFill>
                <a:effectLst/>
                <a:latin typeface="Barlow Semi Condensed" panose="00000506000000000000" pitchFamily="2" charset="0"/>
                <a:hlinkClick r:id="rId4"/>
              </a:rPr>
              <a:t>spear</a:t>
            </a:r>
            <a:r>
              <a:rPr lang="fr-FR" sz="1600" b="1" i="0" u="none" strike="noStrike" dirty="0">
                <a:solidFill>
                  <a:srgbClr val="B0CA43"/>
                </a:solidFill>
                <a:effectLst/>
                <a:latin typeface="Barlow Semi Condensed" panose="00000506000000000000" pitchFamily="2" charset="0"/>
                <a:hlinkClick r:id="rId4"/>
              </a:rPr>
              <a:t> phishing</a:t>
            </a:r>
            <a:r>
              <a:rPr lang="fr-FR" sz="1600" b="0" i="0" dirty="0">
                <a:solidFill>
                  <a:srgbClr val="3F4544"/>
                </a:solidFill>
                <a:effectLst/>
                <a:latin typeface="Barlow Semi Condensed" panose="00000506000000000000" pitchFamily="2" charset="0"/>
              </a:rPr>
              <a:t> : qui consiste à utiliser la même technique que le phishing tout en ciblant de manière très précise les victimes grâce à un travail de recherche préalable. Les messages sont donc plus personnalisés et donc plus trompeurs.</a:t>
            </a:r>
          </a:p>
          <a:p>
            <a:pPr marL="0" lvl="0" indent="0" algn="l" rtl="0">
              <a:spcBef>
                <a:spcPts val="0"/>
              </a:spcBef>
              <a:spcAft>
                <a:spcPts val="0"/>
              </a:spcAft>
              <a:buClr>
                <a:schemeClr val="dk1"/>
              </a:buClr>
              <a:buSzPts val="1100"/>
              <a:buFont typeface="Arial"/>
              <a:buNone/>
            </a:pPr>
            <a:endParaRPr lang="fr-FR" sz="1600" b="1" dirty="0">
              <a:solidFill>
                <a:schemeClr val="accent1">
                  <a:lumMod val="75000"/>
                </a:schemeClr>
              </a:solidFill>
              <a:latin typeface="Barlow Semi Condensed" panose="00000506000000000000" pitchFamily="2" charset="0"/>
              <a:sym typeface="Barlow Semi Condensed"/>
            </a:endParaRPr>
          </a:p>
        </p:txBody>
      </p:sp>
      <p:sp>
        <p:nvSpPr>
          <p:cNvPr id="14" name="Rectangle : coins arrondis 13">
            <a:extLst>
              <a:ext uri="{FF2B5EF4-FFF2-40B4-BE49-F238E27FC236}">
                <a16:creationId xmlns:a16="http://schemas.microsoft.com/office/drawing/2014/main" id="{EEBE31D1-6486-4ABD-8726-0F1C83B1DFEA}"/>
              </a:ext>
            </a:extLst>
          </p:cNvPr>
          <p:cNvSpPr/>
          <p:nvPr/>
        </p:nvSpPr>
        <p:spPr>
          <a:xfrm>
            <a:off x="8308428" y="4611934"/>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11</a:t>
            </a:r>
          </a:p>
        </p:txBody>
      </p:sp>
      <p:sp>
        <p:nvSpPr>
          <p:cNvPr id="5" name="Google Shape;1891;p36">
            <a:extLst>
              <a:ext uri="{FF2B5EF4-FFF2-40B4-BE49-F238E27FC236}">
                <a16:creationId xmlns:a16="http://schemas.microsoft.com/office/drawing/2014/main" id="{2E7022CC-AC46-4CF8-8DED-B035221E83BC}"/>
              </a:ext>
            </a:extLst>
          </p:cNvPr>
          <p:cNvSpPr txBox="1">
            <a:spLocks/>
          </p:cNvSpPr>
          <p:nvPr/>
        </p:nvSpPr>
        <p:spPr>
          <a:xfrm>
            <a:off x="2124395" y="153713"/>
            <a:ext cx="4135821" cy="80666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Barlow Semi Condensed Medium"/>
              <a:buAutoNum type="arabicPeriod"/>
              <a:defRPr sz="1200" b="0" i="0" u="none" strike="noStrike" cap="none">
                <a:solidFill>
                  <a:schemeClr val="dk2"/>
                </a:solidFill>
                <a:latin typeface="Barlow Semi Condensed"/>
                <a:ea typeface="Barlow Semi Condensed"/>
                <a:cs typeface="Barlow Semi Condensed"/>
                <a:sym typeface="Barlow Semi Condensed"/>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dk2"/>
                </a:solidFill>
                <a:latin typeface="Barlow Semi Condensed"/>
                <a:ea typeface="Barlow Semi Condensed"/>
                <a:cs typeface="Barlow Semi Condensed"/>
                <a:sym typeface="Barlow Semi Condensed"/>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dk2"/>
                </a:solidFill>
                <a:latin typeface="Barlow Semi Condensed"/>
                <a:ea typeface="Barlow Semi Condensed"/>
                <a:cs typeface="Barlow Semi Condensed"/>
                <a:sym typeface="Barlow Semi Condensed"/>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9pPr>
          </a:lstStyle>
          <a:p>
            <a:pPr marL="152400" indent="0" algn="ctr">
              <a:buNone/>
            </a:pPr>
            <a:r>
              <a:rPr lang="fr-FR" sz="2400" dirty="0">
                <a:solidFill>
                  <a:srgbClr val="3F4544"/>
                </a:solidFill>
                <a:latin typeface="Fjalla One" panose="020B0604020202020204" charset="0"/>
                <a:cs typeface="Fjalla One" panose="020B0604020202020204" charset="0"/>
              </a:rPr>
              <a:t>Quelques cyberattaques</a:t>
            </a:r>
            <a:endParaRPr lang="fr-FR" sz="2400" dirty="0">
              <a:solidFill>
                <a:schemeClr val="accent1">
                  <a:lumMod val="75000"/>
                </a:schemeClr>
              </a:solidFill>
              <a:latin typeface="Fjalla One" panose="020B0604020202020204" charset="0"/>
              <a:cs typeface="Fjalla One" panose="020B0604020202020204" charset="0"/>
            </a:endParaRPr>
          </a:p>
        </p:txBody>
      </p:sp>
    </p:spTree>
    <p:extLst>
      <p:ext uri="{BB962C8B-B14F-4D97-AF65-F5344CB8AC3E}">
        <p14:creationId xmlns:p14="http://schemas.microsoft.com/office/powerpoint/2010/main" val="506410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pic>
        <p:nvPicPr>
          <p:cNvPr id="3" name="Image 2">
            <a:extLst>
              <a:ext uri="{FF2B5EF4-FFF2-40B4-BE49-F238E27FC236}">
                <a16:creationId xmlns:a16="http://schemas.microsoft.com/office/drawing/2014/main" id="{CC282CE7-C109-4CB5-A20A-5FA681119726}"/>
              </a:ext>
            </a:extLst>
          </p:cNvPr>
          <p:cNvPicPr>
            <a:picLocks noChangeAspect="1"/>
          </p:cNvPicPr>
          <p:nvPr/>
        </p:nvPicPr>
        <p:blipFill>
          <a:blip r:embed="rId3"/>
          <a:stretch>
            <a:fillRect/>
          </a:stretch>
        </p:blipFill>
        <p:spPr>
          <a:xfrm>
            <a:off x="1019484" y="1659601"/>
            <a:ext cx="5862163" cy="3397778"/>
          </a:xfrm>
          <a:prstGeom prst="rect">
            <a:avLst/>
          </a:prstGeom>
        </p:spPr>
      </p:pic>
      <p:sp>
        <p:nvSpPr>
          <p:cNvPr id="8" name="Google Shape;1891;p36">
            <a:extLst>
              <a:ext uri="{FF2B5EF4-FFF2-40B4-BE49-F238E27FC236}">
                <a16:creationId xmlns:a16="http://schemas.microsoft.com/office/drawing/2014/main" id="{E65EFAB8-15D5-4A50-A78F-DFCE4E1C8F2F}"/>
              </a:ext>
            </a:extLst>
          </p:cNvPr>
          <p:cNvSpPr txBox="1">
            <a:spLocks noGrp="1"/>
          </p:cNvSpPr>
          <p:nvPr>
            <p:ph type="body" idx="1"/>
          </p:nvPr>
        </p:nvSpPr>
        <p:spPr>
          <a:xfrm>
            <a:off x="417786" y="275897"/>
            <a:ext cx="6794938" cy="1253358"/>
          </a:xfrm>
          <a:prstGeom prst="rect">
            <a:avLst/>
          </a:prstGeom>
        </p:spPr>
        <p:txBody>
          <a:bodyPr spcFirstLastPara="1" wrap="square" lIns="91425" tIns="91425" rIns="91425" bIns="91425" anchor="ctr" anchorCtr="0">
            <a:noAutofit/>
          </a:bodyPr>
          <a:lstStyle/>
          <a:p>
            <a:pPr algn="l">
              <a:buFont typeface="Arial" panose="020B0604020202020204" pitchFamily="34" charset="0"/>
              <a:buChar char="•"/>
            </a:pPr>
            <a:r>
              <a:rPr lang="fr-FR" sz="1600" b="0" i="0" dirty="0">
                <a:solidFill>
                  <a:srgbClr val="21455C"/>
                </a:solidFill>
                <a:effectLst/>
                <a:latin typeface="Barlow Semi Condensed" panose="00000506000000000000" pitchFamily="2" charset="0"/>
              </a:rPr>
              <a:t>Le terme « malware » est un terme générique qui désigne tout type de logiciel malveillant (en anglais « </a:t>
            </a:r>
            <a:r>
              <a:rPr lang="fr-FR" sz="1600" b="1" i="0" dirty="0" err="1">
                <a:effectLst/>
                <a:latin typeface="Barlow Semi Condensed" panose="00000506000000000000" pitchFamily="2" charset="0"/>
              </a:rPr>
              <a:t>mal</a:t>
            </a:r>
            <a:r>
              <a:rPr lang="fr-FR" sz="1600" b="0" i="0" dirty="0" err="1">
                <a:solidFill>
                  <a:srgbClr val="21455C"/>
                </a:solidFill>
                <a:effectLst/>
                <a:latin typeface="Barlow Semi Condensed" panose="00000506000000000000" pitchFamily="2" charset="0"/>
              </a:rPr>
              <a:t>icious</a:t>
            </a:r>
            <a:r>
              <a:rPr lang="fr-FR" sz="1600" b="0" i="0" dirty="0">
                <a:solidFill>
                  <a:srgbClr val="21455C"/>
                </a:solidFill>
                <a:effectLst/>
                <a:latin typeface="Barlow Semi Condensed" panose="00000506000000000000" pitchFamily="2" charset="0"/>
              </a:rPr>
              <a:t> soft</a:t>
            </a:r>
            <a:r>
              <a:rPr lang="fr-FR" sz="1600" b="1" i="0" dirty="0">
                <a:effectLst/>
                <a:latin typeface="Barlow Semi Condensed" panose="00000506000000000000" pitchFamily="2" charset="0"/>
              </a:rPr>
              <a:t>ware</a:t>
            </a:r>
            <a:r>
              <a:rPr lang="fr-FR" sz="1600" b="0" i="0" dirty="0">
                <a:solidFill>
                  <a:srgbClr val="21455C"/>
                </a:solidFill>
                <a:effectLst/>
                <a:latin typeface="Barlow Semi Condensed" panose="00000506000000000000" pitchFamily="2" charset="0"/>
              </a:rPr>
              <a:t> »), conçu pour s’infiltrer dans votre appareil à votre insu, causer des dommages ou perturbations à votre système, ou encore voler des données.</a:t>
            </a:r>
            <a:endParaRPr lang="fr-FR" sz="1600" b="1" dirty="0">
              <a:solidFill>
                <a:schemeClr val="accent1">
                  <a:lumMod val="75000"/>
                </a:schemeClr>
              </a:solidFill>
              <a:latin typeface="Barlow Semi Condensed" panose="00000506000000000000" pitchFamily="2" charset="0"/>
              <a:sym typeface="Barlow Semi Condensed"/>
            </a:endParaRPr>
          </a:p>
        </p:txBody>
      </p:sp>
      <p:sp>
        <p:nvSpPr>
          <p:cNvPr id="9" name="Rectangle : coins arrondis 8">
            <a:extLst>
              <a:ext uri="{FF2B5EF4-FFF2-40B4-BE49-F238E27FC236}">
                <a16:creationId xmlns:a16="http://schemas.microsoft.com/office/drawing/2014/main" id="{2CB35400-72BC-4FEC-9DA1-946E21B7577E}"/>
              </a:ext>
            </a:extLst>
          </p:cNvPr>
          <p:cNvSpPr/>
          <p:nvPr/>
        </p:nvSpPr>
        <p:spPr>
          <a:xfrm>
            <a:off x="8308428" y="4611934"/>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12</a:t>
            </a:r>
          </a:p>
        </p:txBody>
      </p:sp>
    </p:spTree>
    <p:extLst>
      <p:ext uri="{BB962C8B-B14F-4D97-AF65-F5344CB8AC3E}">
        <p14:creationId xmlns:p14="http://schemas.microsoft.com/office/powerpoint/2010/main" val="3917819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8" name="Google Shape;1891;p36">
            <a:extLst>
              <a:ext uri="{FF2B5EF4-FFF2-40B4-BE49-F238E27FC236}">
                <a16:creationId xmlns:a16="http://schemas.microsoft.com/office/drawing/2014/main" id="{E65EFAB8-15D5-4A50-A78F-DFCE4E1C8F2F}"/>
              </a:ext>
            </a:extLst>
          </p:cNvPr>
          <p:cNvSpPr txBox="1">
            <a:spLocks noGrp="1"/>
          </p:cNvSpPr>
          <p:nvPr>
            <p:ph type="body" idx="1"/>
          </p:nvPr>
        </p:nvSpPr>
        <p:spPr>
          <a:xfrm>
            <a:off x="157654" y="307428"/>
            <a:ext cx="4059622" cy="4477406"/>
          </a:xfrm>
          <a:prstGeom prst="rect">
            <a:avLst/>
          </a:prstGeom>
        </p:spPr>
        <p:txBody>
          <a:bodyPr spcFirstLastPara="1" wrap="square" lIns="91425" tIns="91425" rIns="91425" bIns="91425" anchor="ctr" anchorCtr="0">
            <a:noAutofit/>
          </a:bodyPr>
          <a:lstStyle/>
          <a:p>
            <a:pPr algn="l">
              <a:buFont typeface="Arial" panose="020B0604020202020204" pitchFamily="34" charset="0"/>
              <a:buChar char="•"/>
            </a:pPr>
            <a:r>
              <a:rPr lang="fr-FR" sz="1600" b="0" i="0" dirty="0">
                <a:solidFill>
                  <a:srgbClr val="3F4544"/>
                </a:solidFill>
                <a:effectLst/>
                <a:latin typeface="Barlow Semi Condensed" panose="00000506000000000000" pitchFamily="2" charset="0"/>
              </a:rPr>
              <a:t>Une </a:t>
            </a:r>
            <a:r>
              <a:rPr lang="fr-FR" sz="1600" i="0" dirty="0">
                <a:solidFill>
                  <a:srgbClr val="3F4544"/>
                </a:solidFill>
                <a:effectLst/>
                <a:latin typeface="Barlow Semi Condensed" panose="00000506000000000000" pitchFamily="2" charset="0"/>
              </a:rPr>
              <a:t>attaque</a:t>
            </a:r>
            <a:r>
              <a:rPr lang="fr-FR" sz="1600" b="1" i="0" dirty="0">
                <a:solidFill>
                  <a:srgbClr val="3F4544"/>
                </a:solidFill>
                <a:effectLst/>
                <a:latin typeface="Barlow Semi Condensed" panose="00000506000000000000" pitchFamily="2" charset="0"/>
              </a:rPr>
              <a:t> par déni de service</a:t>
            </a:r>
            <a:r>
              <a:rPr lang="fr-FR" sz="1600" b="0" i="0" dirty="0">
                <a:solidFill>
                  <a:srgbClr val="3F4544"/>
                </a:solidFill>
                <a:effectLst/>
                <a:latin typeface="Barlow Semi Condensed" panose="00000506000000000000" pitchFamily="2" charset="0"/>
              </a:rPr>
              <a:t> </a:t>
            </a:r>
            <a:r>
              <a:rPr lang="fr-FR" sz="1600" b="1" i="0" dirty="0">
                <a:solidFill>
                  <a:srgbClr val="3F4544"/>
                </a:solidFill>
                <a:effectLst/>
                <a:latin typeface="Barlow Semi Condensed" panose="00000506000000000000" pitchFamily="2" charset="0"/>
              </a:rPr>
              <a:t>(</a:t>
            </a:r>
            <a:r>
              <a:rPr lang="fr-FR" sz="1600" b="1" i="0" dirty="0" err="1">
                <a:solidFill>
                  <a:srgbClr val="3F4544"/>
                </a:solidFill>
                <a:effectLst/>
                <a:latin typeface="Barlow Semi Condensed" panose="00000506000000000000" pitchFamily="2" charset="0"/>
              </a:rPr>
              <a:t>DoS</a:t>
            </a:r>
            <a:r>
              <a:rPr lang="fr-FR" sz="1600" b="1" i="0" dirty="0">
                <a:solidFill>
                  <a:srgbClr val="3F4544"/>
                </a:solidFill>
                <a:effectLst/>
                <a:latin typeface="Barlow Semi Condensed" panose="00000506000000000000" pitchFamily="2" charset="0"/>
              </a:rPr>
              <a:t>)</a:t>
            </a:r>
            <a:r>
              <a:rPr lang="fr-FR" sz="1600" b="0" i="0" dirty="0">
                <a:solidFill>
                  <a:srgbClr val="3F4544"/>
                </a:solidFill>
                <a:effectLst/>
                <a:latin typeface="Barlow Semi Condensed" panose="00000506000000000000" pitchFamily="2" charset="0"/>
              </a:rPr>
              <a:t> consiste à générer un trafic énorme sur un service afin d’épuiser les ressources et la bande passante d’un réseau informatique ou d’un </a:t>
            </a:r>
            <a:r>
              <a:rPr lang="fr-FR" sz="1600" b="1" i="0" u="none" strike="noStrike" dirty="0">
                <a:solidFill>
                  <a:srgbClr val="B0CA43"/>
                </a:solidFill>
                <a:effectLst/>
                <a:latin typeface="Barlow Semi Condensed" panose="00000506000000000000" pitchFamily="2" charset="0"/>
                <a:hlinkClick r:id="rId3"/>
              </a:rPr>
              <a:t>serveur</a:t>
            </a:r>
            <a:r>
              <a:rPr lang="fr-FR" sz="1600" b="0" i="0" dirty="0">
                <a:solidFill>
                  <a:srgbClr val="3F4544"/>
                </a:solidFill>
                <a:effectLst/>
                <a:latin typeface="Barlow Semi Condensed" panose="00000506000000000000" pitchFamily="2" charset="0"/>
              </a:rPr>
              <a:t>.</a:t>
            </a:r>
          </a:p>
          <a:p>
            <a:pPr algn="l">
              <a:buFont typeface="Arial" panose="020B0604020202020204" pitchFamily="34" charset="0"/>
              <a:buChar char="•"/>
            </a:pPr>
            <a:r>
              <a:rPr lang="fr-FR" sz="1600" dirty="0">
                <a:solidFill>
                  <a:srgbClr val="3F4544"/>
                </a:solidFill>
                <a:latin typeface="Barlow Semi Condensed" panose="00000506000000000000" pitchFamily="2" charset="0"/>
              </a:rPr>
              <a:t>U</a:t>
            </a:r>
            <a:r>
              <a:rPr lang="fr-FR" sz="1600" i="0" dirty="0">
                <a:solidFill>
                  <a:srgbClr val="3F4544"/>
                </a:solidFill>
                <a:effectLst/>
                <a:latin typeface="Barlow Semi Condensed" panose="00000506000000000000" pitchFamily="2" charset="0"/>
              </a:rPr>
              <a:t>ne</a:t>
            </a:r>
            <a:r>
              <a:rPr lang="fr-FR" sz="1600" b="1" i="0" dirty="0">
                <a:solidFill>
                  <a:srgbClr val="3F4544"/>
                </a:solidFill>
                <a:effectLst/>
                <a:latin typeface="Barlow Semi Condensed" panose="00000506000000000000" pitchFamily="2" charset="0"/>
              </a:rPr>
              <a:t> </a:t>
            </a:r>
            <a:r>
              <a:rPr lang="fr-FR" sz="1600" i="0" dirty="0">
                <a:solidFill>
                  <a:srgbClr val="3F4544"/>
                </a:solidFill>
                <a:effectLst/>
                <a:latin typeface="Barlow Semi Condensed" panose="00000506000000000000" pitchFamily="2" charset="0"/>
              </a:rPr>
              <a:t>attaque</a:t>
            </a:r>
            <a:r>
              <a:rPr lang="fr-FR" sz="1600" b="1" i="0" dirty="0">
                <a:solidFill>
                  <a:srgbClr val="3F4544"/>
                </a:solidFill>
                <a:effectLst/>
                <a:latin typeface="Barlow Semi Condensed" panose="00000506000000000000" pitchFamily="2" charset="0"/>
              </a:rPr>
              <a:t> par déni de service distribuée (DDoS)</a:t>
            </a:r>
            <a:r>
              <a:rPr lang="fr-FR" sz="1600" b="0" i="0" dirty="0">
                <a:solidFill>
                  <a:srgbClr val="3F4544"/>
                </a:solidFill>
                <a:effectLst/>
                <a:latin typeface="Barlow Semi Condensed" panose="00000506000000000000" pitchFamily="2" charset="0"/>
              </a:rPr>
              <a:t> </a:t>
            </a:r>
            <a:r>
              <a:rPr lang="fr-FR" sz="1600" i="0" dirty="0">
                <a:solidFill>
                  <a:srgbClr val="3F4544"/>
                </a:solidFill>
                <a:effectLst/>
                <a:latin typeface="Barlow Semi Condensed" panose="00000506000000000000" pitchFamily="2" charset="0"/>
              </a:rPr>
              <a:t>provient de plusieurs périphériques</a:t>
            </a:r>
            <a:r>
              <a:rPr lang="fr-FR" sz="1600" b="0" i="0" dirty="0">
                <a:solidFill>
                  <a:srgbClr val="3F4544"/>
                </a:solidFill>
                <a:effectLst/>
                <a:latin typeface="Barlow Semi Condensed" panose="00000506000000000000" pitchFamily="2" charset="0"/>
              </a:rPr>
              <a:t> qui génère simultanément un trafic gigantesque. Toujours dans le but de perturber l’accès à un service.</a:t>
            </a:r>
            <a:endParaRPr lang="fr-FR" sz="1600" b="1" dirty="0">
              <a:solidFill>
                <a:schemeClr val="accent1">
                  <a:lumMod val="75000"/>
                </a:schemeClr>
              </a:solidFill>
              <a:latin typeface="Barlow Semi Condensed" panose="00000506000000000000" pitchFamily="2" charset="0"/>
              <a:sym typeface="Barlow Semi Condensed"/>
            </a:endParaRPr>
          </a:p>
        </p:txBody>
      </p:sp>
      <p:pic>
        <p:nvPicPr>
          <p:cNvPr id="4" name="Image 3">
            <a:extLst>
              <a:ext uri="{FF2B5EF4-FFF2-40B4-BE49-F238E27FC236}">
                <a16:creationId xmlns:a16="http://schemas.microsoft.com/office/drawing/2014/main" id="{69039D1C-2F28-48A8-B6FE-E7E64ED9B601}"/>
              </a:ext>
            </a:extLst>
          </p:cNvPr>
          <p:cNvPicPr>
            <a:picLocks noChangeAspect="1"/>
          </p:cNvPicPr>
          <p:nvPr/>
        </p:nvPicPr>
        <p:blipFill>
          <a:blip r:embed="rId4"/>
          <a:stretch>
            <a:fillRect/>
          </a:stretch>
        </p:blipFill>
        <p:spPr>
          <a:xfrm>
            <a:off x="4572000" y="1428075"/>
            <a:ext cx="4165323" cy="2287349"/>
          </a:xfrm>
          <a:prstGeom prst="rect">
            <a:avLst/>
          </a:prstGeom>
        </p:spPr>
      </p:pic>
      <p:sp>
        <p:nvSpPr>
          <p:cNvPr id="6" name="Rectangle : coins arrondis 5">
            <a:extLst>
              <a:ext uri="{FF2B5EF4-FFF2-40B4-BE49-F238E27FC236}">
                <a16:creationId xmlns:a16="http://schemas.microsoft.com/office/drawing/2014/main" id="{AD02B73D-9FD1-4F3E-90E5-A8B9A850E790}"/>
              </a:ext>
            </a:extLst>
          </p:cNvPr>
          <p:cNvSpPr/>
          <p:nvPr/>
        </p:nvSpPr>
        <p:spPr>
          <a:xfrm>
            <a:off x="8308428" y="4611934"/>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13</a:t>
            </a:r>
          </a:p>
        </p:txBody>
      </p:sp>
      <p:sp>
        <p:nvSpPr>
          <p:cNvPr id="9" name="Google Shape;1891;p36">
            <a:extLst>
              <a:ext uri="{FF2B5EF4-FFF2-40B4-BE49-F238E27FC236}">
                <a16:creationId xmlns:a16="http://schemas.microsoft.com/office/drawing/2014/main" id="{CC66395A-6615-4980-B0C0-23AB1D17894A}"/>
              </a:ext>
            </a:extLst>
          </p:cNvPr>
          <p:cNvSpPr txBox="1">
            <a:spLocks/>
          </p:cNvSpPr>
          <p:nvPr/>
        </p:nvSpPr>
        <p:spPr>
          <a:xfrm>
            <a:off x="2124395" y="153713"/>
            <a:ext cx="4135821" cy="80666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Barlow Semi Condensed Medium"/>
              <a:buAutoNum type="arabicPeriod"/>
              <a:defRPr sz="1200" b="0" i="0" u="none" strike="noStrike" cap="none">
                <a:solidFill>
                  <a:schemeClr val="dk2"/>
                </a:solidFill>
                <a:latin typeface="Barlow Semi Condensed"/>
                <a:ea typeface="Barlow Semi Condensed"/>
                <a:cs typeface="Barlow Semi Condensed"/>
                <a:sym typeface="Barlow Semi Condensed"/>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dk2"/>
                </a:solidFill>
                <a:latin typeface="Barlow Semi Condensed"/>
                <a:ea typeface="Barlow Semi Condensed"/>
                <a:cs typeface="Barlow Semi Condensed"/>
                <a:sym typeface="Barlow Semi Condensed"/>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dk2"/>
                </a:solidFill>
                <a:latin typeface="Barlow Semi Condensed"/>
                <a:ea typeface="Barlow Semi Condensed"/>
                <a:cs typeface="Barlow Semi Condensed"/>
                <a:sym typeface="Barlow Semi Condensed"/>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9pPr>
          </a:lstStyle>
          <a:p>
            <a:pPr marL="152400" indent="0" algn="ctr">
              <a:buNone/>
            </a:pPr>
            <a:r>
              <a:rPr lang="fr-FR" sz="2400" dirty="0">
                <a:solidFill>
                  <a:srgbClr val="3F4544"/>
                </a:solidFill>
                <a:latin typeface="Fjalla One" panose="020B0604020202020204" charset="0"/>
                <a:cs typeface="Fjalla One" panose="020B0604020202020204" charset="0"/>
              </a:rPr>
              <a:t>Quelques cyberattaques (suite)</a:t>
            </a:r>
            <a:endParaRPr lang="fr-FR" sz="2400" dirty="0">
              <a:solidFill>
                <a:schemeClr val="accent1">
                  <a:lumMod val="75000"/>
                </a:schemeClr>
              </a:solidFill>
              <a:latin typeface="Fjalla One" panose="020B0604020202020204" charset="0"/>
              <a:cs typeface="Fjalla One" panose="020B0604020202020204" charset="0"/>
            </a:endParaRPr>
          </a:p>
        </p:txBody>
      </p:sp>
    </p:spTree>
    <p:extLst>
      <p:ext uri="{BB962C8B-B14F-4D97-AF65-F5344CB8AC3E}">
        <p14:creationId xmlns:p14="http://schemas.microsoft.com/office/powerpoint/2010/main" val="2255427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3" name="Rectangle : coins arrondis 2">
            <a:extLst>
              <a:ext uri="{FF2B5EF4-FFF2-40B4-BE49-F238E27FC236}">
                <a16:creationId xmlns:a16="http://schemas.microsoft.com/office/drawing/2014/main" id="{42B28E12-9529-47DB-BBE4-2A4C67EBDAC0}"/>
              </a:ext>
            </a:extLst>
          </p:cNvPr>
          <p:cNvSpPr/>
          <p:nvPr/>
        </p:nvSpPr>
        <p:spPr>
          <a:xfrm>
            <a:off x="8308428" y="4611934"/>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14</a:t>
            </a:r>
          </a:p>
        </p:txBody>
      </p:sp>
      <p:pic>
        <p:nvPicPr>
          <p:cNvPr id="6" name="Image 5">
            <a:extLst>
              <a:ext uri="{FF2B5EF4-FFF2-40B4-BE49-F238E27FC236}">
                <a16:creationId xmlns:a16="http://schemas.microsoft.com/office/drawing/2014/main" id="{83AE5918-772D-43E8-8E4C-13F69EAABF38}"/>
              </a:ext>
            </a:extLst>
          </p:cNvPr>
          <p:cNvPicPr>
            <a:picLocks noChangeAspect="1"/>
          </p:cNvPicPr>
          <p:nvPr/>
        </p:nvPicPr>
        <p:blipFill>
          <a:blip r:embed="rId3"/>
          <a:stretch>
            <a:fillRect/>
          </a:stretch>
        </p:blipFill>
        <p:spPr>
          <a:xfrm>
            <a:off x="1658006" y="1604271"/>
            <a:ext cx="4151588" cy="3539229"/>
          </a:xfrm>
          <a:prstGeom prst="rect">
            <a:avLst/>
          </a:prstGeom>
        </p:spPr>
      </p:pic>
      <p:sp>
        <p:nvSpPr>
          <p:cNvPr id="10" name="Google Shape;1891;p36">
            <a:extLst>
              <a:ext uri="{FF2B5EF4-FFF2-40B4-BE49-F238E27FC236}">
                <a16:creationId xmlns:a16="http://schemas.microsoft.com/office/drawing/2014/main" id="{D0258A39-F014-453C-92E5-C1FDCF740FF5}"/>
              </a:ext>
            </a:extLst>
          </p:cNvPr>
          <p:cNvSpPr txBox="1">
            <a:spLocks noGrp="1"/>
          </p:cNvSpPr>
          <p:nvPr>
            <p:ph type="body" idx="1"/>
          </p:nvPr>
        </p:nvSpPr>
        <p:spPr>
          <a:xfrm>
            <a:off x="2380591" y="638503"/>
            <a:ext cx="2956036" cy="953815"/>
          </a:xfrm>
          <a:prstGeom prst="rect">
            <a:avLst/>
          </a:prstGeom>
        </p:spPr>
        <p:txBody>
          <a:bodyPr spcFirstLastPara="1" wrap="square" lIns="91425" tIns="91425" rIns="91425" bIns="91425" anchor="ctr" anchorCtr="0">
            <a:noAutofit/>
          </a:bodyPr>
          <a:lstStyle/>
          <a:p>
            <a:pPr marL="152400" indent="0" algn="ctr">
              <a:buNone/>
            </a:pPr>
            <a:r>
              <a:rPr lang="fr-FR" sz="1800" b="1" i="0" dirty="0">
                <a:solidFill>
                  <a:srgbClr val="3F4544"/>
                </a:solidFill>
                <a:effectLst/>
                <a:latin typeface="Barlow Semi Condensed" panose="00000506000000000000" pitchFamily="2" charset="0"/>
              </a:rPr>
              <a:t>Man in The Middle</a:t>
            </a:r>
            <a:endParaRPr lang="fr-FR" sz="1800" b="1" dirty="0">
              <a:solidFill>
                <a:schemeClr val="accent1">
                  <a:lumMod val="75000"/>
                </a:schemeClr>
              </a:solidFill>
              <a:latin typeface="Barlow Semi Condensed" panose="00000506000000000000" pitchFamily="2" charset="0"/>
              <a:sym typeface="Barlow Semi Condensed"/>
            </a:endParaRPr>
          </a:p>
        </p:txBody>
      </p:sp>
      <p:sp>
        <p:nvSpPr>
          <p:cNvPr id="5" name="Google Shape;1891;p36">
            <a:extLst>
              <a:ext uri="{FF2B5EF4-FFF2-40B4-BE49-F238E27FC236}">
                <a16:creationId xmlns:a16="http://schemas.microsoft.com/office/drawing/2014/main" id="{F7F5CE7D-D7AC-4C12-B57D-03E35E90CAFE}"/>
              </a:ext>
            </a:extLst>
          </p:cNvPr>
          <p:cNvSpPr txBox="1">
            <a:spLocks/>
          </p:cNvSpPr>
          <p:nvPr/>
        </p:nvSpPr>
        <p:spPr>
          <a:xfrm>
            <a:off x="2124395" y="153713"/>
            <a:ext cx="4135821" cy="80666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Barlow Semi Condensed Medium"/>
              <a:buAutoNum type="arabicPeriod"/>
              <a:defRPr sz="1200" b="0" i="0" u="none" strike="noStrike" cap="none">
                <a:solidFill>
                  <a:schemeClr val="dk2"/>
                </a:solidFill>
                <a:latin typeface="Barlow Semi Condensed"/>
                <a:ea typeface="Barlow Semi Condensed"/>
                <a:cs typeface="Barlow Semi Condensed"/>
                <a:sym typeface="Barlow Semi Condensed"/>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dk2"/>
                </a:solidFill>
                <a:latin typeface="Barlow Semi Condensed"/>
                <a:ea typeface="Barlow Semi Condensed"/>
                <a:cs typeface="Barlow Semi Condensed"/>
                <a:sym typeface="Barlow Semi Condensed"/>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dk2"/>
                </a:solidFill>
                <a:latin typeface="Barlow Semi Condensed"/>
                <a:ea typeface="Barlow Semi Condensed"/>
                <a:cs typeface="Barlow Semi Condensed"/>
                <a:sym typeface="Barlow Semi Condensed"/>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9pPr>
          </a:lstStyle>
          <a:p>
            <a:pPr marL="152400" indent="0" algn="ctr">
              <a:buNone/>
            </a:pPr>
            <a:r>
              <a:rPr lang="fr-FR" sz="2400" dirty="0">
                <a:solidFill>
                  <a:srgbClr val="3F4544"/>
                </a:solidFill>
                <a:latin typeface="Fjalla One" panose="020B0604020202020204" charset="0"/>
                <a:cs typeface="Fjalla One" panose="020B0604020202020204" charset="0"/>
              </a:rPr>
              <a:t>Quelques cyberattaques (suite)</a:t>
            </a:r>
            <a:endParaRPr lang="fr-FR" sz="2400" dirty="0">
              <a:solidFill>
                <a:schemeClr val="accent1">
                  <a:lumMod val="75000"/>
                </a:schemeClr>
              </a:solidFill>
              <a:latin typeface="Fjalla One" panose="020B0604020202020204" charset="0"/>
              <a:cs typeface="Fjalla One" panose="020B0604020202020204" charset="0"/>
            </a:endParaRPr>
          </a:p>
        </p:txBody>
      </p:sp>
    </p:spTree>
    <p:extLst>
      <p:ext uri="{BB962C8B-B14F-4D97-AF65-F5344CB8AC3E}">
        <p14:creationId xmlns:p14="http://schemas.microsoft.com/office/powerpoint/2010/main" val="1838353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pic>
        <p:nvPicPr>
          <p:cNvPr id="7" name="Image 6">
            <a:extLst>
              <a:ext uri="{FF2B5EF4-FFF2-40B4-BE49-F238E27FC236}">
                <a16:creationId xmlns:a16="http://schemas.microsoft.com/office/drawing/2014/main" id="{31D53DA7-19F7-4D9B-B473-E24541781F3D}"/>
              </a:ext>
            </a:extLst>
          </p:cNvPr>
          <p:cNvPicPr>
            <a:picLocks noChangeAspect="1"/>
          </p:cNvPicPr>
          <p:nvPr/>
        </p:nvPicPr>
        <p:blipFill>
          <a:blip r:embed="rId3"/>
          <a:stretch>
            <a:fillRect/>
          </a:stretch>
        </p:blipFill>
        <p:spPr>
          <a:xfrm>
            <a:off x="739089" y="260132"/>
            <a:ext cx="7875198" cy="4422227"/>
          </a:xfrm>
          <a:prstGeom prst="rect">
            <a:avLst/>
          </a:prstGeom>
        </p:spPr>
      </p:pic>
      <p:sp>
        <p:nvSpPr>
          <p:cNvPr id="3" name="Rectangle : coins arrondis 2">
            <a:extLst>
              <a:ext uri="{FF2B5EF4-FFF2-40B4-BE49-F238E27FC236}">
                <a16:creationId xmlns:a16="http://schemas.microsoft.com/office/drawing/2014/main" id="{42B28E12-9529-47DB-BBE4-2A4C67EBDAC0}"/>
              </a:ext>
            </a:extLst>
          </p:cNvPr>
          <p:cNvSpPr/>
          <p:nvPr/>
        </p:nvSpPr>
        <p:spPr>
          <a:xfrm>
            <a:off x="8308428" y="4611934"/>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14</a:t>
            </a:r>
          </a:p>
        </p:txBody>
      </p:sp>
    </p:spTree>
    <p:extLst>
      <p:ext uri="{BB962C8B-B14F-4D97-AF65-F5344CB8AC3E}">
        <p14:creationId xmlns:p14="http://schemas.microsoft.com/office/powerpoint/2010/main" val="50846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453379" y="2231088"/>
            <a:ext cx="4004441" cy="150529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4700" dirty="0">
                <a:effectLst/>
                <a:latin typeface="Fjalla One" panose="020B0604020202020204" charset="0"/>
                <a:ea typeface="Times New Roman" panose="02020603050405020304" pitchFamily="18" charset="0"/>
                <a:cs typeface="Fjalla One" panose="020B0604020202020204" charset="0"/>
              </a:rPr>
              <a:t>Les acteurs de la cybermenace</a:t>
            </a:r>
            <a:endParaRPr sz="4700" dirty="0">
              <a:latin typeface="Fjalla One" panose="020B0604020202020204" charset="0"/>
              <a:cs typeface="Fjalla One" panose="020B0604020202020204" charset="0"/>
            </a:endParaRPr>
          </a:p>
        </p:txBody>
      </p:sp>
      <p:sp>
        <p:nvSpPr>
          <p:cNvPr id="2156" name="Google Shape;2156;p38"/>
          <p:cNvSpPr txBox="1">
            <a:spLocks noGrp="1"/>
          </p:cNvSpPr>
          <p:nvPr>
            <p:ph type="title" idx="2"/>
          </p:nvPr>
        </p:nvSpPr>
        <p:spPr>
          <a:xfrm>
            <a:off x="2971800"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5" name="Rectangle : coins arrondis 4">
            <a:extLst>
              <a:ext uri="{FF2B5EF4-FFF2-40B4-BE49-F238E27FC236}">
                <a16:creationId xmlns:a16="http://schemas.microsoft.com/office/drawing/2014/main" id="{FEBB931D-775A-46F5-A47A-0717B0F5837F}"/>
              </a:ext>
            </a:extLst>
          </p:cNvPr>
          <p:cNvSpPr/>
          <p:nvPr/>
        </p:nvSpPr>
        <p:spPr>
          <a:xfrm>
            <a:off x="8342587" y="4598796"/>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15</a:t>
            </a:r>
          </a:p>
        </p:txBody>
      </p:sp>
    </p:spTree>
    <p:extLst>
      <p:ext uri="{BB962C8B-B14F-4D97-AF65-F5344CB8AC3E}">
        <p14:creationId xmlns:p14="http://schemas.microsoft.com/office/powerpoint/2010/main" val="2929956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pic>
        <p:nvPicPr>
          <p:cNvPr id="5" name="Image 4">
            <a:extLst>
              <a:ext uri="{FF2B5EF4-FFF2-40B4-BE49-F238E27FC236}">
                <a16:creationId xmlns:a16="http://schemas.microsoft.com/office/drawing/2014/main" id="{5D5CF93D-8DE2-4150-995B-EA370061116E}"/>
              </a:ext>
            </a:extLst>
          </p:cNvPr>
          <p:cNvPicPr>
            <a:picLocks noChangeAspect="1"/>
          </p:cNvPicPr>
          <p:nvPr/>
        </p:nvPicPr>
        <p:blipFill>
          <a:blip r:embed="rId3"/>
          <a:stretch>
            <a:fillRect/>
          </a:stretch>
        </p:blipFill>
        <p:spPr>
          <a:xfrm>
            <a:off x="1103061" y="973811"/>
            <a:ext cx="6494272" cy="4019918"/>
          </a:xfrm>
          <a:prstGeom prst="rect">
            <a:avLst/>
          </a:prstGeom>
        </p:spPr>
      </p:pic>
      <p:sp>
        <p:nvSpPr>
          <p:cNvPr id="3" name="Rectangle : coins arrondis 2">
            <a:extLst>
              <a:ext uri="{FF2B5EF4-FFF2-40B4-BE49-F238E27FC236}">
                <a16:creationId xmlns:a16="http://schemas.microsoft.com/office/drawing/2014/main" id="{2E4F4116-FFD8-444B-9D06-F1F68D960900}"/>
              </a:ext>
            </a:extLst>
          </p:cNvPr>
          <p:cNvSpPr/>
          <p:nvPr/>
        </p:nvSpPr>
        <p:spPr>
          <a:xfrm>
            <a:off x="8342587" y="4598796"/>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16</a:t>
            </a:r>
          </a:p>
        </p:txBody>
      </p:sp>
      <p:sp>
        <p:nvSpPr>
          <p:cNvPr id="6" name="Google Shape;2155;p38">
            <a:extLst>
              <a:ext uri="{FF2B5EF4-FFF2-40B4-BE49-F238E27FC236}">
                <a16:creationId xmlns:a16="http://schemas.microsoft.com/office/drawing/2014/main" id="{E99B883F-E2BA-4CAA-92C8-1F75DFD10C89}"/>
              </a:ext>
            </a:extLst>
          </p:cNvPr>
          <p:cNvSpPr txBox="1">
            <a:spLocks noGrp="1"/>
          </p:cNvSpPr>
          <p:nvPr>
            <p:ph type="title"/>
          </p:nvPr>
        </p:nvSpPr>
        <p:spPr>
          <a:xfrm>
            <a:off x="2471079" y="149771"/>
            <a:ext cx="3884359" cy="52021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2400" dirty="0">
                <a:effectLst/>
                <a:latin typeface="Fjalla One" panose="020B0604020202020204" charset="0"/>
                <a:ea typeface="Times New Roman" panose="02020603050405020304" pitchFamily="18" charset="0"/>
                <a:cs typeface="Fjalla One" panose="020B0604020202020204" charset="0"/>
              </a:rPr>
              <a:t>Les acteurs de la cybermenace</a:t>
            </a:r>
            <a:endParaRPr sz="2400" dirty="0">
              <a:latin typeface="Fjalla One" panose="020B0604020202020204" charset="0"/>
              <a:cs typeface="Fjalla One" panose="020B0604020202020204" charset="0"/>
            </a:endParaRPr>
          </a:p>
        </p:txBody>
      </p:sp>
    </p:spTree>
    <p:extLst>
      <p:ext uri="{BB962C8B-B14F-4D97-AF65-F5344CB8AC3E}">
        <p14:creationId xmlns:p14="http://schemas.microsoft.com/office/powerpoint/2010/main" val="3798711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453379" y="2231088"/>
            <a:ext cx="4004441" cy="150529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4700" dirty="0">
                <a:effectLst/>
                <a:latin typeface="Fjalla One" panose="020B0604020202020204" charset="0"/>
                <a:ea typeface="Times New Roman" panose="02020603050405020304" pitchFamily="18" charset="0"/>
                <a:cs typeface="Fjalla One" panose="020B0604020202020204" charset="0"/>
              </a:rPr>
              <a:t>Méthodes de protection</a:t>
            </a:r>
            <a:endParaRPr sz="4700" dirty="0">
              <a:latin typeface="Fjalla One" panose="020B0604020202020204" charset="0"/>
              <a:cs typeface="Fjalla One" panose="020B0604020202020204" charset="0"/>
            </a:endParaRPr>
          </a:p>
        </p:txBody>
      </p:sp>
      <p:sp>
        <p:nvSpPr>
          <p:cNvPr id="2156" name="Google Shape;2156;p38"/>
          <p:cNvSpPr txBox="1">
            <a:spLocks noGrp="1"/>
          </p:cNvSpPr>
          <p:nvPr>
            <p:ph type="title" idx="2"/>
          </p:nvPr>
        </p:nvSpPr>
        <p:spPr>
          <a:xfrm>
            <a:off x="2971800"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sp>
        <p:nvSpPr>
          <p:cNvPr id="4" name="Rectangle : coins arrondis 3">
            <a:extLst>
              <a:ext uri="{FF2B5EF4-FFF2-40B4-BE49-F238E27FC236}">
                <a16:creationId xmlns:a16="http://schemas.microsoft.com/office/drawing/2014/main" id="{18CD49DA-1E7D-44C5-90BF-E2369867EDEA}"/>
              </a:ext>
            </a:extLst>
          </p:cNvPr>
          <p:cNvSpPr/>
          <p:nvPr/>
        </p:nvSpPr>
        <p:spPr>
          <a:xfrm>
            <a:off x="8342587" y="4598796"/>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17</a:t>
            </a:r>
          </a:p>
        </p:txBody>
      </p:sp>
    </p:spTree>
    <p:extLst>
      <p:ext uri="{BB962C8B-B14F-4D97-AF65-F5344CB8AC3E}">
        <p14:creationId xmlns:p14="http://schemas.microsoft.com/office/powerpoint/2010/main" val="39244049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1" name="Google Shape;1891;p36"/>
          <p:cNvSpPr txBox="1">
            <a:spLocks noGrp="1"/>
          </p:cNvSpPr>
          <p:nvPr>
            <p:ph type="body" idx="1"/>
          </p:nvPr>
        </p:nvSpPr>
        <p:spPr>
          <a:xfrm>
            <a:off x="501817" y="1915532"/>
            <a:ext cx="5541290" cy="3074276"/>
          </a:xfrm>
          <a:prstGeom prst="rect">
            <a:avLst/>
          </a:prstGeom>
        </p:spPr>
        <p:txBody>
          <a:bodyPr spcFirstLastPara="1" wrap="square" lIns="91425" tIns="91425" rIns="91425" bIns="91425" anchor="ctr" anchorCtr="0">
            <a:noAutofit/>
          </a:bodyPr>
          <a:lstStyle/>
          <a:p>
            <a:pPr algn="l">
              <a:buFont typeface="+mj-lt"/>
              <a:buAutoNum type="arabicPeriod"/>
            </a:pPr>
            <a:r>
              <a:rPr lang="fr-FR" sz="1600" b="0" i="0" dirty="0">
                <a:solidFill>
                  <a:srgbClr val="202428"/>
                </a:solidFill>
                <a:effectLst/>
                <a:latin typeface="Barlow Semi Condensed" panose="00000506000000000000" pitchFamily="2" charset="0"/>
              </a:rPr>
              <a:t>Mettre à jour tous vos logiciels et systèmes</a:t>
            </a:r>
          </a:p>
          <a:p>
            <a:pPr algn="l">
              <a:buFont typeface="+mj-lt"/>
              <a:buAutoNum type="arabicPeriod"/>
            </a:pPr>
            <a:r>
              <a:rPr lang="fr-FR" sz="1600" b="0" i="0" dirty="0">
                <a:solidFill>
                  <a:srgbClr val="202428"/>
                </a:solidFill>
                <a:effectLst/>
                <a:latin typeface="Barlow Semi Condensed" panose="00000506000000000000" pitchFamily="2" charset="0"/>
              </a:rPr>
              <a:t>Installer un pare-feu et des antivirus performants</a:t>
            </a:r>
          </a:p>
          <a:p>
            <a:pPr algn="l">
              <a:buFont typeface="+mj-lt"/>
              <a:buAutoNum type="arabicPeriod"/>
            </a:pPr>
            <a:r>
              <a:rPr lang="fr-FR" sz="1600" b="0" i="0" dirty="0">
                <a:solidFill>
                  <a:srgbClr val="202428"/>
                </a:solidFill>
                <a:effectLst/>
                <a:latin typeface="Barlow Semi Condensed" panose="00000506000000000000" pitchFamily="2" charset="0"/>
              </a:rPr>
              <a:t>Chiffrer les données en transit et au repos</a:t>
            </a:r>
          </a:p>
          <a:p>
            <a:pPr algn="l">
              <a:buFont typeface="+mj-lt"/>
              <a:buAutoNum type="arabicPeriod"/>
            </a:pPr>
            <a:r>
              <a:rPr lang="fr-FR" sz="1600" b="0" i="0" dirty="0">
                <a:solidFill>
                  <a:srgbClr val="202428"/>
                </a:solidFill>
                <a:effectLst/>
                <a:latin typeface="Barlow Semi Condensed" panose="00000506000000000000" pitchFamily="2" charset="0"/>
              </a:rPr>
              <a:t>Renforcer la sécurisation des accès</a:t>
            </a:r>
          </a:p>
          <a:p>
            <a:pPr algn="l">
              <a:buFont typeface="+mj-lt"/>
              <a:buAutoNum type="arabicPeriod"/>
            </a:pPr>
            <a:r>
              <a:rPr lang="fr-FR" sz="1600" b="0" i="0" dirty="0">
                <a:solidFill>
                  <a:srgbClr val="202428"/>
                </a:solidFill>
                <a:effectLst/>
                <a:latin typeface="Barlow Semi Condensed" panose="00000506000000000000" pitchFamily="2" charset="0"/>
              </a:rPr>
              <a:t>Sauvegarder régulièrement vos données</a:t>
            </a:r>
          </a:p>
          <a:p>
            <a:pPr marL="457200" marR="0" indent="-301752" algn="l" rtl="0">
              <a:spcBef>
                <a:spcPts val="0"/>
              </a:spcBef>
              <a:spcAft>
                <a:spcPts val="0"/>
              </a:spcAft>
              <a:buClr>
                <a:srgbClr val="434343"/>
              </a:buClr>
              <a:buSzPts val="1200"/>
              <a:buFont typeface="+mj-lt"/>
              <a:buAutoNum type="arabicPeriod"/>
            </a:pPr>
            <a:r>
              <a:rPr lang="fr-FR" sz="1600" i="0" dirty="0">
                <a:solidFill>
                  <a:srgbClr val="202428"/>
                </a:solidFill>
                <a:effectLst/>
                <a:latin typeface="Barlow Semi Condensed" panose="00000506000000000000" pitchFamily="2" charset="0"/>
                <a:ea typeface="Barlow Semi Condensed" panose="00000506000000000000" pitchFamily="2" charset="0"/>
                <a:cs typeface="Barlow Semi Condensed" panose="00000506000000000000" pitchFamily="2" charset="0"/>
              </a:rPr>
              <a:t>Segmenter le réseau pour limiter les risques</a:t>
            </a:r>
            <a:endParaRPr lang="fr-FR" sz="1600" dirty="0">
              <a:effectLst/>
              <a:latin typeface="Barlow Semi Condensed" panose="00000506000000000000" pitchFamily="2" charset="0"/>
            </a:endParaRPr>
          </a:p>
          <a:p>
            <a:pPr marL="457200" marR="0" indent="-301752" algn="l" rtl="0">
              <a:spcBef>
                <a:spcPts val="0"/>
              </a:spcBef>
              <a:spcAft>
                <a:spcPts val="0"/>
              </a:spcAft>
            </a:pPr>
            <a:r>
              <a:rPr lang="fr-FR" sz="1600" i="0" dirty="0">
                <a:solidFill>
                  <a:srgbClr val="202428"/>
                </a:solidFill>
                <a:effectLst/>
                <a:latin typeface="Barlow Semi Condensed" panose="00000506000000000000" pitchFamily="2" charset="0"/>
                <a:ea typeface="Barlow Semi Condensed" panose="00000506000000000000" pitchFamily="2" charset="0"/>
                <a:cs typeface="Barlow Semi Condensed" panose="00000506000000000000" pitchFamily="2" charset="0"/>
              </a:rPr>
              <a:t>Sensibiliser les utilisateurs aux bons réflexes</a:t>
            </a:r>
            <a:endParaRPr lang="fr-FR" sz="1600" dirty="0">
              <a:effectLst/>
              <a:latin typeface="Barlow Semi Condensed" panose="00000506000000000000" pitchFamily="2" charset="0"/>
            </a:endParaRPr>
          </a:p>
          <a:p>
            <a:pPr marL="457200" marR="0" indent="-301752" algn="l" rtl="0">
              <a:spcBef>
                <a:spcPts val="0"/>
              </a:spcBef>
              <a:spcAft>
                <a:spcPts val="0"/>
              </a:spcAft>
            </a:pPr>
            <a:r>
              <a:rPr lang="fr-FR" sz="1600" i="0" dirty="0">
                <a:solidFill>
                  <a:srgbClr val="202428"/>
                </a:solidFill>
                <a:effectLst/>
                <a:latin typeface="Barlow Semi Condensed" panose="00000506000000000000" pitchFamily="2" charset="0"/>
                <a:ea typeface="Barlow Semi Condensed" panose="00000506000000000000" pitchFamily="2" charset="0"/>
                <a:cs typeface="Barlow Semi Condensed" panose="00000506000000000000" pitchFamily="2" charset="0"/>
              </a:rPr>
              <a:t>Surveiller le trafic entrant et sortant</a:t>
            </a:r>
            <a:endParaRPr lang="fr-FR" sz="1600" dirty="0">
              <a:effectLst/>
              <a:latin typeface="Barlow Semi Condensed" panose="00000506000000000000" pitchFamily="2" charset="0"/>
            </a:endParaRPr>
          </a:p>
          <a:p>
            <a:pPr marL="457200" marR="0" indent="-301752" algn="l" rtl="0">
              <a:spcBef>
                <a:spcPts val="0"/>
              </a:spcBef>
              <a:spcAft>
                <a:spcPts val="0"/>
              </a:spcAft>
            </a:pPr>
            <a:r>
              <a:rPr lang="fr-FR" sz="1600" i="0" dirty="0">
                <a:solidFill>
                  <a:srgbClr val="202428"/>
                </a:solidFill>
                <a:effectLst/>
                <a:latin typeface="Barlow Semi Condensed" panose="00000506000000000000" pitchFamily="2" charset="0"/>
                <a:ea typeface="Barlow Semi Condensed" panose="00000506000000000000" pitchFamily="2" charset="0"/>
                <a:cs typeface="Barlow Semi Condensed" panose="00000506000000000000" pitchFamily="2" charset="0"/>
              </a:rPr>
              <a:t>Sécuriser les accès à distance avec un </a:t>
            </a:r>
            <a:r>
              <a:rPr lang="fr-FR" sz="1600" i="0" dirty="0">
                <a:solidFill>
                  <a:schemeClr val="tx1"/>
                </a:solidFill>
                <a:effectLst/>
                <a:latin typeface="Barlow Semi Condensed" panose="00000506000000000000" pitchFamily="2" charset="0"/>
                <a:ea typeface="Barlow Semi Condensed" panose="00000506000000000000" pitchFamily="2" charset="0"/>
                <a:cs typeface="Barlow Semi Condensed" panose="00000506000000000000" pitchFamily="2" charset="0"/>
                <a:hlinkClick r:id="rId3">
                  <a:extLst>
                    <a:ext uri="{A12FA001-AC4F-418D-AE19-62706E023703}">
                      <ahyp:hlinkClr xmlns:ahyp="http://schemas.microsoft.com/office/drawing/2018/hyperlinkcolor" val="tx"/>
                    </a:ext>
                  </a:extLst>
                </a:hlinkClick>
              </a:rPr>
              <a:t>VPN</a:t>
            </a:r>
            <a:endParaRPr lang="fr-FR" sz="1600" dirty="0">
              <a:solidFill>
                <a:schemeClr val="tx1"/>
              </a:solidFill>
              <a:effectLst/>
              <a:latin typeface="Barlow Semi Condensed" panose="00000506000000000000" pitchFamily="2" charset="0"/>
            </a:endParaRPr>
          </a:p>
          <a:p>
            <a:pPr marL="457200" marR="0" indent="-301752" algn="l" rtl="0">
              <a:spcBef>
                <a:spcPts val="0"/>
              </a:spcBef>
              <a:spcAft>
                <a:spcPts val="0"/>
              </a:spcAft>
            </a:pPr>
            <a:r>
              <a:rPr lang="fr-FR" sz="1600" i="0" dirty="0">
                <a:solidFill>
                  <a:srgbClr val="202428"/>
                </a:solidFill>
                <a:effectLst/>
                <a:latin typeface="Barlow Semi Condensed" panose="00000506000000000000" pitchFamily="2" charset="0"/>
                <a:ea typeface="Barlow Semi Condensed" panose="00000506000000000000" pitchFamily="2" charset="0"/>
                <a:cs typeface="Barlow Semi Condensed" panose="00000506000000000000" pitchFamily="2" charset="0"/>
              </a:rPr>
              <a:t>Prévoir une réponse claire en cas d’incident</a:t>
            </a:r>
            <a:endParaRPr lang="fr-FR" sz="1600" dirty="0">
              <a:effectLst/>
              <a:latin typeface="Barlow Semi Condensed" panose="00000506000000000000" pitchFamily="2" charset="0"/>
            </a:endParaRPr>
          </a:p>
          <a:p>
            <a:pPr algn="l">
              <a:buFont typeface="+mj-lt"/>
              <a:buAutoNum type="arabicPeriod"/>
            </a:pPr>
            <a:endParaRPr lang="fr-FR" sz="1600" b="0" i="0" dirty="0">
              <a:solidFill>
                <a:srgbClr val="202428"/>
              </a:solidFill>
              <a:effectLst/>
              <a:latin typeface="Barlow Semi Condensed" panose="00000506000000000000" pitchFamily="2" charset="0"/>
            </a:endParaRPr>
          </a:p>
        </p:txBody>
      </p:sp>
      <p:sp>
        <p:nvSpPr>
          <p:cNvPr id="3" name="Google Shape;1891;p36">
            <a:extLst>
              <a:ext uri="{FF2B5EF4-FFF2-40B4-BE49-F238E27FC236}">
                <a16:creationId xmlns:a16="http://schemas.microsoft.com/office/drawing/2014/main" id="{96BD0D96-F588-4881-8A89-43319F7F2709}"/>
              </a:ext>
            </a:extLst>
          </p:cNvPr>
          <p:cNvSpPr txBox="1">
            <a:spLocks/>
          </p:cNvSpPr>
          <p:nvPr/>
        </p:nvSpPr>
        <p:spPr>
          <a:xfrm>
            <a:off x="1124214" y="809952"/>
            <a:ext cx="4855831" cy="94199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Barlow Semi Condensed Medium"/>
              <a:buAutoNum type="arabicPeriod"/>
              <a:defRPr sz="1200" b="0" i="0" u="none" strike="noStrike" cap="none">
                <a:solidFill>
                  <a:schemeClr val="dk2"/>
                </a:solidFill>
                <a:latin typeface="Barlow Semi Condensed"/>
                <a:ea typeface="Barlow Semi Condensed"/>
                <a:cs typeface="Barlow Semi Condensed"/>
                <a:sym typeface="Barlow Semi Condensed"/>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dk2"/>
                </a:solidFill>
                <a:latin typeface="Barlow Semi Condensed"/>
                <a:ea typeface="Barlow Semi Condensed"/>
                <a:cs typeface="Barlow Semi Condensed"/>
                <a:sym typeface="Barlow Semi Condensed"/>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dk2"/>
                </a:solidFill>
                <a:latin typeface="Barlow Semi Condensed"/>
                <a:ea typeface="Barlow Semi Condensed"/>
                <a:cs typeface="Barlow Semi Condensed"/>
                <a:sym typeface="Barlow Semi Condensed"/>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9pPr>
          </a:lstStyle>
          <a:p>
            <a:pPr algn="l"/>
            <a:endParaRPr lang="fr-FR" sz="2000" b="1" i="0" dirty="0">
              <a:solidFill>
                <a:srgbClr val="202428"/>
              </a:solidFill>
              <a:effectLst/>
              <a:latin typeface="Barlow Semi Condensed" panose="00000506000000000000" pitchFamily="2" charset="0"/>
            </a:endParaRPr>
          </a:p>
          <a:p>
            <a:pPr marL="152400" indent="0" algn="l">
              <a:buNone/>
            </a:pPr>
            <a:r>
              <a:rPr lang="fr-FR" sz="2000" b="1" i="0" dirty="0">
                <a:solidFill>
                  <a:srgbClr val="202428"/>
                </a:solidFill>
                <a:effectLst/>
                <a:latin typeface="Barlow Semi Condensed" panose="00000506000000000000" pitchFamily="2" charset="0"/>
              </a:rPr>
              <a:t>10 étapes pour sécuriser les données et le réseau informatique</a:t>
            </a:r>
            <a:r>
              <a:rPr lang="fr-FR" sz="2000" b="0" i="0" dirty="0">
                <a:solidFill>
                  <a:srgbClr val="202428"/>
                </a:solidFill>
                <a:effectLst/>
                <a:latin typeface="Barlow Semi Condensed" panose="00000506000000000000" pitchFamily="2" charset="0"/>
              </a:rPr>
              <a:t> de votre entreprise :</a:t>
            </a:r>
          </a:p>
        </p:txBody>
      </p:sp>
      <p:pic>
        <p:nvPicPr>
          <p:cNvPr id="4" name="Image 3">
            <a:extLst>
              <a:ext uri="{FF2B5EF4-FFF2-40B4-BE49-F238E27FC236}">
                <a16:creationId xmlns:a16="http://schemas.microsoft.com/office/drawing/2014/main" id="{0318B4D3-28AB-4C44-8598-14CE3CBA27F7}"/>
              </a:ext>
            </a:extLst>
          </p:cNvPr>
          <p:cNvPicPr>
            <a:picLocks noChangeAspect="1"/>
          </p:cNvPicPr>
          <p:nvPr/>
        </p:nvPicPr>
        <p:blipFill>
          <a:blip r:embed="rId4"/>
          <a:stretch>
            <a:fillRect/>
          </a:stretch>
        </p:blipFill>
        <p:spPr>
          <a:xfrm>
            <a:off x="5980045" y="1751942"/>
            <a:ext cx="2438741" cy="2438741"/>
          </a:xfrm>
          <a:prstGeom prst="rect">
            <a:avLst/>
          </a:prstGeom>
        </p:spPr>
      </p:pic>
      <p:sp>
        <p:nvSpPr>
          <p:cNvPr id="5" name="Rectangle : coins arrondis 4">
            <a:extLst>
              <a:ext uri="{FF2B5EF4-FFF2-40B4-BE49-F238E27FC236}">
                <a16:creationId xmlns:a16="http://schemas.microsoft.com/office/drawing/2014/main" id="{4E1C2B27-6196-4AE6-ACCB-42115DE6DA44}"/>
              </a:ext>
            </a:extLst>
          </p:cNvPr>
          <p:cNvSpPr/>
          <p:nvPr/>
        </p:nvSpPr>
        <p:spPr>
          <a:xfrm>
            <a:off x="8342587" y="4598796"/>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18</a:t>
            </a:r>
          </a:p>
        </p:txBody>
      </p:sp>
      <p:sp>
        <p:nvSpPr>
          <p:cNvPr id="6" name="Google Shape;2155;p38">
            <a:extLst>
              <a:ext uri="{FF2B5EF4-FFF2-40B4-BE49-F238E27FC236}">
                <a16:creationId xmlns:a16="http://schemas.microsoft.com/office/drawing/2014/main" id="{F4B5CE9F-6DBE-4561-8C9D-0EFFCEAC4088}"/>
              </a:ext>
            </a:extLst>
          </p:cNvPr>
          <p:cNvSpPr txBox="1">
            <a:spLocks noGrp="1"/>
          </p:cNvSpPr>
          <p:nvPr>
            <p:ph type="title"/>
          </p:nvPr>
        </p:nvSpPr>
        <p:spPr>
          <a:xfrm>
            <a:off x="1917352" y="189210"/>
            <a:ext cx="3687290" cy="45715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2400" b="1" dirty="0">
                <a:solidFill>
                  <a:schemeClr val="accent1"/>
                </a:solidFill>
                <a:effectLst/>
                <a:latin typeface="Fjalla One" panose="020B0604020202020204" charset="0"/>
                <a:ea typeface="Times New Roman" panose="02020603050405020304" pitchFamily="18" charset="0"/>
                <a:cs typeface="Fjalla One" panose="020B0604020202020204" charset="0"/>
              </a:rPr>
              <a:t>Méthodes de protection</a:t>
            </a:r>
            <a:endParaRPr sz="2400" b="1" dirty="0">
              <a:solidFill>
                <a:schemeClr val="accent1"/>
              </a:solidFill>
              <a:latin typeface="Fjalla One" panose="020B0604020202020204" charset="0"/>
              <a:cs typeface="Fjalla One" panose="020B0604020202020204" charset="0"/>
            </a:endParaRPr>
          </a:p>
        </p:txBody>
      </p:sp>
    </p:spTree>
    <p:extLst>
      <p:ext uri="{BB962C8B-B14F-4D97-AF65-F5344CB8AC3E}">
        <p14:creationId xmlns:p14="http://schemas.microsoft.com/office/powerpoint/2010/main" val="27707932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264191" y="2476920"/>
            <a:ext cx="4782993" cy="1505292"/>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4700" dirty="0">
                <a:effectLst/>
                <a:latin typeface="Fjalla One" panose="020B0604020202020204" charset="0"/>
                <a:ea typeface="Times New Roman" panose="02020603050405020304" pitchFamily="18" charset="0"/>
                <a:cs typeface="Fjalla One" panose="020B0604020202020204" charset="0"/>
              </a:rPr>
              <a:t>Réglementation et cadre juridique</a:t>
            </a:r>
            <a:endParaRPr lang="fr-FR" sz="4700" dirty="0">
              <a:latin typeface="Fjalla One" panose="020B0604020202020204" charset="0"/>
              <a:cs typeface="Fjalla One" panose="020B0604020202020204" charset="0"/>
            </a:endParaRPr>
          </a:p>
        </p:txBody>
      </p:sp>
      <p:sp>
        <p:nvSpPr>
          <p:cNvPr id="2156" name="Google Shape;2156;p38"/>
          <p:cNvSpPr txBox="1">
            <a:spLocks noGrp="1"/>
          </p:cNvSpPr>
          <p:nvPr>
            <p:ph type="title" idx="2"/>
          </p:nvPr>
        </p:nvSpPr>
        <p:spPr>
          <a:xfrm>
            <a:off x="2648605"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06</a:t>
            </a:r>
            <a:endParaRPr dirty="0"/>
          </a:p>
        </p:txBody>
      </p:sp>
      <p:sp>
        <p:nvSpPr>
          <p:cNvPr id="4" name="Rectangle : coins arrondis 3">
            <a:extLst>
              <a:ext uri="{FF2B5EF4-FFF2-40B4-BE49-F238E27FC236}">
                <a16:creationId xmlns:a16="http://schemas.microsoft.com/office/drawing/2014/main" id="{2547C7FE-3295-41D1-8B45-20FD9CF28278}"/>
              </a:ext>
            </a:extLst>
          </p:cNvPr>
          <p:cNvSpPr/>
          <p:nvPr/>
        </p:nvSpPr>
        <p:spPr>
          <a:xfrm>
            <a:off x="8342587" y="4598796"/>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19</a:t>
            </a:r>
          </a:p>
        </p:txBody>
      </p:sp>
    </p:spTree>
    <p:extLst>
      <p:ext uri="{BB962C8B-B14F-4D97-AF65-F5344CB8AC3E}">
        <p14:creationId xmlns:p14="http://schemas.microsoft.com/office/powerpoint/2010/main" val="16111233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1" name="Google Shape;1891;p36"/>
          <p:cNvSpPr txBox="1">
            <a:spLocks noGrp="1"/>
          </p:cNvSpPr>
          <p:nvPr>
            <p:ph type="body" idx="1"/>
          </p:nvPr>
        </p:nvSpPr>
        <p:spPr>
          <a:xfrm>
            <a:off x="107705" y="784793"/>
            <a:ext cx="4235722" cy="4037590"/>
          </a:xfrm>
          <a:prstGeom prst="rect">
            <a:avLst/>
          </a:prstGeom>
        </p:spPr>
        <p:txBody>
          <a:bodyPr spcFirstLastPara="1" wrap="square" lIns="91425" tIns="91425" rIns="91425" bIns="91425" anchor="ctr" anchorCtr="0">
            <a:noAutofit/>
          </a:bodyPr>
          <a:lstStyle/>
          <a:p>
            <a:pPr marL="152400" indent="0" algn="l" fontAlgn="base">
              <a:buNone/>
            </a:pPr>
            <a:r>
              <a:rPr lang="fr-FR" sz="1600" b="1" i="0" dirty="0">
                <a:solidFill>
                  <a:srgbClr val="19232D"/>
                </a:solidFill>
                <a:effectLst/>
                <a:latin typeface="Barlow Semi Condensed" panose="00000506000000000000" pitchFamily="2" charset="0"/>
              </a:rPr>
              <a:t>La norme ISO/CEI 27001 : un standard international pour la gestion des risques</a:t>
            </a:r>
          </a:p>
          <a:p>
            <a:pPr marL="152400" indent="0" algn="l" fontAlgn="base">
              <a:buNone/>
            </a:pPr>
            <a:r>
              <a:rPr lang="fr-FR" sz="1600" b="0" i="0" dirty="0">
                <a:solidFill>
                  <a:srgbClr val="4D5053"/>
                </a:solidFill>
                <a:effectLst/>
                <a:latin typeface="Barlow Semi Condensed" panose="00000506000000000000" pitchFamily="2" charset="0"/>
              </a:rPr>
              <a:t>La norme </a:t>
            </a:r>
            <a:r>
              <a:rPr lang="fr-FR" sz="1600" b="1" i="0" dirty="0">
                <a:solidFill>
                  <a:srgbClr val="4D5053"/>
                </a:solidFill>
                <a:effectLst/>
                <a:latin typeface="Barlow Semi Condensed" panose="00000506000000000000" pitchFamily="2" charset="0"/>
              </a:rPr>
              <a:t>ISO/CEI 27001</a:t>
            </a:r>
            <a:r>
              <a:rPr lang="fr-FR" sz="1600" b="0" i="0" dirty="0">
                <a:solidFill>
                  <a:srgbClr val="4D5053"/>
                </a:solidFill>
                <a:effectLst/>
                <a:latin typeface="Barlow Semi Condensed" panose="00000506000000000000" pitchFamily="2" charset="0"/>
              </a:rPr>
              <a:t> est une norme internationale qui guide les entreprises dans la mise en place d’un système de gestion de la sécurité de l’information (SMSI). Bien qu’elle ne soit pas obligatoire, elle représente un atout majeur pour les entreprises souhaitant améliorer leur gestion des risques en cybersécurité. Cette norme impose, entre autres, de définir une politique de sécurité, d’évaluer les risques et de mettre en place des mesures pour les gérer</a:t>
            </a:r>
          </a:p>
        </p:txBody>
      </p:sp>
      <p:sp>
        <p:nvSpPr>
          <p:cNvPr id="3" name="Google Shape;1891;p36">
            <a:extLst>
              <a:ext uri="{FF2B5EF4-FFF2-40B4-BE49-F238E27FC236}">
                <a16:creationId xmlns:a16="http://schemas.microsoft.com/office/drawing/2014/main" id="{8D44A3E7-1693-424D-831F-6D75EE525BDC}"/>
              </a:ext>
            </a:extLst>
          </p:cNvPr>
          <p:cNvSpPr txBox="1">
            <a:spLocks/>
          </p:cNvSpPr>
          <p:nvPr/>
        </p:nvSpPr>
        <p:spPr>
          <a:xfrm>
            <a:off x="4264573" y="1145395"/>
            <a:ext cx="4078014" cy="380110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Barlow Semi Condensed Medium"/>
              <a:buAutoNum type="arabicPeriod"/>
              <a:defRPr sz="1200" b="0" i="0" u="none" strike="noStrike" cap="none">
                <a:solidFill>
                  <a:schemeClr val="dk2"/>
                </a:solidFill>
                <a:latin typeface="Barlow Semi Condensed"/>
                <a:ea typeface="Barlow Semi Condensed"/>
                <a:cs typeface="Barlow Semi Condensed"/>
                <a:sym typeface="Barlow Semi Condensed"/>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dk2"/>
                </a:solidFill>
                <a:latin typeface="Barlow Semi Condensed"/>
                <a:ea typeface="Barlow Semi Condensed"/>
                <a:cs typeface="Barlow Semi Condensed"/>
                <a:sym typeface="Barlow Semi Condensed"/>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dk2"/>
                </a:solidFill>
                <a:latin typeface="Barlow Semi Condensed"/>
                <a:ea typeface="Barlow Semi Condensed"/>
                <a:cs typeface="Barlow Semi Condensed"/>
                <a:sym typeface="Barlow Semi Condensed"/>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9pPr>
          </a:lstStyle>
          <a:p>
            <a:pPr marL="152400" indent="0" algn="l" fontAlgn="base">
              <a:buNone/>
            </a:pPr>
            <a:r>
              <a:rPr lang="fr-FR" sz="1600" b="1" i="0" dirty="0">
                <a:solidFill>
                  <a:srgbClr val="19232D"/>
                </a:solidFill>
                <a:effectLst/>
                <a:latin typeface="Barlow Semi Condensed" panose="00000506000000000000" pitchFamily="2" charset="0"/>
              </a:rPr>
              <a:t>Le Règlement Général sur la Protection des Données (RGPD)</a:t>
            </a:r>
          </a:p>
          <a:p>
            <a:pPr marL="152400" indent="0" algn="l" fontAlgn="base">
              <a:buNone/>
            </a:pPr>
            <a:r>
              <a:rPr lang="fr-FR" sz="1600" b="0" i="0" dirty="0">
                <a:solidFill>
                  <a:srgbClr val="4D5053"/>
                </a:solidFill>
                <a:effectLst/>
                <a:latin typeface="Barlow Semi Condensed" panose="00000506000000000000" pitchFamily="2" charset="0"/>
              </a:rPr>
              <a:t>Le </a:t>
            </a:r>
            <a:r>
              <a:rPr lang="fr-FR" sz="1600" b="1" i="0" dirty="0">
                <a:solidFill>
                  <a:srgbClr val="4D5053"/>
                </a:solidFill>
                <a:effectLst/>
                <a:latin typeface="Barlow Semi Condensed" panose="00000506000000000000" pitchFamily="2" charset="0"/>
              </a:rPr>
              <a:t>RGPD</a:t>
            </a:r>
            <a:r>
              <a:rPr lang="fr-FR" sz="1600" b="0" i="0" dirty="0">
                <a:solidFill>
                  <a:srgbClr val="4D5053"/>
                </a:solidFill>
                <a:effectLst/>
                <a:latin typeface="Barlow Semi Condensed" panose="00000506000000000000" pitchFamily="2" charset="0"/>
              </a:rPr>
              <a:t>, entré en vigueur en mai 2018, est l’un des textes les plus importants en matière de protection des données personnelles. Applicable dans toute l’Union européenne, il oblige les organisations à justifier tout traitement de données personnelles, et à protéger les informations relatives aux citoyens européens. Ce règlement impose des obligations strictes en matière de consentement, de transparence et de sécurité des données, renforçant ainsi la cybersécurité dans les organisations qui collectent et traitent des informations personnelles.</a:t>
            </a:r>
          </a:p>
        </p:txBody>
      </p:sp>
      <p:sp>
        <p:nvSpPr>
          <p:cNvPr id="4" name="Rectangle : coins arrondis 3">
            <a:extLst>
              <a:ext uri="{FF2B5EF4-FFF2-40B4-BE49-F238E27FC236}">
                <a16:creationId xmlns:a16="http://schemas.microsoft.com/office/drawing/2014/main" id="{0CC24D31-5C32-40D9-8430-18276364F5B9}"/>
              </a:ext>
            </a:extLst>
          </p:cNvPr>
          <p:cNvSpPr/>
          <p:nvPr/>
        </p:nvSpPr>
        <p:spPr>
          <a:xfrm>
            <a:off x="8342587" y="4595649"/>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21</a:t>
            </a:r>
          </a:p>
        </p:txBody>
      </p:sp>
      <p:sp>
        <p:nvSpPr>
          <p:cNvPr id="7" name="Google Shape;2155;p38">
            <a:extLst>
              <a:ext uri="{FF2B5EF4-FFF2-40B4-BE49-F238E27FC236}">
                <a16:creationId xmlns:a16="http://schemas.microsoft.com/office/drawing/2014/main" id="{D1D01BBD-3722-4FC7-8A72-41690B453882}"/>
              </a:ext>
            </a:extLst>
          </p:cNvPr>
          <p:cNvSpPr txBox="1">
            <a:spLocks noGrp="1"/>
          </p:cNvSpPr>
          <p:nvPr>
            <p:ph type="title"/>
          </p:nvPr>
        </p:nvSpPr>
        <p:spPr>
          <a:xfrm>
            <a:off x="1783343" y="213671"/>
            <a:ext cx="4782993" cy="50591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2400" dirty="0">
                <a:effectLst/>
                <a:latin typeface="Fjalla One" panose="020B0604020202020204" charset="0"/>
                <a:ea typeface="Times New Roman" panose="02020603050405020304" pitchFamily="18" charset="0"/>
                <a:cs typeface="Fjalla One" panose="020B0604020202020204" charset="0"/>
              </a:rPr>
              <a:t>Réglementation et cadre juridique</a:t>
            </a:r>
            <a:endParaRPr lang="fr-FR" sz="2400" dirty="0">
              <a:latin typeface="Fjalla One" panose="020B0604020202020204" charset="0"/>
              <a:cs typeface="Fjalla One" panose="020B0604020202020204" charset="0"/>
            </a:endParaRPr>
          </a:p>
        </p:txBody>
      </p:sp>
    </p:spTree>
    <p:extLst>
      <p:ext uri="{BB962C8B-B14F-4D97-AF65-F5344CB8AC3E}">
        <p14:creationId xmlns:p14="http://schemas.microsoft.com/office/powerpoint/2010/main" val="3281753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1" name="Google Shape;1891;p36"/>
          <p:cNvSpPr txBox="1">
            <a:spLocks noGrp="1"/>
          </p:cNvSpPr>
          <p:nvPr>
            <p:ph type="body" idx="1"/>
          </p:nvPr>
        </p:nvSpPr>
        <p:spPr>
          <a:xfrm>
            <a:off x="91912" y="479231"/>
            <a:ext cx="4235722" cy="4037590"/>
          </a:xfrm>
          <a:prstGeom prst="rect">
            <a:avLst/>
          </a:prstGeom>
        </p:spPr>
        <p:txBody>
          <a:bodyPr spcFirstLastPara="1" wrap="square" lIns="91425" tIns="91425" rIns="91425" bIns="91425" anchor="ctr" anchorCtr="0">
            <a:noAutofit/>
          </a:bodyPr>
          <a:lstStyle/>
          <a:p>
            <a:pPr marL="152400" indent="0" algn="l" fontAlgn="base">
              <a:buNone/>
            </a:pPr>
            <a:r>
              <a:rPr lang="fr-FR" sz="1600" b="1" dirty="0"/>
              <a:t>Article 31: </a:t>
            </a:r>
            <a:r>
              <a:rPr lang="fr-FR" sz="1600" dirty="0"/>
              <a:t>L’Autorité de protection des données personnelles a pour mission de veiller à la protection des données personnelles et de participer à la régulation du secteur. </a:t>
            </a:r>
          </a:p>
          <a:p>
            <a:pPr marL="152400" indent="0" algn="l" fontAlgn="base">
              <a:buNone/>
            </a:pPr>
            <a:r>
              <a:rPr lang="fr-FR" sz="1600" b="1" dirty="0"/>
              <a:t> Loi n° 2013-015 du 21 mai 2013: </a:t>
            </a:r>
            <a:r>
              <a:rPr lang="fr-FR" sz="1600" dirty="0"/>
              <a:t>Porte sur la protection des données à caractère personnel.</a:t>
            </a:r>
          </a:p>
          <a:p>
            <a:pPr marL="152400" indent="0" algn="l" fontAlgn="base">
              <a:buNone/>
            </a:pPr>
            <a:r>
              <a:rPr lang="fr-FR" sz="1600" dirty="0"/>
              <a:t>Les cybercrimes sont définis par la législation à l’article </a:t>
            </a:r>
            <a:r>
              <a:rPr lang="fr-FR" sz="1600" b="1" dirty="0"/>
              <a:t>264-271.</a:t>
            </a:r>
          </a:p>
        </p:txBody>
      </p:sp>
      <p:sp>
        <p:nvSpPr>
          <p:cNvPr id="3" name="Google Shape;1891;p36">
            <a:extLst>
              <a:ext uri="{FF2B5EF4-FFF2-40B4-BE49-F238E27FC236}">
                <a16:creationId xmlns:a16="http://schemas.microsoft.com/office/drawing/2014/main" id="{8D44A3E7-1693-424D-831F-6D75EE525BDC}"/>
              </a:ext>
            </a:extLst>
          </p:cNvPr>
          <p:cNvSpPr txBox="1">
            <a:spLocks/>
          </p:cNvSpPr>
          <p:nvPr/>
        </p:nvSpPr>
        <p:spPr>
          <a:xfrm>
            <a:off x="4327634" y="642444"/>
            <a:ext cx="4078014" cy="380110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Barlow Semi Condensed Medium"/>
              <a:buAutoNum type="arabicPeriod"/>
              <a:defRPr sz="1200" b="0" i="0" u="none" strike="noStrike" cap="none">
                <a:solidFill>
                  <a:schemeClr val="dk2"/>
                </a:solidFill>
                <a:latin typeface="Barlow Semi Condensed"/>
                <a:ea typeface="Barlow Semi Condensed"/>
                <a:cs typeface="Barlow Semi Condensed"/>
                <a:sym typeface="Barlow Semi Condensed"/>
              </a:defRPr>
            </a:lvl1pPr>
            <a:lvl2pPr marL="914400" marR="0" lvl="1"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2pPr>
            <a:lvl3pPr marL="1371600" marR="0" lvl="2"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3pPr>
            <a:lvl4pPr marL="1828800" marR="0" lvl="3"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dk2"/>
                </a:solidFill>
                <a:latin typeface="Barlow Semi Condensed"/>
                <a:ea typeface="Barlow Semi Condensed"/>
                <a:cs typeface="Barlow Semi Condensed"/>
                <a:sym typeface="Barlow Semi Condensed"/>
              </a:defRPr>
            </a:lvl4pPr>
            <a:lvl5pPr marL="2286000" marR="0" lvl="4"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5pPr>
            <a:lvl6pPr marL="2743200" marR="0" lvl="5"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6pPr>
            <a:lvl7pPr marL="3200400" marR="0" lvl="6" indent="-304800" algn="l" rtl="0">
              <a:lnSpc>
                <a:spcPct val="100000"/>
              </a:lnSpc>
              <a:spcBef>
                <a:spcPts val="0"/>
              </a:spcBef>
              <a:spcAft>
                <a:spcPts val="0"/>
              </a:spcAft>
              <a:buClr>
                <a:srgbClr val="434343"/>
              </a:buClr>
              <a:buSzPts val="1200"/>
              <a:buFont typeface="Roboto Condensed Light"/>
              <a:buAutoNum type="arabicPeriod"/>
              <a:defRPr sz="1400" b="0" i="0" u="none" strike="noStrike" cap="none">
                <a:solidFill>
                  <a:schemeClr val="dk2"/>
                </a:solidFill>
                <a:latin typeface="Barlow Semi Condensed"/>
                <a:ea typeface="Barlow Semi Condensed"/>
                <a:cs typeface="Barlow Semi Condensed"/>
                <a:sym typeface="Barlow Semi Condensed"/>
              </a:defRPr>
            </a:lvl7pPr>
            <a:lvl8pPr marL="3657600" marR="0" lvl="7" indent="-304800" algn="l" rtl="0">
              <a:lnSpc>
                <a:spcPct val="100000"/>
              </a:lnSpc>
              <a:spcBef>
                <a:spcPts val="0"/>
              </a:spcBef>
              <a:spcAft>
                <a:spcPts val="0"/>
              </a:spcAft>
              <a:buClr>
                <a:srgbClr val="434343"/>
              </a:buClr>
              <a:buSzPts val="1200"/>
              <a:buFont typeface="Roboto Condensed Light"/>
              <a:buAutoNum type="alphaLcPeriod"/>
              <a:defRPr sz="1400" b="0" i="0" u="none" strike="noStrike" cap="none">
                <a:solidFill>
                  <a:schemeClr val="dk2"/>
                </a:solidFill>
                <a:latin typeface="Barlow Semi Condensed"/>
                <a:ea typeface="Barlow Semi Condensed"/>
                <a:cs typeface="Barlow Semi Condensed"/>
                <a:sym typeface="Barlow Semi Condensed"/>
              </a:defRPr>
            </a:lvl8pPr>
            <a:lvl9pPr marL="4114800" marR="0" lvl="8" indent="-304800" algn="l" rtl="0">
              <a:lnSpc>
                <a:spcPct val="100000"/>
              </a:lnSpc>
              <a:spcBef>
                <a:spcPts val="0"/>
              </a:spcBef>
              <a:spcAft>
                <a:spcPts val="0"/>
              </a:spcAft>
              <a:buClr>
                <a:srgbClr val="434343"/>
              </a:buClr>
              <a:buSzPts val="1200"/>
              <a:buFont typeface="Roboto Condensed Light"/>
              <a:buAutoNum type="romanLcPeriod"/>
              <a:defRPr sz="1400" b="0" i="0" u="none" strike="noStrike" cap="none">
                <a:solidFill>
                  <a:schemeClr val="dk2"/>
                </a:solidFill>
                <a:latin typeface="Barlow Semi Condensed"/>
                <a:ea typeface="Barlow Semi Condensed"/>
                <a:cs typeface="Barlow Semi Condensed"/>
                <a:sym typeface="Barlow Semi Condensed"/>
              </a:defRPr>
            </a:lvl9pPr>
          </a:lstStyle>
          <a:p>
            <a:pPr marL="152400" indent="0" algn="l" fontAlgn="base">
              <a:buNone/>
            </a:pPr>
            <a:r>
              <a:rPr lang="fr-FR" sz="1600" b="1" dirty="0"/>
              <a:t>loi N°2019-056 du 05 décembre 2019 </a:t>
            </a:r>
            <a:r>
              <a:rPr lang="fr-FR" sz="1600" dirty="0"/>
              <a:t>porte sur la répression de la cybercriminalité.</a:t>
            </a:r>
          </a:p>
          <a:p>
            <a:pPr marL="152400" indent="0" algn="l" fontAlgn="base">
              <a:buNone/>
            </a:pPr>
            <a:r>
              <a:rPr lang="fr-FR" sz="1600" dirty="0"/>
              <a:t>La section Cybercriminalité de la Brigade d’Investigation Judiciaire </a:t>
            </a:r>
            <a:r>
              <a:rPr lang="fr-FR" sz="1600" b="1" dirty="0"/>
              <a:t>(BIJ) </a:t>
            </a:r>
            <a:r>
              <a:rPr lang="fr-FR" sz="1600" dirty="0"/>
              <a:t>du MALI est chargé de la répression.</a:t>
            </a:r>
            <a:endParaRPr lang="fr-FR" sz="1600" b="0" i="0" dirty="0">
              <a:solidFill>
                <a:srgbClr val="4D5053"/>
              </a:solidFill>
              <a:effectLst/>
              <a:latin typeface="Barlow Semi Condensed" panose="00000506000000000000" pitchFamily="2" charset="0"/>
            </a:endParaRPr>
          </a:p>
        </p:txBody>
      </p:sp>
      <p:pic>
        <p:nvPicPr>
          <p:cNvPr id="4" name="Image 3">
            <a:extLst>
              <a:ext uri="{FF2B5EF4-FFF2-40B4-BE49-F238E27FC236}">
                <a16:creationId xmlns:a16="http://schemas.microsoft.com/office/drawing/2014/main" id="{4B364BCD-4D17-4E1B-BB64-08E5316C6E17}"/>
              </a:ext>
            </a:extLst>
          </p:cNvPr>
          <p:cNvPicPr>
            <a:picLocks noChangeAspect="1"/>
          </p:cNvPicPr>
          <p:nvPr/>
        </p:nvPicPr>
        <p:blipFill>
          <a:blip r:embed="rId3"/>
          <a:stretch>
            <a:fillRect/>
          </a:stretch>
        </p:blipFill>
        <p:spPr>
          <a:xfrm>
            <a:off x="7138812" y="72914"/>
            <a:ext cx="1802918" cy="1802918"/>
          </a:xfrm>
          <a:prstGeom prst="rect">
            <a:avLst/>
          </a:prstGeom>
        </p:spPr>
      </p:pic>
      <p:sp>
        <p:nvSpPr>
          <p:cNvPr id="5" name="Rectangle : coins arrondis 4">
            <a:extLst>
              <a:ext uri="{FF2B5EF4-FFF2-40B4-BE49-F238E27FC236}">
                <a16:creationId xmlns:a16="http://schemas.microsoft.com/office/drawing/2014/main" id="{73EFBEEA-28A6-406C-905E-0D9B60952467}"/>
              </a:ext>
            </a:extLst>
          </p:cNvPr>
          <p:cNvSpPr/>
          <p:nvPr/>
        </p:nvSpPr>
        <p:spPr>
          <a:xfrm>
            <a:off x="8342587" y="4598796"/>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22</a:t>
            </a:r>
          </a:p>
        </p:txBody>
      </p:sp>
      <p:sp>
        <p:nvSpPr>
          <p:cNvPr id="6" name="Google Shape;2155;p38">
            <a:extLst>
              <a:ext uri="{FF2B5EF4-FFF2-40B4-BE49-F238E27FC236}">
                <a16:creationId xmlns:a16="http://schemas.microsoft.com/office/drawing/2014/main" id="{8C9730F0-BF4A-40F8-A0DA-A311EA3A63C9}"/>
              </a:ext>
            </a:extLst>
          </p:cNvPr>
          <p:cNvSpPr txBox="1">
            <a:spLocks noGrp="1"/>
          </p:cNvSpPr>
          <p:nvPr>
            <p:ph type="title"/>
          </p:nvPr>
        </p:nvSpPr>
        <p:spPr>
          <a:xfrm>
            <a:off x="1379483" y="213671"/>
            <a:ext cx="5186853" cy="50591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2400" dirty="0">
                <a:effectLst/>
                <a:latin typeface="Fjalla One" panose="020B0604020202020204" charset="0"/>
                <a:ea typeface="Times New Roman" panose="02020603050405020304" pitchFamily="18" charset="0"/>
                <a:cs typeface="Fjalla One" panose="020B0604020202020204" charset="0"/>
              </a:rPr>
              <a:t>Réglementation et cadre juridique(suite)</a:t>
            </a:r>
            <a:endParaRPr lang="fr-FR" sz="2400" dirty="0">
              <a:latin typeface="Fjalla One" panose="020B0604020202020204" charset="0"/>
              <a:cs typeface="Fjalla One" panose="020B0604020202020204" charset="0"/>
            </a:endParaRPr>
          </a:p>
        </p:txBody>
      </p:sp>
    </p:spTree>
    <p:extLst>
      <p:ext uri="{BB962C8B-B14F-4D97-AF65-F5344CB8AC3E}">
        <p14:creationId xmlns:p14="http://schemas.microsoft.com/office/powerpoint/2010/main" val="15172386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374549" y="2476920"/>
            <a:ext cx="4782993" cy="1505292"/>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fr-FR" sz="4700" dirty="0">
                <a:effectLst/>
                <a:latin typeface="Fjalla One" panose="020B0604020202020204" charset="0"/>
                <a:ea typeface="Times New Roman" panose="02020603050405020304" pitchFamily="18" charset="0"/>
                <a:cs typeface="Fjalla One" panose="020B0604020202020204" charset="0"/>
              </a:rPr>
              <a:t>Tendances et défis actuels</a:t>
            </a:r>
            <a:endParaRPr lang="fr-FR" sz="4700" dirty="0">
              <a:latin typeface="Fjalla One" panose="020B0604020202020204" charset="0"/>
              <a:cs typeface="Fjalla One" panose="020B0604020202020204" charset="0"/>
            </a:endParaRPr>
          </a:p>
        </p:txBody>
      </p:sp>
      <p:sp>
        <p:nvSpPr>
          <p:cNvPr id="2156" name="Google Shape;2156;p38"/>
          <p:cNvSpPr txBox="1">
            <a:spLocks noGrp="1"/>
          </p:cNvSpPr>
          <p:nvPr>
            <p:ph type="title" idx="2"/>
          </p:nvPr>
        </p:nvSpPr>
        <p:spPr>
          <a:xfrm>
            <a:off x="2758963"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07</a:t>
            </a:r>
            <a:endParaRPr dirty="0"/>
          </a:p>
        </p:txBody>
      </p:sp>
      <p:sp>
        <p:nvSpPr>
          <p:cNvPr id="4" name="Rectangle : coins arrondis 3">
            <a:extLst>
              <a:ext uri="{FF2B5EF4-FFF2-40B4-BE49-F238E27FC236}">
                <a16:creationId xmlns:a16="http://schemas.microsoft.com/office/drawing/2014/main" id="{47424194-243A-47D8-96A8-8CF5626A6FE9}"/>
              </a:ext>
            </a:extLst>
          </p:cNvPr>
          <p:cNvSpPr/>
          <p:nvPr/>
        </p:nvSpPr>
        <p:spPr>
          <a:xfrm>
            <a:off x="8342587" y="4598796"/>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23</a:t>
            </a:r>
          </a:p>
        </p:txBody>
      </p:sp>
    </p:spTree>
    <p:extLst>
      <p:ext uri="{BB962C8B-B14F-4D97-AF65-F5344CB8AC3E}">
        <p14:creationId xmlns:p14="http://schemas.microsoft.com/office/powerpoint/2010/main" val="30236335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1" name="Google Shape;1891;p36"/>
          <p:cNvSpPr txBox="1">
            <a:spLocks noGrp="1"/>
          </p:cNvSpPr>
          <p:nvPr>
            <p:ph type="body" idx="1"/>
          </p:nvPr>
        </p:nvSpPr>
        <p:spPr>
          <a:xfrm>
            <a:off x="596410" y="849721"/>
            <a:ext cx="5063412" cy="4037590"/>
          </a:xfrm>
          <a:prstGeom prst="rect">
            <a:avLst/>
          </a:prstGeom>
        </p:spPr>
        <p:txBody>
          <a:bodyPr spcFirstLastPara="1" wrap="square" lIns="91425" tIns="91425" rIns="91425" bIns="91425" anchor="ctr" anchorCtr="0">
            <a:noAutofit/>
          </a:bodyPr>
          <a:lstStyle/>
          <a:p>
            <a:pPr marL="152400" indent="0" algn="l">
              <a:buNone/>
            </a:pPr>
            <a:r>
              <a:rPr lang="fr-FR" sz="1800" b="1" i="0" dirty="0">
                <a:solidFill>
                  <a:srgbClr val="000000"/>
                </a:solidFill>
                <a:effectLst/>
                <a:latin typeface="Barlow Semi Condensed" panose="00000506000000000000" pitchFamily="2" charset="0"/>
              </a:rPr>
              <a:t>La sécurité du cloud et des environnements distribués</a:t>
            </a:r>
          </a:p>
          <a:p>
            <a:pPr marL="152400" indent="0" algn="l">
              <a:buNone/>
            </a:pPr>
            <a:r>
              <a:rPr lang="fr-FR" sz="1600" b="0" i="0" dirty="0">
                <a:solidFill>
                  <a:srgbClr val="535366"/>
                </a:solidFill>
                <a:effectLst/>
                <a:latin typeface="Barlow Semi Condensed" panose="00000506000000000000" pitchFamily="2" charset="0"/>
              </a:rPr>
              <a:t>Le cloud </a:t>
            </a:r>
            <a:r>
              <a:rPr lang="fr-FR" sz="1600" b="0" i="0" dirty="0" err="1">
                <a:solidFill>
                  <a:srgbClr val="535366"/>
                </a:solidFill>
                <a:effectLst/>
                <a:latin typeface="Barlow Semi Condensed" panose="00000506000000000000" pitchFamily="2" charset="0"/>
              </a:rPr>
              <a:t>computing</a:t>
            </a:r>
            <a:r>
              <a:rPr lang="fr-FR" sz="1600" b="0" i="0" dirty="0">
                <a:solidFill>
                  <a:srgbClr val="535366"/>
                </a:solidFill>
                <a:effectLst/>
                <a:latin typeface="Barlow Semi Condensed" panose="00000506000000000000" pitchFamily="2" charset="0"/>
              </a:rPr>
              <a:t> et les architectures distribuées apportent de nombreux avantages en termes d'agilité et d'évolutivité, mais soulèvent également des défis de sécurité uniques.</a:t>
            </a:r>
          </a:p>
          <a:p>
            <a:pPr marL="152400" indent="0" algn="l">
              <a:buNone/>
            </a:pPr>
            <a:r>
              <a:rPr lang="fr-FR" sz="1600" b="0" i="0" dirty="0">
                <a:solidFill>
                  <a:srgbClr val="535366"/>
                </a:solidFill>
                <a:effectLst/>
                <a:latin typeface="Barlow Semi Condensed" panose="00000506000000000000" pitchFamily="2" charset="0"/>
              </a:rPr>
              <a:t>La protection des données sensibles stockées dans le cloud, la gestion des identités et des accès dans des environnements </a:t>
            </a:r>
            <a:r>
              <a:rPr lang="fr-FR" sz="1600" b="0" i="0" dirty="0" err="1">
                <a:solidFill>
                  <a:srgbClr val="535366"/>
                </a:solidFill>
                <a:effectLst/>
                <a:latin typeface="Barlow Semi Condensed" panose="00000506000000000000" pitchFamily="2" charset="0"/>
              </a:rPr>
              <a:t>multi-clouds</a:t>
            </a:r>
            <a:r>
              <a:rPr lang="fr-FR" sz="1600" b="0" i="0" dirty="0">
                <a:solidFill>
                  <a:srgbClr val="535366"/>
                </a:solidFill>
                <a:effectLst/>
                <a:latin typeface="Barlow Semi Condensed" panose="00000506000000000000" pitchFamily="2" charset="0"/>
              </a:rPr>
              <a:t>, ainsi que la sécurisation des communications entre les différents composants d'une architecture distribuée sont autant de problématiques complexes à résoudre.</a:t>
            </a:r>
          </a:p>
          <a:p>
            <a:pPr marL="152400" indent="0" algn="l">
              <a:buNone/>
            </a:pPr>
            <a:endParaRPr lang="fr-FR" sz="1600" b="0" i="0" dirty="0">
              <a:solidFill>
                <a:srgbClr val="535366"/>
              </a:solidFill>
              <a:effectLst/>
              <a:latin typeface="Barlow Semi Condensed" panose="00000506000000000000" pitchFamily="2" charset="0"/>
            </a:endParaRPr>
          </a:p>
          <a:p>
            <a:pPr marL="152400" indent="0" algn="l">
              <a:buNone/>
            </a:pPr>
            <a:endParaRPr lang="fr-FR" sz="1600" b="0" i="0" dirty="0">
              <a:solidFill>
                <a:srgbClr val="535366"/>
              </a:solidFill>
              <a:effectLst/>
              <a:latin typeface="Barlow Semi Condensed" panose="00000506000000000000" pitchFamily="2" charset="0"/>
            </a:endParaRPr>
          </a:p>
        </p:txBody>
      </p:sp>
      <p:pic>
        <p:nvPicPr>
          <p:cNvPr id="3" name="Image 2">
            <a:extLst>
              <a:ext uri="{FF2B5EF4-FFF2-40B4-BE49-F238E27FC236}">
                <a16:creationId xmlns:a16="http://schemas.microsoft.com/office/drawing/2014/main" id="{11F60CE3-5212-49C0-ACD7-55C31AA01CAA}"/>
              </a:ext>
            </a:extLst>
          </p:cNvPr>
          <p:cNvPicPr>
            <a:picLocks noChangeAspect="1"/>
          </p:cNvPicPr>
          <p:nvPr/>
        </p:nvPicPr>
        <p:blipFill>
          <a:blip r:embed="rId3"/>
          <a:stretch>
            <a:fillRect/>
          </a:stretch>
        </p:blipFill>
        <p:spPr>
          <a:xfrm>
            <a:off x="5593791" y="1245962"/>
            <a:ext cx="2651575" cy="2651575"/>
          </a:xfrm>
          <a:prstGeom prst="rect">
            <a:avLst/>
          </a:prstGeom>
        </p:spPr>
      </p:pic>
      <p:sp>
        <p:nvSpPr>
          <p:cNvPr id="4" name="Rectangle : coins arrondis 3">
            <a:extLst>
              <a:ext uri="{FF2B5EF4-FFF2-40B4-BE49-F238E27FC236}">
                <a16:creationId xmlns:a16="http://schemas.microsoft.com/office/drawing/2014/main" id="{7D007550-E34B-4950-8077-99B3B95B7162}"/>
              </a:ext>
            </a:extLst>
          </p:cNvPr>
          <p:cNvSpPr/>
          <p:nvPr/>
        </p:nvSpPr>
        <p:spPr>
          <a:xfrm>
            <a:off x="8342587" y="4598796"/>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24</a:t>
            </a:r>
          </a:p>
        </p:txBody>
      </p:sp>
      <p:sp>
        <p:nvSpPr>
          <p:cNvPr id="5" name="Google Shape;2155;p38">
            <a:extLst>
              <a:ext uri="{FF2B5EF4-FFF2-40B4-BE49-F238E27FC236}">
                <a16:creationId xmlns:a16="http://schemas.microsoft.com/office/drawing/2014/main" id="{2922B990-B714-4A06-A990-8315A272E76B}"/>
              </a:ext>
            </a:extLst>
          </p:cNvPr>
          <p:cNvSpPr txBox="1">
            <a:spLocks noGrp="1"/>
          </p:cNvSpPr>
          <p:nvPr>
            <p:ph type="title"/>
          </p:nvPr>
        </p:nvSpPr>
        <p:spPr>
          <a:xfrm>
            <a:off x="1743928" y="186492"/>
            <a:ext cx="4696285" cy="561095"/>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fr-FR" sz="2400" dirty="0">
                <a:effectLst/>
                <a:latin typeface="Fjalla One" panose="020B0604020202020204" charset="0"/>
                <a:ea typeface="Times New Roman" panose="02020603050405020304" pitchFamily="18" charset="0"/>
                <a:cs typeface="Fjalla One" panose="020B0604020202020204" charset="0"/>
              </a:rPr>
              <a:t>Tendances et défis actuels</a:t>
            </a:r>
            <a:endParaRPr lang="fr-FR" sz="2400" dirty="0">
              <a:latin typeface="Fjalla One" panose="020B0604020202020204" charset="0"/>
              <a:cs typeface="Fjalla One" panose="020B0604020202020204" charset="0"/>
            </a:endParaRPr>
          </a:p>
        </p:txBody>
      </p:sp>
    </p:spTree>
    <p:extLst>
      <p:ext uri="{BB962C8B-B14F-4D97-AF65-F5344CB8AC3E}">
        <p14:creationId xmlns:p14="http://schemas.microsoft.com/office/powerpoint/2010/main" val="34796758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1" name="Google Shape;1891;p36"/>
          <p:cNvSpPr txBox="1">
            <a:spLocks noGrp="1"/>
          </p:cNvSpPr>
          <p:nvPr>
            <p:ph type="body" idx="1"/>
          </p:nvPr>
        </p:nvSpPr>
        <p:spPr>
          <a:xfrm>
            <a:off x="306088" y="64948"/>
            <a:ext cx="7955043" cy="1761443"/>
          </a:xfrm>
          <a:prstGeom prst="rect">
            <a:avLst/>
          </a:prstGeom>
        </p:spPr>
        <p:txBody>
          <a:bodyPr spcFirstLastPara="1" wrap="square" lIns="91425" tIns="91425" rIns="91425" bIns="91425" anchor="ctr" anchorCtr="0">
            <a:noAutofit/>
          </a:bodyPr>
          <a:lstStyle/>
          <a:p>
            <a:pPr marL="152400" indent="0" algn="l">
              <a:buNone/>
            </a:pPr>
            <a:r>
              <a:rPr lang="fr-FR" sz="1800" b="1" i="0" dirty="0">
                <a:solidFill>
                  <a:srgbClr val="000000"/>
                </a:solidFill>
                <a:effectLst/>
                <a:latin typeface="Barlow Semi Condensed" panose="00000506000000000000" pitchFamily="2" charset="0"/>
              </a:rPr>
              <a:t>La lutte contre les menaces persistantes avancées (APT)</a:t>
            </a:r>
          </a:p>
          <a:p>
            <a:pPr marL="152400" indent="0" algn="l">
              <a:buNone/>
            </a:pPr>
            <a:r>
              <a:rPr lang="fr-FR" sz="1600" b="0" i="0" dirty="0">
                <a:solidFill>
                  <a:srgbClr val="535366"/>
                </a:solidFill>
                <a:effectLst/>
                <a:latin typeface="Barlow Semi Condensed" panose="00000506000000000000" pitchFamily="2" charset="0"/>
              </a:rPr>
              <a:t>Les attaques persistantes avancées (APT) sont des cyber-campagnes sophistiquées, généralement parrainées par des acteurs étatiques, visant à rester furtives sur des systèmes compromis pendant de longues périodes.</a:t>
            </a:r>
          </a:p>
          <a:p>
            <a:pPr marL="152400" indent="0" algn="l">
              <a:buNone/>
            </a:pPr>
            <a:r>
              <a:rPr lang="fr-FR" sz="1600" b="0" i="0" dirty="0">
                <a:solidFill>
                  <a:srgbClr val="535366"/>
                </a:solidFill>
                <a:effectLst/>
                <a:latin typeface="Barlow Semi Condensed" panose="00000506000000000000" pitchFamily="2" charset="0"/>
              </a:rPr>
              <a:t>. La détection et l'éradication de ces menaces nécessitent des capacités de surveillance et d'analyse avancées, ainsi qu'une expertise approfondie en matière de réponse aux incidents.</a:t>
            </a:r>
          </a:p>
        </p:txBody>
      </p:sp>
      <p:pic>
        <p:nvPicPr>
          <p:cNvPr id="3" name="Image 2">
            <a:extLst>
              <a:ext uri="{FF2B5EF4-FFF2-40B4-BE49-F238E27FC236}">
                <a16:creationId xmlns:a16="http://schemas.microsoft.com/office/drawing/2014/main" id="{EB9F3198-39D4-4D8E-9000-D516AA832BCC}"/>
              </a:ext>
            </a:extLst>
          </p:cNvPr>
          <p:cNvPicPr>
            <a:picLocks noChangeAspect="1"/>
          </p:cNvPicPr>
          <p:nvPr/>
        </p:nvPicPr>
        <p:blipFill>
          <a:blip r:embed="rId3"/>
          <a:stretch>
            <a:fillRect/>
          </a:stretch>
        </p:blipFill>
        <p:spPr>
          <a:xfrm>
            <a:off x="1142883" y="1835958"/>
            <a:ext cx="6077723" cy="3247697"/>
          </a:xfrm>
          <a:prstGeom prst="rect">
            <a:avLst/>
          </a:prstGeom>
        </p:spPr>
      </p:pic>
      <p:sp>
        <p:nvSpPr>
          <p:cNvPr id="4" name="Rectangle : coins arrondis 3">
            <a:extLst>
              <a:ext uri="{FF2B5EF4-FFF2-40B4-BE49-F238E27FC236}">
                <a16:creationId xmlns:a16="http://schemas.microsoft.com/office/drawing/2014/main" id="{CDEF928F-2956-4765-B6D5-851EEBDD21DE}"/>
              </a:ext>
            </a:extLst>
          </p:cNvPr>
          <p:cNvSpPr/>
          <p:nvPr/>
        </p:nvSpPr>
        <p:spPr>
          <a:xfrm>
            <a:off x="8342587" y="4598796"/>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25</a:t>
            </a:r>
          </a:p>
        </p:txBody>
      </p:sp>
    </p:spTree>
    <p:extLst>
      <p:ext uri="{BB962C8B-B14F-4D97-AF65-F5344CB8AC3E}">
        <p14:creationId xmlns:p14="http://schemas.microsoft.com/office/powerpoint/2010/main" val="3271681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1" name="Google Shape;1891;p36"/>
          <p:cNvSpPr txBox="1">
            <a:spLocks noGrp="1"/>
          </p:cNvSpPr>
          <p:nvPr>
            <p:ph type="body" idx="1"/>
          </p:nvPr>
        </p:nvSpPr>
        <p:spPr>
          <a:xfrm>
            <a:off x="430872" y="479231"/>
            <a:ext cx="5481198" cy="4037590"/>
          </a:xfrm>
          <a:prstGeom prst="rect">
            <a:avLst/>
          </a:prstGeom>
        </p:spPr>
        <p:txBody>
          <a:bodyPr spcFirstLastPara="1" wrap="square" lIns="91425" tIns="91425" rIns="91425" bIns="91425" anchor="ctr" anchorCtr="0">
            <a:noAutofit/>
          </a:bodyPr>
          <a:lstStyle/>
          <a:p>
            <a:pPr marL="152400" indent="0" algn="l">
              <a:buNone/>
            </a:pPr>
            <a:r>
              <a:rPr lang="fr-FR" sz="1800" b="1" i="0" dirty="0">
                <a:solidFill>
                  <a:srgbClr val="000000"/>
                </a:solidFill>
                <a:effectLst/>
                <a:latin typeface="Barlow Semi Condensed" panose="00000506000000000000" pitchFamily="2" charset="0"/>
              </a:rPr>
              <a:t>La sécurité de l'Internet des objets (IoT)</a:t>
            </a:r>
          </a:p>
          <a:p>
            <a:pPr marL="152400" indent="0" algn="l">
              <a:buNone/>
            </a:pPr>
            <a:r>
              <a:rPr lang="fr-FR" sz="1600" b="0" i="0" dirty="0">
                <a:solidFill>
                  <a:srgbClr val="535366"/>
                </a:solidFill>
                <a:effectLst/>
                <a:latin typeface="Barlow Semi Condensed" panose="00000506000000000000" pitchFamily="2" charset="0"/>
              </a:rPr>
              <a:t>L'Internet des objets (IoT) a ouvert la voie à une myriade de nouveaux dispositifs connectés, allant des appareils domestiques aux systèmes industriels critiques. Cependant, de nombreux dispositifs IoT ont été conçus avec peu ou pas de considérations pour la sécurité, les rendant vulnérables aux piratages et aux attaques de déni de service distribué (DDoS).</a:t>
            </a:r>
          </a:p>
          <a:p>
            <a:pPr marL="152400" indent="0" algn="l">
              <a:buNone/>
            </a:pPr>
            <a:r>
              <a:rPr lang="fr-FR" sz="1600" b="0" i="0" dirty="0">
                <a:solidFill>
                  <a:srgbClr val="535366"/>
                </a:solidFill>
                <a:effectLst/>
                <a:latin typeface="Barlow Semi Condensed" panose="00000506000000000000" pitchFamily="2" charset="0"/>
              </a:rPr>
              <a:t>La sécurisation de cet écosystème hétérogène d'appareils IoT représente un immense défi, tant sur le plan de la conception matérielle que logicielle.</a:t>
            </a:r>
          </a:p>
        </p:txBody>
      </p:sp>
      <p:pic>
        <p:nvPicPr>
          <p:cNvPr id="3" name="Image 2">
            <a:extLst>
              <a:ext uri="{FF2B5EF4-FFF2-40B4-BE49-F238E27FC236}">
                <a16:creationId xmlns:a16="http://schemas.microsoft.com/office/drawing/2014/main" id="{A21A80D9-C37C-4371-A3D7-09D955E6FFBA}"/>
              </a:ext>
            </a:extLst>
          </p:cNvPr>
          <p:cNvPicPr>
            <a:picLocks noChangeAspect="1"/>
          </p:cNvPicPr>
          <p:nvPr/>
        </p:nvPicPr>
        <p:blipFill>
          <a:blip r:embed="rId3"/>
          <a:stretch>
            <a:fillRect/>
          </a:stretch>
        </p:blipFill>
        <p:spPr>
          <a:xfrm>
            <a:off x="6275033" y="1163516"/>
            <a:ext cx="2438095" cy="2438095"/>
          </a:xfrm>
          <a:prstGeom prst="rect">
            <a:avLst/>
          </a:prstGeom>
        </p:spPr>
      </p:pic>
      <p:sp>
        <p:nvSpPr>
          <p:cNvPr id="4" name="Rectangle : coins arrondis 3">
            <a:extLst>
              <a:ext uri="{FF2B5EF4-FFF2-40B4-BE49-F238E27FC236}">
                <a16:creationId xmlns:a16="http://schemas.microsoft.com/office/drawing/2014/main" id="{ED6C8F31-0C64-454B-8011-3EFEC4291D8C}"/>
              </a:ext>
            </a:extLst>
          </p:cNvPr>
          <p:cNvSpPr/>
          <p:nvPr/>
        </p:nvSpPr>
        <p:spPr>
          <a:xfrm>
            <a:off x="8342587" y="4598796"/>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26</a:t>
            </a:r>
          </a:p>
        </p:txBody>
      </p:sp>
      <p:sp>
        <p:nvSpPr>
          <p:cNvPr id="7" name="Google Shape;2155;p38">
            <a:extLst>
              <a:ext uri="{FF2B5EF4-FFF2-40B4-BE49-F238E27FC236}">
                <a16:creationId xmlns:a16="http://schemas.microsoft.com/office/drawing/2014/main" id="{3D2A733F-3527-44C4-9045-FF87D554DCC0}"/>
              </a:ext>
            </a:extLst>
          </p:cNvPr>
          <p:cNvSpPr txBox="1">
            <a:spLocks noGrp="1"/>
          </p:cNvSpPr>
          <p:nvPr>
            <p:ph type="title"/>
          </p:nvPr>
        </p:nvSpPr>
        <p:spPr>
          <a:xfrm>
            <a:off x="1492040" y="190801"/>
            <a:ext cx="4782993" cy="57686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fr-FR" sz="2400" dirty="0">
                <a:effectLst/>
                <a:latin typeface="Fjalla One" panose="020B0604020202020204" charset="0"/>
                <a:ea typeface="Times New Roman" panose="02020603050405020304" pitchFamily="18" charset="0"/>
                <a:cs typeface="Fjalla One" panose="020B0604020202020204" charset="0"/>
              </a:rPr>
              <a:t>Tendances et défis actuels (suite)</a:t>
            </a:r>
            <a:endParaRPr lang="fr-FR" sz="2400" dirty="0">
              <a:latin typeface="Fjalla One" panose="020B0604020202020204" charset="0"/>
              <a:cs typeface="Fjalla One" panose="020B0604020202020204" charset="0"/>
            </a:endParaRPr>
          </a:p>
        </p:txBody>
      </p:sp>
    </p:spTree>
    <p:extLst>
      <p:ext uri="{BB962C8B-B14F-4D97-AF65-F5344CB8AC3E}">
        <p14:creationId xmlns:p14="http://schemas.microsoft.com/office/powerpoint/2010/main" val="18497829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845676" y="2159767"/>
            <a:ext cx="3279227" cy="154513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4700" dirty="0">
                <a:effectLst/>
                <a:latin typeface="Fjalla One" panose="020B0604020202020204" charset="0"/>
                <a:ea typeface="Times New Roman" panose="02020603050405020304" pitchFamily="18" charset="0"/>
                <a:cs typeface="Fjalla One" panose="020B0604020202020204" charset="0"/>
              </a:rPr>
              <a:t>Conclusion</a:t>
            </a:r>
            <a:endParaRPr lang="fr-FR" sz="4700" dirty="0">
              <a:latin typeface="Fjalla One" panose="020B0604020202020204" charset="0"/>
              <a:cs typeface="Fjalla One" panose="020B0604020202020204" charset="0"/>
            </a:endParaRPr>
          </a:p>
        </p:txBody>
      </p:sp>
      <p:sp>
        <p:nvSpPr>
          <p:cNvPr id="2156" name="Google Shape;2156;p38"/>
          <p:cNvSpPr txBox="1">
            <a:spLocks noGrp="1"/>
          </p:cNvSpPr>
          <p:nvPr>
            <p:ph type="title" idx="2"/>
          </p:nvPr>
        </p:nvSpPr>
        <p:spPr>
          <a:xfrm>
            <a:off x="2758963"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08</a:t>
            </a:r>
            <a:endParaRPr dirty="0"/>
          </a:p>
        </p:txBody>
      </p:sp>
      <p:sp>
        <p:nvSpPr>
          <p:cNvPr id="4" name="Rectangle : coins arrondis 3">
            <a:extLst>
              <a:ext uri="{FF2B5EF4-FFF2-40B4-BE49-F238E27FC236}">
                <a16:creationId xmlns:a16="http://schemas.microsoft.com/office/drawing/2014/main" id="{C91AD5CB-99DD-4475-A7C9-F72A59D18B92}"/>
              </a:ext>
            </a:extLst>
          </p:cNvPr>
          <p:cNvSpPr/>
          <p:nvPr/>
        </p:nvSpPr>
        <p:spPr>
          <a:xfrm>
            <a:off x="8342587" y="4598796"/>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27</a:t>
            </a:r>
          </a:p>
        </p:txBody>
      </p:sp>
    </p:spTree>
    <p:extLst>
      <p:ext uri="{BB962C8B-B14F-4D97-AF65-F5344CB8AC3E}">
        <p14:creationId xmlns:p14="http://schemas.microsoft.com/office/powerpoint/2010/main" val="30546858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1" name="Google Shape;1891;p36"/>
          <p:cNvSpPr txBox="1">
            <a:spLocks noGrp="1"/>
          </p:cNvSpPr>
          <p:nvPr>
            <p:ph type="body" idx="1"/>
          </p:nvPr>
        </p:nvSpPr>
        <p:spPr>
          <a:xfrm>
            <a:off x="430872" y="463466"/>
            <a:ext cx="7483418" cy="4037590"/>
          </a:xfrm>
          <a:prstGeom prst="rect">
            <a:avLst/>
          </a:prstGeom>
        </p:spPr>
        <p:txBody>
          <a:bodyPr spcFirstLastPara="1" wrap="square" lIns="91425" tIns="91425" rIns="91425" bIns="91425" anchor="ctr" anchorCtr="0">
            <a:noAutofit/>
          </a:bodyPr>
          <a:lstStyle/>
          <a:p>
            <a:pPr marL="152400" indent="0" algn="just">
              <a:buNone/>
            </a:pPr>
            <a:r>
              <a:rPr lang="fr-FR" sz="1600" b="0" i="0" dirty="0">
                <a:solidFill>
                  <a:srgbClr val="000000"/>
                </a:solidFill>
                <a:effectLst/>
                <a:latin typeface="Barlow Semi Condensed" panose="00000506000000000000" pitchFamily="2" charset="0"/>
              </a:rPr>
              <a:t>En conclusion, la cybersécurité est essentielle pour les organisations de toutes tailles. En utilisant les bons outils et en mettant en œuvre des programmes de formation et de sensibilisation des employés à la cybersécurité, vous pouvez contribuer à protéger votre organisation contre les cybermenaces.</a:t>
            </a:r>
          </a:p>
          <a:p>
            <a:pPr marL="152400" indent="0" algn="just">
              <a:buNone/>
            </a:pPr>
            <a:r>
              <a:rPr lang="fr-FR" sz="1600" b="0" i="0" dirty="0">
                <a:solidFill>
                  <a:srgbClr val="000000"/>
                </a:solidFill>
                <a:effectLst/>
                <a:latin typeface="Barlow Semi Condensed" panose="00000506000000000000" pitchFamily="2" charset="0"/>
              </a:rPr>
              <a:t>Cependant, la cybersécurité n’est pas un effort ponctuel, elle nécessite une maintenance permanente pour garantir que les systèmes restent sécurisés. Passez régulièrement en revue les politiques et procédures de sécurité pour vous assurer qu’elles sont à jour avec les meilleures pratiques actuelles, afin de garder une longueur d’avance sur les acteurs malveillants. Avec ces mesures en place, vous pouvez être sûr que les données de votre entreprise resteront en sécurité.</a:t>
            </a:r>
          </a:p>
        </p:txBody>
      </p:sp>
      <p:sp>
        <p:nvSpPr>
          <p:cNvPr id="3" name="Rectangle : coins arrondis 2">
            <a:extLst>
              <a:ext uri="{FF2B5EF4-FFF2-40B4-BE49-F238E27FC236}">
                <a16:creationId xmlns:a16="http://schemas.microsoft.com/office/drawing/2014/main" id="{E97C6767-BA1A-44DD-982B-CFFFE6667AD6}"/>
              </a:ext>
            </a:extLst>
          </p:cNvPr>
          <p:cNvSpPr/>
          <p:nvPr/>
        </p:nvSpPr>
        <p:spPr>
          <a:xfrm>
            <a:off x="8342587" y="4598796"/>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28</a:t>
            </a:r>
          </a:p>
        </p:txBody>
      </p:sp>
      <p:sp>
        <p:nvSpPr>
          <p:cNvPr id="4" name="Google Shape;2155;p38">
            <a:extLst>
              <a:ext uri="{FF2B5EF4-FFF2-40B4-BE49-F238E27FC236}">
                <a16:creationId xmlns:a16="http://schemas.microsoft.com/office/drawing/2014/main" id="{24F9F588-8C37-4644-ADFC-1DC01F8D6DBE}"/>
              </a:ext>
            </a:extLst>
          </p:cNvPr>
          <p:cNvSpPr txBox="1">
            <a:spLocks noGrp="1"/>
          </p:cNvSpPr>
          <p:nvPr>
            <p:ph type="title"/>
          </p:nvPr>
        </p:nvSpPr>
        <p:spPr>
          <a:xfrm>
            <a:off x="3352774" y="197068"/>
            <a:ext cx="1639614" cy="654269"/>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2400" dirty="0">
                <a:effectLst/>
                <a:latin typeface="Fjalla One" panose="020B0604020202020204" charset="0"/>
                <a:ea typeface="Times New Roman" panose="02020603050405020304" pitchFamily="18" charset="0"/>
                <a:cs typeface="Fjalla One" panose="020B0604020202020204" charset="0"/>
              </a:rPr>
              <a:t>Conclusion</a:t>
            </a:r>
            <a:endParaRPr lang="fr-FR" sz="2400" dirty="0">
              <a:latin typeface="Fjalla One" panose="020B0604020202020204" charset="0"/>
              <a:cs typeface="Fjalla One" panose="020B0604020202020204" charset="0"/>
            </a:endParaRPr>
          </a:p>
        </p:txBody>
      </p:sp>
    </p:spTree>
    <p:extLst>
      <p:ext uri="{BB962C8B-B14F-4D97-AF65-F5344CB8AC3E}">
        <p14:creationId xmlns:p14="http://schemas.microsoft.com/office/powerpoint/2010/main" val="13729702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3012133" y="1702567"/>
            <a:ext cx="3277389" cy="1505292"/>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fr-FR" sz="4700" dirty="0">
                <a:effectLst/>
                <a:latin typeface="Fjalla One" panose="020B0604020202020204" charset="0"/>
                <a:ea typeface="Times New Roman" panose="02020603050405020304" pitchFamily="18" charset="0"/>
                <a:cs typeface="Fjalla One" panose="020B0604020202020204" charset="0"/>
              </a:rPr>
              <a:t>Références </a:t>
            </a:r>
            <a:endParaRPr lang="fr-FR" sz="4700" dirty="0">
              <a:latin typeface="Fjalla One" panose="020B0604020202020204" charset="0"/>
              <a:cs typeface="Fjalla One" panose="020B0604020202020204" charset="0"/>
            </a:endParaRPr>
          </a:p>
        </p:txBody>
      </p:sp>
      <p:sp>
        <p:nvSpPr>
          <p:cNvPr id="3" name="Rectangle : coins arrondis 2">
            <a:extLst>
              <a:ext uri="{FF2B5EF4-FFF2-40B4-BE49-F238E27FC236}">
                <a16:creationId xmlns:a16="http://schemas.microsoft.com/office/drawing/2014/main" id="{00BD5F1E-D4B7-4B8C-A4BD-257286BE9530}"/>
              </a:ext>
            </a:extLst>
          </p:cNvPr>
          <p:cNvSpPr/>
          <p:nvPr/>
        </p:nvSpPr>
        <p:spPr>
          <a:xfrm>
            <a:off x="8342587" y="4598796"/>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29</a:t>
            </a:r>
          </a:p>
        </p:txBody>
      </p:sp>
    </p:spTree>
    <p:extLst>
      <p:ext uri="{BB962C8B-B14F-4D97-AF65-F5344CB8AC3E}">
        <p14:creationId xmlns:p14="http://schemas.microsoft.com/office/powerpoint/2010/main" val="14166633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1" name="Google Shape;1891;p36"/>
          <p:cNvSpPr txBox="1">
            <a:spLocks noGrp="1"/>
          </p:cNvSpPr>
          <p:nvPr>
            <p:ph type="body" idx="1"/>
          </p:nvPr>
        </p:nvSpPr>
        <p:spPr>
          <a:xfrm>
            <a:off x="659471" y="354723"/>
            <a:ext cx="8200749" cy="2506718"/>
          </a:xfrm>
          <a:prstGeom prst="rect">
            <a:avLst/>
          </a:prstGeom>
        </p:spPr>
        <p:txBody>
          <a:bodyPr spcFirstLastPara="1" wrap="square" lIns="91425" tIns="91425" rIns="91425" bIns="91425" anchor="ctr" anchorCtr="0">
            <a:noAutofit/>
          </a:bodyPr>
          <a:lstStyle/>
          <a:p>
            <a:pPr marL="152400" indent="0" algn="ctr">
              <a:buNone/>
            </a:pPr>
            <a:r>
              <a:rPr lang="fr-FR" sz="2800" b="1" i="0" dirty="0">
                <a:solidFill>
                  <a:srgbClr val="000000"/>
                </a:solidFill>
                <a:effectLst/>
                <a:latin typeface="Barlow Semi Condensed" panose="00000506000000000000" pitchFamily="2" charset="0"/>
              </a:rPr>
              <a:t>Documents</a:t>
            </a:r>
            <a:r>
              <a:rPr lang="fr-FR" sz="1600" b="0" i="0" dirty="0">
                <a:solidFill>
                  <a:srgbClr val="000000"/>
                </a:solidFill>
                <a:effectLst/>
                <a:latin typeface="Barlow Semi Condensed" panose="00000506000000000000" pitchFamily="2" charset="0"/>
              </a:rPr>
              <a:t> </a:t>
            </a:r>
          </a:p>
          <a:p>
            <a:pPr marL="152400" indent="0" algn="ctr">
              <a:buNone/>
            </a:pPr>
            <a:r>
              <a:rPr lang="fr-FR" sz="1600" b="0" i="1" dirty="0">
                <a:solidFill>
                  <a:srgbClr val="000000"/>
                </a:solidFill>
                <a:effectLst/>
                <a:latin typeface="Barlow Semi Condensed" panose="00000506000000000000" pitchFamily="2" charset="0"/>
              </a:rPr>
              <a:t> </a:t>
            </a:r>
          </a:p>
          <a:p>
            <a:pPr marL="152400" indent="0" algn="just">
              <a:buNone/>
            </a:pPr>
            <a:endParaRPr lang="fr-FR" sz="1600" i="1" dirty="0">
              <a:solidFill>
                <a:srgbClr val="000000"/>
              </a:solidFill>
              <a:latin typeface="Barlow Semi Condensed" panose="00000506000000000000" pitchFamily="2" charset="0"/>
            </a:endParaRPr>
          </a:p>
          <a:p>
            <a:pPr marL="152400" indent="0" algn="just">
              <a:buNone/>
            </a:pPr>
            <a:r>
              <a:rPr lang="fr-FR" sz="1800" b="0" i="1" dirty="0">
                <a:solidFill>
                  <a:srgbClr val="000000"/>
                </a:solidFill>
                <a:effectLst/>
                <a:latin typeface="Barlow Semi Condensed" panose="00000506000000000000" pitchFamily="2" charset="0"/>
              </a:rPr>
              <a:t>Indice_Cybersécurité_Mali.pdf</a:t>
            </a:r>
          </a:p>
          <a:p>
            <a:pPr marL="152400" indent="0" algn="just">
              <a:buNone/>
            </a:pPr>
            <a:r>
              <a:rPr lang="fr-FR" sz="1800" i="1" dirty="0"/>
              <a:t>Cybersécurité sécurité informatique et réseaux </a:t>
            </a:r>
            <a:r>
              <a:rPr lang="fr-FR" sz="1800" b="1" i="1" dirty="0"/>
              <a:t>DUNOD</a:t>
            </a:r>
          </a:p>
          <a:p>
            <a:pPr marL="152400" indent="0" algn="just">
              <a:buNone/>
            </a:pPr>
            <a:r>
              <a:rPr lang="fr-FR" sz="1800" i="1" dirty="0"/>
              <a:t>Sécurité informatique Principes et méthode de </a:t>
            </a:r>
            <a:r>
              <a:rPr lang="fr-FR" sz="1800" b="1" i="1" dirty="0"/>
              <a:t>Laurent Bloch Christophe </a:t>
            </a:r>
            <a:r>
              <a:rPr lang="fr-FR" sz="1800" b="1" i="1" dirty="0" err="1"/>
              <a:t>Wolfhugel</a:t>
            </a:r>
            <a:r>
              <a:rPr lang="fr-FR" sz="1800" b="1" i="1" dirty="0"/>
              <a:t> </a:t>
            </a:r>
          </a:p>
          <a:p>
            <a:pPr marL="152400" indent="0" algn="just">
              <a:buNone/>
            </a:pPr>
            <a:r>
              <a:rPr lang="fr-FR" sz="1800" i="1" dirty="0" err="1">
                <a:solidFill>
                  <a:srgbClr val="000000"/>
                </a:solidFill>
                <a:latin typeface="Barlow Semi Condensed" panose="00000506000000000000" pitchFamily="2" charset="0"/>
              </a:rPr>
              <a:t>C</a:t>
            </a:r>
            <a:r>
              <a:rPr lang="fr-FR" sz="1800" i="1" dirty="0" err="1">
                <a:solidFill>
                  <a:srgbClr val="000000"/>
                </a:solidFill>
                <a:effectLst/>
                <a:latin typeface="Barlow Semi Condensed" panose="00000506000000000000" pitchFamily="2" charset="0"/>
              </a:rPr>
              <a:t>ybersec</a:t>
            </a:r>
            <a:r>
              <a:rPr lang="fr-FR" sz="1800" i="1" dirty="0">
                <a:solidFill>
                  <a:srgbClr val="000000"/>
                </a:solidFill>
                <a:effectLst/>
                <a:latin typeface="Barlow Semi Condensed" panose="00000506000000000000" pitchFamily="2" charset="0"/>
              </a:rPr>
              <a:t>-CYU de </a:t>
            </a:r>
            <a:r>
              <a:rPr lang="fr-FR" sz="1800" b="1" i="1" dirty="0" err="1"/>
              <a:t>Rushed</a:t>
            </a:r>
            <a:r>
              <a:rPr lang="fr-FR" sz="1800" b="1" i="1" dirty="0"/>
              <a:t> </a:t>
            </a:r>
            <a:r>
              <a:rPr lang="fr-FR" sz="1800" b="1" i="1" dirty="0" err="1"/>
              <a:t>Kanawati</a:t>
            </a:r>
            <a:endParaRPr lang="fr-FR" sz="1800" b="1" i="1" dirty="0">
              <a:solidFill>
                <a:srgbClr val="000000"/>
              </a:solidFill>
              <a:effectLst/>
              <a:latin typeface="Barlow Semi Condensed" panose="00000506000000000000" pitchFamily="2" charset="0"/>
            </a:endParaRPr>
          </a:p>
          <a:p>
            <a:pPr marL="152400" indent="0" algn="just">
              <a:buNone/>
            </a:pPr>
            <a:endParaRPr lang="fr-FR" sz="1600" b="0" i="0" dirty="0">
              <a:solidFill>
                <a:srgbClr val="000000"/>
              </a:solidFill>
              <a:effectLst/>
              <a:latin typeface="Barlow Semi Condensed" panose="00000506000000000000" pitchFamily="2" charset="0"/>
            </a:endParaRPr>
          </a:p>
        </p:txBody>
      </p:sp>
      <p:sp>
        <p:nvSpPr>
          <p:cNvPr id="3" name="Rectangle : coins arrondis 2">
            <a:extLst>
              <a:ext uri="{FF2B5EF4-FFF2-40B4-BE49-F238E27FC236}">
                <a16:creationId xmlns:a16="http://schemas.microsoft.com/office/drawing/2014/main" id="{CA391713-3257-42FB-A68C-4884095ED3A1}"/>
              </a:ext>
            </a:extLst>
          </p:cNvPr>
          <p:cNvSpPr/>
          <p:nvPr/>
        </p:nvSpPr>
        <p:spPr>
          <a:xfrm>
            <a:off x="8342587" y="4598796"/>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31</a:t>
            </a:r>
          </a:p>
        </p:txBody>
      </p:sp>
    </p:spTree>
    <p:extLst>
      <p:ext uri="{BB962C8B-B14F-4D97-AF65-F5344CB8AC3E}">
        <p14:creationId xmlns:p14="http://schemas.microsoft.com/office/powerpoint/2010/main" val="1434058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1" name="Google Shape;1891;p36"/>
          <p:cNvSpPr txBox="1">
            <a:spLocks noGrp="1"/>
          </p:cNvSpPr>
          <p:nvPr>
            <p:ph type="body" idx="1"/>
          </p:nvPr>
        </p:nvSpPr>
        <p:spPr>
          <a:xfrm>
            <a:off x="454520" y="299545"/>
            <a:ext cx="7483418" cy="3760076"/>
          </a:xfrm>
          <a:prstGeom prst="rect">
            <a:avLst/>
          </a:prstGeom>
        </p:spPr>
        <p:txBody>
          <a:bodyPr spcFirstLastPara="1" wrap="square" lIns="91425" tIns="91425" rIns="91425" bIns="91425" anchor="ctr" anchorCtr="0">
            <a:noAutofit/>
          </a:bodyPr>
          <a:lstStyle/>
          <a:p>
            <a:pPr marL="152400" indent="0" algn="ctr">
              <a:buNone/>
            </a:pPr>
            <a:r>
              <a:rPr lang="fr-FR" sz="2800" b="1" i="0" dirty="0">
                <a:solidFill>
                  <a:srgbClr val="000000"/>
                </a:solidFill>
                <a:effectLst/>
                <a:latin typeface="Barlow Semi Condensed" panose="00000506000000000000" pitchFamily="2" charset="0"/>
              </a:rPr>
              <a:t>Sites</a:t>
            </a:r>
            <a:r>
              <a:rPr lang="fr-FR" sz="1600" b="0" i="0" dirty="0">
                <a:solidFill>
                  <a:srgbClr val="000000"/>
                </a:solidFill>
                <a:effectLst/>
                <a:latin typeface="Barlow Semi Condensed" panose="00000506000000000000" pitchFamily="2" charset="0"/>
              </a:rPr>
              <a:t> </a:t>
            </a:r>
          </a:p>
          <a:p>
            <a:pPr marL="152400" indent="0" algn="ctr">
              <a:buNone/>
            </a:pPr>
            <a:endParaRPr lang="fr-FR" sz="1600" b="0" i="0" dirty="0">
              <a:solidFill>
                <a:srgbClr val="000000"/>
              </a:solidFill>
              <a:effectLst/>
              <a:latin typeface="Barlow Semi Condensed" panose="00000506000000000000" pitchFamily="2" charset="0"/>
            </a:endParaRPr>
          </a:p>
          <a:p>
            <a:pPr marL="152400" indent="0" algn="just">
              <a:buNone/>
            </a:pPr>
            <a:r>
              <a:rPr lang="fr-FR" sz="1600" b="0" i="0" dirty="0">
                <a:solidFill>
                  <a:srgbClr val="000000"/>
                </a:solidFill>
                <a:effectLst/>
                <a:latin typeface="Barlow Semi Condensed" panose="00000506000000000000" pitchFamily="2" charset="0"/>
                <a:hlinkClick r:id="rId3"/>
              </a:rPr>
              <a:t>https://cybersecurityontario.gov.on.ca/mod/page/view.php?id=225&amp;lang=fr_ca</a:t>
            </a:r>
            <a:r>
              <a:rPr lang="fr-FR" sz="1600" b="0" i="0" dirty="0">
                <a:solidFill>
                  <a:srgbClr val="000000"/>
                </a:solidFill>
                <a:effectLst/>
                <a:latin typeface="Barlow Semi Condensed" panose="00000506000000000000" pitchFamily="2" charset="0"/>
              </a:rPr>
              <a:t> </a:t>
            </a:r>
            <a:r>
              <a:rPr lang="fr-FR" sz="1600" b="0" i="0" dirty="0">
                <a:solidFill>
                  <a:srgbClr val="000000"/>
                </a:solidFill>
                <a:effectLst/>
                <a:latin typeface="Barlow Semi Condensed" panose="00000506000000000000" pitchFamily="2" charset="0"/>
                <a:ea typeface="Barlow Semi Condensed" panose="00000506000000000000" pitchFamily="2" charset="0"/>
                <a:cs typeface="Barlow Semi Condensed" panose="00000506000000000000" pitchFamily="2" charset="0"/>
              </a:rPr>
              <a:t>du 23-06-2025</a:t>
            </a:r>
            <a:endParaRPr lang="fr-FR" sz="2400" dirty="0">
              <a:effectLst/>
            </a:endParaRPr>
          </a:p>
          <a:p>
            <a:pPr marL="152400" indent="0" algn="just">
              <a:buNone/>
            </a:pPr>
            <a:r>
              <a:rPr lang="fr-FR" sz="1600" b="0" i="0" dirty="0">
                <a:solidFill>
                  <a:srgbClr val="000000"/>
                </a:solidFill>
                <a:effectLst/>
                <a:latin typeface="Barlow Semi Condensed" panose="00000506000000000000" pitchFamily="2" charset="0"/>
                <a:hlinkClick r:id="rId4"/>
              </a:rPr>
              <a:t>https://www.cyber.gc.ca/fr/orientation/introduction-lenvironnement-de-cybermenaces</a:t>
            </a:r>
            <a:r>
              <a:rPr lang="fr-FR" sz="1600" b="0" i="0" dirty="0">
                <a:solidFill>
                  <a:srgbClr val="000000"/>
                </a:solidFill>
                <a:effectLst/>
                <a:latin typeface="Barlow Semi Condensed" panose="00000506000000000000" pitchFamily="2" charset="0"/>
              </a:rPr>
              <a:t> du 23-06-2025</a:t>
            </a:r>
          </a:p>
          <a:p>
            <a:pPr marL="152400" indent="0" algn="just">
              <a:buNone/>
            </a:pPr>
            <a:r>
              <a:rPr lang="fr-FR" sz="1600" b="0" i="0" dirty="0">
                <a:solidFill>
                  <a:srgbClr val="000000"/>
                </a:solidFill>
                <a:effectLst/>
                <a:latin typeface="Barlow Semi Condensed" panose="00000506000000000000" pitchFamily="2" charset="0"/>
              </a:rPr>
              <a:t> </a:t>
            </a:r>
            <a:r>
              <a:rPr lang="fr-FR" sz="1600" b="0" i="0" dirty="0">
                <a:solidFill>
                  <a:srgbClr val="000000"/>
                </a:solidFill>
                <a:effectLst/>
                <a:latin typeface="Barlow Semi Condensed" panose="00000506000000000000" pitchFamily="2" charset="0"/>
                <a:hlinkClick r:id="rId5"/>
              </a:rPr>
              <a:t>https://www.itaia.fr/comment-securiser-un-reseau-informatique/</a:t>
            </a:r>
            <a:r>
              <a:rPr lang="fr-FR" sz="1600" b="0" i="0" dirty="0">
                <a:solidFill>
                  <a:srgbClr val="000000"/>
                </a:solidFill>
                <a:effectLst/>
                <a:latin typeface="Barlow Semi Condensed" panose="00000506000000000000" pitchFamily="2" charset="0"/>
              </a:rPr>
              <a:t> du 23-06-2025</a:t>
            </a:r>
          </a:p>
          <a:p>
            <a:pPr marL="152400" indent="0" algn="just">
              <a:buNone/>
            </a:pPr>
            <a:r>
              <a:rPr lang="fr-FR" sz="1600" b="0" i="0" dirty="0">
                <a:solidFill>
                  <a:srgbClr val="000000"/>
                </a:solidFill>
                <a:effectLst/>
                <a:latin typeface="Barlow Semi Condensed" panose="00000506000000000000" pitchFamily="2" charset="0"/>
                <a:hlinkClick r:id="rId6"/>
              </a:rPr>
              <a:t>https://www.axis-solutions.fr/cyberattaques-les-5-types-les-plus-courants/</a:t>
            </a:r>
            <a:r>
              <a:rPr lang="fr-FR" sz="1600" b="0" i="0" dirty="0">
                <a:solidFill>
                  <a:srgbClr val="000000"/>
                </a:solidFill>
                <a:effectLst/>
                <a:latin typeface="Barlow Semi Condensed" panose="00000506000000000000" pitchFamily="2" charset="0"/>
              </a:rPr>
              <a:t> du 23-04-2025</a:t>
            </a:r>
          </a:p>
          <a:p>
            <a:pPr marL="152400" indent="0" algn="just">
              <a:buNone/>
            </a:pPr>
            <a:r>
              <a:rPr lang="fr-FR" sz="1600" b="0" i="0" dirty="0">
                <a:solidFill>
                  <a:srgbClr val="000000"/>
                </a:solidFill>
                <a:effectLst/>
                <a:latin typeface="Barlow Semi Condensed" panose="00000506000000000000" pitchFamily="2" charset="0"/>
                <a:hlinkClick r:id="rId7"/>
              </a:rPr>
              <a:t>https://www.avast.com/fr-fr/c-malware</a:t>
            </a:r>
            <a:r>
              <a:rPr lang="fr-FR" sz="1600" b="0" i="0" dirty="0">
                <a:solidFill>
                  <a:srgbClr val="000000"/>
                </a:solidFill>
                <a:effectLst/>
                <a:latin typeface="Barlow Semi Condensed" panose="00000506000000000000" pitchFamily="2" charset="0"/>
              </a:rPr>
              <a:t> </a:t>
            </a:r>
            <a:r>
              <a:rPr lang="fr-FR" sz="1600" b="0" i="0" dirty="0">
                <a:solidFill>
                  <a:srgbClr val="000000"/>
                </a:solidFill>
                <a:effectLst/>
                <a:latin typeface="Barlow Semi Condensed" panose="00000506000000000000" pitchFamily="2" charset="0"/>
                <a:ea typeface="Barlow Semi Condensed" panose="00000506000000000000" pitchFamily="2" charset="0"/>
                <a:cs typeface="Barlow Semi Condensed" panose="00000506000000000000" pitchFamily="2" charset="0"/>
              </a:rPr>
              <a:t>du 23-06-2025</a:t>
            </a:r>
            <a:endParaRPr lang="fr-FR" sz="2000" dirty="0">
              <a:effectLst/>
            </a:endParaRPr>
          </a:p>
          <a:p>
            <a:pPr marL="152400" indent="0" algn="just">
              <a:buNone/>
            </a:pPr>
            <a:r>
              <a:rPr lang="fr-FR" sz="1600" b="0" i="0" dirty="0">
                <a:solidFill>
                  <a:srgbClr val="000000"/>
                </a:solidFill>
                <a:effectLst/>
                <a:latin typeface="Barlow Semi Condensed" panose="00000506000000000000" pitchFamily="2" charset="0"/>
                <a:hlinkClick r:id="rId8"/>
              </a:rPr>
              <a:t>https://www.freenews.fr/actu-du-net/la-legislation-en-matiere-de-cybersecurite-un-cadre-juridique-en-mutation-pour-faire-face-aux-menaces-numeriques</a:t>
            </a:r>
            <a:r>
              <a:rPr lang="fr-FR" sz="1600" b="0" i="0" dirty="0">
                <a:solidFill>
                  <a:srgbClr val="000000"/>
                </a:solidFill>
                <a:effectLst/>
                <a:latin typeface="Barlow Semi Condensed" panose="00000506000000000000" pitchFamily="2" charset="0"/>
              </a:rPr>
              <a:t> </a:t>
            </a:r>
            <a:r>
              <a:rPr lang="fr-FR" sz="1600" b="0" i="0" dirty="0">
                <a:solidFill>
                  <a:srgbClr val="000000"/>
                </a:solidFill>
                <a:effectLst/>
                <a:latin typeface="Barlow Semi Condensed" panose="00000506000000000000" pitchFamily="2" charset="0"/>
                <a:ea typeface="Barlow Semi Condensed" panose="00000506000000000000" pitchFamily="2" charset="0"/>
                <a:cs typeface="Barlow Semi Condensed" panose="00000506000000000000" pitchFamily="2" charset="0"/>
              </a:rPr>
              <a:t>du 23-06-2025</a:t>
            </a:r>
            <a:endParaRPr lang="fr-FR" sz="2000" dirty="0">
              <a:effectLst/>
            </a:endParaRPr>
          </a:p>
        </p:txBody>
      </p:sp>
      <p:sp>
        <p:nvSpPr>
          <p:cNvPr id="3" name="Rectangle : coins arrondis 2">
            <a:extLst>
              <a:ext uri="{FF2B5EF4-FFF2-40B4-BE49-F238E27FC236}">
                <a16:creationId xmlns:a16="http://schemas.microsoft.com/office/drawing/2014/main" id="{CE4C863D-2E95-4D3A-8A21-5EC779D08223}"/>
              </a:ext>
            </a:extLst>
          </p:cNvPr>
          <p:cNvSpPr/>
          <p:nvPr/>
        </p:nvSpPr>
        <p:spPr>
          <a:xfrm>
            <a:off x="8342587" y="4598796"/>
            <a:ext cx="701565" cy="445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32</a:t>
            </a:r>
          </a:p>
        </p:txBody>
      </p:sp>
    </p:spTree>
    <p:extLst>
      <p:ext uri="{BB962C8B-B14F-4D97-AF65-F5344CB8AC3E}">
        <p14:creationId xmlns:p14="http://schemas.microsoft.com/office/powerpoint/2010/main" val="3982071616"/>
      </p:ext>
    </p:extLst>
  </p:cSld>
  <p:clrMapOvr>
    <a:masterClrMapping/>
  </p:clrMapOvr>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6748</TotalTime>
  <Words>1823</Words>
  <Application>Microsoft Office PowerPoint</Application>
  <PresentationFormat>Affichage à l'écran (16:9)</PresentationFormat>
  <Paragraphs>154</Paragraphs>
  <Slides>32</Slides>
  <Notes>32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32</vt:i4>
      </vt:variant>
    </vt:vector>
  </HeadingPairs>
  <TitlesOfParts>
    <vt:vector size="39" baseType="lpstr">
      <vt:lpstr>Fjalla One</vt:lpstr>
      <vt:lpstr>Barlow Semi Condensed Medium</vt:lpstr>
      <vt:lpstr>Roboto Condensed Light</vt:lpstr>
      <vt:lpstr>Arial</vt:lpstr>
      <vt:lpstr>Times New Roman</vt:lpstr>
      <vt:lpstr>Barlow Semi Condensed</vt:lpstr>
      <vt:lpstr>Technology Consulting by Slidesgo</vt:lpstr>
      <vt:lpstr>CyberSecurité</vt:lpstr>
      <vt:lpstr>Sommaire</vt:lpstr>
      <vt:lpstr>Introduction</vt:lpstr>
      <vt:lpstr>Introduction</vt:lpstr>
      <vt:lpstr>Présentation PowerPoint</vt:lpstr>
      <vt:lpstr>Les Périmètres de la sécurité et enjeux au sein d’une Organisation</vt:lpstr>
      <vt:lpstr>Les Périmètres de la sécurité et enjeux au sein d’une Organisation</vt:lpstr>
      <vt:lpstr>Présentation PowerPoint</vt:lpstr>
      <vt:lpstr>Les Principales Menaces</vt:lpstr>
      <vt:lpstr>Les Principales Menaces</vt:lpstr>
      <vt:lpstr>Les Principales Menaces(suite)</vt:lpstr>
      <vt:lpstr>Présentation PowerPoint</vt:lpstr>
      <vt:lpstr>Présentation PowerPoint</vt:lpstr>
      <vt:lpstr>Présentation PowerPoint</vt:lpstr>
      <vt:lpstr>Présentation PowerPoint</vt:lpstr>
      <vt:lpstr>Présentation PowerPoint</vt:lpstr>
      <vt:lpstr>Les acteurs de la cybermenace</vt:lpstr>
      <vt:lpstr>Les acteurs de la cybermenace</vt:lpstr>
      <vt:lpstr>Méthodes de protection</vt:lpstr>
      <vt:lpstr>Méthodes de protection</vt:lpstr>
      <vt:lpstr>Réglementation et cadre juridique</vt:lpstr>
      <vt:lpstr>Réglementation et cadre juridique</vt:lpstr>
      <vt:lpstr>Réglementation et cadre juridique(suite)</vt:lpstr>
      <vt:lpstr>Tendances et défis actuels</vt:lpstr>
      <vt:lpstr>Tendances et défis actuels</vt:lpstr>
      <vt:lpstr>Présentation PowerPoint</vt:lpstr>
      <vt:lpstr>Tendances et défis actuels (suite)</vt:lpstr>
      <vt:lpstr>Conclusion</vt:lpstr>
      <vt:lpstr>Conclusion</vt:lpstr>
      <vt:lpstr>Références </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CyberSecurité</dc:title>
  <dc:creator>Daouda Fomba</dc:creator>
  <cp:lastModifiedBy>Daouda Fomba</cp:lastModifiedBy>
  <cp:revision>57</cp:revision>
  <dcterms:modified xsi:type="dcterms:W3CDTF">2025-07-02T14:55:44Z</dcterms:modified>
</cp:coreProperties>
</file>
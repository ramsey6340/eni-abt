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6" r:id="rId3"/>
    <p:sldId id="297" r:id="rId4"/>
    <p:sldId id="275" r:id="rId5"/>
    <p:sldId id="298" r:id="rId6"/>
    <p:sldId id="269" r:id="rId7"/>
    <p:sldId id="267" r:id="rId8"/>
    <p:sldId id="272" r:id="rId9"/>
    <p:sldId id="271" r:id="rId10"/>
    <p:sldId id="274" r:id="rId11"/>
    <p:sldId id="281" r:id="rId12"/>
    <p:sldId id="270" r:id="rId13"/>
    <p:sldId id="322" r:id="rId14"/>
    <p:sldId id="273" r:id="rId15"/>
    <p:sldId id="320" r:id="rId16"/>
    <p:sldId id="321" r:id="rId17"/>
    <p:sldId id="265" r:id="rId18"/>
    <p:sldId id="268" r:id="rId19"/>
    <p:sldId id="262" r:id="rId20"/>
    <p:sldId id="264" r:id="rId21"/>
    <p:sldId id="294" r:id="rId22"/>
    <p:sldId id="295" r:id="rId23"/>
    <p:sldId id="282" r:id="rId24"/>
    <p:sldId id="283" r:id="rId25"/>
    <p:sldId id="285" r:id="rId26"/>
    <p:sldId id="312" r:id="rId27"/>
    <p:sldId id="296" r:id="rId28"/>
    <p:sldId id="263" r:id="rId29"/>
    <p:sldId id="280" r:id="rId30"/>
    <p:sldId id="313" r:id="rId31"/>
    <p:sldId id="314" r:id="rId32"/>
    <p:sldId id="319"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SIDIBE" initials="DS" lastIdx="1" clrIdx="0">
    <p:extLst>
      <p:ext uri="{19B8F6BF-5375-455C-9EA6-DF929625EA0E}">
        <p15:presenceInfo xmlns:p15="http://schemas.microsoft.com/office/powerpoint/2012/main" xmlns="" userId="Dr. SIDIB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85500" autoAdjust="0"/>
  </p:normalViewPr>
  <p:slideViewPr>
    <p:cSldViewPr snapToGrid="0">
      <p:cViewPr varScale="1">
        <p:scale>
          <a:sx n="58" d="100"/>
          <a:sy n="58" d="100"/>
        </p:scale>
        <p:origin x="-1098" y="-8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3FA8B-C59B-4F8F-A08D-B3DA2C3666DF}" type="datetimeFigureOut">
              <a:rPr lang="fr-FR" smtClean="0"/>
              <a:pPr/>
              <a:t>31/07/2023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1F1F4-70F4-4EDA-B210-8DC9EEE388A9}" type="slidenum">
              <a:rPr lang="fr-FR" smtClean="0"/>
              <a:pPr/>
              <a:t>‹N°›</a:t>
            </a:fld>
            <a:endParaRPr lang="fr-FR"/>
          </a:p>
        </p:txBody>
      </p:sp>
    </p:spTree>
    <p:extLst>
      <p:ext uri="{BB962C8B-B14F-4D97-AF65-F5344CB8AC3E}">
        <p14:creationId xmlns:p14="http://schemas.microsoft.com/office/powerpoint/2010/main" xmlns="" val="3789864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2000" kern="1200" dirty="0">
                <a:solidFill>
                  <a:schemeClr val="tx1"/>
                </a:solidFill>
                <a:effectLst/>
                <a:latin typeface="+mn-lt"/>
                <a:ea typeface="+mn-ea"/>
                <a:cs typeface="+mn-cs"/>
              </a:rPr>
              <a:t>Le Framework de base est composé d'un système de fichiers distribué, d'un gestionnaire de ressources et d'un système pour exécuter des programmes distribués.</a:t>
            </a:r>
          </a:p>
          <a:p>
            <a:r>
              <a:rPr lang="fr-FR" sz="2000" kern="1200" dirty="0">
                <a:solidFill>
                  <a:schemeClr val="tx1"/>
                </a:solidFill>
                <a:effectLst/>
                <a:latin typeface="+mn-lt"/>
                <a:ea typeface="+mn-ea"/>
                <a:cs typeface="+mn-cs"/>
              </a:rPr>
              <a:t> En pratique, il vous permet de travailler avec le système de fichiers distribué presque aussi facilement qu'avec le système de fichiers local de votre ordinateur personnel.</a:t>
            </a:r>
          </a:p>
          <a:p>
            <a:r>
              <a:rPr lang="fr-FR" sz="2000" kern="1200" dirty="0">
                <a:solidFill>
                  <a:schemeClr val="tx1"/>
                </a:solidFill>
                <a:effectLst/>
                <a:latin typeface="+mn-lt"/>
                <a:ea typeface="+mn-ea"/>
                <a:cs typeface="+mn-cs"/>
              </a:rPr>
              <a:t>Mais en arrière-plan, les données peuvent être dispersées sur des milliers de serveurs.</a:t>
            </a:r>
          </a:p>
          <a:p>
            <a:endParaRPr lang="fr-FR" sz="1400" dirty="0"/>
          </a:p>
        </p:txBody>
      </p:sp>
      <p:sp>
        <p:nvSpPr>
          <p:cNvPr id="4" name="Espace réservé du numéro de diapositive 3"/>
          <p:cNvSpPr>
            <a:spLocks noGrp="1"/>
          </p:cNvSpPr>
          <p:nvPr>
            <p:ph type="sldNum" sz="quarter" idx="10"/>
          </p:nvPr>
        </p:nvSpPr>
        <p:spPr/>
        <p:txBody>
          <a:bodyPr/>
          <a:lstStyle/>
          <a:p>
            <a:fld id="{A681F1F4-70F4-4EDA-B210-8DC9EEE388A9}" type="slidenum">
              <a:rPr lang="fr-FR" smtClean="0"/>
              <a:pPr/>
              <a:t>2</a:t>
            </a:fld>
            <a:endParaRPr lang="fr-FR"/>
          </a:p>
        </p:txBody>
      </p:sp>
    </p:spTree>
    <p:extLst>
      <p:ext uri="{BB962C8B-B14F-4D97-AF65-F5344CB8AC3E}">
        <p14:creationId xmlns:p14="http://schemas.microsoft.com/office/powerpoint/2010/main" xmlns="" val="406738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Très volumineux » dans ce contexte signifie des fichiers d'une taille de centaines de mégaoctets, de </a:t>
            </a:r>
            <a:r>
              <a:rPr lang="fr-FR" dirty="0" err="1"/>
              <a:t>gigaoctets</a:t>
            </a:r>
            <a:r>
              <a:rPr lang="fr-FR" dirty="0"/>
              <a:t> ou de téraoctets. Il existe aujourd'hui des clusters Hadoop qui stockent des pétaoctets de données.†</a:t>
            </a:r>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pPr/>
              <a:t>7</a:t>
            </a:fld>
            <a:endParaRPr lang="fr-FR"/>
          </a:p>
        </p:txBody>
      </p:sp>
    </p:spTree>
    <p:extLst>
      <p:ext uri="{BB962C8B-B14F-4D97-AF65-F5344CB8AC3E}">
        <p14:creationId xmlns:p14="http://schemas.microsoft.com/office/powerpoint/2010/main" xmlns="" val="171535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l'espace de noms n'est qu'un chemin vers un objet (fichier/bloc) dans HDFS. NN gère l'espace de noms du système de fichiers (chemin) dans une structure arborescente.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solidFill>
                <a:prstClr val="black"/>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solidFill>
                <a:prstClr val="black"/>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solidFill>
                <a:prstClr val="black"/>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prstClr val="black"/>
                </a:solidFill>
                <a:latin typeface="Times New Roman" panose="02020603050405020304" pitchFamily="18" charset="0"/>
                <a:cs typeface="Times New Roman" panose="02020603050405020304" pitchFamily="18" charset="0"/>
              </a:rPr>
              <a:t>La responsabilité du </a:t>
            </a:r>
            <a:r>
              <a:rPr lang="fr-FR" sz="1200" b="1" dirty="0" err="1">
                <a:solidFill>
                  <a:srgbClr val="0070C0"/>
                </a:solidFill>
                <a:latin typeface="Times New Roman" panose="02020603050405020304" pitchFamily="18" charset="0"/>
                <a:cs typeface="Times New Roman" panose="02020603050405020304" pitchFamily="18" charset="0"/>
              </a:rPr>
              <a:t>secondary</a:t>
            </a:r>
            <a:r>
              <a:rPr lang="fr-FR" sz="1200" b="1" dirty="0">
                <a:solidFill>
                  <a:srgbClr val="0070C0"/>
                </a:solidFill>
                <a:latin typeface="Times New Roman" panose="02020603050405020304" pitchFamily="18" charset="0"/>
                <a:cs typeface="Times New Roman" panose="02020603050405020304" pitchFamily="18" charset="0"/>
              </a:rPr>
              <a:t> </a:t>
            </a:r>
            <a:r>
              <a:rPr lang="fr-FR" sz="1200" b="1" dirty="0" err="1">
                <a:solidFill>
                  <a:srgbClr val="0070C0"/>
                </a:solidFill>
                <a:latin typeface="Times New Roman" panose="02020603050405020304" pitchFamily="18" charset="0"/>
                <a:cs typeface="Times New Roman" panose="02020603050405020304" pitchFamily="18" charset="0"/>
              </a:rPr>
              <a:t>name</a:t>
            </a:r>
            <a:r>
              <a:rPr lang="fr-FR" sz="1200" b="1" dirty="0">
                <a:solidFill>
                  <a:srgbClr val="0070C0"/>
                </a:solidFill>
                <a:latin typeface="Times New Roman" panose="02020603050405020304" pitchFamily="18" charset="0"/>
                <a:cs typeface="Times New Roman" panose="02020603050405020304" pitchFamily="18" charset="0"/>
              </a:rPr>
              <a:t> </a:t>
            </a:r>
            <a:r>
              <a:rPr lang="fr-FR" sz="1200" b="1" dirty="0" err="1">
                <a:solidFill>
                  <a:srgbClr val="0070C0"/>
                </a:solidFill>
                <a:latin typeface="Times New Roman" panose="02020603050405020304" pitchFamily="18" charset="0"/>
                <a:cs typeface="Times New Roman" panose="02020603050405020304" pitchFamily="18" charset="0"/>
              </a:rPr>
              <a:t>node</a:t>
            </a:r>
            <a:r>
              <a:rPr lang="fr-FR" sz="1200" b="1" dirty="0">
                <a:solidFill>
                  <a:srgbClr val="0070C0"/>
                </a:solidFill>
                <a:latin typeface="Times New Roman" panose="02020603050405020304" pitchFamily="18" charset="0"/>
                <a:cs typeface="Times New Roman" panose="02020603050405020304" pitchFamily="18" charset="0"/>
              </a:rPr>
              <a:t> </a:t>
            </a:r>
            <a:r>
              <a:rPr lang="fr-FR" sz="1200" dirty="0">
                <a:solidFill>
                  <a:prstClr val="black"/>
                </a:solidFill>
                <a:latin typeface="Times New Roman" panose="02020603050405020304" pitchFamily="18" charset="0"/>
                <a:cs typeface="Times New Roman" panose="02020603050405020304" pitchFamily="18" charset="0"/>
              </a:rPr>
              <a:t>est de copier et de fusionner périodiquement l'image de l'espace de noms et de modifier le journal. En cas de panne du </a:t>
            </a:r>
            <a:r>
              <a:rPr lang="fr-FR" sz="1200" b="1" dirty="0">
                <a:solidFill>
                  <a:srgbClr val="00B050"/>
                </a:solidFill>
                <a:latin typeface="Times New Roman" panose="02020603050405020304" pitchFamily="18" charset="0"/>
                <a:cs typeface="Times New Roman" panose="02020603050405020304" pitchFamily="18" charset="0"/>
              </a:rPr>
              <a:t>Name Node</a:t>
            </a:r>
            <a:r>
              <a:rPr lang="fr-FR" sz="1200" dirty="0">
                <a:solidFill>
                  <a:prstClr val="black"/>
                </a:solidFill>
                <a:latin typeface="Times New Roman" panose="02020603050405020304" pitchFamily="18" charset="0"/>
                <a:cs typeface="Times New Roman" panose="02020603050405020304" pitchFamily="18" charset="0"/>
              </a:rPr>
              <a:t>, l'image de l'espace de noms stockée dans le </a:t>
            </a:r>
            <a:r>
              <a:rPr lang="fr-FR" sz="1200" b="1" dirty="0" err="1">
                <a:solidFill>
                  <a:srgbClr val="0070C0"/>
                </a:solidFill>
                <a:latin typeface="Times New Roman" panose="02020603050405020304" pitchFamily="18" charset="0"/>
                <a:cs typeface="Times New Roman" panose="02020603050405020304" pitchFamily="18" charset="0"/>
              </a:rPr>
              <a:t>secondary</a:t>
            </a:r>
            <a:r>
              <a:rPr lang="fr-FR" sz="1200" b="1" dirty="0">
                <a:solidFill>
                  <a:srgbClr val="0070C0"/>
                </a:solidFill>
                <a:latin typeface="Times New Roman" panose="02020603050405020304" pitchFamily="18" charset="0"/>
                <a:cs typeface="Times New Roman" panose="02020603050405020304" pitchFamily="18" charset="0"/>
              </a:rPr>
              <a:t> </a:t>
            </a:r>
            <a:r>
              <a:rPr lang="fr-FR" sz="1200" b="1" dirty="0" err="1">
                <a:solidFill>
                  <a:srgbClr val="0070C0"/>
                </a:solidFill>
                <a:latin typeface="Times New Roman" panose="02020603050405020304" pitchFamily="18" charset="0"/>
                <a:cs typeface="Times New Roman" panose="02020603050405020304" pitchFamily="18" charset="0"/>
              </a:rPr>
              <a:t>name</a:t>
            </a:r>
            <a:r>
              <a:rPr lang="fr-FR" sz="1200" b="1" dirty="0">
                <a:solidFill>
                  <a:srgbClr val="0070C0"/>
                </a:solidFill>
                <a:latin typeface="Times New Roman" panose="02020603050405020304" pitchFamily="18" charset="0"/>
                <a:cs typeface="Times New Roman" panose="02020603050405020304" pitchFamily="18" charset="0"/>
              </a:rPr>
              <a:t> </a:t>
            </a:r>
            <a:r>
              <a:rPr lang="fr-FR" sz="1200" b="1" dirty="0" err="1">
                <a:solidFill>
                  <a:srgbClr val="0070C0"/>
                </a:solidFill>
                <a:latin typeface="Times New Roman" panose="02020603050405020304" pitchFamily="18" charset="0"/>
                <a:cs typeface="Times New Roman" panose="02020603050405020304" pitchFamily="18" charset="0"/>
              </a:rPr>
              <a:t>node</a:t>
            </a:r>
            <a:r>
              <a:rPr lang="fr-FR" sz="1200" b="1" dirty="0">
                <a:solidFill>
                  <a:srgbClr val="0070C0"/>
                </a:solidFill>
                <a:latin typeface="Times New Roman" panose="02020603050405020304" pitchFamily="18" charset="0"/>
                <a:cs typeface="Times New Roman" panose="02020603050405020304" pitchFamily="18" charset="0"/>
              </a:rPr>
              <a:t> </a:t>
            </a:r>
            <a:r>
              <a:rPr lang="fr-FR" sz="1200" dirty="0">
                <a:solidFill>
                  <a:prstClr val="black"/>
                </a:solidFill>
                <a:latin typeface="Times New Roman" panose="02020603050405020304" pitchFamily="18" charset="0"/>
                <a:cs typeface="Times New Roman" panose="02020603050405020304" pitchFamily="18" charset="0"/>
              </a:rPr>
              <a:t>peut être utilisée pour redémarrer le </a:t>
            </a:r>
            <a:r>
              <a:rPr lang="fr-FR" sz="1200" b="1" dirty="0">
                <a:solidFill>
                  <a:srgbClr val="00B050"/>
                </a:solidFill>
                <a:latin typeface="Times New Roman" panose="02020603050405020304" pitchFamily="18" charset="0"/>
                <a:cs typeface="Times New Roman" panose="02020603050405020304" pitchFamily="18" charset="0"/>
              </a:rPr>
              <a:t>Name </a:t>
            </a:r>
            <a:r>
              <a:rPr lang="fr-FR" sz="1200" b="1" dirty="0" err="1">
                <a:solidFill>
                  <a:srgbClr val="00B050"/>
                </a:solidFill>
                <a:latin typeface="Times New Roman" panose="02020603050405020304" pitchFamily="18" charset="0"/>
                <a:cs typeface="Times New Roman" panose="02020603050405020304" pitchFamily="18" charset="0"/>
              </a:rPr>
              <a:t>node</a:t>
            </a:r>
            <a:r>
              <a:rPr lang="fr-FR" sz="1200" dirty="0">
                <a:solidFill>
                  <a:prstClr val="black"/>
                </a:solidFill>
                <a:latin typeface="Times New Roman" panose="02020603050405020304" pitchFamily="18" charset="0"/>
                <a:cs typeface="Times New Roman" panose="02020603050405020304" pitchFamily="18" charset="0"/>
              </a:rPr>
              <a:t>.</a:t>
            </a:r>
            <a:r>
              <a:rPr lang="fr-FR" sz="1200" dirty="0"/>
              <a:t> </a:t>
            </a:r>
          </a:p>
          <a:p>
            <a:endParaRPr lang="fr-FR" dirty="0"/>
          </a:p>
        </p:txBody>
      </p:sp>
      <p:sp>
        <p:nvSpPr>
          <p:cNvPr id="4" name="Espace réservé du numéro de diapositive 3"/>
          <p:cNvSpPr>
            <a:spLocks noGrp="1"/>
          </p:cNvSpPr>
          <p:nvPr>
            <p:ph type="sldNum" sz="quarter" idx="5"/>
          </p:nvPr>
        </p:nvSpPr>
        <p:spPr/>
        <p:txBody>
          <a:bodyPr/>
          <a:lstStyle/>
          <a:p>
            <a:fld id="{A681F1F4-70F4-4EDA-B210-8DC9EEE388A9}" type="slidenum">
              <a:rPr lang="fr-FR" smtClean="0"/>
              <a:pPr/>
              <a:t>12</a:t>
            </a:fld>
            <a:endParaRPr lang="fr-FR"/>
          </a:p>
        </p:txBody>
      </p:sp>
    </p:spTree>
    <p:extLst>
      <p:ext uri="{BB962C8B-B14F-4D97-AF65-F5344CB8AC3E}">
        <p14:creationId xmlns:p14="http://schemas.microsoft.com/office/powerpoint/2010/main" xmlns="" val="4094148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Comme le montre la figure , l'architecture de HDFS se compose d'un nœud de nom et d'un ensemble de nœuds de données. Le nœud de nom gère l'espace de noms du système de fichiers, régule l'accès aux fichiers et exécute également certaines opérations du système de fichiers telles que le renommage, la fermeture, etc. Le nœud de données effectue des opérations de lecture-écriture sur les données réelles stockées dans chaque nœud et effectue également des opérations telles que la création, la suppression et la réplication de blocs selon les instructions du nœud de nom.</a:t>
            </a:r>
          </a:p>
          <a:p>
            <a:endParaRPr lang="fr-FR" dirty="0"/>
          </a:p>
          <a:p>
            <a:r>
              <a:rPr lang="fr-FR" dirty="0"/>
              <a:t>Les données dans HDFS sont vues sous forme de fichiers et automatiquement partitionnées et répliquées au sein du cluster. La capacité de stockage pour HDFS augmente presque linéairement en ajoutant de nouveaux nœuds de données dans le cluster. HDFS fournit également un équilibreur automatisé pour améliorer l'utilisation du stockage en cluster. De plus, les versions récentes de HDFS ont introduit un nœud de sauvegarde pour résoudre le problème causé par la défaillance d'un seul nœud du nœud de nom principal.</a:t>
            </a:r>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pPr/>
              <a:t>17</a:t>
            </a:fld>
            <a:endParaRPr lang="fr-FR"/>
          </a:p>
        </p:txBody>
      </p:sp>
    </p:spTree>
    <p:extLst>
      <p:ext uri="{BB962C8B-B14F-4D97-AF65-F5344CB8AC3E}">
        <p14:creationId xmlns:p14="http://schemas.microsoft.com/office/powerpoint/2010/main" xmlns="" val="3276119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2486944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28228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3377935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414725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382160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1885739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2684401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96028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8926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2750286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AC324DF-DDC5-449D-9B13-8C49AA9E203E}" type="datetimeFigureOut">
              <a:rPr lang="fr-FR" smtClean="0"/>
              <a:pPr/>
              <a:t>31/07/2023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1824874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324DF-DDC5-449D-9B13-8C49AA9E203E}" type="datetimeFigureOut">
              <a:rPr lang="fr-FR" smtClean="0"/>
              <a:pPr/>
              <a:t>31/07/2023</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C13F9D-C560-480A-B813-B26DEAEEF3EC}" type="slidenum">
              <a:rPr lang="fr-FR" smtClean="0"/>
              <a:pPr/>
              <a:t>‹N°›</a:t>
            </a:fld>
            <a:endParaRPr lang="fr-FR"/>
          </a:p>
        </p:txBody>
      </p:sp>
    </p:spTree>
    <p:extLst>
      <p:ext uri="{BB962C8B-B14F-4D97-AF65-F5344CB8AC3E}">
        <p14:creationId xmlns:p14="http://schemas.microsoft.com/office/powerpoint/2010/main" xmlns="" val="1253765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67610" y="2996908"/>
            <a:ext cx="5089856" cy="781111"/>
          </a:xfrm>
          <a:prstGeom prst="rect">
            <a:avLst/>
          </a:prstGeom>
        </p:spPr>
        <p:txBody>
          <a:bodyPr wrap="none">
            <a:spAutoFit/>
          </a:bodyPr>
          <a:lstStyle/>
          <a:p>
            <a:pPr algn="ctr">
              <a:lnSpc>
                <a:spcPct val="107000"/>
              </a:lnSpc>
              <a:spcAft>
                <a:spcPts val="0"/>
              </a:spcAft>
            </a:pPr>
            <a:r>
              <a:rPr lang="fr-FR" sz="4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Hadoop Framework</a:t>
            </a:r>
            <a:endParaRPr lang="fr-FR" sz="24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7567466" y="4831151"/>
            <a:ext cx="3976833" cy="1409617"/>
          </a:xfrm>
          <a:prstGeom prst="rect">
            <a:avLst/>
          </a:prstGeom>
        </p:spPr>
        <p:txBody>
          <a:bodyPr wrap="square">
            <a:spAutoFit/>
          </a:bodyPr>
          <a:lstStyle/>
          <a:p>
            <a:pPr algn="ctr">
              <a:lnSpc>
                <a:spcPct val="107000"/>
              </a:lnSpc>
              <a:spcAft>
                <a:spcPts val="0"/>
              </a:spcAft>
            </a:pPr>
            <a:r>
              <a:rPr lang="fr-FR" sz="4000" b="1" dirty="0" smtClean="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Dr. A. SIDIBE</a:t>
            </a:r>
          </a:p>
          <a:p>
            <a:pPr algn="ctr">
              <a:lnSpc>
                <a:spcPct val="107000"/>
              </a:lnSpc>
              <a:spcAft>
                <a:spcPts val="0"/>
              </a:spcAft>
            </a:pPr>
            <a:r>
              <a:rPr lang="fr-FR" sz="4000" b="1" dirty="0" smtClean="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ENI-ABT</a:t>
            </a:r>
            <a:endParaRPr lang="fr-FR"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4013726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016" y="756059"/>
            <a:ext cx="11850624" cy="5078313"/>
          </a:xfrm>
          <a:prstGeom prst="rect">
            <a:avLst/>
          </a:prstGeom>
        </p:spPr>
        <p:txBody>
          <a:bodyPr wrap="square">
            <a:spAutoFit/>
          </a:bodyPr>
          <a:lstStyle/>
          <a:p>
            <a:pPr algn="just">
              <a:lnSpc>
                <a:spcPct val="150000"/>
              </a:lnSpc>
              <a:spcAft>
                <a:spcPts val="0"/>
              </a:spcAft>
            </a:pPr>
            <a:r>
              <a:rPr lang="en-US" dirty="0">
                <a:latin typeface="Times New Roman" panose="02020603050405020304" pitchFamily="18" charset="0"/>
                <a:ea typeface="Calibri" panose="020F0502020204030204" pitchFamily="34" charset="0"/>
                <a:cs typeface="Times New Roman" panose="02020603050405020304" pitchFamily="18" charset="0"/>
              </a:rPr>
              <a:t>Gouge Cutting et Mike </a:t>
            </a:r>
            <a:r>
              <a:rPr lang="en-US" dirty="0" err="1">
                <a:latin typeface="Times New Roman" panose="02020603050405020304" pitchFamily="18" charset="0"/>
                <a:ea typeface="Calibri" panose="020F0502020204030204" pitchFamily="34" charset="0"/>
                <a:cs typeface="Times New Roman" panose="02020603050405020304" pitchFamily="18" charset="0"/>
              </a:rPr>
              <a:t>Cafarella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ont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créé</a:t>
            </a:r>
            <a:r>
              <a:rPr lang="en-US" dirty="0">
                <a:latin typeface="Times New Roman" panose="02020603050405020304" pitchFamily="18" charset="0"/>
                <a:ea typeface="Calibri" panose="020F0502020204030204" pitchFamily="34" charset="0"/>
                <a:cs typeface="Times New Roman" panose="02020603050405020304" pitchFamily="18" charset="0"/>
              </a:rPr>
              <a:t> Hadoop (</a:t>
            </a:r>
            <a:r>
              <a:rPr lang="en-US" b="1" dirty="0">
                <a:latin typeface="Times New Roman" panose="02020603050405020304" pitchFamily="18" charset="0"/>
                <a:ea typeface="Calibri" panose="020F0502020204030204" pitchFamily="34" charset="0"/>
                <a:cs typeface="Times New Roman" panose="02020603050405020304" pitchFamily="18" charset="0"/>
              </a:rPr>
              <a:t>H</a:t>
            </a:r>
            <a:r>
              <a:rPr lang="en-US" dirty="0">
                <a:latin typeface="Times New Roman" panose="02020603050405020304" pitchFamily="18" charset="0"/>
                <a:ea typeface="Calibri" panose="020F0502020204030204" pitchFamily="34" charset="0"/>
                <a:cs typeface="Times New Roman" panose="02020603050405020304" pitchFamily="18" charset="0"/>
              </a:rPr>
              <a:t>ighly </a:t>
            </a:r>
            <a:r>
              <a:rPr lang="en-US" b="1" dirty="0">
                <a:latin typeface="Times New Roman" panose="02020603050405020304" pitchFamily="18" charset="0"/>
                <a:ea typeface="Calibri" panose="020F0502020204030204" pitchFamily="34" charset="0"/>
                <a:cs typeface="Times New Roman" panose="02020603050405020304" pitchFamily="18" charset="0"/>
              </a:rPr>
              <a:t>A</a:t>
            </a:r>
            <a:r>
              <a:rPr lang="en-US" dirty="0">
                <a:latin typeface="Times New Roman" panose="02020603050405020304" pitchFamily="18" charset="0"/>
                <a:ea typeface="Calibri" panose="020F0502020204030204" pitchFamily="34" charset="0"/>
                <a:cs typeface="Times New Roman" panose="02020603050405020304" pitchFamily="18" charset="0"/>
              </a:rPr>
              <a:t>rchived </a:t>
            </a:r>
            <a:r>
              <a:rPr lang="en-US" b="1" dirty="0">
                <a:latin typeface="Times New Roman" panose="02020603050405020304" pitchFamily="18" charset="0"/>
                <a:ea typeface="Calibri" panose="020F0502020204030204" pitchFamily="34" charset="0"/>
                <a:cs typeface="Times New Roman" panose="02020603050405020304" pitchFamily="18" charset="0"/>
              </a:rPr>
              <a:t>D</a:t>
            </a:r>
            <a:r>
              <a:rPr lang="en-US" dirty="0">
                <a:latin typeface="Times New Roman" panose="02020603050405020304" pitchFamily="18" charset="0"/>
                <a:ea typeface="Calibri" panose="020F0502020204030204" pitchFamily="34" charset="0"/>
                <a:cs typeface="Times New Roman" panose="02020603050405020304" pitchFamily="18" charset="0"/>
              </a:rPr>
              <a:t>istributed </a:t>
            </a:r>
            <a:r>
              <a:rPr lang="en-US" b="1" dirty="0">
                <a:latin typeface="Times New Roman" panose="02020603050405020304" pitchFamily="18" charset="0"/>
                <a:ea typeface="Calibri" panose="020F0502020204030204" pitchFamily="34" charset="0"/>
                <a:cs typeface="Times New Roman" panose="02020603050405020304" pitchFamily="18" charset="0"/>
              </a:rPr>
              <a:t>O</a:t>
            </a:r>
            <a:r>
              <a:rPr lang="en-US" dirty="0">
                <a:latin typeface="Times New Roman" panose="02020603050405020304" pitchFamily="18" charset="0"/>
                <a:ea typeface="Calibri" panose="020F0502020204030204" pitchFamily="34" charset="0"/>
                <a:cs typeface="Times New Roman" panose="02020603050405020304" pitchFamily="18" charset="0"/>
              </a:rPr>
              <a:t>bject </a:t>
            </a:r>
            <a:r>
              <a:rPr lang="en-US" b="1" dirty="0">
                <a:latin typeface="Times New Roman" panose="02020603050405020304" pitchFamily="18" charset="0"/>
                <a:ea typeface="Calibri" panose="020F0502020204030204" pitchFamily="34" charset="0"/>
                <a:cs typeface="Times New Roman" panose="02020603050405020304" pitchFamily="18" charset="0"/>
              </a:rPr>
              <a:t>O</a:t>
            </a:r>
            <a:r>
              <a:rPr lang="en-US" dirty="0">
                <a:latin typeface="Times New Roman" panose="02020603050405020304" pitchFamily="18" charset="0"/>
                <a:ea typeface="Calibri" panose="020F0502020204030204" pitchFamily="34" charset="0"/>
                <a:cs typeface="Times New Roman" panose="02020603050405020304" pitchFamily="18" charset="0"/>
              </a:rPr>
              <a:t>riented </a:t>
            </a:r>
            <a:r>
              <a:rPr lang="en-US" b="1" dirty="0">
                <a:latin typeface="Times New Roman" panose="02020603050405020304" pitchFamily="18" charset="0"/>
                <a:ea typeface="Calibri" panose="020F0502020204030204" pitchFamily="34" charset="0"/>
                <a:cs typeface="Times New Roman" panose="02020603050405020304" pitchFamily="18" charset="0"/>
              </a:rPr>
              <a:t>P</a:t>
            </a:r>
            <a:r>
              <a:rPr lang="en-US" dirty="0">
                <a:latin typeface="Times New Roman" panose="02020603050405020304" pitchFamily="18" charset="0"/>
                <a:ea typeface="Calibri" panose="020F0502020204030204" pitchFamily="34" charset="0"/>
                <a:cs typeface="Times New Roman" panose="02020603050405020304" pitchFamily="18" charset="0"/>
              </a:rPr>
              <a:t>rogramming) </a:t>
            </a:r>
            <a:r>
              <a:rPr lang="en-US" dirty="0" err="1">
                <a:latin typeface="Times New Roman" panose="02020603050405020304" pitchFamily="18" charset="0"/>
                <a:ea typeface="Calibri" panose="020F0502020204030204" pitchFamily="34" charset="0"/>
                <a:cs typeface="Times New Roman" panose="02020603050405020304" pitchFamily="18" charset="0"/>
              </a:rPr>
              <a:t>en</a:t>
            </a:r>
            <a:r>
              <a:rPr lang="en-US" dirty="0">
                <a:latin typeface="Times New Roman" panose="02020603050405020304" pitchFamily="18" charset="0"/>
                <a:ea typeface="Calibri" panose="020F0502020204030204" pitchFamily="34" charset="0"/>
                <a:cs typeface="Times New Roman" panose="02020603050405020304" pitchFamily="18" charset="0"/>
              </a:rPr>
              <a:t> 2005. </a:t>
            </a:r>
            <a:r>
              <a:rPr lang="fr-FR" dirty="0">
                <a:latin typeface="Times New Roman" panose="02020603050405020304" pitchFamily="18" charset="0"/>
                <a:ea typeface="Calibri" panose="020F0502020204030204" pitchFamily="34" charset="0"/>
                <a:cs typeface="Times New Roman" panose="02020603050405020304" pitchFamily="18" charset="0"/>
              </a:rPr>
              <a:t>Cependant, </a:t>
            </a:r>
            <a:r>
              <a:rPr lang="fr-FR" b="1" dirty="0">
                <a:latin typeface="Times New Roman" panose="02020603050405020304" pitchFamily="18" charset="0"/>
                <a:ea typeface="Calibri" panose="020F0502020204030204" pitchFamily="34" charset="0"/>
                <a:cs typeface="Times New Roman" panose="02020603050405020304" pitchFamily="18" charset="0"/>
              </a:rPr>
              <a:t>MapReduce</a:t>
            </a:r>
            <a:r>
              <a:rPr lang="fr-FR" dirty="0">
                <a:latin typeface="Times New Roman" panose="02020603050405020304" pitchFamily="18" charset="0"/>
                <a:ea typeface="Calibri" panose="020F0502020204030204" pitchFamily="34" charset="0"/>
                <a:cs typeface="Times New Roman" panose="02020603050405020304" pitchFamily="18" charset="0"/>
              </a:rPr>
              <a:t>, basé sur Google publié en 2004, a été développé pour aider un projet d'analyse distribuée et de moteur de recherche. La meilleure caractéristique est qu'il s'agit d'une technologie Java Framework basée sur l'open source, qui permet de stocker, de gérer, de générer un accès et d'affecter de vastes ressources et détermine le haut degré flexible de possibilité de panne et la grande évolutivité à partir de données volumineuses et à moindre coût. Hadoop contrôle un grand nombre d'ensembles de données et génère un énorme ensemble de données à partir de différents systèmes de plate-forme tels que des vidéos et des audios, des dossiers, des images, des fichiers, des logiciels et des discussions par e-mail. Toutes ces extensions et formats sont stockés dans un Hadoop conçu par clustering, et sans schéma, cela conduit à collecter sur tous les systèmes qui pourraient être différents.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dirty="0">
                <a:latin typeface="Times New Roman" panose="02020603050405020304" pitchFamily="18" charset="0"/>
                <a:ea typeface="Calibri" panose="020F0502020204030204" pitchFamily="34" charset="0"/>
                <a:cs typeface="Times New Roman" panose="02020603050405020304" pitchFamily="18" charset="0"/>
              </a:rPr>
              <a:t>De plus, il existe de nombreuses structures et composants trouvés dans Hadoop, par exemple </a:t>
            </a:r>
            <a:r>
              <a:rPr lang="fr-FR" b="1" dirty="0" err="1">
                <a:latin typeface="Times New Roman" panose="02020603050405020304" pitchFamily="18" charset="0"/>
                <a:ea typeface="Calibri" panose="020F0502020204030204" pitchFamily="34" charset="0"/>
                <a:cs typeface="Times New Roman" panose="02020603050405020304" pitchFamily="18" charset="0"/>
              </a:rPr>
              <a:t>Avro</a:t>
            </a:r>
            <a:r>
              <a:rPr lang="fr-FR" dirty="0">
                <a:latin typeface="Times New Roman" panose="02020603050405020304" pitchFamily="18" charset="0"/>
                <a:ea typeface="Calibri" panose="020F0502020204030204" pitchFamily="34" charset="0"/>
                <a:cs typeface="Times New Roman" panose="02020603050405020304" pitchFamily="18" charset="0"/>
              </a:rPr>
              <a:t>, </a:t>
            </a:r>
            <a:r>
              <a:rPr lang="fr-FR" b="1" dirty="0" err="1">
                <a:latin typeface="Times New Roman" panose="02020603050405020304" pitchFamily="18" charset="0"/>
                <a:ea typeface="Calibri" panose="020F0502020204030204" pitchFamily="34" charset="0"/>
                <a:cs typeface="Times New Roman" panose="02020603050405020304" pitchFamily="18" charset="0"/>
              </a:rPr>
              <a:t>Chukwa</a:t>
            </a:r>
            <a:r>
              <a:rPr lang="fr-FR" dirty="0">
                <a:latin typeface="Times New Roman" panose="02020603050405020304" pitchFamily="18" charset="0"/>
                <a:ea typeface="Calibri" panose="020F0502020204030204" pitchFamily="34" charset="0"/>
                <a:cs typeface="Times New Roman" panose="02020603050405020304" pitchFamily="18" charset="0"/>
              </a:rPr>
              <a:t>, </a:t>
            </a:r>
            <a:r>
              <a:rPr lang="fr-FR" b="1" dirty="0" err="1">
                <a:latin typeface="Times New Roman" panose="02020603050405020304" pitchFamily="18" charset="0"/>
                <a:ea typeface="Calibri" panose="020F0502020204030204" pitchFamily="34" charset="0"/>
                <a:cs typeface="Times New Roman" panose="02020603050405020304" pitchFamily="18" charset="0"/>
              </a:rPr>
              <a:t>Flume</a:t>
            </a:r>
            <a:r>
              <a:rPr lang="fr-FR" dirty="0">
                <a:latin typeface="Times New Roman" panose="02020603050405020304" pitchFamily="18" charset="0"/>
                <a:ea typeface="Calibri" panose="020F0502020204030204" pitchFamily="34" charset="0"/>
                <a:cs typeface="Times New Roman" panose="02020603050405020304" pitchFamily="18" charset="0"/>
              </a:rPr>
              <a:t>, etc. L'installation ou le bundle Hadoop nous fournit plusieurs fonctionnalités telles que le code source, la planification et l'organisation du travail.</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ZoneTexte 2"/>
          <p:cNvSpPr txBox="1"/>
          <p:nvPr/>
        </p:nvSpPr>
        <p:spPr>
          <a:xfrm>
            <a:off x="128016" y="109728"/>
            <a:ext cx="2724912" cy="646331"/>
          </a:xfrm>
          <a:prstGeom prst="rect">
            <a:avLst/>
          </a:prstGeom>
          <a:noFill/>
        </p:spPr>
        <p:txBody>
          <a:bodyPr wrap="square" rtlCol="0">
            <a:spAutoFit/>
          </a:bodyPr>
          <a:lstStyle/>
          <a:p>
            <a:r>
              <a:rPr lang="fr-FR" sz="3600" b="1" dirty="0">
                <a:solidFill>
                  <a:srgbClr val="C00000"/>
                </a:solidFill>
                <a:latin typeface="Times New Roman" panose="02020603050405020304" pitchFamily="18" charset="0"/>
                <a:ea typeface="Calibri" panose="020F0502020204030204" pitchFamily="34" charset="0"/>
              </a:rPr>
              <a:t>Introduction</a:t>
            </a:r>
          </a:p>
        </p:txBody>
      </p:sp>
    </p:spTree>
    <p:extLst>
      <p:ext uri="{BB962C8B-B14F-4D97-AF65-F5344CB8AC3E}">
        <p14:creationId xmlns:p14="http://schemas.microsoft.com/office/powerpoint/2010/main" xmlns="" val="1889977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B2398A8-9BD6-45DE-8B98-5C6A16D6824D}"/>
              </a:ext>
            </a:extLst>
          </p:cNvPr>
          <p:cNvSpPr/>
          <p:nvPr/>
        </p:nvSpPr>
        <p:spPr>
          <a:xfrm>
            <a:off x="286327" y="646331"/>
            <a:ext cx="11554691" cy="5565947"/>
          </a:xfrm>
          <a:prstGeom prst="rect">
            <a:avLst/>
          </a:prstGeom>
        </p:spPr>
        <p:txBody>
          <a:bodyPr wrap="square">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MapReduce présente de nombreux avantages ; Certains d'entre eux sont énumérés ci-dessous.</a:t>
            </a:r>
          </a:p>
          <a:p>
            <a:pPr algn="just">
              <a:lnSpc>
                <a:spcPct val="150000"/>
              </a:lnSpc>
            </a:pPr>
            <a:r>
              <a:rPr lang="fr-FR" sz="2400" b="1" dirty="0">
                <a:latin typeface="Times New Roman" panose="02020603050405020304" pitchFamily="18" charset="0"/>
                <a:cs typeface="Times New Roman" panose="02020603050405020304" pitchFamily="18" charset="0"/>
              </a:rPr>
              <a:t>Vitesse </a:t>
            </a:r>
            <a:r>
              <a:rPr lang="fr-FR" sz="2400" dirty="0">
                <a:latin typeface="Times New Roman" panose="02020603050405020304" pitchFamily="18" charset="0"/>
                <a:cs typeface="Times New Roman" panose="02020603050405020304" pitchFamily="18" charset="0"/>
              </a:rPr>
              <a:t>: il peut traiter de grandes quantités de données aléatoires en peu de temps.</a:t>
            </a:r>
          </a:p>
          <a:p>
            <a:pPr algn="just">
              <a:lnSpc>
                <a:spcPct val="150000"/>
              </a:lnSpc>
            </a:pPr>
            <a:r>
              <a:rPr lang="fr-FR" sz="2400" b="1" dirty="0">
                <a:latin typeface="Times New Roman" panose="02020603050405020304" pitchFamily="18" charset="0"/>
                <a:cs typeface="Times New Roman" panose="02020603050405020304" pitchFamily="18" charset="0"/>
              </a:rPr>
              <a:t>Tolérance aux pannes </a:t>
            </a:r>
            <a:r>
              <a:rPr lang="fr-FR" sz="2400" dirty="0">
                <a:latin typeface="Times New Roman" panose="02020603050405020304" pitchFamily="18" charset="0"/>
                <a:cs typeface="Times New Roman" panose="02020603050405020304" pitchFamily="18" charset="0"/>
              </a:rPr>
              <a:t>: le framework MapReduce peut gérer les pannes.</a:t>
            </a:r>
          </a:p>
          <a:p>
            <a:pPr algn="just">
              <a:lnSpc>
                <a:spcPct val="150000"/>
              </a:lnSpc>
            </a:pPr>
            <a:r>
              <a:rPr lang="fr-FR" sz="2400" b="1" dirty="0">
                <a:latin typeface="Times New Roman" panose="02020603050405020304" pitchFamily="18" charset="0"/>
                <a:cs typeface="Times New Roman" panose="02020603050405020304" pitchFamily="18" charset="0"/>
              </a:rPr>
              <a:t>Évolutivité</a:t>
            </a:r>
            <a:r>
              <a:rPr lang="fr-FR" sz="2400" dirty="0">
                <a:latin typeface="Times New Roman" panose="02020603050405020304" pitchFamily="18" charset="0"/>
                <a:cs typeface="Times New Roman" panose="02020603050405020304" pitchFamily="18" charset="0"/>
              </a:rPr>
              <a:t> : Hadoop fournit un excellent cadre. MapReduce permet aux utilisateurs d'exécuter des applications sur plusieurs nœuds.</a:t>
            </a:r>
          </a:p>
          <a:p>
            <a:pPr algn="just">
              <a:lnSpc>
                <a:spcPct val="150000"/>
              </a:lnSpc>
            </a:pPr>
            <a:r>
              <a:rPr lang="fr-FR" sz="2400" b="1" dirty="0">
                <a:latin typeface="Times New Roman" panose="02020603050405020304" pitchFamily="18" charset="0"/>
                <a:cs typeface="Times New Roman" panose="02020603050405020304" pitchFamily="18" charset="0"/>
              </a:rPr>
              <a:t>Disponibilité des données </a:t>
            </a:r>
            <a:r>
              <a:rPr lang="fr-FR" sz="2400" dirty="0">
                <a:latin typeface="Times New Roman" panose="02020603050405020304" pitchFamily="18" charset="0"/>
                <a:cs typeface="Times New Roman" panose="02020603050405020304" pitchFamily="18" charset="0"/>
              </a:rPr>
              <a:t>: les blocs de données sont envoyées à divers endroits du réseau. Cela garantit que des copies des données sont disponibles en cas de panne.</a:t>
            </a:r>
          </a:p>
          <a:p>
            <a:pPr algn="just">
              <a:lnSpc>
                <a:spcPct val="150000"/>
              </a:lnSpc>
            </a:pPr>
            <a:r>
              <a:rPr lang="fr-FR" sz="2400" b="1" dirty="0">
                <a:latin typeface="Times New Roman" panose="02020603050405020304" pitchFamily="18" charset="0"/>
                <a:cs typeface="Times New Roman" panose="02020603050405020304" pitchFamily="18" charset="0"/>
              </a:rPr>
              <a:t>Traitement parallèle </a:t>
            </a:r>
            <a:r>
              <a:rPr lang="fr-FR" sz="2400" dirty="0">
                <a:latin typeface="Times New Roman" panose="02020603050405020304" pitchFamily="18" charset="0"/>
                <a:cs typeface="Times New Roman" panose="02020603050405020304" pitchFamily="18" charset="0"/>
              </a:rPr>
              <a:t>: sur MapReduce, le traitement des données peuvent être effectué sur plusieurs machine. Cela réduit le temps nécessaire pour terminer la tâche.</a:t>
            </a:r>
          </a:p>
        </p:txBody>
      </p:sp>
      <p:sp>
        <p:nvSpPr>
          <p:cNvPr id="3" name="Rectangle 2">
            <a:extLst>
              <a:ext uri="{FF2B5EF4-FFF2-40B4-BE49-F238E27FC236}">
                <a16:creationId xmlns:a16="http://schemas.microsoft.com/office/drawing/2014/main" xmlns="" id="{2AB90DB0-B98C-4A98-AEFD-4376931E397D}"/>
              </a:ext>
            </a:extLst>
          </p:cNvPr>
          <p:cNvSpPr/>
          <p:nvPr/>
        </p:nvSpPr>
        <p:spPr>
          <a:xfrm>
            <a:off x="3241964" y="0"/>
            <a:ext cx="6959982" cy="646331"/>
          </a:xfrm>
          <a:prstGeom prst="rect">
            <a:avLst/>
          </a:prstGeom>
        </p:spPr>
        <p:txBody>
          <a:bodyPr wrap="none">
            <a:spAutoFit/>
          </a:bodyPr>
          <a:lstStyle/>
          <a:p>
            <a:pPr lvl="0"/>
            <a:r>
              <a:rPr lang="fr-FR" sz="3600" b="1" dirty="0">
                <a:solidFill>
                  <a:srgbClr val="C00000"/>
                </a:solidFill>
                <a:latin typeface="Times New Roman" panose="02020603050405020304" pitchFamily="18" charset="0"/>
              </a:rPr>
              <a:t>Avantages de Hadoop MapReduce</a:t>
            </a:r>
          </a:p>
        </p:txBody>
      </p:sp>
    </p:spTree>
    <p:extLst>
      <p:ext uri="{BB962C8B-B14F-4D97-AF65-F5344CB8AC3E}">
        <p14:creationId xmlns:p14="http://schemas.microsoft.com/office/powerpoint/2010/main" xmlns="" val="2850650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3633" y="1222759"/>
            <a:ext cx="11571116" cy="4218912"/>
          </a:xfrm>
          <a:prstGeom prst="rect">
            <a:avLst/>
          </a:prstGeom>
        </p:spPr>
        <p:txBody>
          <a:bodyPr wrap="square">
            <a:spAutoFit/>
          </a:bodyPr>
          <a:lstStyle/>
          <a:p>
            <a:pPr algn="just">
              <a:lnSpc>
                <a:spcPct val="150000"/>
              </a:lnSpc>
              <a:spcAft>
                <a:spcPts val="800"/>
              </a:spcAft>
            </a:pPr>
            <a:r>
              <a:rPr lang="fr-FR" sz="2400" b="1" dirty="0">
                <a:latin typeface="Times New Roman" panose="02020603050405020304" pitchFamily="18" charset="0"/>
                <a:ea typeface="Calibri" panose="020F0502020204030204" pitchFamily="34" charset="0"/>
                <a:cs typeface="Times New Roman" panose="02020603050405020304" pitchFamily="18" charset="0"/>
              </a:rPr>
              <a:t>Robuste et évolutif</a:t>
            </a:r>
            <a:r>
              <a:rPr lang="fr-FR" sz="2400" dirty="0">
                <a:latin typeface="Times New Roman" panose="02020603050405020304" pitchFamily="18" charset="0"/>
                <a:ea typeface="Calibri" panose="020F0502020204030204" pitchFamily="34" charset="0"/>
                <a:cs typeface="Times New Roman" panose="02020603050405020304" pitchFamily="18" charset="0"/>
              </a:rPr>
              <a:t> - Nous pouvons ajouter de nouveaux nœuds au besoin et les modifier.</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400" b="1" dirty="0">
                <a:latin typeface="Times New Roman" panose="02020603050405020304" pitchFamily="18" charset="0"/>
                <a:ea typeface="Calibri" panose="020F0502020204030204" pitchFamily="34" charset="0"/>
                <a:cs typeface="Times New Roman" panose="02020603050405020304" pitchFamily="18" charset="0"/>
              </a:rPr>
              <a:t>Abordable et rentable</a:t>
            </a:r>
            <a:r>
              <a:rPr lang="fr-FR" sz="2400" dirty="0">
                <a:latin typeface="Times New Roman" panose="02020603050405020304" pitchFamily="18" charset="0"/>
                <a:ea typeface="Calibri" panose="020F0502020204030204" pitchFamily="34" charset="0"/>
                <a:cs typeface="Times New Roman" panose="02020603050405020304" pitchFamily="18" charset="0"/>
              </a:rPr>
              <a:t> - Nous n'avons besoin d'aucun matériel spécial pour exécuter Hadoop. Nous pouvons simplement utiliser un serveur de produits de base.</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400" b="1" dirty="0">
                <a:latin typeface="Times New Roman" panose="02020603050405020304" pitchFamily="18" charset="0"/>
                <a:ea typeface="Calibri" panose="020F0502020204030204" pitchFamily="34" charset="0"/>
                <a:cs typeface="Times New Roman" panose="02020603050405020304" pitchFamily="18" charset="0"/>
              </a:rPr>
              <a:t>Adaptatif et flexible</a:t>
            </a:r>
            <a:r>
              <a:rPr lang="fr-FR" sz="2400" dirty="0">
                <a:latin typeface="Times New Roman" panose="02020603050405020304" pitchFamily="18" charset="0"/>
                <a:ea typeface="Calibri" panose="020F0502020204030204" pitchFamily="34" charset="0"/>
                <a:cs typeface="Times New Roman" panose="02020603050405020304" pitchFamily="18" charset="0"/>
              </a:rPr>
              <a:t> - Hadoop est conçu en gardant à l'esprit qu'il gérera des données structurées et non structurées.</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400" b="1" dirty="0">
                <a:latin typeface="Times New Roman" panose="02020603050405020304" pitchFamily="18" charset="0"/>
                <a:ea typeface="Calibri" panose="020F0502020204030204" pitchFamily="34" charset="0"/>
                <a:cs typeface="Times New Roman" panose="02020603050405020304" pitchFamily="18" charset="0"/>
              </a:rPr>
              <a:t>Hautement disponible et tolérant aux pannes</a:t>
            </a:r>
            <a:r>
              <a:rPr lang="fr-FR" sz="2400" dirty="0">
                <a:latin typeface="Times New Roman" panose="02020603050405020304" pitchFamily="18" charset="0"/>
                <a:ea typeface="Calibri" panose="020F0502020204030204" pitchFamily="34" charset="0"/>
                <a:cs typeface="Times New Roman" panose="02020603050405020304" pitchFamily="18" charset="0"/>
              </a:rPr>
              <a:t> – Lorsqu'un nœud tombe en panne, le framework Hadoop bascule automatiquement vers un autre nœud.</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xmlns="" id="{D8F5CA79-A6FA-4F0C-8C9E-04310EF19192}"/>
              </a:ext>
            </a:extLst>
          </p:cNvPr>
          <p:cNvSpPr/>
          <p:nvPr/>
        </p:nvSpPr>
        <p:spPr>
          <a:xfrm>
            <a:off x="2901496" y="272374"/>
            <a:ext cx="6959982" cy="646331"/>
          </a:xfrm>
          <a:prstGeom prst="rect">
            <a:avLst/>
          </a:prstGeom>
        </p:spPr>
        <p:txBody>
          <a:bodyPr wrap="none">
            <a:spAutoFit/>
          </a:bodyPr>
          <a:lstStyle/>
          <a:p>
            <a:pPr lvl="0"/>
            <a:r>
              <a:rPr lang="fr-FR" sz="3600" b="1" dirty="0">
                <a:solidFill>
                  <a:srgbClr val="C00000"/>
                </a:solidFill>
                <a:latin typeface="Times New Roman" panose="02020603050405020304" pitchFamily="18" charset="0"/>
              </a:rPr>
              <a:t>Avantages de Hadoop MapReduce</a:t>
            </a:r>
          </a:p>
        </p:txBody>
      </p:sp>
    </p:spTree>
    <p:extLst>
      <p:ext uri="{BB962C8B-B14F-4D97-AF65-F5344CB8AC3E}">
        <p14:creationId xmlns:p14="http://schemas.microsoft.com/office/powerpoint/2010/main" xmlns="" val="3981945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CDEF2C4A-C9A2-4A87-A23D-342899BD4E40}"/>
              </a:ext>
            </a:extLst>
          </p:cNvPr>
          <p:cNvSpPr/>
          <p:nvPr/>
        </p:nvSpPr>
        <p:spPr>
          <a:xfrm>
            <a:off x="198581" y="647838"/>
            <a:ext cx="11406909" cy="6210162"/>
          </a:xfrm>
          <a:prstGeom prst="rect">
            <a:avLst/>
          </a:prstGeom>
        </p:spPr>
        <p:txBody>
          <a:bodyPr wrap="square">
            <a:spAutoFit/>
          </a:bodyPr>
          <a:lstStyle/>
          <a:p>
            <a:pPr marL="342900" indent="-342900" algn="just">
              <a:lnSpc>
                <a:spcPct val="130000"/>
              </a:lnSpc>
              <a:buClr>
                <a:srgbClr val="C00000"/>
              </a:buClr>
              <a:buFont typeface="Wingdings" panose="05000000000000000000" pitchFamily="2" charset="2"/>
              <a:buChar char="q"/>
            </a:pPr>
            <a:r>
              <a:rPr lang="fr-FR" sz="2200" b="1" dirty="0">
                <a:latin typeface="Times New Roman" panose="02020603050405020304" pitchFamily="18" charset="0"/>
                <a:cs typeface="Times New Roman" panose="02020603050405020304" pitchFamily="18" charset="0"/>
              </a:rPr>
              <a:t>Commerce électronique</a:t>
            </a:r>
          </a:p>
          <a:p>
            <a:pPr algn="just">
              <a:lnSpc>
                <a:spcPct val="130000"/>
              </a:lnSpc>
            </a:pPr>
            <a:r>
              <a:rPr lang="fr-FR" sz="2200" dirty="0">
                <a:latin typeface="Times New Roman" panose="02020603050405020304" pitchFamily="18" charset="0"/>
                <a:cs typeface="Times New Roman" panose="02020603050405020304" pitchFamily="18" charset="0"/>
              </a:rPr>
              <a:t>Les entreprises de commerce électronique comme </a:t>
            </a:r>
            <a:r>
              <a:rPr lang="fr-FR" sz="2200" b="1" dirty="0">
                <a:latin typeface="Times New Roman" panose="02020603050405020304" pitchFamily="18" charset="0"/>
                <a:cs typeface="Times New Roman" panose="02020603050405020304" pitchFamily="18" charset="0"/>
              </a:rPr>
              <a:t>Walmart</a:t>
            </a:r>
            <a:r>
              <a:rPr lang="fr-FR" sz="2200" dirty="0">
                <a:latin typeface="Times New Roman" panose="02020603050405020304" pitchFamily="18" charset="0"/>
                <a:cs typeface="Times New Roman" panose="02020603050405020304" pitchFamily="18" charset="0"/>
              </a:rPr>
              <a:t>, </a:t>
            </a:r>
            <a:r>
              <a:rPr lang="fr-FR" sz="2200" b="1" dirty="0">
                <a:latin typeface="Times New Roman" panose="02020603050405020304" pitchFamily="18" charset="0"/>
                <a:cs typeface="Times New Roman" panose="02020603050405020304" pitchFamily="18" charset="0"/>
              </a:rPr>
              <a:t>eBay</a:t>
            </a:r>
            <a:r>
              <a:rPr lang="fr-FR" sz="2200" dirty="0">
                <a:latin typeface="Times New Roman" panose="02020603050405020304" pitchFamily="18" charset="0"/>
                <a:cs typeface="Times New Roman" panose="02020603050405020304" pitchFamily="18" charset="0"/>
              </a:rPr>
              <a:t> et </a:t>
            </a:r>
            <a:r>
              <a:rPr lang="fr-FR" sz="2200" b="1" dirty="0">
                <a:latin typeface="Times New Roman" panose="02020603050405020304" pitchFamily="18" charset="0"/>
                <a:cs typeface="Times New Roman" panose="02020603050405020304" pitchFamily="18" charset="0"/>
              </a:rPr>
              <a:t>Amazon</a:t>
            </a:r>
            <a:r>
              <a:rPr lang="fr-FR" sz="2200" dirty="0">
                <a:latin typeface="Times New Roman" panose="02020603050405020304" pitchFamily="18" charset="0"/>
                <a:cs typeface="Times New Roman" panose="02020603050405020304" pitchFamily="18" charset="0"/>
              </a:rPr>
              <a:t> utilisent MapReduce pour analyser le comportement des consommateurs. MapReduce fournit des informations solides qui sont utilisées comme base pour développer des recommandations de produits. Les autres informations incluent les enregistrements de site, le catalogue de commerce électronique, l'historique des achats et les journaux de contact.</a:t>
            </a:r>
          </a:p>
          <a:p>
            <a:pPr marL="342900" indent="-342900" algn="just">
              <a:lnSpc>
                <a:spcPct val="130000"/>
              </a:lnSpc>
              <a:buClr>
                <a:srgbClr val="C00000"/>
              </a:buClr>
              <a:buFont typeface="Wingdings" panose="05000000000000000000" pitchFamily="2" charset="2"/>
              <a:buChar char="q"/>
            </a:pPr>
            <a:r>
              <a:rPr lang="fr-FR" sz="2200" b="1" dirty="0">
                <a:latin typeface="Times New Roman" panose="02020603050405020304" pitchFamily="18" charset="0"/>
                <a:cs typeface="Times New Roman" panose="02020603050405020304" pitchFamily="18" charset="0"/>
              </a:rPr>
              <a:t>Réseaux sociaux</a:t>
            </a:r>
          </a:p>
          <a:p>
            <a:pPr algn="just">
              <a:lnSpc>
                <a:spcPct val="130000"/>
              </a:lnSpc>
            </a:pPr>
            <a:r>
              <a:rPr lang="fr-FR" sz="2200" dirty="0">
                <a:latin typeface="Times New Roman" panose="02020603050405020304" pitchFamily="18" charset="0"/>
                <a:cs typeface="Times New Roman" panose="02020603050405020304" pitchFamily="18" charset="0"/>
              </a:rPr>
              <a:t>L'outil d'édition MapReduce peut vérifier certaines informations sur les plateformes de médias sociaux telles que </a:t>
            </a:r>
            <a:r>
              <a:rPr lang="fr-FR" sz="2200" b="1" dirty="0">
                <a:latin typeface="Times New Roman" panose="02020603050405020304" pitchFamily="18" charset="0"/>
                <a:cs typeface="Times New Roman" panose="02020603050405020304" pitchFamily="18" charset="0"/>
              </a:rPr>
              <a:t>Facebook</a:t>
            </a:r>
            <a:r>
              <a:rPr lang="fr-FR" sz="2200" dirty="0">
                <a:latin typeface="Times New Roman" panose="02020603050405020304" pitchFamily="18" charset="0"/>
                <a:cs typeface="Times New Roman" panose="02020603050405020304" pitchFamily="18" charset="0"/>
              </a:rPr>
              <a:t>, </a:t>
            </a:r>
            <a:r>
              <a:rPr lang="fr-FR" sz="2200" b="1" dirty="0">
                <a:latin typeface="Times New Roman" panose="02020603050405020304" pitchFamily="18" charset="0"/>
                <a:cs typeface="Times New Roman" panose="02020603050405020304" pitchFamily="18" charset="0"/>
              </a:rPr>
              <a:t>Twitter</a:t>
            </a:r>
            <a:r>
              <a:rPr lang="fr-FR" sz="2200" dirty="0">
                <a:latin typeface="Times New Roman" panose="02020603050405020304" pitchFamily="18" charset="0"/>
                <a:cs typeface="Times New Roman" panose="02020603050405020304" pitchFamily="18" charset="0"/>
              </a:rPr>
              <a:t> et </a:t>
            </a:r>
            <a:r>
              <a:rPr lang="fr-FR" sz="2200" b="1" dirty="0">
                <a:latin typeface="Times New Roman" panose="02020603050405020304" pitchFamily="18" charset="0"/>
                <a:cs typeface="Times New Roman" panose="02020603050405020304" pitchFamily="18" charset="0"/>
              </a:rPr>
              <a:t>LinkedIn</a:t>
            </a:r>
            <a:r>
              <a:rPr lang="fr-FR" sz="2200" dirty="0">
                <a:latin typeface="Times New Roman" panose="02020603050405020304" pitchFamily="18" charset="0"/>
                <a:cs typeface="Times New Roman" panose="02020603050405020304" pitchFamily="18" charset="0"/>
              </a:rPr>
              <a:t>. Il peut vérifier les informations nécessaires, telles que qui a aimé votre statut et consulté votre profil.</a:t>
            </a:r>
            <a:r>
              <a:rPr lang="fr-FR" sz="2200" dirty="0"/>
              <a:t> </a:t>
            </a:r>
          </a:p>
          <a:p>
            <a:pPr marL="342900" indent="-342900" algn="just">
              <a:lnSpc>
                <a:spcPct val="130000"/>
              </a:lnSpc>
              <a:buClr>
                <a:srgbClr val="C00000"/>
              </a:buClr>
              <a:buFont typeface="Wingdings" panose="05000000000000000000" pitchFamily="2" charset="2"/>
              <a:buChar char="q"/>
            </a:pPr>
            <a:r>
              <a:rPr lang="fr-FR" sz="2200" b="1" dirty="0">
                <a:latin typeface="Times New Roman" panose="02020603050405020304" pitchFamily="18" charset="0"/>
                <a:cs typeface="Times New Roman" panose="02020603050405020304" pitchFamily="18" charset="0"/>
              </a:rPr>
              <a:t>Divertissement </a:t>
            </a:r>
          </a:p>
          <a:p>
            <a:pPr algn="just">
              <a:lnSpc>
                <a:spcPct val="130000"/>
              </a:lnSpc>
            </a:pPr>
            <a:r>
              <a:rPr lang="fr-FR" sz="2200" b="1" dirty="0">
                <a:latin typeface="Times New Roman" panose="02020603050405020304" pitchFamily="18" charset="0"/>
                <a:cs typeface="Times New Roman" panose="02020603050405020304" pitchFamily="18" charset="0"/>
              </a:rPr>
              <a:t>Netflix</a:t>
            </a:r>
            <a:r>
              <a:rPr lang="fr-FR" sz="2200" dirty="0">
                <a:latin typeface="Times New Roman" panose="02020603050405020304" pitchFamily="18" charset="0"/>
                <a:cs typeface="Times New Roman" panose="02020603050405020304" pitchFamily="18" charset="0"/>
              </a:rPr>
              <a:t> utilise MapReduce pour analyser les clics et les journaux des clients en ligne. Ces informations aident l'entreprise à promouvoir des films en fonction des intérêts et du comportement des clients.</a:t>
            </a:r>
          </a:p>
        </p:txBody>
      </p:sp>
      <p:sp>
        <p:nvSpPr>
          <p:cNvPr id="3" name="Rectangle 2">
            <a:extLst>
              <a:ext uri="{FF2B5EF4-FFF2-40B4-BE49-F238E27FC236}">
                <a16:creationId xmlns:a16="http://schemas.microsoft.com/office/drawing/2014/main" xmlns="" id="{E133B67C-1A6E-42FA-AA20-D164496CDDF1}"/>
              </a:ext>
            </a:extLst>
          </p:cNvPr>
          <p:cNvSpPr/>
          <p:nvPr/>
        </p:nvSpPr>
        <p:spPr>
          <a:xfrm>
            <a:off x="2589376" y="11611"/>
            <a:ext cx="7430239" cy="646331"/>
          </a:xfrm>
          <a:prstGeom prst="rect">
            <a:avLst/>
          </a:prstGeom>
        </p:spPr>
        <p:txBody>
          <a:bodyPr wrap="none">
            <a:spAutoFit/>
          </a:bodyPr>
          <a:lstStyle/>
          <a:p>
            <a:r>
              <a:rPr lang="fr-FR" sz="3600" b="1" dirty="0">
                <a:solidFill>
                  <a:srgbClr val="C00000"/>
                </a:solidFill>
                <a:latin typeface="Times New Roman" panose="02020603050405020304" pitchFamily="18" charset="0"/>
              </a:rPr>
              <a:t>Applications de Hadoop MapReduce</a:t>
            </a:r>
          </a:p>
        </p:txBody>
      </p:sp>
    </p:spTree>
    <p:extLst>
      <p:ext uri="{BB962C8B-B14F-4D97-AF65-F5344CB8AC3E}">
        <p14:creationId xmlns:p14="http://schemas.microsoft.com/office/powerpoint/2010/main" xmlns="" val="1558294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99" y="214752"/>
            <a:ext cx="11815892" cy="646331"/>
          </a:xfrm>
          <a:prstGeom prst="rect">
            <a:avLst/>
          </a:prstGeom>
        </p:spPr>
        <p:txBody>
          <a:bodyPr wrap="square">
            <a:spAutoFit/>
          </a:bodyPr>
          <a:lstStyle/>
          <a:p>
            <a:pPr algn="ctr"/>
            <a:r>
              <a:rPr lang="fr-FR" sz="3600" b="1" dirty="0">
                <a:solidFill>
                  <a:srgbClr val="C00000"/>
                </a:solidFill>
                <a:latin typeface="Times New Roman" panose="02020603050405020304" pitchFamily="18" charset="0"/>
                <a:ea typeface="Calibri" panose="020F0502020204030204" pitchFamily="34" charset="0"/>
              </a:rPr>
              <a:t>Les Principaux Composants d’ Apache Hadoop</a:t>
            </a:r>
            <a:endParaRPr lang="fr-FR" sz="3600" dirty="0"/>
          </a:p>
        </p:txBody>
      </p:sp>
      <p:sp>
        <p:nvSpPr>
          <p:cNvPr id="6" name="ZoneTexte 5"/>
          <p:cNvSpPr txBox="1"/>
          <p:nvPr/>
        </p:nvSpPr>
        <p:spPr>
          <a:xfrm>
            <a:off x="898915" y="1260033"/>
            <a:ext cx="5075853" cy="3731278"/>
          </a:xfrm>
          <a:prstGeom prst="rect">
            <a:avLst/>
          </a:prstGeom>
          <a:noFill/>
        </p:spPr>
        <p:txBody>
          <a:bodyPr wrap="square" rtlCol="0">
            <a:spAutoFit/>
          </a:bodyPr>
          <a:lstStyle/>
          <a:p>
            <a:pPr marL="457200" indent="-457200">
              <a:lnSpc>
                <a:spcPct val="300000"/>
              </a:lnSpc>
              <a:buClr>
                <a:srgbClr val="C00000"/>
              </a:buClr>
              <a:buFont typeface="Wingdings" panose="05000000000000000000" pitchFamily="2" charset="2"/>
              <a:buChar char="q"/>
            </a:pPr>
            <a:r>
              <a:rPr lang="fr-FR" sz="2800" b="1" dirty="0">
                <a:latin typeface="Times New Roman" panose="02020603050405020304" pitchFamily="18" charset="0"/>
                <a:cs typeface="Times New Roman" panose="02020603050405020304" pitchFamily="18" charset="0"/>
              </a:rPr>
              <a:t>Hadoop HDFS</a:t>
            </a:r>
          </a:p>
          <a:p>
            <a:pPr marL="457200" indent="-457200">
              <a:lnSpc>
                <a:spcPct val="300000"/>
              </a:lnSpc>
              <a:buClr>
                <a:srgbClr val="C00000"/>
              </a:buClr>
              <a:buFont typeface="Wingdings" panose="05000000000000000000" pitchFamily="2" charset="2"/>
              <a:buChar char="q"/>
            </a:pPr>
            <a:r>
              <a:rPr lang="fr-FR" sz="2800" b="1" dirty="0">
                <a:latin typeface="Times New Roman" panose="02020603050405020304" pitchFamily="18" charset="0"/>
                <a:cs typeface="Times New Roman" panose="02020603050405020304" pitchFamily="18" charset="0"/>
              </a:rPr>
              <a:t>MapReduce</a:t>
            </a:r>
          </a:p>
          <a:p>
            <a:pPr marL="457200" indent="-457200">
              <a:lnSpc>
                <a:spcPct val="300000"/>
              </a:lnSpc>
              <a:buClr>
                <a:srgbClr val="C00000"/>
              </a:buClr>
              <a:buFont typeface="Wingdings" panose="05000000000000000000" pitchFamily="2" charset="2"/>
              <a:buChar char="q"/>
            </a:pPr>
            <a:r>
              <a:rPr lang="fr-FR" sz="2800" b="1" dirty="0">
                <a:latin typeface="Times New Roman" panose="02020603050405020304" pitchFamily="18" charset="0"/>
                <a:cs typeface="Times New Roman" panose="02020603050405020304" pitchFamily="18" charset="0"/>
              </a:rPr>
              <a:t>Hadoop YARN</a:t>
            </a:r>
          </a:p>
        </p:txBody>
      </p:sp>
    </p:spTree>
    <p:extLst>
      <p:ext uri="{BB962C8B-B14F-4D97-AF65-F5344CB8AC3E}">
        <p14:creationId xmlns:p14="http://schemas.microsoft.com/office/powerpoint/2010/main" xmlns="" val="1801471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B8F345D2-DDB2-4BE7-B781-00C339968DA8}"/>
              </a:ext>
            </a:extLst>
          </p:cNvPr>
          <p:cNvSpPr txBox="1"/>
          <p:nvPr/>
        </p:nvSpPr>
        <p:spPr>
          <a:xfrm>
            <a:off x="356617" y="16042"/>
            <a:ext cx="11305308"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Systèmes de Fichiers Distribués Hadoop (HDFS) </a:t>
            </a:r>
          </a:p>
        </p:txBody>
      </p:sp>
      <p:sp>
        <p:nvSpPr>
          <p:cNvPr id="12" name="ZoneTexte 11">
            <a:extLst>
              <a:ext uri="{FF2B5EF4-FFF2-40B4-BE49-F238E27FC236}">
                <a16:creationId xmlns:a16="http://schemas.microsoft.com/office/drawing/2014/main" xmlns="" id="{A1D49971-5AC0-4C5A-9F8B-4730A5989238}"/>
              </a:ext>
            </a:extLst>
          </p:cNvPr>
          <p:cNvSpPr txBox="1"/>
          <p:nvPr/>
        </p:nvSpPr>
        <p:spPr>
          <a:xfrm>
            <a:off x="207422" y="901024"/>
            <a:ext cx="11758861" cy="5983818"/>
          </a:xfrm>
          <a:prstGeom prst="rect">
            <a:avLst/>
          </a:prstGeom>
          <a:noFill/>
        </p:spPr>
        <p:txBody>
          <a:bodyPr wrap="square">
            <a:spAutoFit/>
          </a:bodyPr>
          <a:lstStyle/>
          <a:p>
            <a:pPr algn="just">
              <a:lnSpc>
                <a:spcPct val="140000"/>
              </a:lnSpc>
              <a:spcAft>
                <a:spcPts val="800"/>
              </a:spcAft>
            </a:pPr>
            <a:r>
              <a:rPr lang="fr-FR" sz="2300" b="1" dirty="0">
                <a:latin typeface="Times New Roman" panose="02020603050405020304" pitchFamily="18" charset="0"/>
                <a:cs typeface="Times New Roman" panose="02020603050405020304" pitchFamily="18" charset="0"/>
              </a:rPr>
              <a:t>HDFS est un système de fichiers conçu pour stocker de fichiers très volumineux </a:t>
            </a:r>
            <a:r>
              <a:rPr lang="fr-FR" sz="2300" dirty="0">
                <a:latin typeface="Times New Roman" panose="02020603050405020304" pitchFamily="18" charset="0"/>
                <a:cs typeface="Times New Roman" panose="02020603050405020304" pitchFamily="18" charset="0"/>
              </a:rPr>
              <a:t>avec des modèles d'accès aux données en continu, s'exécutant sur des clusters de matériel de base. HDFS est un système de fichiers logiciel implémenté en Java et il se trouve au-dessus du système de fichiers natif. </a:t>
            </a:r>
            <a:r>
              <a:rPr lang="fr-FR" sz="2300" b="1" dirty="0">
                <a:latin typeface="Times New Roman" panose="02020603050405020304" pitchFamily="18" charset="0"/>
                <a:cs typeface="Times New Roman" panose="02020603050405020304" pitchFamily="18" charset="0"/>
              </a:rPr>
              <a:t>Le concept principal derrière HDFS est qu'il divise un fichier en blocs (généralement 128 Mo) au lieu de traiter un fichier dans son ensemble, et les stocke dans un cluster de manière très efficace. </a:t>
            </a:r>
            <a:r>
              <a:rPr lang="fr-FR" sz="2300" dirty="0">
                <a:latin typeface="Times New Roman" panose="02020603050405020304" pitchFamily="18" charset="0"/>
                <a:cs typeface="Times New Roman" panose="02020603050405020304" pitchFamily="18" charset="0"/>
              </a:rPr>
              <a:t>Cela permet de nombreuses fonctionnalités telles que la </a:t>
            </a:r>
            <a:r>
              <a:rPr lang="fr-FR" sz="2300" b="1" dirty="0">
                <a:solidFill>
                  <a:schemeClr val="accent1">
                    <a:lumMod val="75000"/>
                  </a:schemeClr>
                </a:solidFill>
                <a:latin typeface="Times New Roman" panose="02020603050405020304" pitchFamily="18" charset="0"/>
                <a:cs typeface="Times New Roman" panose="02020603050405020304" pitchFamily="18" charset="0"/>
              </a:rPr>
              <a:t>distribution</a:t>
            </a:r>
            <a:r>
              <a:rPr lang="fr-FR" sz="2300" dirty="0">
                <a:latin typeface="Times New Roman" panose="02020603050405020304" pitchFamily="18" charset="0"/>
                <a:cs typeface="Times New Roman" panose="02020603050405020304" pitchFamily="18" charset="0"/>
              </a:rPr>
              <a:t>, </a:t>
            </a:r>
            <a:r>
              <a:rPr lang="fr-FR" sz="2300" b="1" dirty="0">
                <a:solidFill>
                  <a:srgbClr val="00B050"/>
                </a:solidFill>
                <a:latin typeface="Times New Roman" panose="02020603050405020304" pitchFamily="18" charset="0"/>
                <a:cs typeface="Times New Roman" panose="02020603050405020304" pitchFamily="18" charset="0"/>
              </a:rPr>
              <a:t>la réplication</a:t>
            </a:r>
            <a:r>
              <a:rPr lang="fr-FR" sz="2300" dirty="0">
                <a:latin typeface="Times New Roman" panose="02020603050405020304" pitchFamily="18" charset="0"/>
                <a:cs typeface="Times New Roman" panose="02020603050405020304" pitchFamily="18" charset="0"/>
              </a:rPr>
              <a:t>, </a:t>
            </a:r>
            <a:r>
              <a:rPr lang="fr-FR" sz="2300" b="1" dirty="0">
                <a:solidFill>
                  <a:schemeClr val="accent2">
                    <a:lumMod val="75000"/>
                  </a:schemeClr>
                </a:solidFill>
                <a:latin typeface="Times New Roman" panose="02020603050405020304" pitchFamily="18" charset="0"/>
                <a:cs typeface="Times New Roman" panose="02020603050405020304" pitchFamily="18" charset="0"/>
              </a:rPr>
              <a:t>la reprise après incident </a:t>
            </a:r>
            <a:r>
              <a:rPr lang="fr-FR" sz="2300" dirty="0">
                <a:latin typeface="Times New Roman" panose="02020603050405020304" pitchFamily="18" charset="0"/>
                <a:cs typeface="Times New Roman" panose="02020603050405020304" pitchFamily="18" charset="0"/>
              </a:rPr>
              <a:t>et, </a:t>
            </a:r>
            <a:r>
              <a:rPr lang="fr-FR" sz="2300" b="1" dirty="0">
                <a:latin typeface="Times New Roman" panose="02020603050405020304" pitchFamily="18" charset="0"/>
                <a:cs typeface="Times New Roman" panose="02020603050405020304" pitchFamily="18" charset="0"/>
              </a:rPr>
              <a:t>le traitement distribué des blocs à l'aide de plusieurs machines</a:t>
            </a:r>
            <a:r>
              <a:rPr lang="fr-FR" sz="2300" dirty="0">
                <a:latin typeface="Times New Roman" panose="02020603050405020304" pitchFamily="18" charset="0"/>
                <a:cs typeface="Times New Roman" panose="02020603050405020304" pitchFamily="18" charset="0"/>
              </a:rPr>
              <a:t>. La taille des blocs peut être de 64 Mo, 128 Mo, 256 Mo ou 512 Mo, selon ce qui convient. </a:t>
            </a:r>
            <a:r>
              <a:rPr lang="fr-FR" sz="2300" dirty="0">
                <a:solidFill>
                  <a:schemeClr val="accent1">
                    <a:lumMod val="75000"/>
                  </a:schemeClr>
                </a:solidFill>
                <a:latin typeface="Times New Roman" panose="02020603050405020304" pitchFamily="18" charset="0"/>
                <a:cs typeface="Times New Roman" panose="02020603050405020304" pitchFamily="18" charset="0"/>
              </a:rPr>
              <a:t>Pour un fichier de 1 Go avec des blocs de 128 Mo, il y aura 1024 Mo/128 Mo soit huit blocs. Si nous considérons un facteur de réplication de trois, cela fait 24 blocs</a:t>
            </a:r>
            <a:r>
              <a:rPr lang="fr-FR" sz="2300" dirty="0">
                <a:solidFill>
                  <a:prstClr val="black"/>
                </a:solidFill>
                <a:latin typeface="Times New Roman" panose="02020603050405020304" pitchFamily="18" charset="0"/>
                <a:cs typeface="Times New Roman" panose="02020603050405020304" pitchFamily="18" charset="0"/>
              </a:rPr>
              <a:t>. </a:t>
            </a:r>
            <a:r>
              <a:rPr lang="fr-FR" sz="2300" b="1" dirty="0">
                <a:solidFill>
                  <a:prstClr val="black"/>
                </a:solidFill>
                <a:latin typeface="Times New Roman" panose="02020603050405020304" pitchFamily="18" charset="0"/>
                <a:cs typeface="Times New Roman" panose="02020603050405020304" pitchFamily="18" charset="0"/>
              </a:rPr>
              <a:t>HDFS fournit un système de stockage distribué avec tolérance aux pannes et reprise après incident</a:t>
            </a:r>
            <a:r>
              <a:rPr lang="fr-FR" sz="2300" dirty="0">
                <a:solidFill>
                  <a:prstClr val="black"/>
                </a:solidFill>
                <a:latin typeface="Times New Roman" panose="02020603050405020304" pitchFamily="18" charset="0"/>
                <a:cs typeface="Times New Roman" panose="02020603050405020304" pitchFamily="18" charset="0"/>
              </a:rPr>
              <a:t>.</a:t>
            </a:r>
            <a:endParaRPr lang="fr-FR"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43119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856" y="1017762"/>
            <a:ext cx="11448287" cy="2411238"/>
          </a:xfrm>
          <a:prstGeom prst="rect">
            <a:avLst/>
          </a:prstGeom>
        </p:spPr>
        <p:txBody>
          <a:bodyPr wrap="square">
            <a:spAutoFit/>
          </a:bodyPr>
          <a:lstStyle/>
          <a:p>
            <a:pPr lvl="0" algn="just">
              <a:lnSpc>
                <a:spcPct val="140000"/>
              </a:lnSpc>
              <a:spcAft>
                <a:spcPts val="800"/>
              </a:spcAft>
            </a:pPr>
            <a:r>
              <a:rPr lang="fr-FR" sz="2400" dirty="0">
                <a:solidFill>
                  <a:prstClr val="black"/>
                </a:solidFill>
                <a:latin typeface="Times New Roman" panose="02020603050405020304" pitchFamily="18" charset="0"/>
                <a:cs typeface="Times New Roman" panose="02020603050405020304" pitchFamily="18" charset="0"/>
              </a:rPr>
              <a:t>Le HDFS a trois composants principaux qui sont: </a:t>
            </a:r>
          </a:p>
          <a:p>
            <a:pPr marL="342900" lvl="0" indent="-342900" algn="just">
              <a:lnSpc>
                <a:spcPct val="140000"/>
              </a:lnSpc>
              <a:spcAft>
                <a:spcPts val="800"/>
              </a:spcAft>
              <a:buFont typeface="Wingdings" panose="05000000000000000000" pitchFamily="2" charset="2"/>
              <a:buChar char="q"/>
            </a:pPr>
            <a:r>
              <a:rPr lang="fr-FR" sz="2400" dirty="0">
                <a:solidFill>
                  <a:prstClr val="black"/>
                </a:solidFill>
                <a:latin typeface="Times New Roman" panose="02020603050405020304" pitchFamily="18" charset="0"/>
                <a:cs typeface="Times New Roman" panose="02020603050405020304" pitchFamily="18" charset="0"/>
              </a:rPr>
              <a:t> le </a:t>
            </a:r>
            <a:r>
              <a:rPr lang="fr-FR" sz="2400" b="1" dirty="0">
                <a:solidFill>
                  <a:prstClr val="black"/>
                </a:solidFill>
                <a:latin typeface="Times New Roman" panose="02020603050405020304" pitchFamily="18" charset="0"/>
                <a:cs typeface="Times New Roman" panose="02020603050405020304" pitchFamily="18" charset="0"/>
              </a:rPr>
              <a:t>Name Node</a:t>
            </a:r>
          </a:p>
          <a:p>
            <a:pPr marL="342900" lvl="0" indent="-342900" algn="just">
              <a:lnSpc>
                <a:spcPct val="140000"/>
              </a:lnSpc>
              <a:spcAft>
                <a:spcPts val="800"/>
              </a:spcAft>
              <a:buFont typeface="Wingdings" panose="05000000000000000000" pitchFamily="2" charset="2"/>
              <a:buChar char="q"/>
            </a:pPr>
            <a:r>
              <a:rPr lang="fr-FR" sz="2400" dirty="0">
                <a:solidFill>
                  <a:prstClr val="black"/>
                </a:solidFill>
                <a:latin typeface="Times New Roman" panose="02020603050405020304" pitchFamily="18" charset="0"/>
                <a:cs typeface="Times New Roman" panose="02020603050405020304" pitchFamily="18" charset="0"/>
              </a:rPr>
              <a:t> le </a:t>
            </a:r>
            <a:r>
              <a:rPr lang="fr-FR" sz="2400" b="1" dirty="0">
                <a:solidFill>
                  <a:prstClr val="black"/>
                </a:solidFill>
                <a:latin typeface="Times New Roman" panose="02020603050405020304" pitchFamily="18" charset="0"/>
                <a:cs typeface="Times New Roman" panose="02020603050405020304" pitchFamily="18" charset="0"/>
              </a:rPr>
              <a:t>Secondary Name </a:t>
            </a:r>
            <a:r>
              <a:rPr lang="fr-FR" sz="2400" b="1" dirty="0" err="1">
                <a:solidFill>
                  <a:prstClr val="black"/>
                </a:solidFill>
                <a:latin typeface="Times New Roman" panose="02020603050405020304" pitchFamily="18" charset="0"/>
                <a:cs typeface="Times New Roman" panose="02020603050405020304" pitchFamily="18" charset="0"/>
              </a:rPr>
              <a:t>node</a:t>
            </a:r>
            <a:r>
              <a:rPr lang="fr-FR" sz="2400" dirty="0">
                <a:solidFill>
                  <a:prstClr val="black"/>
                </a:solidFill>
                <a:latin typeface="Times New Roman" panose="02020603050405020304" pitchFamily="18" charset="0"/>
                <a:cs typeface="Times New Roman" panose="02020603050405020304" pitchFamily="18" charset="0"/>
              </a:rPr>
              <a:t> </a:t>
            </a:r>
          </a:p>
          <a:p>
            <a:pPr marL="342900" lvl="0" indent="-342900" algn="just">
              <a:lnSpc>
                <a:spcPct val="140000"/>
              </a:lnSpc>
              <a:spcAft>
                <a:spcPts val="800"/>
              </a:spcAft>
              <a:buFont typeface="Wingdings" panose="05000000000000000000" pitchFamily="2" charset="2"/>
              <a:buChar char="q"/>
            </a:pPr>
            <a:r>
              <a:rPr lang="fr-FR" sz="2400" dirty="0">
                <a:solidFill>
                  <a:prstClr val="black"/>
                </a:solidFill>
                <a:latin typeface="Times New Roman" panose="02020603050405020304" pitchFamily="18" charset="0"/>
                <a:cs typeface="Times New Roman" panose="02020603050405020304" pitchFamily="18" charset="0"/>
              </a:rPr>
              <a:t> les </a:t>
            </a:r>
            <a:r>
              <a:rPr lang="fr-FR" sz="2400" b="1" dirty="0">
                <a:solidFill>
                  <a:prstClr val="black"/>
                </a:solidFill>
                <a:latin typeface="Times New Roman" panose="02020603050405020304" pitchFamily="18" charset="0"/>
                <a:cs typeface="Times New Roman" panose="02020603050405020304" pitchFamily="18" charset="0"/>
              </a:rPr>
              <a:t>Data Node</a:t>
            </a:r>
            <a:r>
              <a:rPr lang="fr-FR" sz="2400" dirty="0">
                <a:solidFill>
                  <a:prstClr val="black"/>
                </a:solidFill>
                <a:latin typeface="Times New Roman" panose="02020603050405020304" pitchFamily="18" charset="0"/>
                <a:cs typeface="Times New Roman" panose="02020603050405020304" pitchFamily="18" charset="0"/>
              </a:rPr>
              <a:t>.</a:t>
            </a:r>
          </a:p>
        </p:txBody>
      </p:sp>
      <p:sp>
        <p:nvSpPr>
          <p:cNvPr id="3" name="ZoneTexte 2">
            <a:extLst>
              <a:ext uri="{FF2B5EF4-FFF2-40B4-BE49-F238E27FC236}">
                <a16:creationId xmlns:a16="http://schemas.microsoft.com/office/drawing/2014/main" xmlns="" id="{B8F345D2-DDB2-4BE7-B781-00C339968DA8}"/>
              </a:ext>
            </a:extLst>
          </p:cNvPr>
          <p:cNvSpPr txBox="1"/>
          <p:nvPr/>
        </p:nvSpPr>
        <p:spPr>
          <a:xfrm>
            <a:off x="448057" y="-14283"/>
            <a:ext cx="11305308" cy="646331"/>
          </a:xfrm>
          <a:prstGeom prst="rect">
            <a:avLst/>
          </a:prstGeom>
          <a:noFill/>
        </p:spPr>
        <p:txBody>
          <a:bodyPr wrap="square">
            <a:spAutoFit/>
          </a:bodyPr>
          <a:lstStyle/>
          <a:p>
            <a:r>
              <a:rPr lang="fr-FR" sz="3600" b="1">
                <a:solidFill>
                  <a:srgbClr val="C00000"/>
                </a:solidFill>
                <a:latin typeface="Times New Roman" panose="02020603050405020304" pitchFamily="18" charset="0"/>
                <a:cs typeface="Times New Roman" panose="02020603050405020304" pitchFamily="18" charset="0"/>
              </a:rPr>
              <a:t>Systèmes </a:t>
            </a:r>
            <a:r>
              <a:rPr lang="fr-FR" sz="3600" b="1" dirty="0">
                <a:solidFill>
                  <a:srgbClr val="C00000"/>
                </a:solidFill>
                <a:latin typeface="Times New Roman" panose="02020603050405020304" pitchFamily="18" charset="0"/>
                <a:cs typeface="Times New Roman" panose="02020603050405020304" pitchFamily="18" charset="0"/>
              </a:rPr>
              <a:t>de Fichiers Distribués Hadoop (HDFS) </a:t>
            </a:r>
          </a:p>
        </p:txBody>
      </p:sp>
      <p:sp>
        <p:nvSpPr>
          <p:cNvPr id="5" name="Rectangle 4">
            <a:extLst>
              <a:ext uri="{FF2B5EF4-FFF2-40B4-BE49-F238E27FC236}">
                <a16:creationId xmlns:a16="http://schemas.microsoft.com/office/drawing/2014/main" xmlns="" id="{DB033BF3-310C-44E7-B172-FB621B678F58}"/>
              </a:ext>
            </a:extLst>
          </p:cNvPr>
          <p:cNvSpPr/>
          <p:nvPr/>
        </p:nvSpPr>
        <p:spPr>
          <a:xfrm>
            <a:off x="206485" y="3814714"/>
            <a:ext cx="11613657" cy="2315827"/>
          </a:xfrm>
          <a:prstGeom prst="rect">
            <a:avLst/>
          </a:prstGeom>
        </p:spPr>
        <p:txBody>
          <a:bodyPr wrap="square">
            <a:spAutoFit/>
          </a:bodyPr>
          <a:lstStyle/>
          <a:p>
            <a:pPr lvl="0" algn="just">
              <a:lnSpc>
                <a:spcPct val="140000"/>
              </a:lnSpc>
              <a:spcAft>
                <a:spcPts val="800"/>
              </a:spcAft>
            </a:pPr>
            <a:r>
              <a:rPr lang="fr-FR" sz="2400" dirty="0">
                <a:solidFill>
                  <a:prstClr val="black"/>
                </a:solidFill>
                <a:latin typeface="Times New Roman" panose="02020603050405020304" pitchFamily="18" charset="0"/>
                <a:cs typeface="Times New Roman" panose="02020603050405020304" pitchFamily="18" charset="0"/>
              </a:rPr>
              <a:t>Les </a:t>
            </a:r>
            <a:r>
              <a:rPr lang="fr-FR" sz="2400" b="1" dirty="0">
                <a:solidFill>
                  <a:prstClr val="black"/>
                </a:solidFill>
                <a:latin typeface="Times New Roman" panose="02020603050405020304" pitchFamily="18" charset="0"/>
                <a:cs typeface="Times New Roman" panose="02020603050405020304" pitchFamily="18" charset="0"/>
              </a:rPr>
              <a:t>réplications de blocs de données </a:t>
            </a:r>
            <a:r>
              <a:rPr lang="fr-FR" sz="2400" dirty="0">
                <a:solidFill>
                  <a:prstClr val="black"/>
                </a:solidFill>
                <a:latin typeface="Times New Roman" panose="02020603050405020304" pitchFamily="18" charset="0"/>
                <a:cs typeface="Times New Roman" panose="02020603050405020304" pitchFamily="18" charset="0"/>
              </a:rPr>
              <a:t>fonctionnent selon deux règles : </a:t>
            </a:r>
          </a:p>
          <a:p>
            <a:pPr marL="457200" lvl="0" indent="-457200" algn="just">
              <a:lnSpc>
                <a:spcPct val="140000"/>
              </a:lnSpc>
              <a:spcAft>
                <a:spcPts val="800"/>
              </a:spcAft>
              <a:buFontTx/>
              <a:buAutoNum type="arabicParenR"/>
            </a:pPr>
            <a:r>
              <a:rPr lang="fr-FR" sz="2400" dirty="0">
                <a:solidFill>
                  <a:prstClr val="black"/>
                </a:solidFill>
                <a:latin typeface="Times New Roman" panose="02020603050405020304" pitchFamily="18" charset="0"/>
                <a:cs typeface="Times New Roman" panose="02020603050405020304" pitchFamily="18" charset="0"/>
              </a:rPr>
              <a:t>Deux blocs identiques ne peuvent pas être placés sur le même </a:t>
            </a:r>
            <a:r>
              <a:rPr lang="fr-FR" sz="2400" dirty="0" err="1">
                <a:solidFill>
                  <a:prstClr val="black"/>
                </a:solidFill>
                <a:latin typeface="Times New Roman" panose="02020603050405020304" pitchFamily="18" charset="0"/>
                <a:cs typeface="Times New Roman" panose="02020603050405020304" pitchFamily="18" charset="0"/>
              </a:rPr>
              <a:t>DataNode</a:t>
            </a:r>
            <a:r>
              <a:rPr lang="fr-FR" sz="2400" dirty="0">
                <a:solidFill>
                  <a:prstClr val="black"/>
                </a:solidFill>
                <a:latin typeface="Times New Roman" panose="02020603050405020304" pitchFamily="18" charset="0"/>
                <a:cs typeface="Times New Roman" panose="02020603050405020304" pitchFamily="18" charset="0"/>
              </a:rPr>
              <a:t> </a:t>
            </a:r>
          </a:p>
          <a:p>
            <a:pPr marL="457200" lvl="0" indent="-457200" algn="just">
              <a:lnSpc>
                <a:spcPct val="140000"/>
              </a:lnSpc>
              <a:spcAft>
                <a:spcPts val="800"/>
              </a:spcAft>
              <a:buFontTx/>
              <a:buAutoNum type="arabicParenR"/>
            </a:pPr>
            <a:r>
              <a:rPr lang="fr-FR" sz="2400" dirty="0">
                <a:solidFill>
                  <a:prstClr val="black"/>
                </a:solidFill>
                <a:latin typeface="Times New Roman" panose="02020603050405020304" pitchFamily="18" charset="0"/>
                <a:cs typeface="Times New Roman" panose="02020603050405020304" pitchFamily="18" charset="0"/>
              </a:rPr>
              <a:t>Lorsqu'un cluster est compatible avec le rack, toutes les répliques d'un bloc ne peuvent pas être placées sur le même rack.</a:t>
            </a:r>
            <a:endParaRPr lang="fr-FR" sz="2400" dirty="0">
              <a:solidFill>
                <a:prstClr val="black"/>
              </a:solidFill>
            </a:endParaRPr>
          </a:p>
        </p:txBody>
      </p:sp>
    </p:spTree>
    <p:extLst>
      <p:ext uri="{BB962C8B-B14F-4D97-AF65-F5344CB8AC3E}">
        <p14:creationId xmlns:p14="http://schemas.microsoft.com/office/powerpoint/2010/main" xmlns="" val="364964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736" y="560892"/>
            <a:ext cx="11688064" cy="6244786"/>
          </a:xfrm>
          <a:prstGeom prst="rect">
            <a:avLst/>
          </a:prstGeom>
        </p:spPr>
        <p:txBody>
          <a:bodyPr wrap="square">
            <a:spAutoFit/>
          </a:bodyPr>
          <a:lstStyle/>
          <a:p>
            <a:pPr lvl="0" algn="just">
              <a:lnSpc>
                <a:spcPct val="140000"/>
              </a:lnSpc>
            </a:pPr>
            <a:r>
              <a:rPr lang="fr-FR" sz="2200" dirty="0">
                <a:solidFill>
                  <a:prstClr val="black"/>
                </a:solidFill>
                <a:latin typeface="Times New Roman" panose="02020603050405020304" pitchFamily="18" charset="0"/>
                <a:cs typeface="Times New Roman" panose="02020603050405020304" pitchFamily="18" charset="0"/>
              </a:rPr>
              <a:t>Le </a:t>
            </a:r>
            <a:r>
              <a:rPr lang="fr-FR" sz="2200" b="1" dirty="0">
                <a:solidFill>
                  <a:srgbClr val="00B050"/>
                </a:solidFill>
                <a:latin typeface="Times New Roman" panose="02020603050405020304" pitchFamily="18" charset="0"/>
                <a:cs typeface="Times New Roman" panose="02020603050405020304" pitchFamily="18" charset="0"/>
              </a:rPr>
              <a:t>Name </a:t>
            </a:r>
            <a:r>
              <a:rPr lang="fr-FR" sz="2200" b="1" dirty="0" err="1">
                <a:solidFill>
                  <a:srgbClr val="00B050"/>
                </a:solidFill>
                <a:latin typeface="Times New Roman" panose="02020603050405020304" pitchFamily="18" charset="0"/>
                <a:cs typeface="Times New Roman" panose="02020603050405020304" pitchFamily="18" charset="0"/>
              </a:rPr>
              <a:t>node</a:t>
            </a:r>
            <a:r>
              <a:rPr lang="fr-FR" sz="2200" b="1" dirty="0">
                <a:solidFill>
                  <a:srgbClr val="00B050"/>
                </a:solidFill>
                <a:latin typeface="Times New Roman" panose="02020603050405020304" pitchFamily="18" charset="0"/>
                <a:cs typeface="Times New Roman" panose="02020603050405020304" pitchFamily="18" charset="0"/>
              </a:rPr>
              <a:t> </a:t>
            </a:r>
            <a:r>
              <a:rPr lang="fr-FR" sz="2200" dirty="0">
                <a:solidFill>
                  <a:prstClr val="black"/>
                </a:solidFill>
                <a:latin typeface="Times New Roman" panose="02020603050405020304" pitchFamily="18" charset="0"/>
                <a:cs typeface="Times New Roman" panose="02020603050405020304" pitchFamily="18" charset="0"/>
              </a:rPr>
              <a:t>contient toutes les métadonnées de tout le contenu du système de fichiers : </a:t>
            </a:r>
            <a:r>
              <a:rPr lang="fr-FR" sz="2200" b="1" dirty="0">
                <a:solidFill>
                  <a:prstClr val="black"/>
                </a:solidFill>
                <a:latin typeface="Times New Roman" panose="02020603050405020304" pitchFamily="18" charset="0"/>
                <a:cs typeface="Times New Roman" panose="02020603050405020304" pitchFamily="18" charset="0"/>
              </a:rPr>
              <a:t>les noms de fichiers</a:t>
            </a:r>
            <a:r>
              <a:rPr lang="fr-FR" sz="2200" dirty="0">
                <a:solidFill>
                  <a:prstClr val="black"/>
                </a:solidFill>
                <a:latin typeface="Times New Roman" panose="02020603050405020304" pitchFamily="18" charset="0"/>
                <a:cs typeface="Times New Roman" panose="02020603050405020304" pitchFamily="18" charset="0"/>
              </a:rPr>
              <a:t>, </a:t>
            </a:r>
            <a:r>
              <a:rPr lang="fr-FR" sz="2200" b="1" dirty="0">
                <a:solidFill>
                  <a:prstClr val="black"/>
                </a:solidFill>
                <a:latin typeface="Times New Roman" panose="02020603050405020304" pitchFamily="18" charset="0"/>
                <a:cs typeface="Times New Roman" panose="02020603050405020304" pitchFamily="18" charset="0"/>
              </a:rPr>
              <a:t>les autorisations de fichiers </a:t>
            </a:r>
            <a:r>
              <a:rPr lang="fr-FR" sz="2200" dirty="0">
                <a:solidFill>
                  <a:prstClr val="black"/>
                </a:solidFill>
                <a:latin typeface="Times New Roman" panose="02020603050405020304" pitchFamily="18" charset="0"/>
                <a:cs typeface="Times New Roman" panose="02020603050405020304" pitchFamily="18" charset="0"/>
              </a:rPr>
              <a:t>et </a:t>
            </a:r>
            <a:r>
              <a:rPr lang="fr-FR" sz="2200" b="1" dirty="0">
                <a:solidFill>
                  <a:prstClr val="black"/>
                </a:solidFill>
                <a:latin typeface="Times New Roman" panose="02020603050405020304" pitchFamily="18" charset="0"/>
                <a:cs typeface="Times New Roman" panose="02020603050405020304" pitchFamily="18" charset="0"/>
              </a:rPr>
              <a:t>l'emplacement de chaque bloc de chaque fichier</a:t>
            </a:r>
            <a:r>
              <a:rPr lang="fr-FR" sz="2200" dirty="0">
                <a:solidFill>
                  <a:prstClr val="black"/>
                </a:solidFill>
                <a:latin typeface="Times New Roman" panose="02020603050405020304" pitchFamily="18" charset="0"/>
                <a:cs typeface="Times New Roman" panose="02020603050405020304" pitchFamily="18" charset="0"/>
              </a:rPr>
              <a:t>, et c'est donc </a:t>
            </a:r>
            <a:r>
              <a:rPr lang="fr-FR" sz="2200" b="1" dirty="0">
                <a:solidFill>
                  <a:srgbClr val="FF0000"/>
                </a:solidFill>
                <a:latin typeface="Times New Roman" panose="02020603050405020304" pitchFamily="18" charset="0"/>
                <a:cs typeface="Times New Roman" panose="02020603050405020304" pitchFamily="18" charset="0"/>
              </a:rPr>
              <a:t>la machine la plus importante de HDFS</a:t>
            </a:r>
            <a:r>
              <a:rPr lang="fr-FR" sz="2200" dirty="0">
                <a:solidFill>
                  <a:prstClr val="black"/>
                </a:solidFill>
                <a:latin typeface="Times New Roman" panose="02020603050405020304" pitchFamily="18" charset="0"/>
                <a:cs typeface="Times New Roman" panose="02020603050405020304" pitchFamily="18" charset="0"/>
              </a:rPr>
              <a:t>. Il gère toutes les opérations sur les fichiers comme la lecture, l'écriture, etc. </a:t>
            </a:r>
            <a:r>
              <a:rPr lang="fr-FR" sz="2200" b="1" dirty="0">
                <a:solidFill>
                  <a:prstClr val="black"/>
                </a:solidFill>
                <a:latin typeface="Times New Roman" panose="02020603050405020304" pitchFamily="18" charset="0"/>
                <a:cs typeface="Times New Roman" panose="02020603050405020304" pitchFamily="18" charset="0"/>
              </a:rPr>
              <a:t>Il est  nœud maître qui contrôle tous les Data </a:t>
            </a:r>
            <a:r>
              <a:rPr lang="fr-FR" sz="2200" b="1" dirty="0" err="1">
                <a:solidFill>
                  <a:prstClr val="black"/>
                </a:solidFill>
                <a:latin typeface="Times New Roman" panose="02020603050405020304" pitchFamily="18" charset="0"/>
                <a:cs typeface="Times New Roman" panose="02020603050405020304" pitchFamily="18" charset="0"/>
              </a:rPr>
              <a:t>Nodes</a:t>
            </a:r>
            <a:r>
              <a:rPr lang="fr-FR" sz="2200" dirty="0">
                <a:solidFill>
                  <a:prstClr val="black"/>
                </a:solidFill>
                <a:latin typeface="Times New Roman" panose="02020603050405020304" pitchFamily="18" charset="0"/>
                <a:cs typeface="Times New Roman" panose="02020603050405020304" pitchFamily="18" charset="0"/>
              </a:rPr>
              <a:t>. </a:t>
            </a:r>
          </a:p>
          <a:p>
            <a:pPr algn="just">
              <a:lnSpc>
                <a:spcPct val="140000"/>
              </a:lnSpc>
            </a:pPr>
            <a:r>
              <a:rPr lang="fr-FR" sz="2200" dirty="0">
                <a:solidFill>
                  <a:prstClr val="black"/>
                </a:solidFill>
                <a:latin typeface="Times New Roman" panose="02020603050405020304" pitchFamily="18" charset="0"/>
                <a:cs typeface="Times New Roman" panose="02020603050405020304" pitchFamily="18" charset="0"/>
              </a:rPr>
              <a:t>Le </a:t>
            </a:r>
            <a:r>
              <a:rPr lang="fr-FR" sz="2200" b="1" dirty="0">
                <a:solidFill>
                  <a:srgbClr val="00B050"/>
                </a:solidFill>
                <a:latin typeface="Times New Roman" panose="02020603050405020304" pitchFamily="18" charset="0"/>
                <a:cs typeface="Times New Roman" panose="02020603050405020304" pitchFamily="18" charset="0"/>
              </a:rPr>
              <a:t>Name </a:t>
            </a:r>
            <a:r>
              <a:rPr lang="fr-FR" sz="2200" b="1" dirty="0" err="1">
                <a:solidFill>
                  <a:srgbClr val="00B050"/>
                </a:solidFill>
                <a:latin typeface="Times New Roman" panose="02020603050405020304" pitchFamily="18" charset="0"/>
                <a:cs typeface="Times New Roman" panose="02020603050405020304" pitchFamily="18" charset="0"/>
              </a:rPr>
              <a:t>node</a:t>
            </a:r>
            <a:r>
              <a:rPr lang="fr-FR" sz="2200" b="1" dirty="0">
                <a:solidFill>
                  <a:srgbClr val="00B05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est un service/démon centralisé qui agit comme un </a:t>
            </a:r>
            <a:r>
              <a:rPr lang="fr-FR" sz="2200" b="1" dirty="0">
                <a:latin typeface="Times New Roman" panose="02020603050405020304" pitchFamily="18" charset="0"/>
                <a:cs typeface="Times New Roman" panose="02020603050405020304" pitchFamily="18" charset="0"/>
              </a:rPr>
              <a:t>gestionnaire de stockage en cluster</a:t>
            </a:r>
            <a:r>
              <a:rPr lang="fr-FR" sz="2200" dirty="0">
                <a:latin typeface="Times New Roman" panose="02020603050405020304" pitchFamily="18" charset="0"/>
                <a:cs typeface="Times New Roman" panose="02020603050405020304" pitchFamily="18" charset="0"/>
              </a:rPr>
              <a:t>. Ses principales responsabilités sont :</a:t>
            </a:r>
          </a:p>
          <a:p>
            <a:pPr marL="342900" lvl="0" indent="12700" algn="just">
              <a:lnSpc>
                <a:spcPct val="140000"/>
              </a:lnSpc>
              <a:buClr>
                <a:srgbClr val="C00000"/>
              </a:buClr>
              <a:buFont typeface="Wingdings" panose="05000000000000000000" pitchFamily="2" charset="2"/>
              <a:buChar char="§"/>
            </a:pPr>
            <a:r>
              <a:rPr lang="fr-FR" sz="2200" dirty="0">
                <a:latin typeface="Times New Roman" panose="02020603050405020304" pitchFamily="18" charset="0"/>
                <a:cs typeface="Times New Roman" panose="02020603050405020304" pitchFamily="18" charset="0"/>
              </a:rPr>
              <a:t> </a:t>
            </a:r>
            <a:r>
              <a:rPr lang="fr-FR" sz="2200" b="1" dirty="0">
                <a:latin typeface="Times New Roman" panose="02020603050405020304" pitchFamily="18" charset="0"/>
                <a:cs typeface="Times New Roman" panose="02020603050405020304" pitchFamily="18" charset="0"/>
              </a:rPr>
              <a:t>maintenir les métadonnées des fichiers et des répertoires.</a:t>
            </a:r>
          </a:p>
          <a:p>
            <a:pPr marL="342900" lvl="0" indent="12700" algn="just">
              <a:lnSpc>
                <a:spcPct val="140000"/>
              </a:lnSpc>
              <a:buClr>
                <a:srgbClr val="C00000"/>
              </a:buClr>
              <a:buFont typeface="Wingdings" panose="05000000000000000000" pitchFamily="2" charset="2"/>
              <a:buChar char="§"/>
            </a:pPr>
            <a:r>
              <a:rPr lang="fr-FR" sz="2200" dirty="0">
                <a:latin typeface="Times New Roman" panose="02020603050405020304" pitchFamily="18" charset="0"/>
                <a:cs typeface="Times New Roman" panose="02020603050405020304" pitchFamily="18" charset="0"/>
              </a:rPr>
              <a:t> </a:t>
            </a:r>
            <a:r>
              <a:rPr lang="fr-FR" sz="2200" b="1" dirty="0">
                <a:latin typeface="Times New Roman" panose="02020603050405020304" pitchFamily="18" charset="0"/>
                <a:cs typeface="Times New Roman" panose="02020603050405020304" pitchFamily="18" charset="0"/>
              </a:rPr>
              <a:t>contrôler et coordonner les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fr-FR" sz="2200" b="1" dirty="0">
                <a:latin typeface="Times New Roman" panose="02020603050405020304" pitchFamily="18" charset="0"/>
                <a:cs typeface="Times New Roman" panose="02020603050405020304" pitchFamily="18" charset="0"/>
              </a:rPr>
              <a:t>pour les opérations du système de fichiers telles que la création, la lecture, l'écriture, etc</a:t>
            </a:r>
            <a:r>
              <a:rPr lang="fr-FR" sz="2200" dirty="0">
                <a:latin typeface="Times New Roman" panose="02020603050405020304" pitchFamily="18" charset="0"/>
                <a:cs typeface="Times New Roman" panose="02020603050405020304" pitchFamily="18" charset="0"/>
              </a:rPr>
              <a:t>.</a:t>
            </a:r>
          </a:p>
          <a:p>
            <a:pPr algn="just">
              <a:lnSpc>
                <a:spcPct val="140000"/>
              </a:lnSpc>
            </a:pPr>
            <a:r>
              <a:rPr lang="fr-FR" sz="2200" dirty="0">
                <a:latin typeface="Times New Roman" panose="02020603050405020304" pitchFamily="18" charset="0"/>
                <a:cs typeface="Times New Roman" panose="02020603050405020304" pitchFamily="18" charset="0"/>
              </a:rPr>
              <a:t>Les clients communiquent avec le </a:t>
            </a:r>
            <a:r>
              <a:rPr lang="fr-FR" sz="2200" b="1" dirty="0">
                <a:solidFill>
                  <a:srgbClr val="00B050"/>
                </a:solidFill>
                <a:latin typeface="Times New Roman" panose="02020603050405020304" pitchFamily="18" charset="0"/>
                <a:cs typeface="Times New Roman" panose="02020603050405020304" pitchFamily="18" charset="0"/>
              </a:rPr>
              <a:t>Name </a:t>
            </a:r>
            <a:r>
              <a:rPr lang="fr-FR" sz="2200" b="1" dirty="0" err="1">
                <a:solidFill>
                  <a:srgbClr val="00B050"/>
                </a:solidFill>
                <a:latin typeface="Times New Roman" panose="02020603050405020304" pitchFamily="18" charset="0"/>
                <a:cs typeface="Times New Roman" panose="02020603050405020304" pitchFamily="18" charset="0"/>
              </a:rPr>
              <a:t>node</a:t>
            </a:r>
            <a:r>
              <a:rPr lang="fr-FR" sz="2200" b="1" dirty="0">
                <a:solidFill>
                  <a:srgbClr val="00B05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 afin d'effectuer les opérations quotidiennes du système de fichiers. À son tour, le </a:t>
            </a:r>
            <a:r>
              <a:rPr lang="fr-FR" sz="2200" b="1" dirty="0">
                <a:solidFill>
                  <a:srgbClr val="00B050"/>
                </a:solidFill>
                <a:latin typeface="Times New Roman" panose="02020603050405020304" pitchFamily="18" charset="0"/>
                <a:cs typeface="Times New Roman" panose="02020603050405020304" pitchFamily="18" charset="0"/>
              </a:rPr>
              <a:t>Name </a:t>
            </a:r>
            <a:r>
              <a:rPr lang="fr-FR" sz="2200" b="1" dirty="0" err="1">
                <a:solidFill>
                  <a:srgbClr val="00B050"/>
                </a:solidFill>
                <a:latin typeface="Times New Roman" panose="02020603050405020304" pitchFamily="18" charset="0"/>
                <a:cs typeface="Times New Roman" panose="02020603050405020304" pitchFamily="18" charset="0"/>
              </a:rPr>
              <a:t>node</a:t>
            </a:r>
            <a:r>
              <a:rPr lang="fr-FR" sz="2200" b="1" dirty="0">
                <a:solidFill>
                  <a:srgbClr val="00B05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donne aux clients l'emplacement des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200" dirty="0">
                <a:latin typeface="Times New Roman" panose="02020603050405020304" pitchFamily="18" charset="0"/>
                <a:cs typeface="Times New Roman" panose="02020603050405020304" pitchFamily="18" charset="0"/>
              </a:rPr>
              <a:t>dans le cluster (où le bloc de données est disponible) pour effectuer des opérations. Le </a:t>
            </a:r>
            <a:r>
              <a:rPr lang="fr-FR" sz="2200" b="1" dirty="0">
                <a:solidFill>
                  <a:srgbClr val="00B050"/>
                </a:solidFill>
                <a:latin typeface="Times New Roman" panose="02020603050405020304" pitchFamily="18" charset="0"/>
                <a:cs typeface="Times New Roman" panose="02020603050405020304" pitchFamily="18" charset="0"/>
              </a:rPr>
              <a:t>Name </a:t>
            </a:r>
            <a:r>
              <a:rPr lang="fr-FR" sz="2200" b="1" dirty="0" err="1">
                <a:solidFill>
                  <a:srgbClr val="00B050"/>
                </a:solidFill>
                <a:latin typeface="Times New Roman" panose="02020603050405020304" pitchFamily="18" charset="0"/>
                <a:cs typeface="Times New Roman" panose="02020603050405020304" pitchFamily="18" charset="0"/>
              </a:rPr>
              <a:t>node</a:t>
            </a:r>
            <a:r>
              <a:rPr lang="fr-FR" sz="2200" b="1" dirty="0">
                <a:solidFill>
                  <a:srgbClr val="00B05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procède à l'authentification s'il est configuré.</a:t>
            </a:r>
          </a:p>
        </p:txBody>
      </p:sp>
      <p:sp>
        <p:nvSpPr>
          <p:cNvPr id="3" name="Rectangle 2"/>
          <p:cNvSpPr/>
          <p:nvPr/>
        </p:nvSpPr>
        <p:spPr>
          <a:xfrm>
            <a:off x="173736" y="-108081"/>
            <a:ext cx="3699764" cy="782202"/>
          </a:xfrm>
          <a:prstGeom prst="rect">
            <a:avLst/>
          </a:prstGeom>
        </p:spPr>
        <p:txBody>
          <a:bodyPr wrap="square">
            <a:spAutoFit/>
          </a:bodyPr>
          <a:lstStyle/>
          <a:p>
            <a:pPr lvl="0" algn="just">
              <a:lnSpc>
                <a:spcPct val="140000"/>
              </a:lnSpc>
            </a:pPr>
            <a:r>
              <a:rPr lang="fr-FR" sz="3600" b="1" dirty="0">
                <a:solidFill>
                  <a:srgbClr val="C00000"/>
                </a:solidFill>
                <a:latin typeface="Times New Roman" panose="02020603050405020304" pitchFamily="18" charset="0"/>
                <a:cs typeface="Times New Roman" panose="02020603050405020304" pitchFamily="18" charset="0"/>
              </a:rPr>
              <a:t>Le Name </a:t>
            </a:r>
            <a:r>
              <a:rPr lang="fr-FR" sz="3600" b="1" dirty="0" err="1">
                <a:solidFill>
                  <a:srgbClr val="C00000"/>
                </a:solidFill>
                <a:latin typeface="Times New Roman" panose="02020603050405020304" pitchFamily="18" charset="0"/>
                <a:cs typeface="Times New Roman" panose="02020603050405020304" pitchFamily="18" charset="0"/>
              </a:rPr>
              <a:t>node</a:t>
            </a:r>
            <a:r>
              <a:rPr lang="fr-FR" sz="3600" b="1" dirty="0">
                <a:solidFill>
                  <a:srgbClr val="C00000"/>
                </a:solidFill>
                <a:latin typeface="Times New Roman" panose="02020603050405020304" pitchFamily="18" charset="0"/>
                <a:cs typeface="Times New Roman" panose="02020603050405020304" pitchFamily="18" charset="0"/>
              </a:rPr>
              <a:t> </a:t>
            </a:r>
            <a:endParaRPr lang="fr-FR" sz="36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406147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627" y="1084608"/>
            <a:ext cx="11719560" cy="4688784"/>
          </a:xfrm>
          <a:prstGeom prst="rect">
            <a:avLst/>
          </a:prstGeom>
        </p:spPr>
        <p:txBody>
          <a:bodyPr wrap="square">
            <a:spAutoFit/>
          </a:bodyPr>
          <a:lstStyle/>
          <a:p>
            <a:pPr algn="just">
              <a:lnSpc>
                <a:spcPct val="140000"/>
              </a:lnSpc>
            </a:pPr>
            <a:r>
              <a:rPr lang="fr-FR" sz="2400" dirty="0">
                <a:solidFill>
                  <a:prstClr val="black"/>
                </a:solidFill>
                <a:latin typeface="Times New Roman" panose="02020603050405020304" pitchFamily="18" charset="0"/>
                <a:cs typeface="Times New Roman" panose="02020603050405020304" pitchFamily="18" charset="0"/>
              </a:rPr>
              <a:t>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solidFill>
                  <a:prstClr val="black"/>
                </a:solidFill>
                <a:latin typeface="Times New Roman" panose="02020603050405020304" pitchFamily="18" charset="0"/>
                <a:cs typeface="Times New Roman" panose="02020603050405020304" pitchFamily="18" charset="0"/>
              </a:rPr>
              <a:t>sont les nœuds esclaves présents dans le </a:t>
            </a:r>
            <a:r>
              <a:rPr lang="fr-FR" sz="2400" b="1" dirty="0">
                <a:solidFill>
                  <a:prstClr val="black"/>
                </a:solidFill>
                <a:latin typeface="Times New Roman" panose="02020603050405020304" pitchFamily="18" charset="0"/>
                <a:cs typeface="Times New Roman" panose="02020603050405020304" pitchFamily="18" charset="0"/>
              </a:rPr>
              <a:t>cluster Hadoop</a:t>
            </a:r>
            <a:r>
              <a:rPr lang="fr-FR" sz="2400" dirty="0">
                <a:solidFill>
                  <a:prstClr val="black"/>
                </a:solidFill>
                <a:latin typeface="Times New Roman" panose="02020603050405020304" pitchFamily="18" charset="0"/>
                <a:cs typeface="Times New Roman" panose="02020603050405020304" pitchFamily="18" charset="0"/>
              </a:rPr>
              <a:t>.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a:t>
            </a:r>
            <a:r>
              <a:rPr lang="fr-FR" sz="24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Nodes</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fr-FR" sz="2400" dirty="0">
                <a:solidFill>
                  <a:prstClr val="black"/>
                </a:solidFill>
                <a:latin typeface="Times New Roman" panose="02020603050405020304" pitchFamily="18" charset="0"/>
                <a:cs typeface="Times New Roman" panose="02020603050405020304" pitchFamily="18" charset="0"/>
              </a:rPr>
              <a:t>se connectent au </a:t>
            </a:r>
            <a:r>
              <a:rPr lang="fr-FR" sz="2400" b="1" dirty="0">
                <a:solidFill>
                  <a:srgbClr val="00B050"/>
                </a:solidFill>
                <a:latin typeface="Times New Roman" panose="02020603050405020304" pitchFamily="18" charset="0"/>
                <a:cs typeface="Times New Roman" panose="02020603050405020304" pitchFamily="18" charset="0"/>
              </a:rPr>
              <a:t>Name Node </a:t>
            </a:r>
            <a:r>
              <a:rPr lang="fr-FR" sz="2400" dirty="0">
                <a:solidFill>
                  <a:prstClr val="black"/>
                </a:solidFill>
                <a:latin typeface="Times New Roman" panose="02020603050405020304" pitchFamily="18" charset="0"/>
                <a:cs typeface="Times New Roman" panose="02020603050405020304" pitchFamily="18" charset="0"/>
              </a:rPr>
              <a:t>et </a:t>
            </a:r>
            <a:r>
              <a:rPr lang="fr-FR" sz="2400" b="1" dirty="0">
                <a:solidFill>
                  <a:prstClr val="black"/>
                </a:solidFill>
                <a:latin typeface="Times New Roman" panose="02020603050405020304" pitchFamily="18" charset="0"/>
                <a:cs typeface="Times New Roman" panose="02020603050405020304" pitchFamily="18" charset="0"/>
              </a:rPr>
              <a:t>stockent les blocs dans HDFS</a:t>
            </a:r>
            <a:r>
              <a:rPr lang="fr-FR" sz="2400" dirty="0">
                <a:solidFill>
                  <a:prstClr val="black"/>
                </a:solidFill>
                <a:latin typeface="Times New Roman" panose="02020603050405020304" pitchFamily="18" charset="0"/>
                <a:cs typeface="Times New Roman" panose="02020603050405020304" pitchFamily="18" charset="0"/>
              </a:rPr>
              <a:t>. Ils s'appuient sur le </a:t>
            </a:r>
            <a:r>
              <a:rPr lang="fr-FR" sz="2400" b="1" dirty="0">
                <a:solidFill>
                  <a:srgbClr val="00B050"/>
                </a:solidFill>
                <a:latin typeface="Times New Roman" panose="02020603050405020304" pitchFamily="18" charset="0"/>
                <a:cs typeface="Times New Roman" panose="02020603050405020304" pitchFamily="18" charset="0"/>
              </a:rPr>
              <a:t>Name Node </a:t>
            </a:r>
            <a:r>
              <a:rPr lang="fr-FR" sz="2400" dirty="0">
                <a:solidFill>
                  <a:prstClr val="black"/>
                </a:solidFill>
                <a:latin typeface="Times New Roman" panose="02020603050405020304" pitchFamily="18" charset="0"/>
                <a:cs typeface="Times New Roman" panose="02020603050405020304" pitchFamily="18" charset="0"/>
              </a:rPr>
              <a:t>pour toutes les informations de métadonnées concernant le contenu du système de fichiers. Si le </a:t>
            </a:r>
            <a:r>
              <a:rPr lang="fr-FR" sz="2400" b="1" dirty="0">
                <a:solidFill>
                  <a:srgbClr val="00B050"/>
                </a:solidFill>
                <a:latin typeface="Times New Roman" panose="02020603050405020304" pitchFamily="18" charset="0"/>
                <a:cs typeface="Times New Roman" panose="02020603050405020304" pitchFamily="18" charset="0"/>
              </a:rPr>
              <a:t>Name Node </a:t>
            </a:r>
            <a:r>
              <a:rPr lang="fr-FR" sz="2400" b="1" dirty="0">
                <a:solidFill>
                  <a:prstClr val="black"/>
                </a:solidFill>
                <a:latin typeface="Times New Roman" panose="02020603050405020304" pitchFamily="18" charset="0"/>
                <a:cs typeface="Times New Roman" panose="02020603050405020304" pitchFamily="18" charset="0"/>
              </a:rPr>
              <a:t>n'a aucune information, le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solidFill>
                  <a:prstClr val="black"/>
                </a:solidFill>
                <a:latin typeface="Times New Roman" panose="02020603050405020304" pitchFamily="18" charset="0"/>
                <a:cs typeface="Times New Roman" panose="02020603050405020304" pitchFamily="18" charset="0"/>
              </a:rPr>
              <a:t>ne sera pas en mesure de fournir des informations à tout client qui souhaite lire/écrire sur le HDFS.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solidFill>
                  <a:prstClr val="black"/>
                </a:solidFill>
                <a:latin typeface="Times New Roman" panose="02020603050405020304" pitchFamily="18" charset="0"/>
                <a:cs typeface="Times New Roman" panose="02020603050405020304" pitchFamily="18" charset="0"/>
              </a:rPr>
              <a:t>stockent et gèrent les blocs HDFS sur le disque local.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solidFill>
                  <a:prstClr val="black"/>
                </a:solidFill>
                <a:latin typeface="Times New Roman" panose="02020603050405020304" pitchFamily="18" charset="0"/>
                <a:cs typeface="Times New Roman" panose="02020603050405020304" pitchFamily="18" charset="0"/>
              </a:rPr>
              <a:t> stockent les blocs de données et les récupère.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solidFill>
                  <a:prstClr val="black"/>
                </a:solidFill>
                <a:latin typeface="Times New Roman" panose="02020603050405020304" pitchFamily="18" charset="0"/>
                <a:cs typeface="Times New Roman" panose="02020603050405020304" pitchFamily="18" charset="0"/>
              </a:rPr>
              <a:t>rapportent également périodiquement les informations sur les blocs au </a:t>
            </a:r>
            <a:r>
              <a:rPr lang="fr-FR" sz="2400" b="1" dirty="0">
                <a:solidFill>
                  <a:srgbClr val="00B050"/>
                </a:solidFill>
                <a:latin typeface="Times New Roman" panose="02020603050405020304" pitchFamily="18" charset="0"/>
                <a:cs typeface="Times New Roman" panose="02020603050405020304" pitchFamily="18" charset="0"/>
              </a:rPr>
              <a:t>Name Node</a:t>
            </a:r>
            <a:r>
              <a:rPr lang="fr-FR" sz="2400" dirty="0">
                <a:solidFill>
                  <a:prstClr val="black"/>
                </a:solidFill>
                <a:latin typeface="Times New Roman" panose="02020603050405020304" pitchFamily="18" charset="0"/>
                <a:cs typeface="Times New Roman" panose="02020603050405020304" pitchFamily="18" charset="0"/>
              </a:rPr>
              <a:t>. Autrement dit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solidFill>
                  <a:prstClr val="black"/>
                </a:solidFill>
                <a:latin typeface="Times New Roman" panose="02020603050405020304" pitchFamily="18" charset="0"/>
                <a:cs typeface="Times New Roman" panose="02020603050405020304" pitchFamily="18" charset="0"/>
              </a:rPr>
              <a:t>signalent la santé et l'état des stockages des les blocs HDFS au </a:t>
            </a:r>
            <a:r>
              <a:rPr lang="fr-FR" sz="2400" b="1" dirty="0">
                <a:solidFill>
                  <a:srgbClr val="00B050"/>
                </a:solidFill>
                <a:latin typeface="Times New Roman" panose="02020603050405020304" pitchFamily="18" charset="0"/>
                <a:cs typeface="Times New Roman" panose="02020603050405020304" pitchFamily="18" charset="0"/>
              </a:rPr>
              <a:t>Name Node</a:t>
            </a:r>
            <a:r>
              <a:rPr lang="fr-FR" sz="2400" dirty="0">
                <a:solidFill>
                  <a:prstClr val="black"/>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32687" y="0"/>
            <a:ext cx="3082895" cy="782202"/>
          </a:xfrm>
          <a:prstGeom prst="rect">
            <a:avLst/>
          </a:prstGeom>
        </p:spPr>
        <p:txBody>
          <a:bodyPr wrap="none">
            <a:spAutoFit/>
          </a:bodyPr>
          <a:lstStyle/>
          <a:p>
            <a:pPr lvl="0" algn="just">
              <a:lnSpc>
                <a:spcPct val="140000"/>
              </a:lnSpc>
            </a:pPr>
            <a:r>
              <a:rPr lang="fr-FR" sz="3600" b="1" dirty="0">
                <a:solidFill>
                  <a:srgbClr val="C00000"/>
                </a:solidFill>
                <a:latin typeface="Times New Roman" panose="02020603050405020304" pitchFamily="18" charset="0"/>
                <a:cs typeface="Times New Roman" panose="02020603050405020304" pitchFamily="18" charset="0"/>
              </a:rPr>
              <a:t>Les Data Node</a:t>
            </a:r>
            <a:endParaRPr lang="fr-FR" sz="36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563887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671691"/>
            <a:ext cx="11620500" cy="6186309"/>
          </a:xfrm>
          <a:prstGeom prst="rect">
            <a:avLst/>
          </a:prstGeom>
        </p:spPr>
        <p:txBody>
          <a:bodyPr wrap="square">
            <a:spAutoFit/>
          </a:bodyPr>
          <a:lstStyle/>
          <a:p>
            <a:pPr algn="just">
              <a:lnSpc>
                <a:spcPct val="150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Le démon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b="1" dirty="0">
                <a:latin typeface="Times New Roman" panose="02020603050405020304" pitchFamily="18" charset="0"/>
                <a:ea typeface="Calibri" panose="020F0502020204030204" pitchFamily="34" charset="0"/>
                <a:cs typeface="Times New Roman" panose="02020603050405020304" pitchFamily="18" charset="0"/>
              </a:rPr>
              <a:t>est responsable de la gestion des disques de stockage locaux. Il gère les opérations du système de fichiers telles que la création, la lecture, l'ouverture, la fermeture et la suppression de blocs</a:t>
            </a:r>
            <a:r>
              <a:rPr lang="fr-FR" sz="2400" dirty="0">
                <a:latin typeface="Times New Roman" panose="02020603050405020304" pitchFamily="18" charset="0"/>
                <a:ea typeface="Calibri" panose="020F0502020204030204" pitchFamily="34" charset="0"/>
                <a:cs typeface="Times New Roman" panose="02020603050405020304" pitchFamily="18" charset="0"/>
              </a:rPr>
              <a:t>. Le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latin typeface="Times New Roman" panose="02020603050405020304" pitchFamily="18" charset="0"/>
                <a:ea typeface="Calibri" panose="020F0502020204030204" pitchFamily="34" charset="0"/>
                <a:cs typeface="Times New Roman" panose="02020603050405020304" pitchFamily="18" charset="0"/>
              </a:rPr>
              <a:t>ne sait rien des blocs de données. Il stocke chaque bloc sous forme de fichier dans le système de fichiers local. Le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dirty="0">
                <a:latin typeface="Times New Roman" panose="02020603050405020304" pitchFamily="18" charset="0"/>
                <a:ea typeface="Calibri" panose="020F0502020204030204" pitchFamily="34" charset="0"/>
                <a:cs typeface="Times New Roman" panose="02020603050405020304" pitchFamily="18" charset="0"/>
              </a:rPr>
              <a:t>ne stocke pas tous les blocs dans le même répertoire. Au lieu de cela, il utilise une heuristique pour déterminer le nombre optimal de blocs par répertoire et crée des sous-répertoires de manière appropriée. </a:t>
            </a:r>
            <a:r>
              <a:rPr lang="fr-FR" sz="2400" b="1" dirty="0">
                <a:latin typeface="Times New Roman" panose="02020603050405020304" pitchFamily="18" charset="0"/>
                <a:ea typeface="Calibri" panose="020F0502020204030204" pitchFamily="34" charset="0"/>
                <a:cs typeface="Times New Roman" panose="02020603050405020304" pitchFamily="18" charset="0"/>
              </a:rPr>
              <a:t>Les blocs sont chargés/supprimés dans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400" b="1" dirty="0">
                <a:latin typeface="Times New Roman" panose="02020603050405020304" pitchFamily="18" charset="0"/>
                <a:ea typeface="Calibri" panose="020F0502020204030204" pitchFamily="34" charset="0"/>
                <a:cs typeface="Times New Roman" panose="02020603050405020304" pitchFamily="18" charset="0"/>
              </a:rPr>
              <a:t>sur la base des instructions de </a:t>
            </a:r>
            <a:r>
              <a:rPr lang="fr-FR" sz="2400" b="1" dirty="0">
                <a:solidFill>
                  <a:srgbClr val="00B050"/>
                </a:solidFill>
                <a:latin typeface="Times New Roman" panose="02020603050405020304" pitchFamily="18" charset="0"/>
                <a:cs typeface="Times New Roman" panose="02020603050405020304" pitchFamily="18" charset="0"/>
              </a:rPr>
              <a:t>Name Node</a:t>
            </a:r>
            <a:r>
              <a:rPr lang="fr-FR" sz="2400" dirty="0">
                <a:latin typeface="Times New Roman" panose="02020603050405020304" pitchFamily="18" charset="0"/>
                <a:ea typeface="Calibri" panose="020F0502020204030204" pitchFamily="34" charset="0"/>
                <a:cs typeface="Times New Roman" panose="02020603050405020304" pitchFamily="18" charset="0"/>
              </a:rPr>
              <a:t>, qui valide et traite les demandes des clients. </a:t>
            </a:r>
            <a:r>
              <a:rPr lang="fr-FR" sz="2400" b="1" dirty="0">
                <a:solidFill>
                  <a:srgbClr val="00B050"/>
                </a:solidFill>
                <a:latin typeface="Times New Roman" panose="02020603050405020304" pitchFamily="18" charset="0"/>
                <a:cs typeface="Times New Roman" panose="02020603050405020304" pitchFamily="18" charset="0"/>
              </a:rPr>
              <a:t>Name Node </a:t>
            </a:r>
            <a:r>
              <a:rPr lang="fr-FR" sz="2400" b="1" dirty="0">
                <a:latin typeface="Times New Roman" panose="02020603050405020304" pitchFamily="18" charset="0"/>
                <a:ea typeface="Calibri" panose="020F0502020204030204" pitchFamily="34" charset="0"/>
                <a:cs typeface="Times New Roman" panose="02020603050405020304" pitchFamily="18" charset="0"/>
              </a:rPr>
              <a:t>n'effectue aucune opération de lecture/écriture pour les clients</a:t>
            </a:r>
            <a:r>
              <a:rPr lang="fr-FR" sz="2400" dirty="0">
                <a:latin typeface="Times New Roman" panose="02020603050405020304" pitchFamily="18" charset="0"/>
                <a:ea typeface="Calibri" panose="020F0502020204030204" pitchFamily="34" charset="0"/>
                <a:cs typeface="Times New Roman" panose="02020603050405020304" pitchFamily="18" charset="0"/>
              </a:rPr>
              <a:t>. </a:t>
            </a:r>
            <a:r>
              <a:rPr lang="fr-FR" sz="2400" b="1" dirty="0">
                <a:latin typeface="Times New Roman" panose="02020603050405020304" pitchFamily="18" charset="0"/>
                <a:ea typeface="Calibri" panose="020F0502020204030204" pitchFamily="34" charset="0"/>
                <a:cs typeface="Times New Roman" panose="02020603050405020304" pitchFamily="18" charset="0"/>
              </a:rPr>
              <a:t>Les clients communiquent avec </a:t>
            </a:r>
            <a:r>
              <a:rPr lang="fr-FR" sz="2400" b="1" dirty="0">
                <a:solidFill>
                  <a:srgbClr val="00B050"/>
                </a:solidFill>
                <a:latin typeface="Times New Roman" panose="02020603050405020304" pitchFamily="18" charset="0"/>
                <a:cs typeface="Times New Roman" panose="02020603050405020304" pitchFamily="18" charset="0"/>
              </a:rPr>
              <a:t>Name Node </a:t>
            </a:r>
            <a:r>
              <a:rPr lang="fr-FR" sz="2400" b="1" dirty="0">
                <a:latin typeface="Times New Roman" panose="02020603050405020304" pitchFamily="18" charset="0"/>
                <a:ea typeface="Calibri" panose="020F0502020204030204" pitchFamily="34" charset="0"/>
                <a:cs typeface="Times New Roman" panose="02020603050405020304" pitchFamily="18" charset="0"/>
              </a:rPr>
              <a:t>pour connaître les emplacements des blocs et sont redirigés vers les </a:t>
            </a: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a:t>
            </a:r>
            <a:r>
              <a:rPr lang="fr-FR" sz="2400" b="1" dirty="0">
                <a:latin typeface="Times New Roman" panose="02020603050405020304" pitchFamily="18" charset="0"/>
                <a:ea typeface="Calibri" panose="020F0502020204030204" pitchFamily="34" charset="0"/>
                <a:cs typeface="Times New Roman" panose="02020603050405020304" pitchFamily="18" charset="0"/>
              </a:rPr>
              <a:t> pour effectuer une opération de lecture/écriture.</a:t>
            </a:r>
            <a:endParaRPr lang="fr-FR" sz="24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317500" y="0"/>
            <a:ext cx="4429418" cy="782202"/>
          </a:xfrm>
          <a:prstGeom prst="rect">
            <a:avLst/>
          </a:prstGeom>
        </p:spPr>
        <p:txBody>
          <a:bodyPr wrap="none">
            <a:spAutoFit/>
          </a:bodyPr>
          <a:lstStyle/>
          <a:p>
            <a:pPr lvl="0" algn="just">
              <a:lnSpc>
                <a:spcPct val="140000"/>
              </a:lnSpc>
            </a:pPr>
            <a:r>
              <a:rPr lang="fr-FR" sz="3600" b="1" dirty="0">
                <a:solidFill>
                  <a:srgbClr val="C00000"/>
                </a:solidFill>
                <a:latin typeface="Times New Roman" panose="02020603050405020304" pitchFamily="18" charset="0"/>
                <a:cs typeface="Times New Roman" panose="02020603050405020304" pitchFamily="18" charset="0"/>
              </a:rPr>
              <a:t>Les Data Node (suite)</a:t>
            </a:r>
            <a:endParaRPr lang="fr-FR" sz="36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04281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06862"/>
            <a:ext cx="11815166" cy="3847464"/>
          </a:xfrm>
          <a:prstGeom prst="rect">
            <a:avLst/>
          </a:prstGeom>
        </p:spPr>
        <p:txBody>
          <a:bodyPr wrap="square">
            <a:spAutoFit/>
          </a:bodyPr>
          <a:lstStyle/>
          <a:p>
            <a:pPr algn="just">
              <a:lnSpc>
                <a:spcPct val="130000"/>
              </a:lnSpc>
            </a:pPr>
            <a:r>
              <a:rPr lang="fr-FR" sz="2300" dirty="0">
                <a:solidFill>
                  <a:prstClr val="black"/>
                </a:solidFill>
                <a:latin typeface="Times New Roman" panose="02020603050405020304" pitchFamily="18" charset="0"/>
                <a:cs typeface="Times New Roman" panose="02020603050405020304" pitchFamily="18" charset="0"/>
              </a:rPr>
              <a:t>Le </a:t>
            </a:r>
            <a:r>
              <a:rPr lang="fr-FR" sz="2300" b="1" dirty="0">
                <a:solidFill>
                  <a:srgbClr val="0070C0"/>
                </a:solidFill>
                <a:latin typeface="Times New Roman" panose="02020603050405020304" pitchFamily="18" charset="0"/>
                <a:cs typeface="Times New Roman" panose="02020603050405020304" pitchFamily="18" charset="0"/>
              </a:rPr>
              <a:t>Secondary Name Node </a:t>
            </a:r>
            <a:r>
              <a:rPr lang="fr-FR" sz="2300" b="1" dirty="0">
                <a:solidFill>
                  <a:prstClr val="black"/>
                </a:solidFill>
                <a:latin typeface="Times New Roman" panose="02020603050405020304" pitchFamily="18" charset="0"/>
                <a:cs typeface="Times New Roman" panose="02020603050405020304" pitchFamily="18" charset="0"/>
              </a:rPr>
              <a:t>est la sauvegarde du </a:t>
            </a:r>
            <a:r>
              <a:rPr lang="fr-FR" sz="2300" b="1" dirty="0">
                <a:solidFill>
                  <a:srgbClr val="00B050"/>
                </a:solidFill>
                <a:latin typeface="Times New Roman" panose="02020603050405020304" pitchFamily="18" charset="0"/>
                <a:cs typeface="Times New Roman" panose="02020603050405020304" pitchFamily="18" charset="0"/>
              </a:rPr>
              <a:t>Name Node</a:t>
            </a:r>
            <a:r>
              <a:rPr lang="fr-FR" sz="2300" dirty="0">
                <a:solidFill>
                  <a:prstClr val="black"/>
                </a:solidFill>
                <a:latin typeface="Times New Roman" panose="02020603050405020304" pitchFamily="18" charset="0"/>
                <a:cs typeface="Times New Roman" panose="02020603050405020304" pitchFamily="18" charset="0"/>
              </a:rPr>
              <a:t>. </a:t>
            </a:r>
            <a:r>
              <a:rPr lang="fr-FR" sz="2400" dirty="0">
                <a:solidFill>
                  <a:prstClr val="black"/>
                </a:solidFill>
                <a:latin typeface="Times New Roman" panose="02020603050405020304" pitchFamily="18" charset="0"/>
                <a:cs typeface="Times New Roman" panose="02020603050405020304" pitchFamily="18" charset="0"/>
              </a:rPr>
              <a:t>La responsabilité du </a:t>
            </a:r>
            <a:r>
              <a:rPr lang="fr-FR" sz="2400" b="1" dirty="0" err="1">
                <a:solidFill>
                  <a:srgbClr val="0070C0"/>
                </a:solidFill>
                <a:latin typeface="Times New Roman" panose="02020603050405020304" pitchFamily="18" charset="0"/>
                <a:cs typeface="Times New Roman" panose="02020603050405020304" pitchFamily="18" charset="0"/>
              </a:rPr>
              <a:t>secondary</a:t>
            </a:r>
            <a:r>
              <a:rPr lang="fr-FR" sz="2400" b="1" dirty="0">
                <a:solidFill>
                  <a:srgbClr val="0070C0"/>
                </a:solidFill>
                <a:latin typeface="Times New Roman" panose="02020603050405020304" pitchFamily="18" charset="0"/>
                <a:cs typeface="Times New Roman" panose="02020603050405020304" pitchFamily="18" charset="0"/>
              </a:rPr>
              <a:t> </a:t>
            </a:r>
            <a:r>
              <a:rPr lang="fr-FR" sz="2400" b="1" dirty="0" err="1">
                <a:solidFill>
                  <a:srgbClr val="0070C0"/>
                </a:solidFill>
                <a:latin typeface="Times New Roman" panose="02020603050405020304" pitchFamily="18" charset="0"/>
                <a:cs typeface="Times New Roman" panose="02020603050405020304" pitchFamily="18" charset="0"/>
              </a:rPr>
              <a:t>name</a:t>
            </a:r>
            <a:r>
              <a:rPr lang="fr-FR" sz="2400" b="1" dirty="0">
                <a:solidFill>
                  <a:srgbClr val="0070C0"/>
                </a:solidFill>
                <a:latin typeface="Times New Roman" panose="02020603050405020304" pitchFamily="18" charset="0"/>
                <a:cs typeface="Times New Roman" panose="02020603050405020304" pitchFamily="18" charset="0"/>
              </a:rPr>
              <a:t> </a:t>
            </a:r>
            <a:r>
              <a:rPr lang="fr-FR" sz="2400" b="1" dirty="0" err="1">
                <a:solidFill>
                  <a:srgbClr val="0070C0"/>
                </a:solidFill>
                <a:latin typeface="Times New Roman" panose="02020603050405020304" pitchFamily="18" charset="0"/>
                <a:cs typeface="Times New Roman" panose="02020603050405020304" pitchFamily="18" charset="0"/>
              </a:rPr>
              <a:t>node</a:t>
            </a:r>
            <a:r>
              <a:rPr lang="fr-FR" sz="2400" b="1" dirty="0">
                <a:solidFill>
                  <a:srgbClr val="0070C0"/>
                </a:solidFill>
                <a:latin typeface="Times New Roman" panose="02020603050405020304" pitchFamily="18" charset="0"/>
                <a:cs typeface="Times New Roman" panose="02020603050405020304" pitchFamily="18" charset="0"/>
              </a:rPr>
              <a:t> </a:t>
            </a:r>
            <a:r>
              <a:rPr lang="fr-FR" sz="2400" dirty="0">
                <a:solidFill>
                  <a:prstClr val="black"/>
                </a:solidFill>
                <a:latin typeface="Times New Roman" panose="02020603050405020304" pitchFamily="18" charset="0"/>
                <a:cs typeface="Times New Roman" panose="02020603050405020304" pitchFamily="18" charset="0"/>
              </a:rPr>
              <a:t>est de copier et de fusionner périodiquement l'image </a:t>
            </a:r>
            <a:r>
              <a:rPr lang="fr-FR" sz="2400" b="1" dirty="0">
                <a:solidFill>
                  <a:prstClr val="black"/>
                </a:solidFill>
                <a:latin typeface="Times New Roman" panose="02020603050405020304" pitchFamily="18" charset="0"/>
                <a:cs typeface="Times New Roman" panose="02020603050405020304" pitchFamily="18" charset="0"/>
              </a:rPr>
              <a:t>de l'espace de noms </a:t>
            </a:r>
            <a:r>
              <a:rPr lang="fr-FR" sz="2400" dirty="0">
                <a:solidFill>
                  <a:prstClr val="black"/>
                </a:solidFill>
                <a:latin typeface="Times New Roman" panose="02020603050405020304" pitchFamily="18" charset="0"/>
                <a:cs typeface="Times New Roman" panose="02020603050405020304" pitchFamily="18" charset="0"/>
              </a:rPr>
              <a:t>et de modifier le journal. En cas de panne du </a:t>
            </a:r>
            <a:r>
              <a:rPr lang="fr-FR" sz="2400" b="1" dirty="0">
                <a:solidFill>
                  <a:srgbClr val="00B050"/>
                </a:solidFill>
                <a:latin typeface="Times New Roman" panose="02020603050405020304" pitchFamily="18" charset="0"/>
                <a:cs typeface="Times New Roman" panose="02020603050405020304" pitchFamily="18" charset="0"/>
              </a:rPr>
              <a:t>Name Node</a:t>
            </a:r>
            <a:r>
              <a:rPr lang="fr-FR" sz="2400" dirty="0">
                <a:solidFill>
                  <a:prstClr val="black"/>
                </a:solidFill>
                <a:latin typeface="Times New Roman" panose="02020603050405020304" pitchFamily="18" charset="0"/>
                <a:cs typeface="Times New Roman" panose="02020603050405020304" pitchFamily="18" charset="0"/>
              </a:rPr>
              <a:t>, l'image de l'espace de noms stockée dans le </a:t>
            </a:r>
            <a:r>
              <a:rPr lang="fr-FR" sz="2400" b="1" dirty="0" err="1">
                <a:solidFill>
                  <a:srgbClr val="0070C0"/>
                </a:solidFill>
                <a:latin typeface="Times New Roman" panose="02020603050405020304" pitchFamily="18" charset="0"/>
                <a:cs typeface="Times New Roman" panose="02020603050405020304" pitchFamily="18" charset="0"/>
              </a:rPr>
              <a:t>secondary</a:t>
            </a:r>
            <a:r>
              <a:rPr lang="fr-FR" sz="2400" b="1" dirty="0">
                <a:solidFill>
                  <a:srgbClr val="0070C0"/>
                </a:solidFill>
                <a:latin typeface="Times New Roman" panose="02020603050405020304" pitchFamily="18" charset="0"/>
                <a:cs typeface="Times New Roman" panose="02020603050405020304" pitchFamily="18" charset="0"/>
              </a:rPr>
              <a:t> </a:t>
            </a:r>
            <a:r>
              <a:rPr lang="fr-FR" sz="2400" b="1" dirty="0" err="1">
                <a:solidFill>
                  <a:srgbClr val="0070C0"/>
                </a:solidFill>
                <a:latin typeface="Times New Roman" panose="02020603050405020304" pitchFamily="18" charset="0"/>
                <a:cs typeface="Times New Roman" panose="02020603050405020304" pitchFamily="18" charset="0"/>
              </a:rPr>
              <a:t>name</a:t>
            </a:r>
            <a:r>
              <a:rPr lang="fr-FR" sz="2400" b="1" dirty="0">
                <a:solidFill>
                  <a:srgbClr val="0070C0"/>
                </a:solidFill>
                <a:latin typeface="Times New Roman" panose="02020603050405020304" pitchFamily="18" charset="0"/>
                <a:cs typeface="Times New Roman" panose="02020603050405020304" pitchFamily="18" charset="0"/>
              </a:rPr>
              <a:t> </a:t>
            </a:r>
            <a:r>
              <a:rPr lang="fr-FR" sz="2400" b="1" dirty="0" err="1">
                <a:solidFill>
                  <a:srgbClr val="0070C0"/>
                </a:solidFill>
                <a:latin typeface="Times New Roman" panose="02020603050405020304" pitchFamily="18" charset="0"/>
                <a:cs typeface="Times New Roman" panose="02020603050405020304" pitchFamily="18" charset="0"/>
              </a:rPr>
              <a:t>node</a:t>
            </a:r>
            <a:r>
              <a:rPr lang="fr-FR" sz="2400" b="1" dirty="0">
                <a:solidFill>
                  <a:srgbClr val="0070C0"/>
                </a:solidFill>
                <a:latin typeface="Times New Roman" panose="02020603050405020304" pitchFamily="18" charset="0"/>
                <a:cs typeface="Times New Roman" panose="02020603050405020304" pitchFamily="18" charset="0"/>
              </a:rPr>
              <a:t> </a:t>
            </a:r>
            <a:r>
              <a:rPr lang="fr-FR" sz="2400" dirty="0">
                <a:solidFill>
                  <a:prstClr val="black"/>
                </a:solidFill>
                <a:latin typeface="Times New Roman" panose="02020603050405020304" pitchFamily="18" charset="0"/>
                <a:cs typeface="Times New Roman" panose="02020603050405020304" pitchFamily="18" charset="0"/>
              </a:rPr>
              <a:t>peut être utilisée pour redémarrer le </a:t>
            </a:r>
            <a:r>
              <a:rPr lang="fr-FR" sz="2400" b="1" dirty="0">
                <a:solidFill>
                  <a:srgbClr val="00B050"/>
                </a:solidFill>
                <a:latin typeface="Times New Roman" panose="02020603050405020304" pitchFamily="18" charset="0"/>
                <a:cs typeface="Times New Roman" panose="02020603050405020304" pitchFamily="18" charset="0"/>
              </a:rPr>
              <a:t>Name </a:t>
            </a:r>
            <a:r>
              <a:rPr lang="fr-FR" sz="2400" b="1" dirty="0" err="1">
                <a:solidFill>
                  <a:srgbClr val="00B050"/>
                </a:solidFill>
                <a:latin typeface="Times New Roman" panose="02020603050405020304" pitchFamily="18" charset="0"/>
                <a:cs typeface="Times New Roman" panose="02020603050405020304" pitchFamily="18" charset="0"/>
              </a:rPr>
              <a:t>node</a:t>
            </a:r>
            <a:r>
              <a:rPr lang="fr-FR" sz="2400" dirty="0">
                <a:solidFill>
                  <a:prstClr val="black"/>
                </a:solidFill>
                <a:latin typeface="Times New Roman" panose="02020603050405020304" pitchFamily="18" charset="0"/>
                <a:cs typeface="Times New Roman" panose="02020603050405020304" pitchFamily="18" charset="0"/>
              </a:rPr>
              <a:t>.</a:t>
            </a:r>
            <a:r>
              <a:rPr lang="fr-FR" sz="2400" dirty="0"/>
              <a:t> </a:t>
            </a:r>
            <a:r>
              <a:rPr lang="fr-FR" sz="2400" b="1" dirty="0"/>
              <a:t>l</a:t>
            </a:r>
            <a:r>
              <a:rPr lang="fr-FR" sz="2400" b="1" dirty="0">
                <a:solidFill>
                  <a:prstClr val="black"/>
                </a:solidFill>
                <a:latin typeface="Times New Roman" panose="02020603050405020304" pitchFamily="18" charset="0"/>
                <a:cs typeface="Times New Roman" panose="02020603050405020304" pitchFamily="18" charset="0"/>
              </a:rPr>
              <a:t>'espace de noms n'est qu'un chemin vers un objet (fichier/bloc) dans HDFS</a:t>
            </a:r>
            <a:r>
              <a:rPr lang="fr-FR" sz="2400" dirty="0">
                <a:solidFill>
                  <a:prstClr val="black"/>
                </a:solidFill>
                <a:latin typeface="Times New Roman" panose="02020603050405020304" pitchFamily="18" charset="0"/>
                <a:cs typeface="Times New Roman" panose="02020603050405020304" pitchFamily="18" charset="0"/>
              </a:rPr>
              <a:t>. </a:t>
            </a:r>
            <a:r>
              <a:rPr lang="fr-FR" sz="2400" b="1" dirty="0">
                <a:solidFill>
                  <a:srgbClr val="00B050"/>
                </a:solidFill>
                <a:latin typeface="Times New Roman" panose="02020603050405020304" pitchFamily="18" charset="0"/>
                <a:cs typeface="Times New Roman" panose="02020603050405020304" pitchFamily="18" charset="0"/>
              </a:rPr>
              <a:t>Name </a:t>
            </a:r>
            <a:r>
              <a:rPr lang="fr-FR" sz="2400" b="1" dirty="0" err="1">
                <a:solidFill>
                  <a:srgbClr val="00B050"/>
                </a:solidFill>
                <a:latin typeface="Times New Roman" panose="02020603050405020304" pitchFamily="18" charset="0"/>
                <a:cs typeface="Times New Roman" panose="02020603050405020304" pitchFamily="18" charset="0"/>
              </a:rPr>
              <a:t>node</a:t>
            </a:r>
            <a:r>
              <a:rPr lang="fr-FR" sz="2400" b="1" dirty="0">
                <a:solidFill>
                  <a:srgbClr val="00B050"/>
                </a:solidFill>
                <a:latin typeface="Times New Roman" panose="02020603050405020304" pitchFamily="18" charset="0"/>
                <a:cs typeface="Times New Roman" panose="02020603050405020304" pitchFamily="18" charset="0"/>
              </a:rPr>
              <a:t> </a:t>
            </a:r>
            <a:r>
              <a:rPr lang="fr-FR" sz="2400" dirty="0">
                <a:solidFill>
                  <a:prstClr val="black"/>
                </a:solidFill>
                <a:latin typeface="Times New Roman" panose="02020603050405020304" pitchFamily="18" charset="0"/>
                <a:cs typeface="Times New Roman" panose="02020603050405020304" pitchFamily="18" charset="0"/>
              </a:rPr>
              <a:t>gère l'espace de noms du système de fichiers (chemin) dans une structure arborescente.</a:t>
            </a:r>
            <a:endParaRPr lang="fr-FR" sz="2400" dirty="0"/>
          </a:p>
          <a:p>
            <a:pPr lvl="0" algn="just">
              <a:lnSpc>
                <a:spcPct val="130000"/>
              </a:lnSpc>
            </a:pPr>
            <a:r>
              <a:rPr lang="fr-FR" sz="2300" dirty="0">
                <a:solidFill>
                  <a:prstClr val="black"/>
                </a:solidFill>
                <a:latin typeface="Times New Roman" panose="02020603050405020304" pitchFamily="18" charset="0"/>
                <a:cs typeface="Times New Roman" panose="02020603050405020304" pitchFamily="18" charset="0"/>
              </a:rPr>
              <a:t>Le </a:t>
            </a:r>
            <a:r>
              <a:rPr lang="fr-FR" sz="2300" b="1" dirty="0">
                <a:solidFill>
                  <a:srgbClr val="0070C0"/>
                </a:solidFill>
                <a:latin typeface="Times New Roman" panose="02020603050405020304" pitchFamily="18" charset="0"/>
                <a:cs typeface="Times New Roman" panose="02020603050405020304" pitchFamily="18" charset="0"/>
              </a:rPr>
              <a:t>Secondary Name Node </a:t>
            </a:r>
            <a:r>
              <a:rPr lang="fr-FR" sz="2300" dirty="0">
                <a:solidFill>
                  <a:prstClr val="black"/>
                </a:solidFill>
                <a:latin typeface="Times New Roman" panose="02020603050405020304" pitchFamily="18" charset="0"/>
                <a:cs typeface="Times New Roman" panose="02020603050405020304" pitchFamily="18" charset="0"/>
              </a:rPr>
              <a:t>effectue des tâches d'entretien ménager et des points de contrôle au nom du </a:t>
            </a:r>
            <a:r>
              <a:rPr lang="fr-FR" sz="2300" b="1" dirty="0">
                <a:solidFill>
                  <a:srgbClr val="00B050"/>
                </a:solidFill>
                <a:latin typeface="Times New Roman" panose="02020603050405020304" pitchFamily="18" charset="0"/>
                <a:cs typeface="Times New Roman" panose="02020603050405020304" pitchFamily="18" charset="0"/>
              </a:rPr>
              <a:t>Name Node</a:t>
            </a:r>
            <a:r>
              <a:rPr lang="fr-FR" sz="2300" dirty="0">
                <a:solidFill>
                  <a:prstClr val="black"/>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108610" y="0"/>
            <a:ext cx="5416868" cy="646331"/>
          </a:xfrm>
          <a:prstGeom prst="rect">
            <a:avLst/>
          </a:prstGeom>
        </p:spPr>
        <p:txBody>
          <a:bodyPr wrap="none">
            <a:spAutoFit/>
          </a:bodyPr>
          <a:lstStyle/>
          <a:p>
            <a:r>
              <a:rPr lang="fr-FR" sz="3600" b="1" dirty="0">
                <a:solidFill>
                  <a:srgbClr val="C00000"/>
                </a:solidFill>
                <a:latin typeface="Times New Roman" panose="02020603050405020304" pitchFamily="18" charset="0"/>
                <a:cs typeface="Times New Roman" panose="02020603050405020304" pitchFamily="18" charset="0"/>
              </a:rPr>
              <a:t>Le Secondary Name Node </a:t>
            </a:r>
            <a:endParaRPr lang="fr-FR" sz="3600" dirty="0"/>
          </a:p>
        </p:txBody>
      </p:sp>
    </p:spTree>
    <p:extLst>
      <p:ext uri="{BB962C8B-B14F-4D97-AF65-F5344CB8AC3E}">
        <p14:creationId xmlns:p14="http://schemas.microsoft.com/office/powerpoint/2010/main" xmlns="" val="455740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B8B020E7-F4D5-4773-83A0-7C82389959A7}"/>
              </a:ext>
            </a:extLst>
          </p:cNvPr>
          <p:cNvSpPr/>
          <p:nvPr/>
        </p:nvSpPr>
        <p:spPr>
          <a:xfrm>
            <a:off x="337457" y="645033"/>
            <a:ext cx="11669486" cy="5567934"/>
          </a:xfrm>
          <a:prstGeom prst="rect">
            <a:avLst/>
          </a:prstGeom>
        </p:spPr>
        <p:txBody>
          <a:bodyPr wrap="square">
            <a:spAutoFit/>
          </a:bodyPr>
          <a:lstStyle/>
          <a:p>
            <a:pPr lvl="0" algn="just">
              <a:lnSpc>
                <a:spcPct val="130000"/>
              </a:lnSpc>
            </a:pPr>
            <a:r>
              <a:rPr lang="fr-FR" sz="2300" dirty="0">
                <a:solidFill>
                  <a:prstClr val="black"/>
                </a:solidFill>
                <a:latin typeface="Times New Roman" panose="02020603050405020304" pitchFamily="18" charset="0"/>
                <a:cs typeface="Times New Roman" panose="02020603050405020304" pitchFamily="18" charset="0"/>
              </a:rPr>
              <a:t>Le </a:t>
            </a:r>
            <a:r>
              <a:rPr lang="fr-FR" sz="2300" b="1" dirty="0">
                <a:solidFill>
                  <a:srgbClr val="00B050"/>
                </a:solidFill>
                <a:latin typeface="Times New Roman" panose="02020603050405020304" pitchFamily="18" charset="0"/>
                <a:cs typeface="Times New Roman" panose="02020603050405020304" pitchFamily="18" charset="0"/>
              </a:rPr>
              <a:t>Name Node </a:t>
            </a:r>
            <a:r>
              <a:rPr lang="fr-FR" sz="2300" dirty="0">
                <a:solidFill>
                  <a:prstClr val="black"/>
                </a:solidFill>
                <a:latin typeface="Times New Roman" panose="02020603050405020304" pitchFamily="18" charset="0"/>
                <a:cs typeface="Times New Roman" panose="02020603050405020304" pitchFamily="18" charset="0"/>
              </a:rPr>
              <a:t>conserve les métadonnées de l'ensemble du cluster HDFS. Si le </a:t>
            </a:r>
            <a:r>
              <a:rPr lang="fr-FR" sz="2300" b="1" dirty="0">
                <a:solidFill>
                  <a:srgbClr val="00B050"/>
                </a:solidFill>
                <a:latin typeface="Times New Roman" panose="02020603050405020304" pitchFamily="18" charset="0"/>
                <a:cs typeface="Times New Roman" panose="02020603050405020304" pitchFamily="18" charset="0"/>
              </a:rPr>
              <a:t>Name Node </a:t>
            </a:r>
            <a:r>
              <a:rPr lang="fr-FR" sz="2300" dirty="0">
                <a:solidFill>
                  <a:prstClr val="black"/>
                </a:solidFill>
                <a:latin typeface="Times New Roman" panose="02020603050405020304" pitchFamily="18" charset="0"/>
                <a:cs typeface="Times New Roman" panose="02020603050405020304" pitchFamily="18" charset="0"/>
              </a:rPr>
              <a:t>est en panne, l'ensemble du cluster HDFS devient inaccessible en raison de l'indisponibilité des métadonnées. C'est ce qu'on appelle le point de défaillance unique (SPOF). Par conséquent, il est recommandé d'exécuter le </a:t>
            </a:r>
            <a:r>
              <a:rPr lang="fr-FR" sz="2300" b="1" dirty="0">
                <a:solidFill>
                  <a:srgbClr val="00B050"/>
                </a:solidFill>
                <a:latin typeface="Times New Roman" panose="02020603050405020304" pitchFamily="18" charset="0"/>
                <a:cs typeface="Times New Roman" panose="02020603050405020304" pitchFamily="18" charset="0"/>
              </a:rPr>
              <a:t>Name Node </a:t>
            </a:r>
            <a:r>
              <a:rPr lang="fr-FR" sz="2300" dirty="0">
                <a:solidFill>
                  <a:prstClr val="black"/>
                </a:solidFill>
                <a:latin typeface="Times New Roman" panose="02020603050405020304" pitchFamily="18" charset="0"/>
                <a:cs typeface="Times New Roman" panose="02020603050405020304" pitchFamily="18" charset="0"/>
              </a:rPr>
              <a:t>sur un serveur d'entreprise dans un environnement de production. Cependant, la défaillance des serveurs est inévitable. Par conséquent, une copie des métadonnées du </a:t>
            </a:r>
            <a:r>
              <a:rPr lang="fr-FR" sz="2300" b="1" dirty="0">
                <a:solidFill>
                  <a:srgbClr val="00B050"/>
                </a:solidFill>
                <a:latin typeface="Times New Roman" panose="02020603050405020304" pitchFamily="18" charset="0"/>
                <a:cs typeface="Times New Roman" panose="02020603050405020304" pitchFamily="18" charset="0"/>
              </a:rPr>
              <a:t>Name Node </a:t>
            </a:r>
            <a:r>
              <a:rPr lang="fr-FR" sz="2300" dirty="0">
                <a:solidFill>
                  <a:prstClr val="black"/>
                </a:solidFill>
                <a:latin typeface="Times New Roman" panose="02020603050405020304" pitchFamily="18" charset="0"/>
                <a:cs typeface="Times New Roman" panose="02020603050405020304" pitchFamily="18" charset="0"/>
              </a:rPr>
              <a:t>est conservée dans une autre machine, appelée </a:t>
            </a:r>
            <a:r>
              <a:rPr lang="fr-FR" sz="2300" b="1" dirty="0">
                <a:solidFill>
                  <a:srgbClr val="0070C0"/>
                </a:solidFill>
                <a:latin typeface="Times New Roman" panose="02020603050405020304" pitchFamily="18" charset="0"/>
                <a:cs typeface="Times New Roman" panose="02020603050405020304" pitchFamily="18" charset="0"/>
              </a:rPr>
              <a:t>Secondary Name Node</a:t>
            </a:r>
            <a:r>
              <a:rPr lang="fr-FR" sz="2300" dirty="0">
                <a:solidFill>
                  <a:prstClr val="black"/>
                </a:solidFill>
                <a:latin typeface="Times New Roman" panose="02020603050405020304" pitchFamily="18" charset="0"/>
                <a:cs typeface="Times New Roman" panose="02020603050405020304" pitchFamily="18" charset="0"/>
              </a:rPr>
              <a:t>. Une autre option consiste à utiliser NFS pour conserver les métadonnées.</a:t>
            </a:r>
          </a:p>
          <a:p>
            <a:pPr lvl="0" algn="just">
              <a:lnSpc>
                <a:spcPct val="130000"/>
              </a:lnSpc>
            </a:pPr>
            <a:r>
              <a:rPr lang="fr-FR" sz="2300" dirty="0">
                <a:solidFill>
                  <a:prstClr val="black"/>
                </a:solidFill>
                <a:latin typeface="Times New Roman" panose="02020603050405020304" pitchFamily="18" charset="0"/>
                <a:cs typeface="Times New Roman" panose="02020603050405020304" pitchFamily="18" charset="0"/>
              </a:rPr>
              <a:t>SNN ne fournit pas de haute disponibilité (HA) (également appelée hot-standby) ni de basculement automatique. C'est-à-dire que si le </a:t>
            </a:r>
            <a:r>
              <a:rPr lang="fr-FR" sz="2300" b="1" dirty="0">
                <a:solidFill>
                  <a:srgbClr val="00B050"/>
                </a:solidFill>
                <a:latin typeface="Times New Roman" panose="02020603050405020304" pitchFamily="18" charset="0"/>
                <a:cs typeface="Times New Roman" panose="02020603050405020304" pitchFamily="18" charset="0"/>
              </a:rPr>
              <a:t>Name Node</a:t>
            </a:r>
            <a:r>
              <a:rPr lang="fr-FR" sz="2300" dirty="0">
                <a:solidFill>
                  <a:prstClr val="black"/>
                </a:solidFill>
                <a:latin typeface="Times New Roman" panose="02020603050405020304" pitchFamily="18" charset="0"/>
                <a:cs typeface="Times New Roman" panose="02020603050405020304" pitchFamily="18" charset="0"/>
              </a:rPr>
              <a:t> échoue, </a:t>
            </a:r>
            <a:r>
              <a:rPr lang="fr-FR" sz="2300" b="1" dirty="0">
                <a:solidFill>
                  <a:srgbClr val="0070C0"/>
                </a:solidFill>
                <a:latin typeface="Times New Roman" panose="02020603050405020304" pitchFamily="18" charset="0"/>
                <a:cs typeface="Times New Roman" panose="02020603050405020304" pitchFamily="18" charset="0"/>
              </a:rPr>
              <a:t>Secondary Name Node</a:t>
            </a:r>
            <a:r>
              <a:rPr lang="fr-FR" sz="2300" dirty="0">
                <a:solidFill>
                  <a:prstClr val="black"/>
                </a:solidFill>
                <a:latin typeface="Times New Roman" panose="02020603050405020304" pitchFamily="18" charset="0"/>
                <a:cs typeface="Times New Roman" panose="02020603050405020304" pitchFamily="18" charset="0"/>
              </a:rPr>
              <a:t>.  deviendra pas automatiquement NN. Un nouveau nœud est introduit dans le cluster (SNN est préférable), qui restaure </a:t>
            </a:r>
            <a:r>
              <a:rPr lang="fr-FR" sz="2300" dirty="0" err="1">
                <a:solidFill>
                  <a:prstClr val="black"/>
                </a:solidFill>
                <a:latin typeface="Times New Roman" panose="02020603050405020304" pitchFamily="18" charset="0"/>
                <a:cs typeface="Times New Roman" panose="02020603050405020304" pitchFamily="18" charset="0"/>
              </a:rPr>
              <a:t>FSImage</a:t>
            </a:r>
            <a:r>
              <a:rPr lang="fr-FR" sz="2300" dirty="0">
                <a:solidFill>
                  <a:prstClr val="black"/>
                </a:solidFill>
                <a:latin typeface="Times New Roman" panose="02020603050405020304" pitchFamily="18" charset="0"/>
                <a:cs typeface="Times New Roman" panose="02020603050405020304" pitchFamily="18" charset="0"/>
              </a:rPr>
              <a:t> à partir de SNN et commence à servir de NN. Toutes ces activités impliquent un effort manuel.</a:t>
            </a:r>
          </a:p>
        </p:txBody>
      </p:sp>
      <p:sp>
        <p:nvSpPr>
          <p:cNvPr id="3" name="Rectangle 2">
            <a:extLst>
              <a:ext uri="{FF2B5EF4-FFF2-40B4-BE49-F238E27FC236}">
                <a16:creationId xmlns:a16="http://schemas.microsoft.com/office/drawing/2014/main" xmlns="" id="{6DCA9B6C-7268-4268-94E3-6102DCBE8B07}"/>
              </a:ext>
            </a:extLst>
          </p:cNvPr>
          <p:cNvSpPr/>
          <p:nvPr/>
        </p:nvSpPr>
        <p:spPr>
          <a:xfrm>
            <a:off x="108610" y="0"/>
            <a:ext cx="5416868" cy="646331"/>
          </a:xfrm>
          <a:prstGeom prst="rect">
            <a:avLst/>
          </a:prstGeom>
        </p:spPr>
        <p:txBody>
          <a:bodyPr wrap="none">
            <a:spAutoFit/>
          </a:bodyPr>
          <a:lstStyle/>
          <a:p>
            <a:r>
              <a:rPr lang="fr-FR" sz="3600" b="1" dirty="0">
                <a:solidFill>
                  <a:srgbClr val="C00000"/>
                </a:solidFill>
                <a:latin typeface="Times New Roman" panose="02020603050405020304" pitchFamily="18" charset="0"/>
                <a:cs typeface="Times New Roman" panose="02020603050405020304" pitchFamily="18" charset="0"/>
              </a:rPr>
              <a:t>Le Secondary Name Node </a:t>
            </a:r>
            <a:endParaRPr lang="fr-FR" sz="3600" dirty="0"/>
          </a:p>
        </p:txBody>
      </p:sp>
    </p:spTree>
    <p:extLst>
      <p:ext uri="{BB962C8B-B14F-4D97-AF65-F5344CB8AC3E}">
        <p14:creationId xmlns:p14="http://schemas.microsoft.com/office/powerpoint/2010/main" xmlns="" val="2546997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 y="98585"/>
            <a:ext cx="11765280" cy="6759415"/>
          </a:xfrm>
          <a:prstGeom prst="rect">
            <a:avLst/>
          </a:prstGeom>
        </p:spPr>
        <p:txBody>
          <a:bodyPr wrap="square">
            <a:spAutoFit/>
          </a:bodyPr>
          <a:lstStyle/>
          <a:p>
            <a:pPr algn="just">
              <a:lnSpc>
                <a:spcPct val="130000"/>
              </a:lnSpc>
              <a:spcAft>
                <a:spcPts val="800"/>
              </a:spcAft>
            </a:pPr>
            <a:r>
              <a:rPr lang="fr-FR" sz="2200" dirty="0">
                <a:latin typeface="Times New Roman" panose="02020603050405020304" pitchFamily="18" charset="0"/>
                <a:ea typeface="Calibri" panose="020F0502020204030204" pitchFamily="34" charset="0"/>
                <a:cs typeface="Times New Roman" panose="02020603050405020304" pitchFamily="18" charset="0"/>
              </a:rPr>
              <a:t>Il est possible que les processus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200" dirty="0">
                <a:latin typeface="Times New Roman" panose="02020603050405020304" pitchFamily="18" charset="0"/>
                <a:ea typeface="Calibri" panose="020F0502020204030204" pitchFamily="34" charset="0"/>
                <a:cs typeface="Times New Roman" panose="02020603050405020304" pitchFamily="18" charset="0"/>
              </a:rPr>
              <a:t>et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200" dirty="0">
                <a:latin typeface="Times New Roman" panose="02020603050405020304" pitchFamily="18" charset="0"/>
                <a:ea typeface="Calibri" panose="020F0502020204030204" pitchFamily="34" charset="0"/>
                <a:cs typeface="Times New Roman" panose="02020603050405020304" pitchFamily="18" charset="0"/>
              </a:rPr>
              <a:t>soient exécutés sur une seule machine. Cependant, les clusters HDFS sont généralement constitués d'un serveur dédié exécutant le processus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200" dirty="0">
                <a:latin typeface="Times New Roman" panose="02020603050405020304" pitchFamily="18" charset="0"/>
                <a:ea typeface="Calibri" panose="020F0502020204030204" pitchFamily="34" charset="0"/>
                <a:cs typeface="Times New Roman" panose="02020603050405020304" pitchFamily="18" charset="0"/>
              </a:rPr>
              <a:t>et de milliers de machines exécutant le processus </a:t>
            </a:r>
            <a:r>
              <a:rPr lang="fr-FR" sz="2200" b="1" dirty="0">
                <a:latin typeface="Times New Roman" panose="02020603050405020304" pitchFamily="18" charset="0"/>
                <a:ea typeface="Calibri" panose="020F0502020204030204" pitchFamily="34" charset="0"/>
                <a:cs typeface="Times New Roman" panose="02020603050405020304" pitchFamily="18" charset="0"/>
              </a:rPr>
              <a:t>Data Node</a:t>
            </a:r>
            <a:r>
              <a:rPr lang="fr-FR" sz="2200" dirty="0">
                <a:latin typeface="Times New Roman" panose="02020603050405020304" pitchFamily="18" charset="0"/>
                <a:ea typeface="Calibri" panose="020F0502020204030204" pitchFamily="34" charset="0"/>
                <a:cs typeface="Times New Roman" panose="02020603050405020304" pitchFamily="18" charset="0"/>
              </a:rPr>
              <a:t>. Afin de pouvoir accéder aux informations de contenu stockées dans le </a:t>
            </a:r>
            <a:r>
              <a:rPr lang="fr-FR" sz="2200" b="1"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NameNode</a:t>
            </a:r>
            <a:r>
              <a:rPr lang="fr-FR" sz="2200" dirty="0">
                <a:latin typeface="Times New Roman" panose="02020603050405020304" pitchFamily="18" charset="0"/>
                <a:ea typeface="Calibri" panose="020F0502020204030204" pitchFamily="34" charset="0"/>
                <a:cs typeface="Times New Roman" panose="02020603050405020304" pitchFamily="18" charset="0"/>
              </a:rPr>
              <a:t>, il stocke l'intégralité de la structure des métadonnées en mémoire. Il garantit qu'il n'y a pas de perte de données à la suite de pannes de machine en gardant une trace du facteur de réplication des blocs. Puisqu'il s'agit d'un point de défaillance unique, pour réduire le risque de perte de données en raison de la défaillance d'un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a:t>
            </a:r>
            <a:r>
              <a:rPr lang="fr-FR" sz="2200" dirty="0">
                <a:latin typeface="Times New Roman" panose="02020603050405020304" pitchFamily="18" charset="0"/>
                <a:ea typeface="Calibri" panose="020F0502020204030204" pitchFamily="34" charset="0"/>
                <a:cs typeface="Times New Roman" panose="02020603050405020304" pitchFamily="18" charset="0"/>
              </a:rPr>
              <a:t>, un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200" dirty="0">
                <a:latin typeface="Times New Roman" panose="02020603050405020304" pitchFamily="18" charset="0"/>
                <a:ea typeface="Calibri" panose="020F0502020204030204" pitchFamily="34" charset="0"/>
                <a:cs typeface="Times New Roman" panose="02020603050405020304" pitchFamily="18" charset="0"/>
              </a:rPr>
              <a:t>secondaire peut être utilisé pour générer des instantanés des structures de mémoire du </a:t>
            </a:r>
            <a:r>
              <a:rPr lang="fr-FR" sz="2200" dirty="0" err="1">
                <a:latin typeface="Times New Roman" panose="02020603050405020304" pitchFamily="18" charset="0"/>
                <a:ea typeface="Calibri" panose="020F0502020204030204" pitchFamily="34" charset="0"/>
                <a:cs typeface="Times New Roman" panose="02020603050405020304" pitchFamily="18" charset="0"/>
              </a:rPr>
              <a:t>NameNode</a:t>
            </a:r>
            <a:r>
              <a:rPr lang="fr-FR" sz="2200" dirty="0">
                <a:latin typeface="Times New Roman" panose="02020603050405020304" pitchFamily="18" charset="0"/>
                <a:ea typeface="Calibri" panose="020F0502020204030204" pitchFamily="34" charset="0"/>
                <a:cs typeface="Times New Roman" panose="02020603050405020304" pitchFamily="18" charset="0"/>
              </a:rPr>
              <a:t> principal.</a:t>
            </a:r>
            <a:endParaRPr lang="fr-FR"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30000"/>
              </a:lnSpc>
              <a:spcAft>
                <a:spcPts val="800"/>
              </a:spcAft>
            </a:pPr>
            <a:r>
              <a:rPr lang="fr-FR" sz="2200" dirty="0">
                <a:latin typeface="Times New Roman" panose="02020603050405020304" pitchFamily="18" charset="0"/>
                <a:ea typeface="Calibri" panose="020F0502020204030204" pitchFamily="34" charset="0"/>
                <a:cs typeface="Times New Roman" panose="02020603050405020304" pitchFamily="18" charset="0"/>
              </a:rPr>
              <a:t>Les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a:t>
            </a:r>
            <a:r>
              <a:rPr lang="fr-FR" sz="22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Nodes</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fr-FR" sz="2200" dirty="0">
                <a:latin typeface="Times New Roman" panose="02020603050405020304" pitchFamily="18" charset="0"/>
                <a:ea typeface="Calibri" panose="020F0502020204030204" pitchFamily="34" charset="0"/>
                <a:cs typeface="Times New Roman" panose="02020603050405020304" pitchFamily="18" charset="0"/>
              </a:rPr>
              <a:t>ont de grandes capacités de stockage et, contrairement au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a:t>
            </a:r>
            <a:r>
              <a:rPr lang="fr-FR" sz="2200" dirty="0">
                <a:latin typeface="Times New Roman" panose="02020603050405020304" pitchFamily="18" charset="0"/>
                <a:ea typeface="Calibri" panose="020F0502020204030204" pitchFamily="34" charset="0"/>
                <a:cs typeface="Times New Roman" panose="02020603050405020304" pitchFamily="18" charset="0"/>
              </a:rPr>
              <a:t>, HDFS continuera à fonctionner normalement si un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200" dirty="0">
                <a:latin typeface="Times New Roman" panose="02020603050405020304" pitchFamily="18" charset="0"/>
                <a:ea typeface="Calibri" panose="020F0502020204030204" pitchFamily="34" charset="0"/>
                <a:cs typeface="Times New Roman" panose="02020603050405020304" pitchFamily="18" charset="0"/>
              </a:rPr>
              <a:t>échoue. Lorsqu'un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200" dirty="0">
                <a:latin typeface="Times New Roman" panose="02020603050405020304" pitchFamily="18" charset="0"/>
                <a:ea typeface="Calibri" panose="020F0502020204030204" pitchFamily="34" charset="0"/>
                <a:cs typeface="Times New Roman" panose="02020603050405020304" pitchFamily="18" charset="0"/>
              </a:rPr>
              <a:t>échoue, le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200" dirty="0">
                <a:latin typeface="Times New Roman" panose="02020603050405020304" pitchFamily="18" charset="0"/>
                <a:ea typeface="Calibri" panose="020F0502020204030204" pitchFamily="34" charset="0"/>
                <a:cs typeface="Times New Roman" panose="02020603050405020304" pitchFamily="18" charset="0"/>
              </a:rPr>
              <a:t>prend automatiquement en charge la réplication désormais diminuée de tous les blocs de données dans le </a:t>
            </a:r>
            <a:r>
              <a:rPr lang="fr-FR" sz="22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Node </a:t>
            </a:r>
            <a:r>
              <a:rPr lang="fr-FR" sz="2200" dirty="0">
                <a:latin typeface="Times New Roman" panose="02020603050405020304" pitchFamily="18" charset="0"/>
                <a:ea typeface="Calibri" panose="020F0502020204030204" pitchFamily="34" charset="0"/>
                <a:cs typeface="Times New Roman" panose="02020603050405020304" pitchFamily="18" charset="0"/>
              </a:rPr>
              <a:t>défaillant et s'assure que la réplication est reconstruite. Étant donné que le </a:t>
            </a:r>
            <a:r>
              <a:rPr lang="fr-FR" sz="22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200" dirty="0">
                <a:latin typeface="Times New Roman" panose="02020603050405020304" pitchFamily="18" charset="0"/>
                <a:ea typeface="Calibri" panose="020F0502020204030204" pitchFamily="34" charset="0"/>
                <a:cs typeface="Times New Roman" panose="02020603050405020304" pitchFamily="18" charset="0"/>
              </a:rPr>
              <a:t>connaît tous les emplacements des blocs répliqués, tous les clients connectés au cluster peuvent procéder avec peu ou pas de problèmes.</a:t>
            </a:r>
            <a:endParaRPr lang="fr-FR"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203140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D5D4F9B8-6965-438A-992F-24511B4FB164}"/>
              </a:ext>
            </a:extLst>
          </p:cNvPr>
          <p:cNvSpPr/>
          <p:nvPr/>
        </p:nvSpPr>
        <p:spPr>
          <a:xfrm>
            <a:off x="3176350" y="327172"/>
            <a:ext cx="3736792" cy="678327"/>
          </a:xfrm>
          <a:prstGeom prst="rect">
            <a:avLst/>
          </a:prstGeom>
        </p:spPr>
        <p:txBody>
          <a:bodyPr wrap="none">
            <a:spAutoFit/>
          </a:bodyPr>
          <a:lstStyle/>
          <a:p>
            <a:pPr algn="just">
              <a:lnSpc>
                <a:spcPct val="115000"/>
              </a:lnSpc>
              <a:spcAft>
                <a:spcPts val="0"/>
              </a:spcAft>
            </a:pPr>
            <a:r>
              <a:rPr lang="fr-FR" sz="3600" b="1" dirty="0">
                <a:solidFill>
                  <a:srgbClr val="C00000"/>
                </a:solidFill>
                <a:latin typeface="Times New Roman" panose="02020603050405020304" pitchFamily="18" charset="0"/>
                <a:cs typeface="Times New Roman" panose="02020603050405020304" pitchFamily="18" charset="0"/>
              </a:rPr>
              <a:t>Les META-DATA</a:t>
            </a:r>
          </a:p>
        </p:txBody>
      </p:sp>
      <p:sp>
        <p:nvSpPr>
          <p:cNvPr id="3" name="Rectangle 2">
            <a:extLst>
              <a:ext uri="{FF2B5EF4-FFF2-40B4-BE49-F238E27FC236}">
                <a16:creationId xmlns:a16="http://schemas.microsoft.com/office/drawing/2014/main" xmlns="" id="{6E67A840-7470-45F0-8CB9-0F8AE51DCA1E}"/>
              </a:ext>
            </a:extLst>
          </p:cNvPr>
          <p:cNvSpPr/>
          <p:nvPr/>
        </p:nvSpPr>
        <p:spPr>
          <a:xfrm>
            <a:off x="424543" y="1186742"/>
            <a:ext cx="11190514" cy="5210401"/>
          </a:xfrm>
          <a:prstGeom prst="rect">
            <a:avLst/>
          </a:prstGeom>
        </p:spPr>
        <p:txBody>
          <a:bodyPr wrap="square">
            <a:spAutoFit/>
          </a:bodyPr>
          <a:lstStyle/>
          <a:p>
            <a:pPr algn="just">
              <a:lnSpc>
                <a:spcPct val="130000"/>
              </a:lnSpc>
              <a:spcAft>
                <a:spcPts val="800"/>
              </a:spcAft>
            </a:pPr>
            <a:r>
              <a:rPr lang="fr-FR" sz="2300" dirty="0">
                <a:latin typeface="Times New Roman" panose="02020603050405020304" pitchFamily="18" charset="0"/>
                <a:ea typeface="Calibri" panose="020F0502020204030204" pitchFamily="34" charset="0"/>
                <a:cs typeface="Times New Roman" panose="02020603050405020304" pitchFamily="18" charset="0"/>
              </a:rPr>
              <a:t>L'une des principales responsabilités de NN est de maintenir les métadonnées des fichiers et des répertoires. </a:t>
            </a:r>
            <a:r>
              <a:rPr lang="fr-FR" sz="2300" b="1" dirty="0">
                <a:latin typeface="Times New Roman" panose="02020603050405020304" pitchFamily="18" charset="0"/>
                <a:ea typeface="Calibri" panose="020F0502020204030204" pitchFamily="34" charset="0"/>
                <a:cs typeface="Times New Roman" panose="02020603050405020304" pitchFamily="18" charset="0"/>
              </a:rPr>
              <a:t>Les métadonnées comprennent généralement trois parties en mémoire : </a:t>
            </a:r>
            <a:r>
              <a:rPr lang="fr-FR" sz="2300" b="1" dirty="0">
                <a:solidFill>
                  <a:srgbClr val="2F5496"/>
                </a:solidFill>
                <a:latin typeface="Times New Roman" panose="02020603050405020304" pitchFamily="18" charset="0"/>
                <a:ea typeface="Calibri" panose="020F0502020204030204" pitchFamily="34" charset="0"/>
                <a:cs typeface="Times New Roman" panose="02020603050405020304" pitchFamily="18" charset="0"/>
              </a:rPr>
              <a:t>un fichier </a:t>
            </a:r>
            <a:r>
              <a:rPr lang="fr-FR" sz="2300" b="1" dirty="0" err="1">
                <a:solidFill>
                  <a:srgbClr val="2F5496"/>
                </a:solidFill>
                <a:latin typeface="Times New Roman" panose="02020603050405020304" pitchFamily="18" charset="0"/>
                <a:ea typeface="Calibri" panose="020F0502020204030204" pitchFamily="34" charset="0"/>
                <a:cs typeface="Times New Roman" panose="02020603050405020304" pitchFamily="18" charset="0"/>
              </a:rPr>
              <a:t>FSImage</a:t>
            </a:r>
            <a:r>
              <a:rPr lang="fr-FR" sz="2300" b="1" dirty="0">
                <a:latin typeface="Times New Roman" panose="02020603050405020304" pitchFamily="18" charset="0"/>
                <a:ea typeface="Calibri" panose="020F0502020204030204" pitchFamily="34" charset="0"/>
                <a:cs typeface="Times New Roman" panose="02020603050405020304" pitchFamily="18" charset="0"/>
              </a:rPr>
              <a:t> (lecture seule), </a:t>
            </a:r>
            <a:r>
              <a:rPr lang="fr-FR" sz="23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un fichier </a:t>
            </a:r>
            <a:r>
              <a:rPr lang="fr-FR" sz="23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edit_log</a:t>
            </a:r>
            <a:r>
              <a:rPr lang="fr-FR" sz="2300" b="1" dirty="0">
                <a:latin typeface="Times New Roman" panose="02020603050405020304" pitchFamily="18" charset="0"/>
                <a:ea typeface="Calibri" panose="020F0502020204030204" pitchFamily="34" charset="0"/>
                <a:cs typeface="Times New Roman" panose="02020603050405020304" pitchFamily="18" charset="0"/>
              </a:rPr>
              <a:t> et </a:t>
            </a:r>
            <a:r>
              <a:rPr lang="fr-FR" sz="23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des informations sur l'emplacement du bloc </a:t>
            </a:r>
            <a:r>
              <a:rPr lang="fr-FR" sz="23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(Block location information).</a:t>
            </a:r>
            <a:r>
              <a:rPr lang="fr-FR" sz="2300" b="1" dirty="0">
                <a:latin typeface="Times New Roman" panose="02020603050405020304" pitchFamily="18" charset="0"/>
                <a:ea typeface="Calibri" panose="020F0502020204030204" pitchFamily="34" charset="0"/>
                <a:cs typeface="Times New Roman" panose="02020603050405020304" pitchFamily="18" charset="0"/>
              </a:rPr>
              <a:t> Les fichiers </a:t>
            </a:r>
            <a:r>
              <a:rPr lang="fr-FR" sz="2300" b="1" dirty="0" err="1">
                <a:latin typeface="Times New Roman" panose="02020603050405020304" pitchFamily="18" charset="0"/>
                <a:ea typeface="Calibri" panose="020F0502020204030204" pitchFamily="34" charset="0"/>
                <a:cs typeface="Times New Roman" panose="02020603050405020304" pitchFamily="18" charset="0"/>
              </a:rPr>
              <a:t>FSImage</a:t>
            </a:r>
            <a:r>
              <a:rPr lang="fr-FR" sz="2300" b="1" dirty="0">
                <a:latin typeface="Times New Roman" panose="02020603050405020304" pitchFamily="18" charset="0"/>
                <a:ea typeface="Calibri" panose="020F0502020204030204" pitchFamily="34" charset="0"/>
                <a:cs typeface="Times New Roman" panose="02020603050405020304" pitchFamily="18" charset="0"/>
              </a:rPr>
              <a:t> et </a:t>
            </a:r>
            <a:r>
              <a:rPr lang="fr-FR" sz="2300" b="1" dirty="0" err="1">
                <a:latin typeface="Times New Roman" panose="02020603050405020304" pitchFamily="18" charset="0"/>
                <a:ea typeface="Calibri" panose="020F0502020204030204" pitchFamily="34" charset="0"/>
                <a:cs typeface="Times New Roman" panose="02020603050405020304" pitchFamily="18" charset="0"/>
              </a:rPr>
              <a:t>edit_log</a:t>
            </a:r>
            <a:r>
              <a:rPr lang="fr-FR" sz="2300" b="1" dirty="0">
                <a:latin typeface="Times New Roman" panose="02020603050405020304" pitchFamily="18" charset="0"/>
                <a:ea typeface="Calibri" panose="020F0502020204030204" pitchFamily="34" charset="0"/>
                <a:cs typeface="Times New Roman" panose="02020603050405020304" pitchFamily="18" charset="0"/>
              </a:rPr>
              <a:t> sont persistants (écrits sur le disque) et également conservés dans la mémoire NN. Cependant, les informations d'emplacement de bloc ne sont conservées qu'en mémoire. </a:t>
            </a:r>
          </a:p>
          <a:p>
            <a:pPr algn="just">
              <a:lnSpc>
                <a:spcPct val="130000"/>
              </a:lnSpc>
              <a:spcAft>
                <a:spcPts val="800"/>
              </a:spcAft>
            </a:pPr>
            <a:r>
              <a:rPr lang="fr-FR" sz="2300" b="1" dirty="0" err="1">
                <a:latin typeface="Times New Roman" panose="02020603050405020304" pitchFamily="18" charset="0"/>
                <a:cs typeface="Times New Roman" panose="02020603050405020304" pitchFamily="18" charset="0"/>
              </a:rPr>
              <a:t>FSImage</a:t>
            </a:r>
            <a:r>
              <a:rPr lang="fr-FR" sz="2300" dirty="0">
                <a:latin typeface="Times New Roman" panose="02020603050405020304" pitchFamily="18" charset="0"/>
                <a:cs typeface="Times New Roman" panose="02020603050405020304" pitchFamily="18" charset="0"/>
              </a:rPr>
              <a:t> - File System Image est un fichier en lecture seule qui contient toutes sortes d'informations sur les fichiers d'entrée et les blocs tels que le nom de fichier, l'ID de fichier, la liste des blocs d'un fichier avec son ID, l'espace de noms (chemin), la propriété, les autorisations, le stockage quotas, facteur de réplication (RF), date de création des répertoires/fichiers/blocs, etc.</a:t>
            </a:r>
          </a:p>
        </p:txBody>
      </p:sp>
    </p:spTree>
    <p:extLst>
      <p:ext uri="{BB962C8B-B14F-4D97-AF65-F5344CB8AC3E}">
        <p14:creationId xmlns:p14="http://schemas.microsoft.com/office/powerpoint/2010/main" xmlns="" val="235348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D2897216-83EF-4BC6-B489-0A16FEBC6255}"/>
              </a:ext>
            </a:extLst>
          </p:cNvPr>
          <p:cNvSpPr/>
          <p:nvPr/>
        </p:nvSpPr>
        <p:spPr>
          <a:xfrm>
            <a:off x="76200" y="438410"/>
            <a:ext cx="11908971" cy="6590779"/>
          </a:xfrm>
          <a:prstGeom prst="rect">
            <a:avLst/>
          </a:prstGeom>
        </p:spPr>
        <p:txBody>
          <a:bodyPr wrap="square">
            <a:spAutoFit/>
          </a:bodyPr>
          <a:lstStyle/>
          <a:p>
            <a:pPr lvl="0" algn="just">
              <a:lnSpc>
                <a:spcPct val="130000"/>
              </a:lnSpc>
              <a:spcAft>
                <a:spcPts val="800"/>
              </a:spcAft>
            </a:pPr>
            <a:r>
              <a:rPr lang="fr-FR" sz="2300" b="1" dirty="0" err="1">
                <a:solidFill>
                  <a:srgbClr val="C00000"/>
                </a:solidFill>
                <a:latin typeface="Times New Roman" panose="02020603050405020304" pitchFamily="18" charset="0"/>
                <a:cs typeface="Times New Roman" panose="02020603050405020304" pitchFamily="18" charset="0"/>
              </a:rPr>
              <a:t>Edit_logs</a:t>
            </a:r>
            <a:r>
              <a:rPr lang="fr-FR" sz="2300" b="1" dirty="0">
                <a:solidFill>
                  <a:srgbClr val="C00000"/>
                </a:solidFill>
                <a:latin typeface="Times New Roman" panose="02020603050405020304" pitchFamily="18" charset="0"/>
                <a:cs typeface="Times New Roman" panose="02020603050405020304" pitchFamily="18" charset="0"/>
              </a:rPr>
              <a:t> </a:t>
            </a:r>
            <a:r>
              <a:rPr lang="fr-FR" sz="2300" dirty="0">
                <a:solidFill>
                  <a:prstClr val="black"/>
                </a:solidFill>
                <a:latin typeface="Times New Roman" panose="02020603050405020304" pitchFamily="18" charset="0"/>
                <a:cs typeface="Times New Roman" panose="02020603050405020304" pitchFamily="18" charset="0"/>
              </a:rPr>
              <a:t>– Pendant les opérations du système de fichiers telles que la lecture, les attributs de bloc sont référencés dans </a:t>
            </a:r>
            <a:r>
              <a:rPr lang="fr-FR" sz="2300" b="1" dirty="0" err="1">
                <a:solidFill>
                  <a:prstClr val="black"/>
                </a:solidFill>
                <a:latin typeface="Times New Roman" panose="02020603050405020304" pitchFamily="18" charset="0"/>
                <a:cs typeface="Times New Roman" panose="02020603050405020304" pitchFamily="18" charset="0"/>
              </a:rPr>
              <a:t>FSImage</a:t>
            </a:r>
            <a:r>
              <a:rPr lang="fr-FR" sz="2300" dirty="0">
                <a:solidFill>
                  <a:prstClr val="black"/>
                </a:solidFill>
                <a:latin typeface="Times New Roman" panose="02020603050405020304" pitchFamily="18" charset="0"/>
                <a:cs typeface="Times New Roman" panose="02020603050405020304" pitchFamily="18" charset="0"/>
              </a:rPr>
              <a:t>. Pour les opérations du système de fichiers telles que l'écriture/la suppression, </a:t>
            </a:r>
            <a:r>
              <a:rPr lang="fr-FR" sz="2300" b="1" dirty="0" err="1">
                <a:solidFill>
                  <a:prstClr val="black"/>
                </a:solidFill>
                <a:latin typeface="Times New Roman" panose="02020603050405020304" pitchFamily="18" charset="0"/>
                <a:cs typeface="Times New Roman" panose="02020603050405020304" pitchFamily="18" charset="0"/>
              </a:rPr>
              <a:t>FSImage</a:t>
            </a:r>
            <a:r>
              <a:rPr lang="fr-FR" sz="2300" dirty="0">
                <a:solidFill>
                  <a:prstClr val="black"/>
                </a:solidFill>
                <a:latin typeface="Times New Roman" panose="02020603050405020304" pitchFamily="18" charset="0"/>
                <a:cs typeface="Times New Roman" panose="02020603050405020304" pitchFamily="18" charset="0"/>
              </a:rPr>
              <a:t> n'est pas mis à jour car il est en lecture seule. Parce que la mise à jour du fichier </a:t>
            </a:r>
            <a:r>
              <a:rPr lang="fr-FR" sz="2300" dirty="0" err="1">
                <a:solidFill>
                  <a:prstClr val="black"/>
                </a:solidFill>
                <a:latin typeface="Times New Roman" panose="02020603050405020304" pitchFamily="18" charset="0"/>
                <a:cs typeface="Times New Roman" panose="02020603050405020304" pitchFamily="18" charset="0"/>
              </a:rPr>
              <a:t>FSImage</a:t>
            </a:r>
            <a:r>
              <a:rPr lang="fr-FR" sz="2300" dirty="0">
                <a:solidFill>
                  <a:prstClr val="black"/>
                </a:solidFill>
                <a:latin typeface="Times New Roman" panose="02020603050405020304" pitchFamily="18" charset="0"/>
                <a:cs typeface="Times New Roman" panose="02020603050405020304" pitchFamily="18" charset="0"/>
              </a:rPr>
              <a:t> pour chaque opération du système de fichiers de temps en temps est coûteuse en termes de calcul. </a:t>
            </a:r>
          </a:p>
          <a:p>
            <a:pPr lvl="0" algn="just">
              <a:lnSpc>
                <a:spcPct val="130000"/>
              </a:lnSpc>
              <a:spcAft>
                <a:spcPts val="800"/>
              </a:spcAft>
            </a:pPr>
            <a:r>
              <a:rPr lang="fr-FR" sz="2300" b="1" dirty="0">
                <a:solidFill>
                  <a:srgbClr val="C00000"/>
                </a:solidFill>
                <a:latin typeface="Times New Roman" panose="02020603050405020304" pitchFamily="18" charset="0"/>
                <a:cs typeface="Times New Roman" panose="02020603050405020304" pitchFamily="18" charset="0"/>
              </a:rPr>
              <a:t>Informations sur l'emplacement des blocs </a:t>
            </a:r>
            <a:r>
              <a:rPr lang="fr-FR" sz="2300" dirty="0">
                <a:solidFill>
                  <a:prstClr val="black"/>
                </a:solidFill>
                <a:latin typeface="Times New Roman" panose="02020603050405020304" pitchFamily="18" charset="0"/>
                <a:cs typeface="Times New Roman" panose="02020603050405020304" pitchFamily="18" charset="0"/>
              </a:rPr>
              <a:t>- Lorsque des milliards de blocs sont stockés dans HDFS, la référence des fichiers </a:t>
            </a:r>
            <a:r>
              <a:rPr lang="fr-FR" sz="2300" dirty="0" err="1">
                <a:solidFill>
                  <a:prstClr val="black"/>
                </a:solidFill>
                <a:latin typeface="Times New Roman" panose="02020603050405020304" pitchFamily="18" charset="0"/>
                <a:cs typeface="Times New Roman" panose="02020603050405020304" pitchFamily="18" charset="0"/>
              </a:rPr>
              <a:t>FSImage</a:t>
            </a:r>
            <a:r>
              <a:rPr lang="fr-FR" sz="2300" dirty="0">
                <a:solidFill>
                  <a:prstClr val="black"/>
                </a:solidFill>
                <a:latin typeface="Times New Roman" panose="02020603050405020304" pitchFamily="18" charset="0"/>
                <a:cs typeface="Times New Roman" panose="02020603050405020304" pitchFamily="18" charset="0"/>
              </a:rPr>
              <a:t> et </a:t>
            </a:r>
            <a:r>
              <a:rPr lang="fr-FR" sz="2300" dirty="0" err="1">
                <a:solidFill>
                  <a:prstClr val="black"/>
                </a:solidFill>
                <a:latin typeface="Times New Roman" panose="02020603050405020304" pitchFamily="18" charset="0"/>
                <a:cs typeface="Times New Roman" panose="02020603050405020304" pitchFamily="18" charset="0"/>
              </a:rPr>
              <a:t>edit_log</a:t>
            </a:r>
            <a:r>
              <a:rPr lang="fr-FR" sz="2300" dirty="0">
                <a:solidFill>
                  <a:prstClr val="black"/>
                </a:solidFill>
                <a:latin typeface="Times New Roman" panose="02020603050405020304" pitchFamily="18" charset="0"/>
                <a:cs typeface="Times New Roman" panose="02020603050405020304" pitchFamily="18" charset="0"/>
              </a:rPr>
              <a:t> pour les opérations de lecture/écriture prend du temps. Par conséquent, l'emplacement de bloc de chaque fichier est conservé séparément en mémoire pour un accès plus rapide. En utilisant cela, NN effectue un mappage de bloc (quel bloc appartient à quel fichier et stocké dans quel DN). Ces informations de bloc ne sont pas conservées et perdues si NN est en panne. Lorsque NN est activé, il collecte les informations d'emplacement de bloc de tous les DN via des rapports de bloc. Tant que ce processus n'est pas terminé, aucune opération d'écriture de bloc ne peut être effectuée car NN est en mode sans échec, dans lequel seule l'opération de lecture est autorisée.</a:t>
            </a:r>
          </a:p>
        </p:txBody>
      </p:sp>
      <p:sp>
        <p:nvSpPr>
          <p:cNvPr id="3" name="Rectangle 2">
            <a:extLst>
              <a:ext uri="{FF2B5EF4-FFF2-40B4-BE49-F238E27FC236}">
                <a16:creationId xmlns:a16="http://schemas.microsoft.com/office/drawing/2014/main" xmlns="" id="{EA4B219E-6F67-4E79-B3BB-BA8D4AA4ABEA}"/>
              </a:ext>
            </a:extLst>
          </p:cNvPr>
          <p:cNvSpPr/>
          <p:nvPr/>
        </p:nvSpPr>
        <p:spPr>
          <a:xfrm>
            <a:off x="3176350" y="-32059"/>
            <a:ext cx="3736792" cy="678327"/>
          </a:xfrm>
          <a:prstGeom prst="rect">
            <a:avLst/>
          </a:prstGeom>
        </p:spPr>
        <p:txBody>
          <a:bodyPr wrap="none">
            <a:spAutoFit/>
          </a:bodyPr>
          <a:lstStyle/>
          <a:p>
            <a:pPr algn="just">
              <a:lnSpc>
                <a:spcPct val="115000"/>
              </a:lnSpc>
              <a:spcAft>
                <a:spcPts val="0"/>
              </a:spcAft>
            </a:pPr>
            <a:r>
              <a:rPr lang="fr-FR" sz="3600" b="1" dirty="0">
                <a:solidFill>
                  <a:srgbClr val="C00000"/>
                </a:solidFill>
                <a:latin typeface="Times New Roman" panose="02020603050405020304" pitchFamily="18" charset="0"/>
                <a:cs typeface="Times New Roman" panose="02020603050405020304" pitchFamily="18" charset="0"/>
              </a:rPr>
              <a:t>Les META-DATA</a:t>
            </a:r>
          </a:p>
        </p:txBody>
      </p:sp>
    </p:spTree>
    <p:extLst>
      <p:ext uri="{BB962C8B-B14F-4D97-AF65-F5344CB8AC3E}">
        <p14:creationId xmlns:p14="http://schemas.microsoft.com/office/powerpoint/2010/main" xmlns="" val="2560578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B9F9B7C6-7F2E-45F5-9389-CE8EB9F76F59}"/>
              </a:ext>
            </a:extLst>
          </p:cNvPr>
          <p:cNvSpPr txBox="1"/>
          <p:nvPr/>
        </p:nvSpPr>
        <p:spPr>
          <a:xfrm>
            <a:off x="392971" y="229603"/>
            <a:ext cx="6174084" cy="646331"/>
          </a:xfrm>
          <a:prstGeom prst="rect">
            <a:avLst/>
          </a:prstGeom>
          <a:noFill/>
        </p:spPr>
        <p:txBody>
          <a:bodyPr wrap="square">
            <a:spAutoFit/>
          </a:bodyPr>
          <a:lstStyle/>
          <a:p>
            <a:r>
              <a:rPr lang="fr-FR" sz="3600" b="1">
                <a:solidFill>
                  <a:srgbClr val="C00000"/>
                </a:solidFill>
                <a:latin typeface="Times New Roman" panose="02020603050405020304" pitchFamily="18" charset="0"/>
                <a:cs typeface="Times New Roman" panose="02020603050405020304" pitchFamily="18" charset="0"/>
              </a:rPr>
              <a:t>Architecture</a:t>
            </a:r>
            <a:r>
              <a:rPr lang="fr-FR" sz="3600">
                <a:solidFill>
                  <a:srgbClr val="C00000"/>
                </a:solidFill>
                <a:latin typeface="Times New Roman" panose="02020603050405020304" pitchFamily="18" charset="0"/>
                <a:cs typeface="Times New Roman" panose="02020603050405020304" pitchFamily="18" charset="0"/>
              </a:rPr>
              <a:t> </a:t>
            </a:r>
            <a:r>
              <a:rPr lang="fr-FR" sz="3600" b="1" dirty="0">
                <a:solidFill>
                  <a:srgbClr val="C00000"/>
                </a:solidFill>
                <a:latin typeface="Times New Roman" panose="02020603050405020304" pitchFamily="18" charset="0"/>
                <a:cs typeface="Times New Roman" panose="02020603050405020304" pitchFamily="18" charset="0"/>
              </a:rPr>
              <a:t>HDFS</a:t>
            </a:r>
          </a:p>
        </p:txBody>
      </p:sp>
      <p:pic>
        <p:nvPicPr>
          <p:cNvPr id="5" name="Image 4">
            <a:extLst>
              <a:ext uri="{FF2B5EF4-FFF2-40B4-BE49-F238E27FC236}">
                <a16:creationId xmlns:a16="http://schemas.microsoft.com/office/drawing/2014/main" xmlns="" id="{519A0661-985C-4B54-A092-6652A8A2AA95}"/>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431504" y="1030778"/>
            <a:ext cx="6862125" cy="4389119"/>
          </a:xfrm>
          <a:prstGeom prst="rect">
            <a:avLst/>
          </a:prstGeom>
        </p:spPr>
      </p:pic>
      <p:sp>
        <p:nvSpPr>
          <p:cNvPr id="7" name="ZoneTexte 6">
            <a:extLst>
              <a:ext uri="{FF2B5EF4-FFF2-40B4-BE49-F238E27FC236}">
                <a16:creationId xmlns:a16="http://schemas.microsoft.com/office/drawing/2014/main" xmlns="" id="{FB45A57E-552C-44C6-8993-51AB4C196086}"/>
              </a:ext>
            </a:extLst>
          </p:cNvPr>
          <p:cNvSpPr txBox="1"/>
          <p:nvPr/>
        </p:nvSpPr>
        <p:spPr>
          <a:xfrm>
            <a:off x="1844838" y="5636297"/>
            <a:ext cx="8263438" cy="430887"/>
          </a:xfrm>
          <a:prstGeom prst="rect">
            <a:avLst/>
          </a:prstGeom>
          <a:noFill/>
        </p:spPr>
        <p:txBody>
          <a:bodyPr wrap="square">
            <a:spAutoFit/>
          </a:bodyPr>
          <a:lstStyle/>
          <a:p>
            <a:r>
              <a:rPr lang="fr-FR" sz="2200" b="1" dirty="0">
                <a:latin typeface="Times New Roman" panose="02020603050405020304" pitchFamily="18" charset="0"/>
                <a:cs typeface="Times New Roman" panose="02020603050405020304" pitchFamily="18" charset="0"/>
              </a:rPr>
              <a:t>Figure 2 </a:t>
            </a:r>
            <a:r>
              <a:rPr lang="fr-FR" sz="2200" dirty="0">
                <a:latin typeface="Times New Roman" panose="02020603050405020304" pitchFamily="18" charset="0"/>
                <a:cs typeface="Times New Roman" panose="02020603050405020304" pitchFamily="18" charset="0"/>
              </a:rPr>
              <a:t>: Architecture des systèmes de fichiers distribués Hadoop</a:t>
            </a:r>
          </a:p>
        </p:txBody>
      </p:sp>
    </p:spTree>
    <p:extLst>
      <p:ext uri="{BB962C8B-B14F-4D97-AF65-F5344CB8AC3E}">
        <p14:creationId xmlns:p14="http://schemas.microsoft.com/office/powerpoint/2010/main" xmlns="" val="1324578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752" y="-126578"/>
            <a:ext cx="3137397" cy="628890"/>
          </a:xfrm>
          <a:prstGeom prst="rect">
            <a:avLst/>
          </a:prstGeom>
        </p:spPr>
        <p:txBody>
          <a:bodyPr wrap="none">
            <a:spAutoFit/>
          </a:bodyPr>
          <a:lstStyle/>
          <a:p>
            <a:pPr algn="just">
              <a:lnSpc>
                <a:spcPct val="140000"/>
              </a:lnSpc>
              <a:spcAft>
                <a:spcPts val="0"/>
              </a:spcAft>
            </a:pPr>
            <a:r>
              <a:rPr lang="fr-FR" sz="2800" b="1">
                <a:solidFill>
                  <a:srgbClr val="C00000"/>
                </a:solidFill>
                <a:latin typeface="Times New Roman" panose="02020603050405020304" pitchFamily="18" charset="0"/>
                <a:cs typeface="Times New Roman" panose="02020603050405020304" pitchFamily="18" charset="0"/>
              </a:rPr>
              <a:t>Gestion de données</a:t>
            </a:r>
          </a:p>
        </p:txBody>
      </p:sp>
      <p:sp>
        <p:nvSpPr>
          <p:cNvPr id="3" name="Rectangle 2"/>
          <p:cNvSpPr/>
          <p:nvPr/>
        </p:nvSpPr>
        <p:spPr>
          <a:xfrm>
            <a:off x="129540" y="328499"/>
            <a:ext cx="11932920" cy="6608989"/>
          </a:xfrm>
          <a:prstGeom prst="rect">
            <a:avLst/>
          </a:prstGeom>
        </p:spPr>
        <p:txBody>
          <a:bodyPr wrap="square">
            <a:spAutoFit/>
          </a:bodyPr>
          <a:lstStyle/>
          <a:p>
            <a:pPr algn="just">
              <a:lnSpc>
                <a:spcPct val="120000"/>
              </a:lnSpc>
              <a:spcAft>
                <a:spcPts val="0"/>
              </a:spcAft>
            </a:pP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maître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garde une trace des blocs qui composent un fichier et de l'emplacement de ces blocs. Le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communique avec les </a:t>
            </a:r>
            <a:r>
              <a:rPr lang="fr-FR" sz="21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a:t>
            </a:r>
            <a:r>
              <a:rPr lang="fr-FR" sz="21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Nodes</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les processus qui contiennent réellement les blocs dans le cluster. Les métadonnées associées à chaque fichier sont stockées dans la mémoire du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maître </a:t>
            </a:r>
            <a:r>
              <a:rPr lang="fr-FR" sz="2100" b="1"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NameNode</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pour des recherches rapides, et si le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s'arrête ou tombe en panne, l'ensemble du cluster deviendra inaccessible.</a:t>
            </a:r>
            <a:endParaRPr lang="fr-FR" sz="2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20000"/>
              </a:lnSpc>
              <a:spcBef>
                <a:spcPts val="1200"/>
              </a:spcBef>
              <a:spcAft>
                <a:spcPts val="800"/>
              </a:spcAft>
            </a:pP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 </a:t>
            </a:r>
            <a:r>
              <a:rPr lang="fr-FR" sz="2100" b="1" dirty="0">
                <a:solidFill>
                  <a:srgbClr val="0070C0"/>
                </a:solidFill>
                <a:latin typeface="Times New Roman" panose="02020603050405020304" pitchFamily="18" charset="0"/>
                <a:cs typeface="Times New Roman" panose="02020603050405020304" pitchFamily="18" charset="0"/>
              </a:rPr>
              <a:t>Name Node secondaire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n'est pas une sauvegarde du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mais effectue à la place des tâches d'entretien au nom du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 compris (et surtout) la fusion périodique d'un instantané de l'espace de données actuel avec le journal des modifications pour s'assurer que le journal des modifications n'obtient pas trop grande. Le journal de modification est utilisé pour assurer la cohérence des données et éviter la perte de données ; si le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échoue, cet enregistrement fusionné peut être utilisé pour reconstruire l'état des </a:t>
            </a:r>
            <a:r>
              <a:rPr lang="fr-FR" sz="21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a:t>
            </a:r>
            <a:r>
              <a:rPr lang="fr-FR" sz="21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Nodes</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fr-FR" sz="2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20000"/>
              </a:lnSpc>
              <a:spcAft>
                <a:spcPts val="0"/>
              </a:spcAft>
            </a:pP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Lorsqu'une application cliente veut accéder pour lire un fichier, elle demande d'abord les métadonnées du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pour localiser les blocs qui composent le fichier, ainsi que les emplacements des </a:t>
            </a:r>
            <a:r>
              <a:rPr lang="fr-FR" sz="21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a:t>
            </a:r>
            <a:r>
              <a:rPr lang="fr-FR" sz="21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Nodes</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qui stockent les blocs. L'application communique alors directement avec les </a:t>
            </a:r>
            <a:r>
              <a:rPr lang="fr-FR" sz="21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Data </a:t>
            </a:r>
            <a:r>
              <a:rPr lang="fr-FR" sz="2100" b="1" dirty="0" err="1">
                <a:solidFill>
                  <a:srgbClr val="C00000"/>
                </a:solidFill>
                <a:latin typeface="Times New Roman" panose="02020603050405020304" pitchFamily="18" charset="0"/>
                <a:ea typeface="Calibri" panose="020F0502020204030204" pitchFamily="34" charset="0"/>
                <a:cs typeface="Times New Roman" panose="02020603050405020304" pitchFamily="18" charset="0"/>
              </a:rPr>
              <a:t>Nodes</a:t>
            </a:r>
            <a:r>
              <a:rPr lang="fr-FR" sz="21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pour lire les données. Par conséquent, le </a:t>
            </a:r>
            <a:r>
              <a:rPr lang="fr-FR" sz="21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Name Node </a:t>
            </a:r>
            <a:r>
              <a:rPr lang="fr-FR" sz="2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agit simplement comme un journal ou une table de recherche et n'est pas un goulot d'étranglement pour les lectures simultanées.</a:t>
            </a:r>
            <a:endParaRPr lang="fr-FR" sz="2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70031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8688" y="-133954"/>
            <a:ext cx="4062009" cy="646331"/>
          </a:xfrm>
          <a:prstGeom prst="rect">
            <a:avLst/>
          </a:prstGeom>
        </p:spPr>
        <p:txBody>
          <a:bodyPr wrap="none">
            <a:spAutoFit/>
          </a:bodyPr>
          <a:lstStyle/>
          <a:p>
            <a:r>
              <a:rPr lang="fr-FR" sz="3600" b="1">
                <a:solidFill>
                  <a:srgbClr val="C00000"/>
                </a:solidFill>
                <a:latin typeface="Times New Roman" panose="02020603050405020304" pitchFamily="18" charset="0"/>
                <a:cs typeface="Times New Roman" panose="02020603050405020304" pitchFamily="18" charset="0"/>
              </a:rPr>
              <a:t>Le Cluster Hadoop </a:t>
            </a:r>
          </a:p>
        </p:txBody>
      </p:sp>
      <p:sp>
        <p:nvSpPr>
          <p:cNvPr id="3" name="Rectangle 2"/>
          <p:cNvSpPr/>
          <p:nvPr/>
        </p:nvSpPr>
        <p:spPr>
          <a:xfrm>
            <a:off x="198806" y="403495"/>
            <a:ext cx="11666369" cy="2459006"/>
          </a:xfrm>
          <a:prstGeom prst="rect">
            <a:avLst/>
          </a:prstGeom>
        </p:spPr>
        <p:txBody>
          <a:bodyPr wrap="square">
            <a:spAutoFit/>
          </a:bodyPr>
          <a:lstStyle/>
          <a:p>
            <a:pPr algn="just">
              <a:lnSpc>
                <a:spcPct val="130000"/>
              </a:lnSpc>
              <a:spcAft>
                <a:spcPts val="800"/>
              </a:spcAft>
            </a:pPr>
            <a:r>
              <a:rPr lang="fr-FR" sz="2000">
                <a:latin typeface="Times New Roman" panose="02020603050405020304" pitchFamily="18" charset="0"/>
                <a:ea typeface="Calibri" panose="020F0502020204030204" pitchFamily="34" charset="0"/>
                <a:cs typeface="Times New Roman" panose="02020603050405020304" pitchFamily="18" charset="0"/>
              </a:rPr>
              <a:t>Le cluster Hadoop couvre un </a:t>
            </a:r>
            <a:r>
              <a:rPr lang="fr-FR" sz="2000" b="1">
                <a:latin typeface="Times New Roman" panose="02020603050405020304" pitchFamily="18" charset="0"/>
                <a:ea typeface="Calibri" panose="020F0502020204030204" pitchFamily="34" charset="0"/>
                <a:cs typeface="Times New Roman" panose="02020603050405020304" pitchFamily="18" charset="0"/>
              </a:rPr>
              <a:t>Master node </a:t>
            </a:r>
            <a:r>
              <a:rPr lang="fr-FR" sz="2000">
                <a:latin typeface="Times New Roman" panose="02020603050405020304" pitchFamily="18" charset="0"/>
                <a:ea typeface="Calibri" panose="020F0502020204030204" pitchFamily="34" charset="0"/>
                <a:cs typeface="Times New Roman" panose="02020603050405020304" pitchFamily="18" charset="0"/>
              </a:rPr>
              <a:t>et plusieurs </a:t>
            </a:r>
            <a:r>
              <a:rPr lang="fr-FR" sz="2000" b="1">
                <a:latin typeface="Times New Roman" panose="02020603050405020304" pitchFamily="18" charset="0"/>
                <a:ea typeface="Calibri" panose="020F0502020204030204" pitchFamily="34" charset="0"/>
                <a:cs typeface="Times New Roman" panose="02020603050405020304" pitchFamily="18" charset="0"/>
              </a:rPr>
              <a:t>Slave Nodes</a:t>
            </a:r>
            <a:r>
              <a:rPr lang="fr-FR" sz="2000">
                <a:latin typeface="Times New Roman" panose="02020603050405020304" pitchFamily="18" charset="0"/>
                <a:ea typeface="Calibri" panose="020F0502020204030204" pitchFamily="34" charset="0"/>
                <a:cs typeface="Times New Roman" panose="02020603050405020304" pitchFamily="18" charset="0"/>
              </a:rPr>
              <a:t>. Le </a:t>
            </a:r>
            <a:r>
              <a:rPr lang="fr-FR" sz="2000" b="1">
                <a:latin typeface="Times New Roman" panose="02020603050405020304" pitchFamily="18" charset="0"/>
                <a:ea typeface="Calibri" panose="020F0502020204030204" pitchFamily="34" charset="0"/>
                <a:cs typeface="Times New Roman" panose="02020603050405020304" pitchFamily="18" charset="0"/>
              </a:rPr>
              <a:t>Master node</a:t>
            </a:r>
            <a:r>
              <a:rPr lang="fr-FR" sz="2000">
                <a:latin typeface="Times New Roman" panose="02020603050405020304" pitchFamily="18" charset="0"/>
                <a:ea typeface="Calibri" panose="020F0502020204030204" pitchFamily="34" charset="0"/>
                <a:cs typeface="Times New Roman" panose="02020603050405020304" pitchFamily="18" charset="0"/>
              </a:rPr>
              <a:t> implique </a:t>
            </a:r>
            <a:r>
              <a:rPr lang="fr-FR" sz="2000" b="1">
                <a:latin typeface="Times New Roman" panose="02020603050405020304" pitchFamily="18" charset="0"/>
                <a:ea typeface="Calibri" panose="020F0502020204030204" pitchFamily="34" charset="0"/>
                <a:cs typeface="Times New Roman" panose="02020603050405020304" pitchFamily="18" charset="0"/>
              </a:rPr>
              <a:t>Data Node</a:t>
            </a:r>
            <a:r>
              <a:rPr lang="fr-FR" sz="2000">
                <a:latin typeface="Times New Roman" panose="02020603050405020304" pitchFamily="18" charset="0"/>
                <a:ea typeface="Calibri" panose="020F0502020204030204" pitchFamily="34" charset="0"/>
                <a:cs typeface="Times New Roman" panose="02020603050405020304" pitchFamily="18" charset="0"/>
              </a:rPr>
              <a:t>, </a:t>
            </a:r>
            <a:r>
              <a:rPr lang="fr-FR" sz="2000" b="1">
                <a:latin typeface="Times New Roman" panose="02020603050405020304" pitchFamily="18" charset="0"/>
                <a:ea typeface="Calibri" panose="020F0502020204030204" pitchFamily="34" charset="0"/>
                <a:cs typeface="Times New Roman" panose="02020603050405020304" pitchFamily="18" charset="0"/>
              </a:rPr>
              <a:t>Name Node</a:t>
            </a:r>
            <a:r>
              <a:rPr lang="fr-FR" sz="2000">
                <a:latin typeface="Times New Roman" panose="02020603050405020304" pitchFamily="18" charset="0"/>
                <a:ea typeface="Calibri" panose="020F0502020204030204" pitchFamily="34" charset="0"/>
                <a:cs typeface="Times New Roman" panose="02020603050405020304" pitchFamily="18" charset="0"/>
              </a:rPr>
              <a:t>, </a:t>
            </a:r>
            <a:r>
              <a:rPr lang="fr-FR" sz="2000" b="1">
                <a:latin typeface="Times New Roman" panose="02020603050405020304" pitchFamily="18" charset="0"/>
                <a:ea typeface="Calibri" panose="020F0502020204030204" pitchFamily="34" charset="0"/>
                <a:cs typeface="Times New Roman" panose="02020603050405020304" pitchFamily="18" charset="0"/>
              </a:rPr>
              <a:t>JobTracker</a:t>
            </a:r>
            <a:r>
              <a:rPr lang="fr-FR" sz="2000">
                <a:latin typeface="Times New Roman" panose="02020603050405020304" pitchFamily="18" charset="0"/>
                <a:ea typeface="Calibri" panose="020F0502020204030204" pitchFamily="34" charset="0"/>
                <a:cs typeface="Times New Roman" panose="02020603050405020304" pitchFamily="18" charset="0"/>
              </a:rPr>
              <a:t> et </a:t>
            </a:r>
            <a:r>
              <a:rPr lang="fr-FR" sz="2000" b="1">
                <a:latin typeface="Times New Roman" panose="02020603050405020304" pitchFamily="18" charset="0"/>
                <a:ea typeface="Calibri" panose="020F0502020204030204" pitchFamily="34" charset="0"/>
                <a:cs typeface="Times New Roman" panose="02020603050405020304" pitchFamily="18" charset="0"/>
              </a:rPr>
              <a:t>TaskTracker</a:t>
            </a:r>
            <a:r>
              <a:rPr lang="fr-FR" sz="2000">
                <a:latin typeface="Times New Roman" panose="02020603050405020304" pitchFamily="18" charset="0"/>
                <a:ea typeface="Calibri" panose="020F0502020204030204" pitchFamily="34" charset="0"/>
                <a:cs typeface="Times New Roman" panose="02020603050405020304" pitchFamily="18" charset="0"/>
              </a:rPr>
              <a:t> tous les éléments </a:t>
            </a:r>
            <a:r>
              <a:rPr lang="fr-FR" sz="2000" b="1">
                <a:latin typeface="Times New Roman" panose="02020603050405020304" pitchFamily="18" charset="0"/>
                <a:ea typeface="Calibri" panose="020F0502020204030204" pitchFamily="34" charset="0"/>
                <a:cs typeface="Times New Roman" panose="02020603050405020304" pitchFamily="18" charset="0"/>
              </a:rPr>
              <a:t>slave node</a:t>
            </a:r>
            <a:r>
              <a:rPr lang="fr-FR" sz="2000">
                <a:latin typeface="Times New Roman" panose="02020603050405020304" pitchFamily="18" charset="0"/>
                <a:ea typeface="Calibri" panose="020F0502020204030204" pitchFamily="34" charset="0"/>
                <a:cs typeface="Times New Roman" panose="02020603050405020304" pitchFamily="18" charset="0"/>
              </a:rPr>
              <a:t> ensemble, un </a:t>
            </a:r>
            <a:r>
              <a:rPr lang="fr-FR" sz="2000" b="1">
                <a:latin typeface="Times New Roman" panose="02020603050405020304" pitchFamily="18" charset="0"/>
                <a:ea typeface="Calibri" panose="020F0502020204030204" pitchFamily="34" charset="0"/>
                <a:cs typeface="Times New Roman" panose="02020603050405020304" pitchFamily="18" charset="0"/>
              </a:rPr>
              <a:t>TaskTracker</a:t>
            </a:r>
            <a:r>
              <a:rPr lang="fr-FR" sz="2000">
                <a:latin typeface="Times New Roman" panose="02020603050405020304" pitchFamily="18" charset="0"/>
                <a:ea typeface="Calibri" panose="020F0502020204030204" pitchFamily="34" charset="0"/>
                <a:cs typeface="Times New Roman" panose="02020603050405020304" pitchFamily="18" charset="0"/>
              </a:rPr>
              <a:t> et un </a:t>
            </a:r>
            <a:r>
              <a:rPr lang="fr-FR" sz="2000" b="1">
                <a:latin typeface="Times New Roman" panose="02020603050405020304" pitchFamily="18" charset="0"/>
                <a:ea typeface="Calibri" panose="020F0502020204030204" pitchFamily="34" charset="0"/>
                <a:cs typeface="Times New Roman" panose="02020603050405020304" pitchFamily="18" charset="0"/>
              </a:rPr>
              <a:t>Datanode</a:t>
            </a:r>
            <a:r>
              <a:rPr lang="fr-FR" sz="2000">
                <a:latin typeface="Times New Roman" panose="02020603050405020304" pitchFamily="18" charset="0"/>
                <a:ea typeface="Calibri" panose="020F0502020204030204" pitchFamily="34" charset="0"/>
                <a:cs typeface="Times New Roman" panose="02020603050405020304" pitchFamily="18" charset="0"/>
              </a:rPr>
              <a:t>, qui gère le calcul en premier et le nœud de travail de données uniquement, comme illustré à la </a:t>
            </a:r>
            <a:r>
              <a:rPr lang="fr-FR" sz="2000" b="1">
                <a:latin typeface="Times New Roman" panose="02020603050405020304" pitchFamily="18" charset="0"/>
                <a:ea typeface="Calibri" panose="020F0502020204030204" pitchFamily="34" charset="0"/>
                <a:cs typeface="Times New Roman" panose="02020603050405020304" pitchFamily="18" charset="0"/>
              </a:rPr>
              <a:t>Figure 3.1</a:t>
            </a:r>
            <a:r>
              <a:rPr lang="fr-FR" sz="2000">
                <a:latin typeface="Times New Roman" panose="02020603050405020304" pitchFamily="18" charset="0"/>
                <a:ea typeface="Calibri" panose="020F0502020204030204" pitchFamily="34" charset="0"/>
                <a:cs typeface="Times New Roman" panose="02020603050405020304" pitchFamily="18" charset="0"/>
              </a:rPr>
              <a:t>. Le Business Tracker gère le calendrier des activités. Hadoop contient deux fragments : </a:t>
            </a:r>
            <a:r>
              <a:rPr lang="fr-FR" sz="2000" b="1">
                <a:latin typeface="Times New Roman" panose="02020603050405020304" pitchFamily="18" charset="0"/>
                <a:ea typeface="Calibri" panose="020F0502020204030204" pitchFamily="34" charset="0"/>
                <a:cs typeface="Times New Roman" panose="02020603050405020304" pitchFamily="18" charset="0"/>
              </a:rPr>
              <a:t>HDFS </a:t>
            </a:r>
            <a:r>
              <a:rPr lang="fr-FR" sz="2000">
                <a:latin typeface="Times New Roman" panose="02020603050405020304" pitchFamily="18" charset="0"/>
                <a:ea typeface="Calibri" panose="020F0502020204030204" pitchFamily="34" charset="0"/>
                <a:cs typeface="Times New Roman" panose="02020603050405020304" pitchFamily="18" charset="0"/>
              </a:rPr>
              <a:t>et </a:t>
            </a:r>
            <a:r>
              <a:rPr lang="fr-FR" sz="2000" b="1">
                <a:latin typeface="Times New Roman" panose="02020603050405020304" pitchFamily="18" charset="0"/>
                <a:ea typeface="Calibri" panose="020F0502020204030204" pitchFamily="34" charset="0"/>
                <a:cs typeface="Times New Roman" panose="02020603050405020304" pitchFamily="18" charset="0"/>
              </a:rPr>
              <a:t>MapReduce</a:t>
            </a:r>
            <a:r>
              <a:rPr lang="fr-FR" sz="2000">
                <a:latin typeface="Times New Roman" panose="02020603050405020304" pitchFamily="18" charset="0"/>
                <a:ea typeface="Calibri" panose="020F0502020204030204" pitchFamily="34" charset="0"/>
                <a:cs typeface="Times New Roman" panose="02020603050405020304" pitchFamily="18" charset="0"/>
              </a:rPr>
              <a:t>. </a:t>
            </a:r>
            <a:r>
              <a:rPr lang="fr-FR" sz="2000" b="1">
                <a:latin typeface="Times New Roman" panose="02020603050405020304" pitchFamily="18" charset="0"/>
                <a:ea typeface="Calibri" panose="020F0502020204030204" pitchFamily="34" charset="0"/>
                <a:cs typeface="Times New Roman" panose="02020603050405020304" pitchFamily="18" charset="0"/>
              </a:rPr>
              <a:t>HDFS</a:t>
            </a:r>
            <a:r>
              <a:rPr lang="fr-FR" sz="2000">
                <a:latin typeface="Times New Roman" panose="02020603050405020304" pitchFamily="18" charset="0"/>
                <a:ea typeface="Calibri" panose="020F0502020204030204" pitchFamily="34" charset="0"/>
                <a:cs typeface="Times New Roman" panose="02020603050405020304" pitchFamily="18" charset="0"/>
              </a:rPr>
              <a:t> exécute le stockage des données et génère </a:t>
            </a:r>
            <a:r>
              <a:rPr lang="fr-FR" sz="2000" b="1">
                <a:latin typeface="Times New Roman" panose="02020603050405020304" pitchFamily="18" charset="0"/>
                <a:ea typeface="Calibri" panose="020F0502020204030204" pitchFamily="34" charset="0"/>
                <a:cs typeface="Times New Roman" panose="02020603050405020304" pitchFamily="18" charset="0"/>
              </a:rPr>
              <a:t>MapReduce</a:t>
            </a:r>
            <a:r>
              <a:rPr lang="fr-FR" sz="2000">
                <a:latin typeface="Times New Roman" panose="02020603050405020304" pitchFamily="18" charset="0"/>
                <a:ea typeface="Calibri" panose="020F0502020204030204" pitchFamily="34" charset="0"/>
                <a:cs typeface="Times New Roman" panose="02020603050405020304" pitchFamily="18" charset="0"/>
              </a:rPr>
              <a:t> pour fournir une exploration des données dans l'environnement collecté. La conception de l'architecture Hadoop est expliquée dans la </a:t>
            </a:r>
            <a:r>
              <a:rPr lang="fr-FR" sz="2000" b="1">
                <a:latin typeface="Times New Roman" panose="02020603050405020304" pitchFamily="18" charset="0"/>
                <a:ea typeface="Calibri" panose="020F0502020204030204" pitchFamily="34" charset="0"/>
                <a:cs typeface="Times New Roman" panose="02020603050405020304" pitchFamily="18" charset="0"/>
              </a:rPr>
              <a:t>Figure 3.1.</a:t>
            </a:r>
            <a:endParaRPr lang="fr-FR">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 3"/>
          <p:cNvPicPr/>
          <p:nvPr/>
        </p:nvPicPr>
        <p:blipFill>
          <a:blip r:embed="rId2">
            <a:extLst>
              <a:ext uri="{28A0092B-C50C-407E-A947-70E740481C1C}">
                <a14:useLocalDpi xmlns:a14="http://schemas.microsoft.com/office/drawing/2010/main" xmlns="" val="0"/>
              </a:ext>
            </a:extLst>
          </a:blip>
          <a:stretch>
            <a:fillRect/>
          </a:stretch>
        </p:blipFill>
        <p:spPr>
          <a:xfrm>
            <a:off x="3105224" y="2887557"/>
            <a:ext cx="4681917" cy="3664294"/>
          </a:xfrm>
          <a:prstGeom prst="rect">
            <a:avLst/>
          </a:prstGeom>
        </p:spPr>
      </p:pic>
      <p:sp>
        <p:nvSpPr>
          <p:cNvPr id="5" name="Rectangle 4"/>
          <p:cNvSpPr/>
          <p:nvPr/>
        </p:nvSpPr>
        <p:spPr>
          <a:xfrm>
            <a:off x="3792457" y="6455512"/>
            <a:ext cx="3635084" cy="388696"/>
          </a:xfrm>
          <a:prstGeom prst="rect">
            <a:avLst/>
          </a:prstGeom>
        </p:spPr>
        <p:txBody>
          <a:bodyPr wrap="square">
            <a:spAutoFit/>
          </a:bodyPr>
          <a:lstStyle/>
          <a:p>
            <a:pPr algn="ctr">
              <a:lnSpc>
                <a:spcPct val="107000"/>
              </a:lnSpc>
              <a:spcAft>
                <a:spcPts val="800"/>
              </a:spcAft>
            </a:pPr>
            <a:r>
              <a:rPr lang="fr-FR" b="1">
                <a:latin typeface="Times New Roman" panose="02020603050405020304" pitchFamily="18" charset="0"/>
                <a:ea typeface="Calibri" panose="020F0502020204030204" pitchFamily="34" charset="0"/>
                <a:cs typeface="Times New Roman" panose="02020603050405020304" pitchFamily="18" charset="0"/>
              </a:rPr>
              <a:t>Figure 3.1 Hadoop architecture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505289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239" y="114300"/>
            <a:ext cx="3647152" cy="655885"/>
          </a:xfrm>
          <a:prstGeom prst="rect">
            <a:avLst/>
          </a:prstGeom>
        </p:spPr>
        <p:txBody>
          <a:bodyPr wrap="none">
            <a:spAutoFit/>
          </a:bodyPr>
          <a:lstStyle/>
          <a:p>
            <a:pPr>
              <a:lnSpc>
                <a:spcPct val="107000"/>
              </a:lnSpc>
              <a:spcAft>
                <a:spcPts val="800"/>
              </a:spcAft>
            </a:pPr>
            <a:r>
              <a:rPr lang="fr-FR" sz="36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MapReduce(MR)</a:t>
            </a:r>
            <a:endParaRPr lang="fr-FR" sz="3600" b="1">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304800" y="770185"/>
            <a:ext cx="11582400" cy="3911135"/>
          </a:xfrm>
          <a:prstGeom prst="rect">
            <a:avLst/>
          </a:prstGeom>
        </p:spPr>
        <p:txBody>
          <a:bodyPr wrap="square">
            <a:spAutoFit/>
          </a:bodyPr>
          <a:lstStyle/>
          <a:p>
            <a:pPr algn="just">
              <a:lnSpc>
                <a:spcPct val="150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MR est un outil de traitement par lots (Batch </a:t>
            </a:r>
            <a:r>
              <a:rPr lang="fr-FR" sz="2400" dirty="0" err="1">
                <a:effectLst/>
                <a:latin typeface="Times New Roman" panose="02020603050405020304" pitchFamily="18" charset="0"/>
                <a:ea typeface="Calibri" panose="020F0502020204030204" pitchFamily="34" charset="0"/>
                <a:cs typeface="Times New Roman" panose="02020603050405020304" pitchFamily="18" charset="0"/>
              </a:rPr>
              <a:t>Processing</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hautement distribué</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évolutif horizontalement</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tolérant aux pannes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et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parallèle aux données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dans le framework  Hadoop qui s'exécute sur un cluster de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serveurs de base </a:t>
            </a:r>
            <a:r>
              <a:rPr lang="fr-FR" sz="2400" dirty="0">
                <a:latin typeface="Times New Roman" panose="02020603050405020304" pitchFamily="18" charset="0"/>
                <a:cs typeface="Times New Roman" panose="02020603050405020304" pitchFamily="18" charset="0"/>
              </a:rPr>
              <a:t>à faible coût et peu fiables </a:t>
            </a:r>
            <a:r>
              <a:rPr lang="fr-FR" sz="2400" dirty="0">
                <a:latin typeface="Times New Roman" panose="02020603050405020304" pitchFamily="18" charset="0"/>
                <a:ea typeface="Calibri" panose="020F0502020204030204" pitchFamily="34" charset="0"/>
                <a:cs typeface="Times New Roman" panose="02020603050405020304" pitchFamily="18" charset="0"/>
              </a:rPr>
              <a:t>pour traiter le Big Data. MR permet d'écrire des travaux distribués et évolutifs avec peu d'effort, contrairement à la programmation avec MPI. Les jobs MR peuvent être lancés dans différents systèmes de fichiers : HDFS, HBase, S3, système de fichiers local, etc. Les données sont collectées et stockées sur HDFS avant de lancer les travaux MR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(Job MR). </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544589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 y="1058178"/>
            <a:ext cx="11952615" cy="5180905"/>
          </a:xfrm>
          <a:prstGeom prst="rect">
            <a:avLst/>
          </a:prstGeom>
        </p:spPr>
        <p:txBody>
          <a:bodyPr wrap="square">
            <a:spAutoFit/>
          </a:bodyPr>
          <a:lstStyle/>
          <a:p>
            <a:pPr lvl="0" algn="just">
              <a:lnSpc>
                <a:spcPct val="150000"/>
              </a:lnSpc>
              <a:spcAft>
                <a:spcPts val="800"/>
              </a:spcAft>
            </a:pP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La programmation MR est basée sur LISP (LIST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Programming</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un type de paradigme de programmation fonctionnelle (comme Haskell, Scala,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Clojure</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Smalltalk</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ruby</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Tout dans la programmation fonctionnelle tourne autour de la fonction. Une fonction peut être passée/reçue en tant qu'arguments, répartis sur les nœuds. Une fonction prenant une autre fonction comme argument est appelée fonction d'ordre supérieur. La programmation fonctionnelle ne conserve pas l'état et ne prend pas en charge le blocage et la synchronisation. Par conséquent, il est évolutif. Les tâches MR s'exécutent indépendamment, il est donc facile de gérer les échecs partiels.</a:t>
            </a:r>
            <a:endParaRPr lang="fr-FR"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fr-FR"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363239" y="114300"/>
            <a:ext cx="3647152" cy="655885"/>
          </a:xfrm>
          <a:prstGeom prst="rect">
            <a:avLst/>
          </a:prstGeom>
        </p:spPr>
        <p:txBody>
          <a:bodyPr wrap="none">
            <a:spAutoFit/>
          </a:bodyPr>
          <a:lstStyle/>
          <a:p>
            <a:pPr>
              <a:lnSpc>
                <a:spcPct val="107000"/>
              </a:lnSpc>
              <a:spcAft>
                <a:spcPts val="800"/>
              </a:spcAft>
            </a:pPr>
            <a:r>
              <a:rPr lang="fr-FR" sz="36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MapReduce(MR)</a:t>
            </a:r>
            <a:endParaRPr lang="fr-FR" sz="3600" b="1">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94858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655885"/>
            <a:ext cx="11595100" cy="3911135"/>
          </a:xfrm>
          <a:prstGeom prst="rect">
            <a:avLst/>
          </a:prstGeom>
        </p:spPr>
        <p:txBody>
          <a:bodyPr wrap="square">
            <a:spAutoFit/>
          </a:bodyPr>
          <a:lstStyle/>
          <a:p>
            <a:pPr algn="just">
              <a:lnSpc>
                <a:spcPct val="150000"/>
              </a:lnSpc>
            </a:pP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Toutes les applications ne sont pas adaptées à la mise en œuvre avec MR. Seules les applications nécessitant des fonctions telles que le comptage, le classement, l'agrégation, la recherche, le tri et le clustering peuvent être réalisées avec MR. MR n'a pas de requêtes prédéfinies comme OLAP pour DWH. </a:t>
            </a:r>
            <a:r>
              <a:rPr lang="fr-FR" sz="24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Il s'agit d'écrire des algorithmes ad-hoc pour traiter l'ensemble des données. </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Le</a:t>
            </a:r>
            <a:r>
              <a:rPr lang="fr-FR" sz="24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MR a deux sous-composants (voir Figure 2.12) : Job Tracker (JT) et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Task</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Tracker (TT). Une tâche MR typique exécute deux tâches :le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map</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et le </a:t>
            </a:r>
            <a:r>
              <a:rPr lang="fr-FR" sz="24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reduce</a:t>
            </a:r>
            <a:r>
              <a:rPr lang="fr-FR"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endParaRPr lang="fr-FR" dirty="0"/>
          </a:p>
        </p:txBody>
      </p:sp>
      <p:sp>
        <p:nvSpPr>
          <p:cNvPr id="3" name="Rectangle 2"/>
          <p:cNvSpPr/>
          <p:nvPr/>
        </p:nvSpPr>
        <p:spPr>
          <a:xfrm>
            <a:off x="4007639" y="0"/>
            <a:ext cx="3647152" cy="655885"/>
          </a:xfrm>
          <a:prstGeom prst="rect">
            <a:avLst/>
          </a:prstGeom>
        </p:spPr>
        <p:txBody>
          <a:bodyPr wrap="none">
            <a:spAutoFit/>
          </a:bodyPr>
          <a:lstStyle/>
          <a:p>
            <a:pPr>
              <a:lnSpc>
                <a:spcPct val="107000"/>
              </a:lnSpc>
              <a:spcAft>
                <a:spcPts val="800"/>
              </a:spcAft>
            </a:pPr>
            <a:r>
              <a:rPr lang="fr-FR" sz="36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MapReduce(MR)</a:t>
            </a:r>
            <a:endParaRPr lang="fr-FR" sz="3600" b="1">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332238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5288" y="94734"/>
            <a:ext cx="5984331" cy="707886"/>
          </a:xfrm>
          <a:prstGeom prst="rect">
            <a:avLst/>
          </a:prstGeom>
        </p:spPr>
        <p:txBody>
          <a:bodyPr wrap="none">
            <a:spAutoFit/>
          </a:bodyPr>
          <a:lstStyle/>
          <a:p>
            <a:r>
              <a:rPr lang="fr-FR" sz="40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Les Phases de MapReduce</a:t>
            </a:r>
          </a:p>
        </p:txBody>
      </p:sp>
      <p:sp>
        <p:nvSpPr>
          <p:cNvPr id="3" name="Rectangle 2"/>
          <p:cNvSpPr/>
          <p:nvPr/>
        </p:nvSpPr>
        <p:spPr>
          <a:xfrm>
            <a:off x="190500" y="906552"/>
            <a:ext cx="11772900" cy="5180905"/>
          </a:xfrm>
          <a:prstGeom prst="rect">
            <a:avLst/>
          </a:prstGeom>
        </p:spPr>
        <p:txBody>
          <a:bodyPr wrap="square">
            <a:spAutoFit/>
          </a:bodyPr>
          <a:lstStyle/>
          <a:p>
            <a:pPr>
              <a:lnSpc>
                <a:spcPct val="150000"/>
              </a:lnSpc>
              <a:spcAft>
                <a:spcPts val="800"/>
              </a:spcAft>
            </a:pPr>
            <a:r>
              <a:rPr lang="fr-FR" sz="2400">
                <a:latin typeface="Times New Roman" panose="02020603050405020304" pitchFamily="18" charset="0"/>
                <a:ea typeface="Calibri" panose="020F0502020204030204" pitchFamily="34" charset="0"/>
                <a:cs typeface="Times New Roman" panose="02020603050405020304" pitchFamily="18" charset="0"/>
              </a:rPr>
              <a:t>En général, il y a deux phases pour l'exécution d'un job MapReduce, comme le montre la </a:t>
            </a:r>
            <a:r>
              <a:rPr lang="fr-FR" sz="2400" b="1">
                <a:latin typeface="Times New Roman" panose="02020603050405020304" pitchFamily="18" charset="0"/>
                <a:ea typeface="Calibri" panose="020F0502020204030204" pitchFamily="34" charset="0"/>
                <a:cs typeface="Times New Roman" panose="02020603050405020304" pitchFamily="18" charset="0"/>
              </a:rPr>
              <a:t>Figure 2.14</a:t>
            </a:r>
            <a:r>
              <a:rPr lang="fr-FR" sz="2400">
                <a:latin typeface="Times New Roman" panose="02020603050405020304" pitchFamily="18" charset="0"/>
                <a:ea typeface="Calibri" panose="020F0502020204030204" pitchFamily="34" charset="0"/>
                <a:cs typeface="Times New Roman" panose="02020603050405020304" pitchFamily="18" charset="0"/>
              </a:rPr>
              <a:t> : </a:t>
            </a:r>
            <a:r>
              <a:rPr lang="fr-FR" sz="2400" b="1">
                <a:latin typeface="Times New Roman" panose="02020603050405020304" pitchFamily="18" charset="0"/>
                <a:ea typeface="Calibri" panose="020F0502020204030204" pitchFamily="34" charset="0"/>
                <a:cs typeface="Times New Roman" panose="02020603050405020304" pitchFamily="18" charset="0"/>
              </a:rPr>
              <a:t>la phase de map et la phase reduce</a:t>
            </a:r>
            <a:r>
              <a:rPr lang="fr-FR" sz="2400">
                <a:latin typeface="Times New Roman" panose="02020603050405020304" pitchFamily="18" charset="0"/>
                <a:ea typeface="Calibri" panose="020F0502020204030204" pitchFamily="34" charset="0"/>
                <a:cs typeface="Times New Roman" panose="02020603050405020304" pitchFamily="18" charset="0"/>
              </a:rPr>
              <a:t>.</a:t>
            </a:r>
            <a:endParaRPr lang="fr-FR" sz="24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fr-FR" sz="24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La phase map </a:t>
            </a:r>
            <a:r>
              <a:rPr lang="fr-FR" sz="2400">
                <a:latin typeface="Times New Roman" panose="02020603050405020304" pitchFamily="18" charset="0"/>
                <a:ea typeface="Calibri" panose="020F0502020204030204" pitchFamily="34" charset="0"/>
                <a:cs typeface="Times New Roman" panose="02020603050405020304" pitchFamily="18" charset="0"/>
              </a:rPr>
              <a:t>exécute un ensemble de tâches map (mappers) pour lire les données des disques sous forme de paires clé-valeur et produire un nombre arbitraire de paires clé-valeur intermédiaires en fonction de la fonction map définie par l'utilisateur.</a:t>
            </a:r>
            <a:endParaRPr lang="fr-FR" sz="24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Wingdings" panose="05000000000000000000" pitchFamily="2" charset="2"/>
              <a:buChar char=""/>
            </a:pPr>
            <a:r>
              <a:rPr lang="fr-FR" sz="24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La phase reduce</a:t>
            </a:r>
            <a:r>
              <a:rPr lang="fr-FR" sz="240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fr-FR" sz="2400">
                <a:latin typeface="Times New Roman" panose="02020603050405020304" pitchFamily="18" charset="0"/>
                <a:ea typeface="Calibri" panose="020F0502020204030204" pitchFamily="34" charset="0"/>
                <a:cs typeface="Times New Roman" panose="02020603050405020304" pitchFamily="18" charset="0"/>
              </a:rPr>
              <a:t>exécute un ensemble de tâches reduce (reducers), qui collectent la sortie de toutes les tâches map, fusionne, trie en fonction de la clé, regroupe la liste des valeurs qui appartiennent à la même clé et produit la sortie finale en fonction de la réduction définie par l'utilisateur fonction.</a:t>
            </a:r>
            <a:endParaRPr lang="fr-FR" sz="240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118877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848836"/>
            <a:ext cx="11823700" cy="2249142"/>
          </a:xfrm>
          <a:prstGeom prst="rect">
            <a:avLst/>
          </a:prstGeom>
        </p:spPr>
        <p:txBody>
          <a:bodyPr wrap="square">
            <a:spAutoFit/>
          </a:bodyPr>
          <a:lstStyle/>
          <a:p>
            <a:pPr algn="just">
              <a:lnSpc>
                <a:spcPct val="150000"/>
              </a:lnSpc>
            </a:pPr>
            <a:r>
              <a:rPr lang="fr-FR" sz="2400">
                <a:latin typeface="Times New Roman" panose="02020603050405020304" pitchFamily="18" charset="0"/>
                <a:ea typeface="Calibri" panose="020F0502020204030204" pitchFamily="34" charset="0"/>
              </a:rPr>
              <a:t>Comme le montre la Figure 2.14, dans la phase map, deux tâches map s'exécutent dans </a:t>
            </a:r>
            <a:r>
              <a:rPr lang="fr-FR" sz="2400" b="1">
                <a:latin typeface="Times New Roman" panose="02020603050405020304" pitchFamily="18" charset="0"/>
                <a:ea typeface="Calibri" panose="020F0502020204030204" pitchFamily="34" charset="0"/>
              </a:rPr>
              <a:t>node 1</a:t>
            </a:r>
            <a:r>
              <a:rPr lang="fr-FR" sz="2400">
                <a:latin typeface="Times New Roman" panose="02020603050405020304" pitchFamily="18" charset="0"/>
                <a:ea typeface="Calibri" panose="020F0502020204030204" pitchFamily="34" charset="0"/>
              </a:rPr>
              <a:t> et une tâche map s'exécute dans </a:t>
            </a:r>
            <a:r>
              <a:rPr lang="fr-FR" sz="2400" b="1">
                <a:latin typeface="Times New Roman" panose="02020603050405020304" pitchFamily="18" charset="0"/>
                <a:ea typeface="Calibri" panose="020F0502020204030204" pitchFamily="34" charset="0"/>
              </a:rPr>
              <a:t>node 2</a:t>
            </a:r>
            <a:r>
              <a:rPr lang="fr-FR" sz="2400">
                <a:latin typeface="Times New Roman" panose="02020603050405020304" pitchFamily="18" charset="0"/>
                <a:ea typeface="Calibri" panose="020F0502020204030204" pitchFamily="34" charset="0"/>
              </a:rPr>
              <a:t> et </a:t>
            </a:r>
            <a:r>
              <a:rPr lang="fr-FR" sz="2400" b="1">
                <a:latin typeface="Times New Roman" panose="02020603050405020304" pitchFamily="18" charset="0"/>
                <a:ea typeface="Calibri" panose="020F0502020204030204" pitchFamily="34" charset="0"/>
              </a:rPr>
              <a:t>node 3</a:t>
            </a:r>
            <a:r>
              <a:rPr lang="fr-FR" sz="2400">
                <a:latin typeface="Times New Roman" panose="02020603050405020304" pitchFamily="18" charset="0"/>
                <a:ea typeface="Calibri" panose="020F0502020204030204" pitchFamily="34" charset="0"/>
              </a:rPr>
              <a:t>. En phase reduce, une tâche reduce s'exécute dans </a:t>
            </a:r>
            <a:r>
              <a:rPr lang="fr-FR" sz="2400" b="1">
                <a:latin typeface="Times New Roman" panose="02020603050405020304" pitchFamily="18" charset="0"/>
                <a:ea typeface="Calibri" panose="020F0502020204030204" pitchFamily="34" charset="0"/>
              </a:rPr>
              <a:t>node 4</a:t>
            </a:r>
            <a:r>
              <a:rPr lang="fr-FR" sz="2400">
                <a:latin typeface="Times New Roman" panose="02020603050405020304" pitchFamily="18" charset="0"/>
                <a:ea typeface="Calibri" panose="020F0502020204030204" pitchFamily="34" charset="0"/>
              </a:rPr>
              <a:t> et </a:t>
            </a:r>
            <a:r>
              <a:rPr lang="fr-FR" sz="2400" b="1">
                <a:latin typeface="Times New Roman" panose="02020603050405020304" pitchFamily="18" charset="0"/>
                <a:ea typeface="Calibri" panose="020F0502020204030204" pitchFamily="34" charset="0"/>
              </a:rPr>
              <a:t>node 5</a:t>
            </a:r>
            <a:r>
              <a:rPr lang="fr-FR" sz="2400">
                <a:latin typeface="Times New Roman" panose="02020603050405020304" pitchFamily="18" charset="0"/>
                <a:ea typeface="Calibri" panose="020F0502020204030204" pitchFamily="34" charset="0"/>
              </a:rPr>
              <a:t>. Toutes les tâches map et de reduce sont exécutées dans n'importe quel nœud du cluster. </a:t>
            </a:r>
            <a:endParaRPr lang="fr-FR" sz="2400"/>
          </a:p>
        </p:txBody>
      </p:sp>
      <p:pic>
        <p:nvPicPr>
          <p:cNvPr id="3" name="Image 2"/>
          <p:cNvPicPr/>
          <p:nvPr/>
        </p:nvPicPr>
        <p:blipFill>
          <a:blip r:embed="rId2"/>
          <a:srcRect/>
          <a:stretch>
            <a:fillRect/>
          </a:stretch>
        </p:blipFill>
        <p:spPr bwMode="auto">
          <a:xfrm>
            <a:off x="2346460" y="2855856"/>
            <a:ext cx="5756910" cy="3255010"/>
          </a:xfrm>
          <a:prstGeom prst="rect">
            <a:avLst/>
          </a:prstGeom>
          <a:noFill/>
          <a:ln w="9525">
            <a:noFill/>
            <a:miter lim="800000"/>
            <a:headEnd/>
            <a:tailEnd/>
          </a:ln>
        </p:spPr>
      </p:pic>
      <p:sp>
        <p:nvSpPr>
          <p:cNvPr id="4" name="Rectangle 3"/>
          <p:cNvSpPr/>
          <p:nvPr/>
        </p:nvSpPr>
        <p:spPr>
          <a:xfrm>
            <a:off x="3115273" y="6110866"/>
            <a:ext cx="4988097" cy="461665"/>
          </a:xfrm>
          <a:prstGeom prst="rect">
            <a:avLst/>
          </a:prstGeom>
        </p:spPr>
        <p:txBody>
          <a:bodyPr wrap="none">
            <a:spAutoFit/>
          </a:bodyPr>
          <a:lstStyle/>
          <a:p>
            <a:r>
              <a:rPr lang="fr-FR" sz="2400" b="1">
                <a:latin typeface="Times New Roman" panose="02020603050405020304" pitchFamily="18" charset="0"/>
                <a:ea typeface="Calibri" panose="020F0502020204030204" pitchFamily="34" charset="0"/>
              </a:rPr>
              <a:t>Figure 2.14 </a:t>
            </a:r>
            <a:r>
              <a:rPr lang="fr-FR" sz="2400">
                <a:latin typeface="Times New Roman" panose="02020603050405020304" pitchFamily="18" charset="0"/>
                <a:ea typeface="Calibri" panose="020F0502020204030204" pitchFamily="34" charset="0"/>
              </a:rPr>
              <a:t>les phases de MapReduce </a:t>
            </a:r>
            <a:endParaRPr lang="fr-FR" sz="2400"/>
          </a:p>
        </p:txBody>
      </p:sp>
      <p:sp>
        <p:nvSpPr>
          <p:cNvPr id="5" name="Rectangle 4"/>
          <p:cNvSpPr/>
          <p:nvPr/>
        </p:nvSpPr>
        <p:spPr>
          <a:xfrm>
            <a:off x="2677119" y="140950"/>
            <a:ext cx="7765267" cy="707886"/>
          </a:xfrm>
          <a:prstGeom prst="rect">
            <a:avLst/>
          </a:prstGeom>
        </p:spPr>
        <p:txBody>
          <a:bodyPr wrap="none">
            <a:spAutoFit/>
          </a:bodyPr>
          <a:lstStyle/>
          <a:p>
            <a:r>
              <a:rPr lang="fr-FR" sz="40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Exemple de Phases de MapReduce</a:t>
            </a:r>
          </a:p>
        </p:txBody>
      </p:sp>
    </p:spTree>
    <p:extLst>
      <p:ext uri="{BB962C8B-B14F-4D97-AF65-F5344CB8AC3E}">
        <p14:creationId xmlns:p14="http://schemas.microsoft.com/office/powerpoint/2010/main" xmlns="" val="1736392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91E45D08-68AA-4FF0-AF85-CAB643B97F37}"/>
              </a:ext>
            </a:extLst>
          </p:cNvPr>
          <p:cNvSpPr/>
          <p:nvPr/>
        </p:nvSpPr>
        <p:spPr>
          <a:xfrm>
            <a:off x="355599" y="1286113"/>
            <a:ext cx="11480801" cy="501194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L'architecture de MapReduce se compose de divers composants. Une brève description de ces sections peut améliorer notre compréhension de son fonctionnement.</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Job</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il s'agit d'un travail réel qui doit être fait ou traité</a:t>
            </a:r>
          </a:p>
          <a:p>
            <a:pPr marL="342900" marR="0" lvl="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Task</a:t>
            </a: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il s'agit d'un travail réel qui doit être effectué ou traité. La tâche MapReduce couvre de nombreuses petites tâches qui doivent être effectuées.</a:t>
            </a:r>
          </a:p>
          <a:p>
            <a:pPr marL="342900" marR="0" lvl="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Job Tracker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ce suivi joue un rôle dans l'organisation des tâches et le suivi de toutes les tâches affectées à un suivi des tâches.</a:t>
            </a:r>
          </a:p>
          <a:p>
            <a:pPr marL="342900" marR="0" lvl="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Task</a:t>
            </a: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Tracker :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ce suivi joue le rôle de suivre l'activité et de signaler l'état de l'activité au suivi des tâches.</a:t>
            </a:r>
          </a:p>
        </p:txBody>
      </p:sp>
      <p:sp>
        <p:nvSpPr>
          <p:cNvPr id="3" name="Rectangle 2">
            <a:extLst>
              <a:ext uri="{FF2B5EF4-FFF2-40B4-BE49-F238E27FC236}">
                <a16:creationId xmlns:a16="http://schemas.microsoft.com/office/drawing/2014/main" xmlns="" id="{2D900AE3-7AEE-47ED-A9E7-DE583FF8B11A}"/>
              </a:ext>
            </a:extLst>
          </p:cNvPr>
          <p:cNvSpPr/>
          <p:nvPr/>
        </p:nvSpPr>
        <p:spPr>
          <a:xfrm>
            <a:off x="1658494" y="248730"/>
            <a:ext cx="6843605"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dirty="0">
                <a:ln>
                  <a:noFill/>
                </a:ln>
                <a:solidFill>
                  <a:srgbClr val="C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L’Architecture de MapReduce</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xmlns="" val="404555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2865B961-981A-4F33-92D8-8EE7F8AC3F21}"/>
              </a:ext>
            </a:extLst>
          </p:cNvPr>
          <p:cNvSpPr/>
          <p:nvPr/>
        </p:nvSpPr>
        <p:spPr>
          <a:xfrm>
            <a:off x="369455" y="1318222"/>
            <a:ext cx="11600872" cy="3349956"/>
          </a:xfrm>
          <a:prstGeom prst="rect">
            <a:avLst/>
          </a:prstGeom>
        </p:spPr>
        <p:txBody>
          <a:bodyPr wrap="square">
            <a:spAutoFit/>
          </a:bodyPr>
          <a:lstStyle/>
          <a:p>
            <a:pPr marL="342900" marR="0" lvl="0" indent="-342900" algn="just"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Input data: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elles sont utilisées pour le traitement dans la phase de cartographie.</a:t>
            </a:r>
          </a:p>
          <a:p>
            <a:pPr marL="342900" marR="0" lvl="0" indent="-342900" algn="just"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Exit data: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C'est le résultat de la cartographie et de l'atténuation.</a:t>
            </a:r>
          </a:p>
          <a:p>
            <a:pPr marL="342900" marR="0" lvl="0" indent="-342900" algn="just"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Client :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il s'agit d'un programme ou d'une interface de programmation d'application (API) qui envoie des tâches à MapReduce. Il peut accepter les services de plusieurs clients.</a:t>
            </a:r>
          </a:p>
          <a:p>
            <a:pPr marL="342900" marR="0" lvl="0" indent="-342900" algn="just"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Hadoop MapReduce Master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Celui-ci joue le rôle de diviser les tâches en sections.</a:t>
            </a:r>
          </a:p>
          <a:p>
            <a:pPr marL="342900" marR="0" lvl="0" indent="-342900" algn="just"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Job Parts </a:t>
            </a:r>
            <a:r>
              <a:rPr kumimoji="0" lang="fr-FR"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Ce sont de petites tâches qui aboutissent à la division de la fonction principale.</a:t>
            </a:r>
          </a:p>
        </p:txBody>
      </p:sp>
      <p:sp>
        <p:nvSpPr>
          <p:cNvPr id="3" name="Rectangle 2">
            <a:extLst>
              <a:ext uri="{FF2B5EF4-FFF2-40B4-BE49-F238E27FC236}">
                <a16:creationId xmlns:a16="http://schemas.microsoft.com/office/drawing/2014/main" xmlns="" id="{F9A0D71A-153E-4BC1-B840-4D1C1A6145CD}"/>
              </a:ext>
            </a:extLst>
          </p:cNvPr>
          <p:cNvSpPr/>
          <p:nvPr/>
        </p:nvSpPr>
        <p:spPr>
          <a:xfrm>
            <a:off x="1658494" y="248730"/>
            <a:ext cx="6843605"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dirty="0">
                <a:ln>
                  <a:noFill/>
                </a:ln>
                <a:solidFill>
                  <a:srgbClr val="C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L’Architecture de MapReduce</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xmlns="" val="3059233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srcRect/>
          <a:stretch>
            <a:fillRect/>
          </a:stretch>
        </p:blipFill>
        <p:spPr bwMode="auto">
          <a:xfrm>
            <a:off x="901700" y="1054100"/>
            <a:ext cx="10172699" cy="4368800"/>
          </a:xfrm>
          <a:prstGeom prst="rect">
            <a:avLst/>
          </a:prstGeom>
          <a:noFill/>
          <a:ln w="9525">
            <a:noFill/>
            <a:miter lim="800000"/>
            <a:headEnd/>
            <a:tailEnd/>
          </a:ln>
        </p:spPr>
      </p:pic>
      <p:sp>
        <p:nvSpPr>
          <p:cNvPr id="3" name="Rectangle 2"/>
          <p:cNvSpPr/>
          <p:nvPr/>
        </p:nvSpPr>
        <p:spPr>
          <a:xfrm>
            <a:off x="3829839" y="63500"/>
            <a:ext cx="3647152" cy="655885"/>
          </a:xfrm>
          <a:prstGeom prst="rect">
            <a:avLst/>
          </a:prstGeom>
        </p:spPr>
        <p:txBody>
          <a:bodyPr wrap="none">
            <a:spAutoFit/>
          </a:bodyPr>
          <a:lstStyle/>
          <a:p>
            <a:pPr>
              <a:lnSpc>
                <a:spcPct val="107000"/>
              </a:lnSpc>
              <a:spcAft>
                <a:spcPts val="800"/>
              </a:spcAft>
            </a:pPr>
            <a:r>
              <a:rPr lang="fr-FR" sz="36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MapReduce(MR)</a:t>
            </a:r>
            <a:endParaRPr lang="fr-FR" sz="3600" b="1">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774930" y="5757615"/>
            <a:ext cx="5123518" cy="468077"/>
          </a:xfrm>
          <a:prstGeom prst="rect">
            <a:avLst/>
          </a:prstGeom>
        </p:spPr>
        <p:txBody>
          <a:bodyPr wrap="none">
            <a:spAutoFit/>
          </a:bodyPr>
          <a:lstStyle/>
          <a:p>
            <a:pPr algn="ctr">
              <a:lnSpc>
                <a:spcPct val="107000"/>
              </a:lnSpc>
              <a:spcAft>
                <a:spcPts val="800"/>
              </a:spcAf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FIGURE 2.12 </a:t>
            </a:r>
            <a:r>
              <a:rPr lang="en-US" sz="2400">
                <a:effectLst/>
                <a:latin typeface="Times New Roman" panose="02020603050405020304" pitchFamily="18" charset="0"/>
                <a:ea typeface="Calibri" panose="020F0502020204030204" pitchFamily="34" charset="0"/>
                <a:cs typeface="Times New Roman" panose="02020603050405020304" pitchFamily="18" charset="0"/>
              </a:rPr>
              <a:t>MapReduce components</a:t>
            </a:r>
            <a:endParaRPr lang="fr-FR" sz="24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251204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7570" y="478215"/>
            <a:ext cx="11659630" cy="6494085"/>
          </a:xfrm>
          <a:prstGeom prst="rect">
            <a:avLst/>
          </a:prstGeom>
        </p:spPr>
        <p:txBody>
          <a:bodyPr wrap="square">
            <a:spAutoFit/>
          </a:bodyPr>
          <a:lstStyle/>
          <a:p>
            <a:pPr algn="just">
              <a:lnSpc>
                <a:spcPct val="150000"/>
              </a:lnSpc>
              <a:spcAft>
                <a:spcPts val="800"/>
              </a:spcAft>
            </a:pP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 calcul MapReduce s'exécute comme suit :</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1. </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 certain nombre de tâches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Map</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reçoivent chacune un ou plusieurs morceaux d'un système de fichiers distribué. Ces tâches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Map</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transforment le bloc en une séquence de paires clé-valeur. La façon dont les paires clé-valeur sont produites à partir des données d'entrée est déterminée par le code écrit par l'utilisateur pour la fonction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Map</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2. </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Les paires clé-valeur de chaque tâche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Map</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sont collectées par un contrôleur maître et triées par clé. Les clés sont réparties entre toutes les tâches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Reduce</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de sorte que toutes les paires clé-valeur avec la même clé se retrouvent dans la même tâche de réduction.</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3. </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Les tâches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Reduce</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fonctionnent sur une clé à la fois et combinent toutes les valeurs associées à cette clé d'une manière ou d'une autre. Le mode de combinaison des valeurs est déterminé par le code écrit par l'utilisateur pour la fonction </a:t>
            </a:r>
            <a:r>
              <a:rPr lang="fr-FR" sz="24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Reduce</a:t>
            </a:r>
            <a:r>
              <a:rPr lang="fr-F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1844871" y="-50800"/>
            <a:ext cx="8590813" cy="750975"/>
          </a:xfrm>
          <a:prstGeom prst="rect">
            <a:avLst/>
          </a:prstGeom>
        </p:spPr>
        <p:txBody>
          <a:bodyPr wrap="none">
            <a:spAutoFit/>
          </a:bodyPr>
          <a:lstStyle/>
          <a:p>
            <a:pPr>
              <a:lnSpc>
                <a:spcPct val="107000"/>
              </a:lnSpc>
              <a:spcAft>
                <a:spcPts val="800"/>
              </a:spcAft>
            </a:pPr>
            <a:r>
              <a:rPr lang="fr-FR" sz="40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Le Mécanisme du Modèle MapReduce</a:t>
            </a:r>
          </a:p>
        </p:txBody>
      </p:sp>
    </p:spTree>
    <p:extLst>
      <p:ext uri="{BB962C8B-B14F-4D97-AF65-F5344CB8AC3E}">
        <p14:creationId xmlns:p14="http://schemas.microsoft.com/office/powerpoint/2010/main" xmlns="" val="844657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extLst>
              <a:ext uri="{28A0092B-C50C-407E-A947-70E740481C1C}">
                <a14:useLocalDpi xmlns:a14="http://schemas.microsoft.com/office/drawing/2010/main" xmlns="" val="0"/>
              </a:ext>
            </a:extLst>
          </a:blip>
          <a:stretch>
            <a:fillRect/>
          </a:stretch>
        </p:blipFill>
        <p:spPr>
          <a:xfrm>
            <a:off x="2734656" y="750975"/>
            <a:ext cx="6818047" cy="5372371"/>
          </a:xfrm>
          <a:prstGeom prst="rect">
            <a:avLst/>
          </a:prstGeom>
        </p:spPr>
      </p:pic>
      <p:sp>
        <p:nvSpPr>
          <p:cNvPr id="3" name="Rectangle 2"/>
          <p:cNvSpPr/>
          <p:nvPr/>
        </p:nvSpPr>
        <p:spPr>
          <a:xfrm>
            <a:off x="3632215" y="6246882"/>
            <a:ext cx="2950488" cy="388696"/>
          </a:xfrm>
          <a:prstGeom prst="rect">
            <a:avLst/>
          </a:prstGeom>
        </p:spPr>
        <p:txBody>
          <a:bodyPr wrap="none">
            <a:spAutoFit/>
          </a:bodyPr>
          <a:lstStyle/>
          <a:p>
            <a:pPr algn="ctr">
              <a:lnSpc>
                <a:spcPct val="107000"/>
              </a:lnSpc>
              <a:spcAft>
                <a:spcPts val="800"/>
              </a:spcAft>
            </a:pPr>
            <a:r>
              <a:rPr lang="fr-FR" b="1">
                <a:latin typeface="Times New Roman" panose="02020603050405020304" pitchFamily="18" charset="0"/>
                <a:ea typeface="Calibri" panose="020F0502020204030204" pitchFamily="34" charset="0"/>
                <a:cs typeface="Times New Roman" panose="02020603050405020304" pitchFamily="18" charset="0"/>
              </a:rPr>
              <a:t>Figure 3.2</a:t>
            </a:r>
            <a:r>
              <a:rPr lang="fr-FR">
                <a:latin typeface="Times New Roman" panose="02020603050405020304" pitchFamily="18" charset="0"/>
                <a:ea typeface="Calibri" panose="020F0502020204030204" pitchFamily="34" charset="0"/>
                <a:cs typeface="Times New Roman" panose="02020603050405020304" pitchFamily="18" charset="0"/>
              </a:rPr>
              <a:t> MapReduce Mode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273371" y="0"/>
            <a:ext cx="8590813" cy="750975"/>
          </a:xfrm>
          <a:prstGeom prst="rect">
            <a:avLst/>
          </a:prstGeom>
        </p:spPr>
        <p:txBody>
          <a:bodyPr wrap="none">
            <a:spAutoFit/>
          </a:bodyPr>
          <a:lstStyle/>
          <a:p>
            <a:pPr>
              <a:lnSpc>
                <a:spcPct val="107000"/>
              </a:lnSpc>
              <a:spcAft>
                <a:spcPts val="800"/>
              </a:spcAft>
            </a:pPr>
            <a:r>
              <a:rPr lang="fr-FR" sz="4000" b="1">
                <a:solidFill>
                  <a:srgbClr val="C00000"/>
                </a:solidFill>
                <a:latin typeface="Times New Roman" panose="02020603050405020304" pitchFamily="18" charset="0"/>
                <a:ea typeface="Calibri" panose="020F0502020204030204" pitchFamily="34" charset="0"/>
                <a:cs typeface="Times New Roman" panose="02020603050405020304" pitchFamily="18" charset="0"/>
              </a:rPr>
              <a:t>Le Mécanisme du Modèle MapReduce</a:t>
            </a:r>
          </a:p>
        </p:txBody>
      </p:sp>
    </p:spTree>
    <p:extLst>
      <p:ext uri="{BB962C8B-B14F-4D97-AF65-F5344CB8AC3E}">
        <p14:creationId xmlns:p14="http://schemas.microsoft.com/office/powerpoint/2010/main" xmlns="" val="2337416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C08F347F-E44E-4E9F-B652-BFDEAAE8C4B5}"/>
              </a:ext>
            </a:extLst>
          </p:cNvPr>
          <p:cNvSpPr/>
          <p:nvPr/>
        </p:nvSpPr>
        <p:spPr>
          <a:xfrm>
            <a:off x="2231148" y="0"/>
            <a:ext cx="6843605" cy="707886"/>
          </a:xfrm>
          <a:prstGeom prst="rect">
            <a:avLst/>
          </a:prstGeom>
        </p:spPr>
        <p:txBody>
          <a:bodyPr wrap="none">
            <a:spAutoFit/>
          </a:bodyPr>
          <a:lstStyle/>
          <a:p>
            <a:r>
              <a:rPr lang="fr-FR" sz="40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L’Architecture de MapReduce</a:t>
            </a:r>
            <a:endParaRPr lang="fr-FR" dirty="0"/>
          </a:p>
        </p:txBody>
      </p:sp>
      <p:sp>
        <p:nvSpPr>
          <p:cNvPr id="3" name="Rectangle 2">
            <a:extLst>
              <a:ext uri="{FF2B5EF4-FFF2-40B4-BE49-F238E27FC236}">
                <a16:creationId xmlns:a16="http://schemas.microsoft.com/office/drawing/2014/main" xmlns="" id="{B000C98F-13D2-4F2E-ACF2-E12C834872CE}"/>
              </a:ext>
            </a:extLst>
          </p:cNvPr>
          <p:cNvSpPr/>
          <p:nvPr/>
        </p:nvSpPr>
        <p:spPr>
          <a:xfrm>
            <a:off x="193963" y="707886"/>
            <a:ext cx="11804074" cy="4365619"/>
          </a:xfrm>
          <a:prstGeom prst="rect">
            <a:avLst/>
          </a:prstGeom>
        </p:spPr>
        <p:txBody>
          <a:bodyPr wrap="square">
            <a:spAutoFit/>
          </a:bodyPr>
          <a:lstStyle/>
          <a:p>
            <a:pPr algn="just">
              <a:lnSpc>
                <a:spcPct val="130000"/>
              </a:lnSpc>
            </a:pPr>
            <a:r>
              <a:rPr lang="fr-FR" sz="2400" dirty="0">
                <a:latin typeface="Times New Roman" panose="02020603050405020304" pitchFamily="18" charset="0"/>
                <a:cs typeface="Times New Roman" panose="02020603050405020304" pitchFamily="18" charset="0"/>
              </a:rPr>
              <a:t>Dans l'architecture MapReduce, les clients soumettent des tâches à MapReduce Master. Ce gestionnaire divisera ensuite le travail en plus petites parties égales. Les composants de la fonction seront utilisés pour deux tâches principales dans </a:t>
            </a:r>
            <a:r>
              <a:rPr lang="fr-FR" sz="2400" dirty="0" err="1">
                <a:latin typeface="Times New Roman" panose="02020603050405020304" pitchFamily="18" charset="0"/>
                <a:cs typeface="Times New Roman" panose="02020603050405020304" pitchFamily="18" charset="0"/>
              </a:rPr>
              <a:t>Map</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Reduce</a:t>
            </a:r>
            <a:r>
              <a:rPr lang="fr-FR" sz="2400" dirty="0">
                <a:latin typeface="Times New Roman" panose="02020603050405020304" pitchFamily="18" charset="0"/>
                <a:cs typeface="Times New Roman" panose="02020603050405020304" pitchFamily="18" charset="0"/>
              </a:rPr>
              <a:t> : le mappage et la soustraction.</a:t>
            </a:r>
          </a:p>
          <a:p>
            <a:pPr algn="just">
              <a:lnSpc>
                <a:spcPct val="130000"/>
              </a:lnSpc>
            </a:pPr>
            <a:r>
              <a:rPr lang="fr-FR" sz="2400" dirty="0">
                <a:latin typeface="Times New Roman" panose="02020603050405020304" pitchFamily="18" charset="0"/>
                <a:cs typeface="Times New Roman" panose="02020603050405020304" pitchFamily="18" charset="0"/>
              </a:rPr>
              <a:t>Le développeur rédigera un concept qui répond aux besoins de l'organisation ou de l'entreprise. Les données d'entrée seront catégorisées et cartographiées.</a:t>
            </a:r>
          </a:p>
          <a:p>
            <a:pPr algn="just">
              <a:lnSpc>
                <a:spcPct val="130000"/>
              </a:lnSpc>
            </a:pPr>
            <a:r>
              <a:rPr lang="fr-FR" sz="2400" dirty="0">
                <a:latin typeface="Times New Roman" panose="02020603050405020304" pitchFamily="18" charset="0"/>
                <a:cs typeface="Times New Roman" panose="02020603050405020304" pitchFamily="18" charset="0"/>
              </a:rPr>
              <a:t>Les données centrales seront ensuite filtrées et fusionnées. Le curseur qui produira le dernier stocké sur HDFS traitera la sortie.</a:t>
            </a:r>
          </a:p>
          <a:p>
            <a:pPr algn="just">
              <a:lnSpc>
                <a:spcPct val="130000"/>
              </a:lnSpc>
            </a:pPr>
            <a:r>
              <a:rPr lang="fr-FR" sz="2400" dirty="0">
                <a:latin typeface="Times New Roman" panose="02020603050405020304" pitchFamily="18" charset="0"/>
                <a:cs typeface="Times New Roman" panose="02020603050405020304" pitchFamily="18" charset="0"/>
              </a:rPr>
              <a:t>Le diagramme suivant montre un organigramme simplifié du programme MapReduce.</a:t>
            </a:r>
          </a:p>
        </p:txBody>
      </p:sp>
      <p:pic>
        <p:nvPicPr>
          <p:cNvPr id="5" name="Image 4">
            <a:extLst>
              <a:ext uri="{FF2B5EF4-FFF2-40B4-BE49-F238E27FC236}">
                <a16:creationId xmlns:a16="http://schemas.microsoft.com/office/drawing/2014/main" xmlns="" id="{8CA7F3DC-E80D-4EEB-A638-50E5B15DDDF0}"/>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614000" y="5278427"/>
            <a:ext cx="8077900" cy="1066955"/>
          </a:xfrm>
          <a:prstGeom prst="rect">
            <a:avLst/>
          </a:prstGeom>
        </p:spPr>
      </p:pic>
    </p:spTree>
    <p:extLst>
      <p:ext uri="{BB962C8B-B14F-4D97-AF65-F5344CB8AC3E}">
        <p14:creationId xmlns:p14="http://schemas.microsoft.com/office/powerpoint/2010/main" xmlns="" val="2621985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4B624AEE-CED1-4028-B325-1A85C3B531D8}"/>
              </a:ext>
            </a:extLst>
          </p:cNvPr>
          <p:cNvSpPr/>
          <p:nvPr/>
        </p:nvSpPr>
        <p:spPr>
          <a:xfrm>
            <a:off x="3259368" y="94734"/>
            <a:ext cx="6406626" cy="707886"/>
          </a:xfrm>
          <a:prstGeom prst="rect">
            <a:avLst/>
          </a:prstGeom>
        </p:spPr>
        <p:txBody>
          <a:bodyPr wrap="none">
            <a:spAutoFit/>
          </a:bodyPr>
          <a:lstStyle/>
          <a:p>
            <a:r>
              <a:rPr lang="en-US" sz="4000" b="1" dirty="0">
                <a:solidFill>
                  <a:srgbClr val="C00000"/>
                </a:solidFill>
                <a:latin typeface="Times New Roman" panose="02020603050405020304" pitchFamily="18" charset="0"/>
                <a:cs typeface="Times New Roman" panose="02020603050405020304" pitchFamily="18" charset="0"/>
              </a:rPr>
              <a:t>How do Job Trackers work?</a:t>
            </a:r>
          </a:p>
        </p:txBody>
      </p:sp>
      <p:sp>
        <p:nvSpPr>
          <p:cNvPr id="3" name="Rectangle 2">
            <a:extLst>
              <a:ext uri="{FF2B5EF4-FFF2-40B4-BE49-F238E27FC236}">
                <a16:creationId xmlns:a16="http://schemas.microsoft.com/office/drawing/2014/main" xmlns="" id="{49AC4BEB-249E-4B39-855F-2CB1208CD9BD}"/>
              </a:ext>
            </a:extLst>
          </p:cNvPr>
          <p:cNvSpPr/>
          <p:nvPr/>
        </p:nvSpPr>
        <p:spPr>
          <a:xfrm>
            <a:off x="175194" y="810320"/>
            <a:ext cx="11283988" cy="2862322"/>
          </a:xfrm>
          <a:prstGeom prst="rect">
            <a:avLst/>
          </a:prstGeom>
        </p:spPr>
        <p:txBody>
          <a:bodyPr wrap="square">
            <a:spAutoFit/>
          </a:bodyPr>
          <a:lstStyle/>
          <a:p>
            <a:r>
              <a:rPr lang="fr-FR" sz="2000" dirty="0">
                <a:latin typeface="Times New Roman" panose="02020603050405020304" pitchFamily="18" charset="0"/>
                <a:cs typeface="Times New Roman" panose="02020603050405020304" pitchFamily="18" charset="0"/>
              </a:rPr>
              <a:t>Chaque tâche se compose de deux parties essentielles : les fonctions </a:t>
            </a:r>
            <a:r>
              <a:rPr lang="fr-FR" sz="2000" dirty="0" err="1">
                <a:latin typeface="Times New Roman" panose="02020603050405020304" pitchFamily="18" charset="0"/>
                <a:cs typeface="Times New Roman" panose="02020603050405020304" pitchFamily="18" charset="0"/>
              </a:rPr>
              <a:t>Map</a:t>
            </a:r>
            <a:r>
              <a:rPr lang="fr-FR" sz="2000" dirty="0">
                <a:latin typeface="Times New Roman" panose="02020603050405020304" pitchFamily="18" charset="0"/>
                <a:cs typeface="Times New Roman" panose="02020603050405020304" pitchFamily="18" charset="0"/>
              </a:rPr>
              <a:t> et </a:t>
            </a:r>
            <a:r>
              <a:rPr lang="fr-FR" sz="2000" dirty="0" err="1">
                <a:latin typeface="Times New Roman" panose="02020603050405020304" pitchFamily="18" charset="0"/>
                <a:cs typeface="Times New Roman" panose="02020603050405020304" pitchFamily="18" charset="0"/>
              </a:rPr>
              <a:t>Reduce</a:t>
            </a:r>
            <a:r>
              <a:rPr lang="fr-FR" sz="2000" dirty="0">
                <a:latin typeface="Times New Roman" panose="02020603050405020304" pitchFamily="18" charset="0"/>
                <a:cs typeface="Times New Roman" panose="02020603050405020304" pitchFamily="18" charset="0"/>
              </a:rPr>
              <a:t>. Le rôle de la fonction </a:t>
            </a:r>
            <a:r>
              <a:rPr lang="fr-FR" sz="2000" dirty="0" err="1">
                <a:latin typeface="Times New Roman" panose="02020603050405020304" pitchFamily="18" charset="0"/>
                <a:cs typeface="Times New Roman" panose="02020603050405020304" pitchFamily="18" charset="0"/>
              </a:rPr>
              <a:t>Map</a:t>
            </a:r>
            <a:r>
              <a:rPr lang="fr-FR" sz="2000" dirty="0">
                <a:latin typeface="Times New Roman" panose="02020603050405020304" pitchFamily="18" charset="0"/>
                <a:cs typeface="Times New Roman" panose="02020603050405020304" pitchFamily="18" charset="0"/>
              </a:rPr>
              <a:t>  consiste  à diviser les tâches en segments de tâches et en données de mapping centrales, et la fonction </a:t>
            </a:r>
            <a:r>
              <a:rPr lang="fr-FR" sz="2000" dirty="0" err="1">
                <a:latin typeface="Times New Roman" panose="02020603050405020304" pitchFamily="18" charset="0"/>
                <a:cs typeface="Times New Roman" panose="02020603050405020304" pitchFamily="18" charset="0"/>
              </a:rPr>
              <a:t>Reduce</a:t>
            </a:r>
            <a:r>
              <a:rPr lang="fr-FR" sz="2000" dirty="0">
                <a:latin typeface="Times New Roman" panose="02020603050405020304" pitchFamily="18" charset="0"/>
                <a:cs typeface="Times New Roman" panose="02020603050405020304" pitchFamily="18" charset="0"/>
              </a:rPr>
              <a:t>  joue le rôle de mélanger et de rassembler les données centrales en unités plus petites.</a:t>
            </a:r>
          </a:p>
          <a:p>
            <a:endParaRPr lang="fr-FR"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Le tracker d'activité fonctionne comme un maître. Cela garantit que nous faisons tout le travail. Le suivi d'activité répertorie les tâches publiées par les clients et fournit des </a:t>
            </a:r>
            <a:r>
              <a:rPr lang="en-US" sz="2000" dirty="0">
                <a:latin typeface="Times New Roman" panose="02020603050405020304" pitchFamily="18" charset="0"/>
                <a:cs typeface="Times New Roman" panose="02020603050405020304" pitchFamily="18" charset="0"/>
              </a:rPr>
              <a:t>job trackers </a:t>
            </a:r>
            <a:r>
              <a:rPr lang="fr-FR" sz="2000" dirty="0">
                <a:latin typeface="Times New Roman" panose="02020603050405020304" pitchFamily="18" charset="0"/>
                <a:cs typeface="Times New Roman" panose="02020603050405020304" pitchFamily="18" charset="0"/>
              </a:rPr>
              <a:t>pour les travaux. Chaque </a:t>
            </a:r>
            <a:r>
              <a:rPr lang="en-US" sz="2000" dirty="0">
                <a:latin typeface="Times New Roman" panose="02020603050405020304" pitchFamily="18" charset="0"/>
                <a:cs typeface="Times New Roman" panose="02020603050405020304" pitchFamily="18" charset="0"/>
              </a:rPr>
              <a:t>task tracker </a:t>
            </a:r>
            <a:r>
              <a:rPr lang="fr-FR" sz="2000" dirty="0">
                <a:latin typeface="Times New Roman" panose="02020603050405020304" pitchFamily="18" charset="0"/>
                <a:cs typeface="Times New Roman" panose="02020603050405020304" pitchFamily="18" charset="0"/>
              </a:rPr>
              <a:t>a une fonction </a:t>
            </a:r>
            <a:r>
              <a:rPr lang="fr-FR" sz="2000" dirty="0" err="1">
                <a:latin typeface="Times New Roman" panose="02020603050405020304" pitchFamily="18" charset="0"/>
                <a:cs typeface="Times New Roman" panose="02020603050405020304" pitchFamily="18" charset="0"/>
              </a:rPr>
              <a:t>map</a:t>
            </a:r>
            <a:r>
              <a:rPr lang="fr-FR" sz="2000" dirty="0">
                <a:latin typeface="Times New Roman" panose="02020603050405020304" pitchFamily="18" charset="0"/>
                <a:cs typeface="Times New Roman" panose="02020603050405020304" pitchFamily="18" charset="0"/>
              </a:rPr>
              <a:t> et minimise les tâches. Les </a:t>
            </a:r>
            <a:r>
              <a:rPr lang="en-US" sz="2000" dirty="0">
                <a:latin typeface="Times New Roman" panose="02020603050405020304" pitchFamily="18" charset="0"/>
                <a:cs typeface="Times New Roman" panose="02020603050405020304" pitchFamily="18" charset="0"/>
              </a:rPr>
              <a:t>trackers report (</a:t>
            </a:r>
            <a:r>
              <a:rPr lang="fr-FR" sz="2000" dirty="0">
                <a:latin typeface="Times New Roman" panose="02020603050405020304" pitchFamily="18" charset="0"/>
                <a:cs typeface="Times New Roman" panose="02020603050405020304" pitchFamily="18" charset="0"/>
              </a:rPr>
              <a:t>suivis d'activité) signalent l'état de chaque tâche affectée au </a:t>
            </a:r>
            <a:r>
              <a:rPr lang="en-US" sz="2000" dirty="0">
                <a:latin typeface="Times New Roman" panose="02020603050405020304" pitchFamily="18" charset="0"/>
                <a:cs typeface="Times New Roman" panose="02020603050405020304" pitchFamily="18" charset="0"/>
              </a:rPr>
              <a:t>task tracker</a:t>
            </a:r>
            <a:r>
              <a:rPr lang="fr-FR" sz="2000" dirty="0">
                <a:latin typeface="Times New Roman" panose="02020603050405020304" pitchFamily="18" charset="0"/>
                <a:cs typeface="Times New Roman" panose="02020603050405020304" pitchFamily="18" charset="0"/>
              </a:rPr>
              <a:t>. Le schéma suivant résume le fonctionnement le job tracker et </a:t>
            </a:r>
            <a:r>
              <a:rPr lang="en-US" sz="2000" dirty="0">
                <a:latin typeface="Times New Roman" panose="02020603050405020304" pitchFamily="18" charset="0"/>
                <a:cs typeface="Times New Roman" panose="02020603050405020304" pitchFamily="18" charset="0"/>
              </a:rPr>
              <a:t>task trackers.</a:t>
            </a:r>
            <a:endParaRPr lang="fr-FR" sz="2000" dirty="0">
              <a:latin typeface="Times New Roman" panose="02020603050405020304" pitchFamily="18" charset="0"/>
              <a:cs typeface="Times New Roman" panose="02020603050405020304" pitchFamily="18" charset="0"/>
            </a:endParaRPr>
          </a:p>
        </p:txBody>
      </p:sp>
      <p:pic>
        <p:nvPicPr>
          <p:cNvPr id="9" name="Image 8">
            <a:extLst>
              <a:ext uri="{FF2B5EF4-FFF2-40B4-BE49-F238E27FC236}">
                <a16:creationId xmlns:a16="http://schemas.microsoft.com/office/drawing/2014/main" xmlns="" id="{57AD3BEB-E715-4009-A652-5AF303F65A56}"/>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838167" y="3672642"/>
            <a:ext cx="6515665" cy="3090624"/>
          </a:xfrm>
          <a:prstGeom prst="rect">
            <a:avLst/>
          </a:prstGeom>
        </p:spPr>
      </p:pic>
    </p:spTree>
    <p:extLst>
      <p:ext uri="{BB962C8B-B14F-4D97-AF65-F5344CB8AC3E}">
        <p14:creationId xmlns:p14="http://schemas.microsoft.com/office/powerpoint/2010/main" xmlns="" val="1580123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4AE42F1D-9C5D-411A-85CD-27831E64F0EC}"/>
              </a:ext>
            </a:extLst>
          </p:cNvPr>
          <p:cNvSpPr/>
          <p:nvPr/>
        </p:nvSpPr>
        <p:spPr>
          <a:xfrm>
            <a:off x="314526" y="630384"/>
            <a:ext cx="11494853" cy="1133965"/>
          </a:xfrm>
          <a:prstGeom prst="rect">
            <a:avLst/>
          </a:prstGeom>
        </p:spPr>
        <p:txBody>
          <a:bodyPr wrap="square">
            <a:spAutoFit/>
          </a:bodyPr>
          <a:lstStyle/>
          <a:p>
            <a:pPr>
              <a:lnSpc>
                <a:spcPct val="150000"/>
              </a:lnSpc>
            </a:pPr>
            <a:r>
              <a:rPr lang="fr-FR" sz="2400" dirty="0">
                <a:solidFill>
                  <a:srgbClr val="000000"/>
                </a:solidFill>
                <a:latin typeface="Times New Roman" panose="02020603050405020304" pitchFamily="18" charset="0"/>
                <a:cs typeface="Times New Roman" panose="02020603050405020304" pitchFamily="18" charset="0"/>
              </a:rPr>
              <a:t>La figure suivante illustre MapReduce avec trois catégories principales. La séparation est généralement incluse dans la phase de mappage.</a:t>
            </a:r>
            <a:endParaRPr lang="fr-FR"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xmlns="" id="{6487C0A8-55AC-4497-A99D-DF4DBE9A3871}"/>
              </a:ext>
            </a:extLst>
          </p:cNvPr>
          <p:cNvSpPr/>
          <p:nvPr/>
        </p:nvSpPr>
        <p:spPr>
          <a:xfrm>
            <a:off x="2826624" y="0"/>
            <a:ext cx="5984331" cy="707886"/>
          </a:xfrm>
          <a:prstGeom prst="rect">
            <a:avLst/>
          </a:prstGeom>
        </p:spPr>
        <p:txBody>
          <a:bodyPr wrap="none">
            <a:spAutoFit/>
          </a:bodyPr>
          <a:lstStyle/>
          <a:p>
            <a:r>
              <a:rPr lang="fr-FR" sz="4000" b="1" dirty="0">
                <a:solidFill>
                  <a:srgbClr val="C00000"/>
                </a:solidFill>
                <a:latin typeface="Times New Roman" panose="02020603050405020304" pitchFamily="18" charset="0"/>
                <a:cs typeface="Times New Roman" panose="02020603050405020304" pitchFamily="18" charset="0"/>
              </a:rPr>
              <a:t>Les Phases de MapReduce</a:t>
            </a:r>
          </a:p>
        </p:txBody>
      </p:sp>
      <p:pic>
        <p:nvPicPr>
          <p:cNvPr id="4" name="Image 3">
            <a:extLst>
              <a:ext uri="{FF2B5EF4-FFF2-40B4-BE49-F238E27FC236}">
                <a16:creationId xmlns:a16="http://schemas.microsoft.com/office/drawing/2014/main" xmlns="" id="{1781F937-E3DE-443F-94FC-C1774C6A5DB9}"/>
              </a:ext>
            </a:extLst>
          </p:cNvPr>
          <p:cNvPicPr>
            <a:picLocks noChangeAspect="1"/>
          </p:cNvPicPr>
          <p:nvPr/>
        </p:nvPicPr>
        <p:blipFill>
          <a:blip r:embed="rId2"/>
          <a:stretch>
            <a:fillRect/>
          </a:stretch>
        </p:blipFill>
        <p:spPr>
          <a:xfrm>
            <a:off x="559036" y="2230764"/>
            <a:ext cx="10334625" cy="4171950"/>
          </a:xfrm>
          <a:prstGeom prst="rect">
            <a:avLst/>
          </a:prstGeom>
        </p:spPr>
      </p:pic>
    </p:spTree>
    <p:extLst>
      <p:ext uri="{BB962C8B-B14F-4D97-AF65-F5344CB8AC3E}">
        <p14:creationId xmlns:p14="http://schemas.microsoft.com/office/powerpoint/2010/main" xmlns="" val="290764789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65324</TotalTime>
  <Words>3872</Words>
  <Application>Microsoft Office PowerPoint</Application>
  <PresentationFormat>Personnalisé</PresentationFormat>
  <Paragraphs>133</Paragraphs>
  <Slides>32</Slides>
  <Notes>4</Notes>
  <HiddenSlides>0</HiddenSlides>
  <MMClips>0</MMClips>
  <ScaleCrop>false</ScaleCrop>
  <HeadingPairs>
    <vt:vector size="4" baseType="variant">
      <vt:variant>
        <vt:lpstr>Thème</vt:lpstr>
      </vt:variant>
      <vt:variant>
        <vt:i4>1</vt:i4>
      </vt:variant>
      <vt:variant>
        <vt:lpstr>Titres des diapositives</vt:lpstr>
      </vt:variant>
      <vt:variant>
        <vt:i4>32</vt:i4>
      </vt:variant>
    </vt:vector>
  </HeadingPairs>
  <TitlesOfParts>
    <vt:vector size="33" baseType="lpstr">
      <vt:lpstr>Thème Office</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Dr. SIDIBE</dc:creator>
  <cp:lastModifiedBy>SIDIBE</cp:lastModifiedBy>
  <cp:revision>44</cp:revision>
  <dcterms:created xsi:type="dcterms:W3CDTF">2023-01-27T14:51:52Z</dcterms:created>
  <dcterms:modified xsi:type="dcterms:W3CDTF">2023-07-31T10:09:42Z</dcterms:modified>
</cp:coreProperties>
</file>
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1"/>
  </p:sldMasterIdLst>
  <p:notesMasterIdLst>
    <p:notesMasterId r:id="rId30"/>
  </p:notesMasterIdLst>
  <p:sldIdLst>
    <p:sldId id="256" r:id="rId2"/>
    <p:sldId id="258" r:id="rId3"/>
    <p:sldId id="312" r:id="rId4"/>
    <p:sldId id="260" r:id="rId5"/>
    <p:sldId id="261" r:id="rId6"/>
    <p:sldId id="267" r:id="rId7"/>
    <p:sldId id="317" r:id="rId8"/>
    <p:sldId id="318" r:id="rId9"/>
    <p:sldId id="274" r:id="rId10"/>
    <p:sldId id="268" r:id="rId11"/>
    <p:sldId id="279" r:id="rId12"/>
    <p:sldId id="270" r:id="rId13"/>
    <p:sldId id="263" r:id="rId14"/>
    <p:sldId id="313" r:id="rId15"/>
    <p:sldId id="326" r:id="rId16"/>
    <p:sldId id="325" r:id="rId17"/>
    <p:sldId id="327" r:id="rId18"/>
    <p:sldId id="328" r:id="rId19"/>
    <p:sldId id="329" r:id="rId20"/>
    <p:sldId id="330" r:id="rId21"/>
    <p:sldId id="259" r:id="rId22"/>
    <p:sldId id="332" r:id="rId23"/>
    <p:sldId id="333" r:id="rId24"/>
    <p:sldId id="334" r:id="rId25"/>
    <p:sldId id="335" r:id="rId26"/>
    <p:sldId id="336" r:id="rId27"/>
    <p:sldId id="337" r:id="rId28"/>
    <p:sldId id="339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9127"/>
    <a:srgbClr val="00668A"/>
    <a:srgbClr val="003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8C2602-C9A1-4F18-A1E8-AA4D55C8A0E6}">
  <a:tblStyle styleId="{B28C2602-C9A1-4F18-A1E8-AA4D55C8A0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>
          <a:extLst>
            <a:ext uri="{FF2B5EF4-FFF2-40B4-BE49-F238E27FC236}">
              <a16:creationId xmlns:a16="http://schemas.microsoft.com/office/drawing/2014/main" id="{B8AC8043-66F6-956E-6E3F-0E83BAB9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161526d799_0_1250:notes">
            <a:extLst>
              <a:ext uri="{FF2B5EF4-FFF2-40B4-BE49-F238E27FC236}">
                <a16:creationId xmlns:a16="http://schemas.microsoft.com/office/drawing/2014/main" id="{F1C5D6A2-6CED-1CCA-F06E-42333D80D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161526d799_0_1250:notes">
            <a:extLst>
              <a:ext uri="{FF2B5EF4-FFF2-40B4-BE49-F238E27FC236}">
                <a16:creationId xmlns:a16="http://schemas.microsoft.com/office/drawing/2014/main" id="{C2E00451-5B62-F234-FA24-1FD505A10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74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17030f7a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17030f7a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17030f7ab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17030f7ab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>
          <a:extLst>
            <a:ext uri="{FF2B5EF4-FFF2-40B4-BE49-F238E27FC236}">
              <a16:creationId xmlns:a16="http://schemas.microsoft.com/office/drawing/2014/main" id="{7AFB1C6D-50AC-D8E6-263E-08347DDE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17030f7ab2_0_0:notes">
            <a:extLst>
              <a:ext uri="{FF2B5EF4-FFF2-40B4-BE49-F238E27FC236}">
                <a16:creationId xmlns:a16="http://schemas.microsoft.com/office/drawing/2014/main" id="{225023DD-DAE0-5A11-5A38-81B10F40D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17030f7ab2_0_0:notes">
            <a:extLst>
              <a:ext uri="{FF2B5EF4-FFF2-40B4-BE49-F238E27FC236}">
                <a16:creationId xmlns:a16="http://schemas.microsoft.com/office/drawing/2014/main" id="{A9A46669-0DC0-CBDA-2302-96D621B67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558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>
          <a:extLst>
            <a:ext uri="{FF2B5EF4-FFF2-40B4-BE49-F238E27FC236}">
              <a16:creationId xmlns:a16="http://schemas.microsoft.com/office/drawing/2014/main" id="{471B9D1D-7428-407C-72A0-121E371B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17030f7ab2_0_0:notes">
            <a:extLst>
              <a:ext uri="{FF2B5EF4-FFF2-40B4-BE49-F238E27FC236}">
                <a16:creationId xmlns:a16="http://schemas.microsoft.com/office/drawing/2014/main" id="{D24D9320-9242-EA41-FEA4-F722976E0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17030f7ab2_0_0:notes">
            <a:extLst>
              <a:ext uri="{FF2B5EF4-FFF2-40B4-BE49-F238E27FC236}">
                <a16:creationId xmlns:a16="http://schemas.microsoft.com/office/drawing/2014/main" id="{70B2D1FD-80EF-C9C9-DCC3-5A75E5170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759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17030f7ab2_0_22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17030f7ab2_0_22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17030f7ab2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117030f7ab2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117030f7ab2_0_22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117030f7ab2_0_22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117030f7ab2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117030f7ab2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D3BBA92B-766A-9425-26CA-59462A10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01AB9514-2B60-CA8B-C560-D615B7CC4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57F579C6-0035-3D3B-CEF0-1CECC8237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650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9FAE51A1-5B5A-D691-2C8C-B9C8FC865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3909D1C1-E4EF-73D7-EE8D-C786A1EBB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2EC79082-A87B-3DF9-5871-49EAEA5D8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074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>
          <a:extLst>
            <a:ext uri="{FF2B5EF4-FFF2-40B4-BE49-F238E27FC236}">
              <a16:creationId xmlns:a16="http://schemas.microsoft.com/office/drawing/2014/main" id="{736AB13A-CE6F-AB66-CC13-35FF2F12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>
            <a:extLst>
              <a:ext uri="{FF2B5EF4-FFF2-40B4-BE49-F238E27FC236}">
                <a16:creationId xmlns:a16="http://schemas.microsoft.com/office/drawing/2014/main" id="{EDA886DF-A597-0A67-C6E4-BC52A8995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>
            <a:extLst>
              <a:ext uri="{FF2B5EF4-FFF2-40B4-BE49-F238E27FC236}">
                <a16:creationId xmlns:a16="http://schemas.microsoft.com/office/drawing/2014/main" id="{C10DA9BB-86EA-2C1F-6DF7-F517FBD10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1491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95CF1856-BE87-D793-A906-D34355B24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DF74449E-43B3-F7B1-8B6B-AF6781B39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8B17F580-CEC3-1EF0-71FA-E1DE4B962D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668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A8DB6F71-21D9-0829-F81C-467FDFAB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D0852C2A-975B-0BA8-3CD9-4AA6DDED7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E4CB73C3-5D49-C723-AC30-AD6F146F8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7863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14366770-D773-DA8F-76A1-03B15BD2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>
            <a:extLst>
              <a:ext uri="{FF2B5EF4-FFF2-40B4-BE49-F238E27FC236}">
                <a16:creationId xmlns:a16="http://schemas.microsoft.com/office/drawing/2014/main" id="{691D6AC1-3313-6FB1-ABDC-A8F0694A7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>
            <a:extLst>
              <a:ext uri="{FF2B5EF4-FFF2-40B4-BE49-F238E27FC236}">
                <a16:creationId xmlns:a16="http://schemas.microsoft.com/office/drawing/2014/main" id="{920A50DD-408F-83E7-22D1-30614E2F7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472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4E1A2A7E-4B85-1C90-4045-046E72EA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D1C578BE-CB4F-C651-3964-3D2EA596D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FF7D3262-B68B-E8ED-7EF8-2A2A3DDEE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1309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14AE0376-1B9F-FE4E-C508-A8355E12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85C0A544-93C8-204E-DAA1-C55859633F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6747DDD1-C9F3-D540-CA63-CD704ECF52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0240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A1F715D2-2682-11C9-BD1A-7A7D810B3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6CD77395-6C97-8422-12BD-7D5636941C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CA94B63C-5AA2-1C7A-EDD8-C6F8081D4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6029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48FCA964-B37E-009C-A542-883367FDD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DD60A19F-F3AF-0F1C-A2BC-402DEE46D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AA9DFC1D-E97C-6C63-F668-AF6DC74B7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7019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>
          <a:extLst>
            <a:ext uri="{FF2B5EF4-FFF2-40B4-BE49-F238E27FC236}">
              <a16:creationId xmlns:a16="http://schemas.microsoft.com/office/drawing/2014/main" id="{731ABB25-A9AD-5643-3BBF-9F288D12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17030f7ab2_0_45:notes">
            <a:extLst>
              <a:ext uri="{FF2B5EF4-FFF2-40B4-BE49-F238E27FC236}">
                <a16:creationId xmlns:a16="http://schemas.microsoft.com/office/drawing/2014/main" id="{FA7E0CB2-70AA-393F-86AC-F1D89A7702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17030f7ab2_0_45:notes">
            <a:extLst>
              <a:ext uri="{FF2B5EF4-FFF2-40B4-BE49-F238E27FC236}">
                <a16:creationId xmlns:a16="http://schemas.microsoft.com/office/drawing/2014/main" id="{F7A8A563-024F-6733-BDF9-FF80CCCC8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252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>
          <a:extLst>
            <a:ext uri="{FF2B5EF4-FFF2-40B4-BE49-F238E27FC236}">
              <a16:creationId xmlns:a16="http://schemas.microsoft.com/office/drawing/2014/main" id="{62A61CAD-4761-18F2-982E-3AD28023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17030f7ab2_0_22117:notes">
            <a:extLst>
              <a:ext uri="{FF2B5EF4-FFF2-40B4-BE49-F238E27FC236}">
                <a16:creationId xmlns:a16="http://schemas.microsoft.com/office/drawing/2014/main" id="{5D47BDA7-3292-35BA-D8A0-55B52D8C5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17030f7ab2_0_22117:notes">
            <a:extLst>
              <a:ext uri="{FF2B5EF4-FFF2-40B4-BE49-F238E27FC236}">
                <a16:creationId xmlns:a16="http://schemas.microsoft.com/office/drawing/2014/main" id="{FE36CE93-2F0C-B8E2-2591-B330450BA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5598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98847E9B-3C9C-0B04-B75A-B16D061A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8690AFBC-A847-2063-F40C-95E33AA47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7A095B8E-B57F-C484-4C3E-1C4A6DE08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0507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>
          <a:extLst>
            <a:ext uri="{FF2B5EF4-FFF2-40B4-BE49-F238E27FC236}">
              <a16:creationId xmlns:a16="http://schemas.microsoft.com/office/drawing/2014/main" id="{C995205F-D479-CC0D-D47D-4F1DEE93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>
            <a:extLst>
              <a:ext uri="{FF2B5EF4-FFF2-40B4-BE49-F238E27FC236}">
                <a16:creationId xmlns:a16="http://schemas.microsoft.com/office/drawing/2014/main" id="{A1FA4129-0901-58AA-7FAE-9A88E11E9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>
            <a:extLst>
              <a:ext uri="{FF2B5EF4-FFF2-40B4-BE49-F238E27FC236}">
                <a16:creationId xmlns:a16="http://schemas.microsoft.com/office/drawing/2014/main" id="{C7890FA2-6616-F643-F64D-C16A2181F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0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Google Shape;15;p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" name="Google Shape;17;p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9" name="Google Shape;19;p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20;p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" name="Google Shape;21;p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2;p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" name="Google Shape;25;p2"/>
          <p:cNvSpPr txBox="1">
            <a:spLocks noGrp="1"/>
          </p:cNvSpPr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0" name="Google Shape;30;p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Google Shape;35;p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7" name="Google Shape;37;p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" name="Google Shape;39;p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" name="Google Shape;40;p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1" name="Google Shape;41;p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" name="Google Shape;42;p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3" name="Google Shape;43;p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9" name="Google Shape;69;p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76" name="Google Shape;76;p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8" name="Google Shape;78;p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" name="Google Shape;79;p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80" name="Google Shape;80;p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" name="Google Shape;81;p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82" name="Google Shape;82;p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" name="Google Shape;84;p5"/>
          <p:cNvSpPr txBox="1">
            <a:spLocks noGrp="1"/>
          </p:cNvSpPr>
          <p:nvPr>
            <p:ph type="subTitle" idx="1"/>
          </p:nvPr>
        </p:nvSpPr>
        <p:spPr>
          <a:xfrm>
            <a:off x="897338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2"/>
          </p:nvPr>
        </p:nvSpPr>
        <p:spPr>
          <a:xfrm>
            <a:off x="4856037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3"/>
          </p:nvPr>
        </p:nvSpPr>
        <p:spPr>
          <a:xfrm>
            <a:off x="8973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4"/>
          </p:nvPr>
        </p:nvSpPr>
        <p:spPr>
          <a:xfrm>
            <a:off x="48560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6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91" name="Google Shape;91;p6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6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6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6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6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6" name="Google Shape;96;p6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6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98" name="Google Shape;98;p6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0" name="Google Shape;100;p6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1" name="Google Shape;101;p6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02" name="Google Shape;102;p6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" name="Google Shape;103;p6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04" name="Google Shape;104;p6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46" name="Google Shape;146;p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53" name="Google Shape;153;p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5" name="Google Shape;155;p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6" name="Google Shape;156;p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57" name="Google Shape;157;p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158;p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715100" y="1547575"/>
            <a:ext cx="4661100" cy="64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ubTitle" idx="1"/>
          </p:nvPr>
        </p:nvSpPr>
        <p:spPr>
          <a:xfrm>
            <a:off x="715100" y="2305922"/>
            <a:ext cx="4661100" cy="12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03" name="Google Shape;203;p1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1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1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1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8" name="Google Shape;208;p1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10" name="Google Shape;210;p1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2" name="Google Shape;212;p1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3" name="Google Shape;213;p1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4" name="Google Shape;214;p1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5" name="Google Shape;215;p1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16" name="Google Shape;216;p1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8" name="Google Shape;218;p13"/>
          <p:cNvSpPr txBox="1">
            <a:spLocks noGrp="1"/>
          </p:cNvSpPr>
          <p:nvPr>
            <p:ph type="title"/>
          </p:nvPr>
        </p:nvSpPr>
        <p:spPr>
          <a:xfrm>
            <a:off x="1407500" y="6371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6371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"/>
          </p:nvPr>
        </p:nvSpPr>
        <p:spPr>
          <a:xfrm>
            <a:off x="722600" y="10194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 idx="3"/>
          </p:nvPr>
        </p:nvSpPr>
        <p:spPr>
          <a:xfrm>
            <a:off x="1407500" y="145930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title" idx="4" hasCustomPrompt="1"/>
          </p:nvPr>
        </p:nvSpPr>
        <p:spPr>
          <a:xfrm>
            <a:off x="718850" y="14593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>
            <a:spLocks noGrp="1"/>
          </p:cNvSpPr>
          <p:nvPr>
            <p:ph type="subTitle" idx="5"/>
          </p:nvPr>
        </p:nvSpPr>
        <p:spPr>
          <a:xfrm>
            <a:off x="725560" y="184160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6"/>
          </p:nvPr>
        </p:nvSpPr>
        <p:spPr>
          <a:xfrm>
            <a:off x="1407500" y="22814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7" hasCustomPrompt="1"/>
          </p:nvPr>
        </p:nvSpPr>
        <p:spPr>
          <a:xfrm>
            <a:off x="718850" y="22814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>
            <a:spLocks noGrp="1"/>
          </p:cNvSpPr>
          <p:nvPr>
            <p:ph type="subTitle" idx="8"/>
          </p:nvPr>
        </p:nvSpPr>
        <p:spPr>
          <a:xfrm>
            <a:off x="725560" y="26637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9"/>
          </p:nvPr>
        </p:nvSpPr>
        <p:spPr>
          <a:xfrm>
            <a:off x="1407500" y="317980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 idx="13" hasCustomPrompt="1"/>
          </p:nvPr>
        </p:nvSpPr>
        <p:spPr>
          <a:xfrm>
            <a:off x="718850" y="31798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14"/>
          </p:nvPr>
        </p:nvSpPr>
        <p:spPr>
          <a:xfrm>
            <a:off x="725560" y="356210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title" idx="15"/>
          </p:nvPr>
        </p:nvSpPr>
        <p:spPr>
          <a:xfrm>
            <a:off x="1407500" y="40019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title" idx="16" hasCustomPrompt="1"/>
          </p:nvPr>
        </p:nvSpPr>
        <p:spPr>
          <a:xfrm>
            <a:off x="718850" y="40019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>
            <a:spLocks noGrp="1"/>
          </p:cNvSpPr>
          <p:nvPr>
            <p:ph type="subTitle" idx="17"/>
          </p:nvPr>
        </p:nvSpPr>
        <p:spPr>
          <a:xfrm>
            <a:off x="725560" y="43842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35" name="Google Shape;235;p1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1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1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1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1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0" name="Google Shape;240;p1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" name="Google Shape;241;p1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42" name="Google Shape;242;p1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4" name="Google Shape;244;p1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5" name="Google Shape;245;p1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46" name="Google Shape;246;p1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1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48" name="Google Shape;248;p1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0" name="Google Shape;250;p14"/>
          <p:cNvSpPr txBox="1">
            <a:spLocks noGrp="1"/>
          </p:cNvSpPr>
          <p:nvPr>
            <p:ph type="title"/>
          </p:nvPr>
        </p:nvSpPr>
        <p:spPr>
          <a:xfrm>
            <a:off x="2290050" y="3277575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1" name="Google Shape;251;p14"/>
          <p:cNvSpPr txBox="1">
            <a:spLocks noGrp="1"/>
          </p:cNvSpPr>
          <p:nvPr>
            <p:ph type="subTitle" idx="1"/>
          </p:nvPr>
        </p:nvSpPr>
        <p:spPr>
          <a:xfrm>
            <a:off x="715050" y="1334025"/>
            <a:ext cx="77139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8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21" name="Google Shape;321;p18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18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18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18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18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6" name="Google Shape;326;p18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18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28" name="Google Shape;328;p18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0" name="Google Shape;330;p18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1" name="Google Shape;331;p18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32" name="Google Shape;332;p18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3" name="Google Shape;333;p18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6" name="Google Shape;336;p18"/>
          <p:cNvSpPr txBox="1">
            <a:spLocks noGrp="1"/>
          </p:cNvSpPr>
          <p:nvPr>
            <p:ph type="title"/>
          </p:nvPr>
        </p:nvSpPr>
        <p:spPr>
          <a:xfrm>
            <a:off x="720000" y="1913963"/>
            <a:ext cx="360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7" name="Google Shape;337;p18"/>
          <p:cNvSpPr txBox="1">
            <a:spLocks noGrp="1"/>
          </p:cNvSpPr>
          <p:nvPr>
            <p:ph type="subTitle" idx="1"/>
          </p:nvPr>
        </p:nvSpPr>
        <p:spPr>
          <a:xfrm>
            <a:off x="720000" y="2424288"/>
            <a:ext cx="3602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8"/>
          <p:cNvSpPr txBox="1">
            <a:spLocks noGrp="1"/>
          </p:cNvSpPr>
          <p:nvPr>
            <p:ph type="title" idx="2"/>
          </p:nvPr>
        </p:nvSpPr>
        <p:spPr>
          <a:xfrm>
            <a:off x="4821900" y="1913963"/>
            <a:ext cx="360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39" name="Google Shape;339;p18"/>
          <p:cNvSpPr txBox="1">
            <a:spLocks noGrp="1"/>
          </p:cNvSpPr>
          <p:nvPr>
            <p:ph type="subTitle" idx="3"/>
          </p:nvPr>
        </p:nvSpPr>
        <p:spPr>
          <a:xfrm>
            <a:off x="4821900" y="2424288"/>
            <a:ext cx="3602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8"/>
          <p:cNvSpPr txBox="1">
            <a:spLocks noGrp="1"/>
          </p:cNvSpPr>
          <p:nvPr>
            <p:ph type="title" idx="4"/>
          </p:nvPr>
        </p:nvSpPr>
        <p:spPr>
          <a:xfrm>
            <a:off x="720000" y="3613375"/>
            <a:ext cx="360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41" name="Google Shape;341;p18"/>
          <p:cNvSpPr txBox="1">
            <a:spLocks noGrp="1"/>
          </p:cNvSpPr>
          <p:nvPr>
            <p:ph type="subTitle" idx="5"/>
          </p:nvPr>
        </p:nvSpPr>
        <p:spPr>
          <a:xfrm>
            <a:off x="720000" y="4123700"/>
            <a:ext cx="3602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8"/>
          <p:cNvSpPr txBox="1">
            <a:spLocks noGrp="1"/>
          </p:cNvSpPr>
          <p:nvPr>
            <p:ph type="title" idx="6"/>
          </p:nvPr>
        </p:nvSpPr>
        <p:spPr>
          <a:xfrm>
            <a:off x="4821900" y="3613375"/>
            <a:ext cx="360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43" name="Google Shape;343;p18"/>
          <p:cNvSpPr txBox="1">
            <a:spLocks noGrp="1"/>
          </p:cNvSpPr>
          <p:nvPr>
            <p:ph type="subTitle" idx="7"/>
          </p:nvPr>
        </p:nvSpPr>
        <p:spPr>
          <a:xfrm>
            <a:off x="4821900" y="4123700"/>
            <a:ext cx="3602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27" name="Google Shape;427;p2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2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2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430;p2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2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2" name="Google Shape;432;p2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3" name="Google Shape;433;p2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34" name="Google Shape;434;p2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36" name="Google Shape;436;p2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37" name="Google Shape;437;p2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38" name="Google Shape;438;p2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9" name="Google Shape;439;p2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2" name="Google Shape;442;p22"/>
          <p:cNvSpPr txBox="1">
            <a:spLocks noGrp="1"/>
          </p:cNvSpPr>
          <p:nvPr>
            <p:ph type="title"/>
          </p:nvPr>
        </p:nvSpPr>
        <p:spPr>
          <a:xfrm>
            <a:off x="715100" y="2371250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3" name="Google Shape;443;p22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300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4" name="Google Shape;444;p22"/>
          <p:cNvSpPr txBox="1">
            <a:spLocks noGrp="1"/>
          </p:cNvSpPr>
          <p:nvPr>
            <p:ph type="subTitle" idx="1"/>
          </p:nvPr>
        </p:nvSpPr>
        <p:spPr>
          <a:xfrm>
            <a:off x="715100" y="3545975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47" name="Google Shape;447;p2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448;p2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449;p2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" name="Google Shape;450;p2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" name="Google Shape;451;p2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2" name="Google Shape;452;p2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3" name="Google Shape;453;p2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54" name="Google Shape;454;p2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6" name="Google Shape;456;p2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57" name="Google Shape;457;p2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58" name="Google Shape;458;p2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9" name="Google Shape;459;p2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60" name="Google Shape;460;p2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2" name="Google Shape;462;p23"/>
          <p:cNvSpPr txBox="1">
            <a:spLocks noGrp="1"/>
          </p:cNvSpPr>
          <p:nvPr>
            <p:ph type="title"/>
          </p:nvPr>
        </p:nvSpPr>
        <p:spPr>
          <a:xfrm>
            <a:off x="1772850" y="2364800"/>
            <a:ext cx="6656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63" name="Google Shape;463;p23"/>
          <p:cNvSpPr txBox="1">
            <a:spLocks noGrp="1"/>
          </p:cNvSpPr>
          <p:nvPr>
            <p:ph type="title" idx="2" hasCustomPrompt="1"/>
          </p:nvPr>
        </p:nvSpPr>
        <p:spPr>
          <a:xfrm>
            <a:off x="5278000" y="12943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4" name="Google Shape;464;p23"/>
          <p:cNvSpPr txBox="1">
            <a:spLocks noGrp="1"/>
          </p:cNvSpPr>
          <p:nvPr>
            <p:ph type="subTitle" idx="1"/>
          </p:nvPr>
        </p:nvSpPr>
        <p:spPr>
          <a:xfrm>
            <a:off x="1772775" y="3539525"/>
            <a:ext cx="66561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6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89" name="Google Shape;489;p2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0" name="Google Shape;490;p2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1" name="Google Shape;491;p2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2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3" name="Google Shape;493;p2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4" name="Google Shape;494;p2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2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96" name="Google Shape;496;p2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98" name="Google Shape;498;p2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9" name="Google Shape;499;p2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00" name="Google Shape;500;p2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1" name="Google Shape;501;p2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02" name="Google Shape;502;p2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04" name="Google Shape;504;p25"/>
          <p:cNvSpPr txBox="1">
            <a:spLocks noGrp="1"/>
          </p:cNvSpPr>
          <p:nvPr>
            <p:ph type="title"/>
          </p:nvPr>
        </p:nvSpPr>
        <p:spPr>
          <a:xfrm>
            <a:off x="1311963" y="2361963"/>
            <a:ext cx="651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5" name="Google Shape;505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625" y="124360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6" name="Google Shape;506;p25"/>
          <p:cNvSpPr txBox="1">
            <a:spLocks noGrp="1"/>
          </p:cNvSpPr>
          <p:nvPr>
            <p:ph type="subTitle" idx="1"/>
          </p:nvPr>
        </p:nvSpPr>
        <p:spPr>
          <a:xfrm>
            <a:off x="1312121" y="3590288"/>
            <a:ext cx="65199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06" name="Google Shape;606;p3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3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3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3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3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1" name="Google Shape;611;p3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2" name="Google Shape;612;p3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13" name="Google Shape;613;p3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253750" y="130008"/>
              <a:ext cx="218100" cy="218100"/>
            </a:xfrm>
            <a:prstGeom prst="smileyFace">
              <a:avLst>
                <a:gd name="adj" fmla="val 465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15" name="Google Shape;615;p3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6" name="Google Shape;616;p31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1"/>
          <p:cNvGrpSpPr/>
          <p:nvPr/>
        </p:nvGrpSpPr>
        <p:grpSpPr>
          <a:xfrm>
            <a:off x="8712862" y="137154"/>
            <a:ext cx="132938" cy="218080"/>
            <a:chOff x="4113132" y="2072643"/>
            <a:chExt cx="406290" cy="666503"/>
          </a:xfrm>
        </p:grpSpPr>
        <p:sp>
          <p:nvSpPr>
            <p:cNvPr id="618" name="Google Shape;618;p31"/>
            <p:cNvSpPr/>
            <p:nvPr/>
          </p:nvSpPr>
          <p:spPr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43" name="Google Shape;643;p3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3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8" name="Google Shape;648;p3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3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50" name="Google Shape;650;p3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3750" y="130008"/>
              <a:ext cx="218100" cy="218100"/>
            </a:xfrm>
            <a:prstGeom prst="leftRightArrowCallout">
              <a:avLst>
                <a:gd name="adj1" fmla="val 34916"/>
                <a:gd name="adj2" fmla="val 25000"/>
                <a:gd name="adj3" fmla="val 35030"/>
                <a:gd name="adj4" fmla="val 4812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52" name="Google Shape;652;p3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2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8690995" y="137150"/>
            <a:ext cx="152400" cy="2181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0" r:id="rId8"/>
    <p:sldLayoutId id="2147483664" r:id="rId9"/>
    <p:sldLayoutId id="2147483668" r:id="rId10"/>
    <p:sldLayoutId id="2147483669" r:id="rId11"/>
    <p:sldLayoutId id="2147483671" r:id="rId12"/>
    <p:sldLayoutId id="2147483677" r:id="rId13"/>
    <p:sldLayoutId id="214748367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6"/>
          <p:cNvSpPr txBox="1">
            <a:spLocks noGrp="1"/>
          </p:cNvSpPr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dirty="0"/>
              <a:t>Clustering K-</a:t>
            </a:r>
            <a:r>
              <a:rPr lang="fr-FR" sz="4500" dirty="0" err="1"/>
              <a:t>Means</a:t>
            </a:r>
            <a:endParaRPr sz="3100" dirty="0"/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400" dirty="0"/>
              <a:t>Algorithme d’apprentissage non supervisé</a:t>
            </a:r>
            <a:endParaRPr sz="2400" dirty="0">
              <a:solidFill>
                <a:schemeClr val="accent1"/>
              </a:solidFill>
            </a:endParaRPr>
          </a:p>
        </p:txBody>
      </p:sp>
      <p:sp>
        <p:nvSpPr>
          <p:cNvPr id="666" name="Google Shape;666;p36"/>
          <p:cNvSpPr txBox="1">
            <a:spLocks noGrp="1"/>
          </p:cNvSpPr>
          <p:nvPr>
            <p:ph type="subTitle" idx="1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Presenté par Drissa Sidiki Traoré</a:t>
            </a:r>
            <a:endParaRPr dirty="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5" name="Google Shape;703;p38">
            <a:extLst>
              <a:ext uri="{FF2B5EF4-FFF2-40B4-BE49-F238E27FC236}">
                <a16:creationId xmlns:a16="http://schemas.microsoft.com/office/drawing/2014/main" id="{BCE8B9A1-B064-835A-2D8D-4EF4992FF4F7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01/28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8"/>
          <p:cNvSpPr txBox="1">
            <a:spLocks noGrp="1"/>
          </p:cNvSpPr>
          <p:nvPr>
            <p:ph type="title"/>
          </p:nvPr>
        </p:nvSpPr>
        <p:spPr>
          <a:xfrm>
            <a:off x="1407500" y="6371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Définition</a:t>
            </a:r>
            <a:endParaRPr dirty="0"/>
          </a:p>
        </p:txBody>
      </p:sp>
      <p:sp>
        <p:nvSpPr>
          <p:cNvPr id="703" name="Google Shape;703;p38"/>
          <p:cNvSpPr txBox="1">
            <a:spLocks noGrp="1"/>
          </p:cNvSpPr>
          <p:nvPr>
            <p:ph type="title" idx="2"/>
          </p:nvPr>
        </p:nvSpPr>
        <p:spPr>
          <a:xfrm>
            <a:off x="715100" y="6371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04" name="Google Shape;704;p38"/>
          <p:cNvSpPr txBox="1">
            <a:spLocks noGrp="1"/>
          </p:cNvSpPr>
          <p:nvPr>
            <p:ph type="subTitle" idx="1"/>
          </p:nvPr>
        </p:nvSpPr>
        <p:spPr>
          <a:xfrm>
            <a:off x="722600" y="1019450"/>
            <a:ext cx="5640900" cy="1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C’est quoi le K-Means ?</a:t>
            </a:r>
            <a:endParaRPr dirty="0"/>
          </a:p>
        </p:txBody>
      </p:sp>
      <p:sp>
        <p:nvSpPr>
          <p:cNvPr id="705" name="Google Shape;705;p38"/>
          <p:cNvSpPr txBox="1">
            <a:spLocks noGrp="1"/>
          </p:cNvSpPr>
          <p:nvPr>
            <p:ph type="title" idx="3"/>
          </p:nvPr>
        </p:nvSpPr>
        <p:spPr>
          <a:xfrm>
            <a:off x="1407500" y="145930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Description simple</a:t>
            </a:r>
            <a:endParaRPr dirty="0"/>
          </a:p>
        </p:txBody>
      </p:sp>
      <p:sp>
        <p:nvSpPr>
          <p:cNvPr id="706" name="Google Shape;706;p38"/>
          <p:cNvSpPr txBox="1">
            <a:spLocks noGrp="1"/>
          </p:cNvSpPr>
          <p:nvPr>
            <p:ph type="title" idx="4"/>
          </p:nvPr>
        </p:nvSpPr>
        <p:spPr>
          <a:xfrm>
            <a:off x="718850" y="14593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07" name="Google Shape;707;p38"/>
          <p:cNvSpPr txBox="1">
            <a:spLocks noGrp="1"/>
          </p:cNvSpPr>
          <p:nvPr>
            <p:ph type="subTitle" idx="5"/>
          </p:nvPr>
        </p:nvSpPr>
        <p:spPr>
          <a:xfrm>
            <a:off x="725560" y="1841600"/>
            <a:ext cx="7158396" cy="2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 manière simple, comment fonctionne le clustering ?</a:t>
            </a:r>
            <a:endParaRPr dirty="0"/>
          </a:p>
        </p:txBody>
      </p:sp>
      <p:sp>
        <p:nvSpPr>
          <p:cNvPr id="708" name="Google Shape;708;p38"/>
          <p:cNvSpPr txBox="1">
            <a:spLocks noGrp="1"/>
          </p:cNvSpPr>
          <p:nvPr>
            <p:ph type="title" idx="6"/>
          </p:nvPr>
        </p:nvSpPr>
        <p:spPr>
          <a:xfrm>
            <a:off x="1407500" y="22814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Domaines d’application</a:t>
            </a:r>
            <a:endParaRPr dirty="0"/>
          </a:p>
        </p:txBody>
      </p:sp>
      <p:sp>
        <p:nvSpPr>
          <p:cNvPr id="709" name="Google Shape;709;p38"/>
          <p:cNvSpPr txBox="1">
            <a:spLocks noGrp="1"/>
          </p:cNvSpPr>
          <p:nvPr>
            <p:ph type="title" idx="7"/>
          </p:nvPr>
        </p:nvSpPr>
        <p:spPr>
          <a:xfrm>
            <a:off x="718850" y="22814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10" name="Google Shape;710;p38"/>
          <p:cNvSpPr txBox="1">
            <a:spLocks noGrp="1"/>
          </p:cNvSpPr>
          <p:nvPr>
            <p:ph type="subTitle" idx="8"/>
          </p:nvPr>
        </p:nvSpPr>
        <p:spPr>
          <a:xfrm>
            <a:off x="725560" y="2599202"/>
            <a:ext cx="7284446" cy="3131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Quels sont les domaines où l’on pourrait utiliser le k-Means ?</a:t>
            </a:r>
            <a:endParaRPr dirty="0"/>
          </a:p>
        </p:txBody>
      </p:sp>
      <p:sp>
        <p:nvSpPr>
          <p:cNvPr id="711" name="Google Shape;711;p38"/>
          <p:cNvSpPr txBox="1">
            <a:spLocks noGrp="1"/>
          </p:cNvSpPr>
          <p:nvPr>
            <p:ph type="title" idx="9"/>
          </p:nvPr>
        </p:nvSpPr>
        <p:spPr>
          <a:xfrm>
            <a:off x="1407500" y="3179800"/>
            <a:ext cx="6476456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Principe de fonctionnement </a:t>
            </a:r>
            <a:endParaRPr dirty="0"/>
          </a:p>
        </p:txBody>
      </p:sp>
      <p:sp>
        <p:nvSpPr>
          <p:cNvPr id="712" name="Google Shape;712;p38"/>
          <p:cNvSpPr txBox="1">
            <a:spLocks noGrp="1"/>
          </p:cNvSpPr>
          <p:nvPr>
            <p:ph type="title" idx="13"/>
          </p:nvPr>
        </p:nvSpPr>
        <p:spPr>
          <a:xfrm>
            <a:off x="718850" y="31798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13" name="Google Shape;713;p38"/>
          <p:cNvSpPr txBox="1">
            <a:spLocks noGrp="1"/>
          </p:cNvSpPr>
          <p:nvPr>
            <p:ph type="subTitle" idx="14"/>
          </p:nvPr>
        </p:nvSpPr>
        <p:spPr>
          <a:xfrm>
            <a:off x="725560" y="3562100"/>
            <a:ext cx="7252184" cy="3722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Comment fonctionne concrètement l’algorithme K-Means ?</a:t>
            </a:r>
            <a:endParaRPr dirty="0"/>
          </a:p>
        </p:txBody>
      </p:sp>
      <p:sp>
        <p:nvSpPr>
          <p:cNvPr id="714" name="Google Shape;714;p38"/>
          <p:cNvSpPr txBox="1">
            <a:spLocks noGrp="1"/>
          </p:cNvSpPr>
          <p:nvPr>
            <p:ph type="title" idx="15"/>
          </p:nvPr>
        </p:nvSpPr>
        <p:spPr>
          <a:xfrm>
            <a:off x="1407500" y="4098772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Choix du nombre de cluster</a:t>
            </a:r>
            <a:endParaRPr dirty="0"/>
          </a:p>
        </p:txBody>
      </p:sp>
      <p:sp>
        <p:nvSpPr>
          <p:cNvPr id="715" name="Google Shape;715;p38"/>
          <p:cNvSpPr txBox="1">
            <a:spLocks noGrp="1"/>
          </p:cNvSpPr>
          <p:nvPr>
            <p:ph type="title" idx="16"/>
          </p:nvPr>
        </p:nvSpPr>
        <p:spPr>
          <a:xfrm>
            <a:off x="718850" y="4098772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16" name="Google Shape;716;p38"/>
          <p:cNvSpPr txBox="1">
            <a:spLocks noGrp="1"/>
          </p:cNvSpPr>
          <p:nvPr>
            <p:ph type="subTitle" idx="17"/>
          </p:nvPr>
        </p:nvSpPr>
        <p:spPr>
          <a:xfrm>
            <a:off x="725559" y="4481072"/>
            <a:ext cx="7189659" cy="3097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Quelles sont les techniques utilisées pour choisir le bon nombre de clusters ? </a:t>
            </a:r>
            <a:endParaRPr dirty="0"/>
          </a:p>
        </p:txBody>
      </p:sp>
      <p:grpSp>
        <p:nvGrpSpPr>
          <p:cNvPr id="717" name="Google Shape;717;p38"/>
          <p:cNvGrpSpPr/>
          <p:nvPr/>
        </p:nvGrpSpPr>
        <p:grpSpPr>
          <a:xfrm>
            <a:off x="7569329" y="186943"/>
            <a:ext cx="534466" cy="691809"/>
            <a:chOff x="2875937" y="1960933"/>
            <a:chExt cx="629673" cy="815044"/>
          </a:xfrm>
        </p:grpSpPr>
        <p:sp>
          <p:nvSpPr>
            <p:cNvPr id="718" name="Google Shape;718;p38"/>
            <p:cNvSpPr/>
            <p:nvPr/>
          </p:nvSpPr>
          <p:spPr>
            <a:xfrm>
              <a:off x="2879617" y="1962184"/>
              <a:ext cx="625993" cy="811330"/>
            </a:xfrm>
            <a:custGeom>
              <a:avLst/>
              <a:gdLst/>
              <a:ahLst/>
              <a:cxnLst/>
              <a:rect l="l" t="t" r="r" b="b"/>
              <a:pathLst>
                <a:path w="17013" h="22050" extrusionOk="0">
                  <a:moveTo>
                    <a:pt x="5004" y="0"/>
                  </a:moveTo>
                  <a:lnTo>
                    <a:pt x="5004" y="1001"/>
                  </a:lnTo>
                  <a:lnTo>
                    <a:pt x="4003" y="1001"/>
                  </a:lnTo>
                  <a:lnTo>
                    <a:pt x="4003" y="10041"/>
                  </a:lnTo>
                  <a:lnTo>
                    <a:pt x="3003" y="10041"/>
                  </a:lnTo>
                  <a:lnTo>
                    <a:pt x="3003" y="9040"/>
                  </a:lnTo>
                  <a:lnTo>
                    <a:pt x="0" y="9040"/>
                  </a:lnTo>
                  <a:lnTo>
                    <a:pt x="0" y="10041"/>
                  </a:lnTo>
                  <a:lnTo>
                    <a:pt x="0" y="10541"/>
                  </a:lnTo>
                  <a:lnTo>
                    <a:pt x="0" y="12042"/>
                  </a:lnTo>
                  <a:lnTo>
                    <a:pt x="1001" y="12042"/>
                  </a:lnTo>
                  <a:lnTo>
                    <a:pt x="1001" y="13043"/>
                  </a:lnTo>
                  <a:lnTo>
                    <a:pt x="2002" y="13043"/>
                  </a:lnTo>
                  <a:lnTo>
                    <a:pt x="2002" y="15044"/>
                  </a:lnTo>
                  <a:lnTo>
                    <a:pt x="3003" y="15044"/>
                  </a:lnTo>
                  <a:lnTo>
                    <a:pt x="3003" y="17046"/>
                  </a:lnTo>
                  <a:lnTo>
                    <a:pt x="4003" y="17046"/>
                  </a:lnTo>
                  <a:lnTo>
                    <a:pt x="4003" y="19047"/>
                  </a:lnTo>
                  <a:lnTo>
                    <a:pt x="5004" y="19047"/>
                  </a:lnTo>
                  <a:lnTo>
                    <a:pt x="5004" y="21049"/>
                  </a:lnTo>
                  <a:lnTo>
                    <a:pt x="5004" y="22049"/>
                  </a:lnTo>
                  <a:lnTo>
                    <a:pt x="15011" y="22049"/>
                  </a:lnTo>
                  <a:lnTo>
                    <a:pt x="15011" y="19047"/>
                  </a:lnTo>
                  <a:lnTo>
                    <a:pt x="16012" y="19047"/>
                  </a:lnTo>
                  <a:lnTo>
                    <a:pt x="16012" y="16045"/>
                  </a:lnTo>
                  <a:lnTo>
                    <a:pt x="17013" y="16045"/>
                  </a:lnTo>
                  <a:lnTo>
                    <a:pt x="17013" y="9007"/>
                  </a:lnTo>
                  <a:lnTo>
                    <a:pt x="16012" y="9007"/>
                  </a:lnTo>
                  <a:lnTo>
                    <a:pt x="16012" y="8006"/>
                  </a:lnTo>
                  <a:lnTo>
                    <a:pt x="15011" y="8006"/>
                  </a:lnTo>
                  <a:lnTo>
                    <a:pt x="15011" y="7005"/>
                  </a:lnTo>
                  <a:lnTo>
                    <a:pt x="13010" y="7005"/>
                  </a:lnTo>
                  <a:lnTo>
                    <a:pt x="13010" y="6005"/>
                  </a:lnTo>
                  <a:lnTo>
                    <a:pt x="10008" y="6005"/>
                  </a:lnTo>
                  <a:lnTo>
                    <a:pt x="10008" y="5004"/>
                  </a:lnTo>
                  <a:lnTo>
                    <a:pt x="8006" y="5004"/>
                  </a:lnTo>
                  <a:lnTo>
                    <a:pt x="8006" y="1001"/>
                  </a:lnTo>
                  <a:lnTo>
                    <a:pt x="7005" y="1001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3024442" y="1997765"/>
              <a:ext cx="36869" cy="443122"/>
            </a:xfrm>
            <a:custGeom>
              <a:avLst/>
              <a:gdLst/>
              <a:ahLst/>
              <a:cxnLst/>
              <a:rect l="l" t="t" r="r" b="b"/>
              <a:pathLst>
                <a:path w="1002" h="12043" extrusionOk="0">
                  <a:moveTo>
                    <a:pt x="1" y="1"/>
                  </a:moveTo>
                  <a:lnTo>
                    <a:pt x="1" y="12043"/>
                  </a:lnTo>
                  <a:lnTo>
                    <a:pt x="1001" y="1204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8"/>
            <p:cNvSpPr/>
            <p:nvPr/>
          </p:nvSpPr>
          <p:spPr>
            <a:xfrm>
              <a:off x="3062488" y="1960933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8"/>
            <p:cNvSpPr/>
            <p:nvPr/>
          </p:nvSpPr>
          <p:spPr>
            <a:xfrm>
              <a:off x="3136151" y="1997765"/>
              <a:ext cx="36832" cy="332664"/>
            </a:xfrm>
            <a:custGeom>
              <a:avLst/>
              <a:gdLst/>
              <a:ahLst/>
              <a:cxnLst/>
              <a:rect l="l" t="t" r="r" b="b"/>
              <a:pathLst>
                <a:path w="1001" h="9041" extrusionOk="0">
                  <a:moveTo>
                    <a:pt x="0" y="1"/>
                  </a:moveTo>
                  <a:lnTo>
                    <a:pt x="0" y="9040"/>
                  </a:lnTo>
                  <a:lnTo>
                    <a:pt x="1001" y="9040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8"/>
            <p:cNvSpPr/>
            <p:nvPr/>
          </p:nvSpPr>
          <p:spPr>
            <a:xfrm>
              <a:off x="3172946" y="2146269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8"/>
            <p:cNvSpPr/>
            <p:nvPr/>
          </p:nvSpPr>
          <p:spPr>
            <a:xfrm>
              <a:off x="3246610" y="2219933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8"/>
            <p:cNvSpPr/>
            <p:nvPr/>
          </p:nvSpPr>
          <p:spPr>
            <a:xfrm>
              <a:off x="3246610" y="2183101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8"/>
            <p:cNvSpPr/>
            <p:nvPr/>
          </p:nvSpPr>
          <p:spPr>
            <a:xfrm>
              <a:off x="3358283" y="2256728"/>
              <a:ext cx="36869" cy="110532"/>
            </a:xfrm>
            <a:custGeom>
              <a:avLst/>
              <a:gdLst/>
              <a:ahLst/>
              <a:cxnLst/>
              <a:rect l="l" t="t" r="r" b="b"/>
              <a:pathLst>
                <a:path w="1002" h="3004" extrusionOk="0">
                  <a:moveTo>
                    <a:pt x="1" y="1"/>
                  </a:moveTo>
                  <a:lnTo>
                    <a:pt x="1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8"/>
            <p:cNvSpPr/>
            <p:nvPr/>
          </p:nvSpPr>
          <p:spPr>
            <a:xfrm>
              <a:off x="3358283" y="2219933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8"/>
            <p:cNvSpPr/>
            <p:nvPr/>
          </p:nvSpPr>
          <p:spPr>
            <a:xfrm>
              <a:off x="3431946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8"/>
            <p:cNvSpPr/>
            <p:nvPr/>
          </p:nvSpPr>
          <p:spPr>
            <a:xfrm>
              <a:off x="3468741" y="2293559"/>
              <a:ext cx="36869" cy="259037"/>
            </a:xfrm>
            <a:custGeom>
              <a:avLst/>
              <a:gdLst/>
              <a:ahLst/>
              <a:cxnLst/>
              <a:rect l="l" t="t" r="r" b="b"/>
              <a:pathLst>
                <a:path w="1002" h="7040" extrusionOk="0">
                  <a:moveTo>
                    <a:pt x="1" y="1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8"/>
            <p:cNvSpPr/>
            <p:nvPr/>
          </p:nvSpPr>
          <p:spPr>
            <a:xfrm>
              <a:off x="3431946" y="2552559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3395114" y="2663017"/>
              <a:ext cx="36869" cy="110495"/>
            </a:xfrm>
            <a:custGeom>
              <a:avLst/>
              <a:gdLst/>
              <a:ahLst/>
              <a:cxnLst/>
              <a:rect l="l" t="t" r="r" b="b"/>
              <a:pathLst>
                <a:path w="1002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3062488" y="2739109"/>
              <a:ext cx="332664" cy="36869"/>
            </a:xfrm>
            <a:custGeom>
              <a:avLst/>
              <a:gdLst/>
              <a:ahLst/>
              <a:cxnLst/>
              <a:rect l="l" t="t" r="r" b="b"/>
              <a:pathLst>
                <a:path w="9041" h="1002" extrusionOk="0">
                  <a:moveTo>
                    <a:pt x="1" y="0"/>
                  </a:moveTo>
                  <a:lnTo>
                    <a:pt x="1" y="1001"/>
                  </a:lnTo>
                  <a:lnTo>
                    <a:pt x="9040" y="1001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2986396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/>
            <p:cNvSpPr/>
            <p:nvPr/>
          </p:nvSpPr>
          <p:spPr>
            <a:xfrm>
              <a:off x="2875937" y="2293559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2875937" y="233039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2912769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2950815" y="2442064"/>
              <a:ext cx="36832" cy="73700"/>
            </a:xfrm>
            <a:custGeom>
              <a:avLst/>
              <a:gdLst/>
              <a:ahLst/>
              <a:cxnLst/>
              <a:rect l="l" t="t" r="r" b="b"/>
              <a:pathLst>
                <a:path w="100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2986396" y="251572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3024442" y="2589354"/>
              <a:ext cx="36869" cy="73700"/>
            </a:xfrm>
            <a:custGeom>
              <a:avLst/>
              <a:gdLst/>
              <a:ahLst/>
              <a:cxnLst/>
              <a:rect l="l" t="t" r="r" b="b"/>
              <a:pathLst>
                <a:path w="1002" h="2003" extrusionOk="0">
                  <a:moveTo>
                    <a:pt x="1" y="1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3062488" y="266301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E55C2217-2ABE-0020-831F-D64E6BA261E5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>
          <a:extLst>
            <a:ext uri="{FF2B5EF4-FFF2-40B4-BE49-F238E27FC236}">
              <a16:creationId xmlns:a16="http://schemas.microsoft.com/office/drawing/2014/main" id="{333C8FDC-FE75-D9FE-95BF-63531455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8">
            <a:extLst>
              <a:ext uri="{FF2B5EF4-FFF2-40B4-BE49-F238E27FC236}">
                <a16:creationId xmlns:a16="http://schemas.microsoft.com/office/drawing/2014/main" id="{3E5A1284-168D-BFC6-7F12-358C2D63C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7500" y="63715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 pratique</a:t>
            </a:r>
            <a:endParaRPr dirty="0"/>
          </a:p>
        </p:txBody>
      </p:sp>
      <p:sp>
        <p:nvSpPr>
          <p:cNvPr id="703" name="Google Shape;703;p38">
            <a:extLst>
              <a:ext uri="{FF2B5EF4-FFF2-40B4-BE49-F238E27FC236}">
                <a16:creationId xmlns:a16="http://schemas.microsoft.com/office/drawing/2014/main" id="{91BAFEDA-5F8B-44CC-A74A-8941D7336F1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63715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704" name="Google Shape;704;p38">
            <a:extLst>
              <a:ext uri="{FF2B5EF4-FFF2-40B4-BE49-F238E27FC236}">
                <a16:creationId xmlns:a16="http://schemas.microsoft.com/office/drawing/2014/main" id="{AE4ADE20-BA50-CB56-F7B2-471E24B467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2600" y="1019450"/>
            <a:ext cx="7158396" cy="3304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Comment implementer concrètement l’algorithme K-Means ?</a:t>
            </a:r>
            <a:endParaRPr dirty="0"/>
          </a:p>
        </p:txBody>
      </p:sp>
      <p:sp>
        <p:nvSpPr>
          <p:cNvPr id="705" name="Google Shape;705;p38">
            <a:extLst>
              <a:ext uri="{FF2B5EF4-FFF2-40B4-BE49-F238E27FC236}">
                <a16:creationId xmlns:a16="http://schemas.microsoft.com/office/drawing/2014/main" id="{9301F678-4364-6A8F-D182-13FFAE57F517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407500" y="1459300"/>
            <a:ext cx="49590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706" name="Google Shape;706;p38">
            <a:extLst>
              <a:ext uri="{FF2B5EF4-FFF2-40B4-BE49-F238E27FC236}">
                <a16:creationId xmlns:a16="http://schemas.microsoft.com/office/drawing/2014/main" id="{08B617CC-8078-93A3-9DE0-42D29DFD4B1E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18850" y="145930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717" name="Google Shape;717;p38">
            <a:extLst>
              <a:ext uri="{FF2B5EF4-FFF2-40B4-BE49-F238E27FC236}">
                <a16:creationId xmlns:a16="http://schemas.microsoft.com/office/drawing/2014/main" id="{7D5675F8-17AB-CEB6-924A-2F20D65B5A74}"/>
              </a:ext>
            </a:extLst>
          </p:cNvPr>
          <p:cNvGrpSpPr/>
          <p:nvPr/>
        </p:nvGrpSpPr>
        <p:grpSpPr>
          <a:xfrm>
            <a:off x="7569329" y="186943"/>
            <a:ext cx="534466" cy="691809"/>
            <a:chOff x="2875937" y="1960933"/>
            <a:chExt cx="629673" cy="815044"/>
          </a:xfrm>
        </p:grpSpPr>
        <p:sp>
          <p:nvSpPr>
            <p:cNvPr id="718" name="Google Shape;718;p38">
              <a:extLst>
                <a:ext uri="{FF2B5EF4-FFF2-40B4-BE49-F238E27FC236}">
                  <a16:creationId xmlns:a16="http://schemas.microsoft.com/office/drawing/2014/main" id="{FAC38282-5457-3B3E-82D2-25BE10BFC528}"/>
                </a:ext>
              </a:extLst>
            </p:cNvPr>
            <p:cNvSpPr/>
            <p:nvPr/>
          </p:nvSpPr>
          <p:spPr>
            <a:xfrm>
              <a:off x="2879617" y="1962184"/>
              <a:ext cx="625993" cy="811330"/>
            </a:xfrm>
            <a:custGeom>
              <a:avLst/>
              <a:gdLst/>
              <a:ahLst/>
              <a:cxnLst/>
              <a:rect l="l" t="t" r="r" b="b"/>
              <a:pathLst>
                <a:path w="17013" h="22050" extrusionOk="0">
                  <a:moveTo>
                    <a:pt x="5004" y="0"/>
                  </a:moveTo>
                  <a:lnTo>
                    <a:pt x="5004" y="1001"/>
                  </a:lnTo>
                  <a:lnTo>
                    <a:pt x="4003" y="1001"/>
                  </a:lnTo>
                  <a:lnTo>
                    <a:pt x="4003" y="10041"/>
                  </a:lnTo>
                  <a:lnTo>
                    <a:pt x="3003" y="10041"/>
                  </a:lnTo>
                  <a:lnTo>
                    <a:pt x="3003" y="9040"/>
                  </a:lnTo>
                  <a:lnTo>
                    <a:pt x="0" y="9040"/>
                  </a:lnTo>
                  <a:lnTo>
                    <a:pt x="0" y="10041"/>
                  </a:lnTo>
                  <a:lnTo>
                    <a:pt x="0" y="10541"/>
                  </a:lnTo>
                  <a:lnTo>
                    <a:pt x="0" y="12042"/>
                  </a:lnTo>
                  <a:lnTo>
                    <a:pt x="1001" y="12042"/>
                  </a:lnTo>
                  <a:lnTo>
                    <a:pt x="1001" y="13043"/>
                  </a:lnTo>
                  <a:lnTo>
                    <a:pt x="2002" y="13043"/>
                  </a:lnTo>
                  <a:lnTo>
                    <a:pt x="2002" y="15044"/>
                  </a:lnTo>
                  <a:lnTo>
                    <a:pt x="3003" y="15044"/>
                  </a:lnTo>
                  <a:lnTo>
                    <a:pt x="3003" y="17046"/>
                  </a:lnTo>
                  <a:lnTo>
                    <a:pt x="4003" y="17046"/>
                  </a:lnTo>
                  <a:lnTo>
                    <a:pt x="4003" y="19047"/>
                  </a:lnTo>
                  <a:lnTo>
                    <a:pt x="5004" y="19047"/>
                  </a:lnTo>
                  <a:lnTo>
                    <a:pt x="5004" y="21049"/>
                  </a:lnTo>
                  <a:lnTo>
                    <a:pt x="5004" y="22049"/>
                  </a:lnTo>
                  <a:lnTo>
                    <a:pt x="15011" y="22049"/>
                  </a:lnTo>
                  <a:lnTo>
                    <a:pt x="15011" y="19047"/>
                  </a:lnTo>
                  <a:lnTo>
                    <a:pt x="16012" y="19047"/>
                  </a:lnTo>
                  <a:lnTo>
                    <a:pt x="16012" y="16045"/>
                  </a:lnTo>
                  <a:lnTo>
                    <a:pt x="17013" y="16045"/>
                  </a:lnTo>
                  <a:lnTo>
                    <a:pt x="17013" y="9007"/>
                  </a:lnTo>
                  <a:lnTo>
                    <a:pt x="16012" y="9007"/>
                  </a:lnTo>
                  <a:lnTo>
                    <a:pt x="16012" y="8006"/>
                  </a:lnTo>
                  <a:lnTo>
                    <a:pt x="15011" y="8006"/>
                  </a:lnTo>
                  <a:lnTo>
                    <a:pt x="15011" y="7005"/>
                  </a:lnTo>
                  <a:lnTo>
                    <a:pt x="13010" y="7005"/>
                  </a:lnTo>
                  <a:lnTo>
                    <a:pt x="13010" y="6005"/>
                  </a:lnTo>
                  <a:lnTo>
                    <a:pt x="10008" y="6005"/>
                  </a:lnTo>
                  <a:lnTo>
                    <a:pt x="10008" y="5004"/>
                  </a:lnTo>
                  <a:lnTo>
                    <a:pt x="8006" y="5004"/>
                  </a:lnTo>
                  <a:lnTo>
                    <a:pt x="8006" y="1001"/>
                  </a:lnTo>
                  <a:lnTo>
                    <a:pt x="7005" y="1001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8">
              <a:extLst>
                <a:ext uri="{FF2B5EF4-FFF2-40B4-BE49-F238E27FC236}">
                  <a16:creationId xmlns:a16="http://schemas.microsoft.com/office/drawing/2014/main" id="{9B1E27D5-F7C8-AA62-FA5C-33F7280FCC60}"/>
                </a:ext>
              </a:extLst>
            </p:cNvPr>
            <p:cNvSpPr/>
            <p:nvPr/>
          </p:nvSpPr>
          <p:spPr>
            <a:xfrm>
              <a:off x="3024442" y="1997765"/>
              <a:ext cx="36869" cy="443122"/>
            </a:xfrm>
            <a:custGeom>
              <a:avLst/>
              <a:gdLst/>
              <a:ahLst/>
              <a:cxnLst/>
              <a:rect l="l" t="t" r="r" b="b"/>
              <a:pathLst>
                <a:path w="1002" h="12043" extrusionOk="0">
                  <a:moveTo>
                    <a:pt x="1" y="1"/>
                  </a:moveTo>
                  <a:lnTo>
                    <a:pt x="1" y="12043"/>
                  </a:lnTo>
                  <a:lnTo>
                    <a:pt x="1001" y="1204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8">
              <a:extLst>
                <a:ext uri="{FF2B5EF4-FFF2-40B4-BE49-F238E27FC236}">
                  <a16:creationId xmlns:a16="http://schemas.microsoft.com/office/drawing/2014/main" id="{E5BD32BA-E939-C4F2-80C2-AC3AFF327601}"/>
                </a:ext>
              </a:extLst>
            </p:cNvPr>
            <p:cNvSpPr/>
            <p:nvPr/>
          </p:nvSpPr>
          <p:spPr>
            <a:xfrm>
              <a:off x="3062488" y="1960933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8">
              <a:extLst>
                <a:ext uri="{FF2B5EF4-FFF2-40B4-BE49-F238E27FC236}">
                  <a16:creationId xmlns:a16="http://schemas.microsoft.com/office/drawing/2014/main" id="{E505E9A5-BBC3-A53E-B6F0-5E95EA182D61}"/>
                </a:ext>
              </a:extLst>
            </p:cNvPr>
            <p:cNvSpPr/>
            <p:nvPr/>
          </p:nvSpPr>
          <p:spPr>
            <a:xfrm>
              <a:off x="3136151" y="1997765"/>
              <a:ext cx="36832" cy="332664"/>
            </a:xfrm>
            <a:custGeom>
              <a:avLst/>
              <a:gdLst/>
              <a:ahLst/>
              <a:cxnLst/>
              <a:rect l="l" t="t" r="r" b="b"/>
              <a:pathLst>
                <a:path w="1001" h="9041" extrusionOk="0">
                  <a:moveTo>
                    <a:pt x="0" y="1"/>
                  </a:moveTo>
                  <a:lnTo>
                    <a:pt x="0" y="9040"/>
                  </a:lnTo>
                  <a:lnTo>
                    <a:pt x="1001" y="9040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8">
              <a:extLst>
                <a:ext uri="{FF2B5EF4-FFF2-40B4-BE49-F238E27FC236}">
                  <a16:creationId xmlns:a16="http://schemas.microsoft.com/office/drawing/2014/main" id="{73659A4C-C9AF-2FF4-0EAB-F7DE16FC9C7E}"/>
                </a:ext>
              </a:extLst>
            </p:cNvPr>
            <p:cNvSpPr/>
            <p:nvPr/>
          </p:nvSpPr>
          <p:spPr>
            <a:xfrm>
              <a:off x="3172946" y="2146269"/>
              <a:ext cx="73700" cy="36869"/>
            </a:xfrm>
            <a:custGeom>
              <a:avLst/>
              <a:gdLst/>
              <a:ahLst/>
              <a:cxnLst/>
              <a:rect l="l" t="t" r="r" b="b"/>
              <a:pathLst>
                <a:path w="2003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8">
              <a:extLst>
                <a:ext uri="{FF2B5EF4-FFF2-40B4-BE49-F238E27FC236}">
                  <a16:creationId xmlns:a16="http://schemas.microsoft.com/office/drawing/2014/main" id="{723B67B2-091C-2F51-70D4-E3EC9FBC9D79}"/>
                </a:ext>
              </a:extLst>
            </p:cNvPr>
            <p:cNvSpPr/>
            <p:nvPr/>
          </p:nvSpPr>
          <p:spPr>
            <a:xfrm>
              <a:off x="3246610" y="2219933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8">
              <a:extLst>
                <a:ext uri="{FF2B5EF4-FFF2-40B4-BE49-F238E27FC236}">
                  <a16:creationId xmlns:a16="http://schemas.microsoft.com/office/drawing/2014/main" id="{3D069D93-016B-2949-0AD8-5426B1E0F2A2}"/>
                </a:ext>
              </a:extLst>
            </p:cNvPr>
            <p:cNvSpPr/>
            <p:nvPr/>
          </p:nvSpPr>
          <p:spPr>
            <a:xfrm>
              <a:off x="3246610" y="2183101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8">
              <a:extLst>
                <a:ext uri="{FF2B5EF4-FFF2-40B4-BE49-F238E27FC236}">
                  <a16:creationId xmlns:a16="http://schemas.microsoft.com/office/drawing/2014/main" id="{F9EC5C96-32A7-AF89-326D-A0A9E4BD60A1}"/>
                </a:ext>
              </a:extLst>
            </p:cNvPr>
            <p:cNvSpPr/>
            <p:nvPr/>
          </p:nvSpPr>
          <p:spPr>
            <a:xfrm>
              <a:off x="3358283" y="2256728"/>
              <a:ext cx="36869" cy="110532"/>
            </a:xfrm>
            <a:custGeom>
              <a:avLst/>
              <a:gdLst/>
              <a:ahLst/>
              <a:cxnLst/>
              <a:rect l="l" t="t" r="r" b="b"/>
              <a:pathLst>
                <a:path w="1002" h="3004" extrusionOk="0">
                  <a:moveTo>
                    <a:pt x="1" y="1"/>
                  </a:moveTo>
                  <a:lnTo>
                    <a:pt x="1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8">
              <a:extLst>
                <a:ext uri="{FF2B5EF4-FFF2-40B4-BE49-F238E27FC236}">
                  <a16:creationId xmlns:a16="http://schemas.microsoft.com/office/drawing/2014/main" id="{1A83E6ED-813D-2BB7-E855-6336D2D56BDE}"/>
                </a:ext>
              </a:extLst>
            </p:cNvPr>
            <p:cNvSpPr/>
            <p:nvPr/>
          </p:nvSpPr>
          <p:spPr>
            <a:xfrm>
              <a:off x="3358283" y="2219933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8">
              <a:extLst>
                <a:ext uri="{FF2B5EF4-FFF2-40B4-BE49-F238E27FC236}">
                  <a16:creationId xmlns:a16="http://schemas.microsoft.com/office/drawing/2014/main" id="{F98DCBC4-6D13-884E-99D2-DBB5E0ED621D}"/>
                </a:ext>
              </a:extLst>
            </p:cNvPr>
            <p:cNvSpPr/>
            <p:nvPr/>
          </p:nvSpPr>
          <p:spPr>
            <a:xfrm>
              <a:off x="3431946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8">
              <a:extLst>
                <a:ext uri="{FF2B5EF4-FFF2-40B4-BE49-F238E27FC236}">
                  <a16:creationId xmlns:a16="http://schemas.microsoft.com/office/drawing/2014/main" id="{DB4B7985-8E5C-C25C-06E6-E8F66BED4F97}"/>
                </a:ext>
              </a:extLst>
            </p:cNvPr>
            <p:cNvSpPr/>
            <p:nvPr/>
          </p:nvSpPr>
          <p:spPr>
            <a:xfrm>
              <a:off x="3468741" y="2293559"/>
              <a:ext cx="36869" cy="259037"/>
            </a:xfrm>
            <a:custGeom>
              <a:avLst/>
              <a:gdLst/>
              <a:ahLst/>
              <a:cxnLst/>
              <a:rect l="l" t="t" r="r" b="b"/>
              <a:pathLst>
                <a:path w="1002" h="7040" extrusionOk="0">
                  <a:moveTo>
                    <a:pt x="1" y="1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8">
              <a:extLst>
                <a:ext uri="{FF2B5EF4-FFF2-40B4-BE49-F238E27FC236}">
                  <a16:creationId xmlns:a16="http://schemas.microsoft.com/office/drawing/2014/main" id="{0C45CE44-B623-4764-2C7B-AAE40DA564FB}"/>
                </a:ext>
              </a:extLst>
            </p:cNvPr>
            <p:cNvSpPr/>
            <p:nvPr/>
          </p:nvSpPr>
          <p:spPr>
            <a:xfrm>
              <a:off x="3431946" y="2552559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8">
              <a:extLst>
                <a:ext uri="{FF2B5EF4-FFF2-40B4-BE49-F238E27FC236}">
                  <a16:creationId xmlns:a16="http://schemas.microsoft.com/office/drawing/2014/main" id="{9E366A09-CA3C-7656-081A-90EBAA787B45}"/>
                </a:ext>
              </a:extLst>
            </p:cNvPr>
            <p:cNvSpPr/>
            <p:nvPr/>
          </p:nvSpPr>
          <p:spPr>
            <a:xfrm>
              <a:off x="3395114" y="2663017"/>
              <a:ext cx="36869" cy="110495"/>
            </a:xfrm>
            <a:custGeom>
              <a:avLst/>
              <a:gdLst/>
              <a:ahLst/>
              <a:cxnLst/>
              <a:rect l="l" t="t" r="r" b="b"/>
              <a:pathLst>
                <a:path w="1002" h="3003" extrusionOk="0">
                  <a:moveTo>
                    <a:pt x="0" y="0"/>
                  </a:moveTo>
                  <a:lnTo>
                    <a:pt x="0" y="3002"/>
                  </a:lnTo>
                  <a:lnTo>
                    <a:pt x="1001" y="3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393ADB7D-7685-A020-4EF8-6B21DC4C9F8A}"/>
                </a:ext>
              </a:extLst>
            </p:cNvPr>
            <p:cNvSpPr/>
            <p:nvPr/>
          </p:nvSpPr>
          <p:spPr>
            <a:xfrm>
              <a:off x="3062488" y="2739109"/>
              <a:ext cx="332664" cy="36869"/>
            </a:xfrm>
            <a:custGeom>
              <a:avLst/>
              <a:gdLst/>
              <a:ahLst/>
              <a:cxnLst/>
              <a:rect l="l" t="t" r="r" b="b"/>
              <a:pathLst>
                <a:path w="9041" h="1002" extrusionOk="0">
                  <a:moveTo>
                    <a:pt x="1" y="0"/>
                  </a:moveTo>
                  <a:lnTo>
                    <a:pt x="1" y="1001"/>
                  </a:lnTo>
                  <a:lnTo>
                    <a:pt x="9040" y="1001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59D8EC79-CF9A-57B7-1F12-08EA8D991CF9}"/>
                </a:ext>
              </a:extLst>
            </p:cNvPr>
            <p:cNvSpPr/>
            <p:nvPr/>
          </p:nvSpPr>
          <p:spPr>
            <a:xfrm>
              <a:off x="2986396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5BBBE582-ADEE-916E-1A5D-330CAB22D833}"/>
                </a:ext>
              </a:extLst>
            </p:cNvPr>
            <p:cNvSpPr/>
            <p:nvPr/>
          </p:nvSpPr>
          <p:spPr>
            <a:xfrm>
              <a:off x="2875937" y="2293559"/>
              <a:ext cx="110495" cy="36869"/>
            </a:xfrm>
            <a:custGeom>
              <a:avLst/>
              <a:gdLst/>
              <a:ahLst/>
              <a:cxnLst/>
              <a:rect l="l" t="t" r="r" b="b"/>
              <a:pathLst>
                <a:path w="3003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3002" y="1001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158BCE8B-CE76-B610-72FF-DD7A9241C9B7}"/>
                </a:ext>
              </a:extLst>
            </p:cNvPr>
            <p:cNvSpPr/>
            <p:nvPr/>
          </p:nvSpPr>
          <p:spPr>
            <a:xfrm>
              <a:off x="2875937" y="233039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94782A67-2685-AD1D-F7B2-EB4A9DD9C166}"/>
                </a:ext>
              </a:extLst>
            </p:cNvPr>
            <p:cNvSpPr/>
            <p:nvPr/>
          </p:nvSpPr>
          <p:spPr>
            <a:xfrm>
              <a:off x="2912769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E880D791-1F94-6B06-DC55-F2A4C6263FC2}"/>
                </a:ext>
              </a:extLst>
            </p:cNvPr>
            <p:cNvSpPr/>
            <p:nvPr/>
          </p:nvSpPr>
          <p:spPr>
            <a:xfrm>
              <a:off x="2950815" y="2442064"/>
              <a:ext cx="36832" cy="73700"/>
            </a:xfrm>
            <a:custGeom>
              <a:avLst/>
              <a:gdLst/>
              <a:ahLst/>
              <a:cxnLst/>
              <a:rect l="l" t="t" r="r" b="b"/>
              <a:pathLst>
                <a:path w="100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B4D4C591-B21D-3417-4804-B5A13D72E99D}"/>
                </a:ext>
              </a:extLst>
            </p:cNvPr>
            <p:cNvSpPr/>
            <p:nvPr/>
          </p:nvSpPr>
          <p:spPr>
            <a:xfrm>
              <a:off x="2986396" y="251572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AFA71243-F3B3-9E22-4D74-F9889044BC34}"/>
                </a:ext>
              </a:extLst>
            </p:cNvPr>
            <p:cNvSpPr/>
            <p:nvPr/>
          </p:nvSpPr>
          <p:spPr>
            <a:xfrm>
              <a:off x="3024442" y="2589354"/>
              <a:ext cx="36869" cy="73700"/>
            </a:xfrm>
            <a:custGeom>
              <a:avLst/>
              <a:gdLst/>
              <a:ahLst/>
              <a:cxnLst/>
              <a:rect l="l" t="t" r="r" b="b"/>
              <a:pathLst>
                <a:path w="1002" h="2003" extrusionOk="0">
                  <a:moveTo>
                    <a:pt x="1" y="1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7D492AB0-39EB-9739-088C-F169DE8CE7BB}"/>
                </a:ext>
              </a:extLst>
            </p:cNvPr>
            <p:cNvSpPr/>
            <p:nvPr/>
          </p:nvSpPr>
          <p:spPr>
            <a:xfrm>
              <a:off x="3062488" y="2663017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Title 20">
            <a:extLst>
              <a:ext uri="{FF2B5EF4-FFF2-40B4-BE49-F238E27FC236}">
                <a16:creationId xmlns:a16="http://schemas.microsoft.com/office/drawing/2014/main" id="{143A9400-529F-2B26-F519-716E87B3BF59}"/>
              </a:ext>
            </a:extLst>
          </p:cNvPr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10D8BB5C-DDAA-F21F-859E-580067179063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EE7F71EB-B074-2DE5-CC40-A8EFC17FE9E1}"/>
              </a:ext>
            </a:extLst>
          </p:cNvPr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FC304B93-F42B-43BF-6339-F2110ACA2D66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4DCEF5DD-2F0A-E09C-F430-74D500C0EAF0}"/>
              </a:ext>
            </a:extLst>
          </p:cNvPr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1" name="Subtitle 30">
            <a:extLst>
              <a:ext uri="{FF2B5EF4-FFF2-40B4-BE49-F238E27FC236}">
                <a16:creationId xmlns:a16="http://schemas.microsoft.com/office/drawing/2014/main" id="{70D74C58-9470-73B5-BD0B-7BB02AF1F157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3" name="Subtitle 32">
            <a:extLst>
              <a:ext uri="{FF2B5EF4-FFF2-40B4-BE49-F238E27FC236}">
                <a16:creationId xmlns:a16="http://schemas.microsoft.com/office/drawing/2014/main" id="{55C69500-AB2E-D4F4-AA78-803E9E7AC93B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AA313E35-9AC4-3805-ADC9-EA66359CF9E8}"/>
              </a:ext>
            </a:extLst>
          </p:cNvPr>
          <p:cNvSpPr>
            <a:spLocks noGrp="1"/>
          </p:cNvSpPr>
          <p:nvPr>
            <p:ph type="title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CA40BC2E-F13E-8EAA-D19F-2A613B2E21AD}"/>
              </a:ext>
            </a:extLst>
          </p:cNvPr>
          <p:cNvSpPr>
            <a:spLocks noGrp="1"/>
          </p:cNvSpPr>
          <p:nvPr>
            <p:ph type="title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9" name="Subtitle 38">
            <a:extLst>
              <a:ext uri="{FF2B5EF4-FFF2-40B4-BE49-F238E27FC236}">
                <a16:creationId xmlns:a16="http://schemas.microsoft.com/office/drawing/2014/main" id="{F64AC0B8-0D90-B64C-3520-BDE57D1EED18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0" name="Google Shape;703;p38">
            <a:extLst>
              <a:ext uri="{FF2B5EF4-FFF2-40B4-BE49-F238E27FC236}">
                <a16:creationId xmlns:a16="http://schemas.microsoft.com/office/drawing/2014/main" id="{9B3553B8-DAC2-B778-21C1-B67B123EC467}"/>
              </a:ext>
            </a:extLst>
          </p:cNvPr>
          <p:cNvSpPr txBox="1">
            <a:spLocks/>
          </p:cNvSpPr>
          <p:nvPr/>
        </p:nvSpPr>
        <p:spPr>
          <a:xfrm>
            <a:off x="8041269" y="4520660"/>
            <a:ext cx="733681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03/28</a:t>
            </a:r>
          </a:p>
        </p:txBody>
      </p:sp>
    </p:spTree>
    <p:extLst>
      <p:ext uri="{BB962C8B-B14F-4D97-AF65-F5344CB8AC3E}">
        <p14:creationId xmlns:p14="http://schemas.microsoft.com/office/powerpoint/2010/main" val="322615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/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Définition</a:t>
            </a:r>
            <a:endParaRPr dirty="0"/>
          </a:p>
        </p:txBody>
      </p:sp>
      <p:sp>
        <p:nvSpPr>
          <p:cNvPr id="795" name="Google Shape;795;p40"/>
          <p:cNvSpPr txBox="1">
            <a:spLocks noGrp="1"/>
          </p:cNvSpPr>
          <p:nvPr>
            <p:ph type="subTitle" idx="1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C’est quoi le K-</a:t>
            </a:r>
            <a:r>
              <a:rPr lang="fr-FR" dirty="0" err="1"/>
              <a:t>Means</a:t>
            </a:r>
            <a:r>
              <a:rPr lang="fr-FR" dirty="0"/>
              <a:t> ?</a:t>
            </a:r>
          </a:p>
        </p:txBody>
      </p:sp>
      <p:sp>
        <p:nvSpPr>
          <p:cNvPr id="796" name="Google Shape;796;p40"/>
          <p:cNvSpPr txBox="1">
            <a:spLocks noGrp="1"/>
          </p:cNvSpPr>
          <p:nvPr>
            <p:ph type="title" idx="2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797" name="Google Shape;797;p40"/>
          <p:cNvGrpSpPr/>
          <p:nvPr/>
        </p:nvGrpSpPr>
        <p:grpSpPr>
          <a:xfrm>
            <a:off x="5454124" y="661324"/>
            <a:ext cx="2058986" cy="943002"/>
            <a:chOff x="5454124" y="661324"/>
            <a:chExt cx="2058986" cy="943002"/>
          </a:xfrm>
        </p:grpSpPr>
        <p:grpSp>
          <p:nvGrpSpPr>
            <p:cNvPr id="798" name="Google Shape;798;p40"/>
            <p:cNvGrpSpPr/>
            <p:nvPr/>
          </p:nvGrpSpPr>
          <p:grpSpPr>
            <a:xfrm>
              <a:off x="5454124" y="661324"/>
              <a:ext cx="2058986" cy="943002"/>
              <a:chOff x="5865009" y="2043415"/>
              <a:chExt cx="1098126" cy="639627"/>
            </a:xfrm>
          </p:grpSpPr>
          <p:sp>
            <p:nvSpPr>
              <p:cNvPr id="799" name="Google Shape;799;p40"/>
              <p:cNvSpPr/>
              <p:nvPr/>
            </p:nvSpPr>
            <p:spPr>
              <a:xfrm>
                <a:off x="6011266" y="2572732"/>
                <a:ext cx="22096" cy="8939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69" extrusionOk="0">
                    <a:moveTo>
                      <a:pt x="0" y="0"/>
                    </a:moveTo>
                    <a:lnTo>
                      <a:pt x="0" y="2569"/>
                    </a:lnTo>
                    <a:lnTo>
                      <a:pt x="634" y="2569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6033328" y="2660945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1" y="63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6054207" y="2640066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0"/>
              <p:cNvSpPr/>
              <p:nvPr/>
            </p:nvSpPr>
            <p:spPr>
              <a:xfrm>
                <a:off x="6078601" y="2615673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0" y="634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0"/>
              <p:cNvSpPr/>
              <p:nvPr/>
            </p:nvSpPr>
            <p:spPr>
              <a:xfrm>
                <a:off x="6099480" y="2594794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0"/>
              <p:cNvSpPr/>
              <p:nvPr/>
            </p:nvSpPr>
            <p:spPr>
              <a:xfrm>
                <a:off x="6122690" y="2572732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0"/>
              <p:cNvSpPr/>
              <p:nvPr/>
            </p:nvSpPr>
            <p:spPr>
              <a:xfrm>
                <a:off x="6122690" y="2572732"/>
                <a:ext cx="774244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2250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2250" y="634"/>
                    </a:lnTo>
                    <a:lnTo>
                      <a:pt x="222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0"/>
              <p:cNvSpPr/>
              <p:nvPr/>
            </p:nvSpPr>
            <p:spPr>
              <a:xfrm>
                <a:off x="5931161" y="2572732"/>
                <a:ext cx="102200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936" y="634"/>
                    </a:lnTo>
                    <a:lnTo>
                      <a:pt x="29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0"/>
              <p:cNvSpPr/>
              <p:nvPr/>
            </p:nvSpPr>
            <p:spPr>
              <a:xfrm>
                <a:off x="5931161" y="2043415"/>
                <a:ext cx="964621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27721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27721" y="601"/>
                    </a:lnTo>
                    <a:lnTo>
                      <a:pt x="277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0"/>
              <p:cNvSpPr/>
              <p:nvPr/>
            </p:nvSpPr>
            <p:spPr>
              <a:xfrm>
                <a:off x="6941039" y="2109566"/>
                <a:ext cx="22096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34" y="12009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6895766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0"/>
              <p:cNvSpPr/>
              <p:nvPr/>
            </p:nvSpPr>
            <p:spPr>
              <a:xfrm>
                <a:off x="691782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0"/>
              <p:cNvSpPr/>
              <p:nvPr/>
            </p:nvSpPr>
            <p:spPr>
              <a:xfrm>
                <a:off x="6895766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691782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5865009" y="2109566"/>
                <a:ext cx="20913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01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01" y="12009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0"/>
              <p:cNvSpPr/>
              <p:nvPr/>
            </p:nvSpPr>
            <p:spPr>
              <a:xfrm>
                <a:off x="5907950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0"/>
              <p:cNvSpPr/>
              <p:nvPr/>
            </p:nvSpPr>
            <p:spPr>
              <a:xfrm>
                <a:off x="588588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0"/>
              <p:cNvSpPr/>
              <p:nvPr/>
            </p:nvSpPr>
            <p:spPr>
              <a:xfrm>
                <a:off x="5907950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588588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8" name="Google Shape;818;p40"/>
            <p:cNvGrpSpPr/>
            <p:nvPr/>
          </p:nvGrpSpPr>
          <p:grpSpPr>
            <a:xfrm>
              <a:off x="5901175" y="725600"/>
              <a:ext cx="1265025" cy="681500"/>
              <a:chOff x="5901175" y="725600"/>
              <a:chExt cx="1265025" cy="681500"/>
            </a:xfrm>
          </p:grpSpPr>
          <p:sp>
            <p:nvSpPr>
              <p:cNvPr id="819" name="Google Shape;819;p40"/>
              <p:cNvSpPr/>
              <p:nvPr/>
            </p:nvSpPr>
            <p:spPr>
              <a:xfrm>
                <a:off x="6147525" y="918250"/>
                <a:ext cx="783300" cy="309600"/>
              </a:xfrm>
              <a:prstGeom prst="rtTriangl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0"/>
              <p:cNvSpPr txBox="1"/>
              <p:nvPr/>
            </p:nvSpPr>
            <p:spPr>
              <a:xfrm>
                <a:off x="5901175" y="7256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x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  <p:sp>
            <p:nvSpPr>
              <p:cNvPr id="821" name="Google Shape;821;p40"/>
              <p:cNvSpPr txBox="1"/>
              <p:nvPr/>
            </p:nvSpPr>
            <p:spPr>
              <a:xfrm>
                <a:off x="6832300" y="10531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y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B83D2E72-3999-22A6-86BC-3D9CE5B89D5A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1"/>
          <p:cNvSpPr txBox="1">
            <a:spLocks noGrp="1"/>
          </p:cNvSpPr>
          <p:nvPr>
            <p:ph type="subTitle" idx="1"/>
          </p:nvPr>
        </p:nvSpPr>
        <p:spPr>
          <a:xfrm>
            <a:off x="715050" y="879572"/>
            <a:ext cx="7713900" cy="30160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sz="2400" dirty="0"/>
              <a:t>Le clustering K‑</a:t>
            </a:r>
            <a:r>
              <a:rPr lang="fr-FR" sz="2400" dirty="0" err="1"/>
              <a:t>Means</a:t>
            </a:r>
            <a:r>
              <a:rPr lang="fr-FR" sz="2400" dirty="0"/>
              <a:t> est un algorithme d’apprentissage automatique non supervisé qui </a:t>
            </a:r>
            <a:r>
              <a:rPr lang="fr-FR" sz="2400" dirty="0">
                <a:solidFill>
                  <a:srgbClr val="5F9127"/>
                </a:solidFill>
              </a:rPr>
              <a:t>classe un ensemble de données non étiquetées en K groupes (clusters)</a:t>
            </a:r>
            <a:r>
              <a:rPr lang="fr-FR" sz="2400" dirty="0"/>
              <a:t> en </a:t>
            </a:r>
            <a:r>
              <a:rPr lang="fr-FR" sz="2400" dirty="0">
                <a:solidFill>
                  <a:srgbClr val="00668A"/>
                </a:solidFill>
              </a:rPr>
              <a:t>minimisant la distance entre les points</a:t>
            </a:r>
            <a:r>
              <a:rPr lang="fr-FR" sz="2400" dirty="0"/>
              <a:t> à l’intérieur de chaque groupe. Ces groupes sont </a:t>
            </a:r>
            <a:r>
              <a:rPr lang="fr-FR" sz="2400" dirty="0">
                <a:solidFill>
                  <a:srgbClr val="5F9127"/>
                </a:solidFill>
              </a:rPr>
              <a:t>formés en se basant sur les similarités entre les données</a:t>
            </a:r>
            <a:r>
              <a:rPr lang="fr-FR" sz="2400" dirty="0"/>
              <a:t>.</a:t>
            </a:r>
          </a:p>
        </p:txBody>
      </p:sp>
      <p:grpSp>
        <p:nvGrpSpPr>
          <p:cNvPr id="828" name="Google Shape;828;p41"/>
          <p:cNvGrpSpPr/>
          <p:nvPr/>
        </p:nvGrpSpPr>
        <p:grpSpPr>
          <a:xfrm>
            <a:off x="1048885" y="4263928"/>
            <a:ext cx="344859" cy="565728"/>
            <a:chOff x="4113132" y="2072643"/>
            <a:chExt cx="406290" cy="666503"/>
          </a:xfrm>
        </p:grpSpPr>
        <p:sp>
          <p:nvSpPr>
            <p:cNvPr id="829" name="Google Shape;829;p41"/>
            <p:cNvSpPr/>
            <p:nvPr/>
          </p:nvSpPr>
          <p:spPr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1"/>
            <p:cNvSpPr/>
            <p:nvPr/>
          </p:nvSpPr>
          <p:spPr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1"/>
            <p:cNvSpPr/>
            <p:nvPr/>
          </p:nvSpPr>
          <p:spPr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1"/>
            <p:cNvSpPr/>
            <p:nvPr/>
          </p:nvSpPr>
          <p:spPr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1"/>
            <p:cNvSpPr/>
            <p:nvPr/>
          </p:nvSpPr>
          <p:spPr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1"/>
            <p:cNvSpPr/>
            <p:nvPr/>
          </p:nvSpPr>
          <p:spPr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1"/>
            <p:cNvSpPr/>
            <p:nvPr/>
          </p:nvSpPr>
          <p:spPr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1"/>
            <p:cNvSpPr/>
            <p:nvPr/>
          </p:nvSpPr>
          <p:spPr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1"/>
            <p:cNvSpPr/>
            <p:nvPr/>
          </p:nvSpPr>
          <p:spPr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1"/>
            <p:cNvSpPr/>
            <p:nvPr/>
          </p:nvSpPr>
          <p:spPr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703;p38">
            <a:extLst>
              <a:ext uri="{FF2B5EF4-FFF2-40B4-BE49-F238E27FC236}">
                <a16:creationId xmlns:a16="http://schemas.microsoft.com/office/drawing/2014/main" id="{2B7368F5-E72C-5E60-228B-D80CB3449359}"/>
              </a:ext>
            </a:extLst>
          </p:cNvPr>
          <p:cNvSpPr txBox="1">
            <a:spLocks/>
          </p:cNvSpPr>
          <p:nvPr/>
        </p:nvSpPr>
        <p:spPr>
          <a:xfrm>
            <a:off x="8063852" y="4520660"/>
            <a:ext cx="711098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7"/>
          <p:cNvSpPr txBox="1">
            <a:spLocks noGrp="1"/>
          </p:cNvSpPr>
          <p:nvPr>
            <p:ph type="title"/>
          </p:nvPr>
        </p:nvSpPr>
        <p:spPr>
          <a:xfrm>
            <a:off x="715100" y="2371250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Description simple du clustering</a:t>
            </a:r>
            <a:endParaRPr dirty="0"/>
          </a:p>
        </p:txBody>
      </p:sp>
      <p:sp>
        <p:nvSpPr>
          <p:cNvPr id="997" name="Google Shape;997;p47"/>
          <p:cNvSpPr txBox="1">
            <a:spLocks noGrp="1"/>
          </p:cNvSpPr>
          <p:nvPr>
            <p:ph type="title" idx="2"/>
          </p:nvPr>
        </p:nvSpPr>
        <p:spPr>
          <a:xfrm>
            <a:off x="715100" y="1300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98" name="Google Shape;998;p47"/>
          <p:cNvSpPr txBox="1">
            <a:spLocks noGrp="1"/>
          </p:cNvSpPr>
          <p:nvPr>
            <p:ph type="subTitle" idx="1"/>
          </p:nvPr>
        </p:nvSpPr>
        <p:spPr>
          <a:xfrm>
            <a:off x="715100" y="3545974"/>
            <a:ext cx="5326500" cy="4881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De manière simple, comment fonctionne le clustering ?</a:t>
            </a:r>
          </a:p>
        </p:txBody>
      </p:sp>
      <p:grpSp>
        <p:nvGrpSpPr>
          <p:cNvPr id="999" name="Google Shape;999;p47"/>
          <p:cNvGrpSpPr/>
          <p:nvPr/>
        </p:nvGrpSpPr>
        <p:grpSpPr>
          <a:xfrm>
            <a:off x="6168919" y="1028962"/>
            <a:ext cx="1747042" cy="1056990"/>
            <a:chOff x="6168919" y="1028962"/>
            <a:chExt cx="1747042" cy="1056990"/>
          </a:xfrm>
        </p:grpSpPr>
        <p:grpSp>
          <p:nvGrpSpPr>
            <p:cNvPr id="1000" name="Google Shape;1000;p47"/>
            <p:cNvGrpSpPr/>
            <p:nvPr/>
          </p:nvGrpSpPr>
          <p:grpSpPr>
            <a:xfrm flipH="1">
              <a:off x="6168919" y="1028962"/>
              <a:ext cx="1747042" cy="1056990"/>
              <a:chOff x="5321775" y="2961603"/>
              <a:chExt cx="922847" cy="558338"/>
            </a:xfrm>
          </p:grpSpPr>
          <p:sp>
            <p:nvSpPr>
              <p:cNvPr id="1001" name="Google Shape;1001;p47"/>
              <p:cNvSpPr/>
              <p:nvPr/>
            </p:nvSpPr>
            <p:spPr>
              <a:xfrm>
                <a:off x="5434347" y="2961603"/>
                <a:ext cx="699987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20116" h="634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0115" y="634"/>
                    </a:lnTo>
                    <a:lnTo>
                      <a:pt x="201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7"/>
              <p:cNvSpPr/>
              <p:nvPr/>
            </p:nvSpPr>
            <p:spPr>
              <a:xfrm>
                <a:off x="5981096" y="3386420"/>
                <a:ext cx="20913" cy="11264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3237" extrusionOk="0">
                    <a:moveTo>
                      <a:pt x="0" y="1"/>
                    </a:moveTo>
                    <a:lnTo>
                      <a:pt x="0" y="3236"/>
                    </a:lnTo>
                    <a:lnTo>
                      <a:pt x="600" y="3236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7"/>
              <p:cNvSpPr/>
              <p:nvPr/>
            </p:nvSpPr>
            <p:spPr>
              <a:xfrm>
                <a:off x="5957851" y="349902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7"/>
              <p:cNvSpPr/>
              <p:nvPr/>
            </p:nvSpPr>
            <p:spPr>
              <a:xfrm>
                <a:off x="5935824" y="3476965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7"/>
              <p:cNvSpPr/>
              <p:nvPr/>
            </p:nvSpPr>
            <p:spPr>
              <a:xfrm>
                <a:off x="5912579" y="3453755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7"/>
              <p:cNvSpPr/>
              <p:nvPr/>
            </p:nvSpPr>
            <p:spPr>
              <a:xfrm>
                <a:off x="5890551" y="3431693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47"/>
              <p:cNvSpPr/>
              <p:nvPr/>
            </p:nvSpPr>
            <p:spPr>
              <a:xfrm>
                <a:off x="5869638" y="3408482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47"/>
              <p:cNvSpPr/>
              <p:nvPr/>
            </p:nvSpPr>
            <p:spPr>
              <a:xfrm>
                <a:off x="5846427" y="3386420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01" y="635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7"/>
              <p:cNvSpPr/>
              <p:nvPr/>
            </p:nvSpPr>
            <p:spPr>
              <a:xfrm>
                <a:off x="5321775" y="3073027"/>
                <a:ext cx="22062" cy="22406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439" extrusionOk="0">
                    <a:moveTo>
                      <a:pt x="0" y="0"/>
                    </a:moveTo>
                    <a:lnTo>
                      <a:pt x="0" y="6438"/>
                    </a:lnTo>
                    <a:lnTo>
                      <a:pt x="634" y="6438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7"/>
              <p:cNvSpPr/>
              <p:nvPr/>
            </p:nvSpPr>
            <p:spPr>
              <a:xfrm>
                <a:off x="5321775" y="3073027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7"/>
              <p:cNvSpPr/>
              <p:nvPr/>
            </p:nvSpPr>
            <p:spPr>
              <a:xfrm>
                <a:off x="5343802" y="3050965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7"/>
              <p:cNvSpPr/>
              <p:nvPr/>
            </p:nvSpPr>
            <p:spPr>
              <a:xfrm>
                <a:off x="5367047" y="3028902"/>
                <a:ext cx="22062" cy="20948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2" extrusionOk="0">
                    <a:moveTo>
                      <a:pt x="0" y="1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7"/>
              <p:cNvSpPr/>
              <p:nvPr/>
            </p:nvSpPr>
            <p:spPr>
              <a:xfrm>
                <a:off x="5389075" y="3006840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7"/>
              <p:cNvSpPr/>
              <p:nvPr/>
            </p:nvSpPr>
            <p:spPr>
              <a:xfrm>
                <a:off x="5412320" y="2984813"/>
                <a:ext cx="22062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4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7"/>
              <p:cNvSpPr/>
              <p:nvPr/>
            </p:nvSpPr>
            <p:spPr>
              <a:xfrm>
                <a:off x="6223674" y="3073027"/>
                <a:ext cx="20948" cy="224061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39" extrusionOk="0">
                    <a:moveTo>
                      <a:pt x="1" y="0"/>
                    </a:moveTo>
                    <a:lnTo>
                      <a:pt x="1" y="6438"/>
                    </a:lnTo>
                    <a:lnTo>
                      <a:pt x="601" y="6438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7"/>
              <p:cNvSpPr/>
              <p:nvPr/>
            </p:nvSpPr>
            <p:spPr>
              <a:xfrm>
                <a:off x="6223674" y="3073027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7"/>
              <p:cNvSpPr/>
              <p:nvPr/>
            </p:nvSpPr>
            <p:spPr>
              <a:xfrm>
                <a:off x="6201612" y="3050965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7"/>
              <p:cNvSpPr/>
              <p:nvPr/>
            </p:nvSpPr>
            <p:spPr>
              <a:xfrm>
                <a:off x="6178402" y="3028902"/>
                <a:ext cx="20948" cy="20948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2" extrusionOk="0">
                    <a:moveTo>
                      <a:pt x="1" y="1"/>
                    </a:moveTo>
                    <a:lnTo>
                      <a:pt x="1" y="601"/>
                    </a:lnTo>
                    <a:lnTo>
                      <a:pt x="601" y="601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7"/>
              <p:cNvSpPr/>
              <p:nvPr/>
            </p:nvSpPr>
            <p:spPr>
              <a:xfrm>
                <a:off x="6156340" y="3006840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7"/>
              <p:cNvSpPr/>
              <p:nvPr/>
            </p:nvSpPr>
            <p:spPr>
              <a:xfrm>
                <a:off x="6134313" y="2984813"/>
                <a:ext cx="22062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4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7"/>
              <p:cNvSpPr/>
              <p:nvPr/>
            </p:nvSpPr>
            <p:spPr>
              <a:xfrm>
                <a:off x="5434347" y="3386420"/>
                <a:ext cx="435317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12510" y="635"/>
                    </a:lnTo>
                    <a:lnTo>
                      <a:pt x="1251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7"/>
              <p:cNvSpPr/>
              <p:nvPr/>
            </p:nvSpPr>
            <p:spPr>
              <a:xfrm>
                <a:off x="5981096" y="3386420"/>
                <a:ext cx="1532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635" extrusionOk="0">
                    <a:moveTo>
                      <a:pt x="0" y="1"/>
                    </a:moveTo>
                    <a:lnTo>
                      <a:pt x="0" y="635"/>
                    </a:lnTo>
                    <a:lnTo>
                      <a:pt x="4403" y="635"/>
                    </a:lnTo>
                    <a:lnTo>
                      <a:pt x="44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7"/>
              <p:cNvSpPr/>
              <p:nvPr/>
            </p:nvSpPr>
            <p:spPr>
              <a:xfrm>
                <a:off x="6223674" y="3274996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7"/>
              <p:cNvSpPr/>
              <p:nvPr/>
            </p:nvSpPr>
            <p:spPr>
              <a:xfrm>
                <a:off x="6201612" y="329705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7"/>
              <p:cNvSpPr/>
              <p:nvPr/>
            </p:nvSpPr>
            <p:spPr>
              <a:xfrm>
                <a:off x="6178402" y="3320269"/>
                <a:ext cx="20948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01" y="601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7"/>
              <p:cNvSpPr/>
              <p:nvPr/>
            </p:nvSpPr>
            <p:spPr>
              <a:xfrm>
                <a:off x="6156340" y="334114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7"/>
              <p:cNvSpPr/>
              <p:nvPr/>
            </p:nvSpPr>
            <p:spPr>
              <a:xfrm>
                <a:off x="6134313" y="3365541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7"/>
              <p:cNvSpPr/>
              <p:nvPr/>
            </p:nvSpPr>
            <p:spPr>
              <a:xfrm>
                <a:off x="5321775" y="3274996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7"/>
              <p:cNvSpPr/>
              <p:nvPr/>
            </p:nvSpPr>
            <p:spPr>
              <a:xfrm>
                <a:off x="5343802" y="329705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7"/>
              <p:cNvSpPr/>
              <p:nvPr/>
            </p:nvSpPr>
            <p:spPr>
              <a:xfrm>
                <a:off x="5367047" y="3320269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7"/>
              <p:cNvSpPr/>
              <p:nvPr/>
            </p:nvSpPr>
            <p:spPr>
              <a:xfrm>
                <a:off x="5389075" y="334114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7"/>
              <p:cNvSpPr/>
              <p:nvPr/>
            </p:nvSpPr>
            <p:spPr>
              <a:xfrm>
                <a:off x="5412320" y="3365541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3" name="Google Shape;1033;p47"/>
            <p:cNvSpPr txBox="1"/>
            <p:nvPr/>
          </p:nvSpPr>
          <p:spPr>
            <a:xfrm>
              <a:off x="6206775" y="1242125"/>
              <a:ext cx="1671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Fira Code"/>
                  <a:ea typeface="Fira Code"/>
                  <a:cs typeface="Fira Code"/>
                  <a:sym typeface="Fira Code"/>
                </a:rPr>
                <a:t>404 NOT FOUND</a:t>
              </a:r>
              <a:endParaRPr sz="1500" dirty="0"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74607B27-290F-5F20-CF71-3F2BD21E14BC}"/>
              </a:ext>
            </a:extLst>
          </p:cNvPr>
          <p:cNvSpPr txBox="1">
            <a:spLocks/>
          </p:cNvSpPr>
          <p:nvPr/>
        </p:nvSpPr>
        <p:spPr>
          <a:xfrm>
            <a:off x="8014447" y="4520660"/>
            <a:ext cx="760503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>
          <a:extLst>
            <a:ext uri="{FF2B5EF4-FFF2-40B4-BE49-F238E27FC236}">
              <a16:creationId xmlns:a16="http://schemas.microsoft.com/office/drawing/2014/main" id="{DC27FD94-1A01-1595-9FD1-AF5C185A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1">
            <a:extLst>
              <a:ext uri="{FF2B5EF4-FFF2-40B4-BE49-F238E27FC236}">
                <a16:creationId xmlns:a16="http://schemas.microsoft.com/office/drawing/2014/main" id="{5D529624-E3BA-94A8-401D-F21E7055A09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5050" y="879572"/>
            <a:ext cx="7713900" cy="32895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sz="2400" dirty="0"/>
              <a:t>Les objets </a:t>
            </a:r>
            <a:r>
              <a:rPr lang="fr-FR" sz="2400" dirty="0">
                <a:solidFill>
                  <a:srgbClr val="5F9127"/>
                </a:solidFill>
              </a:rPr>
              <a:t>présentant des similitudes</a:t>
            </a:r>
            <a:r>
              <a:rPr lang="fr-FR" sz="2400" dirty="0"/>
              <a:t> vont rester dans le </a:t>
            </a:r>
            <a:r>
              <a:rPr lang="fr-FR" sz="2400" dirty="0">
                <a:solidFill>
                  <a:srgbClr val="5F9127"/>
                </a:solidFill>
              </a:rPr>
              <a:t>même groupe</a:t>
            </a:r>
            <a:r>
              <a:rPr lang="fr-FR" sz="2400" dirty="0"/>
              <a:t>. Pour ce faire, il </a:t>
            </a:r>
            <a:r>
              <a:rPr lang="fr-FR" sz="2400" dirty="0">
                <a:solidFill>
                  <a:srgbClr val="00668A"/>
                </a:solidFill>
              </a:rPr>
              <a:t>trouve des caractéristiques similaires </a:t>
            </a:r>
            <a:r>
              <a:rPr lang="fr-FR" sz="2400" dirty="0"/>
              <a:t>dans l'ensemble de données non étiquetées, telles que la </a:t>
            </a:r>
            <a:r>
              <a:rPr lang="fr-FR" sz="2400" b="1" dirty="0"/>
              <a:t>forme</a:t>
            </a:r>
            <a:r>
              <a:rPr lang="fr-FR" sz="2400" dirty="0"/>
              <a:t>, la </a:t>
            </a:r>
            <a:r>
              <a:rPr lang="fr-FR" sz="2400" b="1" dirty="0"/>
              <a:t>taille</a:t>
            </a:r>
            <a:r>
              <a:rPr lang="fr-FR" sz="2400" dirty="0"/>
              <a:t>, la </a:t>
            </a:r>
            <a:r>
              <a:rPr lang="fr-FR" sz="2400" b="1" dirty="0"/>
              <a:t>couleur</a:t>
            </a:r>
            <a:r>
              <a:rPr lang="fr-FR" sz="2400" dirty="0"/>
              <a:t>, le </a:t>
            </a:r>
            <a:r>
              <a:rPr lang="fr-FR" sz="2400" b="1" dirty="0"/>
              <a:t>comportement</a:t>
            </a:r>
            <a:r>
              <a:rPr lang="fr-FR" sz="2400" dirty="0"/>
              <a:t>, etc., et les </a:t>
            </a:r>
            <a:r>
              <a:rPr lang="fr-FR" sz="2400" dirty="0">
                <a:solidFill>
                  <a:srgbClr val="5F9127"/>
                </a:solidFill>
              </a:rPr>
              <a:t>divise en k cluster</a:t>
            </a:r>
            <a:r>
              <a:rPr lang="fr-FR" sz="2400" dirty="0"/>
              <a:t> en fonction de la présence et de l'absence de ces caractéristiques similaires.</a:t>
            </a:r>
          </a:p>
        </p:txBody>
      </p:sp>
      <p:grpSp>
        <p:nvGrpSpPr>
          <p:cNvPr id="828" name="Google Shape;828;p41">
            <a:extLst>
              <a:ext uri="{FF2B5EF4-FFF2-40B4-BE49-F238E27FC236}">
                <a16:creationId xmlns:a16="http://schemas.microsoft.com/office/drawing/2014/main" id="{C14381A7-A6B0-3A9D-D9D4-6F7CD2AA6824}"/>
              </a:ext>
            </a:extLst>
          </p:cNvPr>
          <p:cNvGrpSpPr/>
          <p:nvPr/>
        </p:nvGrpSpPr>
        <p:grpSpPr>
          <a:xfrm>
            <a:off x="1048885" y="4263928"/>
            <a:ext cx="344859" cy="565728"/>
            <a:chOff x="4113132" y="2072643"/>
            <a:chExt cx="406290" cy="666503"/>
          </a:xfrm>
        </p:grpSpPr>
        <p:sp>
          <p:nvSpPr>
            <p:cNvPr id="829" name="Google Shape;829;p41">
              <a:extLst>
                <a:ext uri="{FF2B5EF4-FFF2-40B4-BE49-F238E27FC236}">
                  <a16:creationId xmlns:a16="http://schemas.microsoft.com/office/drawing/2014/main" id="{847916F2-C10B-7AE5-30C8-D731E38CD9DA}"/>
                </a:ext>
              </a:extLst>
            </p:cNvPr>
            <p:cNvSpPr/>
            <p:nvPr/>
          </p:nvSpPr>
          <p:spPr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1">
              <a:extLst>
                <a:ext uri="{FF2B5EF4-FFF2-40B4-BE49-F238E27FC236}">
                  <a16:creationId xmlns:a16="http://schemas.microsoft.com/office/drawing/2014/main" id="{FE45F5AE-3868-D373-5FAD-0E48F91103EB}"/>
                </a:ext>
              </a:extLst>
            </p:cNvPr>
            <p:cNvSpPr/>
            <p:nvPr/>
          </p:nvSpPr>
          <p:spPr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1">
              <a:extLst>
                <a:ext uri="{FF2B5EF4-FFF2-40B4-BE49-F238E27FC236}">
                  <a16:creationId xmlns:a16="http://schemas.microsoft.com/office/drawing/2014/main" id="{3CA8772D-1391-27DC-41A0-58D53E31013D}"/>
                </a:ext>
              </a:extLst>
            </p:cNvPr>
            <p:cNvSpPr/>
            <p:nvPr/>
          </p:nvSpPr>
          <p:spPr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1">
              <a:extLst>
                <a:ext uri="{FF2B5EF4-FFF2-40B4-BE49-F238E27FC236}">
                  <a16:creationId xmlns:a16="http://schemas.microsoft.com/office/drawing/2014/main" id="{C5A231EF-1209-7491-BBB4-DB515CA68060}"/>
                </a:ext>
              </a:extLst>
            </p:cNvPr>
            <p:cNvSpPr/>
            <p:nvPr/>
          </p:nvSpPr>
          <p:spPr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1">
              <a:extLst>
                <a:ext uri="{FF2B5EF4-FFF2-40B4-BE49-F238E27FC236}">
                  <a16:creationId xmlns:a16="http://schemas.microsoft.com/office/drawing/2014/main" id="{84344FFF-10B6-3E54-83EA-AB236E50875E}"/>
                </a:ext>
              </a:extLst>
            </p:cNvPr>
            <p:cNvSpPr/>
            <p:nvPr/>
          </p:nvSpPr>
          <p:spPr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1">
              <a:extLst>
                <a:ext uri="{FF2B5EF4-FFF2-40B4-BE49-F238E27FC236}">
                  <a16:creationId xmlns:a16="http://schemas.microsoft.com/office/drawing/2014/main" id="{4E1BFC23-3012-8C1A-8E9A-C0E19F89896D}"/>
                </a:ext>
              </a:extLst>
            </p:cNvPr>
            <p:cNvSpPr/>
            <p:nvPr/>
          </p:nvSpPr>
          <p:spPr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1">
              <a:extLst>
                <a:ext uri="{FF2B5EF4-FFF2-40B4-BE49-F238E27FC236}">
                  <a16:creationId xmlns:a16="http://schemas.microsoft.com/office/drawing/2014/main" id="{E09E8561-9E77-B753-2B02-6CCEB23423CD}"/>
                </a:ext>
              </a:extLst>
            </p:cNvPr>
            <p:cNvSpPr/>
            <p:nvPr/>
          </p:nvSpPr>
          <p:spPr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1">
              <a:extLst>
                <a:ext uri="{FF2B5EF4-FFF2-40B4-BE49-F238E27FC236}">
                  <a16:creationId xmlns:a16="http://schemas.microsoft.com/office/drawing/2014/main" id="{F7FE3765-5AD5-F64A-1F1D-F2A70B1CBC56}"/>
                </a:ext>
              </a:extLst>
            </p:cNvPr>
            <p:cNvSpPr/>
            <p:nvPr/>
          </p:nvSpPr>
          <p:spPr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1">
              <a:extLst>
                <a:ext uri="{FF2B5EF4-FFF2-40B4-BE49-F238E27FC236}">
                  <a16:creationId xmlns:a16="http://schemas.microsoft.com/office/drawing/2014/main" id="{7415E066-B0E7-A4EA-3C03-1AA50F279A1C}"/>
                </a:ext>
              </a:extLst>
            </p:cNvPr>
            <p:cNvSpPr/>
            <p:nvPr/>
          </p:nvSpPr>
          <p:spPr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>
              <a:extLst>
                <a:ext uri="{FF2B5EF4-FFF2-40B4-BE49-F238E27FC236}">
                  <a16:creationId xmlns:a16="http://schemas.microsoft.com/office/drawing/2014/main" id="{45D6AA73-0832-E40F-3DD8-48C9151AFAF1}"/>
                </a:ext>
              </a:extLst>
            </p:cNvPr>
            <p:cNvSpPr/>
            <p:nvPr/>
          </p:nvSpPr>
          <p:spPr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>
              <a:extLst>
                <a:ext uri="{FF2B5EF4-FFF2-40B4-BE49-F238E27FC236}">
                  <a16:creationId xmlns:a16="http://schemas.microsoft.com/office/drawing/2014/main" id="{15069E3F-E42A-4B8E-348D-FA0A2BA92569}"/>
                </a:ext>
              </a:extLst>
            </p:cNvPr>
            <p:cNvSpPr/>
            <p:nvPr/>
          </p:nvSpPr>
          <p:spPr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>
              <a:extLst>
                <a:ext uri="{FF2B5EF4-FFF2-40B4-BE49-F238E27FC236}">
                  <a16:creationId xmlns:a16="http://schemas.microsoft.com/office/drawing/2014/main" id="{BAD6EBE9-8BDE-F28B-8B97-ABE4EE924941}"/>
                </a:ext>
              </a:extLst>
            </p:cNvPr>
            <p:cNvSpPr/>
            <p:nvPr/>
          </p:nvSpPr>
          <p:spPr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1">
              <a:extLst>
                <a:ext uri="{FF2B5EF4-FFF2-40B4-BE49-F238E27FC236}">
                  <a16:creationId xmlns:a16="http://schemas.microsoft.com/office/drawing/2014/main" id="{222FE15E-2C3F-468B-724D-BA3B519B55C4}"/>
                </a:ext>
              </a:extLst>
            </p:cNvPr>
            <p:cNvSpPr/>
            <p:nvPr/>
          </p:nvSpPr>
          <p:spPr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1">
              <a:extLst>
                <a:ext uri="{FF2B5EF4-FFF2-40B4-BE49-F238E27FC236}">
                  <a16:creationId xmlns:a16="http://schemas.microsoft.com/office/drawing/2014/main" id="{4939DBFD-9C89-434D-92FF-D74AF5237AB6}"/>
                </a:ext>
              </a:extLst>
            </p:cNvPr>
            <p:cNvSpPr/>
            <p:nvPr/>
          </p:nvSpPr>
          <p:spPr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1">
              <a:extLst>
                <a:ext uri="{FF2B5EF4-FFF2-40B4-BE49-F238E27FC236}">
                  <a16:creationId xmlns:a16="http://schemas.microsoft.com/office/drawing/2014/main" id="{85DAF8E8-3AF3-DCE4-132A-1301FBE10812}"/>
                </a:ext>
              </a:extLst>
            </p:cNvPr>
            <p:cNvSpPr/>
            <p:nvPr/>
          </p:nvSpPr>
          <p:spPr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1">
              <a:extLst>
                <a:ext uri="{FF2B5EF4-FFF2-40B4-BE49-F238E27FC236}">
                  <a16:creationId xmlns:a16="http://schemas.microsoft.com/office/drawing/2014/main" id="{2157BC28-E202-E54E-7765-DF195B0A01F6}"/>
                </a:ext>
              </a:extLst>
            </p:cNvPr>
            <p:cNvSpPr/>
            <p:nvPr/>
          </p:nvSpPr>
          <p:spPr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1">
              <a:extLst>
                <a:ext uri="{FF2B5EF4-FFF2-40B4-BE49-F238E27FC236}">
                  <a16:creationId xmlns:a16="http://schemas.microsoft.com/office/drawing/2014/main" id="{7751237E-2F0D-0650-805A-3D46B9A36BF8}"/>
                </a:ext>
              </a:extLst>
            </p:cNvPr>
            <p:cNvSpPr/>
            <p:nvPr/>
          </p:nvSpPr>
          <p:spPr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1">
              <a:extLst>
                <a:ext uri="{FF2B5EF4-FFF2-40B4-BE49-F238E27FC236}">
                  <a16:creationId xmlns:a16="http://schemas.microsoft.com/office/drawing/2014/main" id="{46426775-70C3-2C7E-B7C6-A0FAB16691D7}"/>
                </a:ext>
              </a:extLst>
            </p:cNvPr>
            <p:cNvSpPr/>
            <p:nvPr/>
          </p:nvSpPr>
          <p:spPr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1">
              <a:extLst>
                <a:ext uri="{FF2B5EF4-FFF2-40B4-BE49-F238E27FC236}">
                  <a16:creationId xmlns:a16="http://schemas.microsoft.com/office/drawing/2014/main" id="{3F5AD13E-2FD1-31EC-FAD6-6C36F878762F}"/>
                </a:ext>
              </a:extLst>
            </p:cNvPr>
            <p:cNvSpPr/>
            <p:nvPr/>
          </p:nvSpPr>
          <p:spPr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1">
              <a:extLst>
                <a:ext uri="{FF2B5EF4-FFF2-40B4-BE49-F238E27FC236}">
                  <a16:creationId xmlns:a16="http://schemas.microsoft.com/office/drawing/2014/main" id="{5F27CF82-65E4-1A67-8FAC-C9966C029D85}"/>
                </a:ext>
              </a:extLst>
            </p:cNvPr>
            <p:cNvSpPr/>
            <p:nvPr/>
          </p:nvSpPr>
          <p:spPr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>
              <a:extLst>
                <a:ext uri="{FF2B5EF4-FFF2-40B4-BE49-F238E27FC236}">
                  <a16:creationId xmlns:a16="http://schemas.microsoft.com/office/drawing/2014/main" id="{15D4B5FE-1EB8-56FC-6A49-F43F5FA64801}"/>
                </a:ext>
              </a:extLst>
            </p:cNvPr>
            <p:cNvSpPr/>
            <p:nvPr/>
          </p:nvSpPr>
          <p:spPr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1">
              <a:extLst>
                <a:ext uri="{FF2B5EF4-FFF2-40B4-BE49-F238E27FC236}">
                  <a16:creationId xmlns:a16="http://schemas.microsoft.com/office/drawing/2014/main" id="{F397C363-71A3-A0DE-655E-122DAD0C17AC}"/>
                </a:ext>
              </a:extLst>
            </p:cNvPr>
            <p:cNvSpPr/>
            <p:nvPr/>
          </p:nvSpPr>
          <p:spPr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1">
              <a:extLst>
                <a:ext uri="{FF2B5EF4-FFF2-40B4-BE49-F238E27FC236}">
                  <a16:creationId xmlns:a16="http://schemas.microsoft.com/office/drawing/2014/main" id="{D4573AFA-AC57-7367-255D-AAC190709121}"/>
                </a:ext>
              </a:extLst>
            </p:cNvPr>
            <p:cNvSpPr/>
            <p:nvPr/>
          </p:nvSpPr>
          <p:spPr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E6EFAD0F-E45C-FF3C-85DA-65935B21B106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07/28</a:t>
            </a:r>
          </a:p>
        </p:txBody>
      </p:sp>
    </p:spTree>
    <p:extLst>
      <p:ext uri="{BB962C8B-B14F-4D97-AF65-F5344CB8AC3E}">
        <p14:creationId xmlns:p14="http://schemas.microsoft.com/office/powerpoint/2010/main" val="295650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>
          <a:extLst>
            <a:ext uri="{FF2B5EF4-FFF2-40B4-BE49-F238E27FC236}">
              <a16:creationId xmlns:a16="http://schemas.microsoft.com/office/drawing/2014/main" id="{EA717432-4245-F307-4F00-22C92040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6DF982-7493-BFE5-70EC-12BB4CE1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462" y="542925"/>
            <a:ext cx="6315075" cy="4057650"/>
          </a:xfrm>
          <a:prstGeom prst="rect">
            <a:avLst/>
          </a:prstGeom>
        </p:spPr>
      </p:pic>
      <p:sp>
        <p:nvSpPr>
          <p:cNvPr id="8" name="Google Shape;703;p38">
            <a:extLst>
              <a:ext uri="{FF2B5EF4-FFF2-40B4-BE49-F238E27FC236}">
                <a16:creationId xmlns:a16="http://schemas.microsoft.com/office/drawing/2014/main" id="{3FA35A13-2A7B-EE48-549F-399E537A8B0A}"/>
              </a:ext>
            </a:extLst>
          </p:cNvPr>
          <p:cNvSpPr txBox="1">
            <a:spLocks/>
          </p:cNvSpPr>
          <p:nvPr/>
        </p:nvSpPr>
        <p:spPr>
          <a:xfrm>
            <a:off x="7992932" y="4520660"/>
            <a:ext cx="782018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08/28</a:t>
            </a:r>
          </a:p>
        </p:txBody>
      </p:sp>
    </p:spTree>
    <p:extLst>
      <p:ext uri="{BB962C8B-B14F-4D97-AF65-F5344CB8AC3E}">
        <p14:creationId xmlns:p14="http://schemas.microsoft.com/office/powerpoint/2010/main" val="22369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54"/>
          <p:cNvSpPr txBox="1">
            <a:spLocks noGrp="1"/>
          </p:cNvSpPr>
          <p:nvPr>
            <p:ph type="title"/>
          </p:nvPr>
        </p:nvSpPr>
        <p:spPr>
          <a:xfrm>
            <a:off x="1772850" y="2364800"/>
            <a:ext cx="6656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Domaines d’application</a:t>
            </a:r>
          </a:p>
        </p:txBody>
      </p:sp>
      <p:sp>
        <p:nvSpPr>
          <p:cNvPr id="1317" name="Google Shape;1317;p54"/>
          <p:cNvSpPr txBox="1">
            <a:spLocks noGrp="1"/>
          </p:cNvSpPr>
          <p:nvPr>
            <p:ph type="title" idx="2"/>
          </p:nvPr>
        </p:nvSpPr>
        <p:spPr>
          <a:xfrm>
            <a:off x="5278000" y="12943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18" name="Google Shape;1318;p54"/>
          <p:cNvSpPr txBox="1">
            <a:spLocks noGrp="1"/>
          </p:cNvSpPr>
          <p:nvPr>
            <p:ph type="subTitle" idx="1"/>
          </p:nvPr>
        </p:nvSpPr>
        <p:spPr>
          <a:xfrm>
            <a:off x="1026544" y="3378155"/>
            <a:ext cx="7402332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fr-FR" dirty="0"/>
              <a:t>Quels sont les domaines où l’on pourrait utiliser le k-</a:t>
            </a:r>
            <a:r>
              <a:rPr lang="fr-FR" dirty="0" err="1"/>
              <a:t>Means</a:t>
            </a:r>
            <a:r>
              <a:rPr lang="fr-FR" dirty="0"/>
              <a:t> ?</a:t>
            </a:r>
          </a:p>
        </p:txBody>
      </p:sp>
      <p:grpSp>
        <p:nvGrpSpPr>
          <p:cNvPr id="1319" name="Google Shape;1319;p54"/>
          <p:cNvGrpSpPr/>
          <p:nvPr/>
        </p:nvGrpSpPr>
        <p:grpSpPr>
          <a:xfrm>
            <a:off x="856875" y="796263"/>
            <a:ext cx="841800" cy="841800"/>
            <a:chOff x="856875" y="796263"/>
            <a:chExt cx="841800" cy="841800"/>
          </a:xfrm>
        </p:grpSpPr>
        <p:grpSp>
          <p:nvGrpSpPr>
            <p:cNvPr id="1320" name="Google Shape;1320;p54"/>
            <p:cNvGrpSpPr/>
            <p:nvPr/>
          </p:nvGrpSpPr>
          <p:grpSpPr>
            <a:xfrm rot="2533261">
              <a:off x="1105339" y="934288"/>
              <a:ext cx="344867" cy="565741"/>
              <a:chOff x="4113132" y="2072643"/>
              <a:chExt cx="406290" cy="666503"/>
            </a:xfrm>
          </p:grpSpPr>
          <p:sp>
            <p:nvSpPr>
              <p:cNvPr id="1321" name="Google Shape;1321;p54"/>
              <p:cNvSpPr/>
              <p:nvPr/>
            </p:nvSpPr>
            <p:spPr>
              <a:xfrm>
                <a:off x="4113132" y="2072643"/>
                <a:ext cx="406290" cy="662825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18014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6005"/>
                    </a:lnTo>
                    <a:lnTo>
                      <a:pt x="2002" y="6005"/>
                    </a:lnTo>
                    <a:lnTo>
                      <a:pt x="2002" y="7005"/>
                    </a:lnTo>
                    <a:lnTo>
                      <a:pt x="3002" y="7005"/>
                    </a:lnTo>
                    <a:lnTo>
                      <a:pt x="3002" y="8006"/>
                    </a:lnTo>
                    <a:lnTo>
                      <a:pt x="4003" y="8006"/>
                    </a:lnTo>
                    <a:lnTo>
                      <a:pt x="4003" y="9007"/>
                    </a:lnTo>
                    <a:lnTo>
                      <a:pt x="4003" y="10008"/>
                    </a:lnTo>
                    <a:lnTo>
                      <a:pt x="3002" y="10008"/>
                    </a:lnTo>
                    <a:lnTo>
                      <a:pt x="3002" y="11008"/>
                    </a:lnTo>
                    <a:lnTo>
                      <a:pt x="2002" y="11008"/>
                    </a:lnTo>
                    <a:lnTo>
                      <a:pt x="2002" y="12009"/>
                    </a:lnTo>
                    <a:lnTo>
                      <a:pt x="1001" y="12009"/>
                    </a:lnTo>
                    <a:lnTo>
                      <a:pt x="1001" y="16012"/>
                    </a:lnTo>
                    <a:lnTo>
                      <a:pt x="0" y="16012"/>
                    </a:lnTo>
                    <a:lnTo>
                      <a:pt x="0" y="17013"/>
                    </a:lnTo>
                    <a:lnTo>
                      <a:pt x="0" y="18013"/>
                    </a:lnTo>
                    <a:lnTo>
                      <a:pt x="11042" y="18013"/>
                    </a:lnTo>
                    <a:lnTo>
                      <a:pt x="11042" y="17013"/>
                    </a:lnTo>
                    <a:lnTo>
                      <a:pt x="11042" y="16012"/>
                    </a:lnTo>
                    <a:lnTo>
                      <a:pt x="10041" y="16012"/>
                    </a:lnTo>
                    <a:lnTo>
                      <a:pt x="10041" y="12009"/>
                    </a:lnTo>
                    <a:lnTo>
                      <a:pt x="9040" y="12009"/>
                    </a:lnTo>
                    <a:lnTo>
                      <a:pt x="9040" y="11008"/>
                    </a:lnTo>
                    <a:lnTo>
                      <a:pt x="8039" y="11008"/>
                    </a:lnTo>
                    <a:lnTo>
                      <a:pt x="8039" y="10008"/>
                    </a:lnTo>
                    <a:lnTo>
                      <a:pt x="7039" y="10008"/>
                    </a:lnTo>
                    <a:lnTo>
                      <a:pt x="7039" y="9007"/>
                    </a:lnTo>
                    <a:lnTo>
                      <a:pt x="7039" y="8006"/>
                    </a:lnTo>
                    <a:lnTo>
                      <a:pt x="8039" y="8006"/>
                    </a:lnTo>
                    <a:lnTo>
                      <a:pt x="8039" y="7005"/>
                    </a:lnTo>
                    <a:lnTo>
                      <a:pt x="9040" y="7005"/>
                    </a:lnTo>
                    <a:lnTo>
                      <a:pt x="9040" y="6005"/>
                    </a:lnTo>
                    <a:lnTo>
                      <a:pt x="10041" y="6005"/>
                    </a:lnTo>
                    <a:lnTo>
                      <a:pt x="10041" y="2002"/>
                    </a:lnTo>
                    <a:lnTo>
                      <a:pt x="11042" y="2002"/>
                    </a:lnTo>
                    <a:lnTo>
                      <a:pt x="11042" y="1001"/>
                    </a:lnTo>
                    <a:lnTo>
                      <a:pt x="1104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54"/>
              <p:cNvSpPr/>
              <p:nvPr/>
            </p:nvSpPr>
            <p:spPr>
              <a:xfrm>
                <a:off x="4260422" y="2367223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54"/>
              <p:cNvSpPr/>
              <p:nvPr/>
            </p:nvSpPr>
            <p:spPr>
              <a:xfrm>
                <a:off x="4260422" y="2405269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54"/>
              <p:cNvSpPr/>
              <p:nvPr/>
            </p:nvSpPr>
            <p:spPr>
              <a:xfrm>
                <a:off x="4223590" y="244206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54"/>
              <p:cNvSpPr/>
              <p:nvPr/>
            </p:nvSpPr>
            <p:spPr>
              <a:xfrm>
                <a:off x="4186758" y="2478895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4"/>
              <p:cNvSpPr/>
              <p:nvPr/>
            </p:nvSpPr>
            <p:spPr>
              <a:xfrm>
                <a:off x="4223590" y="2330391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4"/>
              <p:cNvSpPr/>
              <p:nvPr/>
            </p:nvSpPr>
            <p:spPr>
              <a:xfrm>
                <a:off x="4186758" y="2293559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4"/>
              <p:cNvSpPr/>
              <p:nvPr/>
            </p:nvSpPr>
            <p:spPr>
              <a:xfrm>
                <a:off x="4149964" y="2146269"/>
                <a:ext cx="36832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4004" extrusionOk="0">
                    <a:moveTo>
                      <a:pt x="0" y="1"/>
                    </a:moveTo>
                    <a:lnTo>
                      <a:pt x="0" y="4004"/>
                    </a:lnTo>
                    <a:lnTo>
                      <a:pt x="1001" y="4004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54"/>
              <p:cNvSpPr/>
              <p:nvPr/>
            </p:nvSpPr>
            <p:spPr>
              <a:xfrm>
                <a:off x="4113132" y="2072643"/>
                <a:ext cx="406290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2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0" y="2002"/>
                    </a:lnTo>
                    <a:lnTo>
                      <a:pt x="11042" y="2002"/>
                    </a:lnTo>
                    <a:lnTo>
                      <a:pt x="11042" y="1001"/>
                    </a:lnTo>
                    <a:lnTo>
                      <a:pt x="110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54"/>
              <p:cNvSpPr/>
              <p:nvPr/>
            </p:nvSpPr>
            <p:spPr>
              <a:xfrm>
                <a:off x="4334049" y="2367223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54"/>
              <p:cNvSpPr/>
              <p:nvPr/>
            </p:nvSpPr>
            <p:spPr>
              <a:xfrm>
                <a:off x="4334049" y="2405269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54"/>
              <p:cNvSpPr/>
              <p:nvPr/>
            </p:nvSpPr>
            <p:spPr>
              <a:xfrm>
                <a:off x="4370881" y="244206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54"/>
              <p:cNvSpPr/>
              <p:nvPr/>
            </p:nvSpPr>
            <p:spPr>
              <a:xfrm>
                <a:off x="4408927" y="2478895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54"/>
              <p:cNvSpPr/>
              <p:nvPr/>
            </p:nvSpPr>
            <p:spPr>
              <a:xfrm>
                <a:off x="4370881" y="2330391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54"/>
              <p:cNvSpPr/>
              <p:nvPr/>
            </p:nvSpPr>
            <p:spPr>
              <a:xfrm>
                <a:off x="4297217" y="2293559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54"/>
              <p:cNvSpPr/>
              <p:nvPr/>
            </p:nvSpPr>
            <p:spPr>
              <a:xfrm>
                <a:off x="4260422" y="225672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54"/>
              <p:cNvSpPr/>
              <p:nvPr/>
            </p:nvSpPr>
            <p:spPr>
              <a:xfrm>
                <a:off x="4334049" y="225672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54"/>
              <p:cNvSpPr/>
              <p:nvPr/>
            </p:nvSpPr>
            <p:spPr>
              <a:xfrm>
                <a:off x="4408927" y="2293559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54"/>
              <p:cNvSpPr/>
              <p:nvPr/>
            </p:nvSpPr>
            <p:spPr>
              <a:xfrm>
                <a:off x="4445758" y="2146269"/>
                <a:ext cx="36832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4004" extrusionOk="0">
                    <a:moveTo>
                      <a:pt x="0" y="1"/>
                    </a:moveTo>
                    <a:lnTo>
                      <a:pt x="0" y="4004"/>
                    </a:lnTo>
                    <a:lnTo>
                      <a:pt x="1001" y="4004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54"/>
              <p:cNvSpPr/>
              <p:nvPr/>
            </p:nvSpPr>
            <p:spPr>
              <a:xfrm>
                <a:off x="4149964" y="2515727"/>
                <a:ext cx="36832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4004" extrusionOk="0">
                    <a:moveTo>
                      <a:pt x="0" y="0"/>
                    </a:moveTo>
                    <a:lnTo>
                      <a:pt x="0" y="4003"/>
                    </a:lnTo>
                    <a:lnTo>
                      <a:pt x="1001" y="4003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54"/>
              <p:cNvSpPr/>
              <p:nvPr/>
            </p:nvSpPr>
            <p:spPr>
              <a:xfrm>
                <a:off x="4113132" y="2663017"/>
                <a:ext cx="406290" cy="76129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2069" extrusionOk="0">
                    <a:moveTo>
                      <a:pt x="0" y="0"/>
                    </a:moveTo>
                    <a:lnTo>
                      <a:pt x="0" y="1068"/>
                    </a:lnTo>
                    <a:lnTo>
                      <a:pt x="0" y="2068"/>
                    </a:lnTo>
                    <a:lnTo>
                      <a:pt x="11042" y="2068"/>
                    </a:lnTo>
                    <a:lnTo>
                      <a:pt x="11042" y="1068"/>
                    </a:lnTo>
                    <a:lnTo>
                      <a:pt x="110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54"/>
              <p:cNvSpPr/>
              <p:nvPr/>
            </p:nvSpPr>
            <p:spPr>
              <a:xfrm>
                <a:off x="4223590" y="2515727"/>
                <a:ext cx="185373" cy="110495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3003" extrusionOk="0">
                    <a:moveTo>
                      <a:pt x="2002" y="0"/>
                    </a:moveTo>
                    <a:lnTo>
                      <a:pt x="2002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0" y="2002"/>
                    </a:lnTo>
                    <a:lnTo>
                      <a:pt x="0" y="3002"/>
                    </a:lnTo>
                    <a:lnTo>
                      <a:pt x="5037" y="3002"/>
                    </a:lnTo>
                    <a:lnTo>
                      <a:pt x="5037" y="2002"/>
                    </a:lnTo>
                    <a:lnTo>
                      <a:pt x="4003" y="2002"/>
                    </a:lnTo>
                    <a:lnTo>
                      <a:pt x="4003" y="1001"/>
                    </a:lnTo>
                    <a:lnTo>
                      <a:pt x="3003" y="1001"/>
                    </a:lnTo>
                    <a:lnTo>
                      <a:pt x="30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54"/>
              <p:cNvSpPr/>
              <p:nvPr/>
            </p:nvSpPr>
            <p:spPr>
              <a:xfrm>
                <a:off x="4445758" y="2515727"/>
                <a:ext cx="36832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4004" extrusionOk="0">
                    <a:moveTo>
                      <a:pt x="0" y="0"/>
                    </a:moveTo>
                    <a:lnTo>
                      <a:pt x="0" y="4003"/>
                    </a:lnTo>
                    <a:lnTo>
                      <a:pt x="1001" y="4003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4" name="Google Shape;1344;p54"/>
            <p:cNvSpPr/>
            <p:nvPr/>
          </p:nvSpPr>
          <p:spPr>
            <a:xfrm>
              <a:off x="856875" y="796263"/>
              <a:ext cx="841800" cy="841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AAE2B4C6-1674-BC58-B884-B5A8F6F511D0}"/>
              </a:ext>
            </a:extLst>
          </p:cNvPr>
          <p:cNvSpPr txBox="1">
            <a:spLocks/>
          </p:cNvSpPr>
          <p:nvPr/>
        </p:nvSpPr>
        <p:spPr>
          <a:xfrm>
            <a:off x="7992932" y="4520660"/>
            <a:ext cx="782018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09/28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Exemples de domaines</a:t>
            </a:r>
            <a:endParaRPr dirty="0"/>
          </a:p>
        </p:txBody>
      </p:sp>
      <p:sp>
        <p:nvSpPr>
          <p:cNvPr id="1039" name="Google Shape;1039;p48"/>
          <p:cNvSpPr txBox="1">
            <a:spLocks noGrp="1"/>
          </p:cNvSpPr>
          <p:nvPr>
            <p:ph type="title" idx="4"/>
          </p:nvPr>
        </p:nvSpPr>
        <p:spPr>
          <a:xfrm>
            <a:off x="720000" y="3774745"/>
            <a:ext cx="360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Classification des espèces en biologie</a:t>
            </a:r>
            <a:endParaRPr dirty="0"/>
          </a:p>
        </p:txBody>
      </p:sp>
      <p:sp>
        <p:nvSpPr>
          <p:cNvPr id="1041" name="Google Shape;1041;p48"/>
          <p:cNvSpPr txBox="1">
            <a:spLocks noGrp="1"/>
          </p:cNvSpPr>
          <p:nvPr>
            <p:ph type="title"/>
          </p:nvPr>
        </p:nvSpPr>
        <p:spPr>
          <a:xfrm>
            <a:off x="720000" y="2064575"/>
            <a:ext cx="360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Systèmes de recommandation</a:t>
            </a:r>
            <a:endParaRPr dirty="0"/>
          </a:p>
        </p:txBody>
      </p:sp>
      <p:sp>
        <p:nvSpPr>
          <p:cNvPr id="1043" name="Google Shape;1043;p48"/>
          <p:cNvSpPr txBox="1">
            <a:spLocks noGrp="1"/>
          </p:cNvSpPr>
          <p:nvPr>
            <p:ph type="title" idx="2"/>
          </p:nvPr>
        </p:nvSpPr>
        <p:spPr>
          <a:xfrm>
            <a:off x="4821900" y="1913963"/>
            <a:ext cx="360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Détection d'anomalie</a:t>
            </a:r>
            <a:endParaRPr dirty="0"/>
          </a:p>
        </p:txBody>
      </p:sp>
      <p:sp>
        <p:nvSpPr>
          <p:cNvPr id="1045" name="Google Shape;1045;p48"/>
          <p:cNvSpPr txBox="1">
            <a:spLocks noGrp="1"/>
          </p:cNvSpPr>
          <p:nvPr>
            <p:ph type="title" idx="6"/>
          </p:nvPr>
        </p:nvSpPr>
        <p:spPr>
          <a:xfrm>
            <a:off x="4821900" y="3613375"/>
            <a:ext cx="360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Exploration de donnée</a:t>
            </a:r>
            <a:endParaRPr dirty="0"/>
          </a:p>
        </p:txBody>
      </p:sp>
      <p:sp>
        <p:nvSpPr>
          <p:cNvPr id="1047" name="Google Shape;1047;p48"/>
          <p:cNvSpPr/>
          <p:nvPr/>
        </p:nvSpPr>
        <p:spPr>
          <a:xfrm>
            <a:off x="6452206" y="1550514"/>
            <a:ext cx="341506" cy="340204"/>
          </a:xfrm>
          <a:custGeom>
            <a:avLst/>
            <a:gdLst/>
            <a:ahLst/>
            <a:cxnLst/>
            <a:rect l="l" t="t" r="r" b="b"/>
            <a:pathLst>
              <a:path w="19401" h="19327" extrusionOk="0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048" name="Google Shape;1048;p48"/>
          <p:cNvGrpSpPr/>
          <p:nvPr/>
        </p:nvGrpSpPr>
        <p:grpSpPr>
          <a:xfrm>
            <a:off x="2350960" y="3273199"/>
            <a:ext cx="340168" cy="340168"/>
            <a:chOff x="2676100" y="832575"/>
            <a:chExt cx="483125" cy="483125"/>
          </a:xfrm>
        </p:grpSpPr>
        <p:sp>
          <p:nvSpPr>
            <p:cNvPr id="1049" name="Google Shape;1049;p48"/>
            <p:cNvSpPr/>
            <p:nvPr/>
          </p:nvSpPr>
          <p:spPr>
            <a:xfrm>
              <a:off x="2676100" y="83257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0351" y="1132"/>
                  </a:moveTo>
                  <a:lnTo>
                    <a:pt x="10562" y="2008"/>
                  </a:lnTo>
                  <a:cubicBezTo>
                    <a:pt x="10614" y="2226"/>
                    <a:pt x="10789" y="2392"/>
                    <a:pt x="11009" y="2434"/>
                  </a:cubicBezTo>
                  <a:cubicBezTo>
                    <a:pt x="12021" y="2618"/>
                    <a:pt x="12981" y="3014"/>
                    <a:pt x="13826" y="3596"/>
                  </a:cubicBezTo>
                  <a:cubicBezTo>
                    <a:pt x="13922" y="3663"/>
                    <a:pt x="14033" y="3696"/>
                    <a:pt x="14146" y="3696"/>
                  </a:cubicBezTo>
                  <a:cubicBezTo>
                    <a:pt x="14247" y="3696"/>
                    <a:pt x="14349" y="3669"/>
                    <a:pt x="14439" y="3614"/>
                  </a:cubicBezTo>
                  <a:lnTo>
                    <a:pt x="15179" y="3171"/>
                  </a:lnTo>
                  <a:lnTo>
                    <a:pt x="16154" y="4146"/>
                  </a:lnTo>
                  <a:lnTo>
                    <a:pt x="15711" y="4889"/>
                  </a:lnTo>
                  <a:cubicBezTo>
                    <a:pt x="15596" y="5079"/>
                    <a:pt x="15602" y="5317"/>
                    <a:pt x="15729" y="5499"/>
                  </a:cubicBezTo>
                  <a:cubicBezTo>
                    <a:pt x="16311" y="6344"/>
                    <a:pt x="16707" y="7304"/>
                    <a:pt x="16891" y="8316"/>
                  </a:cubicBezTo>
                  <a:cubicBezTo>
                    <a:pt x="16933" y="8536"/>
                    <a:pt x="17100" y="8711"/>
                    <a:pt x="17317" y="8763"/>
                  </a:cubicBezTo>
                  <a:lnTo>
                    <a:pt x="18193" y="8974"/>
                  </a:lnTo>
                  <a:lnTo>
                    <a:pt x="18193" y="10351"/>
                  </a:lnTo>
                  <a:lnTo>
                    <a:pt x="17317" y="10562"/>
                  </a:lnTo>
                  <a:cubicBezTo>
                    <a:pt x="17100" y="10614"/>
                    <a:pt x="16933" y="10789"/>
                    <a:pt x="16894" y="11009"/>
                  </a:cubicBezTo>
                  <a:cubicBezTo>
                    <a:pt x="16710" y="12021"/>
                    <a:pt x="16311" y="12981"/>
                    <a:pt x="15729" y="13826"/>
                  </a:cubicBezTo>
                  <a:cubicBezTo>
                    <a:pt x="15605" y="14007"/>
                    <a:pt x="15596" y="14246"/>
                    <a:pt x="15711" y="14436"/>
                  </a:cubicBezTo>
                  <a:lnTo>
                    <a:pt x="16154" y="15179"/>
                  </a:lnTo>
                  <a:lnTo>
                    <a:pt x="15179" y="16154"/>
                  </a:lnTo>
                  <a:lnTo>
                    <a:pt x="14439" y="15710"/>
                  </a:lnTo>
                  <a:cubicBezTo>
                    <a:pt x="14349" y="15656"/>
                    <a:pt x="14247" y="15629"/>
                    <a:pt x="14146" y="15629"/>
                  </a:cubicBezTo>
                  <a:cubicBezTo>
                    <a:pt x="14033" y="15629"/>
                    <a:pt x="13922" y="15662"/>
                    <a:pt x="13826" y="15729"/>
                  </a:cubicBezTo>
                  <a:cubicBezTo>
                    <a:pt x="12981" y="16311"/>
                    <a:pt x="12021" y="16707"/>
                    <a:pt x="11009" y="16891"/>
                  </a:cubicBezTo>
                  <a:cubicBezTo>
                    <a:pt x="10789" y="16933"/>
                    <a:pt x="10614" y="17099"/>
                    <a:pt x="10562" y="17317"/>
                  </a:cubicBezTo>
                  <a:lnTo>
                    <a:pt x="10351" y="18192"/>
                  </a:lnTo>
                  <a:lnTo>
                    <a:pt x="8974" y="18192"/>
                  </a:lnTo>
                  <a:lnTo>
                    <a:pt x="8763" y="17317"/>
                  </a:lnTo>
                  <a:cubicBezTo>
                    <a:pt x="8712" y="17099"/>
                    <a:pt x="8536" y="16933"/>
                    <a:pt x="8316" y="16891"/>
                  </a:cubicBezTo>
                  <a:cubicBezTo>
                    <a:pt x="7304" y="16707"/>
                    <a:pt x="6344" y="16311"/>
                    <a:pt x="5499" y="15729"/>
                  </a:cubicBezTo>
                  <a:cubicBezTo>
                    <a:pt x="5404" y="15662"/>
                    <a:pt x="5293" y="15629"/>
                    <a:pt x="5181" y="15629"/>
                  </a:cubicBezTo>
                  <a:cubicBezTo>
                    <a:pt x="5081" y="15629"/>
                    <a:pt x="4979" y="15656"/>
                    <a:pt x="4889" y="15710"/>
                  </a:cubicBezTo>
                  <a:lnTo>
                    <a:pt x="4146" y="16154"/>
                  </a:lnTo>
                  <a:lnTo>
                    <a:pt x="3171" y="15179"/>
                  </a:lnTo>
                  <a:lnTo>
                    <a:pt x="3615" y="14436"/>
                  </a:lnTo>
                  <a:cubicBezTo>
                    <a:pt x="3729" y="14246"/>
                    <a:pt x="3723" y="14007"/>
                    <a:pt x="3597" y="13826"/>
                  </a:cubicBezTo>
                  <a:cubicBezTo>
                    <a:pt x="3014" y="12981"/>
                    <a:pt x="2618" y="12021"/>
                    <a:pt x="2434" y="11009"/>
                  </a:cubicBezTo>
                  <a:cubicBezTo>
                    <a:pt x="2392" y="10789"/>
                    <a:pt x="2226" y="10614"/>
                    <a:pt x="2011" y="10562"/>
                  </a:cubicBezTo>
                  <a:lnTo>
                    <a:pt x="1133" y="10351"/>
                  </a:lnTo>
                  <a:lnTo>
                    <a:pt x="1133" y="8974"/>
                  </a:lnTo>
                  <a:lnTo>
                    <a:pt x="2008" y="8763"/>
                  </a:lnTo>
                  <a:cubicBezTo>
                    <a:pt x="2226" y="8711"/>
                    <a:pt x="2392" y="8536"/>
                    <a:pt x="2431" y="8316"/>
                  </a:cubicBezTo>
                  <a:cubicBezTo>
                    <a:pt x="2615" y="7304"/>
                    <a:pt x="3014" y="6344"/>
                    <a:pt x="3597" y="5499"/>
                  </a:cubicBezTo>
                  <a:cubicBezTo>
                    <a:pt x="3720" y="5317"/>
                    <a:pt x="3729" y="5079"/>
                    <a:pt x="3615" y="4889"/>
                  </a:cubicBezTo>
                  <a:lnTo>
                    <a:pt x="3171" y="4146"/>
                  </a:lnTo>
                  <a:lnTo>
                    <a:pt x="4146" y="3171"/>
                  </a:lnTo>
                  <a:lnTo>
                    <a:pt x="4889" y="3614"/>
                  </a:lnTo>
                  <a:cubicBezTo>
                    <a:pt x="4979" y="3669"/>
                    <a:pt x="5081" y="3696"/>
                    <a:pt x="5181" y="3696"/>
                  </a:cubicBezTo>
                  <a:cubicBezTo>
                    <a:pt x="5293" y="3696"/>
                    <a:pt x="5404" y="3663"/>
                    <a:pt x="5499" y="3596"/>
                  </a:cubicBezTo>
                  <a:cubicBezTo>
                    <a:pt x="6344" y="3014"/>
                    <a:pt x="7304" y="2618"/>
                    <a:pt x="8316" y="2434"/>
                  </a:cubicBezTo>
                  <a:cubicBezTo>
                    <a:pt x="8536" y="2392"/>
                    <a:pt x="8712" y="2226"/>
                    <a:pt x="8763" y="2008"/>
                  </a:cubicBezTo>
                  <a:lnTo>
                    <a:pt x="8974" y="1132"/>
                  </a:lnTo>
                  <a:close/>
                  <a:moveTo>
                    <a:pt x="8530" y="0"/>
                  </a:moveTo>
                  <a:cubicBezTo>
                    <a:pt x="8268" y="0"/>
                    <a:pt x="8041" y="178"/>
                    <a:pt x="7981" y="432"/>
                  </a:cubicBezTo>
                  <a:lnTo>
                    <a:pt x="7748" y="1392"/>
                  </a:lnTo>
                  <a:cubicBezTo>
                    <a:pt x="6833" y="1604"/>
                    <a:pt x="5961" y="1963"/>
                    <a:pt x="5167" y="2461"/>
                  </a:cubicBezTo>
                  <a:lnTo>
                    <a:pt x="4348" y="1969"/>
                  </a:lnTo>
                  <a:cubicBezTo>
                    <a:pt x="4260" y="1915"/>
                    <a:pt x="4160" y="1889"/>
                    <a:pt x="4061" y="1889"/>
                  </a:cubicBezTo>
                  <a:cubicBezTo>
                    <a:pt x="3913" y="1889"/>
                    <a:pt x="3767" y="1946"/>
                    <a:pt x="3657" y="2056"/>
                  </a:cubicBezTo>
                  <a:lnTo>
                    <a:pt x="2057" y="3657"/>
                  </a:lnTo>
                  <a:cubicBezTo>
                    <a:pt x="1872" y="3841"/>
                    <a:pt x="1839" y="4125"/>
                    <a:pt x="1972" y="4348"/>
                  </a:cubicBezTo>
                  <a:lnTo>
                    <a:pt x="2461" y="5163"/>
                  </a:lnTo>
                  <a:cubicBezTo>
                    <a:pt x="1963" y="5958"/>
                    <a:pt x="1604" y="6830"/>
                    <a:pt x="1395" y="7745"/>
                  </a:cubicBezTo>
                  <a:lnTo>
                    <a:pt x="435" y="7978"/>
                  </a:lnTo>
                  <a:cubicBezTo>
                    <a:pt x="179" y="8041"/>
                    <a:pt x="0" y="8267"/>
                    <a:pt x="0" y="8530"/>
                  </a:cubicBezTo>
                  <a:lnTo>
                    <a:pt x="0" y="10795"/>
                  </a:lnTo>
                  <a:cubicBezTo>
                    <a:pt x="0" y="11057"/>
                    <a:pt x="179" y="11284"/>
                    <a:pt x="432" y="11344"/>
                  </a:cubicBezTo>
                  <a:lnTo>
                    <a:pt x="1392" y="11580"/>
                  </a:lnTo>
                  <a:cubicBezTo>
                    <a:pt x="1604" y="12492"/>
                    <a:pt x="1963" y="13364"/>
                    <a:pt x="2461" y="14158"/>
                  </a:cubicBezTo>
                  <a:lnTo>
                    <a:pt x="1969" y="14977"/>
                  </a:lnTo>
                  <a:cubicBezTo>
                    <a:pt x="1836" y="15200"/>
                    <a:pt x="1872" y="15484"/>
                    <a:pt x="2057" y="15668"/>
                  </a:cubicBezTo>
                  <a:lnTo>
                    <a:pt x="3657" y="17268"/>
                  </a:lnTo>
                  <a:cubicBezTo>
                    <a:pt x="3766" y="17378"/>
                    <a:pt x="3911" y="17435"/>
                    <a:pt x="4057" y="17435"/>
                  </a:cubicBezTo>
                  <a:cubicBezTo>
                    <a:pt x="4157" y="17435"/>
                    <a:pt x="4258" y="17408"/>
                    <a:pt x="4348" y="17353"/>
                  </a:cubicBezTo>
                  <a:lnTo>
                    <a:pt x="5164" y="16864"/>
                  </a:lnTo>
                  <a:cubicBezTo>
                    <a:pt x="5958" y="17362"/>
                    <a:pt x="6830" y="17721"/>
                    <a:pt x="7745" y="17930"/>
                  </a:cubicBezTo>
                  <a:lnTo>
                    <a:pt x="7978" y="18890"/>
                  </a:lnTo>
                  <a:cubicBezTo>
                    <a:pt x="8041" y="19147"/>
                    <a:pt x="8268" y="19325"/>
                    <a:pt x="8530" y="19325"/>
                  </a:cubicBezTo>
                  <a:lnTo>
                    <a:pt x="10795" y="19325"/>
                  </a:lnTo>
                  <a:cubicBezTo>
                    <a:pt x="11058" y="19325"/>
                    <a:pt x="11284" y="19147"/>
                    <a:pt x="11344" y="18893"/>
                  </a:cubicBezTo>
                  <a:lnTo>
                    <a:pt x="11577" y="17933"/>
                  </a:lnTo>
                  <a:cubicBezTo>
                    <a:pt x="12492" y="17721"/>
                    <a:pt x="13364" y="17362"/>
                    <a:pt x="14159" y="16864"/>
                  </a:cubicBezTo>
                  <a:lnTo>
                    <a:pt x="14977" y="17356"/>
                  </a:lnTo>
                  <a:cubicBezTo>
                    <a:pt x="15066" y="17410"/>
                    <a:pt x="15166" y="17436"/>
                    <a:pt x="15266" y="17436"/>
                  </a:cubicBezTo>
                  <a:cubicBezTo>
                    <a:pt x="15413" y="17436"/>
                    <a:pt x="15559" y="17379"/>
                    <a:pt x="15668" y="17271"/>
                  </a:cubicBezTo>
                  <a:lnTo>
                    <a:pt x="17269" y="15668"/>
                  </a:lnTo>
                  <a:cubicBezTo>
                    <a:pt x="17453" y="15484"/>
                    <a:pt x="17489" y="15200"/>
                    <a:pt x="17353" y="14977"/>
                  </a:cubicBezTo>
                  <a:lnTo>
                    <a:pt x="16864" y="14161"/>
                  </a:lnTo>
                  <a:cubicBezTo>
                    <a:pt x="17362" y="13367"/>
                    <a:pt x="17722" y="12495"/>
                    <a:pt x="17930" y="11580"/>
                  </a:cubicBezTo>
                  <a:lnTo>
                    <a:pt x="18890" y="11347"/>
                  </a:lnTo>
                  <a:cubicBezTo>
                    <a:pt x="19147" y="11284"/>
                    <a:pt x="19325" y="11057"/>
                    <a:pt x="19325" y="10795"/>
                  </a:cubicBezTo>
                  <a:lnTo>
                    <a:pt x="19325" y="8530"/>
                  </a:lnTo>
                  <a:cubicBezTo>
                    <a:pt x="19325" y="8267"/>
                    <a:pt x="19147" y="8041"/>
                    <a:pt x="18893" y="7981"/>
                  </a:cubicBezTo>
                  <a:lnTo>
                    <a:pt x="17933" y="7748"/>
                  </a:lnTo>
                  <a:cubicBezTo>
                    <a:pt x="17722" y="6833"/>
                    <a:pt x="17362" y="5961"/>
                    <a:pt x="16864" y="5166"/>
                  </a:cubicBezTo>
                  <a:lnTo>
                    <a:pt x="17356" y="4348"/>
                  </a:lnTo>
                  <a:cubicBezTo>
                    <a:pt x="17489" y="4128"/>
                    <a:pt x="17453" y="3841"/>
                    <a:pt x="17272" y="3657"/>
                  </a:cubicBezTo>
                  <a:lnTo>
                    <a:pt x="15668" y="2056"/>
                  </a:lnTo>
                  <a:cubicBezTo>
                    <a:pt x="15559" y="1947"/>
                    <a:pt x="15415" y="1890"/>
                    <a:pt x="15268" y="1890"/>
                  </a:cubicBezTo>
                  <a:cubicBezTo>
                    <a:pt x="15168" y="1890"/>
                    <a:pt x="15068" y="1917"/>
                    <a:pt x="14977" y="1972"/>
                  </a:cubicBezTo>
                  <a:lnTo>
                    <a:pt x="14162" y="2461"/>
                  </a:lnTo>
                  <a:cubicBezTo>
                    <a:pt x="13367" y="1963"/>
                    <a:pt x="12495" y="1604"/>
                    <a:pt x="11580" y="1395"/>
                  </a:cubicBezTo>
                  <a:lnTo>
                    <a:pt x="11347" y="435"/>
                  </a:lnTo>
                  <a:cubicBezTo>
                    <a:pt x="11284" y="178"/>
                    <a:pt x="11058" y="0"/>
                    <a:pt x="10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2762000" y="918475"/>
              <a:ext cx="311400" cy="311400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6227" y="1133"/>
                  </a:moveTo>
                  <a:cubicBezTo>
                    <a:pt x="9038" y="1133"/>
                    <a:pt x="11323" y="3418"/>
                    <a:pt x="11323" y="6226"/>
                  </a:cubicBezTo>
                  <a:cubicBezTo>
                    <a:pt x="11323" y="9038"/>
                    <a:pt x="9038" y="11323"/>
                    <a:pt x="6227" y="11323"/>
                  </a:cubicBezTo>
                  <a:cubicBezTo>
                    <a:pt x="3419" y="11323"/>
                    <a:pt x="1133" y="9038"/>
                    <a:pt x="1133" y="6226"/>
                  </a:cubicBezTo>
                  <a:cubicBezTo>
                    <a:pt x="1133" y="3418"/>
                    <a:pt x="3419" y="1133"/>
                    <a:pt x="6227" y="1133"/>
                  </a:cubicBezTo>
                  <a:close/>
                  <a:moveTo>
                    <a:pt x="6227" y="0"/>
                  </a:moveTo>
                  <a:cubicBezTo>
                    <a:pt x="2794" y="0"/>
                    <a:pt x="1" y="2793"/>
                    <a:pt x="1" y="6226"/>
                  </a:cubicBezTo>
                  <a:cubicBezTo>
                    <a:pt x="1" y="9663"/>
                    <a:pt x="2794" y="12456"/>
                    <a:pt x="6227" y="12456"/>
                  </a:cubicBezTo>
                  <a:cubicBezTo>
                    <a:pt x="9663" y="12456"/>
                    <a:pt x="12456" y="9663"/>
                    <a:pt x="12456" y="6226"/>
                  </a:cubicBezTo>
                  <a:cubicBezTo>
                    <a:pt x="12456" y="2793"/>
                    <a:pt x="9663" y="0"/>
                    <a:pt x="6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2810775" y="975075"/>
              <a:ext cx="206025" cy="198150"/>
            </a:xfrm>
            <a:custGeom>
              <a:avLst/>
              <a:gdLst/>
              <a:ahLst/>
              <a:cxnLst/>
              <a:rect l="l" t="t" r="r" b="b"/>
              <a:pathLst>
                <a:path w="8241" h="7926" extrusionOk="0">
                  <a:moveTo>
                    <a:pt x="4275" y="1132"/>
                  </a:moveTo>
                  <a:cubicBezTo>
                    <a:pt x="4640" y="1132"/>
                    <a:pt x="5009" y="1203"/>
                    <a:pt x="5360" y="1348"/>
                  </a:cubicBezTo>
                  <a:cubicBezTo>
                    <a:pt x="6416" y="1785"/>
                    <a:pt x="7108" y="2818"/>
                    <a:pt x="7108" y="3962"/>
                  </a:cubicBezTo>
                  <a:cubicBezTo>
                    <a:pt x="7105" y="5527"/>
                    <a:pt x="5840" y="6792"/>
                    <a:pt x="4276" y="6795"/>
                  </a:cubicBezTo>
                  <a:cubicBezTo>
                    <a:pt x="3131" y="6795"/>
                    <a:pt x="2099" y="6103"/>
                    <a:pt x="1661" y="5046"/>
                  </a:cubicBezTo>
                  <a:cubicBezTo>
                    <a:pt x="1223" y="3987"/>
                    <a:pt x="1465" y="2770"/>
                    <a:pt x="2274" y="1961"/>
                  </a:cubicBezTo>
                  <a:cubicBezTo>
                    <a:pt x="2815" y="1419"/>
                    <a:pt x="3538" y="1132"/>
                    <a:pt x="4275" y="1132"/>
                  </a:cubicBezTo>
                  <a:close/>
                  <a:moveTo>
                    <a:pt x="4276" y="1"/>
                  </a:moveTo>
                  <a:cubicBezTo>
                    <a:pt x="2672" y="1"/>
                    <a:pt x="1229" y="964"/>
                    <a:pt x="613" y="2447"/>
                  </a:cubicBezTo>
                  <a:cubicBezTo>
                    <a:pt x="0" y="3926"/>
                    <a:pt x="341" y="5632"/>
                    <a:pt x="1474" y="6764"/>
                  </a:cubicBezTo>
                  <a:cubicBezTo>
                    <a:pt x="2232" y="7523"/>
                    <a:pt x="3247" y="7926"/>
                    <a:pt x="4279" y="7926"/>
                  </a:cubicBezTo>
                  <a:cubicBezTo>
                    <a:pt x="4789" y="7926"/>
                    <a:pt x="5302" y="7828"/>
                    <a:pt x="5791" y="7625"/>
                  </a:cubicBezTo>
                  <a:cubicBezTo>
                    <a:pt x="7274" y="7009"/>
                    <a:pt x="8240" y="5566"/>
                    <a:pt x="8240" y="3962"/>
                  </a:cubicBezTo>
                  <a:cubicBezTo>
                    <a:pt x="8237" y="1773"/>
                    <a:pt x="6465" y="1"/>
                    <a:pt x="4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52" name="Google Shape;1052;p48"/>
          <p:cNvGrpSpPr/>
          <p:nvPr/>
        </p:nvGrpSpPr>
        <p:grpSpPr>
          <a:xfrm>
            <a:off x="2401453" y="1562360"/>
            <a:ext cx="239183" cy="340186"/>
            <a:chOff x="3342275" y="2615925"/>
            <a:chExt cx="339700" cy="483150"/>
          </a:xfrm>
        </p:grpSpPr>
        <p:sp>
          <p:nvSpPr>
            <p:cNvPr id="1053" name="Google Shape;1053;p48"/>
            <p:cNvSpPr/>
            <p:nvPr/>
          </p:nvSpPr>
          <p:spPr>
            <a:xfrm>
              <a:off x="3342275" y="2615925"/>
              <a:ext cx="339700" cy="483150"/>
            </a:xfrm>
            <a:custGeom>
              <a:avLst/>
              <a:gdLst/>
              <a:ahLst/>
              <a:cxnLst/>
              <a:rect l="l" t="t" r="r" b="b"/>
              <a:pathLst>
                <a:path w="13588" h="19326" extrusionOk="0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3461600" y="3030200"/>
              <a:ext cx="101025" cy="28325"/>
            </a:xfrm>
            <a:custGeom>
              <a:avLst/>
              <a:gdLst/>
              <a:ahLst/>
              <a:cxnLst/>
              <a:rect l="l" t="t" r="r" b="b"/>
              <a:pathLst>
                <a:path w="4041" h="1133" extrusionOk="0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55" name="Google Shape;1055;p48"/>
          <p:cNvSpPr/>
          <p:nvPr/>
        </p:nvSpPr>
        <p:spPr>
          <a:xfrm>
            <a:off x="6452864" y="3271985"/>
            <a:ext cx="340186" cy="318922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57926-0FFB-64FD-7190-E3450D5935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26A9A6-95B0-EB75-1E33-D25F0E8F3A1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13458EA-3E25-32C7-6344-EC0B21CA1451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C527EDA9-F9C4-726D-3C62-76B1C2C1EF23}"/>
              </a:ext>
            </a:extLst>
          </p:cNvPr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Google Shape;703;p38">
            <a:extLst>
              <a:ext uri="{FF2B5EF4-FFF2-40B4-BE49-F238E27FC236}">
                <a16:creationId xmlns:a16="http://schemas.microsoft.com/office/drawing/2014/main" id="{A7F74B7C-2C8C-1D8A-53D7-F3CDDD96EA7D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59"/>
          <p:cNvSpPr txBox="1">
            <a:spLocks noGrp="1"/>
          </p:cNvSpPr>
          <p:nvPr>
            <p:ph type="title"/>
          </p:nvPr>
        </p:nvSpPr>
        <p:spPr>
          <a:xfrm>
            <a:off x="1311963" y="2361963"/>
            <a:ext cx="651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Principe de fonctionnement</a:t>
            </a:r>
          </a:p>
        </p:txBody>
      </p:sp>
      <p:sp>
        <p:nvSpPr>
          <p:cNvPr id="1526" name="Google Shape;1526;p59"/>
          <p:cNvSpPr txBox="1">
            <a:spLocks noGrp="1"/>
          </p:cNvSpPr>
          <p:nvPr>
            <p:ph type="subTitle" idx="1"/>
          </p:nvPr>
        </p:nvSpPr>
        <p:spPr>
          <a:xfrm>
            <a:off x="1312121" y="3590288"/>
            <a:ext cx="65199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Comment fonctionne concrètement l’algorithme K-</a:t>
            </a:r>
            <a:r>
              <a:rPr lang="fr-FR" dirty="0" err="1"/>
              <a:t>Means</a:t>
            </a:r>
            <a:r>
              <a:rPr lang="fr-FR" dirty="0"/>
              <a:t> ?</a:t>
            </a:r>
          </a:p>
        </p:txBody>
      </p:sp>
      <p:sp>
        <p:nvSpPr>
          <p:cNvPr id="1527" name="Google Shape;1527;p59"/>
          <p:cNvSpPr txBox="1">
            <a:spLocks noGrp="1"/>
          </p:cNvSpPr>
          <p:nvPr>
            <p:ph type="title" idx="2"/>
          </p:nvPr>
        </p:nvSpPr>
        <p:spPr>
          <a:xfrm>
            <a:off x="2996625" y="124360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528" name="Google Shape;1528;p59"/>
          <p:cNvGrpSpPr/>
          <p:nvPr/>
        </p:nvGrpSpPr>
        <p:grpSpPr>
          <a:xfrm>
            <a:off x="6080510" y="3981311"/>
            <a:ext cx="564698" cy="627192"/>
            <a:chOff x="2877151" y="3108530"/>
            <a:chExt cx="665290" cy="738916"/>
          </a:xfrm>
        </p:grpSpPr>
        <p:sp>
          <p:nvSpPr>
            <p:cNvPr id="1529" name="Google Shape;1529;p59"/>
            <p:cNvSpPr/>
            <p:nvPr/>
          </p:nvSpPr>
          <p:spPr>
            <a:xfrm>
              <a:off x="2877151" y="3108530"/>
              <a:ext cx="665290" cy="736489"/>
            </a:xfrm>
            <a:custGeom>
              <a:avLst/>
              <a:gdLst/>
              <a:ahLst/>
              <a:cxnLst/>
              <a:rect l="l" t="t" r="r" b="b"/>
              <a:pathLst>
                <a:path w="18081" h="20016" extrusionOk="0">
                  <a:moveTo>
                    <a:pt x="3070" y="1"/>
                  </a:moveTo>
                  <a:lnTo>
                    <a:pt x="3070" y="1002"/>
                  </a:lnTo>
                  <a:lnTo>
                    <a:pt x="2002" y="1002"/>
                  </a:lnTo>
                  <a:lnTo>
                    <a:pt x="2002" y="2002"/>
                  </a:lnTo>
                  <a:lnTo>
                    <a:pt x="2002" y="3003"/>
                  </a:lnTo>
                  <a:lnTo>
                    <a:pt x="2002" y="4004"/>
                  </a:lnTo>
                  <a:lnTo>
                    <a:pt x="3003" y="4004"/>
                  </a:lnTo>
                  <a:lnTo>
                    <a:pt x="3003" y="5004"/>
                  </a:lnTo>
                  <a:lnTo>
                    <a:pt x="3003" y="6005"/>
                  </a:lnTo>
                  <a:lnTo>
                    <a:pt x="3003" y="7006"/>
                  </a:lnTo>
                  <a:lnTo>
                    <a:pt x="4004" y="7006"/>
                  </a:lnTo>
                  <a:lnTo>
                    <a:pt x="4004" y="8007"/>
                  </a:lnTo>
                  <a:lnTo>
                    <a:pt x="4004" y="9007"/>
                  </a:lnTo>
                  <a:lnTo>
                    <a:pt x="3003" y="9007"/>
                  </a:lnTo>
                  <a:lnTo>
                    <a:pt x="3003" y="8007"/>
                  </a:lnTo>
                  <a:lnTo>
                    <a:pt x="1" y="8007"/>
                  </a:lnTo>
                  <a:lnTo>
                    <a:pt x="1" y="9007"/>
                  </a:lnTo>
                  <a:lnTo>
                    <a:pt x="1" y="11009"/>
                  </a:lnTo>
                  <a:lnTo>
                    <a:pt x="1001" y="11009"/>
                  </a:lnTo>
                  <a:lnTo>
                    <a:pt x="1001" y="12009"/>
                  </a:lnTo>
                  <a:lnTo>
                    <a:pt x="2002" y="12009"/>
                  </a:lnTo>
                  <a:lnTo>
                    <a:pt x="2002" y="14011"/>
                  </a:lnTo>
                  <a:lnTo>
                    <a:pt x="3003" y="14011"/>
                  </a:lnTo>
                  <a:lnTo>
                    <a:pt x="3003" y="16012"/>
                  </a:lnTo>
                  <a:lnTo>
                    <a:pt x="4004" y="16012"/>
                  </a:lnTo>
                  <a:lnTo>
                    <a:pt x="4004" y="18014"/>
                  </a:lnTo>
                  <a:lnTo>
                    <a:pt x="5004" y="18014"/>
                  </a:lnTo>
                  <a:lnTo>
                    <a:pt x="5004" y="19014"/>
                  </a:lnTo>
                  <a:lnTo>
                    <a:pt x="5004" y="20015"/>
                  </a:lnTo>
                  <a:lnTo>
                    <a:pt x="15078" y="20015"/>
                  </a:lnTo>
                  <a:lnTo>
                    <a:pt x="15078" y="18014"/>
                  </a:lnTo>
                  <a:lnTo>
                    <a:pt x="16079" y="18014"/>
                  </a:lnTo>
                  <a:lnTo>
                    <a:pt x="16079" y="16012"/>
                  </a:lnTo>
                  <a:lnTo>
                    <a:pt x="17080" y="16012"/>
                  </a:lnTo>
                  <a:lnTo>
                    <a:pt x="17080" y="9941"/>
                  </a:lnTo>
                  <a:lnTo>
                    <a:pt x="18080" y="9941"/>
                  </a:lnTo>
                  <a:lnTo>
                    <a:pt x="18080" y="9041"/>
                  </a:lnTo>
                  <a:lnTo>
                    <a:pt x="18080" y="8040"/>
                  </a:lnTo>
                  <a:lnTo>
                    <a:pt x="18080" y="7039"/>
                  </a:lnTo>
                  <a:lnTo>
                    <a:pt x="18080" y="6039"/>
                  </a:lnTo>
                  <a:lnTo>
                    <a:pt x="18080" y="5038"/>
                  </a:lnTo>
                  <a:lnTo>
                    <a:pt x="18080" y="4037"/>
                  </a:lnTo>
                  <a:lnTo>
                    <a:pt x="18080" y="3036"/>
                  </a:lnTo>
                  <a:lnTo>
                    <a:pt x="17080" y="3036"/>
                  </a:lnTo>
                  <a:lnTo>
                    <a:pt x="17080" y="3003"/>
                  </a:lnTo>
                  <a:lnTo>
                    <a:pt x="17080" y="2002"/>
                  </a:lnTo>
                  <a:lnTo>
                    <a:pt x="14077" y="2002"/>
                  </a:lnTo>
                  <a:lnTo>
                    <a:pt x="14077" y="1002"/>
                  </a:lnTo>
                  <a:lnTo>
                    <a:pt x="11075" y="1002"/>
                  </a:lnTo>
                  <a:lnTo>
                    <a:pt x="11075" y="1"/>
                  </a:lnTo>
                  <a:lnTo>
                    <a:pt x="9074" y="1"/>
                  </a:lnTo>
                  <a:lnTo>
                    <a:pt x="9074" y="1002"/>
                  </a:lnTo>
                  <a:lnTo>
                    <a:pt x="8073" y="1002"/>
                  </a:lnTo>
                  <a:lnTo>
                    <a:pt x="8073" y="2002"/>
                  </a:lnTo>
                  <a:lnTo>
                    <a:pt x="8073" y="3003"/>
                  </a:lnTo>
                  <a:lnTo>
                    <a:pt x="8073" y="4004"/>
                  </a:lnTo>
                  <a:lnTo>
                    <a:pt x="8073" y="5004"/>
                  </a:lnTo>
                  <a:lnTo>
                    <a:pt x="8073" y="6005"/>
                  </a:lnTo>
                  <a:lnTo>
                    <a:pt x="8073" y="7006"/>
                  </a:lnTo>
                  <a:lnTo>
                    <a:pt x="7072" y="7006"/>
                  </a:lnTo>
                  <a:lnTo>
                    <a:pt x="7072" y="6005"/>
                  </a:lnTo>
                  <a:lnTo>
                    <a:pt x="7072" y="5004"/>
                  </a:lnTo>
                  <a:lnTo>
                    <a:pt x="7072" y="4004"/>
                  </a:lnTo>
                  <a:lnTo>
                    <a:pt x="6072" y="4004"/>
                  </a:lnTo>
                  <a:lnTo>
                    <a:pt x="6072" y="3003"/>
                  </a:lnTo>
                  <a:lnTo>
                    <a:pt x="6072" y="2002"/>
                  </a:lnTo>
                  <a:lnTo>
                    <a:pt x="6072" y="1002"/>
                  </a:lnTo>
                  <a:lnTo>
                    <a:pt x="5071" y="1002"/>
                  </a:lnTo>
                  <a:lnTo>
                    <a:pt x="50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59"/>
            <p:cNvSpPr/>
            <p:nvPr/>
          </p:nvSpPr>
          <p:spPr>
            <a:xfrm>
              <a:off x="2986396" y="3108530"/>
              <a:ext cx="73664" cy="36869"/>
            </a:xfrm>
            <a:custGeom>
              <a:avLst/>
              <a:gdLst/>
              <a:ahLst/>
              <a:cxnLst/>
              <a:rect l="l" t="t" r="r" b="b"/>
              <a:pathLst>
                <a:path w="2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59"/>
            <p:cNvSpPr/>
            <p:nvPr/>
          </p:nvSpPr>
          <p:spPr>
            <a:xfrm>
              <a:off x="3209778" y="3108530"/>
              <a:ext cx="73664" cy="36869"/>
            </a:xfrm>
            <a:custGeom>
              <a:avLst/>
              <a:gdLst/>
              <a:ahLst/>
              <a:cxnLst/>
              <a:rect l="l" t="t" r="r" b="b"/>
              <a:pathLst>
                <a:path w="2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2002" y="1002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59"/>
            <p:cNvSpPr/>
            <p:nvPr/>
          </p:nvSpPr>
          <p:spPr>
            <a:xfrm>
              <a:off x="3283405" y="3145361"/>
              <a:ext cx="111746" cy="295832"/>
            </a:xfrm>
            <a:custGeom>
              <a:avLst/>
              <a:gdLst/>
              <a:ahLst/>
              <a:cxnLst/>
              <a:rect l="l" t="t" r="r" b="b"/>
              <a:pathLst>
                <a:path w="3037" h="8040" extrusionOk="0">
                  <a:moveTo>
                    <a:pt x="1" y="1"/>
                  </a:moveTo>
                  <a:lnTo>
                    <a:pt x="1" y="1001"/>
                  </a:lnTo>
                  <a:lnTo>
                    <a:pt x="1" y="4037"/>
                  </a:lnTo>
                  <a:lnTo>
                    <a:pt x="1" y="5038"/>
                  </a:lnTo>
                  <a:lnTo>
                    <a:pt x="1" y="8040"/>
                  </a:lnTo>
                  <a:lnTo>
                    <a:pt x="1002" y="8040"/>
                  </a:lnTo>
                  <a:lnTo>
                    <a:pt x="1002" y="5038"/>
                  </a:lnTo>
                  <a:lnTo>
                    <a:pt x="1002" y="4037"/>
                  </a:lnTo>
                  <a:lnTo>
                    <a:pt x="1002" y="1001"/>
                  </a:lnTo>
                  <a:lnTo>
                    <a:pt x="3036" y="1001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59"/>
            <p:cNvSpPr/>
            <p:nvPr/>
          </p:nvSpPr>
          <p:spPr>
            <a:xfrm>
              <a:off x="3395114" y="3182193"/>
              <a:ext cx="110495" cy="259000"/>
            </a:xfrm>
            <a:custGeom>
              <a:avLst/>
              <a:gdLst/>
              <a:ahLst/>
              <a:cxnLst/>
              <a:rect l="l" t="t" r="r" b="b"/>
              <a:pathLst>
                <a:path w="3003" h="7039" extrusionOk="0">
                  <a:moveTo>
                    <a:pt x="0" y="0"/>
                  </a:moveTo>
                  <a:lnTo>
                    <a:pt x="0" y="1001"/>
                  </a:lnTo>
                  <a:lnTo>
                    <a:pt x="0" y="3803"/>
                  </a:lnTo>
                  <a:lnTo>
                    <a:pt x="0" y="4037"/>
                  </a:lnTo>
                  <a:lnTo>
                    <a:pt x="0" y="5037"/>
                  </a:lnTo>
                  <a:lnTo>
                    <a:pt x="0" y="6038"/>
                  </a:lnTo>
                  <a:lnTo>
                    <a:pt x="0" y="7039"/>
                  </a:lnTo>
                  <a:lnTo>
                    <a:pt x="1001" y="7039"/>
                  </a:lnTo>
                  <a:lnTo>
                    <a:pt x="1001" y="6038"/>
                  </a:lnTo>
                  <a:lnTo>
                    <a:pt x="1001" y="5037"/>
                  </a:lnTo>
                  <a:lnTo>
                    <a:pt x="1001" y="4037"/>
                  </a:lnTo>
                  <a:lnTo>
                    <a:pt x="1001" y="3803"/>
                  </a:lnTo>
                  <a:lnTo>
                    <a:pt x="1001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59"/>
            <p:cNvSpPr/>
            <p:nvPr/>
          </p:nvSpPr>
          <p:spPr>
            <a:xfrm>
              <a:off x="3505573" y="3219025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35"/>
                  </a:lnTo>
                  <a:lnTo>
                    <a:pt x="1" y="3036"/>
                  </a:lnTo>
                  <a:lnTo>
                    <a:pt x="1" y="4036"/>
                  </a:lnTo>
                  <a:lnTo>
                    <a:pt x="1" y="5037"/>
                  </a:lnTo>
                  <a:lnTo>
                    <a:pt x="1" y="6038"/>
                  </a:lnTo>
                  <a:lnTo>
                    <a:pt x="1" y="7038"/>
                  </a:lnTo>
                  <a:lnTo>
                    <a:pt x="1001" y="7038"/>
                  </a:lnTo>
                  <a:lnTo>
                    <a:pt x="1001" y="6038"/>
                  </a:lnTo>
                  <a:lnTo>
                    <a:pt x="1001" y="5037"/>
                  </a:lnTo>
                  <a:lnTo>
                    <a:pt x="1001" y="4036"/>
                  </a:lnTo>
                  <a:lnTo>
                    <a:pt x="1001" y="3036"/>
                  </a:lnTo>
                  <a:lnTo>
                    <a:pt x="1001" y="2035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9"/>
            <p:cNvSpPr/>
            <p:nvPr/>
          </p:nvSpPr>
          <p:spPr>
            <a:xfrm>
              <a:off x="3024442" y="3477987"/>
              <a:ext cx="481168" cy="369459"/>
            </a:xfrm>
            <a:custGeom>
              <a:avLst/>
              <a:gdLst/>
              <a:ahLst/>
              <a:cxnLst/>
              <a:rect l="l" t="t" r="r" b="b"/>
              <a:pathLst>
                <a:path w="13077" h="10041" extrusionOk="0">
                  <a:moveTo>
                    <a:pt x="12076" y="0"/>
                  </a:moveTo>
                  <a:lnTo>
                    <a:pt x="12076" y="5037"/>
                  </a:lnTo>
                  <a:lnTo>
                    <a:pt x="11075" y="5037"/>
                  </a:lnTo>
                  <a:lnTo>
                    <a:pt x="11075" y="7039"/>
                  </a:lnTo>
                  <a:lnTo>
                    <a:pt x="10074" y="7039"/>
                  </a:lnTo>
                  <a:lnTo>
                    <a:pt x="10074" y="9040"/>
                  </a:lnTo>
                  <a:lnTo>
                    <a:pt x="2035" y="9040"/>
                  </a:lnTo>
                  <a:lnTo>
                    <a:pt x="2035" y="7039"/>
                  </a:lnTo>
                  <a:lnTo>
                    <a:pt x="1035" y="7039"/>
                  </a:lnTo>
                  <a:lnTo>
                    <a:pt x="1035" y="6038"/>
                  </a:lnTo>
                  <a:lnTo>
                    <a:pt x="1" y="6038"/>
                  </a:lnTo>
                  <a:lnTo>
                    <a:pt x="1" y="8039"/>
                  </a:lnTo>
                  <a:lnTo>
                    <a:pt x="1035" y="8039"/>
                  </a:lnTo>
                  <a:lnTo>
                    <a:pt x="1035" y="9040"/>
                  </a:lnTo>
                  <a:lnTo>
                    <a:pt x="1035" y="10041"/>
                  </a:lnTo>
                  <a:lnTo>
                    <a:pt x="11075" y="10041"/>
                  </a:lnTo>
                  <a:lnTo>
                    <a:pt x="11075" y="8039"/>
                  </a:lnTo>
                  <a:lnTo>
                    <a:pt x="12076" y="8039"/>
                  </a:lnTo>
                  <a:lnTo>
                    <a:pt x="12076" y="6038"/>
                  </a:lnTo>
                  <a:lnTo>
                    <a:pt x="13077" y="6038"/>
                  </a:lnTo>
                  <a:lnTo>
                    <a:pt x="130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9"/>
            <p:cNvSpPr/>
            <p:nvPr/>
          </p:nvSpPr>
          <p:spPr>
            <a:xfrm>
              <a:off x="2987610" y="3367529"/>
              <a:ext cx="74915" cy="184122"/>
            </a:xfrm>
            <a:custGeom>
              <a:avLst/>
              <a:gdLst/>
              <a:ahLst/>
              <a:cxnLst/>
              <a:rect l="l" t="t" r="r" b="b"/>
              <a:pathLst>
                <a:path w="2036" h="5004" extrusionOk="0">
                  <a:moveTo>
                    <a:pt x="1002" y="0"/>
                  </a:moveTo>
                  <a:lnTo>
                    <a:pt x="1002" y="1001"/>
                  </a:lnTo>
                  <a:lnTo>
                    <a:pt x="1002" y="2002"/>
                  </a:lnTo>
                  <a:lnTo>
                    <a:pt x="1" y="2002"/>
                  </a:lnTo>
                  <a:lnTo>
                    <a:pt x="1" y="3002"/>
                  </a:lnTo>
                  <a:lnTo>
                    <a:pt x="1002" y="3002"/>
                  </a:lnTo>
                  <a:lnTo>
                    <a:pt x="1002" y="4003"/>
                  </a:lnTo>
                  <a:lnTo>
                    <a:pt x="1002" y="5004"/>
                  </a:lnTo>
                  <a:lnTo>
                    <a:pt x="2036" y="5004"/>
                  </a:lnTo>
                  <a:lnTo>
                    <a:pt x="2036" y="4003"/>
                  </a:lnTo>
                  <a:lnTo>
                    <a:pt x="2036" y="3002"/>
                  </a:lnTo>
                  <a:lnTo>
                    <a:pt x="2036" y="2002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9"/>
            <p:cNvSpPr/>
            <p:nvPr/>
          </p:nvSpPr>
          <p:spPr>
            <a:xfrm>
              <a:off x="2987610" y="3255820"/>
              <a:ext cx="36869" cy="111746"/>
            </a:xfrm>
            <a:custGeom>
              <a:avLst/>
              <a:gdLst/>
              <a:ahLst/>
              <a:cxnLst/>
              <a:rect l="l" t="t" r="r" b="b"/>
              <a:pathLst>
                <a:path w="1002" h="3037" extrusionOk="0">
                  <a:moveTo>
                    <a:pt x="1" y="1"/>
                  </a:moveTo>
                  <a:lnTo>
                    <a:pt x="1" y="1035"/>
                  </a:lnTo>
                  <a:lnTo>
                    <a:pt x="1" y="2036"/>
                  </a:lnTo>
                  <a:lnTo>
                    <a:pt x="1" y="3036"/>
                  </a:lnTo>
                  <a:lnTo>
                    <a:pt x="1002" y="3036"/>
                  </a:lnTo>
                  <a:lnTo>
                    <a:pt x="1002" y="2036"/>
                  </a:lnTo>
                  <a:lnTo>
                    <a:pt x="1002" y="1035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9"/>
            <p:cNvSpPr/>
            <p:nvPr/>
          </p:nvSpPr>
          <p:spPr>
            <a:xfrm>
              <a:off x="2950815" y="3145361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3"/>
                  </a:lnTo>
                  <a:lnTo>
                    <a:pt x="1001" y="3003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9"/>
            <p:cNvSpPr/>
            <p:nvPr/>
          </p:nvSpPr>
          <p:spPr>
            <a:xfrm>
              <a:off x="3136151" y="3367529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9"/>
            <p:cNvSpPr/>
            <p:nvPr/>
          </p:nvSpPr>
          <p:spPr>
            <a:xfrm>
              <a:off x="3099320" y="3255820"/>
              <a:ext cx="36869" cy="111746"/>
            </a:xfrm>
            <a:custGeom>
              <a:avLst/>
              <a:gdLst/>
              <a:ahLst/>
              <a:cxnLst/>
              <a:rect l="l" t="t" r="r" b="b"/>
              <a:pathLst>
                <a:path w="1002" h="3037" extrusionOk="0">
                  <a:moveTo>
                    <a:pt x="0" y="1"/>
                  </a:moveTo>
                  <a:lnTo>
                    <a:pt x="0" y="1035"/>
                  </a:lnTo>
                  <a:lnTo>
                    <a:pt x="0" y="2036"/>
                  </a:lnTo>
                  <a:lnTo>
                    <a:pt x="0" y="3036"/>
                  </a:lnTo>
                  <a:lnTo>
                    <a:pt x="1001" y="3036"/>
                  </a:lnTo>
                  <a:lnTo>
                    <a:pt x="1001" y="2036"/>
                  </a:lnTo>
                  <a:lnTo>
                    <a:pt x="1001" y="103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9"/>
            <p:cNvSpPr/>
            <p:nvPr/>
          </p:nvSpPr>
          <p:spPr>
            <a:xfrm>
              <a:off x="3062488" y="3145361"/>
              <a:ext cx="36869" cy="110495"/>
            </a:xfrm>
            <a:custGeom>
              <a:avLst/>
              <a:gdLst/>
              <a:ahLst/>
              <a:cxnLst/>
              <a:rect l="l" t="t" r="r" b="b"/>
              <a:pathLst>
                <a:path w="1002" h="3003" extrusionOk="0">
                  <a:moveTo>
                    <a:pt x="1" y="1"/>
                  </a:moveTo>
                  <a:lnTo>
                    <a:pt x="1" y="1001"/>
                  </a:lnTo>
                  <a:lnTo>
                    <a:pt x="1" y="2002"/>
                  </a:lnTo>
                  <a:lnTo>
                    <a:pt x="1" y="3003"/>
                  </a:lnTo>
                  <a:lnTo>
                    <a:pt x="1001" y="3003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9"/>
            <p:cNvSpPr/>
            <p:nvPr/>
          </p:nvSpPr>
          <p:spPr>
            <a:xfrm>
              <a:off x="3172946" y="3145361"/>
              <a:ext cx="36869" cy="222205"/>
            </a:xfrm>
            <a:custGeom>
              <a:avLst/>
              <a:gdLst/>
              <a:ahLst/>
              <a:cxnLst/>
              <a:rect l="l" t="t" r="r" b="b"/>
              <a:pathLst>
                <a:path w="1002" h="6039" extrusionOk="0">
                  <a:moveTo>
                    <a:pt x="1" y="1"/>
                  </a:moveTo>
                  <a:lnTo>
                    <a:pt x="1" y="1001"/>
                  </a:lnTo>
                  <a:lnTo>
                    <a:pt x="1" y="2002"/>
                  </a:lnTo>
                  <a:lnTo>
                    <a:pt x="1" y="3003"/>
                  </a:lnTo>
                  <a:lnTo>
                    <a:pt x="1" y="4037"/>
                  </a:lnTo>
                  <a:lnTo>
                    <a:pt x="1" y="5038"/>
                  </a:lnTo>
                  <a:lnTo>
                    <a:pt x="1" y="6038"/>
                  </a:lnTo>
                  <a:lnTo>
                    <a:pt x="1001" y="6038"/>
                  </a:lnTo>
                  <a:lnTo>
                    <a:pt x="1001" y="5038"/>
                  </a:lnTo>
                  <a:lnTo>
                    <a:pt x="1001" y="4037"/>
                  </a:lnTo>
                  <a:lnTo>
                    <a:pt x="1001" y="3003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9"/>
            <p:cNvSpPr/>
            <p:nvPr/>
          </p:nvSpPr>
          <p:spPr>
            <a:xfrm>
              <a:off x="2877151" y="3404324"/>
              <a:ext cx="110495" cy="110532"/>
            </a:xfrm>
            <a:custGeom>
              <a:avLst/>
              <a:gdLst/>
              <a:ahLst/>
              <a:cxnLst/>
              <a:rect l="l" t="t" r="r" b="b"/>
              <a:pathLst>
                <a:path w="3003" h="3004" extrusionOk="0">
                  <a:moveTo>
                    <a:pt x="1" y="1"/>
                  </a:moveTo>
                  <a:lnTo>
                    <a:pt x="1" y="1002"/>
                  </a:lnTo>
                  <a:lnTo>
                    <a:pt x="1" y="3003"/>
                  </a:lnTo>
                  <a:lnTo>
                    <a:pt x="1001" y="3003"/>
                  </a:lnTo>
                  <a:lnTo>
                    <a:pt x="1001" y="1002"/>
                  </a:lnTo>
                  <a:lnTo>
                    <a:pt x="3003" y="1002"/>
                  </a:lnTo>
                  <a:lnTo>
                    <a:pt x="3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9"/>
            <p:cNvSpPr/>
            <p:nvPr/>
          </p:nvSpPr>
          <p:spPr>
            <a:xfrm>
              <a:off x="2912769" y="351481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9"/>
            <p:cNvSpPr/>
            <p:nvPr/>
          </p:nvSpPr>
          <p:spPr>
            <a:xfrm>
              <a:off x="2950815" y="3551614"/>
              <a:ext cx="36832" cy="73700"/>
            </a:xfrm>
            <a:custGeom>
              <a:avLst/>
              <a:gdLst/>
              <a:ahLst/>
              <a:cxnLst/>
              <a:rect l="l" t="t" r="r" b="b"/>
              <a:pathLst>
                <a:path w="100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9"/>
            <p:cNvSpPr/>
            <p:nvPr/>
          </p:nvSpPr>
          <p:spPr>
            <a:xfrm>
              <a:off x="2986396" y="3626492"/>
              <a:ext cx="36869" cy="73700"/>
            </a:xfrm>
            <a:custGeom>
              <a:avLst/>
              <a:gdLst/>
              <a:ahLst/>
              <a:cxnLst/>
              <a:rect l="l" t="t" r="r" b="b"/>
              <a:pathLst>
                <a:path w="1002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001" y="2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A35D4F0B-2B00-DEF8-61DD-3613209FF9B6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11/28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Etapes du clustring K-Means</a:t>
            </a:r>
            <a:endParaRPr dirty="0"/>
          </a:p>
        </p:txBody>
      </p:sp>
      <p:sp>
        <p:nvSpPr>
          <p:cNvPr id="1097" name="Google Shape;1097;p50"/>
          <p:cNvSpPr txBox="1"/>
          <p:nvPr/>
        </p:nvSpPr>
        <p:spPr>
          <a:xfrm>
            <a:off x="674693" y="3968803"/>
            <a:ext cx="2486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Iteration</a:t>
            </a:r>
            <a:endParaRPr sz="2400" dirty="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  <p:sp>
        <p:nvSpPr>
          <p:cNvPr id="1099" name="Google Shape;1099;p50"/>
          <p:cNvSpPr txBox="1"/>
          <p:nvPr/>
        </p:nvSpPr>
        <p:spPr>
          <a:xfrm>
            <a:off x="247463" y="4486427"/>
            <a:ext cx="3797411" cy="322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Répétez jusqu'à ce que les centroïdes ne changent plus</a:t>
            </a:r>
            <a:endParaRPr sz="1200" dirty="0">
              <a:solidFill>
                <a:schemeClr val="dk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1100" name="Google Shape;1100;p50"/>
          <p:cNvSpPr txBox="1"/>
          <p:nvPr/>
        </p:nvSpPr>
        <p:spPr>
          <a:xfrm>
            <a:off x="577933" y="1146920"/>
            <a:ext cx="278764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Choix du K</a:t>
            </a:r>
            <a:endParaRPr sz="2400" dirty="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  <p:sp>
        <p:nvSpPr>
          <p:cNvPr id="1101" name="Google Shape;1101;p50"/>
          <p:cNvSpPr txBox="1"/>
          <p:nvPr/>
        </p:nvSpPr>
        <p:spPr>
          <a:xfrm>
            <a:off x="5231403" y="1146920"/>
            <a:ext cx="37082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fr-FR" sz="2400" dirty="0"/>
              <a:t>Sélectionner k centroïdes</a:t>
            </a:r>
            <a:endParaRPr sz="2400" dirty="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  <p:sp>
        <p:nvSpPr>
          <p:cNvPr id="1102" name="Google Shape;1102;p50"/>
          <p:cNvSpPr txBox="1"/>
          <p:nvPr/>
        </p:nvSpPr>
        <p:spPr>
          <a:xfrm>
            <a:off x="5231403" y="3248181"/>
            <a:ext cx="3628354" cy="46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endParaRPr lang="fr-FR" sz="1200" dirty="0">
              <a:solidFill>
                <a:schemeClr val="dk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fr-FR" sz="1200" dirty="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Chaque point de données sera attribué au centroïde le plus proche</a:t>
            </a:r>
          </a:p>
          <a:p>
            <a:pPr lvl="0" algn="ctr">
              <a:buClr>
                <a:schemeClr val="dk1"/>
              </a:buClr>
              <a:buSzPts val="1100"/>
            </a:pPr>
            <a:endParaRPr sz="1200" dirty="0">
              <a:solidFill>
                <a:schemeClr val="dk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1103" name="Google Shape;1103;p50"/>
          <p:cNvSpPr txBox="1"/>
          <p:nvPr/>
        </p:nvSpPr>
        <p:spPr>
          <a:xfrm>
            <a:off x="5231403" y="1740093"/>
            <a:ext cx="3579110" cy="69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sélectionner k points de données aléatoirement et les définir respectivement comme centroïdes pour les clusters.</a:t>
            </a:r>
            <a:endParaRPr sz="1200" dirty="0">
              <a:solidFill>
                <a:schemeClr val="dk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1104" name="Google Shape;1104;p50"/>
          <p:cNvSpPr txBox="1"/>
          <p:nvPr/>
        </p:nvSpPr>
        <p:spPr>
          <a:xfrm>
            <a:off x="333487" y="1719506"/>
            <a:ext cx="3032094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fr-FR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Volontairement / Utiliser une méthode</a:t>
            </a:r>
            <a:endParaRPr sz="1200" dirty="0">
              <a:solidFill>
                <a:schemeClr val="dk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1105" name="Google Shape;1105;p50"/>
          <p:cNvSpPr txBox="1"/>
          <p:nvPr/>
        </p:nvSpPr>
        <p:spPr>
          <a:xfrm>
            <a:off x="333487" y="2726760"/>
            <a:ext cx="3162748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2400" dirty="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Repositionner</a:t>
            </a:r>
            <a:endParaRPr sz="2400" dirty="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  <p:sp>
        <p:nvSpPr>
          <p:cNvPr id="1106" name="Google Shape;1106;p50"/>
          <p:cNvSpPr txBox="1"/>
          <p:nvPr/>
        </p:nvSpPr>
        <p:spPr>
          <a:xfrm>
            <a:off x="5713377" y="2715999"/>
            <a:ext cx="3097136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2400" dirty="0"/>
              <a:t>Attribution des points</a:t>
            </a:r>
            <a:endParaRPr lang="fr-FR" sz="2400" dirty="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  <p:sp>
        <p:nvSpPr>
          <p:cNvPr id="1107" name="Google Shape;1107;p50"/>
          <p:cNvSpPr txBox="1"/>
          <p:nvPr/>
        </p:nvSpPr>
        <p:spPr>
          <a:xfrm>
            <a:off x="182875" y="3281788"/>
            <a:ext cx="3668358" cy="49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fr-FR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Repositionner les centroïdes en fonction de la moyenne des points de données de son cluster</a:t>
            </a:r>
          </a:p>
        </p:txBody>
      </p:sp>
      <p:cxnSp>
        <p:nvCxnSpPr>
          <p:cNvPr id="1108" name="Google Shape;1108;p50"/>
          <p:cNvCxnSpPr>
            <a:cxnSpLocks/>
          </p:cNvCxnSpPr>
          <p:nvPr/>
        </p:nvCxnSpPr>
        <p:spPr>
          <a:xfrm>
            <a:off x="3268758" y="1433270"/>
            <a:ext cx="186582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09" name="Google Shape;1109;p50"/>
          <p:cNvCxnSpPr>
            <a:cxnSpLocks/>
            <a:endCxn id="1106" idx="0"/>
          </p:cNvCxnSpPr>
          <p:nvPr/>
        </p:nvCxnSpPr>
        <p:spPr>
          <a:xfrm>
            <a:off x="7261945" y="2441988"/>
            <a:ext cx="0" cy="2740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10" name="Google Shape;1110;p50"/>
          <p:cNvCxnSpPr>
            <a:cxnSpLocks/>
            <a:endCxn id="1105" idx="3"/>
          </p:cNvCxnSpPr>
          <p:nvPr/>
        </p:nvCxnSpPr>
        <p:spPr>
          <a:xfrm flipH="1">
            <a:off x="3496235" y="2930800"/>
            <a:ext cx="1638346" cy="107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11" name="Google Shape;1111;p50"/>
          <p:cNvCxnSpPr>
            <a:cxnSpLocks/>
          </p:cNvCxnSpPr>
          <p:nvPr/>
        </p:nvCxnSpPr>
        <p:spPr>
          <a:xfrm>
            <a:off x="1918043" y="3786694"/>
            <a:ext cx="0" cy="2574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703;p38">
            <a:extLst>
              <a:ext uri="{FF2B5EF4-FFF2-40B4-BE49-F238E27FC236}">
                <a16:creationId xmlns:a16="http://schemas.microsoft.com/office/drawing/2014/main" id="{C5BAACE4-F58F-EEA3-0D07-8DF139AABE47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/>
          <p:cNvSpPr/>
          <p:nvPr/>
        </p:nvSpPr>
        <p:spPr>
          <a:xfrm>
            <a:off x="798350" y="1698450"/>
            <a:ext cx="3588600" cy="1746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Plus de précision </a:t>
            </a:r>
            <a:endParaRPr dirty="0"/>
          </a:p>
        </p:txBody>
      </p:sp>
      <p:sp>
        <p:nvSpPr>
          <p:cNvPr id="927" name="Google Shape;927;p43"/>
          <p:cNvSpPr txBox="1">
            <a:spLocks noGrp="1"/>
          </p:cNvSpPr>
          <p:nvPr>
            <p:ph type="subTitle" idx="3"/>
          </p:nvPr>
        </p:nvSpPr>
        <p:spPr>
          <a:xfrm>
            <a:off x="8973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Attribuer les points de données au centro</a:t>
            </a:r>
            <a:r>
              <a:rPr lang="fr-FR" sz="1600" dirty="0"/>
              <a:t>ï</a:t>
            </a:r>
            <a:r>
              <a:rPr lang="en" dirty="0"/>
              <a:t>de le plus proche.</a:t>
            </a:r>
            <a:endParaRPr dirty="0"/>
          </a:p>
        </p:txBody>
      </p:sp>
      <p:sp>
        <p:nvSpPr>
          <p:cNvPr id="928" name="Google Shape;928;p43"/>
          <p:cNvSpPr txBox="1">
            <a:spLocks noGrp="1"/>
          </p:cNvSpPr>
          <p:nvPr>
            <p:ph type="subTitle" idx="1"/>
          </p:nvPr>
        </p:nvSpPr>
        <p:spPr>
          <a:xfrm>
            <a:off x="897338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Etape 3</a:t>
            </a:r>
            <a:endParaRPr dirty="0"/>
          </a:p>
        </p:txBody>
      </p:sp>
      <p:sp>
        <p:nvSpPr>
          <p:cNvPr id="929" name="Google Shape;929;p43"/>
          <p:cNvSpPr txBox="1">
            <a:spLocks noGrp="1"/>
          </p:cNvSpPr>
          <p:nvPr>
            <p:ph type="subTitle" idx="2"/>
          </p:nvPr>
        </p:nvSpPr>
        <p:spPr>
          <a:xfrm>
            <a:off x="4856037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Etape 4</a:t>
            </a:r>
            <a:endParaRPr dirty="0"/>
          </a:p>
        </p:txBody>
      </p:sp>
      <p:sp>
        <p:nvSpPr>
          <p:cNvPr id="930" name="Google Shape;930;p43"/>
          <p:cNvSpPr txBox="1">
            <a:spLocks noGrp="1"/>
          </p:cNvSpPr>
          <p:nvPr>
            <p:ph type="subTitle" idx="4"/>
          </p:nvPr>
        </p:nvSpPr>
        <p:spPr>
          <a:xfrm>
            <a:off x="48560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Positionner les nouveaux cento</a:t>
            </a:r>
            <a:r>
              <a:rPr lang="fr-FR" sz="1600" dirty="0" err="1"/>
              <a:t>ïdes</a:t>
            </a:r>
            <a:endParaRPr dirty="0"/>
          </a:p>
        </p:txBody>
      </p:sp>
      <p:grpSp>
        <p:nvGrpSpPr>
          <p:cNvPr id="931" name="Google Shape;931;p43"/>
          <p:cNvGrpSpPr/>
          <p:nvPr/>
        </p:nvGrpSpPr>
        <p:grpSpPr>
          <a:xfrm>
            <a:off x="3429048" y="3339729"/>
            <a:ext cx="502173" cy="502172"/>
            <a:chOff x="2913983" y="4329790"/>
            <a:chExt cx="591627" cy="591626"/>
          </a:xfrm>
        </p:grpSpPr>
        <p:sp>
          <p:nvSpPr>
            <p:cNvPr id="932" name="Google Shape;932;p43"/>
            <p:cNvSpPr/>
            <p:nvPr/>
          </p:nvSpPr>
          <p:spPr>
            <a:xfrm>
              <a:off x="2913983" y="4329790"/>
              <a:ext cx="591627" cy="589162"/>
            </a:xfrm>
            <a:custGeom>
              <a:avLst/>
              <a:gdLst/>
              <a:ahLst/>
              <a:cxnLst/>
              <a:rect l="l" t="t" r="r" b="b"/>
              <a:pathLst>
                <a:path w="16079" h="16012" extrusionOk="0">
                  <a:moveTo>
                    <a:pt x="4070" y="0"/>
                  </a:moveTo>
                  <a:lnTo>
                    <a:pt x="4070" y="1001"/>
                  </a:lnTo>
                  <a:lnTo>
                    <a:pt x="3069" y="1001"/>
                  </a:lnTo>
                  <a:lnTo>
                    <a:pt x="3069" y="2002"/>
                  </a:lnTo>
                  <a:lnTo>
                    <a:pt x="3069" y="3002"/>
                  </a:lnTo>
                  <a:lnTo>
                    <a:pt x="3069" y="4003"/>
                  </a:lnTo>
                  <a:lnTo>
                    <a:pt x="1001" y="4003"/>
                  </a:lnTo>
                  <a:lnTo>
                    <a:pt x="1001" y="5004"/>
                  </a:lnTo>
                  <a:lnTo>
                    <a:pt x="0" y="5004"/>
                  </a:lnTo>
                  <a:lnTo>
                    <a:pt x="0" y="6005"/>
                  </a:lnTo>
                  <a:lnTo>
                    <a:pt x="0" y="7005"/>
                  </a:lnTo>
                  <a:lnTo>
                    <a:pt x="0" y="8006"/>
                  </a:lnTo>
                  <a:lnTo>
                    <a:pt x="0" y="10007"/>
                  </a:lnTo>
                  <a:lnTo>
                    <a:pt x="1001" y="10007"/>
                  </a:lnTo>
                  <a:lnTo>
                    <a:pt x="1001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3003" y="12009"/>
                  </a:lnTo>
                  <a:lnTo>
                    <a:pt x="3003" y="13010"/>
                  </a:lnTo>
                  <a:lnTo>
                    <a:pt x="4003" y="13010"/>
                  </a:lnTo>
                  <a:lnTo>
                    <a:pt x="4003" y="15011"/>
                  </a:lnTo>
                  <a:lnTo>
                    <a:pt x="4003" y="16012"/>
                  </a:lnTo>
                  <a:lnTo>
                    <a:pt x="14077" y="16012"/>
                  </a:lnTo>
                  <a:lnTo>
                    <a:pt x="14077" y="13010"/>
                  </a:lnTo>
                  <a:lnTo>
                    <a:pt x="15078" y="13010"/>
                  </a:lnTo>
                  <a:lnTo>
                    <a:pt x="15078" y="10041"/>
                  </a:lnTo>
                  <a:lnTo>
                    <a:pt x="16079" y="10041"/>
                  </a:lnTo>
                  <a:lnTo>
                    <a:pt x="16079" y="3002"/>
                  </a:lnTo>
                  <a:lnTo>
                    <a:pt x="15078" y="3002"/>
                  </a:lnTo>
                  <a:lnTo>
                    <a:pt x="15078" y="2002"/>
                  </a:lnTo>
                  <a:lnTo>
                    <a:pt x="15078" y="1001"/>
                  </a:lnTo>
                  <a:lnTo>
                    <a:pt x="14077" y="1001"/>
                  </a:lnTo>
                  <a:lnTo>
                    <a:pt x="14077" y="0"/>
                  </a:lnTo>
                  <a:lnTo>
                    <a:pt x="13076" y="0"/>
                  </a:lnTo>
                  <a:lnTo>
                    <a:pt x="13076" y="1001"/>
                  </a:lnTo>
                  <a:lnTo>
                    <a:pt x="12076" y="1001"/>
                  </a:lnTo>
                  <a:lnTo>
                    <a:pt x="12076" y="0"/>
                  </a:lnTo>
                  <a:lnTo>
                    <a:pt x="10074" y="0"/>
                  </a:lnTo>
                  <a:lnTo>
                    <a:pt x="10074" y="1001"/>
                  </a:lnTo>
                  <a:lnTo>
                    <a:pt x="9074" y="1001"/>
                  </a:lnTo>
                  <a:lnTo>
                    <a:pt x="9074" y="0"/>
                  </a:lnTo>
                  <a:lnTo>
                    <a:pt x="7072" y="0"/>
                  </a:lnTo>
                  <a:lnTo>
                    <a:pt x="7072" y="1001"/>
                  </a:lnTo>
                  <a:lnTo>
                    <a:pt x="6071" y="1001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/>
            <p:cNvSpPr/>
            <p:nvPr/>
          </p:nvSpPr>
          <p:spPr>
            <a:xfrm>
              <a:off x="3431946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/>
            <p:cNvSpPr/>
            <p:nvPr/>
          </p:nvSpPr>
          <p:spPr>
            <a:xfrm>
              <a:off x="3358283" y="436662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/>
            <p:cNvSpPr/>
            <p:nvPr/>
          </p:nvSpPr>
          <p:spPr>
            <a:xfrm>
              <a:off x="3246610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>
              <a:off x="3468741" y="4440248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/>
            <p:cNvSpPr/>
            <p:nvPr/>
          </p:nvSpPr>
          <p:spPr>
            <a:xfrm>
              <a:off x="3431946" y="4699210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/>
            <p:cNvSpPr/>
            <p:nvPr/>
          </p:nvSpPr>
          <p:spPr>
            <a:xfrm>
              <a:off x="3062488" y="4810920"/>
              <a:ext cx="369495" cy="110495"/>
            </a:xfrm>
            <a:custGeom>
              <a:avLst/>
              <a:gdLst/>
              <a:ahLst/>
              <a:cxnLst/>
              <a:rect l="l" t="t" r="r" b="b"/>
              <a:pathLst>
                <a:path w="10042" h="3003" extrusionOk="0">
                  <a:moveTo>
                    <a:pt x="1" y="0"/>
                  </a:moveTo>
                  <a:lnTo>
                    <a:pt x="1" y="2002"/>
                  </a:lnTo>
                  <a:lnTo>
                    <a:pt x="1" y="3002"/>
                  </a:lnTo>
                  <a:lnTo>
                    <a:pt x="10041" y="3002"/>
                  </a:lnTo>
                  <a:lnTo>
                    <a:pt x="10041" y="0"/>
                  </a:lnTo>
                  <a:lnTo>
                    <a:pt x="9040" y="0"/>
                  </a:lnTo>
                  <a:lnTo>
                    <a:pt x="904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/>
            <p:cNvSpPr/>
            <p:nvPr/>
          </p:nvSpPr>
          <p:spPr>
            <a:xfrm>
              <a:off x="2950815" y="4366621"/>
              <a:ext cx="111710" cy="222168"/>
            </a:xfrm>
            <a:custGeom>
              <a:avLst/>
              <a:gdLst/>
              <a:ahLst/>
              <a:cxnLst/>
              <a:rect l="l" t="t" r="r" b="b"/>
              <a:pathLst>
                <a:path w="3036" h="6038" extrusionOk="0">
                  <a:moveTo>
                    <a:pt x="2002" y="0"/>
                  </a:moveTo>
                  <a:lnTo>
                    <a:pt x="2002" y="1001"/>
                  </a:lnTo>
                  <a:lnTo>
                    <a:pt x="2002" y="2001"/>
                  </a:lnTo>
                  <a:lnTo>
                    <a:pt x="2002" y="3002"/>
                  </a:lnTo>
                  <a:lnTo>
                    <a:pt x="0" y="3002"/>
                  </a:lnTo>
                  <a:lnTo>
                    <a:pt x="0" y="4036"/>
                  </a:lnTo>
                  <a:lnTo>
                    <a:pt x="2002" y="4036"/>
                  </a:lnTo>
                  <a:lnTo>
                    <a:pt x="2002" y="5037"/>
                  </a:lnTo>
                  <a:lnTo>
                    <a:pt x="2002" y="6038"/>
                  </a:lnTo>
                  <a:lnTo>
                    <a:pt x="3036" y="6038"/>
                  </a:lnTo>
                  <a:lnTo>
                    <a:pt x="3036" y="5037"/>
                  </a:lnTo>
                  <a:lnTo>
                    <a:pt x="3036" y="4036"/>
                  </a:lnTo>
                  <a:lnTo>
                    <a:pt x="3036" y="3002"/>
                  </a:lnTo>
                  <a:lnTo>
                    <a:pt x="3036" y="2001"/>
                  </a:lnTo>
                  <a:lnTo>
                    <a:pt x="3036" y="1001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/>
            <p:cNvSpPr/>
            <p:nvPr/>
          </p:nvSpPr>
          <p:spPr>
            <a:xfrm>
              <a:off x="3136151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/>
            <p:cNvSpPr/>
            <p:nvPr/>
          </p:nvSpPr>
          <p:spPr>
            <a:xfrm>
              <a:off x="3062488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/>
            <p:cNvSpPr/>
            <p:nvPr/>
          </p:nvSpPr>
          <p:spPr>
            <a:xfrm>
              <a:off x="3172946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/>
            <p:cNvSpPr/>
            <p:nvPr/>
          </p:nvSpPr>
          <p:spPr>
            <a:xfrm>
              <a:off x="3283405" y="4329790"/>
              <a:ext cx="74915" cy="36832"/>
            </a:xfrm>
            <a:custGeom>
              <a:avLst/>
              <a:gdLst/>
              <a:ahLst/>
              <a:cxnLst/>
              <a:rect l="l" t="t" r="r" b="b"/>
              <a:pathLst>
                <a:path w="2036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/>
            <p:cNvSpPr/>
            <p:nvPr/>
          </p:nvSpPr>
          <p:spPr>
            <a:xfrm>
              <a:off x="3395114" y="4329790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/>
            <p:cNvSpPr/>
            <p:nvPr/>
          </p:nvSpPr>
          <p:spPr>
            <a:xfrm>
              <a:off x="2913983" y="4515125"/>
              <a:ext cx="148541" cy="295832"/>
            </a:xfrm>
            <a:custGeom>
              <a:avLst/>
              <a:gdLst/>
              <a:ahLst/>
              <a:cxnLst/>
              <a:rect l="l" t="t" r="r" b="b"/>
              <a:pathLst>
                <a:path w="4037" h="8040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0" y="5004"/>
                  </a:lnTo>
                  <a:lnTo>
                    <a:pt x="1001" y="5004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3" y="7005"/>
                  </a:lnTo>
                  <a:lnTo>
                    <a:pt x="3003" y="8039"/>
                  </a:lnTo>
                  <a:lnTo>
                    <a:pt x="4037" y="8039"/>
                  </a:lnTo>
                  <a:lnTo>
                    <a:pt x="4037" y="6005"/>
                  </a:lnTo>
                  <a:lnTo>
                    <a:pt x="3003" y="6005"/>
                  </a:lnTo>
                  <a:lnTo>
                    <a:pt x="3003" y="5004"/>
                  </a:lnTo>
                  <a:lnTo>
                    <a:pt x="2002" y="5004"/>
                  </a:lnTo>
                  <a:lnTo>
                    <a:pt x="2002" y="4003"/>
                  </a:lnTo>
                  <a:lnTo>
                    <a:pt x="1001" y="4003"/>
                  </a:lnTo>
                  <a:lnTo>
                    <a:pt x="1001" y="3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68A66576-6A7F-8D1F-2D57-BE89FF23A84F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9096BBA0-0437-E8B6-750C-DB83C4BF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>
            <a:extLst>
              <a:ext uri="{FF2B5EF4-FFF2-40B4-BE49-F238E27FC236}">
                <a16:creationId xmlns:a16="http://schemas.microsoft.com/office/drawing/2014/main" id="{451DED12-C8E6-C32A-A38D-43C39A13561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5099" y="735303"/>
            <a:ext cx="6761465" cy="23844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Pour déterminer à quel centroïde un point de donnée de notre ensemble de donnée doit être attribué ont mesure la distance qui les sépare en utilisant soit la méthode de la </a:t>
            </a:r>
            <a:r>
              <a:rPr lang="fr-FR" b="1" dirty="0">
                <a:solidFill>
                  <a:srgbClr val="5F9127"/>
                </a:solidFill>
              </a:rPr>
              <a:t>Distance Euclidienne</a:t>
            </a:r>
            <a:r>
              <a:rPr lang="fr-FR" dirty="0"/>
              <a:t> soit la méthode de </a:t>
            </a:r>
            <a:r>
              <a:rPr lang="fr-FR" b="1" dirty="0">
                <a:solidFill>
                  <a:srgbClr val="00668A"/>
                </a:solidFill>
              </a:rPr>
              <a:t>Manhattan</a:t>
            </a:r>
            <a:r>
              <a:rPr lang="fr-FR" dirty="0"/>
              <a:t>. </a:t>
            </a:r>
            <a:endParaRPr dirty="0"/>
          </a:p>
        </p:txBody>
      </p:sp>
      <p:sp>
        <p:nvSpPr>
          <p:cNvPr id="4" name="Google Shape;703;p38">
            <a:extLst>
              <a:ext uri="{FF2B5EF4-FFF2-40B4-BE49-F238E27FC236}">
                <a16:creationId xmlns:a16="http://schemas.microsoft.com/office/drawing/2014/main" id="{CC9EBE97-96BB-4589-9AFE-A72E2A73F121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14/28</a:t>
            </a:r>
          </a:p>
        </p:txBody>
      </p:sp>
    </p:spTree>
    <p:extLst>
      <p:ext uri="{BB962C8B-B14F-4D97-AF65-F5344CB8AC3E}">
        <p14:creationId xmlns:p14="http://schemas.microsoft.com/office/powerpoint/2010/main" val="2128297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54058CF8-FB92-C075-A5A2-4D1730E5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>
            <a:extLst>
              <a:ext uri="{FF2B5EF4-FFF2-40B4-BE49-F238E27FC236}">
                <a16:creationId xmlns:a16="http://schemas.microsoft.com/office/drawing/2014/main" id="{FFF32E5C-A160-3C9A-DF84-EC34FA519BA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5099" y="634694"/>
            <a:ext cx="7557532" cy="13054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Par exemple, considérons un point de données de coordonné </a:t>
            </a:r>
            <a:r>
              <a:rPr lang="fr-FR" b="1" dirty="0"/>
              <a:t>p1=(5,3)</a:t>
            </a:r>
            <a:r>
              <a:rPr lang="fr-FR" dirty="0"/>
              <a:t>. Considérons également deux centroïdes tels que </a:t>
            </a:r>
            <a:r>
              <a:rPr lang="fr-FR" b="1" dirty="0"/>
              <a:t>C1=(2,4)</a:t>
            </a:r>
            <a:r>
              <a:rPr lang="fr-FR" dirty="0"/>
              <a:t> et </a:t>
            </a:r>
            <a:r>
              <a:rPr lang="fr-FR" b="1" dirty="0"/>
              <a:t>C2=(6,1)</a:t>
            </a:r>
            <a:r>
              <a:rPr lang="fr-FR" dirty="0"/>
              <a:t>.</a:t>
            </a:r>
          </a:p>
          <a:p>
            <a:pPr marL="0" lvl="0" indent="0"/>
            <a:endParaRPr lang="fr-FR" dirty="0"/>
          </a:p>
          <a:p>
            <a:pPr marL="0" lvl="0" indent="0"/>
            <a:r>
              <a:rPr lang="fr-FR" dirty="0"/>
              <a:t>La distance euclidienne entre C1 et p1 sera: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DBF427-3B57-BA10-98B0-DCE4DF084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25" y="1936372"/>
            <a:ext cx="3333750" cy="941196"/>
          </a:xfrm>
          <a:prstGeom prst="rect">
            <a:avLst/>
          </a:prstGeom>
        </p:spPr>
      </p:pic>
      <p:sp>
        <p:nvSpPr>
          <p:cNvPr id="4" name="Google Shape;745;p39">
            <a:extLst>
              <a:ext uri="{FF2B5EF4-FFF2-40B4-BE49-F238E27FC236}">
                <a16:creationId xmlns:a16="http://schemas.microsoft.com/office/drawing/2014/main" id="{E5297B7D-DBDF-E39E-A8A2-D6806C73CDF3}"/>
              </a:ext>
            </a:extLst>
          </p:cNvPr>
          <p:cNvSpPr txBox="1">
            <a:spLocks/>
          </p:cNvSpPr>
          <p:nvPr/>
        </p:nvSpPr>
        <p:spPr>
          <a:xfrm>
            <a:off x="666693" y="2782524"/>
            <a:ext cx="7557532" cy="38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dirty="0"/>
              <a:t>La distance euclidienne entre C2 p1 sera: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B5BAB-4104-E8EC-0200-696A0846F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105" y="3077471"/>
            <a:ext cx="3305175" cy="962025"/>
          </a:xfrm>
          <a:prstGeom prst="rect">
            <a:avLst/>
          </a:prstGeom>
        </p:spPr>
      </p:pic>
      <p:sp>
        <p:nvSpPr>
          <p:cNvPr id="7" name="Google Shape;745;p39">
            <a:extLst>
              <a:ext uri="{FF2B5EF4-FFF2-40B4-BE49-F238E27FC236}">
                <a16:creationId xmlns:a16="http://schemas.microsoft.com/office/drawing/2014/main" id="{1AC405D6-8C98-2A42-8087-1BB8EBE9550B}"/>
              </a:ext>
            </a:extLst>
          </p:cNvPr>
          <p:cNvSpPr txBox="1">
            <a:spLocks/>
          </p:cNvSpPr>
          <p:nvPr/>
        </p:nvSpPr>
        <p:spPr>
          <a:xfrm>
            <a:off x="730249" y="4039497"/>
            <a:ext cx="7649958" cy="74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dirty="0"/>
              <a:t>On peut déduire que p1 appartiendra au cluster 2 de centroïde C2 car sa valeur est la plus petite.</a:t>
            </a:r>
          </a:p>
        </p:txBody>
      </p:sp>
      <p:sp>
        <p:nvSpPr>
          <p:cNvPr id="8" name="Google Shape;703;p38">
            <a:extLst>
              <a:ext uri="{FF2B5EF4-FFF2-40B4-BE49-F238E27FC236}">
                <a16:creationId xmlns:a16="http://schemas.microsoft.com/office/drawing/2014/main" id="{C1336522-BD05-AF2F-8004-E682D776D776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15/28</a:t>
            </a:r>
          </a:p>
        </p:txBody>
      </p:sp>
    </p:spTree>
    <p:extLst>
      <p:ext uri="{BB962C8B-B14F-4D97-AF65-F5344CB8AC3E}">
        <p14:creationId xmlns:p14="http://schemas.microsoft.com/office/powerpoint/2010/main" val="4044637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>
          <a:extLst>
            <a:ext uri="{FF2B5EF4-FFF2-40B4-BE49-F238E27FC236}">
              <a16:creationId xmlns:a16="http://schemas.microsoft.com/office/drawing/2014/main" id="{7270B925-52D7-9E90-BC66-1C8F349B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3">
            <a:extLst>
              <a:ext uri="{FF2B5EF4-FFF2-40B4-BE49-F238E27FC236}">
                <a16:creationId xmlns:a16="http://schemas.microsoft.com/office/drawing/2014/main" id="{06EDA857-B9E2-52F2-48D0-BE855465F6A4}"/>
              </a:ext>
            </a:extLst>
          </p:cNvPr>
          <p:cNvSpPr/>
          <p:nvPr/>
        </p:nvSpPr>
        <p:spPr>
          <a:xfrm>
            <a:off x="4757164" y="1698450"/>
            <a:ext cx="3588600" cy="1746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43">
            <a:extLst>
              <a:ext uri="{FF2B5EF4-FFF2-40B4-BE49-F238E27FC236}">
                <a16:creationId xmlns:a16="http://schemas.microsoft.com/office/drawing/2014/main" id="{5D6191B1-2F38-AA40-5EC4-EE3178E37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Plus de précision </a:t>
            </a:r>
            <a:endParaRPr dirty="0"/>
          </a:p>
        </p:txBody>
      </p:sp>
      <p:sp>
        <p:nvSpPr>
          <p:cNvPr id="927" name="Google Shape;927;p43">
            <a:extLst>
              <a:ext uri="{FF2B5EF4-FFF2-40B4-BE49-F238E27FC236}">
                <a16:creationId xmlns:a16="http://schemas.microsoft.com/office/drawing/2014/main" id="{9C71FFD8-13B4-0906-059D-7C00785E4A7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973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Attribuer les points de données au centro</a:t>
            </a:r>
            <a:r>
              <a:rPr lang="fr-FR" sz="1600" dirty="0"/>
              <a:t>ï</a:t>
            </a:r>
            <a:r>
              <a:rPr lang="en" dirty="0"/>
              <a:t>de le plus proche.</a:t>
            </a:r>
            <a:endParaRPr dirty="0"/>
          </a:p>
        </p:txBody>
      </p:sp>
      <p:sp>
        <p:nvSpPr>
          <p:cNvPr id="928" name="Google Shape;928;p43">
            <a:extLst>
              <a:ext uri="{FF2B5EF4-FFF2-40B4-BE49-F238E27FC236}">
                <a16:creationId xmlns:a16="http://schemas.microsoft.com/office/drawing/2014/main" id="{069EE05B-8B42-356C-6FE4-FDCD9B73A2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97338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Etape 3</a:t>
            </a:r>
            <a:endParaRPr dirty="0"/>
          </a:p>
        </p:txBody>
      </p:sp>
      <p:sp>
        <p:nvSpPr>
          <p:cNvPr id="929" name="Google Shape;929;p43">
            <a:extLst>
              <a:ext uri="{FF2B5EF4-FFF2-40B4-BE49-F238E27FC236}">
                <a16:creationId xmlns:a16="http://schemas.microsoft.com/office/drawing/2014/main" id="{35AF891B-DBFA-DAC0-9520-72323CF846B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856037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Etape 4</a:t>
            </a:r>
            <a:endParaRPr dirty="0"/>
          </a:p>
        </p:txBody>
      </p:sp>
      <p:sp>
        <p:nvSpPr>
          <p:cNvPr id="930" name="Google Shape;930;p43">
            <a:extLst>
              <a:ext uri="{FF2B5EF4-FFF2-40B4-BE49-F238E27FC236}">
                <a16:creationId xmlns:a16="http://schemas.microsoft.com/office/drawing/2014/main" id="{095B9662-9C9C-A9BA-6EEF-1BF3C39BD33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8560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Positionner les nouveaux centro</a:t>
            </a:r>
            <a:r>
              <a:rPr lang="fr-FR" sz="1600" dirty="0" err="1"/>
              <a:t>ïdes</a:t>
            </a:r>
            <a:r>
              <a:rPr lang="fr-FR" sz="1600" dirty="0"/>
              <a:t>. </a:t>
            </a:r>
            <a:endParaRPr dirty="0"/>
          </a:p>
        </p:txBody>
      </p:sp>
      <p:grpSp>
        <p:nvGrpSpPr>
          <p:cNvPr id="931" name="Google Shape;931;p43">
            <a:extLst>
              <a:ext uri="{FF2B5EF4-FFF2-40B4-BE49-F238E27FC236}">
                <a16:creationId xmlns:a16="http://schemas.microsoft.com/office/drawing/2014/main" id="{F2F87516-5365-E576-E744-D2532C717A12}"/>
              </a:ext>
            </a:extLst>
          </p:cNvPr>
          <p:cNvGrpSpPr/>
          <p:nvPr/>
        </p:nvGrpSpPr>
        <p:grpSpPr>
          <a:xfrm>
            <a:off x="7054369" y="3339729"/>
            <a:ext cx="502173" cy="502172"/>
            <a:chOff x="2913983" y="4329790"/>
            <a:chExt cx="591627" cy="591626"/>
          </a:xfrm>
        </p:grpSpPr>
        <p:sp>
          <p:nvSpPr>
            <p:cNvPr id="932" name="Google Shape;932;p43">
              <a:extLst>
                <a:ext uri="{FF2B5EF4-FFF2-40B4-BE49-F238E27FC236}">
                  <a16:creationId xmlns:a16="http://schemas.microsoft.com/office/drawing/2014/main" id="{09515A8C-B054-E5A5-6169-91CCCF2F70D6}"/>
                </a:ext>
              </a:extLst>
            </p:cNvPr>
            <p:cNvSpPr/>
            <p:nvPr/>
          </p:nvSpPr>
          <p:spPr>
            <a:xfrm>
              <a:off x="2913983" y="4329790"/>
              <a:ext cx="591627" cy="589162"/>
            </a:xfrm>
            <a:custGeom>
              <a:avLst/>
              <a:gdLst/>
              <a:ahLst/>
              <a:cxnLst/>
              <a:rect l="l" t="t" r="r" b="b"/>
              <a:pathLst>
                <a:path w="16079" h="16012" extrusionOk="0">
                  <a:moveTo>
                    <a:pt x="4070" y="0"/>
                  </a:moveTo>
                  <a:lnTo>
                    <a:pt x="4070" y="1001"/>
                  </a:lnTo>
                  <a:lnTo>
                    <a:pt x="3069" y="1001"/>
                  </a:lnTo>
                  <a:lnTo>
                    <a:pt x="3069" y="2002"/>
                  </a:lnTo>
                  <a:lnTo>
                    <a:pt x="3069" y="3002"/>
                  </a:lnTo>
                  <a:lnTo>
                    <a:pt x="3069" y="4003"/>
                  </a:lnTo>
                  <a:lnTo>
                    <a:pt x="1001" y="4003"/>
                  </a:lnTo>
                  <a:lnTo>
                    <a:pt x="1001" y="5004"/>
                  </a:lnTo>
                  <a:lnTo>
                    <a:pt x="0" y="5004"/>
                  </a:lnTo>
                  <a:lnTo>
                    <a:pt x="0" y="6005"/>
                  </a:lnTo>
                  <a:lnTo>
                    <a:pt x="0" y="7005"/>
                  </a:lnTo>
                  <a:lnTo>
                    <a:pt x="0" y="8006"/>
                  </a:lnTo>
                  <a:lnTo>
                    <a:pt x="0" y="10007"/>
                  </a:lnTo>
                  <a:lnTo>
                    <a:pt x="1001" y="10007"/>
                  </a:lnTo>
                  <a:lnTo>
                    <a:pt x="1001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3003" y="12009"/>
                  </a:lnTo>
                  <a:lnTo>
                    <a:pt x="3003" y="13010"/>
                  </a:lnTo>
                  <a:lnTo>
                    <a:pt x="4003" y="13010"/>
                  </a:lnTo>
                  <a:lnTo>
                    <a:pt x="4003" y="15011"/>
                  </a:lnTo>
                  <a:lnTo>
                    <a:pt x="4003" y="16012"/>
                  </a:lnTo>
                  <a:lnTo>
                    <a:pt x="14077" y="16012"/>
                  </a:lnTo>
                  <a:lnTo>
                    <a:pt x="14077" y="13010"/>
                  </a:lnTo>
                  <a:lnTo>
                    <a:pt x="15078" y="13010"/>
                  </a:lnTo>
                  <a:lnTo>
                    <a:pt x="15078" y="10041"/>
                  </a:lnTo>
                  <a:lnTo>
                    <a:pt x="16079" y="10041"/>
                  </a:lnTo>
                  <a:lnTo>
                    <a:pt x="16079" y="3002"/>
                  </a:lnTo>
                  <a:lnTo>
                    <a:pt x="15078" y="3002"/>
                  </a:lnTo>
                  <a:lnTo>
                    <a:pt x="15078" y="2002"/>
                  </a:lnTo>
                  <a:lnTo>
                    <a:pt x="15078" y="1001"/>
                  </a:lnTo>
                  <a:lnTo>
                    <a:pt x="14077" y="1001"/>
                  </a:lnTo>
                  <a:lnTo>
                    <a:pt x="14077" y="0"/>
                  </a:lnTo>
                  <a:lnTo>
                    <a:pt x="13076" y="0"/>
                  </a:lnTo>
                  <a:lnTo>
                    <a:pt x="13076" y="1001"/>
                  </a:lnTo>
                  <a:lnTo>
                    <a:pt x="12076" y="1001"/>
                  </a:lnTo>
                  <a:lnTo>
                    <a:pt x="12076" y="0"/>
                  </a:lnTo>
                  <a:lnTo>
                    <a:pt x="10074" y="0"/>
                  </a:lnTo>
                  <a:lnTo>
                    <a:pt x="10074" y="1001"/>
                  </a:lnTo>
                  <a:lnTo>
                    <a:pt x="9074" y="1001"/>
                  </a:lnTo>
                  <a:lnTo>
                    <a:pt x="9074" y="0"/>
                  </a:lnTo>
                  <a:lnTo>
                    <a:pt x="7072" y="0"/>
                  </a:lnTo>
                  <a:lnTo>
                    <a:pt x="7072" y="1001"/>
                  </a:lnTo>
                  <a:lnTo>
                    <a:pt x="6071" y="1001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>
              <a:extLst>
                <a:ext uri="{FF2B5EF4-FFF2-40B4-BE49-F238E27FC236}">
                  <a16:creationId xmlns:a16="http://schemas.microsoft.com/office/drawing/2014/main" id="{B05D49FF-5B4A-D3DC-071A-86AD57E6F118}"/>
                </a:ext>
              </a:extLst>
            </p:cNvPr>
            <p:cNvSpPr/>
            <p:nvPr/>
          </p:nvSpPr>
          <p:spPr>
            <a:xfrm>
              <a:off x="3431946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>
              <a:extLst>
                <a:ext uri="{FF2B5EF4-FFF2-40B4-BE49-F238E27FC236}">
                  <a16:creationId xmlns:a16="http://schemas.microsoft.com/office/drawing/2014/main" id="{A58C5B5C-D5AC-1904-A60A-5E265DB4DBCC}"/>
                </a:ext>
              </a:extLst>
            </p:cNvPr>
            <p:cNvSpPr/>
            <p:nvPr/>
          </p:nvSpPr>
          <p:spPr>
            <a:xfrm>
              <a:off x="3358283" y="4366621"/>
              <a:ext cx="36869" cy="73664"/>
            </a:xfrm>
            <a:custGeom>
              <a:avLst/>
              <a:gdLst/>
              <a:ahLst/>
              <a:cxnLst/>
              <a:rect l="l" t="t" r="r" b="b"/>
              <a:pathLst>
                <a:path w="1002" h="2002" extrusionOk="0">
                  <a:moveTo>
                    <a:pt x="1" y="0"/>
                  </a:moveTo>
                  <a:lnTo>
                    <a:pt x="1" y="1001"/>
                  </a:lnTo>
                  <a:lnTo>
                    <a:pt x="1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>
              <a:extLst>
                <a:ext uri="{FF2B5EF4-FFF2-40B4-BE49-F238E27FC236}">
                  <a16:creationId xmlns:a16="http://schemas.microsoft.com/office/drawing/2014/main" id="{98E6C8DB-AA17-A03A-83BE-67E3DFB6A902}"/>
                </a:ext>
              </a:extLst>
            </p:cNvPr>
            <p:cNvSpPr/>
            <p:nvPr/>
          </p:nvSpPr>
          <p:spPr>
            <a:xfrm>
              <a:off x="3246610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>
              <a:extLst>
                <a:ext uri="{FF2B5EF4-FFF2-40B4-BE49-F238E27FC236}">
                  <a16:creationId xmlns:a16="http://schemas.microsoft.com/office/drawing/2014/main" id="{2050328A-5DC0-758E-442A-67E3469CA06E}"/>
                </a:ext>
              </a:extLst>
            </p:cNvPr>
            <p:cNvSpPr/>
            <p:nvPr/>
          </p:nvSpPr>
          <p:spPr>
            <a:xfrm>
              <a:off x="3468741" y="4440248"/>
              <a:ext cx="36869" cy="259000"/>
            </a:xfrm>
            <a:custGeom>
              <a:avLst/>
              <a:gdLst/>
              <a:ahLst/>
              <a:cxnLst/>
              <a:rect l="l" t="t" r="r" b="b"/>
              <a:pathLst>
                <a:path w="1002" h="7039" extrusionOk="0">
                  <a:moveTo>
                    <a:pt x="1" y="0"/>
                  </a:moveTo>
                  <a:lnTo>
                    <a:pt x="1" y="7039"/>
                  </a:lnTo>
                  <a:lnTo>
                    <a:pt x="1002" y="7039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>
              <a:extLst>
                <a:ext uri="{FF2B5EF4-FFF2-40B4-BE49-F238E27FC236}">
                  <a16:creationId xmlns:a16="http://schemas.microsoft.com/office/drawing/2014/main" id="{62E83053-7C70-0CEF-9E8F-4FF4483953BE}"/>
                </a:ext>
              </a:extLst>
            </p:cNvPr>
            <p:cNvSpPr/>
            <p:nvPr/>
          </p:nvSpPr>
          <p:spPr>
            <a:xfrm>
              <a:off x="3431946" y="4699210"/>
              <a:ext cx="36832" cy="110495"/>
            </a:xfrm>
            <a:custGeom>
              <a:avLst/>
              <a:gdLst/>
              <a:ahLst/>
              <a:cxnLst/>
              <a:rect l="l" t="t" r="r" b="b"/>
              <a:pathLst>
                <a:path w="1001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1001" y="3003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>
              <a:extLst>
                <a:ext uri="{FF2B5EF4-FFF2-40B4-BE49-F238E27FC236}">
                  <a16:creationId xmlns:a16="http://schemas.microsoft.com/office/drawing/2014/main" id="{2FD3036D-96B1-BB48-D277-DE565835D92A}"/>
                </a:ext>
              </a:extLst>
            </p:cNvPr>
            <p:cNvSpPr/>
            <p:nvPr/>
          </p:nvSpPr>
          <p:spPr>
            <a:xfrm>
              <a:off x="3062488" y="4810920"/>
              <a:ext cx="369495" cy="110495"/>
            </a:xfrm>
            <a:custGeom>
              <a:avLst/>
              <a:gdLst/>
              <a:ahLst/>
              <a:cxnLst/>
              <a:rect l="l" t="t" r="r" b="b"/>
              <a:pathLst>
                <a:path w="10042" h="3003" extrusionOk="0">
                  <a:moveTo>
                    <a:pt x="1" y="0"/>
                  </a:moveTo>
                  <a:lnTo>
                    <a:pt x="1" y="2002"/>
                  </a:lnTo>
                  <a:lnTo>
                    <a:pt x="1" y="3002"/>
                  </a:lnTo>
                  <a:lnTo>
                    <a:pt x="10041" y="3002"/>
                  </a:lnTo>
                  <a:lnTo>
                    <a:pt x="10041" y="0"/>
                  </a:lnTo>
                  <a:lnTo>
                    <a:pt x="9040" y="0"/>
                  </a:lnTo>
                  <a:lnTo>
                    <a:pt x="9040" y="2002"/>
                  </a:lnTo>
                  <a:lnTo>
                    <a:pt x="1001" y="2002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>
              <a:extLst>
                <a:ext uri="{FF2B5EF4-FFF2-40B4-BE49-F238E27FC236}">
                  <a16:creationId xmlns:a16="http://schemas.microsoft.com/office/drawing/2014/main" id="{1D90D273-E976-4401-01D5-FD97EF364838}"/>
                </a:ext>
              </a:extLst>
            </p:cNvPr>
            <p:cNvSpPr/>
            <p:nvPr/>
          </p:nvSpPr>
          <p:spPr>
            <a:xfrm>
              <a:off x="2950815" y="4366621"/>
              <a:ext cx="111710" cy="222168"/>
            </a:xfrm>
            <a:custGeom>
              <a:avLst/>
              <a:gdLst/>
              <a:ahLst/>
              <a:cxnLst/>
              <a:rect l="l" t="t" r="r" b="b"/>
              <a:pathLst>
                <a:path w="3036" h="6038" extrusionOk="0">
                  <a:moveTo>
                    <a:pt x="2002" y="0"/>
                  </a:moveTo>
                  <a:lnTo>
                    <a:pt x="2002" y="1001"/>
                  </a:lnTo>
                  <a:lnTo>
                    <a:pt x="2002" y="2001"/>
                  </a:lnTo>
                  <a:lnTo>
                    <a:pt x="2002" y="3002"/>
                  </a:lnTo>
                  <a:lnTo>
                    <a:pt x="0" y="3002"/>
                  </a:lnTo>
                  <a:lnTo>
                    <a:pt x="0" y="4036"/>
                  </a:lnTo>
                  <a:lnTo>
                    <a:pt x="2002" y="4036"/>
                  </a:lnTo>
                  <a:lnTo>
                    <a:pt x="2002" y="5037"/>
                  </a:lnTo>
                  <a:lnTo>
                    <a:pt x="2002" y="6038"/>
                  </a:lnTo>
                  <a:lnTo>
                    <a:pt x="3036" y="6038"/>
                  </a:lnTo>
                  <a:lnTo>
                    <a:pt x="3036" y="5037"/>
                  </a:lnTo>
                  <a:lnTo>
                    <a:pt x="3036" y="4036"/>
                  </a:lnTo>
                  <a:lnTo>
                    <a:pt x="3036" y="3002"/>
                  </a:lnTo>
                  <a:lnTo>
                    <a:pt x="3036" y="2001"/>
                  </a:lnTo>
                  <a:lnTo>
                    <a:pt x="3036" y="1001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>
              <a:extLst>
                <a:ext uri="{FF2B5EF4-FFF2-40B4-BE49-F238E27FC236}">
                  <a16:creationId xmlns:a16="http://schemas.microsoft.com/office/drawing/2014/main" id="{DF2DCE31-8786-36BD-250A-BA4B36BA3DF3}"/>
                </a:ext>
              </a:extLst>
            </p:cNvPr>
            <p:cNvSpPr/>
            <p:nvPr/>
          </p:nvSpPr>
          <p:spPr>
            <a:xfrm>
              <a:off x="3136151" y="4366621"/>
              <a:ext cx="36832" cy="73664"/>
            </a:xfrm>
            <a:custGeom>
              <a:avLst/>
              <a:gdLst/>
              <a:ahLst/>
              <a:cxnLst/>
              <a:rect l="l" t="t" r="r" b="b"/>
              <a:pathLst>
                <a:path w="1001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1"/>
                  </a:lnTo>
                  <a:lnTo>
                    <a:pt x="1001" y="2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>
              <a:extLst>
                <a:ext uri="{FF2B5EF4-FFF2-40B4-BE49-F238E27FC236}">
                  <a16:creationId xmlns:a16="http://schemas.microsoft.com/office/drawing/2014/main" id="{1AF03A58-A8C8-9623-9ADB-A1D718B4B199}"/>
                </a:ext>
              </a:extLst>
            </p:cNvPr>
            <p:cNvSpPr/>
            <p:nvPr/>
          </p:nvSpPr>
          <p:spPr>
            <a:xfrm>
              <a:off x="3062488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>
              <a:extLst>
                <a:ext uri="{FF2B5EF4-FFF2-40B4-BE49-F238E27FC236}">
                  <a16:creationId xmlns:a16="http://schemas.microsoft.com/office/drawing/2014/main" id="{573C285D-E7E0-C7FB-D4DC-C9BF597ECD90}"/>
                </a:ext>
              </a:extLst>
            </p:cNvPr>
            <p:cNvSpPr/>
            <p:nvPr/>
          </p:nvSpPr>
          <p:spPr>
            <a:xfrm>
              <a:off x="3172946" y="4329790"/>
              <a:ext cx="73700" cy="36832"/>
            </a:xfrm>
            <a:custGeom>
              <a:avLst/>
              <a:gdLst/>
              <a:ahLst/>
              <a:cxnLst/>
              <a:rect l="l" t="t" r="r" b="b"/>
              <a:pathLst>
                <a:path w="2003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02" y="1001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>
              <a:extLst>
                <a:ext uri="{FF2B5EF4-FFF2-40B4-BE49-F238E27FC236}">
                  <a16:creationId xmlns:a16="http://schemas.microsoft.com/office/drawing/2014/main" id="{A53B91F9-27F5-D01F-D794-1683E37A1D04}"/>
                </a:ext>
              </a:extLst>
            </p:cNvPr>
            <p:cNvSpPr/>
            <p:nvPr/>
          </p:nvSpPr>
          <p:spPr>
            <a:xfrm>
              <a:off x="3283405" y="4329790"/>
              <a:ext cx="74915" cy="36832"/>
            </a:xfrm>
            <a:custGeom>
              <a:avLst/>
              <a:gdLst/>
              <a:ahLst/>
              <a:cxnLst/>
              <a:rect l="l" t="t" r="r" b="b"/>
              <a:pathLst>
                <a:path w="2036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2036" y="1001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>
              <a:extLst>
                <a:ext uri="{FF2B5EF4-FFF2-40B4-BE49-F238E27FC236}">
                  <a16:creationId xmlns:a16="http://schemas.microsoft.com/office/drawing/2014/main" id="{97219FD5-ADE8-D6E4-9E32-2D4A623A601C}"/>
                </a:ext>
              </a:extLst>
            </p:cNvPr>
            <p:cNvSpPr/>
            <p:nvPr/>
          </p:nvSpPr>
          <p:spPr>
            <a:xfrm>
              <a:off x="3395114" y="4329790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>
              <a:extLst>
                <a:ext uri="{FF2B5EF4-FFF2-40B4-BE49-F238E27FC236}">
                  <a16:creationId xmlns:a16="http://schemas.microsoft.com/office/drawing/2014/main" id="{7E2A8AF5-76A7-C5DF-6CD1-957A24917AB0}"/>
                </a:ext>
              </a:extLst>
            </p:cNvPr>
            <p:cNvSpPr/>
            <p:nvPr/>
          </p:nvSpPr>
          <p:spPr>
            <a:xfrm>
              <a:off x="2913983" y="4515125"/>
              <a:ext cx="148541" cy="295832"/>
            </a:xfrm>
            <a:custGeom>
              <a:avLst/>
              <a:gdLst/>
              <a:ahLst/>
              <a:cxnLst/>
              <a:rect l="l" t="t" r="r" b="b"/>
              <a:pathLst>
                <a:path w="4037" h="8040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0" y="5004"/>
                  </a:lnTo>
                  <a:lnTo>
                    <a:pt x="1001" y="5004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3" y="7005"/>
                  </a:lnTo>
                  <a:lnTo>
                    <a:pt x="3003" y="8039"/>
                  </a:lnTo>
                  <a:lnTo>
                    <a:pt x="4037" y="8039"/>
                  </a:lnTo>
                  <a:lnTo>
                    <a:pt x="4037" y="6005"/>
                  </a:lnTo>
                  <a:lnTo>
                    <a:pt x="3003" y="6005"/>
                  </a:lnTo>
                  <a:lnTo>
                    <a:pt x="3003" y="5004"/>
                  </a:lnTo>
                  <a:lnTo>
                    <a:pt x="2002" y="5004"/>
                  </a:lnTo>
                  <a:lnTo>
                    <a:pt x="2002" y="4003"/>
                  </a:lnTo>
                  <a:lnTo>
                    <a:pt x="1001" y="4003"/>
                  </a:lnTo>
                  <a:lnTo>
                    <a:pt x="1001" y="3002"/>
                  </a:lnTo>
                  <a:lnTo>
                    <a:pt x="1001" y="2002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4D7129D0-D6A4-3999-B0FB-5F0048F3A503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16/28</a:t>
            </a:r>
          </a:p>
        </p:txBody>
      </p:sp>
    </p:spTree>
    <p:extLst>
      <p:ext uri="{BB962C8B-B14F-4D97-AF65-F5344CB8AC3E}">
        <p14:creationId xmlns:p14="http://schemas.microsoft.com/office/powerpoint/2010/main" val="3219436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67AED4FD-F061-F21F-D160-4BB8A6D1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>
            <a:extLst>
              <a:ext uri="{FF2B5EF4-FFF2-40B4-BE49-F238E27FC236}">
                <a16:creationId xmlns:a16="http://schemas.microsoft.com/office/drawing/2014/main" id="{3F67994E-E237-1D9F-46D1-5D52731F18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5098" y="634694"/>
            <a:ext cx="7697381" cy="39265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Calculer la moyenne des points de données appartenant à chaque cluster et déplacer son centroïde vers l'emplacement moyen.</a:t>
            </a:r>
          </a:p>
          <a:p>
            <a:pPr marL="0" lvl="0" indent="0"/>
            <a:endParaRPr lang="fr-FR" dirty="0"/>
          </a:p>
          <a:p>
            <a:pPr marL="0" lvl="0" indent="0"/>
            <a:r>
              <a:rPr lang="fr-FR" dirty="0"/>
              <a:t>Par exemple, supposons qu’un cluster X possède 5 points de données:</a:t>
            </a:r>
          </a:p>
          <a:p>
            <a:pPr marL="0" lvl="0" indent="0"/>
            <a:r>
              <a:rPr lang="fr-FR" dirty="0"/>
              <a:t>p1=(3,4), p2=(4,1), p3=(2,3), p4=(2,6) et p5=(3,3)</a:t>
            </a:r>
          </a:p>
          <a:p>
            <a:pPr marL="0" lvl="0" indent="0"/>
            <a:endParaRPr lang="fr-FR" dirty="0"/>
          </a:p>
          <a:p>
            <a:pPr marL="0" lvl="0" indent="0"/>
            <a:r>
              <a:rPr lang="fr-FR" dirty="0"/>
              <a:t>Moyenne = (1/5)*(3+4+2+2+3, 4+1+3+6+3) = (1/5)*(14, 17)</a:t>
            </a:r>
          </a:p>
          <a:p>
            <a:pPr marL="0" lvl="0" indent="0"/>
            <a:endParaRPr lang="fr-FR" dirty="0"/>
          </a:p>
          <a:p>
            <a:pPr marL="0" lvl="0" indent="0"/>
            <a:r>
              <a:rPr lang="fr-FR" b="1" dirty="0"/>
              <a:t>Moyenne = (2.8, 3.4)</a:t>
            </a:r>
            <a:endParaRPr b="1" dirty="0"/>
          </a:p>
        </p:txBody>
      </p: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21B3415D-8042-B09A-D919-AF218D9967CD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17/28</a:t>
            </a:r>
          </a:p>
        </p:txBody>
      </p:sp>
    </p:spTree>
    <p:extLst>
      <p:ext uri="{BB962C8B-B14F-4D97-AF65-F5344CB8AC3E}">
        <p14:creationId xmlns:p14="http://schemas.microsoft.com/office/powerpoint/2010/main" val="1904436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4B83F214-E440-95AF-AC7F-62EA15CD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>
            <a:extLst>
              <a:ext uri="{FF2B5EF4-FFF2-40B4-BE49-F238E27FC236}">
                <a16:creationId xmlns:a16="http://schemas.microsoft.com/office/drawing/2014/main" id="{79829889-B1FB-1B3C-80C0-0AD81D1F5A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5098" y="634694"/>
            <a:ext cx="7697381" cy="39265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fr-FR" sz="2800" dirty="0"/>
              <a:t>En conséquence, le centroïde du cluster X sera déplacé vers l'emplacement de coordonné</a:t>
            </a:r>
          </a:p>
          <a:p>
            <a:pPr marL="0" lvl="0" indent="0" algn="ctr"/>
            <a:r>
              <a:rPr lang="fr-FR" sz="2800" b="1" dirty="0"/>
              <a:t>(2.8, 3.4)</a:t>
            </a:r>
            <a:endParaRPr sz="2800" b="1" dirty="0"/>
          </a:p>
        </p:txBody>
      </p: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D70AE5BF-EC23-6743-EB1D-553C1492DDAB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18/28</a:t>
            </a:r>
          </a:p>
        </p:txBody>
      </p:sp>
    </p:spTree>
    <p:extLst>
      <p:ext uri="{BB962C8B-B14F-4D97-AF65-F5344CB8AC3E}">
        <p14:creationId xmlns:p14="http://schemas.microsoft.com/office/powerpoint/2010/main" val="4138535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8825C531-A9AB-EF58-0A0C-91AFE00E9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>
            <a:extLst>
              <a:ext uri="{FF2B5EF4-FFF2-40B4-BE49-F238E27FC236}">
                <a16:creationId xmlns:a16="http://schemas.microsoft.com/office/drawing/2014/main" id="{CE67FE3A-9CD8-01A2-9EC6-AE5DA50F8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Choix du nombre de cluster</a:t>
            </a:r>
          </a:p>
        </p:txBody>
      </p:sp>
      <p:sp>
        <p:nvSpPr>
          <p:cNvPr id="795" name="Google Shape;795;p40">
            <a:extLst>
              <a:ext uri="{FF2B5EF4-FFF2-40B4-BE49-F238E27FC236}">
                <a16:creationId xmlns:a16="http://schemas.microsoft.com/office/drawing/2014/main" id="{DE375948-8196-AE9F-F531-8E8357DB97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08825" y="3310913"/>
            <a:ext cx="5326500" cy="5725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Quelles sont les techniques utilisées pour choisir le bon nombre de clusters ? </a:t>
            </a:r>
          </a:p>
        </p:txBody>
      </p:sp>
      <p:sp>
        <p:nvSpPr>
          <p:cNvPr id="796" name="Google Shape;796;p40">
            <a:extLst>
              <a:ext uri="{FF2B5EF4-FFF2-40B4-BE49-F238E27FC236}">
                <a16:creationId xmlns:a16="http://schemas.microsoft.com/office/drawing/2014/main" id="{D37AA8F1-D2CD-A880-23BF-D9D71542DAF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797" name="Google Shape;797;p40">
            <a:extLst>
              <a:ext uri="{FF2B5EF4-FFF2-40B4-BE49-F238E27FC236}">
                <a16:creationId xmlns:a16="http://schemas.microsoft.com/office/drawing/2014/main" id="{07E24803-DF82-8B0B-4B72-C5792A91FFED}"/>
              </a:ext>
            </a:extLst>
          </p:cNvPr>
          <p:cNvGrpSpPr/>
          <p:nvPr/>
        </p:nvGrpSpPr>
        <p:grpSpPr>
          <a:xfrm>
            <a:off x="5454124" y="661324"/>
            <a:ext cx="2058986" cy="943002"/>
            <a:chOff x="5454124" y="661324"/>
            <a:chExt cx="2058986" cy="943002"/>
          </a:xfrm>
        </p:grpSpPr>
        <p:grpSp>
          <p:nvGrpSpPr>
            <p:cNvPr id="798" name="Google Shape;798;p40">
              <a:extLst>
                <a:ext uri="{FF2B5EF4-FFF2-40B4-BE49-F238E27FC236}">
                  <a16:creationId xmlns:a16="http://schemas.microsoft.com/office/drawing/2014/main" id="{2B38AAE4-6D2B-FA07-B98D-108066BEC394}"/>
                </a:ext>
              </a:extLst>
            </p:cNvPr>
            <p:cNvGrpSpPr/>
            <p:nvPr/>
          </p:nvGrpSpPr>
          <p:grpSpPr>
            <a:xfrm>
              <a:off x="5454124" y="661324"/>
              <a:ext cx="2058986" cy="943002"/>
              <a:chOff x="5865009" y="2043415"/>
              <a:chExt cx="1098126" cy="639627"/>
            </a:xfrm>
          </p:grpSpPr>
          <p:sp>
            <p:nvSpPr>
              <p:cNvPr id="799" name="Google Shape;799;p40">
                <a:extLst>
                  <a:ext uri="{FF2B5EF4-FFF2-40B4-BE49-F238E27FC236}">
                    <a16:creationId xmlns:a16="http://schemas.microsoft.com/office/drawing/2014/main" id="{7822620F-4211-9A5F-3529-59FCB3047F80}"/>
                  </a:ext>
                </a:extLst>
              </p:cNvPr>
              <p:cNvSpPr/>
              <p:nvPr/>
            </p:nvSpPr>
            <p:spPr>
              <a:xfrm>
                <a:off x="6011266" y="2572732"/>
                <a:ext cx="22096" cy="8939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69" extrusionOk="0">
                    <a:moveTo>
                      <a:pt x="0" y="0"/>
                    </a:moveTo>
                    <a:lnTo>
                      <a:pt x="0" y="2569"/>
                    </a:lnTo>
                    <a:lnTo>
                      <a:pt x="634" y="2569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0">
                <a:extLst>
                  <a:ext uri="{FF2B5EF4-FFF2-40B4-BE49-F238E27FC236}">
                    <a16:creationId xmlns:a16="http://schemas.microsoft.com/office/drawing/2014/main" id="{AC2550F0-29F8-7714-DEB3-5E63971A5B17}"/>
                  </a:ext>
                </a:extLst>
              </p:cNvPr>
              <p:cNvSpPr/>
              <p:nvPr/>
            </p:nvSpPr>
            <p:spPr>
              <a:xfrm>
                <a:off x="6033328" y="2660945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1" y="63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0">
                <a:extLst>
                  <a:ext uri="{FF2B5EF4-FFF2-40B4-BE49-F238E27FC236}">
                    <a16:creationId xmlns:a16="http://schemas.microsoft.com/office/drawing/2014/main" id="{B37453CD-9FBB-8BE3-1E9D-8BC38DB528C8}"/>
                  </a:ext>
                </a:extLst>
              </p:cNvPr>
              <p:cNvSpPr/>
              <p:nvPr/>
            </p:nvSpPr>
            <p:spPr>
              <a:xfrm>
                <a:off x="6054207" y="2640066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0">
                <a:extLst>
                  <a:ext uri="{FF2B5EF4-FFF2-40B4-BE49-F238E27FC236}">
                    <a16:creationId xmlns:a16="http://schemas.microsoft.com/office/drawing/2014/main" id="{18C28C6F-D0B0-90DC-C41C-895D70D0BF40}"/>
                  </a:ext>
                </a:extLst>
              </p:cNvPr>
              <p:cNvSpPr/>
              <p:nvPr/>
            </p:nvSpPr>
            <p:spPr>
              <a:xfrm>
                <a:off x="6078601" y="2615673"/>
                <a:ext cx="20913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00" y="634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0">
                <a:extLst>
                  <a:ext uri="{FF2B5EF4-FFF2-40B4-BE49-F238E27FC236}">
                    <a16:creationId xmlns:a16="http://schemas.microsoft.com/office/drawing/2014/main" id="{59F71C6B-87E0-5E31-4E1C-E9ED7844FDB2}"/>
                  </a:ext>
                </a:extLst>
              </p:cNvPr>
              <p:cNvSpPr/>
              <p:nvPr/>
            </p:nvSpPr>
            <p:spPr>
              <a:xfrm>
                <a:off x="6099480" y="2594794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0">
                <a:extLst>
                  <a:ext uri="{FF2B5EF4-FFF2-40B4-BE49-F238E27FC236}">
                    <a16:creationId xmlns:a16="http://schemas.microsoft.com/office/drawing/2014/main" id="{D36551EC-95BE-8412-CD19-36F8C7F3945E}"/>
                  </a:ext>
                </a:extLst>
              </p:cNvPr>
              <p:cNvSpPr/>
              <p:nvPr/>
            </p:nvSpPr>
            <p:spPr>
              <a:xfrm>
                <a:off x="6122690" y="2572732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0">
                <a:extLst>
                  <a:ext uri="{FF2B5EF4-FFF2-40B4-BE49-F238E27FC236}">
                    <a16:creationId xmlns:a16="http://schemas.microsoft.com/office/drawing/2014/main" id="{06AC5001-E38D-31E5-9918-F3B089B0116F}"/>
                  </a:ext>
                </a:extLst>
              </p:cNvPr>
              <p:cNvSpPr/>
              <p:nvPr/>
            </p:nvSpPr>
            <p:spPr>
              <a:xfrm>
                <a:off x="6122690" y="2572732"/>
                <a:ext cx="774244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2250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2250" y="634"/>
                    </a:lnTo>
                    <a:lnTo>
                      <a:pt x="222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0">
                <a:extLst>
                  <a:ext uri="{FF2B5EF4-FFF2-40B4-BE49-F238E27FC236}">
                    <a16:creationId xmlns:a16="http://schemas.microsoft.com/office/drawing/2014/main" id="{9BB877C1-5F5E-9F23-5C33-C285863F307E}"/>
                  </a:ext>
                </a:extLst>
              </p:cNvPr>
              <p:cNvSpPr/>
              <p:nvPr/>
            </p:nvSpPr>
            <p:spPr>
              <a:xfrm>
                <a:off x="5931161" y="2572732"/>
                <a:ext cx="102200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936" y="634"/>
                    </a:lnTo>
                    <a:lnTo>
                      <a:pt x="29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0">
                <a:extLst>
                  <a:ext uri="{FF2B5EF4-FFF2-40B4-BE49-F238E27FC236}">
                    <a16:creationId xmlns:a16="http://schemas.microsoft.com/office/drawing/2014/main" id="{20730EF9-4F9B-6CB3-FBF0-0F9B01B000C1}"/>
                  </a:ext>
                </a:extLst>
              </p:cNvPr>
              <p:cNvSpPr/>
              <p:nvPr/>
            </p:nvSpPr>
            <p:spPr>
              <a:xfrm>
                <a:off x="5931161" y="2043415"/>
                <a:ext cx="964621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27721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27721" y="601"/>
                    </a:lnTo>
                    <a:lnTo>
                      <a:pt x="277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0">
                <a:extLst>
                  <a:ext uri="{FF2B5EF4-FFF2-40B4-BE49-F238E27FC236}">
                    <a16:creationId xmlns:a16="http://schemas.microsoft.com/office/drawing/2014/main" id="{54E47BA2-435F-5FBB-1822-464071E0AF7E}"/>
                  </a:ext>
                </a:extLst>
              </p:cNvPr>
              <p:cNvSpPr/>
              <p:nvPr/>
            </p:nvSpPr>
            <p:spPr>
              <a:xfrm>
                <a:off x="6941039" y="2109566"/>
                <a:ext cx="22096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34" y="12009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0">
                <a:extLst>
                  <a:ext uri="{FF2B5EF4-FFF2-40B4-BE49-F238E27FC236}">
                    <a16:creationId xmlns:a16="http://schemas.microsoft.com/office/drawing/2014/main" id="{70122529-E346-634A-B9E0-A2893955B4B6}"/>
                  </a:ext>
                </a:extLst>
              </p:cNvPr>
              <p:cNvSpPr/>
              <p:nvPr/>
            </p:nvSpPr>
            <p:spPr>
              <a:xfrm>
                <a:off x="6895766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0">
                <a:extLst>
                  <a:ext uri="{FF2B5EF4-FFF2-40B4-BE49-F238E27FC236}">
                    <a16:creationId xmlns:a16="http://schemas.microsoft.com/office/drawing/2014/main" id="{53E56805-32F5-2639-13EF-78DE2CF1DE4D}"/>
                  </a:ext>
                </a:extLst>
              </p:cNvPr>
              <p:cNvSpPr/>
              <p:nvPr/>
            </p:nvSpPr>
            <p:spPr>
              <a:xfrm>
                <a:off x="691782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0">
                <a:extLst>
                  <a:ext uri="{FF2B5EF4-FFF2-40B4-BE49-F238E27FC236}">
                    <a16:creationId xmlns:a16="http://schemas.microsoft.com/office/drawing/2014/main" id="{FE3E804D-E896-2497-4608-1642D5EE2427}"/>
                  </a:ext>
                </a:extLst>
              </p:cNvPr>
              <p:cNvSpPr/>
              <p:nvPr/>
            </p:nvSpPr>
            <p:spPr>
              <a:xfrm>
                <a:off x="6895766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0">
                <a:extLst>
                  <a:ext uri="{FF2B5EF4-FFF2-40B4-BE49-F238E27FC236}">
                    <a16:creationId xmlns:a16="http://schemas.microsoft.com/office/drawing/2014/main" id="{9B2C8D62-19DC-0F10-F6D0-26B91CFD7E6D}"/>
                  </a:ext>
                </a:extLst>
              </p:cNvPr>
              <p:cNvSpPr/>
              <p:nvPr/>
            </p:nvSpPr>
            <p:spPr>
              <a:xfrm>
                <a:off x="691782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0">
                <a:extLst>
                  <a:ext uri="{FF2B5EF4-FFF2-40B4-BE49-F238E27FC236}">
                    <a16:creationId xmlns:a16="http://schemas.microsoft.com/office/drawing/2014/main" id="{E85555D5-4BAF-3BC9-11F6-3287DD51DDB9}"/>
                  </a:ext>
                </a:extLst>
              </p:cNvPr>
              <p:cNvSpPr/>
              <p:nvPr/>
            </p:nvSpPr>
            <p:spPr>
              <a:xfrm>
                <a:off x="5865009" y="2109566"/>
                <a:ext cx="20913" cy="417918"/>
              </a:xfrm>
              <a:custGeom>
                <a:avLst/>
                <a:gdLst/>
                <a:ahLst/>
                <a:cxnLst/>
                <a:rect l="l" t="t" r="r" b="b"/>
                <a:pathLst>
                  <a:path w="601" h="12010" extrusionOk="0">
                    <a:moveTo>
                      <a:pt x="0" y="1"/>
                    </a:moveTo>
                    <a:lnTo>
                      <a:pt x="0" y="12009"/>
                    </a:lnTo>
                    <a:lnTo>
                      <a:pt x="601" y="12009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0">
                <a:extLst>
                  <a:ext uri="{FF2B5EF4-FFF2-40B4-BE49-F238E27FC236}">
                    <a16:creationId xmlns:a16="http://schemas.microsoft.com/office/drawing/2014/main" id="{1640E290-0F75-2AC5-D6AE-EF710F52E4E3}"/>
                  </a:ext>
                </a:extLst>
              </p:cNvPr>
              <p:cNvSpPr/>
              <p:nvPr/>
            </p:nvSpPr>
            <p:spPr>
              <a:xfrm>
                <a:off x="5907950" y="2064294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4" y="63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0">
                <a:extLst>
                  <a:ext uri="{FF2B5EF4-FFF2-40B4-BE49-F238E27FC236}">
                    <a16:creationId xmlns:a16="http://schemas.microsoft.com/office/drawing/2014/main" id="{A6ECCA72-1755-9620-97BD-4D69CBDE4E2E}"/>
                  </a:ext>
                </a:extLst>
              </p:cNvPr>
              <p:cNvSpPr/>
              <p:nvPr/>
            </p:nvSpPr>
            <p:spPr>
              <a:xfrm>
                <a:off x="5885888" y="208868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0">
                <a:extLst>
                  <a:ext uri="{FF2B5EF4-FFF2-40B4-BE49-F238E27FC236}">
                    <a16:creationId xmlns:a16="http://schemas.microsoft.com/office/drawing/2014/main" id="{5574F40A-ADBF-4BD7-C785-3ECB0109E461}"/>
                  </a:ext>
                </a:extLst>
              </p:cNvPr>
              <p:cNvSpPr/>
              <p:nvPr/>
            </p:nvSpPr>
            <p:spPr>
              <a:xfrm>
                <a:off x="5907950" y="2549521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0">
                <a:extLst>
                  <a:ext uri="{FF2B5EF4-FFF2-40B4-BE49-F238E27FC236}">
                    <a16:creationId xmlns:a16="http://schemas.microsoft.com/office/drawing/2014/main" id="{CD476097-604A-65FA-FD16-9FAE62A3C041}"/>
                  </a:ext>
                </a:extLst>
              </p:cNvPr>
              <p:cNvSpPr/>
              <p:nvPr/>
            </p:nvSpPr>
            <p:spPr>
              <a:xfrm>
                <a:off x="5885888" y="2527459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8" name="Google Shape;818;p40">
              <a:extLst>
                <a:ext uri="{FF2B5EF4-FFF2-40B4-BE49-F238E27FC236}">
                  <a16:creationId xmlns:a16="http://schemas.microsoft.com/office/drawing/2014/main" id="{047C0C88-3E4C-434D-0AEE-7E64218E3762}"/>
                </a:ext>
              </a:extLst>
            </p:cNvPr>
            <p:cNvGrpSpPr/>
            <p:nvPr/>
          </p:nvGrpSpPr>
          <p:grpSpPr>
            <a:xfrm>
              <a:off x="5901175" y="725600"/>
              <a:ext cx="1265025" cy="681500"/>
              <a:chOff x="5901175" y="725600"/>
              <a:chExt cx="1265025" cy="681500"/>
            </a:xfrm>
          </p:grpSpPr>
          <p:sp>
            <p:nvSpPr>
              <p:cNvPr id="819" name="Google Shape;819;p40">
                <a:extLst>
                  <a:ext uri="{FF2B5EF4-FFF2-40B4-BE49-F238E27FC236}">
                    <a16:creationId xmlns:a16="http://schemas.microsoft.com/office/drawing/2014/main" id="{5E5C46BD-F4B5-2B73-073E-752C44198315}"/>
                  </a:ext>
                </a:extLst>
              </p:cNvPr>
              <p:cNvSpPr/>
              <p:nvPr/>
            </p:nvSpPr>
            <p:spPr>
              <a:xfrm>
                <a:off x="6147525" y="918250"/>
                <a:ext cx="783300" cy="309600"/>
              </a:xfrm>
              <a:prstGeom prst="rtTriangl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0">
                <a:extLst>
                  <a:ext uri="{FF2B5EF4-FFF2-40B4-BE49-F238E27FC236}">
                    <a16:creationId xmlns:a16="http://schemas.microsoft.com/office/drawing/2014/main" id="{FB4D9D0D-0146-E4DC-E803-77C87DFE1558}"/>
                  </a:ext>
                </a:extLst>
              </p:cNvPr>
              <p:cNvSpPr txBox="1"/>
              <p:nvPr/>
            </p:nvSpPr>
            <p:spPr>
              <a:xfrm>
                <a:off x="5901175" y="7256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x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  <p:sp>
            <p:nvSpPr>
              <p:cNvPr id="821" name="Google Shape;821;p40">
                <a:extLst>
                  <a:ext uri="{FF2B5EF4-FFF2-40B4-BE49-F238E27FC236}">
                    <a16:creationId xmlns:a16="http://schemas.microsoft.com/office/drawing/2014/main" id="{D6403828-04C7-15DA-C31F-9EA0CB7C3880}"/>
                  </a:ext>
                </a:extLst>
              </p:cNvPr>
              <p:cNvSpPr txBox="1"/>
              <p:nvPr/>
            </p:nvSpPr>
            <p:spPr>
              <a:xfrm>
                <a:off x="6832300" y="1053100"/>
                <a:ext cx="3339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latin typeface="Fira Code"/>
                    <a:ea typeface="Fira Code"/>
                    <a:cs typeface="Fira Code"/>
                    <a:sym typeface="Fira Code"/>
                  </a:rPr>
                  <a:t>y</a:t>
                </a:r>
                <a:endParaRPr sz="1100" b="1"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750700EE-802E-21B6-7833-3C8FA29B76CD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19/28</a:t>
            </a:r>
          </a:p>
        </p:txBody>
      </p:sp>
    </p:spTree>
    <p:extLst>
      <p:ext uri="{BB962C8B-B14F-4D97-AF65-F5344CB8AC3E}">
        <p14:creationId xmlns:p14="http://schemas.microsoft.com/office/powerpoint/2010/main" val="1636153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E2D17847-5853-4864-B3DC-4674AF1B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>
            <a:extLst>
              <a:ext uri="{FF2B5EF4-FFF2-40B4-BE49-F238E27FC236}">
                <a16:creationId xmlns:a16="http://schemas.microsoft.com/office/drawing/2014/main" id="{AC6FA5B1-2023-BD22-602B-DEA2E701B7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5098" y="634694"/>
            <a:ext cx="7697381" cy="10542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Il nous est parfois difficile de déterminer le nombre de clusters en fonction de la manière dont les données sont distribuées, d’où l’importance d’utiliser une méthode.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D8DBA-A82B-B85F-E5AB-82F11F49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88" y="1688951"/>
            <a:ext cx="5943600" cy="2971800"/>
          </a:xfrm>
          <a:prstGeom prst="rect">
            <a:avLst/>
          </a:prstGeom>
        </p:spPr>
      </p:pic>
      <p:sp>
        <p:nvSpPr>
          <p:cNvPr id="4" name="Google Shape;703;p38">
            <a:extLst>
              <a:ext uri="{FF2B5EF4-FFF2-40B4-BE49-F238E27FC236}">
                <a16:creationId xmlns:a16="http://schemas.microsoft.com/office/drawing/2014/main" id="{34D382CE-B599-4FED-1671-00E2A5B3E901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20/28</a:t>
            </a:r>
          </a:p>
        </p:txBody>
      </p:sp>
    </p:spTree>
    <p:extLst>
      <p:ext uri="{BB962C8B-B14F-4D97-AF65-F5344CB8AC3E}">
        <p14:creationId xmlns:p14="http://schemas.microsoft.com/office/powerpoint/2010/main" val="3579189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"/>
          <p:cNvSpPr txBox="1">
            <a:spLocks noGrp="1"/>
          </p:cNvSpPr>
          <p:nvPr>
            <p:ph type="title"/>
          </p:nvPr>
        </p:nvSpPr>
        <p:spPr>
          <a:xfrm>
            <a:off x="715099" y="527124"/>
            <a:ext cx="7525213" cy="7426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3500" dirty="0"/>
              <a:t>Méthode </a:t>
            </a:r>
            <a:r>
              <a:rPr lang="fr-FR" sz="3500" dirty="0" err="1"/>
              <a:t>Elbow</a:t>
            </a:r>
            <a:r>
              <a:rPr lang="fr-FR" sz="3500" dirty="0"/>
              <a:t> (Méthode du coude)</a:t>
            </a:r>
            <a:endParaRPr sz="3500" dirty="0"/>
          </a:p>
        </p:txBody>
      </p:sp>
      <p:sp>
        <p:nvSpPr>
          <p:cNvPr id="745" name="Google Shape;745;p39"/>
          <p:cNvSpPr txBox="1">
            <a:spLocks noGrp="1"/>
          </p:cNvSpPr>
          <p:nvPr>
            <p:ph type="subTitle" idx="1"/>
          </p:nvPr>
        </p:nvSpPr>
        <p:spPr>
          <a:xfrm>
            <a:off x="715099" y="1613640"/>
            <a:ext cx="7708139" cy="25505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La méthode </a:t>
            </a:r>
            <a:r>
              <a:rPr lang="fr-FR" dirty="0" err="1"/>
              <a:t>Elbow</a:t>
            </a:r>
            <a:r>
              <a:rPr lang="fr-FR" dirty="0"/>
              <a:t> est une </a:t>
            </a:r>
            <a:r>
              <a:rPr lang="fr-FR" b="1" dirty="0">
                <a:solidFill>
                  <a:srgbClr val="5F9127"/>
                </a:solidFill>
              </a:rPr>
              <a:t>méthode graphique</a:t>
            </a:r>
            <a:r>
              <a:rPr lang="fr-FR" b="1" dirty="0"/>
              <a:t> </a:t>
            </a:r>
            <a:r>
              <a:rPr lang="fr-FR" dirty="0"/>
              <a:t>permettant de trouver la valeur K optimale dans un algorithme de clustering à K-</a:t>
            </a:r>
            <a:r>
              <a:rPr lang="fr-FR" dirty="0" err="1"/>
              <a:t>Means</a:t>
            </a:r>
            <a:r>
              <a:rPr lang="fr-FR" dirty="0"/>
              <a:t>. Le graphique du coude montre les valeurs des erreurs de la somme des carrés (WCSS), sur l'axe des y, et les valeurs de K, sur l'axe des x.</a:t>
            </a:r>
          </a:p>
          <a:p>
            <a:pPr marL="0" lvl="0" indent="0"/>
            <a:endParaRPr lang="fr-FR" dirty="0"/>
          </a:p>
          <a:p>
            <a:pPr marL="0" lvl="0" indent="0"/>
            <a:r>
              <a:rPr lang="fr-FR" dirty="0"/>
              <a:t>La valeur K optimale est le </a:t>
            </a:r>
            <a:r>
              <a:rPr lang="fr-FR" b="1" dirty="0">
                <a:solidFill>
                  <a:srgbClr val="5F9127"/>
                </a:solidFill>
              </a:rPr>
              <a:t>point auquel le graphique forme un coude.</a:t>
            </a:r>
            <a:endParaRPr b="1" dirty="0">
              <a:solidFill>
                <a:srgbClr val="5F9127"/>
              </a:solidFill>
            </a:endParaRPr>
          </a:p>
        </p:txBody>
      </p: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5E3A770F-368F-CD67-6710-892C920FD6DA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98CD353F-6B48-83DC-4C13-5E5931D1A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>
            <a:extLst>
              <a:ext uri="{FF2B5EF4-FFF2-40B4-BE49-F238E27FC236}">
                <a16:creationId xmlns:a16="http://schemas.microsoft.com/office/drawing/2014/main" id="{C9902819-760C-4A81-49B6-CCC21611AC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3488" y="3463955"/>
            <a:ext cx="8552328" cy="11618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Il faut choisissons la valeur K à laquelle le coude est créé. Nous pouvons appeler cela </a:t>
            </a:r>
            <a:r>
              <a:rPr lang="fr-FR" b="1" dirty="0" err="1">
                <a:solidFill>
                  <a:srgbClr val="5F9127"/>
                </a:solidFill>
              </a:rPr>
              <a:t>Elbow</a:t>
            </a:r>
            <a:r>
              <a:rPr lang="fr-FR" b="1" dirty="0">
                <a:solidFill>
                  <a:srgbClr val="5F9127"/>
                </a:solidFill>
              </a:rPr>
              <a:t> Point</a:t>
            </a:r>
            <a:r>
              <a:rPr lang="fr-FR" dirty="0"/>
              <a:t>.</a:t>
            </a:r>
          </a:p>
          <a:p>
            <a:pPr marL="0" lvl="0" indent="0"/>
            <a:r>
              <a:rPr lang="fr-FR" dirty="0"/>
              <a:t>Au-delà du point de coude, l'augmentation de la valeur de K n'entraîne pas une réduction significative du WCSS.</a:t>
            </a:r>
            <a:endParaRPr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6E929F-39FE-5F82-958A-AF50DF5A9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87" y="440055"/>
            <a:ext cx="5838825" cy="2800350"/>
          </a:xfrm>
          <a:prstGeom prst="rect">
            <a:avLst/>
          </a:prstGeom>
        </p:spPr>
      </p:pic>
      <p:sp>
        <p:nvSpPr>
          <p:cNvPr id="9" name="Google Shape;703;p38">
            <a:extLst>
              <a:ext uri="{FF2B5EF4-FFF2-40B4-BE49-F238E27FC236}">
                <a16:creationId xmlns:a16="http://schemas.microsoft.com/office/drawing/2014/main" id="{2A99C1CE-266F-C152-8E38-2C114750E865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22/28</a:t>
            </a:r>
          </a:p>
        </p:txBody>
      </p:sp>
    </p:spTree>
    <p:extLst>
      <p:ext uri="{BB962C8B-B14F-4D97-AF65-F5344CB8AC3E}">
        <p14:creationId xmlns:p14="http://schemas.microsoft.com/office/powerpoint/2010/main" val="2972425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6CDCE885-6DF4-6845-293B-B3C9FB94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>
            <a:extLst>
              <a:ext uri="{FF2B5EF4-FFF2-40B4-BE49-F238E27FC236}">
                <a16:creationId xmlns:a16="http://schemas.microsoft.com/office/drawing/2014/main" id="{66F3CB5B-4E2B-D64C-39ED-FE9CA24F10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309" y="1404541"/>
            <a:ext cx="7697381" cy="23344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fr-FR" dirty="0"/>
              <a:t>Mais dans la majorité des ensembles de données du monde réel, il n'existe pas de point d'inflexion clair du coude permettant d'identifier le bon « K » à l'aide de la méthode </a:t>
            </a:r>
            <a:r>
              <a:rPr lang="fr-FR" dirty="0" err="1"/>
              <a:t>Elbow</a:t>
            </a:r>
            <a:r>
              <a:rPr lang="fr-FR" dirty="0"/>
              <a:t>, Il faudra donc faire preuve d'une grande observation et tester manuellement différente valeur de k et choisir celui qui donne la meilleure performance.</a:t>
            </a:r>
            <a:endParaRPr b="1" dirty="0"/>
          </a:p>
        </p:txBody>
      </p: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69028E3B-266F-F5B7-E48D-3B947DE25E82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23/28</a:t>
            </a:r>
          </a:p>
        </p:txBody>
      </p:sp>
    </p:spTree>
    <p:extLst>
      <p:ext uri="{BB962C8B-B14F-4D97-AF65-F5344CB8AC3E}">
        <p14:creationId xmlns:p14="http://schemas.microsoft.com/office/powerpoint/2010/main" val="106033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BA7CF366-CE96-ED15-F94B-363BA0E6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F10707-D5A6-37DB-1807-29E1FCC22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62" y="1095375"/>
            <a:ext cx="5781675" cy="2952750"/>
          </a:xfrm>
          <a:prstGeom prst="rect">
            <a:avLst/>
          </a:prstGeom>
        </p:spPr>
      </p:pic>
      <p:sp>
        <p:nvSpPr>
          <p:cNvPr id="6" name="Google Shape;703;p38">
            <a:extLst>
              <a:ext uri="{FF2B5EF4-FFF2-40B4-BE49-F238E27FC236}">
                <a16:creationId xmlns:a16="http://schemas.microsoft.com/office/drawing/2014/main" id="{6E1A572C-1EB3-40D2-3DAD-3CA41D8E08DF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24/28</a:t>
            </a:r>
          </a:p>
        </p:txBody>
      </p:sp>
    </p:spTree>
    <p:extLst>
      <p:ext uri="{BB962C8B-B14F-4D97-AF65-F5344CB8AC3E}">
        <p14:creationId xmlns:p14="http://schemas.microsoft.com/office/powerpoint/2010/main" val="511228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>
          <a:extLst>
            <a:ext uri="{FF2B5EF4-FFF2-40B4-BE49-F238E27FC236}">
              <a16:creationId xmlns:a16="http://schemas.microsoft.com/office/drawing/2014/main" id="{1E884F94-455A-4BD0-0FDC-2F4B26A0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7">
            <a:extLst>
              <a:ext uri="{FF2B5EF4-FFF2-40B4-BE49-F238E27FC236}">
                <a16:creationId xmlns:a16="http://schemas.microsoft.com/office/drawing/2014/main" id="{4CF7E7C4-9B40-AD83-ACE3-80FC3C5A6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2371250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Cas pratique</a:t>
            </a:r>
            <a:endParaRPr dirty="0"/>
          </a:p>
        </p:txBody>
      </p:sp>
      <p:sp>
        <p:nvSpPr>
          <p:cNvPr id="997" name="Google Shape;997;p47">
            <a:extLst>
              <a:ext uri="{FF2B5EF4-FFF2-40B4-BE49-F238E27FC236}">
                <a16:creationId xmlns:a16="http://schemas.microsoft.com/office/drawing/2014/main" id="{7FC5342B-6DF2-74DA-C4DC-0FB82C17064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1300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998" name="Google Shape;998;p47">
            <a:extLst>
              <a:ext uri="{FF2B5EF4-FFF2-40B4-BE49-F238E27FC236}">
                <a16:creationId xmlns:a16="http://schemas.microsoft.com/office/drawing/2014/main" id="{DD80F71A-5966-0EDB-E5A0-8C162A3D31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5100" y="3545974"/>
            <a:ext cx="5326500" cy="4881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Comment </a:t>
            </a:r>
            <a:r>
              <a:rPr lang="fr-FR" dirty="0" err="1"/>
              <a:t>implementer</a:t>
            </a:r>
            <a:r>
              <a:rPr lang="fr-FR" dirty="0"/>
              <a:t> concrètement l’algorithme K-</a:t>
            </a:r>
            <a:r>
              <a:rPr lang="fr-FR" dirty="0" err="1"/>
              <a:t>Means</a:t>
            </a:r>
            <a:r>
              <a:rPr lang="fr-FR" dirty="0"/>
              <a:t> ?</a:t>
            </a:r>
          </a:p>
        </p:txBody>
      </p:sp>
      <p:grpSp>
        <p:nvGrpSpPr>
          <p:cNvPr id="999" name="Google Shape;999;p47">
            <a:extLst>
              <a:ext uri="{FF2B5EF4-FFF2-40B4-BE49-F238E27FC236}">
                <a16:creationId xmlns:a16="http://schemas.microsoft.com/office/drawing/2014/main" id="{1B00D33D-B7F0-1CC9-1AE7-F5C702D46AE8}"/>
              </a:ext>
            </a:extLst>
          </p:cNvPr>
          <p:cNvGrpSpPr/>
          <p:nvPr/>
        </p:nvGrpSpPr>
        <p:grpSpPr>
          <a:xfrm>
            <a:off x="6168919" y="1028962"/>
            <a:ext cx="1747042" cy="1056990"/>
            <a:chOff x="6168919" y="1028962"/>
            <a:chExt cx="1747042" cy="1056990"/>
          </a:xfrm>
        </p:grpSpPr>
        <p:grpSp>
          <p:nvGrpSpPr>
            <p:cNvPr id="1000" name="Google Shape;1000;p47">
              <a:extLst>
                <a:ext uri="{FF2B5EF4-FFF2-40B4-BE49-F238E27FC236}">
                  <a16:creationId xmlns:a16="http://schemas.microsoft.com/office/drawing/2014/main" id="{52285ECA-00F1-9D5A-EBF2-8F6506B03051}"/>
                </a:ext>
              </a:extLst>
            </p:cNvPr>
            <p:cNvGrpSpPr/>
            <p:nvPr/>
          </p:nvGrpSpPr>
          <p:grpSpPr>
            <a:xfrm flipH="1">
              <a:off x="6168919" y="1028962"/>
              <a:ext cx="1747042" cy="1056990"/>
              <a:chOff x="5321775" y="2961603"/>
              <a:chExt cx="922847" cy="558338"/>
            </a:xfrm>
          </p:grpSpPr>
          <p:sp>
            <p:nvSpPr>
              <p:cNvPr id="1001" name="Google Shape;1001;p47">
                <a:extLst>
                  <a:ext uri="{FF2B5EF4-FFF2-40B4-BE49-F238E27FC236}">
                    <a16:creationId xmlns:a16="http://schemas.microsoft.com/office/drawing/2014/main" id="{A6CF7F04-8B1F-5BC7-08BD-F3F15D7BF49E}"/>
                  </a:ext>
                </a:extLst>
              </p:cNvPr>
              <p:cNvSpPr/>
              <p:nvPr/>
            </p:nvSpPr>
            <p:spPr>
              <a:xfrm>
                <a:off x="5434347" y="2961603"/>
                <a:ext cx="699987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20116" h="634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0115" y="634"/>
                    </a:lnTo>
                    <a:lnTo>
                      <a:pt x="201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7">
                <a:extLst>
                  <a:ext uri="{FF2B5EF4-FFF2-40B4-BE49-F238E27FC236}">
                    <a16:creationId xmlns:a16="http://schemas.microsoft.com/office/drawing/2014/main" id="{06981D4D-8137-50C0-4213-D98C12C5DDB7}"/>
                  </a:ext>
                </a:extLst>
              </p:cNvPr>
              <p:cNvSpPr/>
              <p:nvPr/>
            </p:nvSpPr>
            <p:spPr>
              <a:xfrm>
                <a:off x="5981096" y="3386420"/>
                <a:ext cx="20913" cy="11264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3237" extrusionOk="0">
                    <a:moveTo>
                      <a:pt x="0" y="1"/>
                    </a:moveTo>
                    <a:lnTo>
                      <a:pt x="0" y="3236"/>
                    </a:lnTo>
                    <a:lnTo>
                      <a:pt x="600" y="3236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7">
                <a:extLst>
                  <a:ext uri="{FF2B5EF4-FFF2-40B4-BE49-F238E27FC236}">
                    <a16:creationId xmlns:a16="http://schemas.microsoft.com/office/drawing/2014/main" id="{40D4BA2D-E169-8A2E-7139-5E511ACD965D}"/>
                  </a:ext>
                </a:extLst>
              </p:cNvPr>
              <p:cNvSpPr/>
              <p:nvPr/>
            </p:nvSpPr>
            <p:spPr>
              <a:xfrm>
                <a:off x="5957851" y="349902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7">
                <a:extLst>
                  <a:ext uri="{FF2B5EF4-FFF2-40B4-BE49-F238E27FC236}">
                    <a16:creationId xmlns:a16="http://schemas.microsoft.com/office/drawing/2014/main" id="{850702E3-7E42-27FC-701F-DCA770CC9872}"/>
                  </a:ext>
                </a:extLst>
              </p:cNvPr>
              <p:cNvSpPr/>
              <p:nvPr/>
            </p:nvSpPr>
            <p:spPr>
              <a:xfrm>
                <a:off x="5935824" y="3476965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7">
                <a:extLst>
                  <a:ext uri="{FF2B5EF4-FFF2-40B4-BE49-F238E27FC236}">
                    <a16:creationId xmlns:a16="http://schemas.microsoft.com/office/drawing/2014/main" id="{18366FCD-E6B3-75D3-6690-E5F97E0C1077}"/>
                  </a:ext>
                </a:extLst>
              </p:cNvPr>
              <p:cNvSpPr/>
              <p:nvPr/>
            </p:nvSpPr>
            <p:spPr>
              <a:xfrm>
                <a:off x="5912579" y="3453755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7">
                <a:extLst>
                  <a:ext uri="{FF2B5EF4-FFF2-40B4-BE49-F238E27FC236}">
                    <a16:creationId xmlns:a16="http://schemas.microsoft.com/office/drawing/2014/main" id="{46EA796F-C065-BAFF-9F74-FDA4A9F6F445}"/>
                  </a:ext>
                </a:extLst>
              </p:cNvPr>
              <p:cNvSpPr/>
              <p:nvPr/>
            </p:nvSpPr>
            <p:spPr>
              <a:xfrm>
                <a:off x="5890551" y="3431693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47">
                <a:extLst>
                  <a:ext uri="{FF2B5EF4-FFF2-40B4-BE49-F238E27FC236}">
                    <a16:creationId xmlns:a16="http://schemas.microsoft.com/office/drawing/2014/main" id="{69DFF5AF-A7D5-4952-D880-9C558B8107CA}"/>
                  </a:ext>
                </a:extLst>
              </p:cNvPr>
              <p:cNvSpPr/>
              <p:nvPr/>
            </p:nvSpPr>
            <p:spPr>
              <a:xfrm>
                <a:off x="5869638" y="3408482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47">
                <a:extLst>
                  <a:ext uri="{FF2B5EF4-FFF2-40B4-BE49-F238E27FC236}">
                    <a16:creationId xmlns:a16="http://schemas.microsoft.com/office/drawing/2014/main" id="{AA4C6D7A-3F81-AAC4-19BB-4A7378A19AE9}"/>
                  </a:ext>
                </a:extLst>
              </p:cNvPr>
              <p:cNvSpPr/>
              <p:nvPr/>
            </p:nvSpPr>
            <p:spPr>
              <a:xfrm>
                <a:off x="5846427" y="3386420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01" y="635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7">
                <a:extLst>
                  <a:ext uri="{FF2B5EF4-FFF2-40B4-BE49-F238E27FC236}">
                    <a16:creationId xmlns:a16="http://schemas.microsoft.com/office/drawing/2014/main" id="{163E23ED-34A6-FCA9-6190-D4DAEBEA6136}"/>
                  </a:ext>
                </a:extLst>
              </p:cNvPr>
              <p:cNvSpPr/>
              <p:nvPr/>
            </p:nvSpPr>
            <p:spPr>
              <a:xfrm>
                <a:off x="5321775" y="3073027"/>
                <a:ext cx="22062" cy="22406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439" extrusionOk="0">
                    <a:moveTo>
                      <a:pt x="0" y="0"/>
                    </a:moveTo>
                    <a:lnTo>
                      <a:pt x="0" y="6438"/>
                    </a:lnTo>
                    <a:lnTo>
                      <a:pt x="634" y="6438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7">
                <a:extLst>
                  <a:ext uri="{FF2B5EF4-FFF2-40B4-BE49-F238E27FC236}">
                    <a16:creationId xmlns:a16="http://schemas.microsoft.com/office/drawing/2014/main" id="{FF52C29C-327D-44BC-C249-CB2432F218A5}"/>
                  </a:ext>
                </a:extLst>
              </p:cNvPr>
              <p:cNvSpPr/>
              <p:nvPr/>
            </p:nvSpPr>
            <p:spPr>
              <a:xfrm>
                <a:off x="5321775" y="3073027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7">
                <a:extLst>
                  <a:ext uri="{FF2B5EF4-FFF2-40B4-BE49-F238E27FC236}">
                    <a16:creationId xmlns:a16="http://schemas.microsoft.com/office/drawing/2014/main" id="{C32847D1-48CB-2177-F1AC-29F18E05CD58}"/>
                  </a:ext>
                </a:extLst>
              </p:cNvPr>
              <p:cNvSpPr/>
              <p:nvPr/>
            </p:nvSpPr>
            <p:spPr>
              <a:xfrm>
                <a:off x="5343802" y="3050965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7">
                <a:extLst>
                  <a:ext uri="{FF2B5EF4-FFF2-40B4-BE49-F238E27FC236}">
                    <a16:creationId xmlns:a16="http://schemas.microsoft.com/office/drawing/2014/main" id="{47E607DE-B8F1-8826-6260-018A95898D8C}"/>
                  </a:ext>
                </a:extLst>
              </p:cNvPr>
              <p:cNvSpPr/>
              <p:nvPr/>
            </p:nvSpPr>
            <p:spPr>
              <a:xfrm>
                <a:off x="5367047" y="3028902"/>
                <a:ext cx="22062" cy="20948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2" extrusionOk="0">
                    <a:moveTo>
                      <a:pt x="0" y="1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7">
                <a:extLst>
                  <a:ext uri="{FF2B5EF4-FFF2-40B4-BE49-F238E27FC236}">
                    <a16:creationId xmlns:a16="http://schemas.microsoft.com/office/drawing/2014/main" id="{BA4F2AD4-14BE-E02C-CF81-C4970493EB7D}"/>
                  </a:ext>
                </a:extLst>
              </p:cNvPr>
              <p:cNvSpPr/>
              <p:nvPr/>
            </p:nvSpPr>
            <p:spPr>
              <a:xfrm>
                <a:off x="5389075" y="3006840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7">
                <a:extLst>
                  <a:ext uri="{FF2B5EF4-FFF2-40B4-BE49-F238E27FC236}">
                    <a16:creationId xmlns:a16="http://schemas.microsoft.com/office/drawing/2014/main" id="{EA1B4AFB-FE63-1EC2-1987-5B8015710DF6}"/>
                  </a:ext>
                </a:extLst>
              </p:cNvPr>
              <p:cNvSpPr/>
              <p:nvPr/>
            </p:nvSpPr>
            <p:spPr>
              <a:xfrm>
                <a:off x="5412320" y="2984813"/>
                <a:ext cx="22062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4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7">
                <a:extLst>
                  <a:ext uri="{FF2B5EF4-FFF2-40B4-BE49-F238E27FC236}">
                    <a16:creationId xmlns:a16="http://schemas.microsoft.com/office/drawing/2014/main" id="{C298D103-1176-800F-7F6F-0862CA33FB49}"/>
                  </a:ext>
                </a:extLst>
              </p:cNvPr>
              <p:cNvSpPr/>
              <p:nvPr/>
            </p:nvSpPr>
            <p:spPr>
              <a:xfrm>
                <a:off x="6223674" y="3073027"/>
                <a:ext cx="20948" cy="224061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39" extrusionOk="0">
                    <a:moveTo>
                      <a:pt x="1" y="0"/>
                    </a:moveTo>
                    <a:lnTo>
                      <a:pt x="1" y="6438"/>
                    </a:lnTo>
                    <a:lnTo>
                      <a:pt x="601" y="6438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7">
                <a:extLst>
                  <a:ext uri="{FF2B5EF4-FFF2-40B4-BE49-F238E27FC236}">
                    <a16:creationId xmlns:a16="http://schemas.microsoft.com/office/drawing/2014/main" id="{799BB1E6-474F-A005-7CD1-4F2F24845C45}"/>
                  </a:ext>
                </a:extLst>
              </p:cNvPr>
              <p:cNvSpPr/>
              <p:nvPr/>
            </p:nvSpPr>
            <p:spPr>
              <a:xfrm>
                <a:off x="6223674" y="3073027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7">
                <a:extLst>
                  <a:ext uri="{FF2B5EF4-FFF2-40B4-BE49-F238E27FC236}">
                    <a16:creationId xmlns:a16="http://schemas.microsoft.com/office/drawing/2014/main" id="{07B56DAA-D784-00FD-6316-76806D166B95}"/>
                  </a:ext>
                </a:extLst>
              </p:cNvPr>
              <p:cNvSpPr/>
              <p:nvPr/>
            </p:nvSpPr>
            <p:spPr>
              <a:xfrm>
                <a:off x="6201612" y="3050965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7">
                <a:extLst>
                  <a:ext uri="{FF2B5EF4-FFF2-40B4-BE49-F238E27FC236}">
                    <a16:creationId xmlns:a16="http://schemas.microsoft.com/office/drawing/2014/main" id="{3CE2D113-4986-DBDF-89D7-07974BDF9084}"/>
                  </a:ext>
                </a:extLst>
              </p:cNvPr>
              <p:cNvSpPr/>
              <p:nvPr/>
            </p:nvSpPr>
            <p:spPr>
              <a:xfrm>
                <a:off x="6178402" y="3028902"/>
                <a:ext cx="20948" cy="20948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2" extrusionOk="0">
                    <a:moveTo>
                      <a:pt x="1" y="1"/>
                    </a:moveTo>
                    <a:lnTo>
                      <a:pt x="1" y="601"/>
                    </a:lnTo>
                    <a:lnTo>
                      <a:pt x="601" y="601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7">
                <a:extLst>
                  <a:ext uri="{FF2B5EF4-FFF2-40B4-BE49-F238E27FC236}">
                    <a16:creationId xmlns:a16="http://schemas.microsoft.com/office/drawing/2014/main" id="{D18B0469-72C0-9199-7D03-CD25C8545FE1}"/>
                  </a:ext>
                </a:extLst>
              </p:cNvPr>
              <p:cNvSpPr/>
              <p:nvPr/>
            </p:nvSpPr>
            <p:spPr>
              <a:xfrm>
                <a:off x="6156340" y="3006840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7">
                <a:extLst>
                  <a:ext uri="{FF2B5EF4-FFF2-40B4-BE49-F238E27FC236}">
                    <a16:creationId xmlns:a16="http://schemas.microsoft.com/office/drawing/2014/main" id="{B0D261BF-15E0-DD49-AA70-1169D8204A7E}"/>
                  </a:ext>
                </a:extLst>
              </p:cNvPr>
              <p:cNvSpPr/>
              <p:nvPr/>
            </p:nvSpPr>
            <p:spPr>
              <a:xfrm>
                <a:off x="6134313" y="2984813"/>
                <a:ext cx="22062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4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7">
                <a:extLst>
                  <a:ext uri="{FF2B5EF4-FFF2-40B4-BE49-F238E27FC236}">
                    <a16:creationId xmlns:a16="http://schemas.microsoft.com/office/drawing/2014/main" id="{6F36BCBF-850C-2823-E6AA-0411FE666DCE}"/>
                  </a:ext>
                </a:extLst>
              </p:cNvPr>
              <p:cNvSpPr/>
              <p:nvPr/>
            </p:nvSpPr>
            <p:spPr>
              <a:xfrm>
                <a:off x="5434347" y="3386420"/>
                <a:ext cx="435317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12510" y="635"/>
                    </a:lnTo>
                    <a:lnTo>
                      <a:pt x="1251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7">
                <a:extLst>
                  <a:ext uri="{FF2B5EF4-FFF2-40B4-BE49-F238E27FC236}">
                    <a16:creationId xmlns:a16="http://schemas.microsoft.com/office/drawing/2014/main" id="{E63A56BC-0B4B-69AD-052F-360C337A9E24}"/>
                  </a:ext>
                </a:extLst>
              </p:cNvPr>
              <p:cNvSpPr/>
              <p:nvPr/>
            </p:nvSpPr>
            <p:spPr>
              <a:xfrm>
                <a:off x="5981096" y="3386420"/>
                <a:ext cx="1532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635" extrusionOk="0">
                    <a:moveTo>
                      <a:pt x="0" y="1"/>
                    </a:moveTo>
                    <a:lnTo>
                      <a:pt x="0" y="635"/>
                    </a:lnTo>
                    <a:lnTo>
                      <a:pt x="4403" y="635"/>
                    </a:lnTo>
                    <a:lnTo>
                      <a:pt x="44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7">
                <a:extLst>
                  <a:ext uri="{FF2B5EF4-FFF2-40B4-BE49-F238E27FC236}">
                    <a16:creationId xmlns:a16="http://schemas.microsoft.com/office/drawing/2014/main" id="{D69D1DAE-6A38-9BDA-663D-0801D0FE6C21}"/>
                  </a:ext>
                </a:extLst>
              </p:cNvPr>
              <p:cNvSpPr/>
              <p:nvPr/>
            </p:nvSpPr>
            <p:spPr>
              <a:xfrm>
                <a:off x="6223674" y="3274996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7">
                <a:extLst>
                  <a:ext uri="{FF2B5EF4-FFF2-40B4-BE49-F238E27FC236}">
                    <a16:creationId xmlns:a16="http://schemas.microsoft.com/office/drawing/2014/main" id="{3A102C25-4E85-765C-2159-A0A22ED6F87F}"/>
                  </a:ext>
                </a:extLst>
              </p:cNvPr>
              <p:cNvSpPr/>
              <p:nvPr/>
            </p:nvSpPr>
            <p:spPr>
              <a:xfrm>
                <a:off x="6201612" y="329705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7">
                <a:extLst>
                  <a:ext uri="{FF2B5EF4-FFF2-40B4-BE49-F238E27FC236}">
                    <a16:creationId xmlns:a16="http://schemas.microsoft.com/office/drawing/2014/main" id="{8D95D325-9CA2-0A2D-AA46-4683E9C2DBD1}"/>
                  </a:ext>
                </a:extLst>
              </p:cNvPr>
              <p:cNvSpPr/>
              <p:nvPr/>
            </p:nvSpPr>
            <p:spPr>
              <a:xfrm>
                <a:off x="6178402" y="3320269"/>
                <a:ext cx="20948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01" y="601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7">
                <a:extLst>
                  <a:ext uri="{FF2B5EF4-FFF2-40B4-BE49-F238E27FC236}">
                    <a16:creationId xmlns:a16="http://schemas.microsoft.com/office/drawing/2014/main" id="{357694E1-CEF1-766E-FB5A-080976D320B0}"/>
                  </a:ext>
                </a:extLst>
              </p:cNvPr>
              <p:cNvSpPr/>
              <p:nvPr/>
            </p:nvSpPr>
            <p:spPr>
              <a:xfrm>
                <a:off x="6156340" y="334114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7">
                <a:extLst>
                  <a:ext uri="{FF2B5EF4-FFF2-40B4-BE49-F238E27FC236}">
                    <a16:creationId xmlns:a16="http://schemas.microsoft.com/office/drawing/2014/main" id="{917CB2F4-1BD2-9029-A5AF-3D7C7A53C1EC}"/>
                  </a:ext>
                </a:extLst>
              </p:cNvPr>
              <p:cNvSpPr/>
              <p:nvPr/>
            </p:nvSpPr>
            <p:spPr>
              <a:xfrm>
                <a:off x="6134313" y="3365541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7">
                <a:extLst>
                  <a:ext uri="{FF2B5EF4-FFF2-40B4-BE49-F238E27FC236}">
                    <a16:creationId xmlns:a16="http://schemas.microsoft.com/office/drawing/2014/main" id="{E34B8D5D-3053-6139-5084-245069BBDDD0}"/>
                  </a:ext>
                </a:extLst>
              </p:cNvPr>
              <p:cNvSpPr/>
              <p:nvPr/>
            </p:nvSpPr>
            <p:spPr>
              <a:xfrm>
                <a:off x="5321775" y="3274996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7">
                <a:extLst>
                  <a:ext uri="{FF2B5EF4-FFF2-40B4-BE49-F238E27FC236}">
                    <a16:creationId xmlns:a16="http://schemas.microsoft.com/office/drawing/2014/main" id="{2C688E98-4B46-26CF-DFE7-D0C7AD0C94E0}"/>
                  </a:ext>
                </a:extLst>
              </p:cNvPr>
              <p:cNvSpPr/>
              <p:nvPr/>
            </p:nvSpPr>
            <p:spPr>
              <a:xfrm>
                <a:off x="5343802" y="329705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7">
                <a:extLst>
                  <a:ext uri="{FF2B5EF4-FFF2-40B4-BE49-F238E27FC236}">
                    <a16:creationId xmlns:a16="http://schemas.microsoft.com/office/drawing/2014/main" id="{62C94926-1844-B694-C3E5-75C5022FD3C6}"/>
                  </a:ext>
                </a:extLst>
              </p:cNvPr>
              <p:cNvSpPr/>
              <p:nvPr/>
            </p:nvSpPr>
            <p:spPr>
              <a:xfrm>
                <a:off x="5367047" y="3320269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7">
                <a:extLst>
                  <a:ext uri="{FF2B5EF4-FFF2-40B4-BE49-F238E27FC236}">
                    <a16:creationId xmlns:a16="http://schemas.microsoft.com/office/drawing/2014/main" id="{11EBFAD2-836E-1188-62A6-9FBCC9A84D1D}"/>
                  </a:ext>
                </a:extLst>
              </p:cNvPr>
              <p:cNvSpPr/>
              <p:nvPr/>
            </p:nvSpPr>
            <p:spPr>
              <a:xfrm>
                <a:off x="5389075" y="334114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7">
                <a:extLst>
                  <a:ext uri="{FF2B5EF4-FFF2-40B4-BE49-F238E27FC236}">
                    <a16:creationId xmlns:a16="http://schemas.microsoft.com/office/drawing/2014/main" id="{697C7B23-7864-F06D-68A9-5A197CB5D542}"/>
                  </a:ext>
                </a:extLst>
              </p:cNvPr>
              <p:cNvSpPr/>
              <p:nvPr/>
            </p:nvSpPr>
            <p:spPr>
              <a:xfrm>
                <a:off x="5412320" y="3365541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3" name="Google Shape;1033;p47">
              <a:extLst>
                <a:ext uri="{FF2B5EF4-FFF2-40B4-BE49-F238E27FC236}">
                  <a16:creationId xmlns:a16="http://schemas.microsoft.com/office/drawing/2014/main" id="{3F29EE23-9FFC-68AC-BABF-ABF4CD47BE41}"/>
                </a:ext>
              </a:extLst>
            </p:cNvPr>
            <p:cNvSpPr txBox="1"/>
            <p:nvPr/>
          </p:nvSpPr>
          <p:spPr>
            <a:xfrm>
              <a:off x="6206775" y="1242125"/>
              <a:ext cx="1671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Fira Code"/>
                  <a:ea typeface="Fira Code"/>
                  <a:cs typeface="Fira Code"/>
                  <a:sym typeface="Fira Code"/>
                </a:rPr>
                <a:t>404 NOT FOUND</a:t>
              </a:r>
              <a:endParaRPr sz="1500" dirty="0"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6E6F7F01-EF72-AC7A-2E65-D8EEC7768366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25/28</a:t>
            </a:r>
          </a:p>
        </p:txBody>
      </p:sp>
    </p:spTree>
    <p:extLst>
      <p:ext uri="{BB962C8B-B14F-4D97-AF65-F5344CB8AC3E}">
        <p14:creationId xmlns:p14="http://schemas.microsoft.com/office/powerpoint/2010/main" val="3955100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>
          <a:extLst>
            <a:ext uri="{FF2B5EF4-FFF2-40B4-BE49-F238E27FC236}">
              <a16:creationId xmlns:a16="http://schemas.microsoft.com/office/drawing/2014/main" id="{0A68B766-45CF-95C9-F620-BCA3EC52B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54">
            <a:extLst>
              <a:ext uri="{FF2B5EF4-FFF2-40B4-BE49-F238E27FC236}">
                <a16:creationId xmlns:a16="http://schemas.microsoft.com/office/drawing/2014/main" id="{026D6AB8-4D82-5B55-592F-FB2A6500EA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2850" y="2364800"/>
            <a:ext cx="6656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Conclusion</a:t>
            </a:r>
            <a:endParaRPr lang="fr-FR" dirty="0"/>
          </a:p>
        </p:txBody>
      </p:sp>
      <p:sp>
        <p:nvSpPr>
          <p:cNvPr id="1317" name="Google Shape;1317;p54">
            <a:extLst>
              <a:ext uri="{FF2B5EF4-FFF2-40B4-BE49-F238E27FC236}">
                <a16:creationId xmlns:a16="http://schemas.microsoft.com/office/drawing/2014/main" id="{EBA548FF-E5B9-74C7-D3B1-E8350CA968B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278000" y="12943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1319" name="Google Shape;1319;p54">
            <a:extLst>
              <a:ext uri="{FF2B5EF4-FFF2-40B4-BE49-F238E27FC236}">
                <a16:creationId xmlns:a16="http://schemas.microsoft.com/office/drawing/2014/main" id="{8AD5BD71-E04D-D4ED-4E4A-6226BB82F87E}"/>
              </a:ext>
            </a:extLst>
          </p:cNvPr>
          <p:cNvGrpSpPr/>
          <p:nvPr/>
        </p:nvGrpSpPr>
        <p:grpSpPr>
          <a:xfrm>
            <a:off x="856875" y="796263"/>
            <a:ext cx="841800" cy="841800"/>
            <a:chOff x="856875" y="796263"/>
            <a:chExt cx="841800" cy="841800"/>
          </a:xfrm>
        </p:grpSpPr>
        <p:grpSp>
          <p:nvGrpSpPr>
            <p:cNvPr id="1320" name="Google Shape;1320;p54">
              <a:extLst>
                <a:ext uri="{FF2B5EF4-FFF2-40B4-BE49-F238E27FC236}">
                  <a16:creationId xmlns:a16="http://schemas.microsoft.com/office/drawing/2014/main" id="{339BC82F-FB12-DC03-A757-D2B56A4BF947}"/>
                </a:ext>
              </a:extLst>
            </p:cNvPr>
            <p:cNvGrpSpPr/>
            <p:nvPr/>
          </p:nvGrpSpPr>
          <p:grpSpPr>
            <a:xfrm rot="2533261">
              <a:off x="1105339" y="934288"/>
              <a:ext cx="344867" cy="565741"/>
              <a:chOff x="4113132" y="2072643"/>
              <a:chExt cx="406290" cy="666503"/>
            </a:xfrm>
          </p:grpSpPr>
          <p:sp>
            <p:nvSpPr>
              <p:cNvPr id="1321" name="Google Shape;1321;p54">
                <a:extLst>
                  <a:ext uri="{FF2B5EF4-FFF2-40B4-BE49-F238E27FC236}">
                    <a16:creationId xmlns:a16="http://schemas.microsoft.com/office/drawing/2014/main" id="{606F922B-75F7-6279-D5DD-BFEA6154E582}"/>
                  </a:ext>
                </a:extLst>
              </p:cNvPr>
              <p:cNvSpPr/>
              <p:nvPr/>
            </p:nvSpPr>
            <p:spPr>
              <a:xfrm>
                <a:off x="4113132" y="2072643"/>
                <a:ext cx="406290" cy="662825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18014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6005"/>
                    </a:lnTo>
                    <a:lnTo>
                      <a:pt x="2002" y="6005"/>
                    </a:lnTo>
                    <a:lnTo>
                      <a:pt x="2002" y="7005"/>
                    </a:lnTo>
                    <a:lnTo>
                      <a:pt x="3002" y="7005"/>
                    </a:lnTo>
                    <a:lnTo>
                      <a:pt x="3002" y="8006"/>
                    </a:lnTo>
                    <a:lnTo>
                      <a:pt x="4003" y="8006"/>
                    </a:lnTo>
                    <a:lnTo>
                      <a:pt x="4003" y="9007"/>
                    </a:lnTo>
                    <a:lnTo>
                      <a:pt x="4003" y="10008"/>
                    </a:lnTo>
                    <a:lnTo>
                      <a:pt x="3002" y="10008"/>
                    </a:lnTo>
                    <a:lnTo>
                      <a:pt x="3002" y="11008"/>
                    </a:lnTo>
                    <a:lnTo>
                      <a:pt x="2002" y="11008"/>
                    </a:lnTo>
                    <a:lnTo>
                      <a:pt x="2002" y="12009"/>
                    </a:lnTo>
                    <a:lnTo>
                      <a:pt x="1001" y="12009"/>
                    </a:lnTo>
                    <a:lnTo>
                      <a:pt x="1001" y="16012"/>
                    </a:lnTo>
                    <a:lnTo>
                      <a:pt x="0" y="16012"/>
                    </a:lnTo>
                    <a:lnTo>
                      <a:pt x="0" y="17013"/>
                    </a:lnTo>
                    <a:lnTo>
                      <a:pt x="0" y="18013"/>
                    </a:lnTo>
                    <a:lnTo>
                      <a:pt x="11042" y="18013"/>
                    </a:lnTo>
                    <a:lnTo>
                      <a:pt x="11042" y="17013"/>
                    </a:lnTo>
                    <a:lnTo>
                      <a:pt x="11042" y="16012"/>
                    </a:lnTo>
                    <a:lnTo>
                      <a:pt x="10041" y="16012"/>
                    </a:lnTo>
                    <a:lnTo>
                      <a:pt x="10041" y="12009"/>
                    </a:lnTo>
                    <a:lnTo>
                      <a:pt x="9040" y="12009"/>
                    </a:lnTo>
                    <a:lnTo>
                      <a:pt x="9040" y="11008"/>
                    </a:lnTo>
                    <a:lnTo>
                      <a:pt x="8039" y="11008"/>
                    </a:lnTo>
                    <a:lnTo>
                      <a:pt x="8039" y="10008"/>
                    </a:lnTo>
                    <a:lnTo>
                      <a:pt x="7039" y="10008"/>
                    </a:lnTo>
                    <a:lnTo>
                      <a:pt x="7039" y="9007"/>
                    </a:lnTo>
                    <a:lnTo>
                      <a:pt x="7039" y="8006"/>
                    </a:lnTo>
                    <a:lnTo>
                      <a:pt x="8039" y="8006"/>
                    </a:lnTo>
                    <a:lnTo>
                      <a:pt x="8039" y="7005"/>
                    </a:lnTo>
                    <a:lnTo>
                      <a:pt x="9040" y="7005"/>
                    </a:lnTo>
                    <a:lnTo>
                      <a:pt x="9040" y="6005"/>
                    </a:lnTo>
                    <a:lnTo>
                      <a:pt x="10041" y="6005"/>
                    </a:lnTo>
                    <a:lnTo>
                      <a:pt x="10041" y="2002"/>
                    </a:lnTo>
                    <a:lnTo>
                      <a:pt x="11042" y="2002"/>
                    </a:lnTo>
                    <a:lnTo>
                      <a:pt x="11042" y="1001"/>
                    </a:lnTo>
                    <a:lnTo>
                      <a:pt x="1104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54">
                <a:extLst>
                  <a:ext uri="{FF2B5EF4-FFF2-40B4-BE49-F238E27FC236}">
                    <a16:creationId xmlns:a16="http://schemas.microsoft.com/office/drawing/2014/main" id="{021B2B90-E46C-9CCC-0978-92F0AACFA2C4}"/>
                  </a:ext>
                </a:extLst>
              </p:cNvPr>
              <p:cNvSpPr/>
              <p:nvPr/>
            </p:nvSpPr>
            <p:spPr>
              <a:xfrm>
                <a:off x="4260422" y="2367223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54">
                <a:extLst>
                  <a:ext uri="{FF2B5EF4-FFF2-40B4-BE49-F238E27FC236}">
                    <a16:creationId xmlns:a16="http://schemas.microsoft.com/office/drawing/2014/main" id="{BEF0BCC6-B470-2177-8E08-1D3176817035}"/>
                  </a:ext>
                </a:extLst>
              </p:cNvPr>
              <p:cNvSpPr/>
              <p:nvPr/>
            </p:nvSpPr>
            <p:spPr>
              <a:xfrm>
                <a:off x="4260422" y="2405269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54">
                <a:extLst>
                  <a:ext uri="{FF2B5EF4-FFF2-40B4-BE49-F238E27FC236}">
                    <a16:creationId xmlns:a16="http://schemas.microsoft.com/office/drawing/2014/main" id="{A338ECEE-B811-1847-2DE3-BE2274B2D8CB}"/>
                  </a:ext>
                </a:extLst>
              </p:cNvPr>
              <p:cNvSpPr/>
              <p:nvPr/>
            </p:nvSpPr>
            <p:spPr>
              <a:xfrm>
                <a:off x="4223590" y="244206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54">
                <a:extLst>
                  <a:ext uri="{FF2B5EF4-FFF2-40B4-BE49-F238E27FC236}">
                    <a16:creationId xmlns:a16="http://schemas.microsoft.com/office/drawing/2014/main" id="{19F95193-F766-E4AF-7DF8-CAFAD6D8CC80}"/>
                  </a:ext>
                </a:extLst>
              </p:cNvPr>
              <p:cNvSpPr/>
              <p:nvPr/>
            </p:nvSpPr>
            <p:spPr>
              <a:xfrm>
                <a:off x="4186758" y="2478895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4">
                <a:extLst>
                  <a:ext uri="{FF2B5EF4-FFF2-40B4-BE49-F238E27FC236}">
                    <a16:creationId xmlns:a16="http://schemas.microsoft.com/office/drawing/2014/main" id="{7B0F5A8B-3C2A-113A-A78F-E3190F4C7DE4}"/>
                  </a:ext>
                </a:extLst>
              </p:cNvPr>
              <p:cNvSpPr/>
              <p:nvPr/>
            </p:nvSpPr>
            <p:spPr>
              <a:xfrm>
                <a:off x="4223590" y="2330391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4">
                <a:extLst>
                  <a:ext uri="{FF2B5EF4-FFF2-40B4-BE49-F238E27FC236}">
                    <a16:creationId xmlns:a16="http://schemas.microsoft.com/office/drawing/2014/main" id="{3D2D2586-42A2-476F-FD89-A9CB4CAD7B5A}"/>
                  </a:ext>
                </a:extLst>
              </p:cNvPr>
              <p:cNvSpPr/>
              <p:nvPr/>
            </p:nvSpPr>
            <p:spPr>
              <a:xfrm>
                <a:off x="4186758" y="2293559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4">
                <a:extLst>
                  <a:ext uri="{FF2B5EF4-FFF2-40B4-BE49-F238E27FC236}">
                    <a16:creationId xmlns:a16="http://schemas.microsoft.com/office/drawing/2014/main" id="{17B0E7C3-4F88-EA83-FA7E-0997687D0FE7}"/>
                  </a:ext>
                </a:extLst>
              </p:cNvPr>
              <p:cNvSpPr/>
              <p:nvPr/>
            </p:nvSpPr>
            <p:spPr>
              <a:xfrm>
                <a:off x="4149964" y="2146269"/>
                <a:ext cx="36832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4004" extrusionOk="0">
                    <a:moveTo>
                      <a:pt x="0" y="1"/>
                    </a:moveTo>
                    <a:lnTo>
                      <a:pt x="0" y="4004"/>
                    </a:lnTo>
                    <a:lnTo>
                      <a:pt x="1001" y="4004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54">
                <a:extLst>
                  <a:ext uri="{FF2B5EF4-FFF2-40B4-BE49-F238E27FC236}">
                    <a16:creationId xmlns:a16="http://schemas.microsoft.com/office/drawing/2014/main" id="{F22D64AD-DBD3-2CD7-45AF-FDEC9E32158A}"/>
                  </a:ext>
                </a:extLst>
              </p:cNvPr>
              <p:cNvSpPr/>
              <p:nvPr/>
            </p:nvSpPr>
            <p:spPr>
              <a:xfrm>
                <a:off x="4113132" y="2072643"/>
                <a:ext cx="406290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2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0" y="2002"/>
                    </a:lnTo>
                    <a:lnTo>
                      <a:pt x="11042" y="2002"/>
                    </a:lnTo>
                    <a:lnTo>
                      <a:pt x="11042" y="1001"/>
                    </a:lnTo>
                    <a:lnTo>
                      <a:pt x="110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54">
                <a:extLst>
                  <a:ext uri="{FF2B5EF4-FFF2-40B4-BE49-F238E27FC236}">
                    <a16:creationId xmlns:a16="http://schemas.microsoft.com/office/drawing/2014/main" id="{A33731F9-AE0D-F11D-9ACD-17D0373835AB}"/>
                  </a:ext>
                </a:extLst>
              </p:cNvPr>
              <p:cNvSpPr/>
              <p:nvPr/>
            </p:nvSpPr>
            <p:spPr>
              <a:xfrm>
                <a:off x="4334049" y="2367223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54">
                <a:extLst>
                  <a:ext uri="{FF2B5EF4-FFF2-40B4-BE49-F238E27FC236}">
                    <a16:creationId xmlns:a16="http://schemas.microsoft.com/office/drawing/2014/main" id="{F4EAE322-33A9-1F6A-A6EE-2532D646E90D}"/>
                  </a:ext>
                </a:extLst>
              </p:cNvPr>
              <p:cNvSpPr/>
              <p:nvPr/>
            </p:nvSpPr>
            <p:spPr>
              <a:xfrm>
                <a:off x="4334049" y="2405269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54">
                <a:extLst>
                  <a:ext uri="{FF2B5EF4-FFF2-40B4-BE49-F238E27FC236}">
                    <a16:creationId xmlns:a16="http://schemas.microsoft.com/office/drawing/2014/main" id="{552DB35D-6C09-CBF1-FA94-A9A593AF2F24}"/>
                  </a:ext>
                </a:extLst>
              </p:cNvPr>
              <p:cNvSpPr/>
              <p:nvPr/>
            </p:nvSpPr>
            <p:spPr>
              <a:xfrm>
                <a:off x="4370881" y="244206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54">
                <a:extLst>
                  <a:ext uri="{FF2B5EF4-FFF2-40B4-BE49-F238E27FC236}">
                    <a16:creationId xmlns:a16="http://schemas.microsoft.com/office/drawing/2014/main" id="{D15BFDE9-DE60-5D82-CF69-C14FCACA73EE}"/>
                  </a:ext>
                </a:extLst>
              </p:cNvPr>
              <p:cNvSpPr/>
              <p:nvPr/>
            </p:nvSpPr>
            <p:spPr>
              <a:xfrm>
                <a:off x="4408927" y="2478895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54">
                <a:extLst>
                  <a:ext uri="{FF2B5EF4-FFF2-40B4-BE49-F238E27FC236}">
                    <a16:creationId xmlns:a16="http://schemas.microsoft.com/office/drawing/2014/main" id="{73A976DF-D74F-5D1B-7D61-29349F4B192A}"/>
                  </a:ext>
                </a:extLst>
              </p:cNvPr>
              <p:cNvSpPr/>
              <p:nvPr/>
            </p:nvSpPr>
            <p:spPr>
              <a:xfrm>
                <a:off x="4370881" y="2330391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54">
                <a:extLst>
                  <a:ext uri="{FF2B5EF4-FFF2-40B4-BE49-F238E27FC236}">
                    <a16:creationId xmlns:a16="http://schemas.microsoft.com/office/drawing/2014/main" id="{2AEBF691-E5F0-BBA1-A721-52D05782FC78}"/>
                  </a:ext>
                </a:extLst>
              </p:cNvPr>
              <p:cNvSpPr/>
              <p:nvPr/>
            </p:nvSpPr>
            <p:spPr>
              <a:xfrm>
                <a:off x="4297217" y="2293559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54">
                <a:extLst>
                  <a:ext uri="{FF2B5EF4-FFF2-40B4-BE49-F238E27FC236}">
                    <a16:creationId xmlns:a16="http://schemas.microsoft.com/office/drawing/2014/main" id="{639F8765-5245-038E-47E2-620D4C859AAE}"/>
                  </a:ext>
                </a:extLst>
              </p:cNvPr>
              <p:cNvSpPr/>
              <p:nvPr/>
            </p:nvSpPr>
            <p:spPr>
              <a:xfrm>
                <a:off x="4260422" y="225672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54">
                <a:extLst>
                  <a:ext uri="{FF2B5EF4-FFF2-40B4-BE49-F238E27FC236}">
                    <a16:creationId xmlns:a16="http://schemas.microsoft.com/office/drawing/2014/main" id="{34F2E391-8B86-BEB0-ACB2-C1B0C05A8180}"/>
                  </a:ext>
                </a:extLst>
              </p:cNvPr>
              <p:cNvSpPr/>
              <p:nvPr/>
            </p:nvSpPr>
            <p:spPr>
              <a:xfrm>
                <a:off x="4334049" y="225672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54">
                <a:extLst>
                  <a:ext uri="{FF2B5EF4-FFF2-40B4-BE49-F238E27FC236}">
                    <a16:creationId xmlns:a16="http://schemas.microsoft.com/office/drawing/2014/main" id="{B85A605F-52A9-4B09-A537-B010465BF633}"/>
                  </a:ext>
                </a:extLst>
              </p:cNvPr>
              <p:cNvSpPr/>
              <p:nvPr/>
            </p:nvSpPr>
            <p:spPr>
              <a:xfrm>
                <a:off x="4408927" y="2293559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54">
                <a:extLst>
                  <a:ext uri="{FF2B5EF4-FFF2-40B4-BE49-F238E27FC236}">
                    <a16:creationId xmlns:a16="http://schemas.microsoft.com/office/drawing/2014/main" id="{BEC70B4C-2849-83D5-A1AE-B44417A5F5E8}"/>
                  </a:ext>
                </a:extLst>
              </p:cNvPr>
              <p:cNvSpPr/>
              <p:nvPr/>
            </p:nvSpPr>
            <p:spPr>
              <a:xfrm>
                <a:off x="4445758" y="2146269"/>
                <a:ext cx="36832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4004" extrusionOk="0">
                    <a:moveTo>
                      <a:pt x="0" y="1"/>
                    </a:moveTo>
                    <a:lnTo>
                      <a:pt x="0" y="4004"/>
                    </a:lnTo>
                    <a:lnTo>
                      <a:pt x="1001" y="4004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54">
                <a:extLst>
                  <a:ext uri="{FF2B5EF4-FFF2-40B4-BE49-F238E27FC236}">
                    <a16:creationId xmlns:a16="http://schemas.microsoft.com/office/drawing/2014/main" id="{5378ACE9-102D-3CCF-BB94-5F23A579E845}"/>
                  </a:ext>
                </a:extLst>
              </p:cNvPr>
              <p:cNvSpPr/>
              <p:nvPr/>
            </p:nvSpPr>
            <p:spPr>
              <a:xfrm>
                <a:off x="4149964" y="2515727"/>
                <a:ext cx="36832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4004" extrusionOk="0">
                    <a:moveTo>
                      <a:pt x="0" y="0"/>
                    </a:moveTo>
                    <a:lnTo>
                      <a:pt x="0" y="4003"/>
                    </a:lnTo>
                    <a:lnTo>
                      <a:pt x="1001" y="4003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54">
                <a:extLst>
                  <a:ext uri="{FF2B5EF4-FFF2-40B4-BE49-F238E27FC236}">
                    <a16:creationId xmlns:a16="http://schemas.microsoft.com/office/drawing/2014/main" id="{DE7FE80A-C088-C6AB-FDED-87BBC5E5F098}"/>
                  </a:ext>
                </a:extLst>
              </p:cNvPr>
              <p:cNvSpPr/>
              <p:nvPr/>
            </p:nvSpPr>
            <p:spPr>
              <a:xfrm>
                <a:off x="4113132" y="2663017"/>
                <a:ext cx="406290" cy="76129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2069" extrusionOk="0">
                    <a:moveTo>
                      <a:pt x="0" y="0"/>
                    </a:moveTo>
                    <a:lnTo>
                      <a:pt x="0" y="1068"/>
                    </a:lnTo>
                    <a:lnTo>
                      <a:pt x="0" y="2068"/>
                    </a:lnTo>
                    <a:lnTo>
                      <a:pt x="11042" y="2068"/>
                    </a:lnTo>
                    <a:lnTo>
                      <a:pt x="11042" y="1068"/>
                    </a:lnTo>
                    <a:lnTo>
                      <a:pt x="110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54">
                <a:extLst>
                  <a:ext uri="{FF2B5EF4-FFF2-40B4-BE49-F238E27FC236}">
                    <a16:creationId xmlns:a16="http://schemas.microsoft.com/office/drawing/2014/main" id="{FA820605-ADB5-6A64-34E9-24FA780F1130}"/>
                  </a:ext>
                </a:extLst>
              </p:cNvPr>
              <p:cNvSpPr/>
              <p:nvPr/>
            </p:nvSpPr>
            <p:spPr>
              <a:xfrm>
                <a:off x="4223590" y="2515727"/>
                <a:ext cx="185373" cy="110495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3003" extrusionOk="0">
                    <a:moveTo>
                      <a:pt x="2002" y="0"/>
                    </a:moveTo>
                    <a:lnTo>
                      <a:pt x="2002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0" y="2002"/>
                    </a:lnTo>
                    <a:lnTo>
                      <a:pt x="0" y="3002"/>
                    </a:lnTo>
                    <a:lnTo>
                      <a:pt x="5037" y="3002"/>
                    </a:lnTo>
                    <a:lnTo>
                      <a:pt x="5037" y="2002"/>
                    </a:lnTo>
                    <a:lnTo>
                      <a:pt x="4003" y="2002"/>
                    </a:lnTo>
                    <a:lnTo>
                      <a:pt x="4003" y="1001"/>
                    </a:lnTo>
                    <a:lnTo>
                      <a:pt x="3003" y="1001"/>
                    </a:lnTo>
                    <a:lnTo>
                      <a:pt x="30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54">
                <a:extLst>
                  <a:ext uri="{FF2B5EF4-FFF2-40B4-BE49-F238E27FC236}">
                    <a16:creationId xmlns:a16="http://schemas.microsoft.com/office/drawing/2014/main" id="{E7776B3F-56A7-10CC-BC81-F2D87273BCDE}"/>
                  </a:ext>
                </a:extLst>
              </p:cNvPr>
              <p:cNvSpPr/>
              <p:nvPr/>
            </p:nvSpPr>
            <p:spPr>
              <a:xfrm>
                <a:off x="4445758" y="2515727"/>
                <a:ext cx="36832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4004" extrusionOk="0">
                    <a:moveTo>
                      <a:pt x="0" y="0"/>
                    </a:moveTo>
                    <a:lnTo>
                      <a:pt x="0" y="4003"/>
                    </a:lnTo>
                    <a:lnTo>
                      <a:pt x="1001" y="4003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4" name="Google Shape;1344;p54">
              <a:extLst>
                <a:ext uri="{FF2B5EF4-FFF2-40B4-BE49-F238E27FC236}">
                  <a16:creationId xmlns:a16="http://schemas.microsoft.com/office/drawing/2014/main" id="{912E6CE0-0EF7-95AB-5618-F5558CBB6EBF}"/>
                </a:ext>
              </a:extLst>
            </p:cNvPr>
            <p:cNvSpPr/>
            <p:nvPr/>
          </p:nvSpPr>
          <p:spPr>
            <a:xfrm>
              <a:off x="856875" y="796263"/>
              <a:ext cx="841800" cy="8418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5DF968C-9D60-B160-F5E8-688E6C5545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Google Shape;703;p38">
            <a:extLst>
              <a:ext uri="{FF2B5EF4-FFF2-40B4-BE49-F238E27FC236}">
                <a16:creationId xmlns:a16="http://schemas.microsoft.com/office/drawing/2014/main" id="{377B277B-1A6D-C37A-92F3-3755590C98AF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26/28</a:t>
            </a:r>
          </a:p>
        </p:txBody>
      </p:sp>
    </p:spTree>
    <p:extLst>
      <p:ext uri="{BB962C8B-B14F-4D97-AF65-F5344CB8AC3E}">
        <p14:creationId xmlns:p14="http://schemas.microsoft.com/office/powerpoint/2010/main" val="2511946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3E8A9A13-A74E-91AF-E3DE-5EC353E0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9">
            <a:extLst>
              <a:ext uri="{FF2B5EF4-FFF2-40B4-BE49-F238E27FC236}">
                <a16:creationId xmlns:a16="http://schemas.microsoft.com/office/drawing/2014/main" id="{92CC8BEB-DD65-B29F-DFDB-C5C326E3C8F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4852" y="591671"/>
            <a:ext cx="8165053" cy="41847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fr-FR" dirty="0"/>
              <a:t>L'algorithme K-</a:t>
            </a:r>
            <a:r>
              <a:rPr lang="fr-FR" dirty="0" err="1"/>
              <a:t>Means</a:t>
            </a:r>
            <a:r>
              <a:rPr lang="fr-FR" dirty="0"/>
              <a:t> est un outil puissant et essentiel en Machine Learning pour le clustering de données.</a:t>
            </a:r>
          </a:p>
          <a:p>
            <a:pPr marL="0" lvl="0" indent="0" algn="ctr"/>
            <a:endParaRPr lang="fr-FR" dirty="0"/>
          </a:p>
          <a:p>
            <a:pPr marL="0" lvl="0" indent="0" algn="ctr"/>
            <a:r>
              <a:rPr lang="fr-FR" dirty="0"/>
              <a:t>Sa simplicité, son efficacité et sa capacité à révéler des structures cachées dans les données en font un choix privilégié pour de nombreuses applications.</a:t>
            </a:r>
          </a:p>
          <a:p>
            <a:pPr marL="0" lvl="0" indent="0" algn="ctr"/>
            <a:endParaRPr lang="fr-FR" dirty="0"/>
          </a:p>
          <a:p>
            <a:pPr marL="0" lvl="0" indent="0" algn="ctr"/>
            <a:r>
              <a:rPr lang="fr-FR" dirty="0"/>
              <a:t>Que ce soit pour des système de recommandation, l'analyse de données ou la détection de fraudes, K-</a:t>
            </a:r>
            <a:r>
              <a:rPr lang="fr-FR" dirty="0" err="1"/>
              <a:t>Means</a:t>
            </a:r>
            <a:r>
              <a:rPr lang="fr-FR" dirty="0"/>
              <a:t> offre des solutions rapides et performantes. Son utilisation continue à jouer un rôle crucial dans la compréhension et l'exploitation des vastes quantités de données générées aujourd'hui</a:t>
            </a:r>
            <a:endParaRPr b="1" dirty="0"/>
          </a:p>
        </p:txBody>
      </p:sp>
      <p:sp>
        <p:nvSpPr>
          <p:cNvPr id="2" name="Google Shape;703;p38">
            <a:extLst>
              <a:ext uri="{FF2B5EF4-FFF2-40B4-BE49-F238E27FC236}">
                <a16:creationId xmlns:a16="http://schemas.microsoft.com/office/drawing/2014/main" id="{8E956E5E-3AFF-EE76-66AF-4ADA76CA0120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27/28</a:t>
            </a:r>
          </a:p>
        </p:txBody>
      </p:sp>
    </p:spTree>
    <p:extLst>
      <p:ext uri="{BB962C8B-B14F-4D97-AF65-F5344CB8AC3E}">
        <p14:creationId xmlns:p14="http://schemas.microsoft.com/office/powerpoint/2010/main" val="2730212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>
          <a:extLst>
            <a:ext uri="{FF2B5EF4-FFF2-40B4-BE49-F238E27FC236}">
              <a16:creationId xmlns:a16="http://schemas.microsoft.com/office/drawing/2014/main" id="{7E562FF3-D368-DB23-603D-6AB5903F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97;p70">
            <a:extLst>
              <a:ext uri="{FF2B5EF4-FFF2-40B4-BE49-F238E27FC236}">
                <a16:creationId xmlns:a16="http://schemas.microsoft.com/office/drawing/2014/main" id="{03E7475B-5A54-7AB9-00AD-B8CA1AC77E63}"/>
              </a:ext>
            </a:extLst>
          </p:cNvPr>
          <p:cNvSpPr txBox="1">
            <a:spLocks/>
          </p:cNvSpPr>
          <p:nvPr/>
        </p:nvSpPr>
        <p:spPr>
          <a:xfrm>
            <a:off x="2423100" y="1237129"/>
            <a:ext cx="4297800" cy="118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45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36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36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36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36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36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36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36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hakra Petch Medium"/>
              <a:buNone/>
              <a:defRPr sz="3600" b="0" i="0" u="none" strike="noStrike" cap="none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>
            <a:pPr algn="ctr"/>
            <a:r>
              <a:rPr lang="fr-FR" sz="8000" dirty="0"/>
              <a:t>Merci!</a:t>
            </a:r>
          </a:p>
        </p:txBody>
      </p:sp>
      <p:sp>
        <p:nvSpPr>
          <p:cNvPr id="5" name="Google Shape;1898;p70">
            <a:extLst>
              <a:ext uri="{FF2B5EF4-FFF2-40B4-BE49-F238E27FC236}">
                <a16:creationId xmlns:a16="http://schemas.microsoft.com/office/drawing/2014/main" id="{0DA3B398-6A46-C8D1-F767-ABA48BD6A5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25050" y="2460618"/>
            <a:ext cx="4293900" cy="8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3600" dirty="0"/>
              <a:t>Questions</a:t>
            </a:r>
            <a:endParaRPr sz="3600" dirty="0"/>
          </a:p>
        </p:txBody>
      </p:sp>
      <p:sp>
        <p:nvSpPr>
          <p:cNvPr id="6" name="Google Shape;703;p38">
            <a:extLst>
              <a:ext uri="{FF2B5EF4-FFF2-40B4-BE49-F238E27FC236}">
                <a16:creationId xmlns:a16="http://schemas.microsoft.com/office/drawing/2014/main" id="{A1796A1A-F137-AACB-FCFE-FFA8736DA3D5}"/>
              </a:ext>
            </a:extLst>
          </p:cNvPr>
          <p:cNvSpPr txBox="1">
            <a:spLocks/>
          </p:cNvSpPr>
          <p:nvPr/>
        </p:nvSpPr>
        <p:spPr>
          <a:xfrm>
            <a:off x="8082550" y="4520660"/>
            <a:ext cx="692400" cy="3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28/28</a:t>
            </a:r>
          </a:p>
        </p:txBody>
      </p:sp>
    </p:spTree>
    <p:extLst>
      <p:ext uri="{BB962C8B-B14F-4D97-AF65-F5344CB8AC3E}">
        <p14:creationId xmlns:p14="http://schemas.microsoft.com/office/powerpoint/2010/main" val="3062727191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Software &amp; Media Application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B7B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947</Words>
  <Application>Microsoft Office PowerPoint</Application>
  <PresentationFormat>On-screen Show (16:9)</PresentationFormat>
  <Paragraphs>137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Red Hat Text</vt:lpstr>
      <vt:lpstr>Amatic SC</vt:lpstr>
      <vt:lpstr>Fira Code</vt:lpstr>
      <vt:lpstr>Proxima Nova</vt:lpstr>
      <vt:lpstr>Arial</vt:lpstr>
      <vt:lpstr>Fira Code Medium</vt:lpstr>
      <vt:lpstr>Poppins</vt:lpstr>
      <vt:lpstr>Calibri</vt:lpstr>
      <vt:lpstr>Chakra Petch Medium</vt:lpstr>
      <vt:lpstr>Roboto Condensed Light</vt:lpstr>
      <vt:lpstr>Bebas Neue</vt:lpstr>
      <vt:lpstr>Roboto Medium</vt:lpstr>
      <vt:lpstr>Computer Science &amp; Mathematics Major for College: Software &amp; Media Applications by Slidesgo</vt:lpstr>
      <vt:lpstr>Clustering K-Means Algorithme d’apprentissage non supervisé</vt:lpstr>
      <vt:lpstr>Définition</vt:lpstr>
      <vt:lpstr>Cas pratique</vt:lpstr>
      <vt:lpstr>Définition</vt:lpstr>
      <vt:lpstr>PowerPoint Presentation</vt:lpstr>
      <vt:lpstr>Description simple du clustering</vt:lpstr>
      <vt:lpstr>PowerPoint Presentation</vt:lpstr>
      <vt:lpstr>PowerPoint Presentation</vt:lpstr>
      <vt:lpstr>Domaines d’application</vt:lpstr>
      <vt:lpstr>Exemples de domaines</vt:lpstr>
      <vt:lpstr>Principe de fonctionnement</vt:lpstr>
      <vt:lpstr>Etapes du clustring K-Means</vt:lpstr>
      <vt:lpstr>Plus de précision </vt:lpstr>
      <vt:lpstr>PowerPoint Presentation</vt:lpstr>
      <vt:lpstr>PowerPoint Presentation</vt:lpstr>
      <vt:lpstr>Plus de précision </vt:lpstr>
      <vt:lpstr>PowerPoint Presentation</vt:lpstr>
      <vt:lpstr>PowerPoint Presentation</vt:lpstr>
      <vt:lpstr>Choix du nombre de cluster</vt:lpstr>
      <vt:lpstr>PowerPoint Presentation</vt:lpstr>
      <vt:lpstr>Méthode Elbow (Méthode du coude)</vt:lpstr>
      <vt:lpstr>PowerPoint Presentation</vt:lpstr>
      <vt:lpstr>PowerPoint Presentation</vt:lpstr>
      <vt:lpstr>PowerPoint Presentation</vt:lpstr>
      <vt:lpstr>Cas pratique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DELL</cp:lastModifiedBy>
  <cp:revision>65</cp:revision>
  <dcterms:modified xsi:type="dcterms:W3CDTF">2025-07-03T23:33:02Z</dcterms:modified>
</cp:coreProperties>
</file>
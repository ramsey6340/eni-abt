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9" r:id="rId1"/>
  </p:sldMasterIdLst>
  <p:notesMasterIdLst>
    <p:notesMasterId r:id="rId111"/>
  </p:notesMasterIdLst>
  <p:sldIdLst>
    <p:sldId id="256" r:id="rId2"/>
    <p:sldId id="258" r:id="rId3"/>
    <p:sldId id="297" r:id="rId4"/>
    <p:sldId id="260" r:id="rId5"/>
    <p:sldId id="261" r:id="rId6"/>
    <p:sldId id="300" r:id="rId7"/>
    <p:sldId id="302" r:id="rId8"/>
    <p:sldId id="303" r:id="rId9"/>
    <p:sldId id="304" r:id="rId10"/>
    <p:sldId id="305" r:id="rId11"/>
    <p:sldId id="306" r:id="rId12"/>
    <p:sldId id="314" r:id="rId13"/>
    <p:sldId id="308" r:id="rId14"/>
    <p:sldId id="309" r:id="rId15"/>
    <p:sldId id="349" r:id="rId16"/>
    <p:sldId id="310" r:id="rId17"/>
    <p:sldId id="311" r:id="rId18"/>
    <p:sldId id="312" r:id="rId19"/>
    <p:sldId id="313" r:id="rId20"/>
    <p:sldId id="315" r:id="rId21"/>
    <p:sldId id="316" r:id="rId22"/>
    <p:sldId id="317" r:id="rId23"/>
    <p:sldId id="318" r:id="rId24"/>
    <p:sldId id="319" r:id="rId25"/>
    <p:sldId id="320" r:id="rId26"/>
    <p:sldId id="321" r:id="rId27"/>
    <p:sldId id="322" r:id="rId28"/>
    <p:sldId id="324" r:id="rId29"/>
    <p:sldId id="325" r:id="rId30"/>
    <p:sldId id="326" r:id="rId31"/>
    <p:sldId id="327" r:id="rId32"/>
    <p:sldId id="328" r:id="rId33"/>
    <p:sldId id="323" r:id="rId34"/>
    <p:sldId id="406" r:id="rId35"/>
    <p:sldId id="407" r:id="rId36"/>
    <p:sldId id="408" r:id="rId37"/>
    <p:sldId id="405" r:id="rId38"/>
    <p:sldId id="330" r:id="rId39"/>
    <p:sldId id="329" r:id="rId40"/>
    <p:sldId id="331" r:id="rId41"/>
    <p:sldId id="332" r:id="rId42"/>
    <p:sldId id="333" r:id="rId43"/>
    <p:sldId id="334" r:id="rId44"/>
    <p:sldId id="335" r:id="rId45"/>
    <p:sldId id="336" r:id="rId46"/>
    <p:sldId id="337" r:id="rId47"/>
    <p:sldId id="266" r:id="rId48"/>
    <p:sldId id="341" r:id="rId49"/>
    <p:sldId id="347" r:id="rId50"/>
    <p:sldId id="348" r:id="rId51"/>
    <p:sldId id="340" r:id="rId52"/>
    <p:sldId id="346" r:id="rId53"/>
    <p:sldId id="344" r:id="rId54"/>
    <p:sldId id="342" r:id="rId55"/>
    <p:sldId id="345" r:id="rId56"/>
    <p:sldId id="270" r:id="rId57"/>
    <p:sldId id="351" r:id="rId58"/>
    <p:sldId id="352"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371" r:id="rId75"/>
    <p:sldId id="372" r:id="rId76"/>
    <p:sldId id="373" r:id="rId77"/>
    <p:sldId id="355" r:id="rId78"/>
    <p:sldId id="353" r:id="rId79"/>
    <p:sldId id="374" r:id="rId80"/>
    <p:sldId id="354" r:id="rId81"/>
    <p:sldId id="375" r:id="rId82"/>
    <p:sldId id="376" r:id="rId83"/>
    <p:sldId id="377" r:id="rId84"/>
    <p:sldId id="378" r:id="rId85"/>
    <p:sldId id="379" r:id="rId86"/>
    <p:sldId id="380" r:id="rId87"/>
    <p:sldId id="381" r:id="rId88"/>
    <p:sldId id="382" r:id="rId89"/>
    <p:sldId id="383" r:id="rId90"/>
    <p:sldId id="384" r:id="rId91"/>
    <p:sldId id="385" r:id="rId92"/>
    <p:sldId id="386" r:id="rId93"/>
    <p:sldId id="387" r:id="rId94"/>
    <p:sldId id="388" r:id="rId95"/>
    <p:sldId id="389" r:id="rId96"/>
    <p:sldId id="390" r:id="rId97"/>
    <p:sldId id="391" r:id="rId98"/>
    <p:sldId id="392" r:id="rId99"/>
    <p:sldId id="393" r:id="rId100"/>
    <p:sldId id="394" r:id="rId101"/>
    <p:sldId id="396" r:id="rId102"/>
    <p:sldId id="397" r:id="rId103"/>
    <p:sldId id="398" r:id="rId104"/>
    <p:sldId id="399" r:id="rId105"/>
    <p:sldId id="400" r:id="rId106"/>
    <p:sldId id="395" r:id="rId107"/>
    <p:sldId id="401" r:id="rId108"/>
    <p:sldId id="402" r:id="rId109"/>
    <p:sldId id="404" r:id="rId1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F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ECDB178-73DF-4E37-A588-1FAB14E2F0E9}">
  <a:tblStyle styleId="{FECDB178-73DF-4E37-A588-1FAB14E2F0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06" autoAdjust="0"/>
  </p:normalViewPr>
  <p:slideViewPr>
    <p:cSldViewPr snapToGrid="0">
      <p:cViewPr varScale="1">
        <p:scale>
          <a:sx n="89" d="100"/>
          <a:sy n="89" d="100"/>
        </p:scale>
        <p:origin x="8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fr.wikipedia.org/wiki/Ontologie_(informatique)" TargetMode="External"/><Relationship Id="rId2" Type="http://schemas.openxmlformats.org/officeDocument/2006/relationships/slide" Target="../slides/slide46.xml"/><Relationship Id="rId1" Type="http://schemas.openxmlformats.org/officeDocument/2006/relationships/notesMaster" Target="../notesMasters/notesMaster1.xml"/><Relationship Id="rId6" Type="http://schemas.openxmlformats.org/officeDocument/2006/relationships/hyperlink" Target="https://fr.wikipedia.org/wiki/Web_s%C3%A9mantique" TargetMode="External"/><Relationship Id="rId5" Type="http://schemas.openxmlformats.org/officeDocument/2006/relationships/hyperlink" Target="https://fr.wikipedia.org/wiki/FOAF#cite_note-1" TargetMode="External"/><Relationship Id="rId4" Type="http://schemas.openxmlformats.org/officeDocument/2006/relationships/hyperlink" Target="https://fr.wikipedia.org/wiki/Resource_Description_Framework"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ed3401ed3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ed3401ed3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a:extLst>
            <a:ext uri="{FF2B5EF4-FFF2-40B4-BE49-F238E27FC236}">
              <a16:creationId xmlns:a16="http://schemas.microsoft.com/office/drawing/2014/main" id="{9D7CF431-B319-B70E-4AB9-28BF4A071A14}"/>
            </a:ext>
          </a:extLst>
        </p:cNvPr>
        <p:cNvGrpSpPr/>
        <p:nvPr/>
      </p:nvGrpSpPr>
      <p:grpSpPr>
        <a:xfrm>
          <a:off x="0" y="0"/>
          <a:ext cx="0" cy="0"/>
          <a:chOff x="0" y="0"/>
          <a:chExt cx="0" cy="0"/>
        </a:xfrm>
      </p:grpSpPr>
      <p:sp>
        <p:nvSpPr>
          <p:cNvPr id="817" name="Google Shape;817;ge1d838b627_0_34:notes">
            <a:extLst>
              <a:ext uri="{FF2B5EF4-FFF2-40B4-BE49-F238E27FC236}">
                <a16:creationId xmlns:a16="http://schemas.microsoft.com/office/drawing/2014/main" id="{D9A84E73-1893-36B1-B348-718CF2F5F9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e1d838b627_0_34:notes">
            <a:extLst>
              <a:ext uri="{FF2B5EF4-FFF2-40B4-BE49-F238E27FC236}">
                <a16:creationId xmlns:a16="http://schemas.microsoft.com/office/drawing/2014/main" id="{83D3E09E-D5ED-25E3-9795-AF3EC7ED6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1396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1ee2869b1e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aa3d063a2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2DCE8B81-F8A3-38E1-9812-DC3195A07093}"/>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4077EF3C-4DBB-AF78-DC64-00FCE05F14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BE06A4A5-59CC-834F-3CAB-E9FE4A504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7804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07FD7C3D-4034-FCAE-410B-0F7653965EC8}"/>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2DB1709F-A01B-8066-7720-7553C7FD2A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F8B2ABD5-3F6A-97D7-C44B-7398B1B42D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896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45FB9DB4-3D24-CE33-FA52-9F1A697129E0}"/>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AF6452BC-536D-8986-80AF-38B907B62B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7ECF4975-239F-E88F-35D1-004377FB60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4005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54BB24BD-D320-43A8-274B-6A0D36688EFC}"/>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3FE5D31A-F284-2E3C-EDFD-6FECF2D32D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C5FA89E5-4D7A-F852-94CE-940A405C1D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046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6D513DFF-EB6F-F2F3-546C-29728252461A}"/>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BC4BFE80-C63E-F260-55A6-FADF973808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FC046AE5-7C5A-2830-19C2-A2B5DEE6E4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80649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35061177-1B4B-BDA8-4708-1F4A7A9D4D9F}"/>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A792FDB3-BB4E-02B2-F0B2-23936B21C2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8004833D-0DE2-65C2-C96F-E17D60F9C4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1609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a:extLst>
            <a:ext uri="{FF2B5EF4-FFF2-40B4-BE49-F238E27FC236}">
              <a16:creationId xmlns:a16="http://schemas.microsoft.com/office/drawing/2014/main" id="{F91B7A83-E36C-EB5B-4BD6-0AA49C53D6CC}"/>
            </a:ext>
          </a:extLst>
        </p:cNvPr>
        <p:cNvGrpSpPr/>
        <p:nvPr/>
      </p:nvGrpSpPr>
      <p:grpSpPr>
        <a:xfrm>
          <a:off x="0" y="0"/>
          <a:ext cx="0" cy="0"/>
          <a:chOff x="0" y="0"/>
          <a:chExt cx="0" cy="0"/>
        </a:xfrm>
      </p:grpSpPr>
      <p:sp>
        <p:nvSpPr>
          <p:cNvPr id="874" name="Google Shape;874;g2aa3d063a2b_0_24:notes">
            <a:extLst>
              <a:ext uri="{FF2B5EF4-FFF2-40B4-BE49-F238E27FC236}">
                <a16:creationId xmlns:a16="http://schemas.microsoft.com/office/drawing/2014/main" id="{6EF42FC3-8C67-CFCB-AC64-CA1BB5F2A1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aa3d063a2b_0_24:notes">
            <a:extLst>
              <a:ext uri="{FF2B5EF4-FFF2-40B4-BE49-F238E27FC236}">
                <a16:creationId xmlns:a16="http://schemas.microsoft.com/office/drawing/2014/main" id="{0E42E5E3-9A47-7735-F678-2CFB06F1B9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42217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B3E722C9-6119-AB79-7B55-4826E46C420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22485883-5E48-3FAF-A77B-C35D0324CF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C5391860-1D8A-E01B-4FBD-1895CFCEF1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3602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D5B5FAE-1D6C-D83E-A34E-402F1899CE14}"/>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57636683-F721-6AFE-26BA-BF229F62CC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E1F9D90E-3081-A110-570C-166AE4771D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7832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8946D528-2D31-EFE7-9107-ADE59709612B}"/>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0907E084-9865-2743-EE0E-527501437B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21A16307-9FF8-D77D-697A-ECA09C8F68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9691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3730B6A-8414-B78E-AE9A-B9D6E0F850C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E1E4CC2-B55E-79E4-C0C1-B512FD948B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6CED794E-0882-D54B-0D1D-68E3639A7D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7880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5E1D3BCA-C330-8F26-38D4-7001775443DE}"/>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C945BB7-6BF0-9FEE-BB95-D46FBDB9C8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90E4DB99-A654-3952-BE13-CFD8307410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14455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A88EE27B-EE80-D5A5-04C4-BEE93968C5E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A0C7D78C-079B-7A7B-D185-097B21DB32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72A2E9D8-F6CD-958B-9C91-DA4673624A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2258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447104FF-4ACE-BC35-0B7D-489181BFA45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5E0BDD10-595E-D13D-BE5F-9059E852E9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E31C98A4-5335-B3C9-6DC4-8727E1C457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8620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EFE2F972-5BD3-5F49-609C-BC34FB6A3FE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C4EAC013-4B84-EFC6-2BFE-6DE2F8A2DE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9043EA1-A32E-690D-8483-691C123E61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14506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3B87EA09-79D3-CE76-F2FF-8416CFDB13C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A09EC2F2-FDF1-FBC0-6611-AFF930731D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EBF778E9-D40F-A00A-C120-311C759BF3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6683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B1A25413-A9F9-78A4-E91C-4711A20CF04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36BE90E4-0985-9E22-0ED8-986C7C8A19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859F7A8E-61B2-11EF-133C-D4227D7C14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7603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5DA884BA-13DB-30B8-62F9-8ABCA26C735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CBE40E2E-3EA8-2EA2-DAB2-EFBFCCE2BE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1632145D-8C4F-FD56-C5D9-94C2A6D48B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42282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E29277F4-3B3A-4DA8-FB99-A10385B694C9}"/>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52957070-35E3-A543-B8CF-F58AD182CC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560C98F8-F1D0-D248-2592-709B4518D4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1350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04B8222-7106-0F05-BC5E-DE45048A92F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2B035D3F-B7CA-D57B-035C-3696EFBBB8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EE45D716-A21F-F4E6-E315-9CC17AF2DC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37941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753A62C6-B4F3-8915-DB20-320321F4BED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5E13F5E6-1309-48E1-ADE9-1284400C3F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D172F81A-23B5-AF0C-C125-42CD2D0CC4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47453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86175EF7-A6DE-4467-81E8-53E4E8F9AF2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CEB3234-5A91-B5B3-55B7-03B57D4B31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8BD7CFA7-67BF-60EC-2205-7E5D294B2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24424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E96B5C10-E29F-9148-0B9D-69BFBA794FC0}"/>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53330E2-D911-A35A-0D35-291940A326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496A5453-52E9-2E2F-9191-ACB806C90E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44324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E83EE074-582A-C6CD-A3BE-5E3ADE235303}"/>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89756B04-4694-64C0-7709-051DF4ADDC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68D7F0A-20B1-6E04-1486-C8EDCE59E1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28525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0A2B76D2-9AE0-4799-A5B2-AB4DB6EE009D}"/>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6A28F68-272C-E7D7-2B65-156BE15AC7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B2548012-2EAA-2B25-E336-50EBC2CAC5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73284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B741E5A5-F4BF-8A0E-747F-7FD947C93E33}"/>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67D43026-F290-670D-911B-C9552768F8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EA5BBB8-70A6-277F-01F2-1A45C980CB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55444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C84EB2E9-0075-65FC-6FBE-A52BB6D60329}"/>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1771BE8-D98D-E635-D006-D5275279E7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F6DEA462-4B9B-FD5E-96B5-C1396E2498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87983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B3FB2B23-A41F-700E-2E94-EA35B5E29B6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296C1673-F4C6-A0C6-90FD-444DFE012A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C55C2365-2389-3499-C815-E7B79BDE5C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Une **ontologie** est une structure organisée qui définit les concepts, les relations et les règles dans un domaine spécifique, afin que les machines puissent comprendre et utiliser ces informations. Dans le contexte du Web sémantique et d'</a:t>
            </a:r>
            <a:r>
              <a:rPr lang="fr-FR" dirty="0" err="1"/>
              <a:t>AllegroGraph</a:t>
            </a:r>
            <a:r>
              <a:rPr lang="fr-FR" dirty="0"/>
              <a:t>, voici une explication simple :</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 **Rôle** : Elle agit comme un dictionnaire ou un plan détaillé. Par exemple, dans une ontologie médicale, elle pourrait définir que "Médecin" est une personne, qu’un médecin "traite" un "Patient", et que "Traiter" implique un "Diagnostic".</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 **Structure** : Elle est construite avec des éléments comme des classes (ex. : "Animal"), des propriétés (ex. : "a pour couleur"), et des instances (ex. : "Chat" comme instance de "Animal"). Ces éléments sont souvent encodés en RDF et enrichis avec des langages comme OWL.</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 **Utilité** : Elle permet aux ordinateurs de raisonner. Par exemple, si une ontologie dit "tous les oiseaux volent" et qu’un "Pingouin" est un "Oiseau", elle peut détecter une incohérence si on ajoute "Pingouin ne vole pas".</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 **Exemple concret** : Dans </a:t>
            </a:r>
            <a:r>
              <a:rPr lang="fr-FR" dirty="0" err="1"/>
              <a:t>AllegroGraph</a:t>
            </a:r>
            <a:r>
              <a:rPr lang="fr-FR" dirty="0"/>
              <a:t>, une ontologie comme FOAF (</a:t>
            </a:r>
            <a:r>
              <a:rPr lang="fr-FR" dirty="0" err="1"/>
              <a:t>Friend</a:t>
            </a:r>
            <a:r>
              <a:rPr lang="fr-FR" dirty="0"/>
              <a:t> of a </a:t>
            </a:r>
            <a:r>
              <a:rPr lang="fr-FR" dirty="0" err="1"/>
              <a:t>Friend</a:t>
            </a:r>
            <a:r>
              <a:rPr lang="fr-FR" dirty="0"/>
              <a:t>) décrit des personnes et leurs relations (ex. : "connaît"), aidant à relier des données comme "Paul connaît Marie".</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En résumé, une ontologie organise les connaissances d’un domaine pour rendre les données compréhensibles et exploitables par des systèmes comme </a:t>
            </a:r>
            <a:r>
              <a:rPr lang="fr-FR" dirty="0" err="1"/>
              <a:t>AllegroGraph</a:t>
            </a:r>
            <a:r>
              <a:rPr lang="fr-FR" dirty="0"/>
              <a:t>, en combinant RDF et OWL pour un raisonnement avancé.</a:t>
            </a:r>
            <a:endParaRPr dirty="0"/>
          </a:p>
        </p:txBody>
      </p:sp>
    </p:spTree>
    <p:extLst>
      <p:ext uri="{BB962C8B-B14F-4D97-AF65-F5344CB8AC3E}">
        <p14:creationId xmlns:p14="http://schemas.microsoft.com/office/powerpoint/2010/main" val="1752692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B63C8CDE-F2F2-2171-575C-62E06BBC8A59}"/>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724FE43C-9EC5-610A-BB3E-7CFC420762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BB5ED4D8-23DF-A9EB-C6D0-81E09F2D2E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28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D9F3C4DE-9581-52CB-0A62-0820FC6C531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DF8FF21F-B8E8-1806-3873-3FBAF266B2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9B09462-D158-601D-DF67-5E500E1897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49965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3AD4471-D3CA-011B-E799-70B4CECED034}"/>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37AE46D8-5FE9-CFE1-4DEF-422AA8488C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EC882475-D682-8E8A-6483-6AE1CCE8D1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489704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564D238-22CB-9D68-90BB-022A0251819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6805D174-5FBA-3CD1-EFD1-61D814FD39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408F3F10-4393-8BDB-62BE-2B816952A2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7685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8B9842E6-1935-9904-C1B9-7B7F14A6823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666BD22-2328-5F82-A1EB-E57305662F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2DB7A32-50FC-5318-7EFA-9DF8901E58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66886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4010626-351E-1027-8532-0B161EB1EE5F}"/>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0AB21D4A-FBD4-9C3C-D1B7-1FD543E924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F43F763-6955-DC3F-6A58-617F02AAF0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72474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265448FC-50DD-95CD-44E6-037F9A16BBE0}"/>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706A7A4A-FEBB-91A2-10A5-C34069F603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D5691633-3EA4-49A1-D102-27ED349E7D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74532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60409D6-B231-C264-FFD6-B505A0C2A55B}"/>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0161CBDD-0645-4FA0-E55F-C17977522E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1E8D31CF-C658-6520-96FA-C6DF1985CB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3431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AA9F4E8-D09E-FD41-D47B-6C19DB86BBEF}"/>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03C4CFD0-5DC6-DA25-551F-A235CC9948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79549D7-1370-E4AB-92A3-9FBF3DF210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43621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7DEA504D-DE81-B081-1227-4CE68EB903EE}"/>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53149D06-65EC-6F47-DED0-5E96ACC88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86FC372F-A5C9-4C68-936E-FE2932C8F2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45805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A49AB633-20F5-1678-68FA-EBE29B3C9AB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3CE3A45-78A0-024A-860B-151EA71B59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8EBDC9CD-30CF-A12D-CB78-76DE1CC42D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95405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09CAF069-80F5-1C37-0853-6EC1F899907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84A0ADF-580E-BB91-4270-66AD14A4EA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68CE18FA-0CFF-75B8-B040-E13F958D99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4070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0D45E6F-C331-3120-B2F0-036DD20F8342}"/>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83D2B2BF-2CA4-0615-DB7A-A909E8FBBE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C3485705-E9C6-E3B0-E572-16D84204F4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sz="1100" b="1" i="0" u="none" strike="noStrike" cap="none" dirty="0">
                <a:solidFill>
                  <a:srgbClr val="000000"/>
                </a:solidFill>
                <a:effectLst/>
                <a:latin typeface="Arial"/>
                <a:ea typeface="Arial"/>
                <a:cs typeface="Arial"/>
                <a:sym typeface="Arial"/>
              </a:rPr>
              <a:t>FOAF</a:t>
            </a:r>
            <a:r>
              <a:rPr lang="fr-FR" sz="1100" b="0" i="0" u="none" strike="noStrike" cap="none" dirty="0">
                <a:solidFill>
                  <a:srgbClr val="000000"/>
                </a:solidFill>
                <a:effectLst/>
                <a:latin typeface="Arial"/>
                <a:ea typeface="Arial"/>
                <a:cs typeface="Arial"/>
                <a:sym typeface="Arial"/>
              </a:rPr>
              <a:t> (de l'anglais </a:t>
            </a:r>
            <a:r>
              <a:rPr lang="fr-FR" sz="1100" b="1" i="1" u="none" strike="noStrike" cap="none" dirty="0" err="1">
                <a:solidFill>
                  <a:srgbClr val="000000"/>
                </a:solidFill>
                <a:effectLst/>
                <a:latin typeface="Arial"/>
                <a:ea typeface="Arial"/>
                <a:cs typeface="Arial"/>
                <a:sym typeface="Arial"/>
              </a:rPr>
              <a:t>Friend</a:t>
            </a:r>
            <a:r>
              <a:rPr lang="fr-FR" sz="1100" b="1" i="1" u="none" strike="noStrike" cap="none" dirty="0">
                <a:solidFill>
                  <a:srgbClr val="000000"/>
                </a:solidFill>
                <a:effectLst/>
                <a:latin typeface="Arial"/>
                <a:ea typeface="Arial"/>
                <a:cs typeface="Arial"/>
                <a:sym typeface="Arial"/>
              </a:rPr>
              <a:t> of a </a:t>
            </a:r>
            <a:r>
              <a:rPr lang="fr-FR" sz="1100" b="1" i="1" u="none" strike="noStrike" cap="none" dirty="0" err="1">
                <a:solidFill>
                  <a:srgbClr val="000000"/>
                </a:solidFill>
                <a:effectLst/>
                <a:latin typeface="Arial"/>
                <a:ea typeface="Arial"/>
                <a:cs typeface="Arial"/>
                <a:sym typeface="Arial"/>
              </a:rPr>
              <a:t>friend</a:t>
            </a:r>
            <a:r>
              <a:rPr lang="fr-FR" sz="1100" b="0" i="0" u="none" strike="noStrike" cap="none" dirty="0">
                <a:solidFill>
                  <a:srgbClr val="000000"/>
                </a:solidFill>
                <a:effectLst/>
                <a:latin typeface="Arial"/>
                <a:ea typeface="Arial"/>
                <a:cs typeface="Arial"/>
                <a:sym typeface="Arial"/>
              </a:rPr>
              <a:t>, littéralement « l’ami d’un ami ») est une </a:t>
            </a:r>
            <a:r>
              <a:rPr lang="fr-FR" sz="1100" b="0" i="0" u="none" strike="noStrike" cap="none" dirty="0">
                <a:solidFill>
                  <a:srgbClr val="000000"/>
                </a:solidFill>
                <a:effectLst/>
                <a:latin typeface="Arial"/>
                <a:ea typeface="Arial"/>
                <a:cs typeface="Arial"/>
                <a:sym typeface="Arial"/>
                <a:hlinkClick r:id="rId3" tooltip="Ontologie (informatique)"/>
              </a:rPr>
              <a:t>ontologie</a:t>
            </a:r>
            <a:r>
              <a:rPr lang="fr-FR" sz="1100" b="0" i="0" u="none" strike="noStrike" cap="none" dirty="0">
                <a:solidFill>
                  <a:srgbClr val="000000"/>
                </a:solidFill>
                <a:effectLst/>
                <a:latin typeface="Arial"/>
                <a:ea typeface="Arial"/>
                <a:cs typeface="Arial"/>
                <a:sym typeface="Arial"/>
              </a:rPr>
              <a:t> </a:t>
            </a:r>
            <a:r>
              <a:rPr lang="fr-FR" sz="1100" b="0" i="0" u="none" strike="noStrike" cap="none" dirty="0">
                <a:solidFill>
                  <a:srgbClr val="000000"/>
                </a:solidFill>
                <a:effectLst/>
                <a:latin typeface="Arial"/>
                <a:ea typeface="Arial"/>
                <a:cs typeface="Arial"/>
                <a:sym typeface="Arial"/>
                <a:hlinkClick r:id="rId4" tooltip="Resource Description Framework"/>
              </a:rPr>
              <a:t>RDF</a:t>
            </a:r>
            <a:r>
              <a:rPr lang="fr-FR" sz="1100" b="0" i="0" u="none" strike="noStrike" cap="none" dirty="0">
                <a:solidFill>
                  <a:srgbClr val="000000"/>
                </a:solidFill>
                <a:effectLst/>
                <a:latin typeface="Arial"/>
                <a:ea typeface="Arial"/>
                <a:cs typeface="Arial"/>
                <a:sym typeface="Arial"/>
              </a:rPr>
              <a:t> permettant de décrire des personnes et les relations qu’elles entretiennent entre elles. Utilisée comme référence par plusieurs centaines d'autres vocabulaires</a:t>
            </a:r>
            <a:r>
              <a:rPr lang="fr-FR" sz="1100" b="0" i="0" u="none" strike="noStrike" cap="none" baseline="30000" dirty="0">
                <a:solidFill>
                  <a:srgbClr val="000000"/>
                </a:solidFill>
                <a:effectLst/>
                <a:latin typeface="Arial"/>
                <a:ea typeface="Arial"/>
                <a:cs typeface="Arial"/>
                <a:sym typeface="Arial"/>
                <a:hlinkClick r:id="rId5"/>
              </a:rPr>
              <a:t>[1]</a:t>
            </a:r>
            <a:r>
              <a:rPr lang="fr-FR" sz="1100" b="0" i="0" u="none" strike="noStrike" cap="none" dirty="0">
                <a:solidFill>
                  <a:srgbClr val="000000"/>
                </a:solidFill>
                <a:effectLst/>
                <a:latin typeface="Arial"/>
                <a:ea typeface="Arial"/>
                <a:cs typeface="Arial"/>
                <a:sym typeface="Arial"/>
              </a:rPr>
              <a:t>, elle est un élément central du </a:t>
            </a:r>
            <a:r>
              <a:rPr lang="fr-FR" sz="1100" b="0" i="0" u="none" strike="noStrike" cap="none" dirty="0">
                <a:solidFill>
                  <a:srgbClr val="000000"/>
                </a:solidFill>
                <a:effectLst/>
                <a:latin typeface="Arial"/>
                <a:ea typeface="Arial"/>
                <a:cs typeface="Arial"/>
                <a:sym typeface="Arial"/>
                <a:hlinkClick r:id="rId6" tooltip="Web sémantique"/>
              </a:rPr>
              <a:t>web sémantique</a:t>
            </a:r>
            <a:r>
              <a:rPr lang="fr-FR" sz="1100" b="0" i="0" u="none" strike="noStrike" cap="none" dirty="0">
                <a:solidFill>
                  <a:srgbClr val="000000"/>
                </a:solidFill>
                <a:effectLst/>
                <a:latin typeface="Arial"/>
                <a:ea typeface="Arial"/>
                <a:cs typeface="Arial"/>
                <a:sym typeface="Arial"/>
              </a:rPr>
              <a:t>.</a:t>
            </a:r>
            <a:endParaRPr dirty="0"/>
          </a:p>
        </p:txBody>
      </p:sp>
    </p:spTree>
    <p:extLst>
      <p:ext uri="{BB962C8B-B14F-4D97-AF65-F5344CB8AC3E}">
        <p14:creationId xmlns:p14="http://schemas.microsoft.com/office/powerpoint/2010/main" val="27260282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2aa3d063a2b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2aa3d063a2b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EE0DE0F2-A405-FA35-EAD6-A9EE5CE4BDD9}"/>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73AD295D-BCB2-E164-024B-EA2F210B07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4E6A4DC7-888D-5A5E-EA9C-8BA6F8EE8E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261288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41EBE7CC-542F-35BD-BDB1-28DB4B6C89F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0510207B-47F3-D5ED-4426-4BDC809AE6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D9A02DE0-AFCD-2AA7-2948-86C770C17A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53187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CEC62F10-7020-AD2B-05EB-40DE724520B1}"/>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12EC4D2C-8865-9279-0620-1A979A3232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D73FA720-C5AD-B88F-AEF2-4E8FB92F32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206130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a:extLst>
            <a:ext uri="{FF2B5EF4-FFF2-40B4-BE49-F238E27FC236}">
              <a16:creationId xmlns:a16="http://schemas.microsoft.com/office/drawing/2014/main" id="{FC0B65EE-3C87-5FA6-D101-1A684EAB9D2E}"/>
            </a:ext>
          </a:extLst>
        </p:cNvPr>
        <p:cNvGrpSpPr/>
        <p:nvPr/>
      </p:nvGrpSpPr>
      <p:grpSpPr>
        <a:xfrm>
          <a:off x="0" y="0"/>
          <a:ext cx="0" cy="0"/>
          <a:chOff x="0" y="0"/>
          <a:chExt cx="0" cy="0"/>
        </a:xfrm>
      </p:grpSpPr>
      <p:sp>
        <p:nvSpPr>
          <p:cNvPr id="1134" name="Google Shape;1134;g2aa3d063a2b_0_61:notes">
            <a:extLst>
              <a:ext uri="{FF2B5EF4-FFF2-40B4-BE49-F238E27FC236}">
                <a16:creationId xmlns:a16="http://schemas.microsoft.com/office/drawing/2014/main" id="{63DE7BCA-092E-071E-5312-A3A63759FD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2aa3d063a2b_0_61:notes">
            <a:extLst>
              <a:ext uri="{FF2B5EF4-FFF2-40B4-BE49-F238E27FC236}">
                <a16:creationId xmlns:a16="http://schemas.microsoft.com/office/drawing/2014/main" id="{45470D66-BA6A-4D7C-2EA2-7FD34B6F5C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Un </a:t>
            </a:r>
            <a:r>
              <a:rPr lang="fr-FR" b="1" dirty="0"/>
              <a:t>espace de noms (</a:t>
            </a:r>
            <a:r>
              <a:rPr lang="fr-FR" b="1" dirty="0" err="1"/>
              <a:t>namespace</a:t>
            </a:r>
            <a:r>
              <a:rPr lang="fr-FR" b="1" dirty="0"/>
              <a:t>)</a:t>
            </a:r>
            <a:r>
              <a:rPr lang="fr-FR" dirty="0"/>
              <a:t> est un identifiant (généralement une URL) qui sert de </a:t>
            </a:r>
            <a:r>
              <a:rPr lang="fr-FR" b="1" dirty="0"/>
              <a:t>préfixe</a:t>
            </a:r>
            <a:r>
              <a:rPr lang="fr-FR" dirty="0"/>
              <a:t> pour éviter les ambiguïtés entre différents vocabulaires.</a:t>
            </a:r>
          </a:p>
          <a:p>
            <a:r>
              <a:rPr lang="fr-FR" dirty="0"/>
              <a:t>👉 En RDF / SPARQL, chaque propriété ou classe est en réalité identifiée par une </a:t>
            </a:r>
            <a:r>
              <a:rPr lang="fr-FR" b="1" dirty="0"/>
              <a:t>URI complète</a:t>
            </a:r>
            <a:r>
              <a:rPr lang="fr-FR" dirty="0"/>
              <a:t>.</a:t>
            </a:r>
            <a:br>
              <a:rPr lang="fr-FR" dirty="0"/>
            </a:br>
            <a:r>
              <a:rPr lang="fr-FR" dirty="0"/>
              <a:t>Mais comme ces </a:t>
            </a:r>
            <a:r>
              <a:rPr lang="fr-FR" dirty="0" err="1"/>
              <a:t>URIs</a:t>
            </a:r>
            <a:r>
              <a:rPr lang="fr-FR" dirty="0"/>
              <a:t> sont longues, on utilise des </a:t>
            </a:r>
            <a:r>
              <a:rPr lang="fr-FR" b="1" dirty="0"/>
              <a:t>préfixes</a:t>
            </a:r>
            <a:r>
              <a:rPr lang="fr-FR" dirty="0"/>
              <a:t> (alias plus courts).</a:t>
            </a:r>
          </a:p>
          <a:p>
            <a:pPr marL="0" lvl="0" indent="0" algn="l" rtl="0">
              <a:spcBef>
                <a:spcPts val="0"/>
              </a:spcBef>
              <a:spcAft>
                <a:spcPts val="0"/>
              </a:spcAft>
              <a:buNone/>
            </a:pPr>
            <a:endParaRPr lang="fr-FR" dirty="0"/>
          </a:p>
          <a:p>
            <a:r>
              <a:rPr lang="fr-FR" b="1" dirty="0"/>
              <a:t>Exemple sans espace de noms</a:t>
            </a:r>
          </a:p>
          <a:p>
            <a:r>
              <a:rPr lang="fr-FR" dirty="0"/>
              <a:t>Si tu voulais écrire la propriété </a:t>
            </a:r>
            <a:r>
              <a:rPr lang="fr-FR" i="1" dirty="0"/>
              <a:t>titre</a:t>
            </a:r>
            <a:r>
              <a:rPr lang="fr-FR" dirty="0"/>
              <a:t> en utilisant directement l’URI complète du Dublin </a:t>
            </a:r>
            <a:r>
              <a:rPr lang="fr-FR" dirty="0" err="1"/>
              <a:t>Core</a:t>
            </a:r>
            <a:r>
              <a:rPr lang="fr-FR" dirty="0"/>
              <a:t> :</a:t>
            </a:r>
          </a:p>
          <a:p>
            <a:pPr rtl="0"/>
            <a:r>
              <a:rPr lang="fr-FR" dirty="0"/>
              <a:t>&lt;http://purl.org/dc/elements/1.1/title&gt; </a:t>
            </a:r>
          </a:p>
          <a:p>
            <a:r>
              <a:rPr lang="fr-FR" dirty="0"/>
              <a:t>C’est correct, mais c’est très lourd à écrire partout</a:t>
            </a:r>
          </a:p>
          <a:p>
            <a:pPr marL="0" lvl="0" indent="0" algn="l" rtl="0">
              <a:spcBef>
                <a:spcPts val="0"/>
              </a:spcBef>
              <a:spcAft>
                <a:spcPts val="0"/>
              </a:spcAft>
              <a:buNone/>
            </a:pPr>
            <a:endParaRPr lang="fr-FR" dirty="0"/>
          </a:p>
          <a:p>
            <a:r>
              <a:rPr lang="fr-FR" b="1" dirty="0"/>
              <a:t>Exemple avec espace de noms</a:t>
            </a:r>
          </a:p>
          <a:p>
            <a:r>
              <a:rPr lang="fr-FR" dirty="0"/>
              <a:t>On définit un préfixe :</a:t>
            </a:r>
          </a:p>
          <a:p>
            <a:pPr rtl="0"/>
            <a:r>
              <a:rPr lang="fr-FR" dirty="0"/>
              <a:t>PREFIX dc: &lt;http://purl.org/dc/elements/1.1/&gt; </a:t>
            </a:r>
          </a:p>
          <a:p>
            <a:r>
              <a:rPr lang="fr-FR" dirty="0"/>
              <a:t>Puis on peut utiliser :</a:t>
            </a:r>
          </a:p>
          <a:p>
            <a:pPr rtl="0"/>
            <a:r>
              <a:rPr lang="fr-FR" dirty="0" err="1"/>
              <a:t>dc:title</a:t>
            </a:r>
            <a:r>
              <a:rPr lang="fr-FR" dirty="0"/>
              <a:t> </a:t>
            </a:r>
          </a:p>
          <a:p>
            <a:r>
              <a:rPr lang="fr-FR" dirty="0"/>
              <a:t>Au lieu de répéter toute l’URL. </a:t>
            </a:r>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r>
              <a:rPr lang="fr-FR" b="1" dirty="0"/>
              <a:t>Pourquoi c’est utile ?</a:t>
            </a:r>
          </a:p>
          <a:p>
            <a:r>
              <a:rPr lang="fr-FR" dirty="0"/>
              <a:t>Évite les collisions (par exemple, </a:t>
            </a:r>
            <a:r>
              <a:rPr lang="fr-FR" dirty="0" err="1"/>
              <a:t>title</a:t>
            </a:r>
            <a:r>
              <a:rPr lang="fr-FR" dirty="0"/>
              <a:t> peut exister dans plusieurs vocabulaires, mais </a:t>
            </a:r>
            <a:r>
              <a:rPr lang="fr-FR" dirty="0" err="1"/>
              <a:t>dc:title</a:t>
            </a:r>
            <a:r>
              <a:rPr lang="fr-FR" dirty="0"/>
              <a:t> ≠ </a:t>
            </a:r>
            <a:r>
              <a:rPr lang="fr-FR" dirty="0" err="1"/>
              <a:t>ex:title</a:t>
            </a:r>
            <a:r>
              <a:rPr lang="fr-FR" dirty="0"/>
              <a:t>).</a:t>
            </a:r>
          </a:p>
          <a:p>
            <a:r>
              <a:rPr lang="fr-FR" dirty="0"/>
              <a:t>Rend les requêtes beaucoup plus lisibles.</a:t>
            </a:r>
          </a:p>
          <a:p>
            <a:r>
              <a:rPr lang="fr-FR" dirty="0"/>
              <a:t>Permet de mélanger plusieurs vocabulaires dans une même requête (</a:t>
            </a:r>
            <a:r>
              <a:rPr lang="fr-FR" dirty="0" err="1"/>
              <a:t>rdf</a:t>
            </a:r>
            <a:r>
              <a:rPr lang="fr-FR" dirty="0"/>
              <a:t>:, </a:t>
            </a:r>
            <a:r>
              <a:rPr lang="fr-FR" dirty="0" err="1"/>
              <a:t>foaf</a:t>
            </a:r>
            <a:r>
              <a:rPr lang="fr-FR" dirty="0"/>
              <a:t>:, dc:, </a:t>
            </a:r>
            <a:r>
              <a:rPr lang="fr-FR" dirty="0" err="1"/>
              <a:t>schema</a:t>
            </a:r>
            <a:r>
              <a:rPr lang="fr-FR" dirty="0"/>
              <a:t>:, etc.).</a:t>
            </a:r>
          </a:p>
          <a:p>
            <a:pPr marL="0" lvl="0" indent="0" algn="l" rtl="0">
              <a:spcBef>
                <a:spcPts val="0"/>
              </a:spcBef>
              <a:spcAft>
                <a:spcPts val="0"/>
              </a:spcAft>
              <a:buNone/>
            </a:pPr>
            <a:endParaRPr lang="fr-FR" dirty="0"/>
          </a:p>
          <a:p>
            <a:pPr marL="0" lvl="0" indent="0" algn="l" rtl="0">
              <a:spcBef>
                <a:spcPts val="0"/>
              </a:spcBef>
              <a:spcAft>
                <a:spcPts val="0"/>
              </a:spcAft>
              <a:buNone/>
            </a:pPr>
            <a:endParaRPr lang="fr-F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4916329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E49B47B-FFAC-873B-D0F8-FE315808C03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1F79004C-FD25-E63E-F157-034DBEF403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C81C16B-B079-2547-E0A5-2FCA5A92FA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663824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7E0CD1E8-4DB2-64F4-AFE0-CEA22B85741B}"/>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E6CB591-11AD-46AB-9DE1-0D31E70D53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2E6AA496-8CCD-E637-D918-A161DDCB2C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91239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9218E5BB-6D6B-AF37-8D6B-49867395852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D864F5F-49BD-92C3-02B2-D8540B94CB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6AAB7E5A-CAD0-36A7-9567-E0979981F3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PREFIX dc: &lt;http://purl.org/dc/elements/1.1/&gt;</a:t>
            </a:r>
          </a:p>
          <a:p>
            <a:pPr marL="0" lvl="0" indent="0" algn="l" rtl="0">
              <a:spcBef>
                <a:spcPts val="0"/>
              </a:spcBef>
              <a:spcAft>
                <a:spcPts val="0"/>
              </a:spcAft>
              <a:buNone/>
            </a:pPr>
            <a:r>
              <a:rPr lang="fr-FR" b="1" dirty="0"/>
              <a:t>dc: est un préfixe</a:t>
            </a:r>
            <a:r>
              <a:rPr lang="fr-FR" dirty="0"/>
              <a:t> qui fait référence au vocabulaire </a:t>
            </a:r>
            <a:r>
              <a:rPr lang="fr-FR" b="1" dirty="0"/>
              <a:t>Dublin </a:t>
            </a:r>
            <a:r>
              <a:rPr lang="fr-FR" b="1" dirty="0" err="1"/>
              <a:t>Core</a:t>
            </a:r>
            <a:r>
              <a:rPr lang="fr-FR" dirty="0"/>
              <a:t>.</a:t>
            </a:r>
          </a:p>
          <a:p>
            <a:pPr marL="0" lvl="0" indent="0" algn="l" rtl="0">
              <a:spcBef>
                <a:spcPts val="0"/>
              </a:spcBef>
              <a:spcAft>
                <a:spcPts val="0"/>
              </a:spcAft>
              <a:buNone/>
            </a:pPr>
            <a:endParaRPr lang="fr-FR" dirty="0"/>
          </a:p>
          <a:p>
            <a:r>
              <a:rPr lang="fr-FR" b="1" dirty="0"/>
              <a:t>Dublin </a:t>
            </a:r>
            <a:r>
              <a:rPr lang="fr-FR" b="1" dirty="0" err="1"/>
              <a:t>Core</a:t>
            </a:r>
            <a:r>
              <a:rPr lang="fr-FR" b="1" dirty="0"/>
              <a:t> (DC)</a:t>
            </a:r>
          </a:p>
          <a:p>
            <a:r>
              <a:rPr lang="fr-FR" dirty="0"/>
              <a:t>C’est un </a:t>
            </a:r>
            <a:r>
              <a:rPr lang="fr-FR" b="1" dirty="0"/>
              <a:t>ensemble standardisé de métadonnées</a:t>
            </a:r>
            <a:r>
              <a:rPr lang="fr-FR" dirty="0"/>
              <a:t> utilisé pour décrire des ressources (documents, images, vidéos, pages web, etc.).</a:t>
            </a:r>
          </a:p>
          <a:p>
            <a:r>
              <a:rPr lang="fr-FR" dirty="0"/>
              <a:t>Créé par le projet </a:t>
            </a:r>
            <a:r>
              <a:rPr lang="fr-FR" b="1" dirty="0"/>
              <a:t>Dublin </a:t>
            </a:r>
            <a:r>
              <a:rPr lang="fr-FR" b="1" dirty="0" err="1"/>
              <a:t>Core</a:t>
            </a:r>
            <a:r>
              <a:rPr lang="fr-FR" b="1" dirty="0"/>
              <a:t> </a:t>
            </a:r>
            <a:r>
              <a:rPr lang="fr-FR" b="1" dirty="0" err="1"/>
              <a:t>Metadata</a:t>
            </a:r>
            <a:r>
              <a:rPr lang="fr-FR" b="1" dirty="0"/>
              <a:t> Initiative (DCMI)</a:t>
            </a:r>
            <a:r>
              <a:rPr lang="fr-FR" dirty="0"/>
              <a:t>.</a:t>
            </a:r>
          </a:p>
          <a:p>
            <a:r>
              <a:rPr lang="fr-FR" dirty="0"/>
              <a:t>Très répandu dans les bibliothèques numériques, archives, musées, web sémantique.</a:t>
            </a:r>
          </a:p>
          <a:p>
            <a:pPr marL="0" lvl="0" indent="0" algn="l" rtl="0">
              <a:spcBef>
                <a:spcPts val="0"/>
              </a:spcBef>
              <a:spcAft>
                <a:spcPts val="0"/>
              </a:spcAft>
              <a:buNone/>
            </a:pPr>
            <a:endParaRPr lang="fr-FR" dirty="0"/>
          </a:p>
          <a:p>
            <a:r>
              <a:rPr lang="fr-FR" b="1" dirty="0"/>
              <a:t>Exemples de propriétés DC</a:t>
            </a:r>
          </a:p>
          <a:p>
            <a:r>
              <a:rPr lang="fr-FR" dirty="0" err="1"/>
              <a:t>dc:title</a:t>
            </a:r>
            <a:r>
              <a:rPr lang="fr-FR" dirty="0"/>
              <a:t> → le titre d’une ressource.</a:t>
            </a:r>
          </a:p>
          <a:p>
            <a:r>
              <a:rPr lang="fr-FR" dirty="0" err="1"/>
              <a:t>dc:creator</a:t>
            </a:r>
            <a:r>
              <a:rPr lang="fr-FR" dirty="0"/>
              <a:t> → l’auteur ou créateur.</a:t>
            </a:r>
          </a:p>
          <a:p>
            <a:r>
              <a:rPr lang="fr-FR" dirty="0" err="1"/>
              <a:t>dc:date</a:t>
            </a:r>
            <a:r>
              <a:rPr lang="fr-FR" dirty="0"/>
              <a:t> → une date associée (publication, création…).</a:t>
            </a:r>
          </a:p>
          <a:p>
            <a:r>
              <a:rPr lang="fr-FR" dirty="0" err="1"/>
              <a:t>dc:description</a:t>
            </a:r>
            <a:r>
              <a:rPr lang="fr-FR" dirty="0"/>
              <a:t> → une description textuelle.</a:t>
            </a:r>
          </a:p>
          <a:p>
            <a:r>
              <a:rPr lang="fr-FR" dirty="0" err="1"/>
              <a:t>dc:subject</a:t>
            </a:r>
            <a:r>
              <a:rPr lang="fr-FR" dirty="0"/>
              <a:t> → un mot-clé ou thème.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175481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a:extLst>
            <a:ext uri="{FF2B5EF4-FFF2-40B4-BE49-F238E27FC236}">
              <a16:creationId xmlns:a16="http://schemas.microsoft.com/office/drawing/2014/main" id="{8F0809AF-32BF-4B97-8BF2-B5D17F9B1FB3}"/>
            </a:ext>
          </a:extLst>
        </p:cNvPr>
        <p:cNvGrpSpPr/>
        <p:nvPr/>
      </p:nvGrpSpPr>
      <p:grpSpPr>
        <a:xfrm>
          <a:off x="0" y="0"/>
          <a:ext cx="0" cy="0"/>
          <a:chOff x="0" y="0"/>
          <a:chExt cx="0" cy="0"/>
        </a:xfrm>
      </p:grpSpPr>
      <p:sp>
        <p:nvSpPr>
          <p:cNvPr id="1134" name="Google Shape;1134;g2aa3d063a2b_0_61:notes">
            <a:extLst>
              <a:ext uri="{FF2B5EF4-FFF2-40B4-BE49-F238E27FC236}">
                <a16:creationId xmlns:a16="http://schemas.microsoft.com/office/drawing/2014/main" id="{11D1E833-BC0E-322F-5CEC-F8AC069D27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2aa3d063a2b_0_61:notes">
            <a:extLst>
              <a:ext uri="{FF2B5EF4-FFF2-40B4-BE49-F238E27FC236}">
                <a16:creationId xmlns:a16="http://schemas.microsoft.com/office/drawing/2014/main" id="{AE642241-5582-5CFB-45FA-6826A39D5D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1757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g2aa3d063a2b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8" name="Google Shape;1298;g2aa3d063a2b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DF4AD78-1BF9-9CB6-842C-DEEC0E17DE14}"/>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D333EC5-5EFD-EA83-3AC0-C8E559A220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4C89EB55-DC07-C8AB-DE4A-C41B695E2E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76773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88500FF-577B-0914-2975-6A8BC9E06A36}"/>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63E83B3E-BCEF-B03A-5F5A-12573BBC13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D0A4CBFD-089C-F811-9ACE-E59FA5BFAC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50391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D3168333-5E30-EFA6-C58C-4C6ED5B03CD7}"/>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1BA2BFC7-C95E-A46B-D83C-A75CD69593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4A82DA2D-DDA4-7BAB-04E5-4552FD4FA8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58153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a:extLst>
            <a:ext uri="{FF2B5EF4-FFF2-40B4-BE49-F238E27FC236}">
              <a16:creationId xmlns:a16="http://schemas.microsoft.com/office/drawing/2014/main" id="{99E3C4D2-EF0D-A198-4636-D475EA9EA66A}"/>
            </a:ext>
          </a:extLst>
        </p:cNvPr>
        <p:cNvGrpSpPr/>
        <p:nvPr/>
      </p:nvGrpSpPr>
      <p:grpSpPr>
        <a:xfrm>
          <a:off x="0" y="0"/>
          <a:ext cx="0" cy="0"/>
          <a:chOff x="0" y="0"/>
          <a:chExt cx="0" cy="0"/>
        </a:xfrm>
      </p:grpSpPr>
      <p:sp>
        <p:nvSpPr>
          <p:cNvPr id="1134" name="Google Shape;1134;g2aa3d063a2b_0_61:notes">
            <a:extLst>
              <a:ext uri="{FF2B5EF4-FFF2-40B4-BE49-F238E27FC236}">
                <a16:creationId xmlns:a16="http://schemas.microsoft.com/office/drawing/2014/main" id="{6D990ADE-B3EA-26CD-FB96-034709886F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5" name="Google Shape;1135;g2aa3d063a2b_0_61:notes">
            <a:extLst>
              <a:ext uri="{FF2B5EF4-FFF2-40B4-BE49-F238E27FC236}">
                <a16:creationId xmlns:a16="http://schemas.microsoft.com/office/drawing/2014/main" id="{CAE4365B-E933-4291-19B9-203FACA629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627859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DAE562D2-76C4-3928-7117-337D4F54736F}"/>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2836959F-66E7-EDB9-FD88-5E672D23DC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C9C9691-6FC6-21B8-662A-D651CFD09E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88957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47924A81-DEB3-2720-BB71-39E31AB3A6C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9CCDDA0B-C8A0-7AA9-8729-1B4EF30C55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251ACA76-CD39-CD39-322A-981FE47D5B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942722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CA1C8D16-4C5E-ACA6-D3D8-9D86D63A57B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EFF611DA-0F65-D777-8550-653CFE31B1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5DF9CB37-A572-D83F-31C8-F154F6E469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073327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A81233B-F0BC-6D89-21C7-1437F3AD5720}"/>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621453B-0753-E8FF-E7CD-B59A829D51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B2DF3F19-A2BB-22F6-20CA-2BA54D037F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17194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7C851871-73CF-8A04-35B0-68C956BF367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2910458-7626-5874-31BE-DB1DF9EFF8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28A5C17-6AC4-160D-E225-9E42936253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186671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275C202-6742-7456-CA49-118CC3E164A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D2B7F11-7859-2708-FC79-A31AF9E195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B30050B1-79AE-93AD-0766-49D77FA3EE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629300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0ABB6A3C-1488-848F-0540-B6A0EC49F80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8E5D59D6-D0E9-113A-8BEF-CA30766FA7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EC9E3DA-3896-9AD0-6FD5-4440A0FC7B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754301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DD4D66F6-509E-0EF1-9291-9B018B128AF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8173455-3C87-DD15-53E6-B6A88C0389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242A7D57-B7D5-2809-498D-5DFDAE9A6F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12040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9193910-3E92-6E68-9132-16C4197C6BA4}"/>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AD7B3AB-3CDA-CB58-865B-845820933C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5EA49CAA-F547-5CA7-8702-ED0E2832FF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154341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5C2B774E-25C2-B5E8-3D29-B3C5328CFFAA}"/>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303BA919-8845-BEDC-E146-8E1F1492DF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F41FF73A-48B9-9CFC-41E1-1D833D8A39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514548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234DF9CC-83FD-10F7-F257-65C11D9C69DD}"/>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265164B-DAF8-FB40-97DB-6933E75A67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CD4AC5FE-4DC9-7ABB-017F-7879E06FDB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83285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2782502D-A7A9-2120-0C3F-45D0A909797E}"/>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CE904A98-8B4A-2649-3946-02C34D608A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F6E69CC9-1BC5-B578-6B7A-439B1FA31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Une **taxonomie** est une méthode d'organisation hiérarchique qui classe et structure des concepts, des objets ou des entités en catégories et sous-catégories basées sur leurs caractéristiques ou relations. Dans le contexte d'</a:t>
            </a:r>
            <a:r>
              <a:rPr lang="fr-FR" dirty="0" err="1"/>
              <a:t>AllegroGraph</a:t>
            </a:r>
            <a:r>
              <a:rPr lang="fr-FR" dirty="0"/>
              <a:t> et du traitement du langage naturel (NLP), elle sert à regrouper des termes ou des idées de manière logique, par exemple en créant une arborescence comme : "Animaux &gt; Mammifères &gt; Chats". Cela facilite la compréhension et l'analyse sémantique des données en établissant des liens clairs entre les concepts.</a:t>
            </a:r>
            <a:endParaRPr dirty="0"/>
          </a:p>
        </p:txBody>
      </p:sp>
    </p:spTree>
    <p:extLst>
      <p:ext uri="{BB962C8B-B14F-4D97-AF65-F5344CB8AC3E}">
        <p14:creationId xmlns:p14="http://schemas.microsoft.com/office/powerpoint/2010/main" val="10651277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836C37A7-BB02-1A92-AABB-ADCB148C567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C72166C-B4FC-E7CB-914F-F82C8A4185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E80CC76E-1B9D-08FA-F72E-935A89EFF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Une **taxonomie** est une méthode d'organisation hiérarchique qui classe et structure des concepts, des objets ou des entités en catégories et sous-catégories basées sur leurs caractéristiques ou relations. Dans le contexte d'</a:t>
            </a:r>
            <a:r>
              <a:rPr lang="fr-FR" dirty="0" err="1"/>
              <a:t>AllegroGraph</a:t>
            </a:r>
            <a:r>
              <a:rPr lang="fr-FR" dirty="0"/>
              <a:t> et du traitement du langage naturel (NLP), elle sert à regrouper des termes ou des idées de manière logique, par exemple en créant une arborescence comme : "Animaux &gt; Mammifères &gt; Chats". Cela facilite la compréhension et l'analyse sémantique des données en établissant des liens clairs entre les concepts.</a:t>
            </a:r>
            <a:endParaRPr dirty="0"/>
          </a:p>
        </p:txBody>
      </p:sp>
    </p:spTree>
    <p:extLst>
      <p:ext uri="{BB962C8B-B14F-4D97-AF65-F5344CB8AC3E}">
        <p14:creationId xmlns:p14="http://schemas.microsoft.com/office/powerpoint/2010/main" val="39296622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45C50446-0E31-DC1D-D5CC-A2BC0221308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A1363D69-89BA-CEC6-A9D4-8C30853E42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C49E276F-E58C-0E7F-A950-1D8E017BB6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Une **taxonomie** est une méthode d'organisation hiérarchique qui classe et structure des concepts, des objets ou des entités en catégories et sous-catégories basées sur leurs caractéristiques ou relations. Dans le contexte d'</a:t>
            </a:r>
            <a:r>
              <a:rPr lang="fr-FR" dirty="0" err="1"/>
              <a:t>AllegroGraph</a:t>
            </a:r>
            <a:r>
              <a:rPr lang="fr-FR" dirty="0"/>
              <a:t> et du traitement du langage naturel (NLP), elle sert à regrouper des termes ou des idées de manière logique, par exemple en créant une arborescence comme : "Animaux &gt; Mammifères &gt; Chats". Cela facilite la compréhension et l'analyse sémantique des données en établissant des liens clairs entre les concepts.</a:t>
            </a:r>
            <a:endParaRPr dirty="0"/>
          </a:p>
        </p:txBody>
      </p:sp>
    </p:spTree>
    <p:extLst>
      <p:ext uri="{BB962C8B-B14F-4D97-AF65-F5344CB8AC3E}">
        <p14:creationId xmlns:p14="http://schemas.microsoft.com/office/powerpoint/2010/main" val="310750526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D4724FBF-94F0-3EB0-63B3-FF9390F1018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2BF24230-B7CA-182E-B80E-E0FAC83692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DA0D0E4-B9A6-334D-B7F8-36FFE9E14A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581507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764F0ED-4A48-F8D1-3BDB-F73F216B29AF}"/>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390E8D6D-5A9A-C75E-B6F2-AA2CAFBB2A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BA6260A6-A49D-8A27-0F13-D0D4969154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787635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5AEC9F25-D935-B5D4-A667-22596CC50D14}"/>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9BA80389-FA83-11F1-C35D-D23C8E1D4F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A638C8B6-2352-A73F-3428-B29F26BCA0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9391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78B852F-9258-8F0B-2841-53FE5356B2B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C776646-0364-3F7F-5BA9-D9E690C9DC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D9AA0F8-E93E-56EB-364C-3A4D868724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79399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78351705-53D6-4F5D-3866-DBDB33F3E7CF}"/>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3F018E3-72ED-F99F-93D9-B5B24B79DF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4534590-1405-6DA6-1C69-2A86A991F1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Weak tie: Lien faible</a:t>
            </a:r>
          </a:p>
          <a:p>
            <a:pPr marL="0" lvl="0" indent="0" algn="l" rtl="0">
              <a:spcBef>
                <a:spcPts val="0"/>
              </a:spcBef>
              <a:spcAft>
                <a:spcPts val="0"/>
              </a:spcAft>
              <a:buNone/>
            </a:pPr>
            <a:r>
              <a:rPr lang="fr-FR" dirty="0"/>
              <a:t>Strong tie: Lien fort</a:t>
            </a:r>
          </a:p>
          <a:p>
            <a:pPr marL="0" lvl="0" indent="0" algn="l" rtl="0">
              <a:spcBef>
                <a:spcPts val="0"/>
              </a:spcBef>
              <a:spcAft>
                <a:spcPts val="0"/>
              </a:spcAft>
              <a:buNone/>
            </a:pPr>
            <a:r>
              <a:rPr lang="fr-FR" dirty="0" err="1"/>
              <a:t>Adsent</a:t>
            </a:r>
            <a:r>
              <a:rPr lang="fr-FR" dirty="0"/>
              <a:t> tie: Absence de lien</a:t>
            </a:r>
            <a:endParaRPr dirty="0"/>
          </a:p>
        </p:txBody>
      </p:sp>
    </p:spTree>
    <p:extLst>
      <p:ext uri="{BB962C8B-B14F-4D97-AF65-F5344CB8AC3E}">
        <p14:creationId xmlns:p14="http://schemas.microsoft.com/office/powerpoint/2010/main" val="9068236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A60DF329-CD6A-F698-1ED6-C7E28755420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1100D405-F327-03B7-6240-9F8E1E21DA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1D3BD7D1-9ABC-F6C9-E6CE-DB68163863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124049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39830631-81BD-9465-F73F-51D69185F90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830010D7-4473-32A2-352D-D75731569C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302FC256-958F-3D16-E0EB-23E90D3462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654839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55675357-A421-714D-486D-122482D90F93}"/>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2BC394CE-46D8-F5CC-7859-5A354D1662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93CB5A31-26E4-C11D-8508-970DB87999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880966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2F13FE9-4546-E0E7-B330-E5B7B48304D2}"/>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FA9662DB-84E5-82DD-0DBF-59F61B2CB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17935CB3-AE80-B683-0F90-F298C36928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680099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8F1A33DF-29BA-282A-29A8-61F96F90B7A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EE69A4BC-D5CC-C18F-2349-6BCCD3EDD0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EEC1887-CFDC-9148-6802-15F178970F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287944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31B22D6A-BEF4-CE2F-C75B-3A074035F776}"/>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28995D6-5E22-6684-5902-9A8DF1FF43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30093CEE-BB9F-06FD-90BE-409F917789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41093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85A62F5-A0E4-3171-4259-8708A5866B50}"/>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69C6E740-B70A-EB83-49BA-9CD6718595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F3600F29-D54F-75AF-D039-FA1C91DB2A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665782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03D365F-3AFF-237B-4245-76E6A9FD1DE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046C5C16-3692-E6DB-7B2B-99159B5790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67CC00B-FF7C-877C-E701-0975E21C22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957254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8470408-9C0B-4D6D-EE4C-39443E4F2160}"/>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93468D2-71EC-546D-2D45-C840E953EE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174C43C9-5075-2996-E463-EDC8051F1D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089371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409DD717-BBE4-F801-9EBD-C31618C54AA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BFCC659D-B108-9E87-DA0C-BBA7E0EC0E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328F2789-D86A-D973-CA87-F43F2A9782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550966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B40A4C45-4798-DA8B-E9D3-EADB6CE02DF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DC14EAF5-A2B0-BFCE-C3AD-7F66A1930D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DA45865-59A1-5611-BBE1-6D3DACAA2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370092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30EAAF0A-558A-C97F-0AE2-9A883DC235CE}"/>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4190FA1-7849-15C2-98AA-9F34E2D74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BE341B21-33A2-51D0-1296-FB6873A3FA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891478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E2880F78-0AC2-BE93-DF2D-BC6EEDF7740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10438BD2-0E4F-772F-4DA4-9187966F3D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59C654B1-1763-63B5-3E5F-73EE537A82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495694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DC13A439-B09A-9915-B9D2-1C25925E80B1}"/>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7A55C9B6-785E-F5D2-40C1-BA88CA754F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F845A31B-5F73-4D0D-622F-AF4A98B9FF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038838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1F82DE0C-08D6-A38B-587E-FB2766EC490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8FC0B439-F0A6-71DB-1912-5877360350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01B21AA7-28F7-FC0C-2367-3317627C3A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828383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E3C6D526-4050-AB30-5B36-5AF505C593AE}"/>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451CC962-1F44-14F3-29F6-031CAE2C19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6C14C55C-198E-BE45-D6F1-7D07A82CAF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52742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A39BF310-0CCB-F37E-981E-BABF77BB0592}"/>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7C99F59A-A9DC-5E8F-20AC-B6C74D6D9B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A026952D-5DEF-87CB-34A8-117E64D2A2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17856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4242ECA4-5C05-C263-E29B-4243D8D4339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3E81CF91-C7B1-8C62-DE21-8C90BD3365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C9770753-A21D-4FA6-7EDD-11693A1595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218879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88D50C0A-9DF8-0DB2-1BAE-4F64287AFD65}"/>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A5622734-1F12-88F6-BB69-8F597BC610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34801845-9612-D4A8-FE8B-0BB0382452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30163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25C82970-28A7-2A3D-D538-FD4F2285E554}"/>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E5952097-E179-EB60-88D4-7F355DA172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CF5D564C-DC88-243C-29BB-C2A9A1252F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380405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29BE4007-2791-6196-AEED-CF3D7C44C4BB}"/>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8D9D31F7-73E7-920D-22D8-608578049E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54E949FD-1618-2960-C702-08A0ADD8AF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269221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E1B5E2F7-EF0E-6386-DD96-BEF0AA7F72C1}"/>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5832CA00-C066-7640-3570-C269D43046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BE1DE490-3F31-DD0A-86CC-8E003BD666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545202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C1B509B1-E027-018B-9A11-3EEEFD28ECD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DBCF1302-B5D8-273D-1657-B1B1BB17F8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3FF6B4AF-13DD-E533-31D3-167F277A79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944046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83993F07-5F8E-C440-EE43-F1445E0B5538}"/>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4D1287C5-C7ED-558A-FFBE-B32741F1AF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E7FB701F-41E1-BB7A-48EE-0CA600A896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494001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67873BE6-63EC-6BD6-FA89-1A560A3B1B53}"/>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8C62F975-ADEB-7C7A-77DA-C77AA70AA0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9DF5B4AE-C543-2DFA-6E67-C4C70E9FBB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602165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C0B6BF36-B8CA-13FF-4989-2407EAB2B3C0}"/>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7687EF49-173B-18DF-663C-5616A3D211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5F42DAB8-2F4F-1627-0A62-18A0FCAE97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660451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a:extLst>
            <a:ext uri="{FF2B5EF4-FFF2-40B4-BE49-F238E27FC236}">
              <a16:creationId xmlns:a16="http://schemas.microsoft.com/office/drawing/2014/main" id="{F35D2F5D-B96D-0282-D2D2-69D4EA0F37A2}"/>
            </a:ext>
          </a:extLst>
        </p:cNvPr>
        <p:cNvGrpSpPr/>
        <p:nvPr/>
      </p:nvGrpSpPr>
      <p:grpSpPr>
        <a:xfrm>
          <a:off x="0" y="0"/>
          <a:ext cx="0" cy="0"/>
          <a:chOff x="0" y="0"/>
          <a:chExt cx="0" cy="0"/>
        </a:xfrm>
      </p:grpSpPr>
      <p:sp>
        <p:nvSpPr>
          <p:cNvPr id="851" name="Google Shape;851;g1ee2869b1e1_0_0:notes">
            <a:extLst>
              <a:ext uri="{FF2B5EF4-FFF2-40B4-BE49-F238E27FC236}">
                <a16:creationId xmlns:a16="http://schemas.microsoft.com/office/drawing/2014/main" id="{5F618B1E-78F8-CB5E-D800-2C7FF4410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2" name="Google Shape;852;g1ee2869b1e1_0_0:notes">
            <a:extLst>
              <a:ext uri="{FF2B5EF4-FFF2-40B4-BE49-F238E27FC236}">
                <a16:creationId xmlns:a16="http://schemas.microsoft.com/office/drawing/2014/main" id="{380D383A-89D5-3B09-8211-DDF31047D1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811147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F55E0EBD-0E44-76C3-99A2-49D554999E17}"/>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C6DB796A-9973-3417-CC76-13F04AB120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FDA5D82C-07A2-791F-DC5D-7CBF69083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450760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C1543E4D-D80E-245F-A038-8B26EE886894}"/>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D2834F56-FE8E-E3C5-27D7-EEA19453AF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D2B6A2A4-A5B5-7DC7-7133-370DCC54CA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081309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a:extLst>
            <a:ext uri="{FF2B5EF4-FFF2-40B4-BE49-F238E27FC236}">
              <a16:creationId xmlns:a16="http://schemas.microsoft.com/office/drawing/2014/main" id="{BB4E7DD4-C404-F46D-E043-D0C0545E29FC}"/>
            </a:ext>
          </a:extLst>
        </p:cNvPr>
        <p:cNvGrpSpPr/>
        <p:nvPr/>
      </p:nvGrpSpPr>
      <p:grpSpPr>
        <a:xfrm>
          <a:off x="0" y="0"/>
          <a:ext cx="0" cy="0"/>
          <a:chOff x="0" y="0"/>
          <a:chExt cx="0" cy="0"/>
        </a:xfrm>
      </p:grpSpPr>
      <p:sp>
        <p:nvSpPr>
          <p:cNvPr id="835" name="Google Shape;835;ge207fd22f2_0_25013:notes">
            <a:extLst>
              <a:ext uri="{FF2B5EF4-FFF2-40B4-BE49-F238E27FC236}">
                <a16:creationId xmlns:a16="http://schemas.microsoft.com/office/drawing/2014/main" id="{E95DEF30-B4E1-FAED-CDF8-8D07B2F81CA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e207fd22f2_0_25013:notes">
            <a:extLst>
              <a:ext uri="{FF2B5EF4-FFF2-40B4-BE49-F238E27FC236}">
                <a16:creationId xmlns:a16="http://schemas.microsoft.com/office/drawing/2014/main" id="{6C2B62AB-ACCF-B290-38D6-8E4CDA3B7E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256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99950" y="-327450"/>
            <a:ext cx="9543900" cy="5646000"/>
            <a:chOff x="-199950" y="-251250"/>
            <a:chExt cx="9543900" cy="5646000"/>
          </a:xfrm>
        </p:grpSpPr>
        <p:cxnSp>
          <p:nvCxnSpPr>
            <p:cNvPr id="10" name="Google Shape;10;p2"/>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 name="Google Shape;11;p2"/>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2" name="Google Shape;12;p2"/>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3" name="Google Shape;13;p2"/>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4" name="Google Shape;14;p2"/>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5" name="Google Shape;15;p2"/>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6" name="Google Shape;16;p2"/>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7" name="Google Shape;17;p2"/>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8" name="Google Shape;18;p2"/>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9" name="Google Shape;19;p2"/>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0" name="Google Shape;20;p2"/>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1" name="Google Shape;21;p2"/>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 name="Google Shape;22;p2"/>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 name="Google Shape;23;p2"/>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 name="Google Shape;24;p2"/>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5" name="Google Shape;25;p2"/>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6" name="Google Shape;26;p2"/>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7" name="Google Shape;27;p2"/>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8" name="Google Shape;28;p2"/>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9" name="Google Shape;29;p2"/>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0" name="Google Shape;30;p2"/>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1" name="Google Shape;31;p2"/>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2" name="Google Shape;32;p2"/>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 name="Google Shape;33;p2"/>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4" name="Google Shape;34;p2"/>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5" name="Google Shape;35;p2"/>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6" name="Google Shape;36;p2"/>
          <p:cNvGrpSpPr/>
          <p:nvPr/>
        </p:nvGrpSpPr>
        <p:grpSpPr>
          <a:xfrm>
            <a:off x="473650" y="274900"/>
            <a:ext cx="8349800" cy="4746124"/>
            <a:chOff x="473650" y="274900"/>
            <a:chExt cx="8349800" cy="4746124"/>
          </a:xfrm>
        </p:grpSpPr>
        <p:grpSp>
          <p:nvGrpSpPr>
            <p:cNvPr id="37" name="Google Shape;37;p2"/>
            <p:cNvGrpSpPr/>
            <p:nvPr/>
          </p:nvGrpSpPr>
          <p:grpSpPr>
            <a:xfrm>
              <a:off x="626050" y="427300"/>
              <a:ext cx="8197400" cy="4593724"/>
              <a:chOff x="-280802" y="20880"/>
              <a:chExt cx="10622522" cy="5952733"/>
            </a:xfrm>
          </p:grpSpPr>
          <p:sp>
            <p:nvSpPr>
              <p:cNvPr id="38" name="Google Shape;38;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 name="Google Shape;39;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 name="Google Shape;40;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1" name="Google Shape;41;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 name="Google Shape;42;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43" name="Google Shape;43;p2"/>
            <p:cNvGrpSpPr/>
            <p:nvPr/>
          </p:nvGrpSpPr>
          <p:grpSpPr>
            <a:xfrm>
              <a:off x="473650" y="274900"/>
              <a:ext cx="8197400" cy="4593724"/>
              <a:chOff x="-280802" y="20880"/>
              <a:chExt cx="10622522" cy="5952733"/>
            </a:xfrm>
          </p:grpSpPr>
          <p:sp>
            <p:nvSpPr>
              <p:cNvPr id="44" name="Google Shape;44;p2"/>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5" name="Google Shape;45;p2"/>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6" name="Google Shape;46;p2"/>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7" name="Google Shape;47;p2"/>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8" name="Google Shape;48;p2"/>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49" name="Google Shape;49;p2"/>
          <p:cNvSpPr txBox="1">
            <a:spLocks noGrp="1"/>
          </p:cNvSpPr>
          <p:nvPr>
            <p:ph type="ctrTitle"/>
          </p:nvPr>
        </p:nvSpPr>
        <p:spPr>
          <a:xfrm>
            <a:off x="1814850" y="1633725"/>
            <a:ext cx="5514300" cy="20001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Clr>
                <a:srgbClr val="191919"/>
              </a:buClr>
              <a:buSzPts val="5200"/>
              <a:buNone/>
              <a:defRPr sz="5300">
                <a:latin typeface="Days One"/>
                <a:ea typeface="Days One"/>
                <a:cs typeface="Days One"/>
                <a:sym typeface="Days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0" name="Google Shape;50;p2"/>
          <p:cNvSpPr txBox="1">
            <a:spLocks noGrp="1"/>
          </p:cNvSpPr>
          <p:nvPr>
            <p:ph type="subTitle" idx="1"/>
          </p:nvPr>
        </p:nvSpPr>
        <p:spPr>
          <a:xfrm>
            <a:off x="2301625" y="3686200"/>
            <a:ext cx="4540800" cy="4605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grpSp>
        <p:nvGrpSpPr>
          <p:cNvPr id="52" name="Google Shape;52;p3"/>
          <p:cNvGrpSpPr/>
          <p:nvPr/>
        </p:nvGrpSpPr>
        <p:grpSpPr>
          <a:xfrm>
            <a:off x="-199950" y="-327450"/>
            <a:ext cx="9543900" cy="5646000"/>
            <a:chOff x="-199950" y="-251250"/>
            <a:chExt cx="9543900" cy="5646000"/>
          </a:xfrm>
        </p:grpSpPr>
        <p:cxnSp>
          <p:nvCxnSpPr>
            <p:cNvPr id="53" name="Google Shape;53;p3"/>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 name="Google Shape;54;p3"/>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 name="Google Shape;55;p3"/>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6" name="Google Shape;56;p3"/>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7" name="Google Shape;57;p3"/>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8" name="Google Shape;58;p3"/>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9" name="Google Shape;59;p3"/>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0" name="Google Shape;60;p3"/>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1" name="Google Shape;61;p3"/>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2" name="Google Shape;62;p3"/>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3" name="Google Shape;63;p3"/>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4" name="Google Shape;64;p3"/>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5" name="Google Shape;65;p3"/>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6" name="Google Shape;66;p3"/>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7" name="Google Shape;67;p3"/>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 name="Google Shape;68;p3"/>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69" name="Google Shape;69;p3"/>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 name="Google Shape;70;p3"/>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 name="Google Shape;71;p3"/>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2" name="Google Shape;72;p3"/>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3" name="Google Shape;73;p3"/>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 name="Google Shape;74;p3"/>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 name="Google Shape;75;p3"/>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6" name="Google Shape;76;p3"/>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7" name="Google Shape;77;p3"/>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8" name="Google Shape;78;p3"/>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9" name="Google Shape;79;p3"/>
          <p:cNvGrpSpPr/>
          <p:nvPr/>
        </p:nvGrpSpPr>
        <p:grpSpPr>
          <a:xfrm>
            <a:off x="473650" y="274900"/>
            <a:ext cx="8349800" cy="4746124"/>
            <a:chOff x="473650" y="274900"/>
            <a:chExt cx="8349800" cy="4746124"/>
          </a:xfrm>
        </p:grpSpPr>
        <p:grpSp>
          <p:nvGrpSpPr>
            <p:cNvPr id="80" name="Google Shape;80;p3"/>
            <p:cNvGrpSpPr/>
            <p:nvPr/>
          </p:nvGrpSpPr>
          <p:grpSpPr>
            <a:xfrm>
              <a:off x="626050" y="427300"/>
              <a:ext cx="8197400" cy="4593724"/>
              <a:chOff x="-280802" y="20880"/>
              <a:chExt cx="10622522" cy="5952733"/>
            </a:xfrm>
          </p:grpSpPr>
          <p:sp>
            <p:nvSpPr>
              <p:cNvPr id="81" name="Google Shape;81;p3"/>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2" name="Google Shape;82;p3"/>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3" name="Google Shape;83;p3"/>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 name="Google Shape;84;p3"/>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 name="Google Shape;85;p3"/>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6" name="Google Shape;86;p3"/>
            <p:cNvGrpSpPr/>
            <p:nvPr/>
          </p:nvGrpSpPr>
          <p:grpSpPr>
            <a:xfrm>
              <a:off x="473650" y="274900"/>
              <a:ext cx="8197400" cy="4593724"/>
              <a:chOff x="-280802" y="20880"/>
              <a:chExt cx="10622522" cy="5952733"/>
            </a:xfrm>
          </p:grpSpPr>
          <p:sp>
            <p:nvSpPr>
              <p:cNvPr id="87" name="Google Shape;87;p3"/>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 name="Google Shape;88;p3"/>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 name="Google Shape;89;p3"/>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 name="Google Shape;90;p3"/>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 name="Google Shape;91;p3"/>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92" name="Google Shape;92;p3"/>
          <p:cNvSpPr txBox="1">
            <a:spLocks noGrp="1"/>
          </p:cNvSpPr>
          <p:nvPr>
            <p:ph type="title"/>
          </p:nvPr>
        </p:nvSpPr>
        <p:spPr>
          <a:xfrm>
            <a:off x="1320400" y="2101475"/>
            <a:ext cx="3946800" cy="1488300"/>
          </a:xfrm>
          <a:prstGeom prst="rect">
            <a:avLst/>
          </a:prstGeom>
          <a:ln>
            <a:noFill/>
          </a:ln>
        </p:spPr>
        <p:txBody>
          <a:bodyPr spcFirstLastPara="1" wrap="square" lIns="91425" tIns="91425" rIns="91425" bIns="91425" anchor="b" anchorCtr="0">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3" name="Google Shape;93;p3"/>
          <p:cNvSpPr txBox="1">
            <a:spLocks noGrp="1"/>
          </p:cNvSpPr>
          <p:nvPr>
            <p:ph type="title" idx="2" hasCustomPrompt="1"/>
          </p:nvPr>
        </p:nvSpPr>
        <p:spPr>
          <a:xfrm>
            <a:off x="5820275" y="1154975"/>
            <a:ext cx="1905300" cy="10902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4" name="Google Shape;94;p3"/>
          <p:cNvSpPr txBox="1">
            <a:spLocks noGrp="1"/>
          </p:cNvSpPr>
          <p:nvPr>
            <p:ph type="subTitle" idx="1"/>
          </p:nvPr>
        </p:nvSpPr>
        <p:spPr>
          <a:xfrm>
            <a:off x="1320400" y="3589700"/>
            <a:ext cx="3946800" cy="47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5"/>
        <p:cNvGrpSpPr/>
        <p:nvPr/>
      </p:nvGrpSpPr>
      <p:grpSpPr>
        <a:xfrm>
          <a:off x="0" y="0"/>
          <a:ext cx="0" cy="0"/>
          <a:chOff x="0" y="0"/>
          <a:chExt cx="0" cy="0"/>
        </a:xfrm>
      </p:grpSpPr>
      <p:grpSp>
        <p:nvGrpSpPr>
          <p:cNvPr id="96" name="Google Shape;96;p4"/>
          <p:cNvGrpSpPr/>
          <p:nvPr/>
        </p:nvGrpSpPr>
        <p:grpSpPr>
          <a:xfrm>
            <a:off x="-199950" y="-327450"/>
            <a:ext cx="9543900" cy="5646000"/>
            <a:chOff x="-199950" y="-251250"/>
            <a:chExt cx="9543900" cy="5646000"/>
          </a:xfrm>
        </p:grpSpPr>
        <p:cxnSp>
          <p:nvCxnSpPr>
            <p:cNvPr id="97" name="Google Shape;97;p4"/>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8" name="Google Shape;98;p4"/>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99" name="Google Shape;99;p4"/>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0" name="Google Shape;100;p4"/>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1" name="Google Shape;101;p4"/>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2" name="Google Shape;102;p4"/>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3" name="Google Shape;103;p4"/>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4" name="Google Shape;104;p4"/>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5" name="Google Shape;105;p4"/>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6" name="Google Shape;106;p4"/>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7" name="Google Shape;107;p4"/>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8" name="Google Shape;108;p4"/>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09" name="Google Shape;109;p4"/>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0" name="Google Shape;110;p4"/>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1" name="Google Shape;111;p4"/>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112" name="Google Shape;112;p4"/>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3" name="Google Shape;113;p4"/>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4" name="Google Shape;114;p4"/>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5" name="Google Shape;115;p4"/>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6" name="Google Shape;116;p4"/>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7" name="Google Shape;117;p4"/>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8" name="Google Shape;118;p4"/>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19" name="Google Shape;119;p4"/>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0" name="Google Shape;120;p4"/>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1" name="Google Shape;121;p4"/>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122" name="Google Shape;122;p4"/>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123" name="Google Shape;123;p4"/>
          <p:cNvGrpSpPr/>
          <p:nvPr/>
        </p:nvGrpSpPr>
        <p:grpSpPr>
          <a:xfrm>
            <a:off x="473650" y="274900"/>
            <a:ext cx="8349800" cy="4746124"/>
            <a:chOff x="473650" y="274900"/>
            <a:chExt cx="8349800" cy="4746124"/>
          </a:xfrm>
        </p:grpSpPr>
        <p:grpSp>
          <p:nvGrpSpPr>
            <p:cNvPr id="124" name="Google Shape;124;p4"/>
            <p:cNvGrpSpPr/>
            <p:nvPr/>
          </p:nvGrpSpPr>
          <p:grpSpPr>
            <a:xfrm>
              <a:off x="626050" y="427300"/>
              <a:ext cx="8197400" cy="4593724"/>
              <a:chOff x="-280802" y="20880"/>
              <a:chExt cx="10622522" cy="5952733"/>
            </a:xfrm>
          </p:grpSpPr>
          <p:sp>
            <p:nvSpPr>
              <p:cNvPr id="125" name="Google Shape;125;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 name="Google Shape;126;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 name="Google Shape;127;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128;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129;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0" name="Google Shape;130;p4"/>
            <p:cNvGrpSpPr/>
            <p:nvPr/>
          </p:nvGrpSpPr>
          <p:grpSpPr>
            <a:xfrm>
              <a:off x="473650" y="274900"/>
              <a:ext cx="8197400" cy="4593724"/>
              <a:chOff x="-280802" y="20880"/>
              <a:chExt cx="10622522" cy="5952733"/>
            </a:xfrm>
          </p:grpSpPr>
          <p:sp>
            <p:nvSpPr>
              <p:cNvPr id="131" name="Google Shape;131;p4"/>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132;p4"/>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 name="Google Shape;133;p4"/>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 name="Google Shape;134;p4"/>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 name="Google Shape;135;p4"/>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136" name="Google Shape;136;p4"/>
          <p:cNvSpPr txBox="1">
            <a:spLocks noGrp="1"/>
          </p:cNvSpPr>
          <p:nvPr>
            <p:ph type="body" idx="1"/>
          </p:nvPr>
        </p:nvSpPr>
        <p:spPr>
          <a:xfrm>
            <a:off x="720000" y="1514050"/>
            <a:ext cx="7704000" cy="3054900"/>
          </a:xfrm>
          <a:prstGeom prst="rect">
            <a:avLst/>
          </a:prstGeom>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Font typeface="Darker Grotesque SemiBold"/>
              <a:buChar char="●"/>
              <a:defRPr sz="1200">
                <a:solidFill>
                  <a:srgbClr val="434343"/>
                </a:solidFill>
              </a:defRPr>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sp>
        <p:nvSpPr>
          <p:cNvPr id="137" name="Google Shape;137;p4"/>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6"/>
        <p:cNvGrpSpPr/>
        <p:nvPr/>
      </p:nvGrpSpPr>
      <p:grpSpPr>
        <a:xfrm>
          <a:off x="0" y="0"/>
          <a:ext cx="0" cy="0"/>
          <a:chOff x="0" y="0"/>
          <a:chExt cx="0" cy="0"/>
        </a:xfrm>
      </p:grpSpPr>
      <p:grpSp>
        <p:nvGrpSpPr>
          <p:cNvPr id="227" name="Google Shape;227;p7"/>
          <p:cNvGrpSpPr/>
          <p:nvPr/>
        </p:nvGrpSpPr>
        <p:grpSpPr>
          <a:xfrm>
            <a:off x="-199950" y="-327450"/>
            <a:ext cx="9543900" cy="5646000"/>
            <a:chOff x="-199950" y="-251250"/>
            <a:chExt cx="9543900" cy="5646000"/>
          </a:xfrm>
        </p:grpSpPr>
        <p:cxnSp>
          <p:nvCxnSpPr>
            <p:cNvPr id="228" name="Google Shape;228;p7"/>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29" name="Google Shape;229;p7"/>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0" name="Google Shape;230;p7"/>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1" name="Google Shape;231;p7"/>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2" name="Google Shape;232;p7"/>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3" name="Google Shape;233;p7"/>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4" name="Google Shape;234;p7"/>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5" name="Google Shape;235;p7"/>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6" name="Google Shape;236;p7"/>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7" name="Google Shape;237;p7"/>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8" name="Google Shape;238;p7"/>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39" name="Google Shape;239;p7"/>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0" name="Google Shape;240;p7"/>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1" name="Google Shape;241;p7"/>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2" name="Google Shape;242;p7"/>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243" name="Google Shape;243;p7"/>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4" name="Google Shape;244;p7"/>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5" name="Google Shape;245;p7"/>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6" name="Google Shape;246;p7"/>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7" name="Google Shape;247;p7"/>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8" name="Google Shape;248;p7"/>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49" name="Google Shape;249;p7"/>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0" name="Google Shape;250;p7"/>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1" name="Google Shape;251;p7"/>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2" name="Google Shape;252;p7"/>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253" name="Google Shape;253;p7"/>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254" name="Google Shape;254;p7"/>
          <p:cNvGrpSpPr/>
          <p:nvPr/>
        </p:nvGrpSpPr>
        <p:grpSpPr>
          <a:xfrm>
            <a:off x="473650" y="274900"/>
            <a:ext cx="8349800" cy="4746124"/>
            <a:chOff x="473650" y="274900"/>
            <a:chExt cx="8349800" cy="4746124"/>
          </a:xfrm>
        </p:grpSpPr>
        <p:grpSp>
          <p:nvGrpSpPr>
            <p:cNvPr id="255" name="Google Shape;255;p7"/>
            <p:cNvGrpSpPr/>
            <p:nvPr/>
          </p:nvGrpSpPr>
          <p:grpSpPr>
            <a:xfrm>
              <a:off x="626050" y="427300"/>
              <a:ext cx="8197400" cy="4593724"/>
              <a:chOff x="-280802" y="20880"/>
              <a:chExt cx="10622522" cy="5952733"/>
            </a:xfrm>
          </p:grpSpPr>
          <p:sp>
            <p:nvSpPr>
              <p:cNvPr id="256" name="Google Shape;256;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 name="Google Shape;257;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8" name="Google Shape;258;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9" name="Google Shape;259;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0" name="Google Shape;260;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1" name="Google Shape;261;p7"/>
            <p:cNvGrpSpPr/>
            <p:nvPr/>
          </p:nvGrpSpPr>
          <p:grpSpPr>
            <a:xfrm>
              <a:off x="473650" y="274900"/>
              <a:ext cx="8197400" cy="4593724"/>
              <a:chOff x="-280802" y="20880"/>
              <a:chExt cx="10622522" cy="5952733"/>
            </a:xfrm>
          </p:grpSpPr>
          <p:sp>
            <p:nvSpPr>
              <p:cNvPr id="262" name="Google Shape;262;p7"/>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 name="Google Shape;263;p7"/>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 name="Google Shape;264;p7"/>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 name="Google Shape;265;p7"/>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 name="Google Shape;266;p7"/>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67" name="Google Shape;267;p7"/>
          <p:cNvSpPr txBox="1">
            <a:spLocks noGrp="1"/>
          </p:cNvSpPr>
          <p:nvPr>
            <p:ph type="body" idx="1"/>
          </p:nvPr>
        </p:nvSpPr>
        <p:spPr>
          <a:xfrm>
            <a:off x="4381025" y="1970075"/>
            <a:ext cx="3867000" cy="24909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2"/>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68" name="Google Shape;268;p7"/>
          <p:cNvSpPr>
            <a:spLocks noGrp="1"/>
          </p:cNvSpPr>
          <p:nvPr>
            <p:ph type="pic" idx="2"/>
          </p:nvPr>
        </p:nvSpPr>
        <p:spPr>
          <a:xfrm>
            <a:off x="896750" y="1970075"/>
            <a:ext cx="3217500" cy="2490900"/>
          </a:xfrm>
          <a:prstGeom prst="rect">
            <a:avLst/>
          </a:prstGeom>
          <a:noFill/>
          <a:ln w="19050" cap="flat" cmpd="sng">
            <a:solidFill>
              <a:schemeClr val="dk1"/>
            </a:solidFill>
            <a:prstDash val="solid"/>
            <a:round/>
            <a:headEnd type="none" w="sm" len="sm"/>
            <a:tailEnd type="none" w="sm" len="sm"/>
          </a:ln>
        </p:spPr>
      </p:sp>
      <p:sp>
        <p:nvSpPr>
          <p:cNvPr id="269" name="Google Shape;269;p7"/>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2"/>
        <p:cNvGrpSpPr/>
        <p:nvPr/>
      </p:nvGrpSpPr>
      <p:grpSpPr>
        <a:xfrm>
          <a:off x="0" y="0"/>
          <a:ext cx="0" cy="0"/>
          <a:chOff x="0" y="0"/>
          <a:chExt cx="0" cy="0"/>
        </a:xfrm>
      </p:grpSpPr>
      <p:grpSp>
        <p:nvGrpSpPr>
          <p:cNvPr id="313" name="Google Shape;313;p9"/>
          <p:cNvGrpSpPr/>
          <p:nvPr/>
        </p:nvGrpSpPr>
        <p:grpSpPr>
          <a:xfrm>
            <a:off x="-199950" y="-327450"/>
            <a:ext cx="9543900" cy="5646000"/>
            <a:chOff x="-199950" y="-251250"/>
            <a:chExt cx="9543900" cy="5646000"/>
          </a:xfrm>
        </p:grpSpPr>
        <p:cxnSp>
          <p:nvCxnSpPr>
            <p:cNvPr id="314" name="Google Shape;314;p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5" name="Google Shape;315;p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6" name="Google Shape;316;p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7" name="Google Shape;317;p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8" name="Google Shape;318;p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19" name="Google Shape;319;p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0" name="Google Shape;320;p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1" name="Google Shape;321;p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2" name="Google Shape;322;p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3" name="Google Shape;323;p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4" name="Google Shape;324;p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5" name="Google Shape;325;p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6" name="Google Shape;326;p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7" name="Google Shape;327;p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8" name="Google Shape;328;p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29" name="Google Shape;329;p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0" name="Google Shape;330;p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1" name="Google Shape;331;p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2" name="Google Shape;332;p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3" name="Google Shape;333;p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4" name="Google Shape;334;p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5" name="Google Shape;335;p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6" name="Google Shape;336;p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7" name="Google Shape;337;p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8" name="Google Shape;338;p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39" name="Google Shape;339;p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40" name="Google Shape;340;p9"/>
          <p:cNvGrpSpPr/>
          <p:nvPr/>
        </p:nvGrpSpPr>
        <p:grpSpPr>
          <a:xfrm>
            <a:off x="473650" y="274900"/>
            <a:ext cx="8349800" cy="4746124"/>
            <a:chOff x="473650" y="274900"/>
            <a:chExt cx="8349800" cy="4746124"/>
          </a:xfrm>
        </p:grpSpPr>
        <p:grpSp>
          <p:nvGrpSpPr>
            <p:cNvPr id="341" name="Google Shape;341;p9"/>
            <p:cNvGrpSpPr/>
            <p:nvPr/>
          </p:nvGrpSpPr>
          <p:grpSpPr>
            <a:xfrm>
              <a:off x="626050" y="427300"/>
              <a:ext cx="8197400" cy="4593724"/>
              <a:chOff x="-280802" y="20880"/>
              <a:chExt cx="10622522" cy="5952733"/>
            </a:xfrm>
          </p:grpSpPr>
          <p:sp>
            <p:nvSpPr>
              <p:cNvPr id="342" name="Google Shape;342;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3" name="Google Shape;343;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4" name="Google Shape;344;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5" name="Google Shape;345;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6" name="Google Shape;346;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47" name="Google Shape;347;p9"/>
            <p:cNvGrpSpPr/>
            <p:nvPr/>
          </p:nvGrpSpPr>
          <p:grpSpPr>
            <a:xfrm>
              <a:off x="473650" y="274900"/>
              <a:ext cx="8197400" cy="4593724"/>
              <a:chOff x="-280802" y="20880"/>
              <a:chExt cx="10622522" cy="5952733"/>
            </a:xfrm>
          </p:grpSpPr>
          <p:sp>
            <p:nvSpPr>
              <p:cNvPr id="348" name="Google Shape;348;p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9" name="Google Shape;349;p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0" name="Google Shape;350;p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1" name="Google Shape;351;p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2" name="Google Shape;352;p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353" name="Google Shape;353;p9"/>
          <p:cNvSpPr txBox="1">
            <a:spLocks noGrp="1"/>
          </p:cNvSpPr>
          <p:nvPr>
            <p:ph type="subTitle" idx="1"/>
          </p:nvPr>
        </p:nvSpPr>
        <p:spPr>
          <a:xfrm>
            <a:off x="896400" y="1812275"/>
            <a:ext cx="3550800" cy="263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4" name="Google Shape;354;p9"/>
          <p:cNvSpPr txBox="1">
            <a:spLocks noGrp="1"/>
          </p:cNvSpPr>
          <p:nvPr>
            <p:ph type="subTitle" idx="2"/>
          </p:nvPr>
        </p:nvSpPr>
        <p:spPr>
          <a:xfrm>
            <a:off x="4696925" y="1812275"/>
            <a:ext cx="3550800" cy="263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5" name="Google Shape;355;p9"/>
          <p:cNvSpPr txBox="1">
            <a:spLocks noGrp="1"/>
          </p:cNvSpPr>
          <p:nvPr>
            <p:ph type="title"/>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56"/>
        <p:cNvGrpSpPr/>
        <p:nvPr/>
      </p:nvGrpSpPr>
      <p:grpSpPr>
        <a:xfrm>
          <a:off x="0" y="0"/>
          <a:ext cx="0" cy="0"/>
          <a:chOff x="0" y="0"/>
          <a:chExt cx="0" cy="0"/>
        </a:xfrm>
      </p:grpSpPr>
      <p:sp>
        <p:nvSpPr>
          <p:cNvPr id="357" name="Google Shape;357;p10"/>
          <p:cNvSpPr>
            <a:spLocks noGrp="1"/>
          </p:cNvSpPr>
          <p:nvPr>
            <p:ph type="pic" idx="2"/>
          </p:nvPr>
        </p:nvSpPr>
        <p:spPr>
          <a:xfrm>
            <a:off x="-125" y="50"/>
            <a:ext cx="9144000" cy="5143500"/>
          </a:xfrm>
          <a:prstGeom prst="rect">
            <a:avLst/>
          </a:prstGeom>
          <a:noFill/>
          <a:ln>
            <a:noFill/>
          </a:ln>
        </p:spPr>
      </p:sp>
      <p:sp>
        <p:nvSpPr>
          <p:cNvPr id="358" name="Google Shape;358;p10"/>
          <p:cNvSpPr txBox="1">
            <a:spLocks noGrp="1"/>
          </p:cNvSpPr>
          <p:nvPr>
            <p:ph type="title"/>
          </p:nvPr>
        </p:nvSpPr>
        <p:spPr>
          <a:xfrm>
            <a:off x="713225" y="539500"/>
            <a:ext cx="7717500" cy="6939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8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59"/>
        <p:cNvGrpSpPr/>
        <p:nvPr/>
      </p:nvGrpSpPr>
      <p:grpSpPr>
        <a:xfrm>
          <a:off x="0" y="0"/>
          <a:ext cx="0" cy="0"/>
          <a:chOff x="0" y="0"/>
          <a:chExt cx="0" cy="0"/>
        </a:xfrm>
      </p:grpSpPr>
      <p:grpSp>
        <p:nvGrpSpPr>
          <p:cNvPr id="360" name="Google Shape;360;p11"/>
          <p:cNvGrpSpPr/>
          <p:nvPr/>
        </p:nvGrpSpPr>
        <p:grpSpPr>
          <a:xfrm>
            <a:off x="-199950" y="-327450"/>
            <a:ext cx="9543900" cy="5646000"/>
            <a:chOff x="-199950" y="-251250"/>
            <a:chExt cx="9543900" cy="5646000"/>
          </a:xfrm>
        </p:grpSpPr>
        <p:cxnSp>
          <p:nvCxnSpPr>
            <p:cNvPr id="361" name="Google Shape;361;p11"/>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2" name="Google Shape;362;p11"/>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3" name="Google Shape;363;p11"/>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4" name="Google Shape;364;p11"/>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5" name="Google Shape;365;p11"/>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6" name="Google Shape;366;p11"/>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7" name="Google Shape;367;p11"/>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8" name="Google Shape;368;p11"/>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69" name="Google Shape;369;p11"/>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0" name="Google Shape;370;p11"/>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1" name="Google Shape;371;p11"/>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2" name="Google Shape;372;p11"/>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3" name="Google Shape;373;p11"/>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4" name="Google Shape;374;p11"/>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5" name="Google Shape;375;p11"/>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376" name="Google Shape;376;p11"/>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7" name="Google Shape;377;p11"/>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8" name="Google Shape;378;p11"/>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79" name="Google Shape;379;p11"/>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0" name="Google Shape;380;p11"/>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1" name="Google Shape;381;p11"/>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2" name="Google Shape;382;p11"/>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3" name="Google Shape;383;p11"/>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4" name="Google Shape;384;p11"/>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5" name="Google Shape;385;p11"/>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386" name="Google Shape;386;p11"/>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387" name="Google Shape;387;p11"/>
          <p:cNvGrpSpPr/>
          <p:nvPr/>
        </p:nvGrpSpPr>
        <p:grpSpPr>
          <a:xfrm>
            <a:off x="473650" y="274900"/>
            <a:ext cx="8349800" cy="4746124"/>
            <a:chOff x="473650" y="274900"/>
            <a:chExt cx="8349800" cy="4746124"/>
          </a:xfrm>
        </p:grpSpPr>
        <p:grpSp>
          <p:nvGrpSpPr>
            <p:cNvPr id="388" name="Google Shape;388;p11"/>
            <p:cNvGrpSpPr/>
            <p:nvPr/>
          </p:nvGrpSpPr>
          <p:grpSpPr>
            <a:xfrm>
              <a:off x="626050" y="427300"/>
              <a:ext cx="8197400" cy="4593724"/>
              <a:chOff x="-280802" y="20880"/>
              <a:chExt cx="10622522" cy="5952733"/>
            </a:xfrm>
          </p:grpSpPr>
          <p:sp>
            <p:nvSpPr>
              <p:cNvPr id="389" name="Google Shape;389;p11"/>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0" name="Google Shape;390;p11"/>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1" name="Google Shape;391;p11"/>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2" name="Google Shape;392;p11"/>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3" name="Google Shape;393;p11"/>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394" name="Google Shape;394;p11"/>
            <p:cNvGrpSpPr/>
            <p:nvPr/>
          </p:nvGrpSpPr>
          <p:grpSpPr>
            <a:xfrm>
              <a:off x="473650" y="274900"/>
              <a:ext cx="8197400" cy="4593724"/>
              <a:chOff x="-280802" y="20880"/>
              <a:chExt cx="10622522" cy="5952733"/>
            </a:xfrm>
          </p:grpSpPr>
          <p:sp>
            <p:nvSpPr>
              <p:cNvPr id="395" name="Google Shape;395;p11"/>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6" name="Google Shape;396;p11"/>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7" name="Google Shape;397;p11"/>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8" name="Google Shape;398;p11"/>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9" name="Google Shape;399;p11"/>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400" name="Google Shape;400;p11"/>
          <p:cNvSpPr txBox="1">
            <a:spLocks noGrp="1"/>
          </p:cNvSpPr>
          <p:nvPr>
            <p:ph type="title" hasCustomPrompt="1"/>
          </p:nvPr>
        </p:nvSpPr>
        <p:spPr>
          <a:xfrm>
            <a:off x="1880700" y="1752675"/>
            <a:ext cx="5382600" cy="15042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a:spcBef>
                <a:spcPts val="0"/>
              </a:spcBef>
              <a:spcAft>
                <a:spcPts val="0"/>
              </a:spcAft>
              <a:buSzPts val="9600"/>
              <a:buNone/>
              <a:defRPr sz="4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1" name="Google Shape;401;p11"/>
          <p:cNvSpPr txBox="1">
            <a:spLocks noGrp="1"/>
          </p:cNvSpPr>
          <p:nvPr>
            <p:ph type="subTitle" idx="1"/>
          </p:nvPr>
        </p:nvSpPr>
        <p:spPr>
          <a:xfrm>
            <a:off x="1880700" y="3422100"/>
            <a:ext cx="5382600" cy="450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539"/>
        <p:cNvGrpSpPr/>
        <p:nvPr/>
      </p:nvGrpSpPr>
      <p:grpSpPr>
        <a:xfrm>
          <a:off x="0" y="0"/>
          <a:ext cx="0" cy="0"/>
          <a:chOff x="0" y="0"/>
          <a:chExt cx="0" cy="0"/>
        </a:xfrm>
      </p:grpSpPr>
      <p:grpSp>
        <p:nvGrpSpPr>
          <p:cNvPr id="540" name="Google Shape;540;p16"/>
          <p:cNvGrpSpPr/>
          <p:nvPr/>
        </p:nvGrpSpPr>
        <p:grpSpPr>
          <a:xfrm>
            <a:off x="-199950" y="-327450"/>
            <a:ext cx="9543900" cy="5646000"/>
            <a:chOff x="-199950" y="-251250"/>
            <a:chExt cx="9543900" cy="5646000"/>
          </a:xfrm>
        </p:grpSpPr>
        <p:cxnSp>
          <p:nvCxnSpPr>
            <p:cNvPr id="541" name="Google Shape;541;p16"/>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2" name="Google Shape;542;p16"/>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3" name="Google Shape;543;p16"/>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4" name="Google Shape;544;p16"/>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5" name="Google Shape;545;p16"/>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6" name="Google Shape;546;p16"/>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7" name="Google Shape;547;p16"/>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8" name="Google Shape;548;p16"/>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49" name="Google Shape;549;p16"/>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0" name="Google Shape;550;p16"/>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1" name="Google Shape;551;p16"/>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2" name="Google Shape;552;p16"/>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3" name="Google Shape;553;p16"/>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4" name="Google Shape;554;p16"/>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5" name="Google Shape;555;p16"/>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556" name="Google Shape;556;p16"/>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7" name="Google Shape;557;p16"/>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8" name="Google Shape;558;p16"/>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59" name="Google Shape;559;p16"/>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0" name="Google Shape;560;p16"/>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1" name="Google Shape;561;p16"/>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2" name="Google Shape;562;p16"/>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3" name="Google Shape;563;p16"/>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4" name="Google Shape;564;p16"/>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5" name="Google Shape;565;p16"/>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566" name="Google Shape;566;p16"/>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567" name="Google Shape;567;p16"/>
          <p:cNvGrpSpPr/>
          <p:nvPr/>
        </p:nvGrpSpPr>
        <p:grpSpPr>
          <a:xfrm>
            <a:off x="473650" y="274900"/>
            <a:ext cx="8349800" cy="4746124"/>
            <a:chOff x="473650" y="274900"/>
            <a:chExt cx="8349800" cy="4746124"/>
          </a:xfrm>
        </p:grpSpPr>
        <p:grpSp>
          <p:nvGrpSpPr>
            <p:cNvPr id="568" name="Google Shape;568;p16"/>
            <p:cNvGrpSpPr/>
            <p:nvPr/>
          </p:nvGrpSpPr>
          <p:grpSpPr>
            <a:xfrm>
              <a:off x="626050" y="427300"/>
              <a:ext cx="8197400" cy="4593724"/>
              <a:chOff x="-280802" y="20880"/>
              <a:chExt cx="10622522" cy="5952733"/>
            </a:xfrm>
          </p:grpSpPr>
          <p:sp>
            <p:nvSpPr>
              <p:cNvPr id="569" name="Google Shape;569;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0" name="Google Shape;570;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1" name="Google Shape;571;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2" name="Google Shape;572;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3" name="Google Shape;573;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574" name="Google Shape;574;p16"/>
            <p:cNvGrpSpPr/>
            <p:nvPr/>
          </p:nvGrpSpPr>
          <p:grpSpPr>
            <a:xfrm>
              <a:off x="473650" y="274900"/>
              <a:ext cx="8197400" cy="4593724"/>
              <a:chOff x="-280802" y="20880"/>
              <a:chExt cx="10622522" cy="5952733"/>
            </a:xfrm>
          </p:grpSpPr>
          <p:sp>
            <p:nvSpPr>
              <p:cNvPr id="575" name="Google Shape;575;p16"/>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6" name="Google Shape;576;p16"/>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7" name="Google Shape;577;p16"/>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8" name="Google Shape;578;p16"/>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579" name="Google Shape;579;p16"/>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580" name="Google Shape;580;p16"/>
          <p:cNvSpPr txBox="1">
            <a:spLocks noGrp="1"/>
          </p:cNvSpPr>
          <p:nvPr>
            <p:ph type="subTitle" idx="1"/>
          </p:nvPr>
        </p:nvSpPr>
        <p:spPr>
          <a:xfrm>
            <a:off x="1908800" y="249642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1" name="Google Shape;581;p16"/>
          <p:cNvSpPr txBox="1">
            <a:spLocks noGrp="1"/>
          </p:cNvSpPr>
          <p:nvPr>
            <p:ph type="subTitle" idx="2"/>
          </p:nvPr>
        </p:nvSpPr>
        <p:spPr>
          <a:xfrm>
            <a:off x="5687849" y="249642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2" name="Google Shape;582;p16"/>
          <p:cNvSpPr txBox="1">
            <a:spLocks noGrp="1"/>
          </p:cNvSpPr>
          <p:nvPr>
            <p:ph type="subTitle" idx="3"/>
          </p:nvPr>
        </p:nvSpPr>
        <p:spPr>
          <a:xfrm>
            <a:off x="1908800" y="386167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3" name="Google Shape;583;p16"/>
          <p:cNvSpPr txBox="1">
            <a:spLocks noGrp="1"/>
          </p:cNvSpPr>
          <p:nvPr>
            <p:ph type="subTitle" idx="4"/>
          </p:nvPr>
        </p:nvSpPr>
        <p:spPr>
          <a:xfrm>
            <a:off x="5687849" y="3861677"/>
            <a:ext cx="238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4" name="Google Shape;584;p16"/>
          <p:cNvSpPr txBox="1">
            <a:spLocks noGrp="1"/>
          </p:cNvSpPr>
          <p:nvPr>
            <p:ph type="title" hasCustomPrompt="1"/>
          </p:nvPr>
        </p:nvSpPr>
        <p:spPr>
          <a:xfrm>
            <a:off x="1074761" y="1987721"/>
            <a:ext cx="7335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5" name="Google Shape;585;p16"/>
          <p:cNvSpPr txBox="1">
            <a:spLocks noGrp="1"/>
          </p:cNvSpPr>
          <p:nvPr>
            <p:ph type="title" idx="5" hasCustomPrompt="1"/>
          </p:nvPr>
        </p:nvSpPr>
        <p:spPr>
          <a:xfrm>
            <a:off x="1074761" y="3351821"/>
            <a:ext cx="7314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6" name="Google Shape;586;p16"/>
          <p:cNvSpPr txBox="1">
            <a:spLocks noGrp="1"/>
          </p:cNvSpPr>
          <p:nvPr>
            <p:ph type="title" idx="6" hasCustomPrompt="1"/>
          </p:nvPr>
        </p:nvSpPr>
        <p:spPr>
          <a:xfrm>
            <a:off x="4853776" y="1988358"/>
            <a:ext cx="731400" cy="4464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7" name="Google Shape;587;p16"/>
          <p:cNvSpPr txBox="1">
            <a:spLocks noGrp="1"/>
          </p:cNvSpPr>
          <p:nvPr>
            <p:ph type="title" idx="7" hasCustomPrompt="1"/>
          </p:nvPr>
        </p:nvSpPr>
        <p:spPr>
          <a:xfrm>
            <a:off x="4853776" y="3351822"/>
            <a:ext cx="731400" cy="447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3000"/>
              <a:buNone/>
              <a:defRPr sz="24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8" name="Google Shape;588;p16"/>
          <p:cNvSpPr txBox="1">
            <a:spLocks noGrp="1"/>
          </p:cNvSpPr>
          <p:nvPr>
            <p:ph type="subTitle" idx="8"/>
          </p:nvPr>
        </p:nvSpPr>
        <p:spPr>
          <a:xfrm>
            <a:off x="1908800" y="185698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89" name="Google Shape;589;p16"/>
          <p:cNvSpPr txBox="1">
            <a:spLocks noGrp="1"/>
          </p:cNvSpPr>
          <p:nvPr>
            <p:ph type="subTitle" idx="9"/>
          </p:nvPr>
        </p:nvSpPr>
        <p:spPr>
          <a:xfrm>
            <a:off x="1908800" y="322233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0" name="Google Shape;590;p16"/>
          <p:cNvSpPr txBox="1">
            <a:spLocks noGrp="1"/>
          </p:cNvSpPr>
          <p:nvPr>
            <p:ph type="subTitle" idx="13"/>
          </p:nvPr>
        </p:nvSpPr>
        <p:spPr>
          <a:xfrm>
            <a:off x="5687849" y="1856989"/>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1" name="Google Shape;591;p16"/>
          <p:cNvSpPr txBox="1">
            <a:spLocks noGrp="1"/>
          </p:cNvSpPr>
          <p:nvPr>
            <p:ph type="subTitle" idx="14"/>
          </p:nvPr>
        </p:nvSpPr>
        <p:spPr>
          <a:xfrm>
            <a:off x="5687849" y="3222336"/>
            <a:ext cx="2381400" cy="753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1800" b="1">
                <a:latin typeface="Days One"/>
                <a:ea typeface="Days One"/>
                <a:cs typeface="Days One"/>
                <a:sym typeface="Days One"/>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2" name="Google Shape;592;p16"/>
          <p:cNvSpPr txBox="1">
            <a:spLocks noGrp="1"/>
          </p:cNvSpPr>
          <p:nvPr>
            <p:ph type="title" idx="15"/>
          </p:nvPr>
        </p:nvSpPr>
        <p:spPr>
          <a:xfrm>
            <a:off x="896750" y="941350"/>
            <a:ext cx="73512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84"/>
        <p:cNvGrpSpPr/>
        <p:nvPr/>
      </p:nvGrpSpPr>
      <p:grpSpPr>
        <a:xfrm>
          <a:off x="0" y="0"/>
          <a:ext cx="0" cy="0"/>
          <a:chOff x="0" y="0"/>
          <a:chExt cx="0" cy="0"/>
        </a:xfrm>
      </p:grpSpPr>
      <p:grpSp>
        <p:nvGrpSpPr>
          <p:cNvPr id="685" name="Google Shape;685;p19"/>
          <p:cNvGrpSpPr/>
          <p:nvPr/>
        </p:nvGrpSpPr>
        <p:grpSpPr>
          <a:xfrm>
            <a:off x="-199950" y="-327450"/>
            <a:ext cx="9543900" cy="5646000"/>
            <a:chOff x="-199950" y="-251250"/>
            <a:chExt cx="9543900" cy="5646000"/>
          </a:xfrm>
        </p:grpSpPr>
        <p:cxnSp>
          <p:nvCxnSpPr>
            <p:cNvPr id="686" name="Google Shape;686;p19"/>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7" name="Google Shape;687;p19"/>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8" name="Google Shape;688;p19"/>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89" name="Google Shape;689;p19"/>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0" name="Google Shape;690;p19"/>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1" name="Google Shape;691;p19"/>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2" name="Google Shape;692;p19"/>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3" name="Google Shape;693;p19"/>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4" name="Google Shape;694;p19"/>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5" name="Google Shape;695;p19"/>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6" name="Google Shape;696;p19"/>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7" name="Google Shape;697;p19"/>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8" name="Google Shape;698;p19"/>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699" name="Google Shape;699;p19"/>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0" name="Google Shape;700;p19"/>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01" name="Google Shape;701;p19"/>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2" name="Google Shape;702;p19"/>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3" name="Google Shape;703;p19"/>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4" name="Google Shape;704;p19"/>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5" name="Google Shape;705;p19"/>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6" name="Google Shape;706;p19"/>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7" name="Google Shape;707;p19"/>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8" name="Google Shape;708;p19"/>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09" name="Google Shape;709;p19"/>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0" name="Google Shape;710;p19"/>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11" name="Google Shape;711;p19"/>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12" name="Google Shape;712;p19"/>
          <p:cNvGrpSpPr/>
          <p:nvPr/>
        </p:nvGrpSpPr>
        <p:grpSpPr>
          <a:xfrm>
            <a:off x="473650" y="274900"/>
            <a:ext cx="8349800" cy="4746124"/>
            <a:chOff x="473650" y="274900"/>
            <a:chExt cx="8349800" cy="4746124"/>
          </a:xfrm>
        </p:grpSpPr>
        <p:grpSp>
          <p:nvGrpSpPr>
            <p:cNvPr id="713" name="Google Shape;713;p19"/>
            <p:cNvGrpSpPr/>
            <p:nvPr/>
          </p:nvGrpSpPr>
          <p:grpSpPr>
            <a:xfrm>
              <a:off x="626050" y="427300"/>
              <a:ext cx="8197400" cy="4593724"/>
              <a:chOff x="-280802" y="20880"/>
              <a:chExt cx="10622522" cy="5952733"/>
            </a:xfrm>
          </p:grpSpPr>
          <p:sp>
            <p:nvSpPr>
              <p:cNvPr id="714" name="Google Shape;714;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5" name="Google Shape;715;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6" name="Google Shape;716;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7" name="Google Shape;717;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8" name="Google Shape;718;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19" name="Google Shape;719;p19"/>
            <p:cNvGrpSpPr/>
            <p:nvPr/>
          </p:nvGrpSpPr>
          <p:grpSpPr>
            <a:xfrm>
              <a:off x="473650" y="274900"/>
              <a:ext cx="8197400" cy="4593724"/>
              <a:chOff x="-280802" y="20880"/>
              <a:chExt cx="10622522" cy="5952733"/>
            </a:xfrm>
          </p:grpSpPr>
          <p:sp>
            <p:nvSpPr>
              <p:cNvPr id="720" name="Google Shape;720;p19"/>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1" name="Google Shape;721;p19"/>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2" name="Google Shape;722;p19"/>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3" name="Google Shape;723;p19"/>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4" name="Google Shape;724;p19"/>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725" name="Google Shape;725;p19"/>
          <p:cNvGrpSpPr/>
          <p:nvPr/>
        </p:nvGrpSpPr>
        <p:grpSpPr>
          <a:xfrm>
            <a:off x="7359430" y="819685"/>
            <a:ext cx="1132714" cy="1645290"/>
            <a:chOff x="7359430" y="819685"/>
            <a:chExt cx="1132714" cy="1645290"/>
          </a:xfrm>
        </p:grpSpPr>
        <p:sp>
          <p:nvSpPr>
            <p:cNvPr id="726" name="Google Shape;726;p19"/>
            <p:cNvSpPr/>
            <p:nvPr/>
          </p:nvSpPr>
          <p:spPr>
            <a:xfrm rot="3600003">
              <a:off x="7508612" y="974409"/>
              <a:ext cx="834351" cy="826229"/>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7" name="Google Shape;727;p19"/>
            <p:cNvSpPr/>
            <p:nvPr/>
          </p:nvSpPr>
          <p:spPr>
            <a:xfrm rot="3600020">
              <a:off x="7893347" y="1918241"/>
              <a:ext cx="465027" cy="460495"/>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728"/>
        <p:cNvGrpSpPr/>
        <p:nvPr/>
      </p:nvGrpSpPr>
      <p:grpSpPr>
        <a:xfrm>
          <a:off x="0" y="0"/>
          <a:ext cx="0" cy="0"/>
          <a:chOff x="0" y="0"/>
          <a:chExt cx="0" cy="0"/>
        </a:xfrm>
      </p:grpSpPr>
      <p:grpSp>
        <p:nvGrpSpPr>
          <p:cNvPr id="729" name="Google Shape;729;p20"/>
          <p:cNvGrpSpPr/>
          <p:nvPr/>
        </p:nvGrpSpPr>
        <p:grpSpPr>
          <a:xfrm>
            <a:off x="-199950" y="-327450"/>
            <a:ext cx="9543900" cy="5646000"/>
            <a:chOff x="-199950" y="-251250"/>
            <a:chExt cx="9543900" cy="5646000"/>
          </a:xfrm>
        </p:grpSpPr>
        <p:cxnSp>
          <p:nvCxnSpPr>
            <p:cNvPr id="730" name="Google Shape;730;p20"/>
            <p:cNvCxnSpPr/>
            <p:nvPr/>
          </p:nvCxnSpPr>
          <p:spPr>
            <a:xfrm rot="10800000">
              <a:off x="31462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1" name="Google Shape;731;p20"/>
            <p:cNvCxnSpPr/>
            <p:nvPr/>
          </p:nvCxnSpPr>
          <p:spPr>
            <a:xfrm rot="10800000">
              <a:off x="88232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2" name="Google Shape;732;p20"/>
            <p:cNvCxnSpPr/>
            <p:nvPr/>
          </p:nvCxnSpPr>
          <p:spPr>
            <a:xfrm rot="10800000">
              <a:off x="145002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3" name="Google Shape;733;p20"/>
            <p:cNvCxnSpPr/>
            <p:nvPr/>
          </p:nvCxnSpPr>
          <p:spPr>
            <a:xfrm rot="10800000">
              <a:off x="201773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4" name="Google Shape;734;p20"/>
            <p:cNvCxnSpPr/>
            <p:nvPr/>
          </p:nvCxnSpPr>
          <p:spPr>
            <a:xfrm rot="10800000">
              <a:off x="258543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5" name="Google Shape;735;p20"/>
            <p:cNvCxnSpPr/>
            <p:nvPr/>
          </p:nvCxnSpPr>
          <p:spPr>
            <a:xfrm rot="10800000">
              <a:off x="315313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6" name="Google Shape;736;p20"/>
            <p:cNvCxnSpPr/>
            <p:nvPr/>
          </p:nvCxnSpPr>
          <p:spPr>
            <a:xfrm rot="10800000">
              <a:off x="372083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7" name="Google Shape;737;p20"/>
            <p:cNvCxnSpPr/>
            <p:nvPr/>
          </p:nvCxnSpPr>
          <p:spPr>
            <a:xfrm rot="10800000">
              <a:off x="428853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8" name="Google Shape;738;p20"/>
            <p:cNvCxnSpPr/>
            <p:nvPr/>
          </p:nvCxnSpPr>
          <p:spPr>
            <a:xfrm rot="10800000">
              <a:off x="485623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39" name="Google Shape;739;p20"/>
            <p:cNvCxnSpPr/>
            <p:nvPr/>
          </p:nvCxnSpPr>
          <p:spPr>
            <a:xfrm rot="10800000">
              <a:off x="5423940"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0" name="Google Shape;740;p20"/>
            <p:cNvCxnSpPr/>
            <p:nvPr/>
          </p:nvCxnSpPr>
          <p:spPr>
            <a:xfrm rot="10800000">
              <a:off x="5991642"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1" name="Google Shape;741;p20"/>
            <p:cNvCxnSpPr/>
            <p:nvPr/>
          </p:nvCxnSpPr>
          <p:spPr>
            <a:xfrm rot="10800000">
              <a:off x="6559343"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2" name="Google Shape;742;p20"/>
            <p:cNvCxnSpPr/>
            <p:nvPr/>
          </p:nvCxnSpPr>
          <p:spPr>
            <a:xfrm rot="10800000">
              <a:off x="7127045"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3" name="Google Shape;743;p20"/>
            <p:cNvCxnSpPr/>
            <p:nvPr/>
          </p:nvCxnSpPr>
          <p:spPr>
            <a:xfrm rot="10800000">
              <a:off x="7694747"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4" name="Google Shape;744;p20"/>
            <p:cNvCxnSpPr/>
            <p:nvPr/>
          </p:nvCxnSpPr>
          <p:spPr>
            <a:xfrm rot="10800000">
              <a:off x="8262448" y="-251250"/>
              <a:ext cx="0" cy="5646000"/>
            </a:xfrm>
            <a:prstGeom prst="straightConnector1">
              <a:avLst/>
            </a:prstGeom>
            <a:noFill/>
            <a:ln w="19050" cap="flat" cmpd="sng">
              <a:solidFill>
                <a:schemeClr val="accent3"/>
              </a:solidFill>
              <a:prstDash val="solid"/>
              <a:round/>
              <a:headEnd type="none" w="med" len="med"/>
              <a:tailEnd type="none" w="med" len="med"/>
            </a:ln>
          </p:spPr>
        </p:cxnSp>
        <p:cxnSp>
          <p:nvCxnSpPr>
            <p:cNvPr id="745" name="Google Shape;745;p20"/>
            <p:cNvCxnSpPr/>
            <p:nvPr/>
          </p:nvCxnSpPr>
          <p:spPr>
            <a:xfrm>
              <a:off x="-199950" y="2341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6" name="Google Shape;746;p20"/>
            <p:cNvCxnSpPr/>
            <p:nvPr/>
          </p:nvCxnSpPr>
          <p:spPr>
            <a:xfrm>
              <a:off x="-199950" y="753635"/>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7" name="Google Shape;747;p20"/>
            <p:cNvCxnSpPr/>
            <p:nvPr/>
          </p:nvCxnSpPr>
          <p:spPr>
            <a:xfrm>
              <a:off x="-199950" y="1273157"/>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8" name="Google Shape;748;p20"/>
            <p:cNvCxnSpPr/>
            <p:nvPr/>
          </p:nvCxnSpPr>
          <p:spPr>
            <a:xfrm>
              <a:off x="-199950" y="1792679"/>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49" name="Google Shape;749;p20"/>
            <p:cNvCxnSpPr/>
            <p:nvPr/>
          </p:nvCxnSpPr>
          <p:spPr>
            <a:xfrm>
              <a:off x="-199950" y="2312201"/>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0" name="Google Shape;750;p20"/>
            <p:cNvCxnSpPr/>
            <p:nvPr/>
          </p:nvCxnSpPr>
          <p:spPr>
            <a:xfrm>
              <a:off x="-199950" y="2831724"/>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1" name="Google Shape;751;p20"/>
            <p:cNvCxnSpPr/>
            <p:nvPr/>
          </p:nvCxnSpPr>
          <p:spPr>
            <a:xfrm>
              <a:off x="-199950" y="3351246"/>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2" name="Google Shape;752;p20"/>
            <p:cNvCxnSpPr/>
            <p:nvPr/>
          </p:nvCxnSpPr>
          <p:spPr>
            <a:xfrm>
              <a:off x="-199950" y="3870768"/>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3" name="Google Shape;753;p20"/>
            <p:cNvCxnSpPr/>
            <p:nvPr/>
          </p:nvCxnSpPr>
          <p:spPr>
            <a:xfrm>
              <a:off x="-199950" y="4390290"/>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4" name="Google Shape;754;p20"/>
            <p:cNvCxnSpPr/>
            <p:nvPr/>
          </p:nvCxnSpPr>
          <p:spPr>
            <a:xfrm>
              <a:off x="-199950" y="4909813"/>
              <a:ext cx="9543900" cy="0"/>
            </a:xfrm>
            <a:prstGeom prst="straightConnector1">
              <a:avLst/>
            </a:prstGeom>
            <a:noFill/>
            <a:ln w="19050" cap="flat" cmpd="sng">
              <a:solidFill>
                <a:schemeClr val="accent3"/>
              </a:solidFill>
              <a:prstDash val="solid"/>
              <a:round/>
              <a:headEnd type="none" w="med" len="med"/>
              <a:tailEnd type="none" w="med" len="med"/>
            </a:ln>
          </p:spPr>
        </p:cxnSp>
        <p:cxnSp>
          <p:nvCxnSpPr>
            <p:cNvPr id="755" name="Google Shape;755;p20"/>
            <p:cNvCxnSpPr/>
            <p:nvPr/>
          </p:nvCxnSpPr>
          <p:spPr>
            <a:xfrm rot="10800000">
              <a:off x="8830150" y="-251250"/>
              <a:ext cx="0" cy="5646000"/>
            </a:xfrm>
            <a:prstGeom prst="straightConnector1">
              <a:avLst/>
            </a:prstGeom>
            <a:noFill/>
            <a:ln w="19050" cap="flat" cmpd="sng">
              <a:solidFill>
                <a:schemeClr val="accent3"/>
              </a:solidFill>
              <a:prstDash val="solid"/>
              <a:round/>
              <a:headEnd type="none" w="med" len="med"/>
              <a:tailEnd type="none" w="med" len="med"/>
            </a:ln>
          </p:spPr>
        </p:cxnSp>
      </p:grpSp>
      <p:grpSp>
        <p:nvGrpSpPr>
          <p:cNvPr id="756" name="Google Shape;756;p20"/>
          <p:cNvGrpSpPr/>
          <p:nvPr/>
        </p:nvGrpSpPr>
        <p:grpSpPr>
          <a:xfrm>
            <a:off x="626050" y="427300"/>
            <a:ext cx="8197400" cy="4593724"/>
            <a:chOff x="-280802" y="20880"/>
            <a:chExt cx="10622522" cy="5952733"/>
          </a:xfrm>
        </p:grpSpPr>
        <p:sp>
          <p:nvSpPr>
            <p:cNvPr id="757" name="Google Shape;757;p20"/>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8" name="Google Shape;758;p20"/>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9" name="Google Shape;759;p20"/>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0" name="Google Shape;760;p20"/>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1" name="Google Shape;761;p20"/>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62" name="Google Shape;762;p20"/>
          <p:cNvGrpSpPr/>
          <p:nvPr/>
        </p:nvGrpSpPr>
        <p:grpSpPr>
          <a:xfrm>
            <a:off x="473650" y="274900"/>
            <a:ext cx="8197400" cy="4593724"/>
            <a:chOff x="-280802" y="20880"/>
            <a:chExt cx="10622522" cy="5952733"/>
          </a:xfrm>
        </p:grpSpPr>
        <p:sp>
          <p:nvSpPr>
            <p:cNvPr id="763" name="Google Shape;763;p20"/>
            <p:cNvSpPr/>
            <p:nvPr/>
          </p:nvSpPr>
          <p:spPr>
            <a:xfrm>
              <a:off x="-280802" y="549713"/>
              <a:ext cx="10622520" cy="5423901"/>
            </a:xfrm>
            <a:custGeom>
              <a:avLst/>
              <a:gdLst/>
              <a:ahLst/>
              <a:cxnLst/>
              <a:rect l="l" t="t" r="r" b="b"/>
              <a:pathLst>
                <a:path w="29507" h="14157" extrusionOk="0">
                  <a:moveTo>
                    <a:pt x="0" y="14157"/>
                  </a:moveTo>
                  <a:lnTo>
                    <a:pt x="29507" y="14157"/>
                  </a:lnTo>
                  <a:lnTo>
                    <a:pt x="29507" y="0"/>
                  </a:lnTo>
                  <a:lnTo>
                    <a:pt x="0" y="0"/>
                  </a:lnTo>
                  <a:lnTo>
                    <a:pt x="0" y="14157"/>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4" name="Google Shape;764;p20"/>
            <p:cNvSpPr/>
            <p:nvPr/>
          </p:nvSpPr>
          <p:spPr>
            <a:xfrm>
              <a:off x="-280800" y="20880"/>
              <a:ext cx="10622520" cy="528840"/>
            </a:xfrm>
            <a:custGeom>
              <a:avLst/>
              <a:gdLst/>
              <a:ahLst/>
              <a:cxnLst/>
              <a:rect l="l" t="t" r="r" b="b"/>
              <a:pathLst>
                <a:path w="29507" h="1469" extrusionOk="0">
                  <a:moveTo>
                    <a:pt x="28655" y="0"/>
                  </a:moveTo>
                  <a:lnTo>
                    <a:pt x="851" y="0"/>
                  </a:lnTo>
                  <a:cubicBezTo>
                    <a:pt x="381" y="0"/>
                    <a:pt x="0" y="312"/>
                    <a:pt x="0" y="698"/>
                  </a:cubicBezTo>
                  <a:lnTo>
                    <a:pt x="0" y="1469"/>
                  </a:lnTo>
                  <a:lnTo>
                    <a:pt x="29507" y="1469"/>
                  </a:lnTo>
                  <a:lnTo>
                    <a:pt x="29507" y="698"/>
                  </a:lnTo>
                  <a:cubicBezTo>
                    <a:pt x="29507" y="312"/>
                    <a:pt x="29126" y="0"/>
                    <a:pt x="28655" y="0"/>
                  </a:cubicBez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5" name="Google Shape;765;p20"/>
            <p:cNvSpPr/>
            <p:nvPr/>
          </p:nvSpPr>
          <p:spPr>
            <a:xfrm>
              <a:off x="-4788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6" name="Google Shape;766;p20"/>
            <p:cNvSpPr/>
            <p:nvPr/>
          </p:nvSpPr>
          <p:spPr>
            <a:xfrm>
              <a:off x="32796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7" name="Google Shape;767;p20"/>
            <p:cNvSpPr/>
            <p:nvPr/>
          </p:nvSpPr>
          <p:spPr>
            <a:xfrm>
              <a:off x="703800" y="163440"/>
              <a:ext cx="243000" cy="243360"/>
            </a:xfrm>
            <a:custGeom>
              <a:avLst/>
              <a:gdLst/>
              <a:ahLst/>
              <a:cxnLst/>
              <a:rect l="l" t="t" r="r" b="b"/>
              <a:pathLst>
                <a:path w="675" h="676" extrusionOk="0">
                  <a:moveTo>
                    <a:pt x="675" y="338"/>
                  </a:moveTo>
                  <a:cubicBezTo>
                    <a:pt x="675" y="525"/>
                    <a:pt x="524" y="676"/>
                    <a:pt x="337" y="676"/>
                  </a:cubicBezTo>
                  <a:cubicBezTo>
                    <a:pt x="151" y="676"/>
                    <a:pt x="0" y="525"/>
                    <a:pt x="0" y="338"/>
                  </a:cubicBezTo>
                  <a:cubicBezTo>
                    <a:pt x="0" y="152"/>
                    <a:pt x="151" y="0"/>
                    <a:pt x="337" y="0"/>
                  </a:cubicBezTo>
                  <a:cubicBezTo>
                    <a:pt x="524" y="0"/>
                    <a:pt x="675" y="152"/>
                    <a:pt x="675" y="338"/>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68" name="Google Shape;768;p20"/>
          <p:cNvGrpSpPr/>
          <p:nvPr/>
        </p:nvGrpSpPr>
        <p:grpSpPr>
          <a:xfrm>
            <a:off x="7527566" y="3702226"/>
            <a:ext cx="1212401" cy="1240945"/>
            <a:chOff x="8264880" y="1119240"/>
            <a:chExt cx="1865520" cy="1909440"/>
          </a:xfrm>
        </p:grpSpPr>
        <p:sp>
          <p:nvSpPr>
            <p:cNvPr id="769" name="Google Shape;769;p20"/>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0" name="Google Shape;770;p20"/>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1" name="Google Shape;771;p20"/>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2" name="Google Shape;772;p20"/>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73" name="Google Shape;773;p20"/>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4" name="Google Shape;774;p20"/>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1pPr>
            <a:lvl2pPr lvl="1"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2pPr>
            <a:lvl3pPr lvl="2"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3pPr>
            <a:lvl4pPr lvl="3"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4pPr>
            <a:lvl5pPr lvl="4"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5pPr>
            <a:lvl6pPr lvl="5"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6pPr>
            <a:lvl7pPr lvl="6"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7pPr>
            <a:lvl8pPr lvl="7"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8pPr>
            <a:lvl9pPr lvl="8" rtl="0">
              <a:spcBef>
                <a:spcPts val="0"/>
              </a:spcBef>
              <a:spcAft>
                <a:spcPts val="0"/>
              </a:spcAft>
              <a:buClr>
                <a:schemeClr val="dk1"/>
              </a:buClr>
              <a:buSzPts val="3000"/>
              <a:buFont typeface="Days One"/>
              <a:buNone/>
              <a:defRPr sz="3000" b="1">
                <a:solidFill>
                  <a:schemeClr val="dk1"/>
                </a:solidFill>
                <a:latin typeface="Days One"/>
                <a:ea typeface="Days One"/>
                <a:cs typeface="Days One"/>
                <a:sym typeface="Days O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3" r:id="rId4"/>
    <p:sldLayoutId id="2147483655" r:id="rId5"/>
    <p:sldLayoutId id="2147483656" r:id="rId6"/>
    <p:sldLayoutId id="2147483657" r:id="rId7"/>
    <p:sldLayoutId id="2147483658" r:id="rId8"/>
    <p:sldLayoutId id="2147483662" r:id="rId9"/>
    <p:sldLayoutId id="2147483665" r:id="rId10"/>
    <p:sldLayoutId id="2147483666"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www.wikidata.org/entity/Q12418" TargetMode="External"/><Relationship Id="rId7" Type="http://schemas.openxmlformats.org/officeDocument/2006/relationships/hyperlink" Target="https://www.wikidata.org/entity/Q19675" TargetMode="External"/><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hyperlink" Target="https://www.wikidata.org/entity/P276" TargetMode="External"/><Relationship Id="rId5" Type="http://schemas.openxmlformats.org/officeDocument/2006/relationships/hyperlink" Target="https://www.wikidata.org/entity/Q762" TargetMode="External"/><Relationship Id="rId4" Type="http://schemas.openxmlformats.org/officeDocument/2006/relationships/hyperlink" Target="https://www.wikidata.org/prop/direct/P170"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hyperlink" Target="http://example.net/Paul_Dupont" TargetMode="External"/><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50.xml.rels><?xml version="1.0" encoding="UTF-8" standalone="yes"?>
<Relationships xmlns="http://schemas.openxmlformats.org/package/2006/relationships"><Relationship Id="rId3" Type="http://schemas.openxmlformats.org/officeDocument/2006/relationships/hyperlink" Target="http://example.net/Paul_Dupont.jpg" TargetMode="External"/><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7.xml"/><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24"/>
          <p:cNvSpPr txBox="1">
            <a:spLocks noGrp="1"/>
          </p:cNvSpPr>
          <p:nvPr>
            <p:ph type="ctrTitle"/>
          </p:nvPr>
        </p:nvSpPr>
        <p:spPr>
          <a:xfrm>
            <a:off x="1814850" y="1633725"/>
            <a:ext cx="5514300" cy="200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AllegroGraph</a:t>
            </a:r>
            <a:endParaRPr dirty="0"/>
          </a:p>
        </p:txBody>
      </p:sp>
      <p:sp>
        <p:nvSpPr>
          <p:cNvPr id="786" name="Google Shape;786;p24"/>
          <p:cNvSpPr txBox="1">
            <a:spLocks noGrp="1"/>
          </p:cNvSpPr>
          <p:nvPr>
            <p:ph type="subTitle" idx="1"/>
          </p:nvPr>
        </p:nvSpPr>
        <p:spPr>
          <a:xfrm>
            <a:off x="2301625" y="3686200"/>
            <a:ext cx="4540800" cy="460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Présenté par Drissa Sidiki Traore</a:t>
            </a:r>
            <a:endParaRPr dirty="0"/>
          </a:p>
        </p:txBody>
      </p:sp>
      <p:grpSp>
        <p:nvGrpSpPr>
          <p:cNvPr id="787" name="Google Shape;787;p24"/>
          <p:cNvGrpSpPr/>
          <p:nvPr/>
        </p:nvGrpSpPr>
        <p:grpSpPr>
          <a:xfrm>
            <a:off x="139544" y="-233231"/>
            <a:ext cx="8897898" cy="5075960"/>
            <a:chOff x="139544" y="-233231"/>
            <a:chExt cx="8897898" cy="5075960"/>
          </a:xfrm>
        </p:grpSpPr>
        <p:grpSp>
          <p:nvGrpSpPr>
            <p:cNvPr id="788" name="Google Shape;788;p24"/>
            <p:cNvGrpSpPr/>
            <p:nvPr/>
          </p:nvGrpSpPr>
          <p:grpSpPr>
            <a:xfrm>
              <a:off x="7825041" y="2013301"/>
              <a:ext cx="1212401" cy="1240945"/>
              <a:chOff x="8264880" y="1119240"/>
              <a:chExt cx="1865520" cy="1909440"/>
            </a:xfrm>
          </p:grpSpPr>
          <p:sp>
            <p:nvSpPr>
              <p:cNvPr id="789" name="Google Shape;789;p24"/>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0" name="Google Shape;790;p24"/>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1" name="Google Shape;791;p24"/>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2" name="Google Shape;792;p24"/>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3" name="Google Shape;793;p24"/>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4" name="Google Shape;794;p24"/>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795" name="Google Shape;795;p24"/>
            <p:cNvGrpSpPr/>
            <p:nvPr/>
          </p:nvGrpSpPr>
          <p:grpSpPr>
            <a:xfrm rot="-899905">
              <a:off x="299513" y="3421758"/>
              <a:ext cx="795061" cy="1340934"/>
              <a:chOff x="6814440" y="1026720"/>
              <a:chExt cx="1223280" cy="2063160"/>
            </a:xfrm>
          </p:grpSpPr>
          <p:sp>
            <p:nvSpPr>
              <p:cNvPr id="796" name="Google Shape;796;p24"/>
              <p:cNvSpPr/>
              <p:nvPr/>
            </p:nvSpPr>
            <p:spPr>
              <a:xfrm>
                <a:off x="6814440" y="1026720"/>
                <a:ext cx="1223280" cy="1574640"/>
              </a:xfrm>
              <a:custGeom>
                <a:avLst/>
                <a:gdLst/>
                <a:ahLst/>
                <a:cxnLst/>
                <a:rect l="l" t="t" r="r" b="b"/>
                <a:pathLst>
                  <a:path w="3398" h="4374" extrusionOk="0">
                    <a:moveTo>
                      <a:pt x="3398" y="1699"/>
                    </a:moveTo>
                    <a:cubicBezTo>
                      <a:pt x="3398" y="761"/>
                      <a:pt x="2638" y="0"/>
                      <a:pt x="1699" y="0"/>
                    </a:cubicBezTo>
                    <a:cubicBezTo>
                      <a:pt x="761" y="0"/>
                      <a:pt x="0" y="761"/>
                      <a:pt x="0" y="1699"/>
                    </a:cubicBezTo>
                    <a:cubicBezTo>
                      <a:pt x="0" y="2031"/>
                      <a:pt x="95" y="2339"/>
                      <a:pt x="259" y="2600"/>
                    </a:cubicBezTo>
                    <a:lnTo>
                      <a:pt x="258" y="2601"/>
                    </a:lnTo>
                    <a:cubicBezTo>
                      <a:pt x="258" y="2601"/>
                      <a:pt x="267" y="2613"/>
                      <a:pt x="281" y="2635"/>
                    </a:cubicBezTo>
                    <a:cubicBezTo>
                      <a:pt x="286" y="2642"/>
                      <a:pt x="291" y="2650"/>
                      <a:pt x="295" y="2657"/>
                    </a:cubicBezTo>
                    <a:cubicBezTo>
                      <a:pt x="436" y="2870"/>
                      <a:pt x="927" y="3665"/>
                      <a:pt x="927" y="4374"/>
                    </a:cubicBezTo>
                    <a:lnTo>
                      <a:pt x="1467" y="4374"/>
                    </a:lnTo>
                    <a:lnTo>
                      <a:pt x="2034" y="4374"/>
                    </a:lnTo>
                    <a:lnTo>
                      <a:pt x="2473" y="4374"/>
                    </a:lnTo>
                    <a:cubicBezTo>
                      <a:pt x="2473" y="3547"/>
                      <a:pt x="3142" y="2601"/>
                      <a:pt x="3142" y="2601"/>
                    </a:cubicBezTo>
                    <a:lnTo>
                      <a:pt x="3140" y="2600"/>
                    </a:lnTo>
                    <a:cubicBezTo>
                      <a:pt x="3304" y="2339"/>
                      <a:pt x="3398" y="2030"/>
                      <a:pt x="3398" y="169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7" name="Google Shape;797;p24"/>
              <p:cNvSpPr/>
              <p:nvPr/>
            </p:nvSpPr>
            <p:spPr>
              <a:xfrm>
                <a:off x="7145280" y="2540880"/>
                <a:ext cx="576720" cy="412560"/>
              </a:xfrm>
              <a:custGeom>
                <a:avLst/>
                <a:gdLst/>
                <a:ahLst/>
                <a:cxnLst/>
                <a:rect l="l" t="t" r="r" b="b"/>
                <a:pathLst>
                  <a:path w="1602" h="1146" extrusionOk="0">
                    <a:moveTo>
                      <a:pt x="935" y="0"/>
                    </a:moveTo>
                    <a:lnTo>
                      <a:pt x="667" y="0"/>
                    </a:lnTo>
                    <a:lnTo>
                      <a:pt x="0" y="0"/>
                    </a:lnTo>
                    <a:lnTo>
                      <a:pt x="0" y="794"/>
                    </a:lnTo>
                    <a:lnTo>
                      <a:pt x="427" y="1146"/>
                    </a:lnTo>
                    <a:lnTo>
                      <a:pt x="667" y="1146"/>
                    </a:lnTo>
                    <a:lnTo>
                      <a:pt x="935" y="1146"/>
                    </a:lnTo>
                    <a:lnTo>
                      <a:pt x="1176" y="1146"/>
                    </a:lnTo>
                    <a:lnTo>
                      <a:pt x="1602" y="794"/>
                    </a:lnTo>
                    <a:lnTo>
                      <a:pt x="1602" y="0"/>
                    </a:lnTo>
                    <a:lnTo>
                      <a:pt x="935" y="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8" name="Google Shape;798;p24"/>
              <p:cNvSpPr/>
              <p:nvPr/>
            </p:nvSpPr>
            <p:spPr>
              <a:xfrm>
                <a:off x="7115040" y="1859400"/>
                <a:ext cx="583200" cy="661320"/>
              </a:xfrm>
              <a:custGeom>
                <a:avLst/>
                <a:gdLst/>
                <a:ahLst/>
                <a:cxnLst/>
                <a:rect l="l" t="t" r="r" b="b"/>
                <a:pathLst>
                  <a:path w="1620" h="1837" extrusionOk="0">
                    <a:moveTo>
                      <a:pt x="1068" y="53"/>
                    </a:moveTo>
                    <a:cubicBezTo>
                      <a:pt x="1066" y="53"/>
                      <a:pt x="1065" y="53"/>
                      <a:pt x="1063" y="53"/>
                    </a:cubicBezTo>
                    <a:cubicBezTo>
                      <a:pt x="1003" y="54"/>
                      <a:pt x="964" y="76"/>
                      <a:pt x="953" y="114"/>
                    </a:cubicBezTo>
                    <a:cubicBezTo>
                      <a:pt x="936" y="173"/>
                      <a:pt x="983" y="255"/>
                      <a:pt x="1062" y="305"/>
                    </a:cubicBezTo>
                    <a:cubicBezTo>
                      <a:pt x="1083" y="319"/>
                      <a:pt x="1104" y="329"/>
                      <a:pt x="1125" y="336"/>
                    </a:cubicBezTo>
                    <a:cubicBezTo>
                      <a:pt x="1164" y="258"/>
                      <a:pt x="1180" y="177"/>
                      <a:pt x="1165" y="122"/>
                    </a:cubicBezTo>
                    <a:cubicBezTo>
                      <a:pt x="1153" y="76"/>
                      <a:pt x="1120" y="53"/>
                      <a:pt x="1068" y="53"/>
                    </a:cubicBezTo>
                    <a:moveTo>
                      <a:pt x="584" y="37"/>
                    </a:moveTo>
                    <a:cubicBezTo>
                      <a:pt x="546" y="37"/>
                      <a:pt x="506" y="55"/>
                      <a:pt x="481" y="86"/>
                    </a:cubicBezTo>
                    <a:cubicBezTo>
                      <a:pt x="432" y="148"/>
                      <a:pt x="446" y="245"/>
                      <a:pt x="518" y="356"/>
                    </a:cubicBezTo>
                    <a:cubicBezTo>
                      <a:pt x="584" y="336"/>
                      <a:pt x="634" y="286"/>
                      <a:pt x="667" y="207"/>
                    </a:cubicBezTo>
                    <a:cubicBezTo>
                      <a:pt x="695" y="134"/>
                      <a:pt x="684" y="77"/>
                      <a:pt x="638" y="50"/>
                    </a:cubicBezTo>
                    <a:cubicBezTo>
                      <a:pt x="622" y="41"/>
                      <a:pt x="603" y="37"/>
                      <a:pt x="584" y="37"/>
                    </a:cubicBezTo>
                    <a:moveTo>
                      <a:pt x="449" y="1837"/>
                    </a:moveTo>
                    <a:lnTo>
                      <a:pt x="0" y="165"/>
                    </a:lnTo>
                    <a:lnTo>
                      <a:pt x="43" y="199"/>
                    </a:lnTo>
                    <a:cubicBezTo>
                      <a:pt x="46" y="201"/>
                      <a:pt x="287" y="388"/>
                      <a:pt x="479" y="364"/>
                    </a:cubicBezTo>
                    <a:cubicBezTo>
                      <a:pt x="375" y="198"/>
                      <a:pt x="422" y="101"/>
                      <a:pt x="452" y="63"/>
                    </a:cubicBezTo>
                    <a:cubicBezTo>
                      <a:pt x="500" y="2"/>
                      <a:pt x="592" y="-18"/>
                      <a:pt x="656" y="18"/>
                    </a:cubicBezTo>
                    <a:cubicBezTo>
                      <a:pt x="719" y="54"/>
                      <a:pt x="736" y="129"/>
                      <a:pt x="702" y="220"/>
                    </a:cubicBezTo>
                    <a:cubicBezTo>
                      <a:pt x="666" y="306"/>
                      <a:pt x="611" y="362"/>
                      <a:pt x="540" y="388"/>
                    </a:cubicBezTo>
                    <a:cubicBezTo>
                      <a:pt x="560" y="415"/>
                      <a:pt x="583" y="443"/>
                      <a:pt x="609" y="472"/>
                    </a:cubicBezTo>
                    <a:cubicBezTo>
                      <a:pt x="738" y="611"/>
                      <a:pt x="859" y="588"/>
                      <a:pt x="938" y="544"/>
                    </a:cubicBezTo>
                    <a:cubicBezTo>
                      <a:pt x="1008" y="505"/>
                      <a:pt x="1067" y="439"/>
                      <a:pt x="1108" y="368"/>
                    </a:cubicBezTo>
                    <a:cubicBezTo>
                      <a:pt x="1078" y="358"/>
                      <a:pt x="1056" y="345"/>
                      <a:pt x="1042" y="336"/>
                    </a:cubicBezTo>
                    <a:cubicBezTo>
                      <a:pt x="948" y="277"/>
                      <a:pt x="896" y="180"/>
                      <a:pt x="917" y="104"/>
                    </a:cubicBezTo>
                    <a:cubicBezTo>
                      <a:pt x="933" y="49"/>
                      <a:pt x="986" y="17"/>
                      <a:pt x="1063" y="16"/>
                    </a:cubicBezTo>
                    <a:cubicBezTo>
                      <a:pt x="1134" y="14"/>
                      <a:pt x="1183" y="49"/>
                      <a:pt x="1201" y="112"/>
                    </a:cubicBezTo>
                    <a:cubicBezTo>
                      <a:pt x="1217" y="174"/>
                      <a:pt x="1202" y="262"/>
                      <a:pt x="1161" y="347"/>
                    </a:cubicBezTo>
                    <a:cubicBezTo>
                      <a:pt x="1344" y="388"/>
                      <a:pt x="1522" y="250"/>
                      <a:pt x="1579" y="200"/>
                    </a:cubicBezTo>
                    <a:lnTo>
                      <a:pt x="1620" y="164"/>
                    </a:lnTo>
                    <a:lnTo>
                      <a:pt x="1286" y="1835"/>
                    </a:lnTo>
                    <a:lnTo>
                      <a:pt x="1250" y="1828"/>
                    </a:lnTo>
                    <a:lnTo>
                      <a:pt x="1563" y="261"/>
                    </a:lnTo>
                    <a:cubicBezTo>
                      <a:pt x="1387" y="398"/>
                      <a:pt x="1240" y="403"/>
                      <a:pt x="1145" y="379"/>
                    </a:cubicBezTo>
                    <a:cubicBezTo>
                      <a:pt x="1100" y="459"/>
                      <a:pt x="1035" y="533"/>
                      <a:pt x="956" y="577"/>
                    </a:cubicBezTo>
                    <a:cubicBezTo>
                      <a:pt x="828" y="648"/>
                      <a:pt x="695" y="619"/>
                      <a:pt x="582" y="497"/>
                    </a:cubicBezTo>
                    <a:cubicBezTo>
                      <a:pt x="550" y="462"/>
                      <a:pt x="523" y="429"/>
                      <a:pt x="501" y="398"/>
                    </a:cubicBezTo>
                    <a:cubicBezTo>
                      <a:pt x="339" y="429"/>
                      <a:pt x="147" y="316"/>
                      <a:pt x="63" y="259"/>
                    </a:cubicBezTo>
                    <a:lnTo>
                      <a:pt x="485" y="1827"/>
                    </a:lnTo>
                    <a:lnTo>
                      <a:pt x="449" y="1837"/>
                    </a:lnTo>
                    <a:close/>
                  </a:path>
                </a:pathLst>
              </a:custGeom>
              <a:solidFill>
                <a:srgbClr val="3E282C"/>
              </a:solidFill>
              <a:ln w="9525"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799" name="Google Shape;799;p24"/>
              <p:cNvSpPr/>
              <p:nvPr/>
            </p:nvSpPr>
            <p:spPr>
              <a:xfrm>
                <a:off x="7079040" y="2500560"/>
                <a:ext cx="709560" cy="73800"/>
              </a:xfrm>
              <a:custGeom>
                <a:avLst/>
                <a:gdLst/>
                <a:ahLst/>
                <a:cxnLst/>
                <a:rect l="l" t="t" r="r" b="b"/>
                <a:pathLst>
                  <a:path w="1971" h="205" extrusionOk="0">
                    <a:moveTo>
                      <a:pt x="1861" y="0"/>
                    </a:moveTo>
                    <a:lnTo>
                      <a:pt x="110" y="0"/>
                    </a:lnTo>
                    <a:cubicBezTo>
                      <a:pt x="49" y="0"/>
                      <a:pt x="0" y="46"/>
                      <a:pt x="0" y="102"/>
                    </a:cubicBezTo>
                    <a:cubicBezTo>
                      <a:pt x="0" y="159"/>
                      <a:pt x="49" y="205"/>
                      <a:pt x="110" y="205"/>
                    </a:cubicBezTo>
                    <a:lnTo>
                      <a:pt x="1861" y="205"/>
                    </a:lnTo>
                    <a:cubicBezTo>
                      <a:pt x="1922" y="205"/>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800" rIns="90000" bIns="288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0" name="Google Shape;800;p24"/>
              <p:cNvSpPr/>
              <p:nvPr/>
            </p:nvSpPr>
            <p:spPr>
              <a:xfrm>
                <a:off x="7079040" y="2613600"/>
                <a:ext cx="709560" cy="73440"/>
              </a:xfrm>
              <a:custGeom>
                <a:avLst/>
                <a:gdLst/>
                <a:ahLst/>
                <a:cxnLst/>
                <a:rect l="l" t="t" r="r" b="b"/>
                <a:pathLst>
                  <a:path w="1971" h="204" extrusionOk="0">
                    <a:moveTo>
                      <a:pt x="1861" y="0"/>
                    </a:moveTo>
                    <a:lnTo>
                      <a:pt x="110" y="0"/>
                    </a:lnTo>
                    <a:cubicBezTo>
                      <a:pt x="49" y="0"/>
                      <a:pt x="0" y="46"/>
                      <a:pt x="0" y="102"/>
                    </a:cubicBezTo>
                    <a:cubicBezTo>
                      <a:pt x="0" y="159"/>
                      <a:pt x="49" y="204"/>
                      <a:pt x="110" y="204"/>
                    </a:cubicBezTo>
                    <a:lnTo>
                      <a:pt x="1861" y="204"/>
                    </a:lnTo>
                    <a:cubicBezTo>
                      <a:pt x="1922" y="204"/>
                      <a:pt x="1971" y="159"/>
                      <a:pt x="1971" y="102"/>
                    </a:cubicBezTo>
                    <a:cubicBezTo>
                      <a:pt x="1971" y="46"/>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1" name="Google Shape;801;p24"/>
              <p:cNvSpPr/>
              <p:nvPr/>
            </p:nvSpPr>
            <p:spPr>
              <a:xfrm>
                <a:off x="7079040" y="2726640"/>
                <a:ext cx="709560" cy="73440"/>
              </a:xfrm>
              <a:custGeom>
                <a:avLst/>
                <a:gdLst/>
                <a:ahLst/>
                <a:cxnLst/>
                <a:rect l="l" t="t" r="r" b="b"/>
                <a:pathLst>
                  <a:path w="1971" h="204" extrusionOk="0">
                    <a:moveTo>
                      <a:pt x="1861" y="0"/>
                    </a:moveTo>
                    <a:lnTo>
                      <a:pt x="110" y="0"/>
                    </a:lnTo>
                    <a:cubicBezTo>
                      <a:pt x="49" y="0"/>
                      <a:pt x="0" y="45"/>
                      <a:pt x="0" y="102"/>
                    </a:cubicBezTo>
                    <a:cubicBezTo>
                      <a:pt x="0" y="158"/>
                      <a:pt x="49" y="204"/>
                      <a:pt x="110" y="204"/>
                    </a:cubicBezTo>
                    <a:lnTo>
                      <a:pt x="1861" y="204"/>
                    </a:lnTo>
                    <a:cubicBezTo>
                      <a:pt x="1922" y="204"/>
                      <a:pt x="1971" y="158"/>
                      <a:pt x="1971" y="102"/>
                    </a:cubicBezTo>
                    <a:cubicBezTo>
                      <a:pt x="1971" y="45"/>
                      <a:pt x="1922" y="0"/>
                      <a:pt x="1861"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28425" rIns="90000" bIns="284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2" name="Google Shape;802;p24"/>
              <p:cNvSpPr/>
              <p:nvPr/>
            </p:nvSpPr>
            <p:spPr>
              <a:xfrm>
                <a:off x="7299000" y="2953440"/>
                <a:ext cx="269280" cy="136440"/>
              </a:xfrm>
              <a:custGeom>
                <a:avLst/>
                <a:gdLst/>
                <a:ahLst/>
                <a:cxnLst/>
                <a:rect l="l" t="t" r="r" b="b"/>
                <a:pathLst>
                  <a:path w="748" h="379" extrusionOk="0">
                    <a:moveTo>
                      <a:pt x="0" y="0"/>
                    </a:moveTo>
                    <a:lnTo>
                      <a:pt x="0" y="5"/>
                    </a:lnTo>
                    <a:cubicBezTo>
                      <a:pt x="0" y="211"/>
                      <a:pt x="168" y="379"/>
                      <a:pt x="374" y="379"/>
                    </a:cubicBezTo>
                    <a:cubicBezTo>
                      <a:pt x="581" y="379"/>
                      <a:pt x="748" y="211"/>
                      <a:pt x="748" y="5"/>
                    </a:cubicBezTo>
                    <a:lnTo>
                      <a:pt x="748" y="0"/>
                    </a:lnTo>
                    <a:lnTo>
                      <a:pt x="0" y="0"/>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03" name="Google Shape;803;p24"/>
            <p:cNvGrpSpPr/>
            <p:nvPr/>
          </p:nvGrpSpPr>
          <p:grpSpPr>
            <a:xfrm>
              <a:off x="3704573" y="-233231"/>
              <a:ext cx="1408745" cy="850581"/>
              <a:chOff x="3704573" y="-233231"/>
              <a:chExt cx="1408745" cy="850581"/>
            </a:xfrm>
          </p:grpSpPr>
          <p:sp>
            <p:nvSpPr>
              <p:cNvPr id="804" name="Google Shape;804;p24"/>
              <p:cNvSpPr/>
              <p:nvPr/>
            </p:nvSpPr>
            <p:spPr>
              <a:xfrm>
                <a:off x="3704573" y="-233231"/>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5" name="Google Shape;805;p24"/>
              <p:cNvSpPr/>
              <p:nvPr/>
            </p:nvSpPr>
            <p:spPr>
              <a:xfrm>
                <a:off x="4648285" y="156849"/>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806" name="Google Shape;806;p24"/>
          <p:cNvSpPr txBox="1"/>
          <p:nvPr/>
        </p:nvSpPr>
        <p:spPr>
          <a:xfrm>
            <a:off x="6260951" y="915775"/>
            <a:ext cx="1986649" cy="4605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dk1"/>
                </a:solidFill>
                <a:latin typeface="Days One"/>
                <a:ea typeface="Days One"/>
                <a:cs typeface="Days One"/>
                <a:sym typeface="Days One"/>
              </a:rPr>
              <a:t>ENI-ABT M2-MSI</a:t>
            </a:r>
            <a:endParaRPr sz="2000" dirty="0">
              <a:solidFill>
                <a:schemeClr val="dk1"/>
              </a:solidFill>
              <a:latin typeface="Days One"/>
              <a:ea typeface="Days One"/>
              <a:cs typeface="Days One"/>
              <a:sym typeface="Days One"/>
            </a:endParaRPr>
          </a:p>
        </p:txBody>
      </p:sp>
      <p:pic>
        <p:nvPicPr>
          <p:cNvPr id="1030" name="Picture 6" descr="Home - AllegroGraph">
            <a:extLst>
              <a:ext uri="{FF2B5EF4-FFF2-40B4-BE49-F238E27FC236}">
                <a16:creationId xmlns:a16="http://schemas.microsoft.com/office/drawing/2014/main" id="{B4E4CBEB-BB2B-3893-93BF-FE97A12B78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3547" y="2246225"/>
            <a:ext cx="819150" cy="8191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26"/>
          <p:cNvSpPr txBox="1">
            <a:spLocks noGrp="1"/>
          </p:cNvSpPr>
          <p:nvPr>
            <p:ph type="title" idx="15"/>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dirty="0"/>
              <a:t>Qu'allons-nous apprendre?</a:t>
            </a:r>
            <a:endParaRPr dirty="0"/>
          </a:p>
        </p:txBody>
      </p:sp>
      <p:sp>
        <p:nvSpPr>
          <p:cNvPr id="821" name="Google Shape;821;p26"/>
          <p:cNvSpPr txBox="1">
            <a:spLocks noGrp="1"/>
          </p:cNvSpPr>
          <p:nvPr>
            <p:ph type="subTitle" idx="1"/>
          </p:nvPr>
        </p:nvSpPr>
        <p:spPr>
          <a:xfrm>
            <a:off x="1908800" y="2335056"/>
            <a:ext cx="2381400" cy="8872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4" name="Google Shape;824;p26"/>
          <p:cNvSpPr txBox="1">
            <a:spLocks noGrp="1"/>
          </p:cNvSpPr>
          <p:nvPr>
            <p:ph type="subTitle" idx="4"/>
          </p:nvPr>
        </p:nvSpPr>
        <p:spPr>
          <a:xfrm>
            <a:off x="5687849" y="3861677"/>
            <a:ext cx="23814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5" name="Google Shape;825;p26"/>
          <p:cNvSpPr txBox="1">
            <a:spLocks noGrp="1"/>
          </p:cNvSpPr>
          <p:nvPr>
            <p:ph type="title"/>
          </p:nvPr>
        </p:nvSpPr>
        <p:spPr>
          <a:xfrm>
            <a:off x="1074761" y="1987721"/>
            <a:ext cx="7335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826" name="Google Shape;826;p26"/>
          <p:cNvSpPr txBox="1">
            <a:spLocks noGrp="1"/>
          </p:cNvSpPr>
          <p:nvPr>
            <p:ph type="title" idx="5"/>
          </p:nvPr>
        </p:nvSpPr>
        <p:spPr>
          <a:xfrm>
            <a:off x="1074761" y="3351821"/>
            <a:ext cx="731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827" name="Google Shape;827;p26"/>
          <p:cNvSpPr txBox="1">
            <a:spLocks noGrp="1"/>
          </p:cNvSpPr>
          <p:nvPr>
            <p:ph type="title" idx="6"/>
          </p:nvPr>
        </p:nvSpPr>
        <p:spPr>
          <a:xfrm>
            <a:off x="4853776" y="1988358"/>
            <a:ext cx="731400" cy="44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28" name="Google Shape;828;p26"/>
          <p:cNvSpPr txBox="1">
            <a:spLocks noGrp="1"/>
          </p:cNvSpPr>
          <p:nvPr>
            <p:ph type="title" idx="7"/>
          </p:nvPr>
        </p:nvSpPr>
        <p:spPr>
          <a:xfrm>
            <a:off x="4853776" y="3351822"/>
            <a:ext cx="731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829" name="Google Shape;829;p26"/>
          <p:cNvSpPr txBox="1">
            <a:spLocks noGrp="1"/>
          </p:cNvSpPr>
          <p:nvPr>
            <p:ph type="subTitle" idx="8"/>
          </p:nvPr>
        </p:nvSpPr>
        <p:spPr>
          <a:xfrm>
            <a:off x="1908799" y="1856990"/>
            <a:ext cx="2566381" cy="529258"/>
          </a:xfrm>
          <a:prstGeom prst="rect">
            <a:avLst/>
          </a:prstGeom>
        </p:spPr>
        <p:txBody>
          <a:bodyPr spcFirstLastPara="1" wrap="square" lIns="91425" tIns="91425" rIns="91425" bIns="91425" anchor="b" anchorCtr="0">
            <a:noAutofit/>
          </a:bodyPr>
          <a:lstStyle/>
          <a:p>
            <a:pPr marL="0" lvl="0" indent="0"/>
            <a:r>
              <a:rPr lang="fr-FR" dirty="0"/>
              <a:t>Contexte général</a:t>
            </a:r>
            <a:endParaRPr dirty="0"/>
          </a:p>
        </p:txBody>
      </p:sp>
      <p:sp>
        <p:nvSpPr>
          <p:cNvPr id="830" name="Google Shape;830;p26"/>
          <p:cNvSpPr txBox="1">
            <a:spLocks noGrp="1"/>
          </p:cNvSpPr>
          <p:nvPr>
            <p:ph type="subTitle" idx="9"/>
          </p:nvPr>
        </p:nvSpPr>
        <p:spPr>
          <a:xfrm>
            <a:off x="1908800" y="3222339"/>
            <a:ext cx="2381400" cy="753900"/>
          </a:xfrm>
          <a:prstGeom prst="rect">
            <a:avLst/>
          </a:prstGeom>
        </p:spPr>
        <p:txBody>
          <a:bodyPr spcFirstLastPara="1" wrap="square" lIns="91425" tIns="91425" rIns="91425" bIns="91425" anchor="b" anchorCtr="0">
            <a:noAutofit/>
          </a:bodyPr>
          <a:lstStyle/>
          <a:p>
            <a:pPr marL="0" lvl="0" indent="0"/>
            <a:r>
              <a:rPr lang="fr-FR" dirty="0"/>
              <a:t>Présentation d’</a:t>
            </a:r>
            <a:r>
              <a:rPr lang="fr-FR" dirty="0" err="1"/>
              <a:t>AllegroGraph</a:t>
            </a:r>
            <a:endParaRPr dirty="0"/>
          </a:p>
        </p:txBody>
      </p:sp>
      <p:sp>
        <p:nvSpPr>
          <p:cNvPr id="831" name="Google Shape;831;p26"/>
          <p:cNvSpPr txBox="1">
            <a:spLocks noGrp="1"/>
          </p:cNvSpPr>
          <p:nvPr>
            <p:ph type="subTitle" idx="13"/>
          </p:nvPr>
        </p:nvSpPr>
        <p:spPr>
          <a:xfrm>
            <a:off x="5687849" y="1957717"/>
            <a:ext cx="2381400" cy="943630"/>
          </a:xfrm>
          <a:prstGeom prst="rect">
            <a:avLst/>
          </a:prstGeom>
        </p:spPr>
        <p:txBody>
          <a:bodyPr spcFirstLastPara="1" wrap="square" lIns="91425" tIns="91425" rIns="91425" bIns="91425" anchor="b" anchorCtr="0">
            <a:noAutofit/>
          </a:bodyPr>
          <a:lstStyle/>
          <a:p>
            <a:pPr marL="0" lvl="0" indent="0"/>
            <a:r>
              <a:rPr lang="fr-FR" dirty="0"/>
              <a:t>Modèle de données fondamental &amp; Langage</a:t>
            </a:r>
          </a:p>
        </p:txBody>
      </p:sp>
      <p:sp>
        <p:nvSpPr>
          <p:cNvPr id="832" name="Google Shape;832;p26"/>
          <p:cNvSpPr txBox="1">
            <a:spLocks noGrp="1"/>
          </p:cNvSpPr>
          <p:nvPr>
            <p:ph type="subTitle" idx="14"/>
          </p:nvPr>
        </p:nvSpPr>
        <p:spPr>
          <a:xfrm>
            <a:off x="5687849" y="3222336"/>
            <a:ext cx="2381400" cy="753900"/>
          </a:xfrm>
          <a:prstGeom prst="rect">
            <a:avLst/>
          </a:prstGeom>
        </p:spPr>
        <p:txBody>
          <a:bodyPr spcFirstLastPara="1" wrap="square" lIns="91425" tIns="91425" rIns="91425" bIns="91425" anchor="b" anchorCtr="0">
            <a:noAutofit/>
          </a:bodyPr>
          <a:lstStyle/>
          <a:p>
            <a:pPr marL="0" lvl="0" indent="0"/>
            <a:r>
              <a:rPr lang="fr-FR" dirty="0"/>
              <a:t>Architecture d’</a:t>
            </a:r>
            <a:r>
              <a:rPr lang="fr-FR" dirty="0" err="1"/>
              <a:t>AllegroGraph</a:t>
            </a:r>
            <a:endParaRPr lang="fr-FR" dirty="0"/>
          </a:p>
        </p:txBody>
      </p:sp>
      <p:sp>
        <p:nvSpPr>
          <p:cNvPr id="833" name="Google Shape;833;p26"/>
          <p:cNvSpPr/>
          <p:nvPr/>
        </p:nvSpPr>
        <p:spPr>
          <a:xfrm>
            <a:off x="113525" y="1005538"/>
            <a:ext cx="731396" cy="72428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 name="Subtitle 3">
            <a:extLst>
              <a:ext uri="{FF2B5EF4-FFF2-40B4-BE49-F238E27FC236}">
                <a16:creationId xmlns:a16="http://schemas.microsoft.com/office/drawing/2014/main" id="{CA5E4B4E-36BE-83B5-4695-77FB8D3719B0}"/>
              </a:ext>
            </a:extLst>
          </p:cNvPr>
          <p:cNvSpPr>
            <a:spLocks noGrp="1"/>
          </p:cNvSpPr>
          <p:nvPr>
            <p:ph type="subTitle" idx="3"/>
          </p:nvPr>
        </p:nvSpPr>
        <p:spPr/>
        <p:txBody>
          <a:bodyPr/>
          <a:lstStyle/>
          <a:p>
            <a:endParaRPr lang="fr-F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9">
          <a:extLst>
            <a:ext uri="{FF2B5EF4-FFF2-40B4-BE49-F238E27FC236}">
              <a16:creationId xmlns:a16="http://schemas.microsoft.com/office/drawing/2014/main" id="{E6A1ED13-B82B-E966-8272-2095AFA0614F}"/>
            </a:ext>
          </a:extLst>
        </p:cNvPr>
        <p:cNvGrpSpPr/>
        <p:nvPr/>
      </p:nvGrpSpPr>
      <p:grpSpPr>
        <a:xfrm>
          <a:off x="0" y="0"/>
          <a:ext cx="0" cy="0"/>
          <a:chOff x="0" y="0"/>
          <a:chExt cx="0" cy="0"/>
        </a:xfrm>
      </p:grpSpPr>
      <p:sp>
        <p:nvSpPr>
          <p:cNvPr id="820" name="Google Shape;820;p26">
            <a:extLst>
              <a:ext uri="{FF2B5EF4-FFF2-40B4-BE49-F238E27FC236}">
                <a16:creationId xmlns:a16="http://schemas.microsoft.com/office/drawing/2014/main" id="{9FED8B06-880D-FFCC-E20F-C73EB8C8E559}"/>
              </a:ext>
            </a:extLst>
          </p:cNvPr>
          <p:cNvSpPr txBox="1">
            <a:spLocks noGrp="1"/>
          </p:cNvSpPr>
          <p:nvPr>
            <p:ph type="title" idx="15"/>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dirty="0"/>
              <a:t>Qu'allons-nous apprendre?</a:t>
            </a:r>
            <a:endParaRPr dirty="0"/>
          </a:p>
        </p:txBody>
      </p:sp>
      <p:sp>
        <p:nvSpPr>
          <p:cNvPr id="825" name="Google Shape;825;p26">
            <a:extLst>
              <a:ext uri="{FF2B5EF4-FFF2-40B4-BE49-F238E27FC236}">
                <a16:creationId xmlns:a16="http://schemas.microsoft.com/office/drawing/2014/main" id="{719F7A68-417D-CEE3-79D3-782A1DFA5C60}"/>
              </a:ext>
            </a:extLst>
          </p:cNvPr>
          <p:cNvSpPr txBox="1">
            <a:spLocks noGrp="1"/>
          </p:cNvSpPr>
          <p:nvPr>
            <p:ph type="title"/>
          </p:nvPr>
        </p:nvSpPr>
        <p:spPr>
          <a:xfrm>
            <a:off x="1074761" y="1987721"/>
            <a:ext cx="7335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826" name="Google Shape;826;p26">
            <a:extLst>
              <a:ext uri="{FF2B5EF4-FFF2-40B4-BE49-F238E27FC236}">
                <a16:creationId xmlns:a16="http://schemas.microsoft.com/office/drawing/2014/main" id="{839FD31F-4430-715E-0284-920E440F592C}"/>
              </a:ext>
            </a:extLst>
          </p:cNvPr>
          <p:cNvSpPr txBox="1">
            <a:spLocks noGrp="1"/>
          </p:cNvSpPr>
          <p:nvPr>
            <p:ph type="title" idx="5"/>
          </p:nvPr>
        </p:nvSpPr>
        <p:spPr>
          <a:xfrm>
            <a:off x="1074761" y="3351821"/>
            <a:ext cx="731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sp>
        <p:nvSpPr>
          <p:cNvPr id="827" name="Google Shape;827;p26">
            <a:extLst>
              <a:ext uri="{FF2B5EF4-FFF2-40B4-BE49-F238E27FC236}">
                <a16:creationId xmlns:a16="http://schemas.microsoft.com/office/drawing/2014/main" id="{157DBED6-F222-E79C-3DE1-0B86AC81E4ED}"/>
              </a:ext>
            </a:extLst>
          </p:cNvPr>
          <p:cNvSpPr txBox="1">
            <a:spLocks noGrp="1"/>
          </p:cNvSpPr>
          <p:nvPr>
            <p:ph type="title" idx="6"/>
          </p:nvPr>
        </p:nvSpPr>
        <p:spPr>
          <a:xfrm>
            <a:off x="4853776" y="1988358"/>
            <a:ext cx="731400" cy="44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828" name="Google Shape;828;p26">
            <a:extLst>
              <a:ext uri="{FF2B5EF4-FFF2-40B4-BE49-F238E27FC236}">
                <a16:creationId xmlns:a16="http://schemas.microsoft.com/office/drawing/2014/main" id="{7B1DABCF-11F2-711D-5F72-BF7939C08005}"/>
              </a:ext>
            </a:extLst>
          </p:cNvPr>
          <p:cNvSpPr txBox="1">
            <a:spLocks noGrp="1"/>
          </p:cNvSpPr>
          <p:nvPr>
            <p:ph type="title" idx="7"/>
          </p:nvPr>
        </p:nvSpPr>
        <p:spPr>
          <a:xfrm>
            <a:off x="4853776" y="3351822"/>
            <a:ext cx="731400" cy="44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sp>
        <p:nvSpPr>
          <p:cNvPr id="829" name="Google Shape;829;p26">
            <a:extLst>
              <a:ext uri="{FF2B5EF4-FFF2-40B4-BE49-F238E27FC236}">
                <a16:creationId xmlns:a16="http://schemas.microsoft.com/office/drawing/2014/main" id="{9AF3E670-4726-69D3-CEFA-C853B94F213B}"/>
              </a:ext>
            </a:extLst>
          </p:cNvPr>
          <p:cNvSpPr txBox="1">
            <a:spLocks noGrp="1"/>
          </p:cNvSpPr>
          <p:nvPr>
            <p:ph type="subTitle" idx="8"/>
          </p:nvPr>
        </p:nvSpPr>
        <p:spPr>
          <a:xfrm>
            <a:off x="1908800" y="1982535"/>
            <a:ext cx="2381400" cy="457501"/>
          </a:xfrm>
          <a:prstGeom prst="rect">
            <a:avLst/>
          </a:prstGeom>
        </p:spPr>
        <p:txBody>
          <a:bodyPr spcFirstLastPara="1" wrap="square" lIns="91425" tIns="91425" rIns="91425" bIns="91425" anchor="b" anchorCtr="0">
            <a:noAutofit/>
          </a:bodyPr>
          <a:lstStyle/>
          <a:p>
            <a:pPr marL="0" indent="0"/>
            <a:r>
              <a:rPr lang="fr-FR" dirty="0"/>
              <a:t>Capacités avancées</a:t>
            </a:r>
          </a:p>
        </p:txBody>
      </p:sp>
      <p:sp>
        <p:nvSpPr>
          <p:cNvPr id="830" name="Google Shape;830;p26">
            <a:extLst>
              <a:ext uri="{FF2B5EF4-FFF2-40B4-BE49-F238E27FC236}">
                <a16:creationId xmlns:a16="http://schemas.microsoft.com/office/drawing/2014/main" id="{342AE6A6-8CB7-A9AE-47B3-8A42FAB8C1B0}"/>
              </a:ext>
            </a:extLst>
          </p:cNvPr>
          <p:cNvSpPr txBox="1">
            <a:spLocks noGrp="1"/>
          </p:cNvSpPr>
          <p:nvPr>
            <p:ph type="subTitle" idx="9"/>
          </p:nvPr>
        </p:nvSpPr>
        <p:spPr>
          <a:xfrm>
            <a:off x="1908800" y="3346613"/>
            <a:ext cx="2381400" cy="457501"/>
          </a:xfrm>
          <a:prstGeom prst="rect">
            <a:avLst/>
          </a:prstGeom>
        </p:spPr>
        <p:txBody>
          <a:bodyPr spcFirstLastPara="1" wrap="square" lIns="91425" tIns="91425" rIns="91425" bIns="91425" anchor="b" anchorCtr="0">
            <a:noAutofit/>
          </a:bodyPr>
          <a:lstStyle/>
          <a:p>
            <a:pPr marL="0" indent="0"/>
            <a:r>
              <a:rPr lang="fr-FR" dirty="0"/>
              <a:t>Avantages et limites</a:t>
            </a:r>
          </a:p>
        </p:txBody>
      </p:sp>
      <p:sp>
        <p:nvSpPr>
          <p:cNvPr id="831" name="Google Shape;831;p26">
            <a:extLst>
              <a:ext uri="{FF2B5EF4-FFF2-40B4-BE49-F238E27FC236}">
                <a16:creationId xmlns:a16="http://schemas.microsoft.com/office/drawing/2014/main" id="{AA03E57E-FF73-0BD2-641E-59BE2642E5CE}"/>
              </a:ext>
            </a:extLst>
          </p:cNvPr>
          <p:cNvSpPr txBox="1">
            <a:spLocks noGrp="1"/>
          </p:cNvSpPr>
          <p:nvPr>
            <p:ph type="subTitle" idx="13"/>
          </p:nvPr>
        </p:nvSpPr>
        <p:spPr>
          <a:xfrm>
            <a:off x="5687849" y="1952427"/>
            <a:ext cx="2381400" cy="724280"/>
          </a:xfrm>
          <a:prstGeom prst="rect">
            <a:avLst/>
          </a:prstGeom>
        </p:spPr>
        <p:txBody>
          <a:bodyPr spcFirstLastPara="1" wrap="square" lIns="91425" tIns="91425" rIns="91425" bIns="91425" anchor="b" anchorCtr="0">
            <a:noAutofit/>
          </a:bodyPr>
          <a:lstStyle/>
          <a:p>
            <a:pPr marL="0" indent="0"/>
            <a:r>
              <a:rPr lang="fr-FR" dirty="0"/>
              <a:t>Écosystème logiciel &amp; outils</a:t>
            </a:r>
          </a:p>
        </p:txBody>
      </p:sp>
      <p:sp>
        <p:nvSpPr>
          <p:cNvPr id="832" name="Google Shape;832;p26">
            <a:extLst>
              <a:ext uri="{FF2B5EF4-FFF2-40B4-BE49-F238E27FC236}">
                <a16:creationId xmlns:a16="http://schemas.microsoft.com/office/drawing/2014/main" id="{C6B39F79-EBE8-9148-27AE-6DF61E914E05}"/>
              </a:ext>
            </a:extLst>
          </p:cNvPr>
          <p:cNvSpPr txBox="1">
            <a:spLocks noGrp="1"/>
          </p:cNvSpPr>
          <p:nvPr>
            <p:ph type="subTitle" idx="14"/>
          </p:nvPr>
        </p:nvSpPr>
        <p:spPr>
          <a:xfrm>
            <a:off x="5687849" y="3222336"/>
            <a:ext cx="2381400" cy="753900"/>
          </a:xfrm>
          <a:prstGeom prst="rect">
            <a:avLst/>
          </a:prstGeom>
        </p:spPr>
        <p:txBody>
          <a:bodyPr spcFirstLastPara="1" wrap="square" lIns="91425" tIns="91425" rIns="91425" bIns="91425" anchor="b" anchorCtr="0">
            <a:noAutofit/>
          </a:bodyPr>
          <a:lstStyle/>
          <a:p>
            <a:pPr marL="0" indent="0"/>
            <a:r>
              <a:rPr lang="fr-FR" dirty="0"/>
              <a:t>Ressources et documentation</a:t>
            </a:r>
          </a:p>
        </p:txBody>
      </p:sp>
      <p:sp>
        <p:nvSpPr>
          <p:cNvPr id="833" name="Google Shape;833;p26">
            <a:extLst>
              <a:ext uri="{FF2B5EF4-FFF2-40B4-BE49-F238E27FC236}">
                <a16:creationId xmlns:a16="http://schemas.microsoft.com/office/drawing/2014/main" id="{596AF615-4D6C-248E-2FD3-DC706E555B22}"/>
              </a:ext>
            </a:extLst>
          </p:cNvPr>
          <p:cNvSpPr/>
          <p:nvPr/>
        </p:nvSpPr>
        <p:spPr>
          <a:xfrm>
            <a:off x="113525" y="1005538"/>
            <a:ext cx="731396" cy="72428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3935539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28"/>
          <p:cNvSpPr txBox="1">
            <a:spLocks noGrp="1"/>
          </p:cNvSpPr>
          <p:nvPr>
            <p:ph type="subTitle" idx="1"/>
          </p:nvPr>
        </p:nvSpPr>
        <p:spPr>
          <a:xfrm>
            <a:off x="1320400" y="3299244"/>
            <a:ext cx="3946800" cy="670326"/>
          </a:xfrm>
          <a:prstGeom prst="rect">
            <a:avLst/>
          </a:prstGeom>
        </p:spPr>
        <p:txBody>
          <a:bodyPr spcFirstLastPara="1" wrap="square" lIns="91425" tIns="91425" rIns="91425" bIns="91425" anchor="t" anchorCtr="0">
            <a:noAutofit/>
          </a:bodyPr>
          <a:lstStyle/>
          <a:p>
            <a:pPr marL="0" lvl="0" indent="0"/>
            <a:r>
              <a:rPr lang="fr-FR" dirty="0"/>
              <a:t>Web sémantique, base de données graphe et besoins actuels</a:t>
            </a:r>
          </a:p>
        </p:txBody>
      </p:sp>
      <p:sp>
        <p:nvSpPr>
          <p:cNvPr id="855" name="Google Shape;855;p28"/>
          <p:cNvSpPr txBox="1">
            <a:spLocks noGrp="1"/>
          </p:cNvSpPr>
          <p:nvPr>
            <p:ph type="title"/>
          </p:nvPr>
        </p:nvSpPr>
        <p:spPr>
          <a:xfrm>
            <a:off x="1320400" y="2101475"/>
            <a:ext cx="3946800" cy="1106045"/>
          </a:xfrm>
          <a:prstGeom prst="rect">
            <a:avLst/>
          </a:prstGeom>
        </p:spPr>
        <p:txBody>
          <a:bodyPr spcFirstLastPara="1" wrap="square" lIns="91425" tIns="91425" rIns="91425" bIns="91425" anchor="b" anchorCtr="0">
            <a:noAutofit/>
          </a:bodyPr>
          <a:lstStyle/>
          <a:p>
            <a:pPr marL="0" lvl="0" indent="0"/>
            <a:r>
              <a:rPr lang="fr-FR" dirty="0"/>
              <a:t>Contexte général</a:t>
            </a:r>
          </a:p>
        </p:txBody>
      </p:sp>
      <p:sp>
        <p:nvSpPr>
          <p:cNvPr id="856" name="Google Shape;856;p28"/>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857" name="Google Shape;857;p28"/>
          <p:cNvGrpSpPr/>
          <p:nvPr/>
        </p:nvGrpSpPr>
        <p:grpSpPr>
          <a:xfrm>
            <a:off x="896410" y="1154974"/>
            <a:ext cx="8191495" cy="3912334"/>
            <a:chOff x="896410" y="1154974"/>
            <a:chExt cx="8191495" cy="3912334"/>
          </a:xfrm>
        </p:grpSpPr>
        <p:sp>
          <p:nvSpPr>
            <p:cNvPr id="858" name="Google Shape;858;p28"/>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p:cNvGrpSpPr/>
            <p:nvPr/>
          </p:nvGrpSpPr>
          <p:grpSpPr>
            <a:xfrm>
              <a:off x="6869363" y="2991188"/>
              <a:ext cx="2218542" cy="2076120"/>
              <a:chOff x="8037720" y="3846600"/>
              <a:chExt cx="1923480" cy="1800000"/>
            </a:xfrm>
          </p:grpSpPr>
          <p:sp>
            <p:nvSpPr>
              <p:cNvPr id="860" name="Google Shape;860;p28"/>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29"/>
          <p:cNvSpPr txBox="1">
            <a:spLocks noGrp="1"/>
          </p:cNvSpPr>
          <p:nvPr>
            <p:ph type="title"/>
          </p:nvPr>
        </p:nvSpPr>
        <p:spPr>
          <a:xfrm>
            <a:off x="896750" y="941349"/>
            <a:ext cx="7351200" cy="84390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Web sémantique: Les 3 composants du Web Traditionel</a:t>
            </a:r>
            <a:endParaRPr sz="2400" dirty="0"/>
          </a:p>
        </p:txBody>
      </p:sp>
      <p:sp>
        <p:nvSpPr>
          <p:cNvPr id="878" name="Google Shape;878;p29"/>
          <p:cNvSpPr txBox="1">
            <a:spLocks noGrp="1"/>
          </p:cNvSpPr>
          <p:nvPr>
            <p:ph type="body" idx="1"/>
          </p:nvPr>
        </p:nvSpPr>
        <p:spPr>
          <a:xfrm>
            <a:off x="4381025" y="1970075"/>
            <a:ext cx="3867000" cy="2490900"/>
          </a:xfrm>
          <a:prstGeom prst="rect">
            <a:avLst/>
          </a:prstGeom>
        </p:spPr>
        <p:txBody>
          <a:bodyPr spcFirstLastPara="1" wrap="square" lIns="91425" tIns="91425" rIns="91425" bIns="91425" anchor="t" anchorCtr="0">
            <a:noAutofit/>
          </a:bodyPr>
          <a:lstStyle/>
          <a:p>
            <a:pPr marL="241300" lvl="0" indent="-215900">
              <a:spcBef>
                <a:spcPts val="1600"/>
              </a:spcBef>
            </a:pPr>
            <a:r>
              <a:rPr lang="fr-FR" dirty="0"/>
              <a:t>Identification (URI) &amp; Adressage (URL)</a:t>
            </a:r>
          </a:p>
          <a:p>
            <a:pPr marL="241300" lvl="0" indent="-215900">
              <a:spcBef>
                <a:spcPts val="1600"/>
              </a:spcBef>
            </a:pPr>
            <a:endParaRPr lang="fr-FR" b="1" dirty="0"/>
          </a:p>
          <a:p>
            <a:pPr marL="241300" lvl="0" indent="-215900" algn="l" rtl="0">
              <a:spcBef>
                <a:spcPts val="0"/>
              </a:spcBef>
              <a:spcAft>
                <a:spcPts val="0"/>
              </a:spcAft>
              <a:buSzPts val="1400"/>
              <a:buChar char="●"/>
            </a:pPr>
            <a:r>
              <a:rPr lang="fr-FR" dirty="0">
                <a:solidFill>
                  <a:schemeClr val="dk1"/>
                </a:solidFill>
              </a:rPr>
              <a:t>Communication / Protocole (HTTP)</a:t>
            </a:r>
          </a:p>
          <a:p>
            <a:pPr marL="241300" lvl="0" indent="-215900" algn="l" rtl="0">
              <a:spcBef>
                <a:spcPts val="0"/>
              </a:spcBef>
              <a:spcAft>
                <a:spcPts val="0"/>
              </a:spcAft>
              <a:buSzPts val="1400"/>
              <a:buChar char="●"/>
            </a:pPr>
            <a:endParaRPr dirty="0">
              <a:solidFill>
                <a:schemeClr val="dk1"/>
              </a:solidFill>
            </a:endParaRPr>
          </a:p>
          <a:p>
            <a:pPr marL="241300" lvl="0" indent="-215900" algn="l" rtl="0">
              <a:spcBef>
                <a:spcPts val="0"/>
              </a:spcBef>
              <a:spcAft>
                <a:spcPts val="0"/>
              </a:spcAft>
              <a:buSzPts val="1400"/>
              <a:buChar char="●"/>
            </a:pPr>
            <a:r>
              <a:rPr lang="en" dirty="0">
                <a:solidFill>
                  <a:schemeClr val="dk1"/>
                </a:solidFill>
              </a:rPr>
              <a:t>Langage de représentation (HTML)</a:t>
            </a:r>
          </a:p>
          <a:p>
            <a:pPr marL="241300" lvl="0" indent="-215900" algn="l" rtl="0">
              <a:spcBef>
                <a:spcPts val="0"/>
              </a:spcBef>
              <a:spcAft>
                <a:spcPts val="0"/>
              </a:spcAft>
              <a:buSzPts val="1400"/>
              <a:buChar char="●"/>
            </a:pPr>
            <a:endParaRPr dirty="0">
              <a:solidFill>
                <a:schemeClr val="dk1"/>
              </a:solidFill>
            </a:endParaRPr>
          </a:p>
        </p:txBody>
      </p:sp>
      <p:pic>
        <p:nvPicPr>
          <p:cNvPr id="5" name="Picture Placeholder 4">
            <a:extLst>
              <a:ext uri="{FF2B5EF4-FFF2-40B4-BE49-F238E27FC236}">
                <a16:creationId xmlns:a16="http://schemas.microsoft.com/office/drawing/2014/main" id="{D8EF3B5B-08B4-B50E-3F57-CFCA19B6737D}"/>
              </a:ext>
            </a:extLst>
          </p:cNvPr>
          <p:cNvPicPr>
            <a:picLocks noGrp="1" noChangeAspect="1"/>
          </p:cNvPicPr>
          <p:nvPr>
            <p:ph type="pic" idx="2"/>
          </p:nvPr>
        </p:nvPicPr>
        <p:blipFill>
          <a:blip r:embed="rId3"/>
          <a:srcRect t="3557" b="3557"/>
          <a:stretch>
            <a:fillRect/>
          </a:stretch>
        </p:blipFill>
        <p:spPr/>
      </p:pic>
      <p:sp>
        <p:nvSpPr>
          <p:cNvPr id="2" name="TextBox 1">
            <a:extLst>
              <a:ext uri="{FF2B5EF4-FFF2-40B4-BE49-F238E27FC236}">
                <a16:creationId xmlns:a16="http://schemas.microsoft.com/office/drawing/2014/main" id="{44CF0DA6-76EF-DCFD-8E60-AE1F421080CF}"/>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1/98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BADB0F0A-EB76-51B7-CAB0-518CAC9B2AEB}"/>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396AD8DF-F57B-8038-30AD-F9989FBE9986}"/>
              </a:ext>
            </a:extLst>
          </p:cNvPr>
          <p:cNvSpPr txBox="1">
            <a:spLocks noGrp="1"/>
          </p:cNvSpPr>
          <p:nvPr>
            <p:ph type="title"/>
          </p:nvPr>
        </p:nvSpPr>
        <p:spPr>
          <a:xfrm>
            <a:off x="896750" y="941349"/>
            <a:ext cx="7351200" cy="843907"/>
          </a:xfrm>
          <a:prstGeom prst="rect">
            <a:avLst/>
          </a:prstGeom>
        </p:spPr>
        <p:txBody>
          <a:bodyPr spcFirstLastPara="1" wrap="square" lIns="91425" tIns="91425" rIns="91425" bIns="91425" anchor="t" anchorCtr="0">
            <a:noAutofit/>
          </a:bodyPr>
          <a:lstStyle/>
          <a:p>
            <a:pPr lvl="0"/>
            <a:r>
              <a:rPr lang="en" sz="2400" dirty="0"/>
              <a:t>Web sémantique: Problématiques du Web traditionnel </a:t>
            </a:r>
            <a:endParaRPr sz="2400" dirty="0"/>
          </a:p>
        </p:txBody>
      </p:sp>
      <p:sp>
        <p:nvSpPr>
          <p:cNvPr id="878" name="Google Shape;878;p29">
            <a:extLst>
              <a:ext uri="{FF2B5EF4-FFF2-40B4-BE49-F238E27FC236}">
                <a16:creationId xmlns:a16="http://schemas.microsoft.com/office/drawing/2014/main" id="{9119EED6-FA77-8B3A-F437-FDB65E899319}"/>
              </a:ext>
            </a:extLst>
          </p:cNvPr>
          <p:cNvSpPr txBox="1">
            <a:spLocks noGrp="1"/>
          </p:cNvSpPr>
          <p:nvPr>
            <p:ph type="body" idx="1"/>
          </p:nvPr>
        </p:nvSpPr>
        <p:spPr>
          <a:xfrm>
            <a:off x="896750" y="1970075"/>
            <a:ext cx="7351199" cy="2490900"/>
          </a:xfrm>
          <a:prstGeom prst="rect">
            <a:avLst/>
          </a:prstGeom>
        </p:spPr>
        <p:txBody>
          <a:bodyPr spcFirstLastPara="1" wrap="square" lIns="91425" tIns="91425" rIns="91425" bIns="91425" anchor="t" anchorCtr="0">
            <a:noAutofit/>
          </a:bodyPr>
          <a:lstStyle/>
          <a:p>
            <a:pPr marL="241300" lvl="0" indent="-215900">
              <a:spcBef>
                <a:spcPts val="1600"/>
              </a:spcBef>
            </a:pPr>
            <a:r>
              <a:rPr lang="fr-FR" b="1" dirty="0">
                <a:solidFill>
                  <a:srgbClr val="008F95"/>
                </a:solidFill>
              </a:rPr>
              <a:t>Manque de compréhension sémantique :</a:t>
            </a:r>
            <a:r>
              <a:rPr lang="fr-FR" dirty="0">
                <a:solidFill>
                  <a:srgbClr val="008F95"/>
                </a:solidFill>
              </a:rPr>
              <a:t> </a:t>
            </a:r>
            <a:r>
              <a:rPr lang="fr-FR" dirty="0"/>
              <a:t>Les pages web sont compréhensibles par </a:t>
            </a:r>
            <a:r>
              <a:rPr lang="fr-FR" b="1" dirty="0"/>
              <a:t>les humains </a:t>
            </a:r>
            <a:r>
              <a:rPr lang="fr-FR" dirty="0"/>
              <a:t>mais pas forcement par </a:t>
            </a:r>
            <a:r>
              <a:rPr lang="fr-FR" b="1" dirty="0"/>
              <a:t>les machines</a:t>
            </a:r>
          </a:p>
          <a:p>
            <a:pPr marL="698500" lvl="1" indent="-215900">
              <a:spcBef>
                <a:spcPts val="1600"/>
              </a:spcBef>
            </a:pPr>
            <a:r>
              <a:rPr lang="fr-FR" dirty="0">
                <a:solidFill>
                  <a:schemeClr val="dk1"/>
                </a:solidFill>
              </a:rPr>
              <a:t>Exemple: </a:t>
            </a:r>
            <a:r>
              <a:rPr lang="fr-FR" i="1" dirty="0">
                <a:solidFill>
                  <a:schemeClr val="accent4">
                    <a:lumMod val="50000"/>
                  </a:schemeClr>
                </a:solidFill>
              </a:rPr>
              <a:t>&lt;p&gt;Apple a lancé un nouvel iPhone en septembre 2023.&lt;/p&gt;</a:t>
            </a:r>
          </a:p>
          <a:p>
            <a:pPr marL="596900" lvl="1" indent="0">
              <a:buNone/>
            </a:pPr>
            <a:r>
              <a:rPr lang="fr-FR" dirty="0"/>
              <a:t>➡ Pour une machine, ce n’est qu’un </a:t>
            </a:r>
            <a:r>
              <a:rPr lang="fr-FR" b="1" dirty="0"/>
              <a:t>texte brut</a:t>
            </a:r>
            <a:r>
              <a:rPr lang="fr-FR" dirty="0"/>
              <a:t>.</a:t>
            </a:r>
          </a:p>
          <a:p>
            <a:pPr marL="596900" lvl="1" indent="0">
              <a:buNone/>
            </a:pPr>
            <a:r>
              <a:rPr lang="fr-FR" dirty="0"/>
              <a:t>Elle ne comprend pas que :</a:t>
            </a:r>
          </a:p>
          <a:p>
            <a:pPr lvl="2"/>
            <a:r>
              <a:rPr lang="fr-FR" dirty="0"/>
              <a:t>"Apple" est une </a:t>
            </a:r>
            <a:r>
              <a:rPr lang="fr-FR" b="1" dirty="0"/>
              <a:t>entreprise</a:t>
            </a:r>
            <a:r>
              <a:rPr lang="fr-FR" dirty="0"/>
              <a:t> (et non un fruit 🍎),</a:t>
            </a:r>
          </a:p>
          <a:p>
            <a:pPr lvl="2"/>
            <a:r>
              <a:rPr lang="fr-FR" dirty="0"/>
              <a:t>"iPhone" est un </a:t>
            </a:r>
            <a:r>
              <a:rPr lang="fr-FR" b="1" dirty="0"/>
              <a:t>produit</a:t>
            </a:r>
            <a:r>
              <a:rPr lang="fr-FR" dirty="0"/>
              <a:t>,</a:t>
            </a:r>
          </a:p>
          <a:p>
            <a:pPr lvl="2"/>
            <a:r>
              <a:rPr lang="fr-FR" dirty="0"/>
              <a:t>"septembre 2023" est une </a:t>
            </a:r>
            <a:r>
              <a:rPr lang="fr-FR" b="1" dirty="0"/>
              <a:t>date de lancement</a:t>
            </a:r>
            <a:r>
              <a:rPr lang="fr-FR" dirty="0"/>
              <a:t>.</a:t>
            </a:r>
          </a:p>
        </p:txBody>
      </p:sp>
      <p:sp>
        <p:nvSpPr>
          <p:cNvPr id="2" name="TextBox 1">
            <a:extLst>
              <a:ext uri="{FF2B5EF4-FFF2-40B4-BE49-F238E27FC236}">
                <a16:creationId xmlns:a16="http://schemas.microsoft.com/office/drawing/2014/main" id="{C750294E-5662-C962-BF85-FA74BE0AD2FF}"/>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2/98</a:t>
            </a:r>
          </a:p>
        </p:txBody>
      </p:sp>
    </p:spTree>
    <p:extLst>
      <p:ext uri="{BB962C8B-B14F-4D97-AF65-F5344CB8AC3E}">
        <p14:creationId xmlns:p14="http://schemas.microsoft.com/office/powerpoint/2010/main" val="2218368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426287DB-0322-C1D9-D629-F6CF64A2E7DB}"/>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23ADFF76-C80A-6A36-3CA4-8D072BFD4D40}"/>
              </a:ext>
            </a:extLst>
          </p:cNvPr>
          <p:cNvSpPr txBox="1">
            <a:spLocks noGrp="1"/>
          </p:cNvSpPr>
          <p:nvPr>
            <p:ph type="title"/>
          </p:nvPr>
        </p:nvSpPr>
        <p:spPr>
          <a:xfrm>
            <a:off x="896750" y="941349"/>
            <a:ext cx="7351200" cy="843907"/>
          </a:xfrm>
          <a:prstGeom prst="rect">
            <a:avLst/>
          </a:prstGeom>
        </p:spPr>
        <p:txBody>
          <a:bodyPr spcFirstLastPara="1" wrap="square" lIns="91425" tIns="91425" rIns="91425" bIns="91425" anchor="t" anchorCtr="0">
            <a:noAutofit/>
          </a:bodyPr>
          <a:lstStyle/>
          <a:p>
            <a:pPr lvl="0"/>
            <a:r>
              <a:rPr lang="en" sz="2400" dirty="0"/>
              <a:t>Web sémantique: Problématiques du Web traditionnel </a:t>
            </a:r>
            <a:endParaRPr sz="2400" dirty="0"/>
          </a:p>
        </p:txBody>
      </p:sp>
      <p:sp>
        <p:nvSpPr>
          <p:cNvPr id="878" name="Google Shape;878;p29">
            <a:extLst>
              <a:ext uri="{FF2B5EF4-FFF2-40B4-BE49-F238E27FC236}">
                <a16:creationId xmlns:a16="http://schemas.microsoft.com/office/drawing/2014/main" id="{426FCD73-3F77-7BDE-FA66-7A512A7D8590}"/>
              </a:ext>
            </a:extLst>
          </p:cNvPr>
          <p:cNvSpPr txBox="1">
            <a:spLocks noGrp="1"/>
          </p:cNvSpPr>
          <p:nvPr>
            <p:ph type="body" idx="1"/>
          </p:nvPr>
        </p:nvSpPr>
        <p:spPr>
          <a:xfrm>
            <a:off x="896750" y="1970075"/>
            <a:ext cx="7351199" cy="2490900"/>
          </a:xfrm>
          <a:prstGeom prst="rect">
            <a:avLst/>
          </a:prstGeom>
        </p:spPr>
        <p:txBody>
          <a:bodyPr spcFirstLastPara="1" wrap="square" lIns="91425" tIns="91425" rIns="91425" bIns="91425" anchor="t" anchorCtr="0">
            <a:noAutofit/>
          </a:bodyPr>
          <a:lstStyle/>
          <a:p>
            <a:pPr marL="241300" lvl="0" indent="-215900">
              <a:spcBef>
                <a:spcPts val="1600"/>
              </a:spcBef>
            </a:pPr>
            <a:r>
              <a:rPr lang="fr-FR" b="1" dirty="0">
                <a:solidFill>
                  <a:srgbClr val="008F95"/>
                </a:solidFill>
              </a:rPr>
              <a:t>Recherche approximative :</a:t>
            </a:r>
            <a:r>
              <a:rPr lang="fr-FR" dirty="0">
                <a:solidFill>
                  <a:srgbClr val="008F95"/>
                </a:solidFill>
              </a:rPr>
              <a:t> </a:t>
            </a:r>
            <a:r>
              <a:rPr lang="fr-FR" dirty="0"/>
              <a:t>Les moteurs de recherche utilisent des </a:t>
            </a:r>
            <a:r>
              <a:rPr lang="fr-FR" b="1" dirty="0"/>
              <a:t>mots-clés</a:t>
            </a:r>
            <a:r>
              <a:rPr lang="fr-FR" dirty="0"/>
              <a:t>, pas des </a:t>
            </a:r>
            <a:r>
              <a:rPr lang="fr-FR" b="1" dirty="0"/>
              <a:t>concepts</a:t>
            </a:r>
            <a:r>
              <a:rPr lang="fr-FR" dirty="0"/>
              <a:t>.</a:t>
            </a:r>
            <a:endParaRPr lang="fr-FR" b="1" dirty="0"/>
          </a:p>
          <a:p>
            <a:pPr marL="698500" lvl="1" indent="-215900">
              <a:spcBef>
                <a:spcPts val="1600"/>
              </a:spcBef>
            </a:pPr>
            <a:r>
              <a:rPr lang="fr-FR" dirty="0">
                <a:solidFill>
                  <a:schemeClr val="dk1"/>
                </a:solidFill>
              </a:rPr>
              <a:t>Exemple: </a:t>
            </a:r>
            <a:r>
              <a:rPr lang="fr-FR" dirty="0"/>
              <a:t>Ils ne comprennent pas le sens ou les relations entre les termes (ex : "capitale de la France" vs "Paris").</a:t>
            </a:r>
          </a:p>
        </p:txBody>
      </p:sp>
      <p:sp>
        <p:nvSpPr>
          <p:cNvPr id="2" name="TextBox 1">
            <a:extLst>
              <a:ext uri="{FF2B5EF4-FFF2-40B4-BE49-F238E27FC236}">
                <a16:creationId xmlns:a16="http://schemas.microsoft.com/office/drawing/2014/main" id="{25870072-6FC4-620E-CCE0-37FA461A6031}"/>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3/98</a:t>
            </a:r>
          </a:p>
        </p:txBody>
      </p:sp>
    </p:spTree>
    <p:extLst>
      <p:ext uri="{BB962C8B-B14F-4D97-AF65-F5344CB8AC3E}">
        <p14:creationId xmlns:p14="http://schemas.microsoft.com/office/powerpoint/2010/main" val="2431375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59055A82-E30B-67D5-5C57-571157430D92}"/>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9BE60F86-B257-5AC0-1A00-C3E55DF28C54}"/>
              </a:ext>
            </a:extLst>
          </p:cNvPr>
          <p:cNvSpPr txBox="1">
            <a:spLocks noGrp="1"/>
          </p:cNvSpPr>
          <p:nvPr>
            <p:ph type="title"/>
          </p:nvPr>
        </p:nvSpPr>
        <p:spPr>
          <a:xfrm>
            <a:off x="896750" y="941349"/>
            <a:ext cx="7351200" cy="843907"/>
          </a:xfrm>
          <a:prstGeom prst="rect">
            <a:avLst/>
          </a:prstGeom>
        </p:spPr>
        <p:txBody>
          <a:bodyPr spcFirstLastPara="1" wrap="square" lIns="91425" tIns="91425" rIns="91425" bIns="91425" anchor="t" anchorCtr="0">
            <a:noAutofit/>
          </a:bodyPr>
          <a:lstStyle/>
          <a:p>
            <a:pPr lvl="0"/>
            <a:r>
              <a:rPr lang="en" sz="2400" dirty="0"/>
              <a:t>Web sémantique: Problématiques du Web traditionnel </a:t>
            </a:r>
            <a:endParaRPr sz="2400" dirty="0"/>
          </a:p>
        </p:txBody>
      </p:sp>
      <p:sp>
        <p:nvSpPr>
          <p:cNvPr id="878" name="Google Shape;878;p29">
            <a:extLst>
              <a:ext uri="{FF2B5EF4-FFF2-40B4-BE49-F238E27FC236}">
                <a16:creationId xmlns:a16="http://schemas.microsoft.com/office/drawing/2014/main" id="{C415E2FD-0D35-D580-E441-83BE293FE26C}"/>
              </a:ext>
            </a:extLst>
          </p:cNvPr>
          <p:cNvSpPr txBox="1">
            <a:spLocks noGrp="1"/>
          </p:cNvSpPr>
          <p:nvPr>
            <p:ph type="body" idx="1"/>
          </p:nvPr>
        </p:nvSpPr>
        <p:spPr>
          <a:xfrm>
            <a:off x="896750" y="1970075"/>
            <a:ext cx="7351199" cy="2490900"/>
          </a:xfrm>
          <a:prstGeom prst="rect">
            <a:avLst/>
          </a:prstGeom>
        </p:spPr>
        <p:txBody>
          <a:bodyPr spcFirstLastPara="1" wrap="square" lIns="91425" tIns="91425" rIns="91425" bIns="91425" anchor="t" anchorCtr="0">
            <a:noAutofit/>
          </a:bodyPr>
          <a:lstStyle/>
          <a:p>
            <a:pPr marL="241300" lvl="0" indent="-215900">
              <a:spcBef>
                <a:spcPts val="1600"/>
              </a:spcBef>
            </a:pPr>
            <a:r>
              <a:rPr lang="fr-FR" b="1" dirty="0">
                <a:solidFill>
                  <a:srgbClr val="008F95"/>
                </a:solidFill>
              </a:rPr>
              <a:t>Absence de relations explicites entre données :</a:t>
            </a:r>
            <a:endParaRPr lang="fr-FR" b="1" dirty="0"/>
          </a:p>
          <a:p>
            <a:pPr marL="698500" lvl="1" indent="-215900">
              <a:spcBef>
                <a:spcPts val="1600"/>
              </a:spcBef>
            </a:pPr>
            <a:r>
              <a:rPr lang="fr-FR" dirty="0"/>
              <a:t>Les pages web sont </a:t>
            </a:r>
            <a:r>
              <a:rPr lang="fr-FR" b="1" dirty="0"/>
              <a:t>isolées</a:t>
            </a:r>
            <a:r>
              <a:rPr lang="fr-FR" dirty="0"/>
              <a:t> les unes des autres.</a:t>
            </a:r>
          </a:p>
          <a:p>
            <a:pPr marL="698500" lvl="1" indent="-215900">
              <a:spcBef>
                <a:spcPts val="1600"/>
              </a:spcBef>
            </a:pPr>
            <a:r>
              <a:rPr lang="fr-FR" dirty="0"/>
              <a:t>Il n’y </a:t>
            </a:r>
            <a:r>
              <a:rPr lang="fr-FR" b="1" dirty="0"/>
              <a:t>a pas de lien logique ou sémantique entre les données</a:t>
            </a:r>
            <a:r>
              <a:rPr lang="fr-FR" dirty="0"/>
              <a:t> (ex : deux sites parlant de la même entreprise ne sont pas connectés).</a:t>
            </a:r>
          </a:p>
        </p:txBody>
      </p:sp>
      <p:sp>
        <p:nvSpPr>
          <p:cNvPr id="2" name="TextBox 1">
            <a:extLst>
              <a:ext uri="{FF2B5EF4-FFF2-40B4-BE49-F238E27FC236}">
                <a16:creationId xmlns:a16="http://schemas.microsoft.com/office/drawing/2014/main" id="{2777C889-EFA6-F44F-23AB-6222E169EF17}"/>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4/98</a:t>
            </a:r>
          </a:p>
        </p:txBody>
      </p:sp>
    </p:spTree>
    <p:extLst>
      <p:ext uri="{BB962C8B-B14F-4D97-AF65-F5344CB8AC3E}">
        <p14:creationId xmlns:p14="http://schemas.microsoft.com/office/powerpoint/2010/main" val="356366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E53B62CA-477E-F3B3-FE37-40DFE6373319}"/>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79B6D782-62AD-3D56-22E2-7616AE6097C7}"/>
              </a:ext>
            </a:extLst>
          </p:cNvPr>
          <p:cNvSpPr txBox="1">
            <a:spLocks noGrp="1"/>
          </p:cNvSpPr>
          <p:nvPr>
            <p:ph type="title"/>
          </p:nvPr>
        </p:nvSpPr>
        <p:spPr>
          <a:xfrm>
            <a:off x="896750" y="941349"/>
            <a:ext cx="7351200" cy="843907"/>
          </a:xfrm>
          <a:prstGeom prst="rect">
            <a:avLst/>
          </a:prstGeom>
        </p:spPr>
        <p:txBody>
          <a:bodyPr spcFirstLastPara="1" wrap="square" lIns="91425" tIns="91425" rIns="91425" bIns="91425" anchor="t" anchorCtr="0">
            <a:noAutofit/>
          </a:bodyPr>
          <a:lstStyle/>
          <a:p>
            <a:pPr lvl="0"/>
            <a:r>
              <a:rPr lang="en" sz="2400" dirty="0"/>
              <a:t>Web sémantique: Problématiques du Web traditionnel </a:t>
            </a:r>
            <a:endParaRPr sz="2400" dirty="0"/>
          </a:p>
        </p:txBody>
      </p:sp>
      <p:sp>
        <p:nvSpPr>
          <p:cNvPr id="878" name="Google Shape;878;p29">
            <a:extLst>
              <a:ext uri="{FF2B5EF4-FFF2-40B4-BE49-F238E27FC236}">
                <a16:creationId xmlns:a16="http://schemas.microsoft.com/office/drawing/2014/main" id="{A90E528D-F1FD-4D40-95B3-2643A51B3FC7}"/>
              </a:ext>
            </a:extLst>
          </p:cNvPr>
          <p:cNvSpPr txBox="1">
            <a:spLocks noGrp="1"/>
          </p:cNvSpPr>
          <p:nvPr>
            <p:ph type="body" idx="1"/>
          </p:nvPr>
        </p:nvSpPr>
        <p:spPr>
          <a:xfrm>
            <a:off x="896750" y="1970075"/>
            <a:ext cx="7351199" cy="2490900"/>
          </a:xfrm>
          <a:prstGeom prst="rect">
            <a:avLst/>
          </a:prstGeom>
        </p:spPr>
        <p:txBody>
          <a:bodyPr spcFirstLastPara="1" wrap="square" lIns="91425" tIns="91425" rIns="91425" bIns="91425" anchor="t" anchorCtr="0">
            <a:noAutofit/>
          </a:bodyPr>
          <a:lstStyle/>
          <a:p>
            <a:pPr marL="241300" lvl="0" indent="-215900">
              <a:spcBef>
                <a:spcPts val="1600"/>
              </a:spcBef>
            </a:pPr>
            <a:r>
              <a:rPr lang="fr-FR" b="1" dirty="0">
                <a:solidFill>
                  <a:srgbClr val="008F95"/>
                </a:solidFill>
              </a:rPr>
              <a:t>Données peu interopérables :</a:t>
            </a:r>
            <a:endParaRPr lang="fr-FR" b="1" dirty="0"/>
          </a:p>
          <a:p>
            <a:pPr marL="698500" lvl="1" indent="-215900">
              <a:spcBef>
                <a:spcPts val="1600"/>
              </a:spcBef>
            </a:pPr>
            <a:r>
              <a:rPr lang="fr-FR" dirty="0"/>
              <a:t>Chaque site utilise ses </a:t>
            </a:r>
            <a:r>
              <a:rPr lang="fr-FR" b="1" dirty="0"/>
              <a:t>propres formats</a:t>
            </a:r>
            <a:r>
              <a:rPr lang="fr-FR" dirty="0"/>
              <a:t>.</a:t>
            </a:r>
          </a:p>
          <a:p>
            <a:pPr marL="698500" lvl="1" indent="-215900">
              <a:spcBef>
                <a:spcPts val="1600"/>
              </a:spcBef>
            </a:pPr>
            <a:r>
              <a:rPr lang="fr-FR" dirty="0"/>
              <a:t>Difficile de faire </a:t>
            </a:r>
            <a:r>
              <a:rPr lang="fr-FR" b="1" dirty="0"/>
              <a:t>communiquer des systèmes différents</a:t>
            </a:r>
            <a:r>
              <a:rPr lang="fr-FR" dirty="0"/>
              <a:t> ou </a:t>
            </a:r>
            <a:r>
              <a:rPr lang="fr-FR" b="1" dirty="0"/>
              <a:t>d’agréger de la donnée</a:t>
            </a:r>
            <a:r>
              <a:rPr lang="fr-FR" dirty="0"/>
              <a:t> provenant de multiples sources.</a:t>
            </a:r>
          </a:p>
        </p:txBody>
      </p:sp>
      <p:sp>
        <p:nvSpPr>
          <p:cNvPr id="2" name="TextBox 1">
            <a:extLst>
              <a:ext uri="{FF2B5EF4-FFF2-40B4-BE49-F238E27FC236}">
                <a16:creationId xmlns:a16="http://schemas.microsoft.com/office/drawing/2014/main" id="{5F0BD36F-257B-F3DF-922A-BBDD804FF5A6}"/>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5/98</a:t>
            </a:r>
          </a:p>
        </p:txBody>
      </p:sp>
    </p:spTree>
    <p:extLst>
      <p:ext uri="{BB962C8B-B14F-4D97-AF65-F5344CB8AC3E}">
        <p14:creationId xmlns:p14="http://schemas.microsoft.com/office/powerpoint/2010/main" val="671823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AA4EB399-F993-CEFB-5BB1-B0E7C6097998}"/>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EB6D7191-8116-371C-9E0D-9FA5D86349A3}"/>
              </a:ext>
            </a:extLst>
          </p:cNvPr>
          <p:cNvSpPr txBox="1">
            <a:spLocks noGrp="1"/>
          </p:cNvSpPr>
          <p:nvPr>
            <p:ph type="title"/>
          </p:nvPr>
        </p:nvSpPr>
        <p:spPr>
          <a:xfrm>
            <a:off x="896750" y="941349"/>
            <a:ext cx="7351200" cy="843907"/>
          </a:xfrm>
          <a:prstGeom prst="rect">
            <a:avLst/>
          </a:prstGeom>
        </p:spPr>
        <p:txBody>
          <a:bodyPr spcFirstLastPara="1" wrap="square" lIns="91425" tIns="91425" rIns="91425" bIns="91425" anchor="t" anchorCtr="0">
            <a:noAutofit/>
          </a:bodyPr>
          <a:lstStyle/>
          <a:p>
            <a:pPr lvl="0"/>
            <a:r>
              <a:rPr lang="en" sz="2400" dirty="0"/>
              <a:t>Web sémantique: Problématiques du Web traditionnel </a:t>
            </a:r>
            <a:endParaRPr sz="2400" dirty="0"/>
          </a:p>
        </p:txBody>
      </p:sp>
      <p:sp>
        <p:nvSpPr>
          <p:cNvPr id="878" name="Google Shape;878;p29">
            <a:extLst>
              <a:ext uri="{FF2B5EF4-FFF2-40B4-BE49-F238E27FC236}">
                <a16:creationId xmlns:a16="http://schemas.microsoft.com/office/drawing/2014/main" id="{429DF3D3-779F-0AFB-F811-2DE6CCD0C1F0}"/>
              </a:ext>
            </a:extLst>
          </p:cNvPr>
          <p:cNvSpPr txBox="1">
            <a:spLocks noGrp="1"/>
          </p:cNvSpPr>
          <p:nvPr>
            <p:ph type="body" idx="1"/>
          </p:nvPr>
        </p:nvSpPr>
        <p:spPr>
          <a:xfrm>
            <a:off x="896750" y="1970075"/>
            <a:ext cx="7351199" cy="2490900"/>
          </a:xfrm>
          <a:prstGeom prst="rect">
            <a:avLst/>
          </a:prstGeom>
        </p:spPr>
        <p:txBody>
          <a:bodyPr spcFirstLastPara="1" wrap="square" lIns="91425" tIns="91425" rIns="91425" bIns="91425" anchor="t" anchorCtr="0">
            <a:noAutofit/>
          </a:bodyPr>
          <a:lstStyle/>
          <a:p>
            <a:pPr marL="241300" lvl="0" indent="-215900">
              <a:spcBef>
                <a:spcPts val="1600"/>
              </a:spcBef>
            </a:pPr>
            <a:r>
              <a:rPr lang="fr-FR" b="1" dirty="0">
                <a:solidFill>
                  <a:srgbClr val="008F95"/>
                </a:solidFill>
              </a:rPr>
              <a:t>Difficulté d’automatisation :</a:t>
            </a:r>
            <a:endParaRPr lang="fr-FR" b="1" dirty="0"/>
          </a:p>
          <a:p>
            <a:pPr marL="698500" lvl="1" indent="-215900">
              <a:spcBef>
                <a:spcPts val="1600"/>
              </a:spcBef>
            </a:pPr>
            <a:r>
              <a:rPr lang="fr-FR" dirty="0"/>
              <a:t>Les agents logiciels ne peuvent pas </a:t>
            </a:r>
            <a:r>
              <a:rPr lang="fr-FR" b="1" dirty="0"/>
              <a:t>naviguer, croiser, raisonner</a:t>
            </a:r>
            <a:r>
              <a:rPr lang="fr-FR" dirty="0"/>
              <a:t> sur les données comme un humain.</a:t>
            </a:r>
          </a:p>
          <a:p>
            <a:pPr marL="698500" lvl="1" indent="-215900">
              <a:spcBef>
                <a:spcPts val="1600"/>
              </a:spcBef>
            </a:pPr>
            <a:r>
              <a:rPr lang="fr-FR" dirty="0"/>
              <a:t>Ex : impossible pour une machine de comprendre que "PDG" est une propriété d'une personne.</a:t>
            </a:r>
          </a:p>
        </p:txBody>
      </p:sp>
      <p:sp>
        <p:nvSpPr>
          <p:cNvPr id="2" name="TextBox 1">
            <a:extLst>
              <a:ext uri="{FF2B5EF4-FFF2-40B4-BE49-F238E27FC236}">
                <a16:creationId xmlns:a16="http://schemas.microsoft.com/office/drawing/2014/main" id="{1C47E943-932C-EC08-1EBB-FF0B8860B0E6}"/>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6/98</a:t>
            </a:r>
          </a:p>
        </p:txBody>
      </p:sp>
    </p:spTree>
    <p:extLst>
      <p:ext uri="{BB962C8B-B14F-4D97-AF65-F5344CB8AC3E}">
        <p14:creationId xmlns:p14="http://schemas.microsoft.com/office/powerpoint/2010/main" val="322235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8854A84-FB60-D305-CAD7-15A01B236E68}"/>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90FA8F9-0EAD-0ECC-91FD-AC1F1EF3F1E9}"/>
              </a:ext>
            </a:extLst>
          </p:cNvPr>
          <p:cNvSpPr txBox="1">
            <a:spLocks noGrp="1"/>
          </p:cNvSpPr>
          <p:nvPr>
            <p:ph type="subTitle" idx="1"/>
          </p:nvPr>
        </p:nvSpPr>
        <p:spPr>
          <a:xfrm>
            <a:off x="896400" y="1812275"/>
            <a:ext cx="7351200" cy="2635800"/>
          </a:xfrm>
          <a:prstGeom prst="rect">
            <a:avLst/>
          </a:prstGeom>
        </p:spPr>
        <p:txBody>
          <a:bodyPr spcFirstLastPara="1" wrap="square" lIns="91425" tIns="91425" rIns="91425" bIns="91425" anchor="t" anchorCtr="0">
            <a:noAutofit/>
          </a:bodyPr>
          <a:lstStyle/>
          <a:p>
            <a:r>
              <a:rPr lang="fr-FR" sz="1800" dirty="0"/>
              <a:t>Le </a:t>
            </a:r>
            <a:r>
              <a:rPr lang="fr-FR" sz="1800" b="1" dirty="0"/>
              <a:t>Web sémantique</a:t>
            </a:r>
            <a:r>
              <a:rPr lang="fr-FR" sz="1800" dirty="0"/>
              <a:t> est un </a:t>
            </a:r>
            <a:r>
              <a:rPr lang="fr-FR" sz="1800" b="1" dirty="0"/>
              <a:t>ensemble de technologies</a:t>
            </a:r>
            <a:r>
              <a:rPr lang="fr-FR" sz="1800" dirty="0"/>
              <a:t> conçues pour </a:t>
            </a:r>
            <a:r>
              <a:rPr lang="fr-FR" sz="1800" b="1" dirty="0"/>
              <a:t>représenter, partager et interagir avec des données</a:t>
            </a:r>
            <a:r>
              <a:rPr lang="fr-FR" sz="1800" dirty="0"/>
              <a:t> sur le Web, de manière à ce qu’elles soient </a:t>
            </a:r>
            <a:r>
              <a:rPr lang="fr-FR" sz="1800" b="1" dirty="0"/>
              <a:t>compréhensibles</a:t>
            </a:r>
            <a:r>
              <a:rPr lang="fr-FR" sz="1800" dirty="0"/>
              <a:t> non seulement par des humains, mais aussi par des </a:t>
            </a:r>
            <a:r>
              <a:rPr lang="fr-FR" sz="1800" b="1" dirty="0"/>
              <a:t>programmes et agents logiciels</a:t>
            </a:r>
            <a:r>
              <a:rPr lang="fr-FR" sz="1800" dirty="0"/>
              <a:t>.</a:t>
            </a:r>
          </a:p>
          <a:p>
            <a:endParaRPr lang="fr-FR" sz="1800" dirty="0"/>
          </a:p>
          <a:p>
            <a:r>
              <a:rPr lang="fr-FR" sz="1800" dirty="0"/>
              <a:t>Son objectif est de rendre le Web </a:t>
            </a:r>
            <a:r>
              <a:rPr lang="fr-FR" sz="1800" b="1" dirty="0"/>
              <a:t>plus intelligent</a:t>
            </a:r>
            <a:r>
              <a:rPr lang="fr-FR" sz="1800" dirty="0"/>
              <a:t>, en facilitant </a:t>
            </a:r>
            <a:r>
              <a:rPr lang="fr-FR" sz="1800" b="1" dirty="0"/>
              <a:t>l’interconnexion, la recherche, l’interprétation et le raisonnement automatique</a:t>
            </a:r>
            <a:r>
              <a:rPr lang="fr-FR" sz="1800" dirty="0"/>
              <a:t> sur les données.</a:t>
            </a:r>
          </a:p>
        </p:txBody>
      </p:sp>
      <p:sp>
        <p:nvSpPr>
          <p:cNvPr id="839" name="Google Shape;839;p27">
            <a:extLst>
              <a:ext uri="{FF2B5EF4-FFF2-40B4-BE49-F238E27FC236}">
                <a16:creationId xmlns:a16="http://schemas.microsoft.com/office/drawing/2014/main" id="{4633811B-02B0-2084-9E53-A54053A3D1E5}"/>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en" sz="2400" dirty="0"/>
              <a:t>Web sémantique: Définition et Objectif</a:t>
            </a:r>
            <a:endParaRPr sz="2400" dirty="0"/>
          </a:p>
        </p:txBody>
      </p:sp>
      <p:grpSp>
        <p:nvGrpSpPr>
          <p:cNvPr id="841" name="Google Shape;841;p27">
            <a:extLst>
              <a:ext uri="{FF2B5EF4-FFF2-40B4-BE49-F238E27FC236}">
                <a16:creationId xmlns:a16="http://schemas.microsoft.com/office/drawing/2014/main" id="{02145D24-AEFB-F308-D250-4B36C14B3DB1}"/>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C8BCC963-2890-76D3-BAD8-6E161976FA31}"/>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49BC216-1ACF-46E2-5AC1-6031CB12C17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E4F64F70-B0D2-AAC4-5F96-E03523089D5B}"/>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91FC223F-8052-809A-E73E-751CB3137A6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D5C9A83F-ED48-21AB-576F-B51D292A9BEA}"/>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D30484A-E933-A01C-4443-0AAF9953C939}"/>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9093F79-5082-6298-7A4E-3F3301AED6AC}"/>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463A5576-470E-F7AA-5CBA-9106DA74CC2D}"/>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89798D8F-45EA-3AD2-D3BB-F3B760121B26}"/>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7/98</a:t>
            </a:r>
          </a:p>
        </p:txBody>
      </p:sp>
    </p:spTree>
    <p:extLst>
      <p:ext uri="{BB962C8B-B14F-4D97-AF65-F5344CB8AC3E}">
        <p14:creationId xmlns:p14="http://schemas.microsoft.com/office/powerpoint/2010/main" val="3945073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6">
          <a:extLst>
            <a:ext uri="{FF2B5EF4-FFF2-40B4-BE49-F238E27FC236}">
              <a16:creationId xmlns:a16="http://schemas.microsoft.com/office/drawing/2014/main" id="{6C9C4068-C96F-6A6C-94A3-96BF6C2E86BD}"/>
            </a:ext>
          </a:extLst>
        </p:cNvPr>
        <p:cNvGrpSpPr/>
        <p:nvPr/>
      </p:nvGrpSpPr>
      <p:grpSpPr>
        <a:xfrm>
          <a:off x="0" y="0"/>
          <a:ext cx="0" cy="0"/>
          <a:chOff x="0" y="0"/>
          <a:chExt cx="0" cy="0"/>
        </a:xfrm>
      </p:grpSpPr>
      <p:sp>
        <p:nvSpPr>
          <p:cNvPr id="877" name="Google Shape;877;p29">
            <a:extLst>
              <a:ext uri="{FF2B5EF4-FFF2-40B4-BE49-F238E27FC236}">
                <a16:creationId xmlns:a16="http://schemas.microsoft.com/office/drawing/2014/main" id="{28147DDE-D055-36C6-9A65-76E0192A0433}"/>
              </a:ext>
            </a:extLst>
          </p:cNvPr>
          <p:cNvSpPr txBox="1">
            <a:spLocks noGrp="1"/>
          </p:cNvSpPr>
          <p:nvPr>
            <p:ph type="title"/>
          </p:nvPr>
        </p:nvSpPr>
        <p:spPr>
          <a:xfrm>
            <a:off x="896750" y="941349"/>
            <a:ext cx="7351200" cy="84390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Web sémantique: Les 3 composants du Web Traditionel</a:t>
            </a:r>
            <a:endParaRPr sz="2400" dirty="0"/>
          </a:p>
        </p:txBody>
      </p:sp>
      <p:sp>
        <p:nvSpPr>
          <p:cNvPr id="878" name="Google Shape;878;p29">
            <a:extLst>
              <a:ext uri="{FF2B5EF4-FFF2-40B4-BE49-F238E27FC236}">
                <a16:creationId xmlns:a16="http://schemas.microsoft.com/office/drawing/2014/main" id="{BF459DE0-4C8A-949B-18BA-02B2475FDCE3}"/>
              </a:ext>
            </a:extLst>
          </p:cNvPr>
          <p:cNvSpPr txBox="1">
            <a:spLocks noGrp="1"/>
          </p:cNvSpPr>
          <p:nvPr>
            <p:ph type="body" idx="1"/>
          </p:nvPr>
        </p:nvSpPr>
        <p:spPr>
          <a:xfrm>
            <a:off x="4381025" y="1453703"/>
            <a:ext cx="3867000" cy="2490900"/>
          </a:xfrm>
          <a:prstGeom prst="rect">
            <a:avLst/>
          </a:prstGeom>
        </p:spPr>
        <p:txBody>
          <a:bodyPr spcFirstLastPara="1" wrap="square" lIns="91425" tIns="91425" rIns="91425" bIns="91425" anchor="t" anchorCtr="0">
            <a:noAutofit/>
          </a:bodyPr>
          <a:lstStyle/>
          <a:p>
            <a:pPr marL="241300" lvl="0" indent="-215900">
              <a:spcBef>
                <a:spcPts val="1600"/>
              </a:spcBef>
            </a:pPr>
            <a:r>
              <a:rPr lang="fr-FR" dirty="0"/>
              <a:t>Identification (URI) &amp; Adressage (URL)</a:t>
            </a:r>
          </a:p>
          <a:p>
            <a:pPr marL="241300" lvl="0" indent="-215900">
              <a:spcBef>
                <a:spcPts val="1600"/>
              </a:spcBef>
            </a:pPr>
            <a:endParaRPr lang="fr-FR" b="1" dirty="0"/>
          </a:p>
          <a:p>
            <a:pPr marL="241300" lvl="0" indent="-215900" algn="l" rtl="0">
              <a:spcBef>
                <a:spcPts val="0"/>
              </a:spcBef>
              <a:spcAft>
                <a:spcPts val="0"/>
              </a:spcAft>
              <a:buSzPts val="1400"/>
              <a:buChar char="●"/>
            </a:pPr>
            <a:r>
              <a:rPr lang="fr-FR" dirty="0">
                <a:solidFill>
                  <a:schemeClr val="dk1"/>
                </a:solidFill>
              </a:rPr>
              <a:t>Communication / Protocole (HTTP)</a:t>
            </a:r>
          </a:p>
          <a:p>
            <a:pPr marL="241300" lvl="0" indent="-215900" algn="l" rtl="0">
              <a:spcBef>
                <a:spcPts val="0"/>
              </a:spcBef>
              <a:spcAft>
                <a:spcPts val="0"/>
              </a:spcAft>
              <a:buSzPts val="1400"/>
              <a:buChar char="●"/>
            </a:pPr>
            <a:endParaRPr dirty="0">
              <a:solidFill>
                <a:schemeClr val="dk1"/>
              </a:solidFill>
            </a:endParaRPr>
          </a:p>
          <a:p>
            <a:pPr marL="241300" lvl="0" indent="-215900" algn="l" rtl="0">
              <a:spcBef>
                <a:spcPts val="0"/>
              </a:spcBef>
              <a:spcAft>
                <a:spcPts val="0"/>
              </a:spcAft>
              <a:buSzPts val="1400"/>
              <a:buChar char="●"/>
            </a:pPr>
            <a:r>
              <a:rPr lang="en" dirty="0">
                <a:solidFill>
                  <a:schemeClr val="dk1"/>
                </a:solidFill>
              </a:rPr>
              <a:t>Resource Description Framework (RDF) pour les données</a:t>
            </a:r>
          </a:p>
          <a:p>
            <a:pPr marL="241300" lvl="0" indent="-215900" algn="l" rtl="0">
              <a:spcBef>
                <a:spcPts val="0"/>
              </a:spcBef>
              <a:spcAft>
                <a:spcPts val="0"/>
              </a:spcAft>
              <a:buSzPts val="1400"/>
              <a:buChar char="●"/>
            </a:pPr>
            <a:endParaRPr dirty="0">
              <a:solidFill>
                <a:schemeClr val="dk1"/>
              </a:solidFill>
            </a:endParaRPr>
          </a:p>
        </p:txBody>
      </p:sp>
      <p:pic>
        <p:nvPicPr>
          <p:cNvPr id="5" name="Picture Placeholder 4">
            <a:extLst>
              <a:ext uri="{FF2B5EF4-FFF2-40B4-BE49-F238E27FC236}">
                <a16:creationId xmlns:a16="http://schemas.microsoft.com/office/drawing/2014/main" id="{8C914DE4-7E3E-E326-ED10-17121730597B}"/>
              </a:ext>
            </a:extLst>
          </p:cNvPr>
          <p:cNvPicPr>
            <a:picLocks noGrp="1" noChangeAspect="1"/>
          </p:cNvPicPr>
          <p:nvPr>
            <p:ph type="pic" idx="2"/>
          </p:nvPr>
        </p:nvPicPr>
        <p:blipFill>
          <a:blip r:embed="rId3"/>
          <a:srcRect t="48" b="943"/>
          <a:stretch>
            <a:fillRect/>
          </a:stretch>
        </p:blipFill>
        <p:spPr>
          <a:xfrm>
            <a:off x="896750" y="1441522"/>
            <a:ext cx="3217500" cy="3345628"/>
          </a:xfrm>
        </p:spPr>
      </p:pic>
      <p:sp>
        <p:nvSpPr>
          <p:cNvPr id="2" name="TextBox 1">
            <a:extLst>
              <a:ext uri="{FF2B5EF4-FFF2-40B4-BE49-F238E27FC236}">
                <a16:creationId xmlns:a16="http://schemas.microsoft.com/office/drawing/2014/main" id="{8F698B3C-5FA8-7F03-CCAE-3B4460D119A7}"/>
              </a:ext>
            </a:extLst>
          </p:cNvPr>
          <p:cNvSpPr txBox="1"/>
          <p:nvPr/>
        </p:nvSpPr>
        <p:spPr>
          <a:xfrm>
            <a:off x="4381025" y="3890995"/>
            <a:ext cx="3866225" cy="523220"/>
          </a:xfrm>
          <a:prstGeom prst="rect">
            <a:avLst/>
          </a:prstGeom>
          <a:noFill/>
        </p:spPr>
        <p:txBody>
          <a:bodyPr wrap="square" rtlCol="0">
            <a:spAutoFit/>
          </a:bodyPr>
          <a:lstStyle/>
          <a:p>
            <a:r>
              <a:rPr lang="fr-FR" b="1" dirty="0">
                <a:latin typeface="Lato" panose="020F0502020204030203" pitchFamily="34" charset="0"/>
                <a:ea typeface="Lato" panose="020F0502020204030203" pitchFamily="34" charset="0"/>
                <a:cs typeface="Lato" panose="020F0502020204030203" pitchFamily="34" charset="0"/>
              </a:rPr>
              <a:t>Le Web sémantique s’appuie sur les technologies du Web</a:t>
            </a:r>
          </a:p>
        </p:txBody>
      </p:sp>
      <p:sp>
        <p:nvSpPr>
          <p:cNvPr id="3" name="TextBox 2">
            <a:extLst>
              <a:ext uri="{FF2B5EF4-FFF2-40B4-BE49-F238E27FC236}">
                <a16:creationId xmlns:a16="http://schemas.microsoft.com/office/drawing/2014/main" id="{015E8852-EDB1-FAFB-9301-70801FBF5320}"/>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8/98</a:t>
            </a:r>
          </a:p>
        </p:txBody>
      </p:sp>
    </p:spTree>
    <p:extLst>
      <p:ext uri="{BB962C8B-B14F-4D97-AF65-F5344CB8AC3E}">
        <p14:creationId xmlns:p14="http://schemas.microsoft.com/office/powerpoint/2010/main" val="133873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8F2BC4EE-F8C7-41B5-F55D-F714D62A7FEA}"/>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86FE9CCF-2266-DBA4-C6E7-472049D1C955}"/>
              </a:ext>
            </a:extLst>
          </p:cNvPr>
          <p:cNvSpPr txBox="1">
            <a:spLocks noGrp="1"/>
          </p:cNvSpPr>
          <p:nvPr>
            <p:ph type="subTitle" idx="1"/>
          </p:nvPr>
        </p:nvSpPr>
        <p:spPr>
          <a:xfrm>
            <a:off x="896400" y="1812275"/>
            <a:ext cx="7351200" cy="2635800"/>
          </a:xfrm>
          <a:prstGeom prst="rect">
            <a:avLst/>
          </a:prstGeom>
        </p:spPr>
        <p:txBody>
          <a:bodyPr spcFirstLastPara="1" wrap="square" lIns="91425" tIns="91425" rIns="91425" bIns="91425" anchor="t" anchorCtr="0">
            <a:noAutofit/>
          </a:bodyPr>
          <a:lstStyle/>
          <a:p>
            <a:r>
              <a:rPr lang="fr-FR" sz="1800" dirty="0"/>
              <a:t>Le Web sémantique, pour réaliser ses promesses — comme rendre les données </a:t>
            </a:r>
            <a:r>
              <a:rPr lang="fr-FR" sz="1800" b="1" dirty="0"/>
              <a:t>compréhensibles par les machines</a:t>
            </a:r>
            <a:r>
              <a:rPr lang="fr-FR" sz="1800" dirty="0"/>
              <a:t>, </a:t>
            </a:r>
            <a:r>
              <a:rPr lang="fr-FR" sz="1800" b="1" dirty="0"/>
              <a:t>relier des informations</a:t>
            </a:r>
            <a:r>
              <a:rPr lang="fr-FR" sz="1800" dirty="0"/>
              <a:t> issues de sources différentes, ou permettre un </a:t>
            </a:r>
            <a:r>
              <a:rPr lang="fr-FR" sz="1800" b="1" dirty="0"/>
              <a:t>raisonnement automatique</a:t>
            </a:r>
            <a:r>
              <a:rPr lang="fr-FR" sz="1800" dirty="0"/>
              <a:t> — a besoin d’un modèle souple, capable de représenter non seulement des données, mais surtout des liens entre ces données. C’est pour cela qu’il s’appuie naturellement sur des </a:t>
            </a:r>
            <a:r>
              <a:rPr lang="fr-FR" sz="1800" b="1" dirty="0"/>
              <a:t>structures en graphe</a:t>
            </a:r>
            <a:r>
              <a:rPr lang="fr-FR" sz="1800" dirty="0"/>
              <a:t>.</a:t>
            </a:r>
          </a:p>
        </p:txBody>
      </p:sp>
      <p:sp>
        <p:nvSpPr>
          <p:cNvPr id="839" name="Google Shape;839;p27">
            <a:extLst>
              <a:ext uri="{FF2B5EF4-FFF2-40B4-BE49-F238E27FC236}">
                <a16:creationId xmlns:a16="http://schemas.microsoft.com/office/drawing/2014/main" id="{9CD0EE48-7112-3D48-202D-A0C3E13F938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Le rôle des bases de données graphe dans cette vision</a:t>
            </a:r>
            <a:endParaRPr sz="2400" dirty="0"/>
          </a:p>
        </p:txBody>
      </p:sp>
      <p:grpSp>
        <p:nvGrpSpPr>
          <p:cNvPr id="841" name="Google Shape;841;p27">
            <a:extLst>
              <a:ext uri="{FF2B5EF4-FFF2-40B4-BE49-F238E27FC236}">
                <a16:creationId xmlns:a16="http://schemas.microsoft.com/office/drawing/2014/main" id="{0740350F-B512-5A2B-AC01-1E338B85C72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38D55F55-934F-F1E4-A655-8481AEF4D657}"/>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170CD2B7-4232-1907-BD92-B4D5B36DA92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1B236489-49A3-5A3E-E9BB-47C3F27F986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221A1746-86D1-87C1-354C-181BAC9F464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468A205-88F8-FE89-B404-E9EE3AA026B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AB42B7CB-CEC6-303F-86B3-9ABE3E8AAE9F}"/>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653D9FFB-ECCF-B7EC-AEAD-6F36589D3A12}"/>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63573F6A-E9AA-3A6E-37F8-1F487B6AD23D}"/>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1026" name="Picture 2" descr="graphe orienté">
            <a:extLst>
              <a:ext uri="{FF2B5EF4-FFF2-40B4-BE49-F238E27FC236}">
                <a16:creationId xmlns:a16="http://schemas.microsoft.com/office/drawing/2014/main" id="{76062839-9AEE-618F-9DD3-A0410A6ABF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697" y="3824433"/>
            <a:ext cx="1606879" cy="98403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9C2A2ED-090D-70B3-7DD1-BE6B45ED25CB}"/>
              </a:ext>
            </a:extLst>
          </p:cNvPr>
          <p:cNvSpPr txBox="1"/>
          <p:nvPr/>
        </p:nvSpPr>
        <p:spPr>
          <a:xfrm>
            <a:off x="7988800" y="4453449"/>
            <a:ext cx="535724" cy="307777"/>
          </a:xfrm>
          <a:prstGeom prst="rect">
            <a:avLst/>
          </a:prstGeom>
          <a:noFill/>
        </p:spPr>
        <p:txBody>
          <a:bodyPr wrap="none" rtlCol="0">
            <a:spAutoFit/>
          </a:bodyPr>
          <a:lstStyle/>
          <a:p>
            <a:r>
              <a:rPr lang="fr-FR" b="1" dirty="0">
                <a:latin typeface="Days One"/>
              </a:rPr>
              <a:t>9/98</a:t>
            </a:r>
          </a:p>
        </p:txBody>
      </p:sp>
    </p:spTree>
    <p:extLst>
      <p:ext uri="{BB962C8B-B14F-4D97-AF65-F5344CB8AC3E}">
        <p14:creationId xmlns:p14="http://schemas.microsoft.com/office/powerpoint/2010/main" val="3080300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38D3E761-130B-0C19-3092-4279CC2A7AA1}"/>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CA9196A8-F0F7-9844-2DD9-A295959C7C7A}"/>
              </a:ext>
            </a:extLst>
          </p:cNvPr>
          <p:cNvSpPr txBox="1">
            <a:spLocks noGrp="1"/>
          </p:cNvSpPr>
          <p:nvPr>
            <p:ph type="subTitle" idx="1"/>
          </p:nvPr>
        </p:nvSpPr>
        <p:spPr>
          <a:xfrm>
            <a:off x="896400" y="1812275"/>
            <a:ext cx="7351200" cy="2635800"/>
          </a:xfrm>
          <a:prstGeom prst="rect">
            <a:avLst/>
          </a:prstGeom>
        </p:spPr>
        <p:txBody>
          <a:bodyPr spcFirstLastPara="1" wrap="square" lIns="91425" tIns="91425" rIns="91425" bIns="91425" anchor="t" anchorCtr="0">
            <a:noAutofit/>
          </a:bodyPr>
          <a:lstStyle/>
          <a:p>
            <a:r>
              <a:rPr lang="fr-FR" sz="1800" dirty="0"/>
              <a:t>Contrairement aux bases relationnelles classiques, les graphes permettent </a:t>
            </a:r>
            <a:r>
              <a:rPr lang="fr-FR" sz="1800" b="1" dirty="0"/>
              <a:t>d’exprimer des relations complexes et multiples de manière fluide</a:t>
            </a:r>
            <a:r>
              <a:rPr lang="fr-FR" sz="1800" dirty="0"/>
              <a:t>, ce qui colle parfaitement à l’idée d’un Web interconnecté et intelligent. Dans cette logique, une des briques fondamentales du Web sémantique est un </a:t>
            </a:r>
            <a:r>
              <a:rPr lang="fr-FR" sz="1800" b="1" dirty="0"/>
              <a:t>modèle appelé RDF</a:t>
            </a:r>
            <a:r>
              <a:rPr lang="fr-FR" sz="1800" dirty="0"/>
              <a:t>, qui permet justement de </a:t>
            </a:r>
            <a:r>
              <a:rPr lang="fr-FR" sz="1800" b="1" dirty="0"/>
              <a:t>structurer les données sous forme de graphes</a:t>
            </a:r>
            <a:r>
              <a:rPr lang="fr-FR" sz="1800" dirty="0"/>
              <a:t>.</a:t>
            </a:r>
          </a:p>
        </p:txBody>
      </p:sp>
      <p:sp>
        <p:nvSpPr>
          <p:cNvPr id="839" name="Google Shape;839;p27">
            <a:extLst>
              <a:ext uri="{FF2B5EF4-FFF2-40B4-BE49-F238E27FC236}">
                <a16:creationId xmlns:a16="http://schemas.microsoft.com/office/drawing/2014/main" id="{DE24AB0D-DDDD-B309-ADD3-79F9FEEE72A6}"/>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Le rôle des bases de données graphe dans cette vision</a:t>
            </a:r>
            <a:endParaRPr sz="2400" dirty="0"/>
          </a:p>
        </p:txBody>
      </p:sp>
      <p:grpSp>
        <p:nvGrpSpPr>
          <p:cNvPr id="841" name="Google Shape;841;p27">
            <a:extLst>
              <a:ext uri="{FF2B5EF4-FFF2-40B4-BE49-F238E27FC236}">
                <a16:creationId xmlns:a16="http://schemas.microsoft.com/office/drawing/2014/main" id="{18F2FD35-5A43-1461-6CE5-5D86A2C41F9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29E3B189-696F-DD66-F8CE-B929EBFACE7D}"/>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7911A30-CB82-5A71-B351-DCB6056B17C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22F6933-CFE1-A16B-FAC7-29B1863372DB}"/>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18529AFD-B343-E63C-A066-6033C2C06B07}"/>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D97D34C-463D-4CEF-25CA-EB1B1F5DEE7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0C5E813-CD66-8750-5F09-68051DE79B3C}"/>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D57D72D0-7DE6-A3FC-D3C4-64A0155E089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3E9DB390-B99A-F360-B7BD-C86D36539022}"/>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13D7D469-3664-E607-8F8E-6CCB443C47EE}"/>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10/98</a:t>
            </a:r>
          </a:p>
        </p:txBody>
      </p:sp>
    </p:spTree>
    <p:extLst>
      <p:ext uri="{BB962C8B-B14F-4D97-AF65-F5344CB8AC3E}">
        <p14:creationId xmlns:p14="http://schemas.microsoft.com/office/powerpoint/2010/main" val="467940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0709FAFB-3BBC-8880-B37E-3C13A2D7AD22}"/>
            </a:ext>
          </a:extLst>
        </p:cNvPr>
        <p:cNvGrpSpPr/>
        <p:nvPr/>
      </p:nvGrpSpPr>
      <p:grpSpPr>
        <a:xfrm>
          <a:off x="0" y="0"/>
          <a:ext cx="0" cy="0"/>
          <a:chOff x="0" y="0"/>
          <a:chExt cx="0" cy="0"/>
        </a:xfrm>
      </p:grpSpPr>
      <p:sp>
        <p:nvSpPr>
          <p:cNvPr id="854" name="Google Shape;854;p28">
            <a:extLst>
              <a:ext uri="{FF2B5EF4-FFF2-40B4-BE49-F238E27FC236}">
                <a16:creationId xmlns:a16="http://schemas.microsoft.com/office/drawing/2014/main" id="{71417AB3-4128-EEBE-7D77-86677A22C6C6}"/>
              </a:ext>
            </a:extLst>
          </p:cNvPr>
          <p:cNvSpPr txBox="1">
            <a:spLocks noGrp="1"/>
          </p:cNvSpPr>
          <p:nvPr>
            <p:ph type="subTitle" idx="1"/>
          </p:nvPr>
        </p:nvSpPr>
        <p:spPr>
          <a:xfrm>
            <a:off x="1320400" y="3858645"/>
            <a:ext cx="3946800" cy="670326"/>
          </a:xfrm>
          <a:prstGeom prst="rect">
            <a:avLst/>
          </a:prstGeom>
        </p:spPr>
        <p:txBody>
          <a:bodyPr spcFirstLastPara="1" wrap="square" lIns="91425" tIns="91425" rIns="91425" bIns="91425" anchor="t" anchorCtr="0">
            <a:noAutofit/>
          </a:bodyPr>
          <a:lstStyle/>
          <a:p>
            <a:pPr marL="0" lvl="0" indent="0"/>
            <a:r>
              <a:rPr lang="fr-FR" dirty="0"/>
              <a:t>RDF, </a:t>
            </a:r>
            <a:r>
              <a:rPr lang="fr-FR" dirty="0" err="1"/>
              <a:t>Linked</a:t>
            </a:r>
            <a:r>
              <a:rPr lang="fr-FR" dirty="0"/>
              <a:t> open data, SPARQL</a:t>
            </a:r>
          </a:p>
        </p:txBody>
      </p:sp>
      <p:sp>
        <p:nvSpPr>
          <p:cNvPr id="855" name="Google Shape;855;p28">
            <a:extLst>
              <a:ext uri="{FF2B5EF4-FFF2-40B4-BE49-F238E27FC236}">
                <a16:creationId xmlns:a16="http://schemas.microsoft.com/office/drawing/2014/main" id="{202A581A-1BD4-0E82-6087-B22830B54A6D}"/>
              </a:ext>
            </a:extLst>
          </p:cNvPr>
          <p:cNvSpPr txBox="1">
            <a:spLocks noGrp="1"/>
          </p:cNvSpPr>
          <p:nvPr>
            <p:ph type="title"/>
          </p:nvPr>
        </p:nvSpPr>
        <p:spPr>
          <a:xfrm>
            <a:off x="1320400" y="1154974"/>
            <a:ext cx="3946800" cy="2493614"/>
          </a:xfrm>
          <a:prstGeom prst="rect">
            <a:avLst/>
          </a:prstGeom>
        </p:spPr>
        <p:txBody>
          <a:bodyPr spcFirstLastPara="1" wrap="square" lIns="91425" tIns="91425" rIns="91425" bIns="91425" anchor="b" anchorCtr="0">
            <a:noAutofit/>
          </a:bodyPr>
          <a:lstStyle/>
          <a:p>
            <a:pPr marL="0" lvl="0" indent="0"/>
            <a:r>
              <a:rPr lang="fr-FR" dirty="0"/>
              <a:t>Modèle de données fondamental &amp; Langage</a:t>
            </a:r>
          </a:p>
        </p:txBody>
      </p:sp>
      <p:sp>
        <p:nvSpPr>
          <p:cNvPr id="856" name="Google Shape;856;p28">
            <a:extLst>
              <a:ext uri="{FF2B5EF4-FFF2-40B4-BE49-F238E27FC236}">
                <a16:creationId xmlns:a16="http://schemas.microsoft.com/office/drawing/2014/main" id="{FE15FF02-4DC7-3DF7-2479-0C770085D333}"/>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857" name="Google Shape;857;p28">
            <a:extLst>
              <a:ext uri="{FF2B5EF4-FFF2-40B4-BE49-F238E27FC236}">
                <a16:creationId xmlns:a16="http://schemas.microsoft.com/office/drawing/2014/main" id="{378401DF-CFE4-B154-112A-0D4B1D7B6A6C}"/>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B1C8DB60-E089-93A9-BA85-241CBE274A3B}"/>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8BC404C2-9068-D7EC-6E94-142AB9EABC63}"/>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39EA0818-9924-1B9C-0579-867C44BEB8D6}"/>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771F703A-7169-C541-EE63-38A1ED2D86FD}"/>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A7ABD2A1-F51B-9359-2497-62BA3365430F}"/>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A2AD2CAF-9B8F-2857-94D6-E1AD37B6981B}"/>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AC9D6DF1-7231-31E3-FF7A-D36A4FB4382B}"/>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FE9832DE-537C-3158-B1E2-E9068137118E}"/>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96F3B246-29D6-A816-21BD-F685496D230D}"/>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03369B05-A363-9F92-5021-B75882054991}"/>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4F22C36A-89F2-09A4-A256-3B261A164384}"/>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48BE3799-E2EC-A703-B7B2-3334FC9FD3D5}"/>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a:extLst>
                  <a:ext uri="{FF2B5EF4-FFF2-40B4-BE49-F238E27FC236}">
                    <a16:creationId xmlns:a16="http://schemas.microsoft.com/office/drawing/2014/main" id="{204E27C3-5551-4403-D2CB-B04FA11EB620}"/>
                  </a:ext>
                </a:extLst>
              </p:cNvPr>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a:extLst>
                  <a:ext uri="{FF2B5EF4-FFF2-40B4-BE49-F238E27FC236}">
                    <a16:creationId xmlns:a16="http://schemas.microsoft.com/office/drawing/2014/main" id="{37124871-02C2-0D9C-1E2F-C35D8CE39410}"/>
                  </a:ext>
                </a:extLst>
              </p:cNvPr>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A48225C1-8572-6658-E032-CC044ED5F737}"/>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3119044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09DDC3C5-F498-23FA-95E1-199450CE7F9E}"/>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C9DB4EA5-B762-DBA6-6524-ACA94741F8C7}"/>
              </a:ext>
            </a:extLst>
          </p:cNvPr>
          <p:cNvSpPr txBox="1">
            <a:spLocks noGrp="1"/>
          </p:cNvSpPr>
          <p:nvPr>
            <p:ph type="subTitle" idx="1"/>
          </p:nvPr>
        </p:nvSpPr>
        <p:spPr>
          <a:xfrm>
            <a:off x="896400" y="1812275"/>
            <a:ext cx="7351200" cy="2635800"/>
          </a:xfrm>
          <a:prstGeom prst="rect">
            <a:avLst/>
          </a:prstGeom>
        </p:spPr>
        <p:txBody>
          <a:bodyPr spcFirstLastPara="1" wrap="square" lIns="91425" tIns="91425" rIns="91425" bIns="91425" anchor="t" anchorCtr="0">
            <a:noAutofit/>
          </a:bodyPr>
          <a:lstStyle/>
          <a:p>
            <a:r>
              <a:rPr lang="fr-FR" sz="1800" dirty="0"/>
              <a:t>RDF (Resource Description Framework) est un </a:t>
            </a:r>
            <a:r>
              <a:rPr lang="fr-FR" sz="1800" b="1" dirty="0"/>
              <a:t>modèle de graphe </a:t>
            </a:r>
            <a:r>
              <a:rPr lang="fr-FR" sz="1800" dirty="0"/>
              <a:t>destiné à </a:t>
            </a:r>
            <a:r>
              <a:rPr lang="fr-FR" sz="1800" b="1" dirty="0"/>
              <a:t>décrire formellement les ressources Web et leurs métadonnées</a:t>
            </a:r>
            <a:r>
              <a:rPr lang="fr-FR" sz="1800" dirty="0"/>
              <a:t>, afin de permettre le traitement automatique de ces descriptions. </a:t>
            </a:r>
          </a:p>
          <a:p>
            <a:r>
              <a:rPr lang="fr-FR" sz="1800" dirty="0"/>
              <a:t>Développé par le </a:t>
            </a:r>
            <a:r>
              <a:rPr lang="fr-FR" sz="1800" b="1" dirty="0"/>
              <a:t>W3C</a:t>
            </a:r>
            <a:r>
              <a:rPr lang="fr-FR" sz="1800" dirty="0"/>
              <a:t>, RDF est le </a:t>
            </a:r>
            <a:r>
              <a:rPr lang="fr-FR" sz="1800" b="1" dirty="0"/>
              <a:t>langage de base du Web sémantique.</a:t>
            </a:r>
          </a:p>
        </p:txBody>
      </p:sp>
      <p:sp>
        <p:nvSpPr>
          <p:cNvPr id="839" name="Google Shape;839;p27">
            <a:extLst>
              <a:ext uri="{FF2B5EF4-FFF2-40B4-BE49-F238E27FC236}">
                <a16:creationId xmlns:a16="http://schemas.microsoft.com/office/drawing/2014/main" id="{224616C9-9992-418D-2619-AD0938C18D63}"/>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Resource Description Framework (RDF)</a:t>
            </a:r>
            <a:endParaRPr sz="2400" dirty="0"/>
          </a:p>
        </p:txBody>
      </p:sp>
      <p:grpSp>
        <p:nvGrpSpPr>
          <p:cNvPr id="841" name="Google Shape;841;p27">
            <a:extLst>
              <a:ext uri="{FF2B5EF4-FFF2-40B4-BE49-F238E27FC236}">
                <a16:creationId xmlns:a16="http://schemas.microsoft.com/office/drawing/2014/main" id="{6F60BDB6-FCE4-F037-B04E-33099DFC8AD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A3466806-FB5D-1CFD-A672-1000CF48C6FF}"/>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862967ED-0699-77AE-0EAC-6A18389CA56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57A10E6-CE49-2342-4CB8-C84818EFF816}"/>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E91553B1-EA60-5F9D-3ED2-7FA2B5760DB7}"/>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1F4606BC-A902-CD48-2A52-F978FC0396E0}"/>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3D668F9-2E7F-D468-1607-A3D187FCCA5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6D250AFE-36B6-F100-E04D-CE3DBAD10B7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9FC84B6-A3F8-F9BA-80D5-8B54A1518705}"/>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A1AF2350-3CA2-28CE-13EA-07E4801BCD07}"/>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11/98</a:t>
            </a:r>
          </a:p>
        </p:txBody>
      </p:sp>
    </p:spTree>
    <p:extLst>
      <p:ext uri="{BB962C8B-B14F-4D97-AF65-F5344CB8AC3E}">
        <p14:creationId xmlns:p14="http://schemas.microsoft.com/office/powerpoint/2010/main" val="952291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218CAE00-65CC-FCE6-D9A9-48D77954BCBF}"/>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EEE570F6-E06E-145A-9CE1-6A8A161408F4}"/>
              </a:ext>
            </a:extLst>
          </p:cNvPr>
          <p:cNvSpPr txBox="1">
            <a:spLocks noGrp="1"/>
          </p:cNvSpPr>
          <p:nvPr>
            <p:ph type="subTitle" idx="1"/>
          </p:nvPr>
        </p:nvSpPr>
        <p:spPr>
          <a:xfrm>
            <a:off x="896400" y="1704694"/>
            <a:ext cx="7351200" cy="3007151"/>
          </a:xfrm>
          <a:prstGeom prst="rect">
            <a:avLst/>
          </a:prstGeom>
        </p:spPr>
        <p:txBody>
          <a:bodyPr spcFirstLastPara="1" wrap="square" lIns="91425" tIns="91425" rIns="91425" bIns="91425" anchor="t" anchorCtr="0">
            <a:noAutofit/>
          </a:bodyPr>
          <a:lstStyle/>
          <a:p>
            <a:pPr algn="l"/>
            <a:r>
              <a:rPr lang="fr-FR" sz="1800" dirty="0"/>
              <a:t>Un document structuré en RDF est un </a:t>
            </a:r>
            <a:r>
              <a:rPr lang="fr-FR" sz="1800" b="1" dirty="0"/>
              <a:t>ensemble de triplets</a:t>
            </a:r>
            <a:r>
              <a:rPr lang="fr-FR" sz="1800" dirty="0"/>
              <a:t>.</a:t>
            </a:r>
          </a:p>
          <a:p>
            <a:pPr algn="l"/>
            <a:r>
              <a:rPr lang="fr-FR" sz="1800" dirty="0"/>
              <a:t>Un triplet RDF est une association (</a:t>
            </a:r>
            <a:r>
              <a:rPr lang="fr-FR" sz="1800" b="1" dirty="0"/>
              <a:t>sujet</a:t>
            </a:r>
            <a:r>
              <a:rPr lang="fr-FR" sz="1800" dirty="0"/>
              <a:t>, </a:t>
            </a:r>
            <a:r>
              <a:rPr lang="fr-FR" sz="1800" b="1" dirty="0"/>
              <a:t>prédicat</a:t>
            </a:r>
            <a:r>
              <a:rPr lang="fr-FR" sz="1800" dirty="0"/>
              <a:t>, </a:t>
            </a:r>
            <a:r>
              <a:rPr lang="fr-FR" sz="1800" b="1" dirty="0"/>
              <a:t>objet</a:t>
            </a:r>
            <a:r>
              <a:rPr lang="fr-FR" sz="1800" dirty="0"/>
              <a:t>) :</a:t>
            </a:r>
          </a:p>
          <a:p>
            <a:pPr algn="l">
              <a:buFont typeface="Arial" panose="020B0604020202020204" pitchFamily="34" charset="0"/>
              <a:buChar char="•"/>
            </a:pPr>
            <a:r>
              <a:rPr lang="fr-FR" sz="1800" dirty="0"/>
              <a:t>Le</a:t>
            </a:r>
            <a:r>
              <a:rPr lang="fr-FR" sz="1800" b="1" dirty="0">
                <a:solidFill>
                  <a:srgbClr val="008F95"/>
                </a:solidFill>
              </a:rPr>
              <a:t> « sujet »</a:t>
            </a:r>
            <a:r>
              <a:rPr lang="fr-FR" sz="1800" dirty="0"/>
              <a:t> représente la </a:t>
            </a:r>
            <a:r>
              <a:rPr lang="fr-FR" sz="1800" b="1" dirty="0">
                <a:solidFill>
                  <a:srgbClr val="008F95"/>
                </a:solidFill>
              </a:rPr>
              <a:t>ressource à décrire</a:t>
            </a:r>
            <a:r>
              <a:rPr lang="fr-FR" sz="1800" dirty="0"/>
              <a:t>,</a:t>
            </a:r>
            <a:r>
              <a:rPr lang="fr-FR" sz="1800" b="1" dirty="0"/>
              <a:t> </a:t>
            </a:r>
            <a:r>
              <a:rPr lang="fr-FR" sz="1800" dirty="0"/>
              <a:t>elle peut être un  document, une personne, un objet physique ou un concept abstrait;</a:t>
            </a:r>
          </a:p>
          <a:p>
            <a:pPr algn="l">
              <a:buFont typeface="Arial" panose="020B0604020202020204" pitchFamily="34" charset="0"/>
              <a:buChar char="•"/>
            </a:pPr>
            <a:r>
              <a:rPr lang="fr-FR" sz="1800" dirty="0"/>
              <a:t>Le</a:t>
            </a:r>
            <a:r>
              <a:rPr lang="fr-FR" sz="1800" b="1" dirty="0">
                <a:solidFill>
                  <a:srgbClr val="008F95"/>
                </a:solidFill>
              </a:rPr>
              <a:t> « prédicat »</a:t>
            </a:r>
            <a:r>
              <a:rPr lang="fr-FR" sz="1800" dirty="0"/>
              <a:t> représente un </a:t>
            </a:r>
            <a:r>
              <a:rPr lang="fr-FR" sz="1800" b="1" dirty="0">
                <a:solidFill>
                  <a:srgbClr val="008F95"/>
                </a:solidFill>
              </a:rPr>
              <a:t>type de relation ou de propriété</a:t>
            </a:r>
            <a:r>
              <a:rPr lang="fr-FR" sz="1800" b="1" dirty="0"/>
              <a:t> </a:t>
            </a:r>
            <a:r>
              <a:rPr lang="fr-FR" sz="1800" dirty="0"/>
              <a:t>applicable à cette ressource ;</a:t>
            </a:r>
          </a:p>
          <a:p>
            <a:pPr algn="l">
              <a:buFont typeface="Arial" panose="020B0604020202020204" pitchFamily="34" charset="0"/>
              <a:buChar char="•"/>
            </a:pPr>
            <a:r>
              <a:rPr lang="fr-FR" sz="1800" dirty="0"/>
              <a:t>L’</a:t>
            </a:r>
            <a:r>
              <a:rPr lang="fr-FR" sz="1800" b="1" dirty="0">
                <a:solidFill>
                  <a:srgbClr val="008F95"/>
                </a:solidFill>
              </a:rPr>
              <a:t> « objet »</a:t>
            </a:r>
            <a:r>
              <a:rPr lang="fr-FR" sz="1800" dirty="0"/>
              <a:t> représente une donnée ou une autre ressource, c'est la </a:t>
            </a:r>
            <a:r>
              <a:rPr lang="fr-FR" sz="1800" b="1" dirty="0">
                <a:solidFill>
                  <a:srgbClr val="008F95"/>
                </a:solidFill>
              </a:rPr>
              <a:t>valeur de la propriété</a:t>
            </a:r>
            <a:r>
              <a:rPr lang="fr-FR" sz="1800" dirty="0"/>
              <a:t>.</a:t>
            </a:r>
            <a:endParaRPr lang="fr-FR" sz="1800" b="1" dirty="0"/>
          </a:p>
        </p:txBody>
      </p:sp>
      <p:sp>
        <p:nvSpPr>
          <p:cNvPr id="839" name="Google Shape;839;p27">
            <a:extLst>
              <a:ext uri="{FF2B5EF4-FFF2-40B4-BE49-F238E27FC236}">
                <a16:creationId xmlns:a16="http://schemas.microsoft.com/office/drawing/2014/main" id="{31D9AE11-F254-8DE7-82F3-D7FE7381079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RDF: Concept de triplet</a:t>
            </a:r>
            <a:endParaRPr sz="2400" dirty="0"/>
          </a:p>
        </p:txBody>
      </p:sp>
      <p:grpSp>
        <p:nvGrpSpPr>
          <p:cNvPr id="841" name="Google Shape;841;p27">
            <a:extLst>
              <a:ext uri="{FF2B5EF4-FFF2-40B4-BE49-F238E27FC236}">
                <a16:creationId xmlns:a16="http://schemas.microsoft.com/office/drawing/2014/main" id="{2E5A2938-7F34-211D-1519-3BAB1CDCF7DC}"/>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0FE3BB2-41FC-E065-965B-FB2830E99140}"/>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E96218ED-BFDB-E20E-FA3A-0A862E17F36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6B8AD64-E863-0BF9-8001-EC2471952C7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92794577-10CE-D437-F77F-B440E9CE7562}"/>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C6F0BCE-2E08-B8D3-4D81-ECA7977CCE8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A1710D33-F38C-45C3-19A5-7BC851C3D3C6}"/>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E7021F94-90C6-1392-D454-9CFEBE842E2B}"/>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1AA9A7FA-636E-F96A-02D8-DF9B95067196}"/>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83A44922-8D2A-4362-AD65-CDF3BF617E3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12/98</a:t>
            </a:r>
          </a:p>
        </p:txBody>
      </p:sp>
    </p:spTree>
    <p:extLst>
      <p:ext uri="{BB962C8B-B14F-4D97-AF65-F5344CB8AC3E}">
        <p14:creationId xmlns:p14="http://schemas.microsoft.com/office/powerpoint/2010/main" val="3103370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DC37BBE5-63D3-1755-E0D3-C599FD96EB13}"/>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0B277055-D537-B327-B7A8-0F0469C06FCF}"/>
              </a:ext>
            </a:extLst>
          </p:cNvPr>
          <p:cNvSpPr txBox="1">
            <a:spLocks noGrp="1"/>
          </p:cNvSpPr>
          <p:nvPr>
            <p:ph type="subTitle" idx="1"/>
          </p:nvPr>
        </p:nvSpPr>
        <p:spPr>
          <a:xfrm>
            <a:off x="896400" y="1812275"/>
            <a:ext cx="7351200" cy="2635800"/>
          </a:xfrm>
          <a:prstGeom prst="rect">
            <a:avLst/>
          </a:prstGeom>
        </p:spPr>
        <p:txBody>
          <a:bodyPr spcFirstLastPara="1" wrap="square" lIns="91425" tIns="91425" rIns="91425" bIns="91425" anchor="t" anchorCtr="0">
            <a:noAutofit/>
          </a:bodyPr>
          <a:lstStyle/>
          <a:p>
            <a:pPr algn="l"/>
            <a:r>
              <a:rPr lang="fr-FR" sz="1800" dirty="0"/>
              <a:t>Ainsi, la déclaration RDF </a:t>
            </a:r>
            <a:r>
              <a:rPr lang="fr-FR" sz="1800" i="1" dirty="0">
                <a:solidFill>
                  <a:srgbClr val="008F95"/>
                </a:solidFill>
              </a:rPr>
              <a:t>Mona Lisa a pour créateur Léonard de Vinci</a:t>
            </a:r>
          </a:p>
          <a:p>
            <a:pPr algn="l"/>
            <a:r>
              <a:rPr lang="fr-FR" sz="1800" dirty="0"/>
              <a:t>est le triplet :</a:t>
            </a:r>
          </a:p>
        </p:txBody>
      </p:sp>
      <p:sp>
        <p:nvSpPr>
          <p:cNvPr id="839" name="Google Shape;839;p27">
            <a:extLst>
              <a:ext uri="{FF2B5EF4-FFF2-40B4-BE49-F238E27FC236}">
                <a16:creationId xmlns:a16="http://schemas.microsoft.com/office/drawing/2014/main" id="{FF2AD7EF-06F9-D5FE-43E6-5D10622D7A3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RDF: Concept de triplet</a:t>
            </a:r>
            <a:endParaRPr sz="2400" dirty="0"/>
          </a:p>
        </p:txBody>
      </p:sp>
      <p:grpSp>
        <p:nvGrpSpPr>
          <p:cNvPr id="841" name="Google Shape;841;p27">
            <a:extLst>
              <a:ext uri="{FF2B5EF4-FFF2-40B4-BE49-F238E27FC236}">
                <a16:creationId xmlns:a16="http://schemas.microsoft.com/office/drawing/2014/main" id="{BB0F0370-05A8-4853-2A32-323E3D715B19}"/>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4FAED0E0-974D-E507-F94F-389D600D46A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DD6CA31C-2EB5-FE90-3ABE-71C3325651D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B94621E-067D-C856-ECD5-016F8E1D2876}"/>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F636E304-9C3C-0EB3-D30B-11E76DE56139}"/>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E7D3A0C6-5463-E110-5FEB-E85BE72D53A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FF31858E-1942-ABC4-28EA-494D83E1130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37BB6F79-82C8-64B8-F5FB-9FE80EE02642}"/>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AD38BB0-ED53-EF41-5331-7633749F0F50}"/>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aphicFrame>
        <p:nvGraphicFramePr>
          <p:cNvPr id="2" name="Google Shape;1256;p36">
            <a:extLst>
              <a:ext uri="{FF2B5EF4-FFF2-40B4-BE49-F238E27FC236}">
                <a16:creationId xmlns:a16="http://schemas.microsoft.com/office/drawing/2014/main" id="{08B97378-3846-CBC5-9333-16C4628221D2}"/>
              </a:ext>
            </a:extLst>
          </p:cNvPr>
          <p:cNvGraphicFramePr/>
          <p:nvPr>
            <p:extLst>
              <p:ext uri="{D42A27DB-BD31-4B8C-83A1-F6EECF244321}">
                <p14:modId xmlns:p14="http://schemas.microsoft.com/office/powerpoint/2010/main" val="3044895600"/>
              </p:ext>
            </p:extLst>
          </p:nvPr>
        </p:nvGraphicFramePr>
        <p:xfrm>
          <a:off x="1812664" y="2718725"/>
          <a:ext cx="5518671" cy="822900"/>
        </p:xfrm>
        <a:graphic>
          <a:graphicData uri="http://schemas.openxmlformats.org/drawingml/2006/table">
            <a:tbl>
              <a:tblPr>
                <a:noFill/>
                <a:tableStyleId>{FECDB178-73DF-4E37-A588-1FAB14E2F0E9}</a:tableStyleId>
              </a:tblPr>
              <a:tblGrid>
                <a:gridCol w="1839557">
                  <a:extLst>
                    <a:ext uri="{9D8B030D-6E8A-4147-A177-3AD203B41FA5}">
                      <a16:colId xmlns:a16="http://schemas.microsoft.com/office/drawing/2014/main" val="20000"/>
                    </a:ext>
                  </a:extLst>
                </a:gridCol>
                <a:gridCol w="1839557">
                  <a:extLst>
                    <a:ext uri="{9D8B030D-6E8A-4147-A177-3AD203B41FA5}">
                      <a16:colId xmlns:a16="http://schemas.microsoft.com/office/drawing/2014/main" val="20001"/>
                    </a:ext>
                  </a:extLst>
                </a:gridCol>
                <a:gridCol w="1839557">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Sujet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Prédicat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Objet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Mona Lisa</a:t>
                      </a:r>
                      <a:endParaRPr dirty="0">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a pour créateur</a:t>
                      </a:r>
                      <a:endParaRPr dirty="0">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Léonard de Vinci</a:t>
                      </a:r>
                      <a:endParaRPr dirty="0">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8B4A3D27-D620-F8AC-66B5-1AA502F7E9F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13/98</a:t>
            </a:r>
          </a:p>
        </p:txBody>
      </p:sp>
    </p:spTree>
    <p:extLst>
      <p:ext uri="{BB962C8B-B14F-4D97-AF65-F5344CB8AC3E}">
        <p14:creationId xmlns:p14="http://schemas.microsoft.com/office/powerpoint/2010/main" val="3030383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DAB10311-C2EB-6C99-6693-4742130ACF65}"/>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23543847-18C7-11BB-313D-578F1107C94D}"/>
              </a:ext>
            </a:extLst>
          </p:cNvPr>
          <p:cNvSpPr txBox="1">
            <a:spLocks noGrp="1"/>
          </p:cNvSpPr>
          <p:nvPr>
            <p:ph type="subTitle" idx="1"/>
          </p:nvPr>
        </p:nvSpPr>
        <p:spPr>
          <a:xfrm>
            <a:off x="896400" y="1812275"/>
            <a:ext cx="7351200" cy="2635800"/>
          </a:xfrm>
          <a:prstGeom prst="rect">
            <a:avLst/>
          </a:prstGeom>
        </p:spPr>
        <p:txBody>
          <a:bodyPr spcFirstLastPara="1" wrap="square" lIns="91425" tIns="91425" rIns="91425" bIns="91425" anchor="t" anchorCtr="0">
            <a:noAutofit/>
          </a:bodyPr>
          <a:lstStyle/>
          <a:p>
            <a:pPr algn="l"/>
            <a:r>
              <a:rPr lang="fr-FR" sz="1800" dirty="0"/>
              <a:t>Le triplet RDF est conventionnellement représenté sous la forme de graphe orienté, comme illustré sur le schéma :</a:t>
            </a:r>
          </a:p>
        </p:txBody>
      </p:sp>
      <p:sp>
        <p:nvSpPr>
          <p:cNvPr id="839" name="Google Shape;839;p27">
            <a:extLst>
              <a:ext uri="{FF2B5EF4-FFF2-40B4-BE49-F238E27FC236}">
                <a16:creationId xmlns:a16="http://schemas.microsoft.com/office/drawing/2014/main" id="{C9AEF46C-1910-69F4-E5EF-78E8ACAD9D0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RDF: Concept de triplet</a:t>
            </a:r>
            <a:endParaRPr sz="2400" dirty="0"/>
          </a:p>
        </p:txBody>
      </p:sp>
      <p:grpSp>
        <p:nvGrpSpPr>
          <p:cNvPr id="841" name="Google Shape;841;p27">
            <a:extLst>
              <a:ext uri="{FF2B5EF4-FFF2-40B4-BE49-F238E27FC236}">
                <a16:creationId xmlns:a16="http://schemas.microsoft.com/office/drawing/2014/main" id="{F05CA412-9106-A39C-AF90-C4302257B069}"/>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F083CD15-8F73-348A-EE3A-0259E8345625}"/>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97FFC8DD-997E-3187-19C1-A86F40ADB8F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974525B-6DB0-BC99-6309-5C6860BE4B30}"/>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8DC11B9A-095B-27A7-B198-0DA43E24BE1E}"/>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11ACE873-909D-DF29-2183-6350896E3C45}"/>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5A13807B-7D2D-8F79-F982-4823362326A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811EA1D0-C68B-C46E-B161-525773A3B06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4445075-E933-F23F-F468-2E68F092317B}"/>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2050" name="Picture 2" descr="Sujet → Prédicat → Objet">
            <a:extLst>
              <a:ext uri="{FF2B5EF4-FFF2-40B4-BE49-F238E27FC236}">
                <a16:creationId xmlns:a16="http://schemas.microsoft.com/office/drawing/2014/main" id="{CE6E3660-E89B-04F4-4D46-1EC25F4F2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2922270"/>
            <a:ext cx="4762500" cy="762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22E05A4-B788-9A8E-81AD-01DD3B2982B5}"/>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14/98</a:t>
            </a:r>
          </a:p>
        </p:txBody>
      </p:sp>
    </p:spTree>
    <p:extLst>
      <p:ext uri="{BB962C8B-B14F-4D97-AF65-F5344CB8AC3E}">
        <p14:creationId xmlns:p14="http://schemas.microsoft.com/office/powerpoint/2010/main" val="2018655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AEC4F5DA-91DE-8B5E-572D-1794602EB243}"/>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4F137CBE-B6B0-BF61-223E-09AE84F1000B}"/>
              </a:ext>
            </a:extLst>
          </p:cNvPr>
          <p:cNvSpPr txBox="1">
            <a:spLocks noGrp="1"/>
          </p:cNvSpPr>
          <p:nvPr>
            <p:ph type="subTitle" idx="1"/>
          </p:nvPr>
        </p:nvSpPr>
        <p:spPr>
          <a:xfrm>
            <a:off x="896400" y="1812275"/>
            <a:ext cx="7351200" cy="2103509"/>
          </a:xfrm>
          <a:prstGeom prst="rect">
            <a:avLst/>
          </a:prstGeom>
        </p:spPr>
        <p:txBody>
          <a:bodyPr spcFirstLastPara="1" wrap="square" lIns="91425" tIns="91425" rIns="91425" bIns="91425" anchor="t" anchorCtr="0">
            <a:noAutofit/>
          </a:bodyPr>
          <a:lstStyle/>
          <a:p>
            <a:pPr algn="l"/>
            <a:r>
              <a:rPr lang="fr-FR" sz="1800" dirty="0"/>
              <a:t>En RDF, toutes les ressources sont identifiées et nommées par des</a:t>
            </a:r>
          </a:p>
          <a:p>
            <a:pPr algn="l"/>
            <a:r>
              <a:rPr lang="fr-FR" sz="1800" b="1" dirty="0" err="1">
                <a:solidFill>
                  <a:srgbClr val="008F95"/>
                </a:solidFill>
              </a:rPr>
              <a:t>URIs</a:t>
            </a:r>
            <a:r>
              <a:rPr lang="fr-FR" sz="1800" dirty="0"/>
              <a:t> (Universal Resource Identifier) de façon unique et pérenne.</a:t>
            </a:r>
          </a:p>
          <a:p>
            <a:pPr algn="l"/>
            <a:endParaRPr lang="fr-FR" sz="1800" dirty="0"/>
          </a:p>
          <a:p>
            <a:pPr algn="l"/>
            <a:r>
              <a:rPr lang="fr-FR" sz="1800" dirty="0"/>
              <a:t>Ainsi, les ressources des triplets </a:t>
            </a:r>
            <a:r>
              <a:rPr lang="fr-FR" sz="1800" dirty="0">
                <a:solidFill>
                  <a:srgbClr val="008F95"/>
                </a:solidFill>
              </a:rPr>
              <a:t>« Mona Lisa a pour créateur Léonard</a:t>
            </a:r>
          </a:p>
          <a:p>
            <a:pPr algn="l"/>
            <a:r>
              <a:rPr lang="fr-FR" sz="1800" dirty="0">
                <a:solidFill>
                  <a:srgbClr val="008F95"/>
                </a:solidFill>
              </a:rPr>
              <a:t>de Vinci »</a:t>
            </a:r>
            <a:r>
              <a:rPr lang="fr-FR" sz="1800" dirty="0"/>
              <a:t> et </a:t>
            </a:r>
            <a:r>
              <a:rPr lang="fr-FR" sz="1800" dirty="0">
                <a:solidFill>
                  <a:srgbClr val="008F95"/>
                </a:solidFill>
              </a:rPr>
              <a:t>« Mona Lisa a pour lieu le Musée du Louvre »</a:t>
            </a:r>
            <a:r>
              <a:rPr lang="fr-FR" sz="1800" dirty="0"/>
              <a:t> peuvent</a:t>
            </a:r>
          </a:p>
          <a:p>
            <a:pPr algn="l"/>
            <a:r>
              <a:rPr lang="fr-FR" sz="1800" dirty="0"/>
              <a:t>être nommées par des </a:t>
            </a:r>
            <a:r>
              <a:rPr lang="fr-FR" sz="1800" dirty="0" err="1"/>
              <a:t>URIs</a:t>
            </a:r>
            <a:r>
              <a:rPr lang="fr-FR" sz="1800" dirty="0"/>
              <a:t> extraits du référentiel Wikidata.</a:t>
            </a:r>
          </a:p>
        </p:txBody>
      </p:sp>
      <p:sp>
        <p:nvSpPr>
          <p:cNvPr id="839" name="Google Shape;839;p27">
            <a:extLst>
              <a:ext uri="{FF2B5EF4-FFF2-40B4-BE49-F238E27FC236}">
                <a16:creationId xmlns:a16="http://schemas.microsoft.com/office/drawing/2014/main" id="{FBFB0307-FA32-853A-57C9-89B39D8BC58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URIs</a:t>
            </a:r>
            <a:r>
              <a:rPr lang="fr-FR" sz="2400" dirty="0"/>
              <a:t>, préfixes et vocabulaires RDF</a:t>
            </a:r>
            <a:endParaRPr sz="2400" dirty="0"/>
          </a:p>
        </p:txBody>
      </p:sp>
      <p:grpSp>
        <p:nvGrpSpPr>
          <p:cNvPr id="841" name="Google Shape;841;p27">
            <a:extLst>
              <a:ext uri="{FF2B5EF4-FFF2-40B4-BE49-F238E27FC236}">
                <a16:creationId xmlns:a16="http://schemas.microsoft.com/office/drawing/2014/main" id="{7C28A416-7878-CD7E-71E3-BAA68C934AD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002D691-7700-890B-D8D7-5E0019D9AFB7}"/>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8ECFE5CC-D2F6-C15E-B83D-89E29A3BC97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9A77481-B1ED-D7F1-3F67-8A689586C788}"/>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12B3DBD9-4BCB-4DB5-3D2C-9E20E4500599}"/>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1EBD214-27DD-64E7-747E-49CAA001121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94A6774-9294-5931-D22F-35B2143B3DD2}"/>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3E218893-DB16-B090-004B-ECC271CC816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29328689-C69C-07CF-E420-74208A0D2633}"/>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D2FD1B67-4485-8005-BD4B-1AE2A429981B}"/>
              </a:ext>
            </a:extLst>
          </p:cNvPr>
          <p:cNvSpPr txBox="1"/>
          <p:nvPr/>
        </p:nvSpPr>
        <p:spPr>
          <a:xfrm>
            <a:off x="896750" y="4077141"/>
            <a:ext cx="7424970" cy="738664"/>
          </a:xfrm>
          <a:prstGeom prst="rect">
            <a:avLst/>
          </a:prstGeom>
          <a:noFill/>
        </p:spPr>
        <p:txBody>
          <a:bodyPr wrap="square" rtlCol="0">
            <a:spAutoFit/>
          </a:bodyPr>
          <a:lstStyle/>
          <a:p>
            <a:r>
              <a:rPr lang="fr-FR" i="1" dirty="0"/>
              <a:t>Wikidata est une collection de page qui sont stockées dans une base de données orientée documents, utilisées pour alimenter Wikipédia, </a:t>
            </a:r>
            <a:r>
              <a:rPr lang="fr-FR" i="1" dirty="0" err="1"/>
              <a:t>Wikimedia</a:t>
            </a:r>
            <a:r>
              <a:rPr lang="fr-FR" i="1" dirty="0"/>
              <a:t> et pour n’importe qui de par le monde,</a:t>
            </a:r>
          </a:p>
        </p:txBody>
      </p:sp>
      <p:sp>
        <p:nvSpPr>
          <p:cNvPr id="3" name="TextBox 2">
            <a:extLst>
              <a:ext uri="{FF2B5EF4-FFF2-40B4-BE49-F238E27FC236}">
                <a16:creationId xmlns:a16="http://schemas.microsoft.com/office/drawing/2014/main" id="{D68FC69F-22B4-C320-5AA6-81615EE652B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15/98</a:t>
            </a:r>
          </a:p>
        </p:txBody>
      </p:sp>
    </p:spTree>
    <p:extLst>
      <p:ext uri="{BB962C8B-B14F-4D97-AF65-F5344CB8AC3E}">
        <p14:creationId xmlns:p14="http://schemas.microsoft.com/office/powerpoint/2010/main" val="41640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AB88C5B7-3764-AC60-6B02-45A786E9CC37}"/>
            </a:ext>
          </a:extLst>
        </p:cNvPr>
        <p:cNvGrpSpPr/>
        <p:nvPr/>
      </p:nvGrpSpPr>
      <p:grpSpPr>
        <a:xfrm>
          <a:off x="0" y="0"/>
          <a:ext cx="0" cy="0"/>
          <a:chOff x="0" y="0"/>
          <a:chExt cx="0" cy="0"/>
        </a:xfrm>
      </p:grpSpPr>
      <p:sp>
        <p:nvSpPr>
          <p:cNvPr id="839" name="Google Shape;839;p27">
            <a:extLst>
              <a:ext uri="{FF2B5EF4-FFF2-40B4-BE49-F238E27FC236}">
                <a16:creationId xmlns:a16="http://schemas.microsoft.com/office/drawing/2014/main" id="{2CF38962-F351-C1B6-1A3C-DDF2B3AC333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URIs</a:t>
            </a:r>
            <a:r>
              <a:rPr lang="fr-FR" sz="2400" dirty="0"/>
              <a:t>, préfixes et vocabulaires RDF</a:t>
            </a:r>
            <a:endParaRPr sz="2400" dirty="0"/>
          </a:p>
        </p:txBody>
      </p:sp>
      <p:grpSp>
        <p:nvGrpSpPr>
          <p:cNvPr id="841" name="Google Shape;841;p27">
            <a:extLst>
              <a:ext uri="{FF2B5EF4-FFF2-40B4-BE49-F238E27FC236}">
                <a16:creationId xmlns:a16="http://schemas.microsoft.com/office/drawing/2014/main" id="{A4EC6869-DDEE-998B-D868-0E19F46F1B75}"/>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2B13FB09-40D8-2855-80DA-A30923580F1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81C413C9-C920-E7A8-D98C-E35AC23AF6E0}"/>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2C3C615F-C1C8-FE39-AC27-E13ECADAEC19}"/>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64D9221E-99C1-AD30-0016-644A0EB84EB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DCF32591-7538-6944-6867-69E2BAA005A2}"/>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DB424FA-FA98-542E-3018-B31EA9FED894}"/>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9609A958-F04D-5638-A33D-412F08CFA2DF}"/>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6A008BF7-8DAA-6316-041B-3D1684ACBCB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aphicFrame>
        <p:nvGraphicFramePr>
          <p:cNvPr id="5" name="Google Shape;1256;p36">
            <a:extLst>
              <a:ext uri="{FF2B5EF4-FFF2-40B4-BE49-F238E27FC236}">
                <a16:creationId xmlns:a16="http://schemas.microsoft.com/office/drawing/2014/main" id="{6D451044-504E-8DC2-8AFA-AB07553B59AE}"/>
              </a:ext>
            </a:extLst>
          </p:cNvPr>
          <p:cNvGraphicFramePr/>
          <p:nvPr>
            <p:extLst>
              <p:ext uri="{D42A27DB-BD31-4B8C-83A1-F6EECF244321}">
                <p14:modId xmlns:p14="http://schemas.microsoft.com/office/powerpoint/2010/main" val="344823596"/>
              </p:ext>
            </p:extLst>
          </p:nvPr>
        </p:nvGraphicFramePr>
        <p:xfrm>
          <a:off x="896750" y="1916084"/>
          <a:ext cx="7351200" cy="2438250"/>
        </p:xfrm>
        <a:graphic>
          <a:graphicData uri="http://schemas.openxmlformats.org/drawingml/2006/table">
            <a:tbl>
              <a:tblPr>
                <a:noFill/>
                <a:tableStyleId>{FECDB178-73DF-4E37-A588-1FAB14E2F0E9}</a:tableStyleId>
              </a:tblPr>
              <a:tblGrid>
                <a:gridCol w="2450400">
                  <a:extLst>
                    <a:ext uri="{9D8B030D-6E8A-4147-A177-3AD203B41FA5}">
                      <a16:colId xmlns:a16="http://schemas.microsoft.com/office/drawing/2014/main" val="20000"/>
                    </a:ext>
                  </a:extLst>
                </a:gridCol>
                <a:gridCol w="2450400">
                  <a:extLst>
                    <a:ext uri="{9D8B030D-6E8A-4147-A177-3AD203B41FA5}">
                      <a16:colId xmlns:a16="http://schemas.microsoft.com/office/drawing/2014/main" val="20001"/>
                    </a:ext>
                  </a:extLst>
                </a:gridCol>
                <a:gridCol w="24504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Sujet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Prédicat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Objet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Mona Lisa</a:t>
                      </a:r>
                      <a:endParaRPr dirty="0">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a pour créateur</a:t>
                      </a:r>
                      <a:endParaRPr dirty="0">
                        <a:solidFill>
                          <a:schemeClr val="dk1"/>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Léonard de Vinci</a:t>
                      </a:r>
                      <a:endParaRPr dirty="0">
                        <a:solidFill>
                          <a:schemeClr val="dk1"/>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fr-FR" sz="1400" b="0" i="0" u="none" strike="noStrike" cap="none" dirty="0">
                          <a:solidFill>
                            <a:srgbClr val="0070C0"/>
                          </a:solidFill>
                          <a:effectLst/>
                          <a:latin typeface="Arial"/>
                          <a:ea typeface="Arial"/>
                          <a:cs typeface="Arial"/>
                          <a:sym typeface="Arial"/>
                        </a:rPr>
                        <a:t>&lt;</a:t>
                      </a:r>
                      <a:r>
                        <a:rPr lang="fr-FR" sz="1400" b="0" i="0" u="none" strike="noStrike" cap="none" dirty="0">
                          <a:solidFill>
                            <a:srgbClr val="0070C0"/>
                          </a:solidFill>
                          <a:effectLst/>
                          <a:latin typeface="Arial"/>
                          <a:ea typeface="Arial"/>
                          <a:cs typeface="Arial"/>
                          <a:sym typeface="Arial"/>
                          <a:hlinkClick r:id="rId3">
                            <a:extLst>
                              <a:ext uri="{A12FA001-AC4F-418D-AE19-62706E023703}">
                                <ahyp:hlinkClr xmlns:ahyp="http://schemas.microsoft.com/office/drawing/2018/hyperlinkcolor" val="tx"/>
                              </a:ext>
                            </a:extLst>
                          </a:hlinkClick>
                        </a:rPr>
                        <a:t>http://www.wikidata.org/entity/Q12418</a:t>
                      </a:r>
                      <a:r>
                        <a:rPr lang="fr-FR" sz="1400" b="0" i="0" u="none" strike="noStrike" cap="none" dirty="0">
                          <a:solidFill>
                            <a:srgbClr val="0070C0"/>
                          </a:solidFill>
                          <a:effectLst/>
                          <a:latin typeface="Arial"/>
                          <a:ea typeface="Arial"/>
                          <a:cs typeface="Arial"/>
                          <a:sym typeface="Arial"/>
                        </a:rPr>
                        <a:t>&gt;</a:t>
                      </a:r>
                      <a:endParaRPr dirty="0">
                        <a:solidFill>
                          <a:srgbClr val="0070C0"/>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sz="1400" b="0" i="0" u="none" strike="noStrike" cap="none" dirty="0">
                          <a:solidFill>
                            <a:srgbClr val="0070C0"/>
                          </a:solidFill>
                          <a:effectLst/>
                          <a:latin typeface="Arial"/>
                          <a:ea typeface="Arial"/>
                          <a:cs typeface="Arial"/>
                          <a:sym typeface="Arial"/>
                        </a:rPr>
                        <a:t>&lt;</a:t>
                      </a:r>
                      <a:r>
                        <a:rPr lang="fr-FR" sz="1400" b="0" i="0" u="none" strike="noStrike" cap="none" dirty="0">
                          <a:solidFill>
                            <a:srgbClr val="0070C0"/>
                          </a:solidFill>
                          <a:effectLst/>
                          <a:latin typeface="Arial"/>
                          <a:ea typeface="Arial"/>
                          <a:cs typeface="Arial"/>
                          <a:sym typeface="Arial"/>
                          <a:hlinkClick r:id="rId4">
                            <a:extLst>
                              <a:ext uri="{A12FA001-AC4F-418D-AE19-62706E023703}">
                                <ahyp:hlinkClr xmlns:ahyp="http://schemas.microsoft.com/office/drawing/2018/hyperlinkcolor" val="tx"/>
                              </a:ext>
                            </a:extLst>
                          </a:hlinkClick>
                        </a:rPr>
                        <a:t>http://www.wikidata.org/prop/direct/P170</a:t>
                      </a:r>
                      <a:r>
                        <a:rPr lang="fr-FR" sz="1400" b="0" i="0" u="none" strike="noStrike" cap="none" dirty="0">
                          <a:solidFill>
                            <a:srgbClr val="0070C0"/>
                          </a:solidFill>
                          <a:effectLst/>
                          <a:latin typeface="Arial"/>
                          <a:ea typeface="Arial"/>
                          <a:cs typeface="Arial"/>
                          <a:sym typeface="Arial"/>
                        </a:rPr>
                        <a:t>&gt;</a:t>
                      </a:r>
                      <a:endParaRPr dirty="0">
                        <a:solidFill>
                          <a:srgbClr val="0070C0"/>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sz="1400" b="0" i="0" u="none" strike="noStrike" cap="none" dirty="0">
                          <a:solidFill>
                            <a:srgbClr val="0070C0"/>
                          </a:solidFill>
                          <a:effectLst/>
                          <a:latin typeface="Arial"/>
                          <a:ea typeface="Arial"/>
                          <a:cs typeface="Arial"/>
                          <a:sym typeface="Arial"/>
                        </a:rPr>
                        <a:t>&lt;</a:t>
                      </a:r>
                      <a:r>
                        <a:rPr lang="fr-FR" sz="1400" b="0" i="0" u="none" strike="noStrike" cap="none" dirty="0">
                          <a:solidFill>
                            <a:srgbClr val="0070C0"/>
                          </a:solidFill>
                          <a:effectLst/>
                          <a:latin typeface="Arial"/>
                          <a:ea typeface="Arial"/>
                          <a:cs typeface="Arial"/>
                          <a:sym typeface="Arial"/>
                          <a:hlinkClick r:id="rId5">
                            <a:extLst>
                              <a:ext uri="{A12FA001-AC4F-418D-AE19-62706E023703}">
                                <ahyp:hlinkClr xmlns:ahyp="http://schemas.microsoft.com/office/drawing/2018/hyperlinkcolor" val="tx"/>
                              </a:ext>
                            </a:extLst>
                          </a:hlinkClick>
                        </a:rPr>
                        <a:t>http://www.wikidata.org/entity/Q762</a:t>
                      </a:r>
                      <a:r>
                        <a:rPr lang="fr-FR" sz="1400" b="0" i="0" u="none" strike="noStrike" cap="none" dirty="0">
                          <a:solidFill>
                            <a:srgbClr val="0070C0"/>
                          </a:solidFill>
                          <a:effectLst/>
                          <a:latin typeface="Arial"/>
                          <a:ea typeface="Arial"/>
                          <a:cs typeface="Arial"/>
                          <a:sym typeface="Arial"/>
                        </a:rPr>
                        <a:t>&gt;</a:t>
                      </a:r>
                      <a:endParaRPr dirty="0">
                        <a:solidFill>
                          <a:srgbClr val="0070C0"/>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707658534"/>
                  </a:ext>
                </a:extLst>
              </a:tr>
              <a:tr h="381000">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Mona Lisa</a:t>
                      </a:r>
                      <a:endParaRPr dirty="0">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a pour lieu</a:t>
                      </a:r>
                      <a:endParaRPr dirty="0">
                        <a:solidFill>
                          <a:schemeClr val="dk1"/>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Musée du Louvre</a:t>
                      </a:r>
                      <a:endParaRPr dirty="0">
                        <a:solidFill>
                          <a:schemeClr val="dk1"/>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2322362221"/>
                  </a:ext>
                </a:extLst>
              </a:tr>
              <a:tr h="381000">
                <a:tc>
                  <a:txBody>
                    <a:bodyPr/>
                    <a:lstStyle/>
                    <a:p>
                      <a:pPr marL="0" lvl="0" indent="0" algn="ctr" rtl="0">
                        <a:spcBef>
                          <a:spcPts val="0"/>
                        </a:spcBef>
                        <a:spcAft>
                          <a:spcPts val="0"/>
                        </a:spcAft>
                        <a:buNone/>
                      </a:pPr>
                      <a:r>
                        <a:rPr lang="fr-FR" sz="1400" b="0" i="0" u="none" strike="noStrike" cap="none" dirty="0">
                          <a:solidFill>
                            <a:srgbClr val="0070C0"/>
                          </a:solidFill>
                          <a:effectLst/>
                          <a:latin typeface="Arial"/>
                          <a:ea typeface="Arial"/>
                          <a:cs typeface="Arial"/>
                          <a:sym typeface="Arial"/>
                        </a:rPr>
                        <a:t>&lt;</a:t>
                      </a:r>
                      <a:r>
                        <a:rPr lang="fr-FR" sz="1400" b="0" i="0" u="none" strike="noStrike" cap="none" dirty="0">
                          <a:solidFill>
                            <a:srgbClr val="0070C0"/>
                          </a:solidFill>
                          <a:effectLst/>
                          <a:latin typeface="Arial"/>
                          <a:ea typeface="Arial"/>
                          <a:cs typeface="Arial"/>
                          <a:sym typeface="Arial"/>
                          <a:hlinkClick r:id="rId3">
                            <a:extLst>
                              <a:ext uri="{A12FA001-AC4F-418D-AE19-62706E023703}">
                                <ahyp:hlinkClr xmlns:ahyp="http://schemas.microsoft.com/office/drawing/2018/hyperlinkcolor" val="tx"/>
                              </a:ext>
                            </a:extLst>
                          </a:hlinkClick>
                        </a:rPr>
                        <a:t>http://www.wikidata.org/entity/Q12418</a:t>
                      </a:r>
                      <a:r>
                        <a:rPr lang="fr-FR" sz="1400" b="0" i="0" u="none" strike="noStrike" cap="none" dirty="0">
                          <a:solidFill>
                            <a:srgbClr val="0070C0"/>
                          </a:solidFill>
                          <a:effectLst/>
                          <a:latin typeface="Arial"/>
                          <a:ea typeface="Arial"/>
                          <a:cs typeface="Arial"/>
                          <a:sym typeface="Arial"/>
                        </a:rPr>
                        <a:t>&gt;</a:t>
                      </a:r>
                      <a:endParaRPr dirty="0">
                        <a:solidFill>
                          <a:srgbClr val="0070C0"/>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sz="1400" b="0" i="0" u="none" strike="noStrike" cap="none" dirty="0">
                          <a:solidFill>
                            <a:srgbClr val="0070C0"/>
                          </a:solidFill>
                          <a:effectLst/>
                          <a:latin typeface="Arial"/>
                          <a:ea typeface="Arial"/>
                          <a:cs typeface="Arial"/>
                          <a:sym typeface="Arial"/>
                        </a:rPr>
                        <a:t>&lt;</a:t>
                      </a:r>
                      <a:r>
                        <a:rPr lang="fr-FR" sz="1400" b="0" i="0" u="none" strike="noStrike" cap="none" dirty="0">
                          <a:solidFill>
                            <a:srgbClr val="0070C0"/>
                          </a:solidFill>
                          <a:effectLst/>
                          <a:latin typeface="Arial"/>
                          <a:ea typeface="Arial"/>
                          <a:cs typeface="Arial"/>
                          <a:sym typeface="Arial"/>
                          <a:hlinkClick r:id="rId6">
                            <a:extLst>
                              <a:ext uri="{A12FA001-AC4F-418D-AE19-62706E023703}">
                                <ahyp:hlinkClr xmlns:ahyp="http://schemas.microsoft.com/office/drawing/2018/hyperlinkcolor" val="tx"/>
                              </a:ext>
                            </a:extLst>
                          </a:hlinkClick>
                        </a:rPr>
                        <a:t>http://www.wikidata.org/entity/P276</a:t>
                      </a:r>
                      <a:r>
                        <a:rPr lang="fr-FR" sz="1400" b="0" i="0" u="none" strike="noStrike" cap="none" dirty="0">
                          <a:solidFill>
                            <a:srgbClr val="0070C0"/>
                          </a:solidFill>
                          <a:effectLst/>
                          <a:latin typeface="Arial"/>
                          <a:ea typeface="Arial"/>
                          <a:cs typeface="Arial"/>
                          <a:sym typeface="Arial"/>
                        </a:rPr>
                        <a:t>&gt;</a:t>
                      </a:r>
                      <a:endParaRPr dirty="0">
                        <a:solidFill>
                          <a:srgbClr val="0070C0"/>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sz="1400" b="0" i="0" u="none" strike="noStrike" cap="none" dirty="0">
                          <a:solidFill>
                            <a:srgbClr val="0070C0"/>
                          </a:solidFill>
                          <a:effectLst/>
                          <a:latin typeface="Arial"/>
                          <a:ea typeface="Arial"/>
                          <a:cs typeface="Arial"/>
                          <a:sym typeface="Arial"/>
                        </a:rPr>
                        <a:t>&lt;</a:t>
                      </a:r>
                      <a:r>
                        <a:rPr lang="fr-FR" sz="1400" b="0" i="0" u="none" strike="noStrike" cap="none" dirty="0">
                          <a:solidFill>
                            <a:srgbClr val="0070C0"/>
                          </a:solidFill>
                          <a:effectLst/>
                          <a:latin typeface="Arial"/>
                          <a:ea typeface="Arial"/>
                          <a:cs typeface="Arial"/>
                          <a:sym typeface="Arial"/>
                          <a:hlinkClick r:id="rId7">
                            <a:extLst>
                              <a:ext uri="{A12FA001-AC4F-418D-AE19-62706E023703}">
                                <ahyp:hlinkClr xmlns:ahyp="http://schemas.microsoft.com/office/drawing/2018/hyperlinkcolor" val="tx"/>
                              </a:ext>
                            </a:extLst>
                          </a:hlinkClick>
                        </a:rPr>
                        <a:t>http://www.wikidata.org/entity/Q19675</a:t>
                      </a:r>
                      <a:r>
                        <a:rPr lang="fr-FR" sz="1400" b="0" i="0" u="none" strike="noStrike" cap="none" dirty="0">
                          <a:solidFill>
                            <a:srgbClr val="0070C0"/>
                          </a:solidFill>
                          <a:effectLst/>
                          <a:latin typeface="Arial"/>
                          <a:ea typeface="Arial"/>
                          <a:cs typeface="Arial"/>
                          <a:sym typeface="Arial"/>
                        </a:rPr>
                        <a:t>&gt;</a:t>
                      </a:r>
                      <a:endParaRPr dirty="0">
                        <a:solidFill>
                          <a:srgbClr val="0070C0"/>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4047605530"/>
                  </a:ext>
                </a:extLst>
              </a:tr>
            </a:tbl>
          </a:graphicData>
        </a:graphic>
      </p:graphicFrame>
      <p:sp>
        <p:nvSpPr>
          <p:cNvPr id="2" name="TextBox 1">
            <a:extLst>
              <a:ext uri="{FF2B5EF4-FFF2-40B4-BE49-F238E27FC236}">
                <a16:creationId xmlns:a16="http://schemas.microsoft.com/office/drawing/2014/main" id="{229BA550-8B42-20E9-34FC-4B44C8612B6F}"/>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16/98</a:t>
            </a:r>
          </a:p>
        </p:txBody>
      </p:sp>
    </p:spTree>
    <p:extLst>
      <p:ext uri="{BB962C8B-B14F-4D97-AF65-F5344CB8AC3E}">
        <p14:creationId xmlns:p14="http://schemas.microsoft.com/office/powerpoint/2010/main" val="3991427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08B5FC2-F480-C916-59E2-5C52127D71FF}"/>
            </a:ext>
          </a:extLst>
        </p:cNvPr>
        <p:cNvGrpSpPr/>
        <p:nvPr/>
      </p:nvGrpSpPr>
      <p:grpSpPr>
        <a:xfrm>
          <a:off x="0" y="0"/>
          <a:ext cx="0" cy="0"/>
          <a:chOff x="0" y="0"/>
          <a:chExt cx="0" cy="0"/>
        </a:xfrm>
      </p:grpSpPr>
      <p:sp>
        <p:nvSpPr>
          <p:cNvPr id="839" name="Google Shape;839;p27">
            <a:extLst>
              <a:ext uri="{FF2B5EF4-FFF2-40B4-BE49-F238E27FC236}">
                <a16:creationId xmlns:a16="http://schemas.microsoft.com/office/drawing/2014/main" id="{B9C4A716-923D-BE04-3D4D-4050D6FC6B0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URIs</a:t>
            </a:r>
            <a:r>
              <a:rPr lang="fr-FR" sz="2400" dirty="0"/>
              <a:t>, préfixes et vocabulaires RDF</a:t>
            </a:r>
            <a:endParaRPr sz="2400" dirty="0"/>
          </a:p>
        </p:txBody>
      </p:sp>
      <p:grpSp>
        <p:nvGrpSpPr>
          <p:cNvPr id="841" name="Google Shape;841;p27">
            <a:extLst>
              <a:ext uri="{FF2B5EF4-FFF2-40B4-BE49-F238E27FC236}">
                <a16:creationId xmlns:a16="http://schemas.microsoft.com/office/drawing/2014/main" id="{1662F5C8-7D58-9047-EA95-5D3D260F1A6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C0775E1A-F8AD-D651-67EB-7CC578B7CBFF}"/>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B7D6C22-D6FA-1FA8-3A28-16FDF439D79E}"/>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F5B0BCF2-A68C-3E4B-F8F3-8D26470B672F}"/>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2079FD72-34A0-5B81-B68D-173DF356459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D386DD8D-5F9F-D763-53D7-831E4B6CA026}"/>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58D62C30-16CF-1ED7-7FA4-69081A8C3A21}"/>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E50BE1A9-C00D-9F98-5A84-E06F7986CEAD}"/>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BE8FA89-6739-0396-5CC2-C420690559CD}"/>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7863B296-5BE8-B7D1-6570-6D433C2E2404}"/>
              </a:ext>
            </a:extLst>
          </p:cNvPr>
          <p:cNvPicPr>
            <a:picLocks noChangeAspect="1"/>
          </p:cNvPicPr>
          <p:nvPr/>
        </p:nvPicPr>
        <p:blipFill>
          <a:blip r:embed="rId3"/>
          <a:stretch>
            <a:fillRect/>
          </a:stretch>
        </p:blipFill>
        <p:spPr>
          <a:xfrm>
            <a:off x="1601469" y="1514050"/>
            <a:ext cx="5941062" cy="3201145"/>
          </a:xfrm>
          <a:prstGeom prst="rect">
            <a:avLst/>
          </a:prstGeom>
        </p:spPr>
      </p:pic>
      <p:sp>
        <p:nvSpPr>
          <p:cNvPr id="2" name="TextBox 1">
            <a:extLst>
              <a:ext uri="{FF2B5EF4-FFF2-40B4-BE49-F238E27FC236}">
                <a16:creationId xmlns:a16="http://schemas.microsoft.com/office/drawing/2014/main" id="{842A95F4-298A-C01A-1F82-8BD81104A913}"/>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17/98</a:t>
            </a:r>
          </a:p>
        </p:txBody>
      </p:sp>
    </p:spTree>
    <p:extLst>
      <p:ext uri="{BB962C8B-B14F-4D97-AF65-F5344CB8AC3E}">
        <p14:creationId xmlns:p14="http://schemas.microsoft.com/office/powerpoint/2010/main" val="17036674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2EC25CEB-73DE-A1F6-757D-72C63609BC20}"/>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0897D6AB-532C-0CA3-968B-4D439BB3B176}"/>
              </a:ext>
            </a:extLst>
          </p:cNvPr>
          <p:cNvSpPr txBox="1">
            <a:spLocks noGrp="1"/>
          </p:cNvSpPr>
          <p:nvPr>
            <p:ph type="subTitle" idx="1"/>
          </p:nvPr>
        </p:nvSpPr>
        <p:spPr>
          <a:xfrm>
            <a:off x="896400" y="1812275"/>
            <a:ext cx="7351200" cy="2609118"/>
          </a:xfrm>
          <a:prstGeom prst="rect">
            <a:avLst/>
          </a:prstGeom>
        </p:spPr>
        <p:txBody>
          <a:bodyPr spcFirstLastPara="1" wrap="square" lIns="91425" tIns="91425" rIns="91425" bIns="91425" anchor="t" anchorCtr="0">
            <a:noAutofit/>
          </a:bodyPr>
          <a:lstStyle/>
          <a:p>
            <a:pPr algn="l"/>
            <a:r>
              <a:rPr lang="fr-FR" sz="1800" dirty="0"/>
              <a:t>La notation des </a:t>
            </a:r>
            <a:r>
              <a:rPr lang="fr-FR" sz="1800" dirty="0" err="1"/>
              <a:t>URIs</a:t>
            </a:r>
            <a:r>
              <a:rPr lang="fr-FR" sz="1800" dirty="0"/>
              <a:t> est simplifiée par des </a:t>
            </a:r>
            <a:r>
              <a:rPr lang="fr-FR" sz="1800" b="1" dirty="0"/>
              <a:t>préfixes</a:t>
            </a:r>
            <a:r>
              <a:rPr lang="fr-FR" sz="1800" dirty="0"/>
              <a:t>.</a:t>
            </a:r>
          </a:p>
          <a:p>
            <a:pPr algn="l"/>
            <a:r>
              <a:rPr lang="fr-FR" sz="1800" dirty="0"/>
              <a:t>Les préfixes  désignent un espace de noms (espace de nommage ou </a:t>
            </a:r>
          </a:p>
          <a:p>
            <a:pPr algn="l"/>
            <a:r>
              <a:rPr lang="fr-FR" sz="1800" dirty="0" err="1"/>
              <a:t>namespace</a:t>
            </a:r>
            <a:r>
              <a:rPr lang="fr-FR" sz="1800" dirty="0"/>
              <a:t>), c’est-à-dire un </a:t>
            </a:r>
            <a:r>
              <a:rPr lang="fr-FR" sz="1800" b="1" dirty="0"/>
              <a:t>ensemble de termes se rapportant au </a:t>
            </a:r>
          </a:p>
          <a:p>
            <a:pPr algn="l"/>
            <a:r>
              <a:rPr lang="fr-FR" sz="1800" b="1" dirty="0"/>
              <a:t>même vocabulaire RDF</a:t>
            </a:r>
            <a:r>
              <a:rPr lang="fr-FR" sz="1800" dirty="0"/>
              <a:t> (</a:t>
            </a:r>
            <a:r>
              <a:rPr lang="fr-FR" sz="1800" i="1" dirty="0"/>
              <a:t>ontologies RDF</a:t>
            </a:r>
            <a:r>
              <a:rPr lang="fr-FR" sz="1800" dirty="0"/>
              <a:t>, </a:t>
            </a:r>
            <a:r>
              <a:rPr lang="fr-FR" sz="1800" i="1" dirty="0"/>
              <a:t>schéma RDFS</a:t>
            </a:r>
            <a:r>
              <a:rPr lang="fr-FR" sz="1800" dirty="0"/>
              <a:t>, </a:t>
            </a:r>
            <a:r>
              <a:rPr lang="fr-FR" sz="1800" i="1" dirty="0"/>
              <a:t>langage </a:t>
            </a:r>
          </a:p>
          <a:p>
            <a:pPr algn="l"/>
            <a:r>
              <a:rPr lang="fr-FR" sz="1800" i="1" dirty="0"/>
              <a:t>OWL</a:t>
            </a:r>
            <a:r>
              <a:rPr lang="fr-FR" sz="1800" dirty="0"/>
              <a:t>). Ces vocabulaires RDF fournissent les </a:t>
            </a:r>
            <a:r>
              <a:rPr lang="fr-FR" sz="1800" dirty="0" err="1"/>
              <a:t>URIs</a:t>
            </a:r>
            <a:r>
              <a:rPr lang="fr-FR" sz="1800" dirty="0"/>
              <a:t> qui identifient les </a:t>
            </a:r>
          </a:p>
          <a:p>
            <a:pPr algn="l"/>
            <a:r>
              <a:rPr lang="fr-FR" sz="1800" dirty="0"/>
              <a:t>propriétés des triplets RDF et les classes (ou catégories) des </a:t>
            </a:r>
          </a:p>
          <a:p>
            <a:pPr algn="l"/>
            <a:r>
              <a:rPr lang="fr-FR" sz="1800" dirty="0"/>
              <a:t>ressources décrites dans les triplets RDF.</a:t>
            </a:r>
          </a:p>
        </p:txBody>
      </p:sp>
      <p:sp>
        <p:nvSpPr>
          <p:cNvPr id="839" name="Google Shape;839;p27">
            <a:extLst>
              <a:ext uri="{FF2B5EF4-FFF2-40B4-BE49-F238E27FC236}">
                <a16:creationId xmlns:a16="http://schemas.microsoft.com/office/drawing/2014/main" id="{6CB6400E-4C3C-6B64-5D4F-387DF760FAAF}"/>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URIs</a:t>
            </a:r>
            <a:r>
              <a:rPr lang="fr-FR" sz="2400" dirty="0"/>
              <a:t>, préfixes et vocabulaires RDF</a:t>
            </a:r>
            <a:endParaRPr sz="2400" dirty="0"/>
          </a:p>
        </p:txBody>
      </p:sp>
      <p:grpSp>
        <p:nvGrpSpPr>
          <p:cNvPr id="841" name="Google Shape;841;p27">
            <a:extLst>
              <a:ext uri="{FF2B5EF4-FFF2-40B4-BE49-F238E27FC236}">
                <a16:creationId xmlns:a16="http://schemas.microsoft.com/office/drawing/2014/main" id="{343E8307-7384-6F27-36B2-53B0190D5E99}"/>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DF374476-28B1-A25D-612E-5CCCE0F84802}"/>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6891E421-1970-3631-C40B-DCB1C067BB5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8496146B-D498-91F8-4E62-D61A386B8DA1}"/>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B892C894-9592-7789-76C5-6CF35A32F259}"/>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511107BD-950B-BB4A-B8C1-CB6A40CFD9E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7824300-575C-BF84-599A-F590F49D323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647F2798-741E-A122-57D3-922595A81585}"/>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648EA13A-3E1B-87D5-B1A4-F5FECC95B10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5A1ADDD9-8E1D-6CFC-0991-9AA8D0FFDDFD}"/>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18/98</a:t>
            </a:r>
          </a:p>
        </p:txBody>
      </p:sp>
    </p:spTree>
    <p:extLst>
      <p:ext uri="{BB962C8B-B14F-4D97-AF65-F5344CB8AC3E}">
        <p14:creationId xmlns:p14="http://schemas.microsoft.com/office/powerpoint/2010/main" val="3767268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70DE19B-A664-685B-1308-D5F3625601E1}"/>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4B9D545-9529-8918-1B9C-2D2E9DA7454F}"/>
              </a:ext>
            </a:extLst>
          </p:cNvPr>
          <p:cNvSpPr txBox="1">
            <a:spLocks noGrp="1"/>
          </p:cNvSpPr>
          <p:nvPr>
            <p:ph type="subTitle" idx="1"/>
          </p:nvPr>
        </p:nvSpPr>
        <p:spPr>
          <a:xfrm>
            <a:off x="896400" y="1812275"/>
            <a:ext cx="7351200" cy="2609118"/>
          </a:xfrm>
          <a:prstGeom prst="rect">
            <a:avLst/>
          </a:prstGeom>
        </p:spPr>
        <p:txBody>
          <a:bodyPr spcFirstLastPara="1" wrap="square" lIns="91425" tIns="91425" rIns="91425" bIns="91425" anchor="t" anchorCtr="0">
            <a:noAutofit/>
          </a:bodyPr>
          <a:lstStyle/>
          <a:p>
            <a:pPr algn="l"/>
            <a:r>
              <a:rPr lang="fr-FR" sz="1800" dirty="0"/>
              <a:t>Dans le référentiel Wikidata, le préfixe </a:t>
            </a:r>
            <a:r>
              <a:rPr lang="fr-FR" sz="1800" b="1" dirty="0">
                <a:solidFill>
                  <a:srgbClr val="008F95"/>
                </a:solidFill>
              </a:rPr>
              <a:t>&lt;</a:t>
            </a:r>
            <a:r>
              <a:rPr lang="fr-FR" sz="1800" b="1" dirty="0" err="1">
                <a:solidFill>
                  <a:srgbClr val="008F95"/>
                </a:solidFill>
              </a:rPr>
              <a:t>wd</a:t>
            </a:r>
            <a:r>
              <a:rPr lang="fr-FR" sz="1800" b="1" dirty="0">
                <a:solidFill>
                  <a:srgbClr val="008F95"/>
                </a:solidFill>
              </a:rPr>
              <a:t>:&gt; </a:t>
            </a:r>
            <a:r>
              <a:rPr lang="fr-FR" sz="1800" dirty="0"/>
              <a:t>est associé au début </a:t>
            </a:r>
          </a:p>
          <a:p>
            <a:pPr algn="l"/>
            <a:r>
              <a:rPr lang="fr-FR" sz="1800" dirty="0"/>
              <a:t>d'URI </a:t>
            </a:r>
            <a:r>
              <a:rPr lang="fr-FR" sz="1800" dirty="0">
                <a:solidFill>
                  <a:srgbClr val="0070C0"/>
                </a:solidFill>
              </a:rPr>
              <a:t>&lt;http://www.wikidata.org/entity/&gt;</a:t>
            </a:r>
            <a:r>
              <a:rPr lang="fr-FR" sz="1800" dirty="0"/>
              <a:t> </a:t>
            </a:r>
            <a:r>
              <a:rPr lang="fr-FR" sz="1800" b="1" dirty="0">
                <a:solidFill>
                  <a:srgbClr val="008F95"/>
                </a:solidFill>
              </a:rPr>
              <a:t>pour</a:t>
            </a:r>
            <a:r>
              <a:rPr lang="fr-FR" sz="1800" dirty="0"/>
              <a:t> </a:t>
            </a:r>
            <a:r>
              <a:rPr lang="fr-FR" sz="1800" b="1" dirty="0">
                <a:solidFill>
                  <a:srgbClr val="008F95"/>
                </a:solidFill>
              </a:rPr>
              <a:t>nommer une </a:t>
            </a:r>
          </a:p>
          <a:p>
            <a:pPr algn="l"/>
            <a:r>
              <a:rPr lang="fr-FR" sz="1800" b="1" dirty="0">
                <a:solidFill>
                  <a:srgbClr val="008F95"/>
                </a:solidFill>
              </a:rPr>
              <a:t>ressource</a:t>
            </a:r>
            <a:r>
              <a:rPr lang="fr-FR" sz="1800" dirty="0"/>
              <a:t> (sujet ou objet du triplet) et le préfixe </a:t>
            </a:r>
            <a:r>
              <a:rPr lang="fr-FR" sz="1800" b="1" dirty="0">
                <a:solidFill>
                  <a:srgbClr val="008F95"/>
                </a:solidFill>
              </a:rPr>
              <a:t>&lt;</a:t>
            </a:r>
            <a:r>
              <a:rPr lang="fr-FR" sz="1800" b="1" dirty="0" err="1">
                <a:solidFill>
                  <a:srgbClr val="008F95"/>
                </a:solidFill>
              </a:rPr>
              <a:t>wdt</a:t>
            </a:r>
            <a:r>
              <a:rPr lang="fr-FR" sz="1800" b="1" dirty="0">
                <a:solidFill>
                  <a:srgbClr val="008F95"/>
                </a:solidFill>
              </a:rPr>
              <a:t>:&gt; </a:t>
            </a:r>
            <a:r>
              <a:rPr lang="fr-FR" sz="1800" dirty="0"/>
              <a:t>est associé au </a:t>
            </a:r>
          </a:p>
          <a:p>
            <a:pPr algn="l"/>
            <a:r>
              <a:rPr lang="fr-FR" sz="1800" dirty="0"/>
              <a:t>début d’URI </a:t>
            </a:r>
            <a:r>
              <a:rPr lang="fr-FR" sz="1800" dirty="0">
                <a:solidFill>
                  <a:srgbClr val="0070C0"/>
                </a:solidFill>
              </a:rPr>
              <a:t>&lt;http://www.wikidata.org/prop/direct/&gt;</a:t>
            </a:r>
            <a:r>
              <a:rPr lang="fr-FR" sz="1800" dirty="0"/>
              <a:t> </a:t>
            </a:r>
            <a:r>
              <a:rPr lang="fr-FR" sz="1800" b="1" dirty="0">
                <a:solidFill>
                  <a:srgbClr val="008F95"/>
                </a:solidFill>
              </a:rPr>
              <a:t>pour nommer </a:t>
            </a:r>
          </a:p>
          <a:p>
            <a:pPr algn="l"/>
            <a:r>
              <a:rPr lang="fr-FR" sz="1800" b="1" dirty="0">
                <a:solidFill>
                  <a:srgbClr val="008F95"/>
                </a:solidFill>
              </a:rPr>
              <a:t>la ressource prédicat</a:t>
            </a:r>
            <a:r>
              <a:rPr lang="fr-FR" sz="1800" dirty="0"/>
              <a:t> ou propriété du triplet.</a:t>
            </a:r>
          </a:p>
        </p:txBody>
      </p:sp>
      <p:sp>
        <p:nvSpPr>
          <p:cNvPr id="839" name="Google Shape;839;p27">
            <a:extLst>
              <a:ext uri="{FF2B5EF4-FFF2-40B4-BE49-F238E27FC236}">
                <a16:creationId xmlns:a16="http://schemas.microsoft.com/office/drawing/2014/main" id="{8A649AB2-6614-2BC8-DED8-0A88F635A6A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URIs</a:t>
            </a:r>
            <a:r>
              <a:rPr lang="fr-FR" sz="2400" dirty="0"/>
              <a:t>, préfixes et vocabulaires RDF</a:t>
            </a:r>
            <a:endParaRPr sz="2400" dirty="0"/>
          </a:p>
        </p:txBody>
      </p:sp>
      <p:grpSp>
        <p:nvGrpSpPr>
          <p:cNvPr id="841" name="Google Shape;841;p27">
            <a:extLst>
              <a:ext uri="{FF2B5EF4-FFF2-40B4-BE49-F238E27FC236}">
                <a16:creationId xmlns:a16="http://schemas.microsoft.com/office/drawing/2014/main" id="{45BDEA07-2744-007D-CC1C-516F2205B1FE}"/>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579E1BCA-EBD9-24C1-B676-005891E7E9D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B8128538-B7B2-FCE7-BB93-3BE91F1F30D7}"/>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4FA90A86-EF8D-29A4-4B0C-CBDA705202F1}"/>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502F08C7-7AE6-23EC-1B0A-DB521CB7ECF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985B819-5EC5-B382-571D-2C07DF87CC71}"/>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CE463ACE-B50D-125A-C010-19EC822DCC91}"/>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F9AEF73-C912-89DA-9A48-4B628FA936A4}"/>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BF54B24-BA09-98EF-ACF1-FD4CDB14BB5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87C9242F-7F46-22DC-09A1-9C19277805B8}"/>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19/98</a:t>
            </a:r>
          </a:p>
        </p:txBody>
      </p:sp>
    </p:spTree>
    <p:extLst>
      <p:ext uri="{BB962C8B-B14F-4D97-AF65-F5344CB8AC3E}">
        <p14:creationId xmlns:p14="http://schemas.microsoft.com/office/powerpoint/2010/main" val="1860202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D065A606-36D0-F608-2D59-2C7EACF59D0E}"/>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FB80E40B-4B6B-A35C-495D-0BFB3834E839}"/>
              </a:ext>
            </a:extLst>
          </p:cNvPr>
          <p:cNvSpPr txBox="1">
            <a:spLocks noGrp="1"/>
          </p:cNvSpPr>
          <p:nvPr>
            <p:ph type="subTitle" idx="1"/>
          </p:nvPr>
        </p:nvSpPr>
        <p:spPr>
          <a:xfrm>
            <a:off x="896400" y="1812275"/>
            <a:ext cx="7351200" cy="759475"/>
          </a:xfrm>
          <a:prstGeom prst="rect">
            <a:avLst/>
          </a:prstGeom>
        </p:spPr>
        <p:txBody>
          <a:bodyPr spcFirstLastPara="1" wrap="square" lIns="91425" tIns="91425" rIns="91425" bIns="91425" anchor="t" anchorCtr="0">
            <a:noAutofit/>
          </a:bodyPr>
          <a:lstStyle/>
          <a:p>
            <a:pPr algn="l"/>
            <a:r>
              <a:rPr lang="fr-FR" sz="1800" dirty="0"/>
              <a:t>Ainsi, l’URI de la ressource du triplet RDF </a:t>
            </a:r>
            <a:r>
              <a:rPr lang="fr-FR" sz="1800" dirty="0">
                <a:solidFill>
                  <a:srgbClr val="008F95"/>
                </a:solidFill>
              </a:rPr>
              <a:t>Mona Lisa a pour </a:t>
            </a:r>
          </a:p>
          <a:p>
            <a:pPr algn="l"/>
            <a:r>
              <a:rPr lang="fr-FR" sz="1800" dirty="0">
                <a:solidFill>
                  <a:srgbClr val="008F95"/>
                </a:solidFill>
              </a:rPr>
              <a:t>créateur Léonard de Vinci</a:t>
            </a:r>
            <a:r>
              <a:rPr lang="fr-FR" sz="1800" dirty="0"/>
              <a:t> est noté de la façon simplifiée suivante :</a:t>
            </a:r>
          </a:p>
        </p:txBody>
      </p:sp>
      <p:sp>
        <p:nvSpPr>
          <p:cNvPr id="839" name="Google Shape;839;p27">
            <a:extLst>
              <a:ext uri="{FF2B5EF4-FFF2-40B4-BE49-F238E27FC236}">
                <a16:creationId xmlns:a16="http://schemas.microsoft.com/office/drawing/2014/main" id="{2F9E4EA4-B921-7799-86C6-7A6E0F1F3AC4}"/>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URIs</a:t>
            </a:r>
            <a:r>
              <a:rPr lang="fr-FR" sz="2400" dirty="0"/>
              <a:t>, préfixes et vocabulaires RDF</a:t>
            </a:r>
            <a:endParaRPr sz="2400" dirty="0"/>
          </a:p>
        </p:txBody>
      </p:sp>
      <p:grpSp>
        <p:nvGrpSpPr>
          <p:cNvPr id="841" name="Google Shape;841;p27">
            <a:extLst>
              <a:ext uri="{FF2B5EF4-FFF2-40B4-BE49-F238E27FC236}">
                <a16:creationId xmlns:a16="http://schemas.microsoft.com/office/drawing/2014/main" id="{68FAB592-AF3F-B7A2-EFD0-66277E9030E1}"/>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516564E0-3809-86C7-6F95-748B0EBEC2CD}"/>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E5AD30E0-5CC4-22D1-479C-033064ADDD2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401D501C-F448-3882-8303-79FE46513B52}"/>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E5F6F7E8-295C-CB4C-EE65-6AE0C8474B87}"/>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92191099-183C-8105-CF85-24E58DBA38A9}"/>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FDC4B83A-18CA-E5BB-B21D-882140507C69}"/>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64DF5E15-B355-B452-36BE-C78125E9EBFB}"/>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BFF39A87-07A4-D86C-BE9B-0708F428E216}"/>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aphicFrame>
        <p:nvGraphicFramePr>
          <p:cNvPr id="2" name="Google Shape;1256;p36">
            <a:extLst>
              <a:ext uri="{FF2B5EF4-FFF2-40B4-BE49-F238E27FC236}">
                <a16:creationId xmlns:a16="http://schemas.microsoft.com/office/drawing/2014/main" id="{B1E26A1D-5D8E-8675-DD9E-C9EBE0DBAD98}"/>
              </a:ext>
            </a:extLst>
          </p:cNvPr>
          <p:cNvGraphicFramePr/>
          <p:nvPr>
            <p:extLst>
              <p:ext uri="{D42A27DB-BD31-4B8C-83A1-F6EECF244321}">
                <p14:modId xmlns:p14="http://schemas.microsoft.com/office/powerpoint/2010/main" val="558125259"/>
              </p:ext>
            </p:extLst>
          </p:nvPr>
        </p:nvGraphicFramePr>
        <p:xfrm>
          <a:off x="970520" y="2927303"/>
          <a:ext cx="7351200" cy="1219110"/>
        </p:xfrm>
        <a:graphic>
          <a:graphicData uri="http://schemas.openxmlformats.org/drawingml/2006/table">
            <a:tbl>
              <a:tblPr>
                <a:noFill/>
                <a:tableStyleId>{FECDB178-73DF-4E37-A588-1FAB14E2F0E9}</a:tableStyleId>
              </a:tblPr>
              <a:tblGrid>
                <a:gridCol w="2450400">
                  <a:extLst>
                    <a:ext uri="{9D8B030D-6E8A-4147-A177-3AD203B41FA5}">
                      <a16:colId xmlns:a16="http://schemas.microsoft.com/office/drawing/2014/main" val="20000"/>
                    </a:ext>
                  </a:extLst>
                </a:gridCol>
                <a:gridCol w="2450400">
                  <a:extLst>
                    <a:ext uri="{9D8B030D-6E8A-4147-A177-3AD203B41FA5}">
                      <a16:colId xmlns:a16="http://schemas.microsoft.com/office/drawing/2014/main" val="20001"/>
                    </a:ext>
                  </a:extLst>
                </a:gridCol>
                <a:gridCol w="24504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Sujet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Prédicat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tc>
                  <a:txBody>
                    <a:bodyPr/>
                    <a:lstStyle/>
                    <a:p>
                      <a:pPr marL="0" lvl="0" indent="0" algn="ctr" rtl="0">
                        <a:spcBef>
                          <a:spcPts val="0"/>
                        </a:spcBef>
                        <a:spcAft>
                          <a:spcPts val="0"/>
                        </a:spcAft>
                        <a:buNone/>
                      </a:pPr>
                      <a:r>
                        <a:rPr lang="fr-FR" sz="1600" b="1" dirty="0">
                          <a:solidFill>
                            <a:schemeClr val="dk1"/>
                          </a:solidFill>
                          <a:latin typeface="Days One"/>
                          <a:ea typeface="Days One"/>
                          <a:cs typeface="Days One"/>
                          <a:sym typeface="Days One"/>
                        </a:rPr>
                        <a:t>Objet</a:t>
                      </a:r>
                      <a:endParaRPr sz="1600" b="1" dirty="0">
                        <a:solidFill>
                          <a:schemeClr val="dk1"/>
                        </a:solidFill>
                        <a:latin typeface="Days One"/>
                        <a:ea typeface="Days One"/>
                        <a:cs typeface="Days One"/>
                        <a:sym typeface="Days One"/>
                      </a:endParaRPr>
                    </a:p>
                  </a:txBody>
                  <a:tcPr marL="91425" marR="91425" marT="91425" marB="914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chemeClr val="accent3"/>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Mona Lisa</a:t>
                      </a:r>
                      <a:endParaRPr dirty="0">
                        <a:solidFill>
                          <a:schemeClr val="dk1"/>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a pour créateur</a:t>
                      </a:r>
                      <a:endParaRPr dirty="0">
                        <a:solidFill>
                          <a:schemeClr val="dk1"/>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chemeClr val="dk1"/>
                          </a:solidFill>
                          <a:latin typeface="Lato"/>
                          <a:ea typeface="Lato"/>
                          <a:cs typeface="Lato"/>
                          <a:sym typeface="Lato"/>
                        </a:rPr>
                        <a:t>Léonard de Vinci</a:t>
                      </a:r>
                      <a:endParaRPr dirty="0">
                        <a:solidFill>
                          <a:schemeClr val="dk1"/>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fr-FR" dirty="0">
                          <a:solidFill>
                            <a:srgbClr val="0070C0"/>
                          </a:solidFill>
                          <a:latin typeface="Lato"/>
                          <a:ea typeface="Lato"/>
                          <a:cs typeface="Lato"/>
                          <a:sym typeface="Lato"/>
                        </a:rPr>
                        <a:t>&lt;wd:Q12418&gt;</a:t>
                      </a:r>
                      <a:endParaRPr dirty="0">
                        <a:solidFill>
                          <a:srgbClr val="0070C0"/>
                        </a:solidFill>
                        <a:latin typeface="Lato"/>
                        <a:ea typeface="Lato"/>
                        <a:cs typeface="Lato"/>
                        <a:sym typeface="Lato"/>
                      </a:endParaRPr>
                    </a:p>
                  </a:txBody>
                  <a:tcPr marL="91425" marR="91425" marT="91425" marB="91425">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rgbClr val="0070C0"/>
                          </a:solidFill>
                          <a:latin typeface="Lato"/>
                          <a:ea typeface="Lato"/>
                          <a:cs typeface="Lato"/>
                          <a:sym typeface="Lato"/>
                        </a:rPr>
                        <a:t>&lt;wdt:P170&gt;</a:t>
                      </a:r>
                      <a:endParaRPr dirty="0">
                        <a:solidFill>
                          <a:srgbClr val="0070C0"/>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fr-FR" dirty="0">
                          <a:solidFill>
                            <a:srgbClr val="0070C0"/>
                          </a:solidFill>
                          <a:latin typeface="Lato"/>
                          <a:ea typeface="Lato"/>
                          <a:cs typeface="Lato"/>
                          <a:sym typeface="Lato"/>
                        </a:rPr>
                        <a:t>&lt;wd:Q762&gt;</a:t>
                      </a:r>
                      <a:endParaRPr dirty="0">
                        <a:solidFill>
                          <a:srgbClr val="0070C0"/>
                        </a:solidFill>
                        <a:latin typeface="Lato"/>
                        <a:ea typeface="Lato"/>
                        <a:cs typeface="Lato"/>
                        <a:sym typeface="Lato"/>
                      </a:endParaRPr>
                    </a:p>
                  </a:txBody>
                  <a:tcPr marL="91425" marR="91425" marT="91425" marB="91425">
                    <a:lnL w="19050" cap="flat" cmpd="sng" algn="ctr">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solidFill>
                      <a:schemeClr val="accent4"/>
                    </a:solidFill>
                  </a:tcPr>
                </a:tc>
                <a:extLst>
                  <a:ext uri="{0D108BD9-81ED-4DB2-BD59-A6C34878D82A}">
                    <a16:rowId xmlns:a16="http://schemas.microsoft.com/office/drawing/2014/main" val="1707658534"/>
                  </a:ext>
                </a:extLst>
              </a:tr>
            </a:tbl>
          </a:graphicData>
        </a:graphic>
      </p:graphicFrame>
      <p:sp>
        <p:nvSpPr>
          <p:cNvPr id="3" name="TextBox 2">
            <a:extLst>
              <a:ext uri="{FF2B5EF4-FFF2-40B4-BE49-F238E27FC236}">
                <a16:creationId xmlns:a16="http://schemas.microsoft.com/office/drawing/2014/main" id="{6DBE4960-E951-B6DE-41FD-5D1E280F8764}"/>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20/98</a:t>
            </a:r>
          </a:p>
        </p:txBody>
      </p:sp>
    </p:spTree>
    <p:extLst>
      <p:ext uri="{BB962C8B-B14F-4D97-AF65-F5344CB8AC3E}">
        <p14:creationId xmlns:p14="http://schemas.microsoft.com/office/powerpoint/2010/main" val="2869584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D226739-5C6B-C9C1-38CD-039ADF7D2C3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D09D8C11-B667-D545-3CDF-D21D0E98EF9F}"/>
              </a:ext>
            </a:extLst>
          </p:cNvPr>
          <p:cNvSpPr txBox="1">
            <a:spLocks noGrp="1"/>
          </p:cNvSpPr>
          <p:nvPr>
            <p:ph type="subTitle" idx="1"/>
          </p:nvPr>
        </p:nvSpPr>
        <p:spPr>
          <a:xfrm>
            <a:off x="896400" y="1812275"/>
            <a:ext cx="7351200" cy="2609118"/>
          </a:xfrm>
          <a:prstGeom prst="rect">
            <a:avLst/>
          </a:prstGeom>
        </p:spPr>
        <p:txBody>
          <a:bodyPr spcFirstLastPara="1" wrap="square" lIns="91425" tIns="91425" rIns="91425" bIns="91425" anchor="t" anchorCtr="0">
            <a:noAutofit/>
          </a:bodyPr>
          <a:lstStyle/>
          <a:p>
            <a:pPr algn="l"/>
            <a:r>
              <a:rPr lang="fr-FR" sz="1800" dirty="0"/>
              <a:t>RDF est un modèle de données (permet de représenter des </a:t>
            </a:r>
          </a:p>
          <a:p>
            <a:pPr algn="l"/>
            <a:r>
              <a:rPr lang="fr-FR" sz="1800" dirty="0"/>
              <a:t>informations sous forme de graphe) et nom un format de fichier.</a:t>
            </a:r>
          </a:p>
          <a:p>
            <a:pPr algn="l"/>
            <a:r>
              <a:rPr lang="fr-FR" sz="1800" dirty="0"/>
              <a:t>Pour publier un graphe RDF sur le Web, cela nécessite l’utilisation </a:t>
            </a:r>
          </a:p>
          <a:p>
            <a:pPr algn="l"/>
            <a:r>
              <a:rPr lang="fr-FR" sz="1800" dirty="0"/>
              <a:t>d’une syntaxe dite de </a:t>
            </a:r>
            <a:r>
              <a:rPr lang="fr-FR" sz="1800" b="1" dirty="0">
                <a:solidFill>
                  <a:srgbClr val="008F95"/>
                </a:solidFill>
              </a:rPr>
              <a:t>Sérialisation RDF.</a:t>
            </a:r>
          </a:p>
        </p:txBody>
      </p:sp>
      <p:sp>
        <p:nvSpPr>
          <p:cNvPr id="839" name="Google Shape;839;p27">
            <a:extLst>
              <a:ext uri="{FF2B5EF4-FFF2-40B4-BE49-F238E27FC236}">
                <a16:creationId xmlns:a16="http://schemas.microsoft.com/office/drawing/2014/main" id="{ED1D6849-C03D-4567-7BC7-6E718DE3A946}"/>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Syntaxes de sérialisation RDF</a:t>
            </a:r>
            <a:endParaRPr sz="2400" dirty="0"/>
          </a:p>
        </p:txBody>
      </p:sp>
      <p:grpSp>
        <p:nvGrpSpPr>
          <p:cNvPr id="841" name="Google Shape;841;p27">
            <a:extLst>
              <a:ext uri="{FF2B5EF4-FFF2-40B4-BE49-F238E27FC236}">
                <a16:creationId xmlns:a16="http://schemas.microsoft.com/office/drawing/2014/main" id="{9DEBD476-A742-20A6-3759-8B0109E9374E}"/>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3E4F62C0-0805-401B-89B7-2A6351C1C216}"/>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9511C9C7-16CB-207D-FE75-FDCDCCBA2AF7}"/>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50CBD339-A1C1-3538-5595-2EDC1A4D037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9AF11A0-B81A-6ED5-F290-38629C7B4B8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6A8DDA45-E0A2-554D-18AF-CF4FDC531222}"/>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96AC3DFD-5BF1-AE85-F763-1367CCAC02C7}"/>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8DC8197-AD98-0E6A-9C06-CBDDD20096D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BCA36ADF-F4BA-3D14-9752-74F23B01732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FE2DC7D5-F0D0-0728-8362-4A2F29FFB458}"/>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21/98</a:t>
            </a:r>
          </a:p>
        </p:txBody>
      </p:sp>
    </p:spTree>
    <p:extLst>
      <p:ext uri="{BB962C8B-B14F-4D97-AF65-F5344CB8AC3E}">
        <p14:creationId xmlns:p14="http://schemas.microsoft.com/office/powerpoint/2010/main" val="315038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60597F0-9EF0-F95E-B475-316728B970E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BB99D725-AFFC-E3C1-11C7-D978C125612A}"/>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a:t>Il existe plusieurs formats de sérialisation RDF :</a:t>
            </a:r>
          </a:p>
          <a:p>
            <a:pPr marL="482600" indent="-342900" algn="l">
              <a:lnSpc>
                <a:spcPct val="150000"/>
              </a:lnSpc>
              <a:buFont typeface="+mj-lt"/>
              <a:buAutoNum type="arabicPeriod"/>
            </a:pPr>
            <a:r>
              <a:rPr lang="fr-FR" sz="1800" b="1" dirty="0">
                <a:solidFill>
                  <a:srgbClr val="008F95"/>
                </a:solidFill>
              </a:rPr>
              <a:t>RDF/XML</a:t>
            </a:r>
            <a:r>
              <a:rPr lang="fr-FR" sz="1800" dirty="0"/>
              <a:t>: RDF écrit en </a:t>
            </a:r>
            <a:r>
              <a:rPr lang="fr-FR" sz="1800" b="1" dirty="0"/>
              <a:t>XML</a:t>
            </a:r>
            <a:r>
              <a:rPr lang="fr-FR" sz="1800" dirty="0"/>
              <a:t>, l’ancien format officiel</a:t>
            </a:r>
          </a:p>
          <a:p>
            <a:pPr marL="482600" indent="-342900" algn="l">
              <a:lnSpc>
                <a:spcPct val="150000"/>
              </a:lnSpc>
              <a:buFont typeface="+mj-lt"/>
              <a:buAutoNum type="arabicPeriod"/>
            </a:pPr>
            <a:r>
              <a:rPr lang="fr-FR" sz="1800" b="1" dirty="0" err="1">
                <a:solidFill>
                  <a:srgbClr val="008F95"/>
                </a:solidFill>
              </a:rPr>
              <a:t>Turtle</a:t>
            </a:r>
            <a:r>
              <a:rPr lang="fr-FR" sz="1800" dirty="0"/>
              <a:t> (sous-ensemble de Notation3, abrégé N3)</a:t>
            </a:r>
          </a:p>
          <a:p>
            <a:pPr marL="482600" indent="-342900" algn="l">
              <a:lnSpc>
                <a:spcPct val="150000"/>
              </a:lnSpc>
              <a:buFont typeface="+mj-lt"/>
              <a:buAutoNum type="arabicPeriod"/>
            </a:pPr>
            <a:r>
              <a:rPr lang="fr-FR" sz="1800" b="1" dirty="0">
                <a:solidFill>
                  <a:srgbClr val="008F95"/>
                </a:solidFill>
              </a:rPr>
              <a:t>N-Triples</a:t>
            </a:r>
            <a:r>
              <a:rPr lang="fr-FR" sz="1800" dirty="0"/>
              <a:t> (sous-ensemble de </a:t>
            </a:r>
            <a:r>
              <a:rPr lang="fr-FR" sz="1800" dirty="0" err="1"/>
              <a:t>Turtle</a:t>
            </a:r>
            <a:r>
              <a:rPr lang="fr-FR" sz="1800" dirty="0"/>
              <a:t>)</a:t>
            </a:r>
          </a:p>
          <a:p>
            <a:pPr marL="482600" indent="-342900" algn="l">
              <a:lnSpc>
                <a:spcPct val="150000"/>
              </a:lnSpc>
              <a:buFont typeface="+mj-lt"/>
              <a:buAutoNum type="arabicPeriod"/>
            </a:pPr>
            <a:r>
              <a:rPr lang="fr-FR" sz="1800" b="1" dirty="0">
                <a:solidFill>
                  <a:srgbClr val="008F95"/>
                </a:solidFill>
              </a:rPr>
              <a:t>JSON-LD</a:t>
            </a:r>
            <a:r>
              <a:rPr lang="fr-FR" sz="1800" dirty="0"/>
              <a:t> (JSON for </a:t>
            </a:r>
            <a:r>
              <a:rPr lang="fr-FR" sz="1800" dirty="0" err="1"/>
              <a:t>Linked</a:t>
            </a:r>
            <a:r>
              <a:rPr lang="fr-FR" sz="1800" dirty="0"/>
              <a:t> Data): RDF écrit en </a:t>
            </a:r>
            <a:r>
              <a:rPr lang="fr-FR" sz="1800" b="1" dirty="0"/>
              <a:t>JSON</a:t>
            </a:r>
          </a:p>
          <a:p>
            <a:pPr marL="482600" indent="-342900" algn="l">
              <a:lnSpc>
                <a:spcPct val="150000"/>
              </a:lnSpc>
              <a:buFont typeface="+mj-lt"/>
              <a:buAutoNum type="arabicPeriod"/>
            </a:pPr>
            <a:r>
              <a:rPr lang="fr-FR" sz="1800" b="1" dirty="0" err="1">
                <a:solidFill>
                  <a:srgbClr val="008F95"/>
                </a:solidFill>
              </a:rPr>
              <a:t>RDFa</a:t>
            </a:r>
            <a:r>
              <a:rPr lang="fr-FR" sz="1800" dirty="0"/>
              <a:t> (RDF in </a:t>
            </a:r>
            <a:r>
              <a:rPr lang="fr-FR" sz="1800" dirty="0" err="1"/>
              <a:t>Attributes</a:t>
            </a:r>
            <a:r>
              <a:rPr lang="fr-FR" sz="1800" dirty="0"/>
              <a:t>): RDF intégré directement dans du </a:t>
            </a:r>
            <a:r>
              <a:rPr lang="fr-FR" sz="1800" b="1" dirty="0"/>
              <a:t>HTML</a:t>
            </a:r>
            <a:r>
              <a:rPr lang="fr-FR" sz="1800" dirty="0"/>
              <a:t> grâce à des attributs</a:t>
            </a:r>
            <a:endParaRPr lang="fr-FR" sz="1800" b="1" dirty="0">
              <a:solidFill>
                <a:srgbClr val="008F95"/>
              </a:solidFill>
            </a:endParaRPr>
          </a:p>
        </p:txBody>
      </p:sp>
      <p:sp>
        <p:nvSpPr>
          <p:cNvPr id="839" name="Google Shape;839;p27">
            <a:extLst>
              <a:ext uri="{FF2B5EF4-FFF2-40B4-BE49-F238E27FC236}">
                <a16:creationId xmlns:a16="http://schemas.microsoft.com/office/drawing/2014/main" id="{DBC39395-6D87-FD11-2A11-6437CAD4351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Syntaxes de sérialisation RDF</a:t>
            </a:r>
            <a:endParaRPr sz="2400" dirty="0"/>
          </a:p>
        </p:txBody>
      </p:sp>
      <p:grpSp>
        <p:nvGrpSpPr>
          <p:cNvPr id="841" name="Google Shape;841;p27">
            <a:extLst>
              <a:ext uri="{FF2B5EF4-FFF2-40B4-BE49-F238E27FC236}">
                <a16:creationId xmlns:a16="http://schemas.microsoft.com/office/drawing/2014/main" id="{6B807329-76E2-D9B0-A836-9A34CDA3D2F2}"/>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C7CB8BB8-9A57-7FD3-3BB0-75C0B62BB1A1}"/>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01184A7E-95C4-2E81-AA86-50161C342BAC}"/>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8FBDD311-B3A2-2D3D-CCAF-443B935FBF7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482A474D-4DF7-C871-F913-A1BB366D33E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978D6B2C-9CD1-5AC8-B06E-8255050F934F}"/>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07EFA5BE-0681-C785-909F-26BE071677C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208068C-26E2-381C-8E5B-C12A52F06C03}"/>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D8977C36-68B1-B50F-C962-0E5CAC4DB70D}"/>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C60AC1FA-4C6B-2F3F-6A31-0382E73C09CE}"/>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22/98</a:t>
            </a:r>
          </a:p>
        </p:txBody>
      </p:sp>
    </p:spTree>
    <p:extLst>
      <p:ext uri="{BB962C8B-B14F-4D97-AF65-F5344CB8AC3E}">
        <p14:creationId xmlns:p14="http://schemas.microsoft.com/office/powerpoint/2010/main" val="231733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656EAA5C-8552-F8FF-C2E4-779F3FE40988}"/>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FDA9309-3A20-7716-DCDE-EC151133E1C7}"/>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a:t>RDF/XML:</a:t>
            </a:r>
          </a:p>
          <a:p>
            <a:pPr algn="l">
              <a:lnSpc>
                <a:spcPct val="150000"/>
              </a:lnSpc>
            </a:pPr>
            <a:endParaRPr lang="fr-FR" sz="1800" b="1" dirty="0">
              <a:solidFill>
                <a:srgbClr val="008F95"/>
              </a:solidFill>
            </a:endParaRPr>
          </a:p>
        </p:txBody>
      </p:sp>
      <p:sp>
        <p:nvSpPr>
          <p:cNvPr id="839" name="Google Shape;839;p27">
            <a:extLst>
              <a:ext uri="{FF2B5EF4-FFF2-40B4-BE49-F238E27FC236}">
                <a16:creationId xmlns:a16="http://schemas.microsoft.com/office/drawing/2014/main" id="{1CD3EC46-8F1D-374E-840E-3FBB9DFFD127}"/>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Syntaxes de sérialisation RDF: Exemples</a:t>
            </a:r>
            <a:endParaRPr sz="2400" dirty="0"/>
          </a:p>
        </p:txBody>
      </p:sp>
      <p:grpSp>
        <p:nvGrpSpPr>
          <p:cNvPr id="841" name="Google Shape;841;p27">
            <a:extLst>
              <a:ext uri="{FF2B5EF4-FFF2-40B4-BE49-F238E27FC236}">
                <a16:creationId xmlns:a16="http://schemas.microsoft.com/office/drawing/2014/main" id="{D6945228-CD18-DED3-D94C-E5C7E850C1A7}"/>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C8F06AB-B4EF-2F02-B8C3-195460C7200E}"/>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0321E2A-BBA2-6F8F-92FA-BF025AAD76CB}"/>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73D8EC2-2450-A144-0593-B3C0570EE5A9}"/>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144E2240-F7B0-C440-7C6E-AF72ADB4ED4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674252FD-C526-0B55-163F-F888D98A9E34}"/>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A9410529-F66C-DD32-1598-D7740A0B3EE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0EE4C614-B320-C83D-1927-501386A9784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1E45935F-4529-44A1-FFBA-F22AEA0FD5C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5" name="Picture 4">
            <a:extLst>
              <a:ext uri="{FF2B5EF4-FFF2-40B4-BE49-F238E27FC236}">
                <a16:creationId xmlns:a16="http://schemas.microsoft.com/office/drawing/2014/main" id="{6AF55D69-110D-6107-932A-9E5083C80660}"/>
              </a:ext>
            </a:extLst>
          </p:cNvPr>
          <p:cNvPicPr>
            <a:picLocks noChangeAspect="1"/>
          </p:cNvPicPr>
          <p:nvPr/>
        </p:nvPicPr>
        <p:blipFill>
          <a:blip r:embed="rId3"/>
          <a:stretch>
            <a:fillRect/>
          </a:stretch>
        </p:blipFill>
        <p:spPr>
          <a:xfrm>
            <a:off x="1129552" y="2082446"/>
            <a:ext cx="5819887" cy="2119704"/>
          </a:xfrm>
          <a:prstGeom prst="rect">
            <a:avLst/>
          </a:prstGeom>
        </p:spPr>
      </p:pic>
      <p:sp>
        <p:nvSpPr>
          <p:cNvPr id="2" name="TextBox 1">
            <a:extLst>
              <a:ext uri="{FF2B5EF4-FFF2-40B4-BE49-F238E27FC236}">
                <a16:creationId xmlns:a16="http://schemas.microsoft.com/office/drawing/2014/main" id="{E9AE7059-7180-24FF-BD40-A7E50A44B476}"/>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23/98</a:t>
            </a:r>
          </a:p>
        </p:txBody>
      </p:sp>
    </p:spTree>
    <p:extLst>
      <p:ext uri="{BB962C8B-B14F-4D97-AF65-F5344CB8AC3E}">
        <p14:creationId xmlns:p14="http://schemas.microsoft.com/office/powerpoint/2010/main" val="2867271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F8FE5C9-B73E-CC3A-EAFB-CAE5E57378AF}"/>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3FE1C073-981D-54D9-5E16-6AD9414225EF}"/>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err="1"/>
              <a:t>Turtle</a:t>
            </a:r>
            <a:r>
              <a:rPr lang="fr-FR" sz="1800" dirty="0"/>
              <a:t> :</a:t>
            </a:r>
          </a:p>
          <a:p>
            <a:pPr algn="l">
              <a:lnSpc>
                <a:spcPct val="150000"/>
              </a:lnSpc>
            </a:pPr>
            <a:endParaRPr lang="fr-FR" sz="1800" b="1" dirty="0">
              <a:solidFill>
                <a:srgbClr val="008F95"/>
              </a:solidFill>
            </a:endParaRPr>
          </a:p>
        </p:txBody>
      </p:sp>
      <p:sp>
        <p:nvSpPr>
          <p:cNvPr id="839" name="Google Shape;839;p27">
            <a:extLst>
              <a:ext uri="{FF2B5EF4-FFF2-40B4-BE49-F238E27FC236}">
                <a16:creationId xmlns:a16="http://schemas.microsoft.com/office/drawing/2014/main" id="{934D8CD8-C7A2-339C-72B2-6668650AF2B6}"/>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Syntaxes de sérialisation RDF: Exemples</a:t>
            </a:r>
            <a:endParaRPr sz="2400" dirty="0"/>
          </a:p>
        </p:txBody>
      </p:sp>
      <p:grpSp>
        <p:nvGrpSpPr>
          <p:cNvPr id="841" name="Google Shape;841;p27">
            <a:extLst>
              <a:ext uri="{FF2B5EF4-FFF2-40B4-BE49-F238E27FC236}">
                <a16:creationId xmlns:a16="http://schemas.microsoft.com/office/drawing/2014/main" id="{C52C2268-1972-FA44-E039-A9EC8EBD2D61}"/>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A5045DB-23CE-B7E7-A7E6-7C1D4D5EC3F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BF20D504-A344-5467-177E-11A0106BDF74}"/>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1E5DD72C-0A0C-850E-A0F8-9C3755EDF9E5}"/>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8FEA8279-1DF9-7D9C-CE41-2C81315B5EEF}"/>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0FBF0757-0FDC-C178-8D5B-B5DA125AFA0C}"/>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A5B1C907-107D-B99C-5FCB-DA26FF5439E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C41A7AAA-5AE2-120A-5F3A-61192E4CDE84}"/>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B7A15631-A641-57EE-B81F-6A710D8C6E62}"/>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9F322984-0878-505D-492C-949882EECAF7}"/>
              </a:ext>
            </a:extLst>
          </p:cNvPr>
          <p:cNvPicPr>
            <a:picLocks noChangeAspect="1"/>
          </p:cNvPicPr>
          <p:nvPr/>
        </p:nvPicPr>
        <p:blipFill>
          <a:blip r:embed="rId3"/>
          <a:stretch>
            <a:fillRect/>
          </a:stretch>
        </p:blipFill>
        <p:spPr>
          <a:xfrm>
            <a:off x="1136584" y="2300627"/>
            <a:ext cx="7351200" cy="1328824"/>
          </a:xfrm>
          <a:prstGeom prst="rect">
            <a:avLst/>
          </a:prstGeom>
        </p:spPr>
      </p:pic>
      <p:sp>
        <p:nvSpPr>
          <p:cNvPr id="2" name="TextBox 1">
            <a:extLst>
              <a:ext uri="{FF2B5EF4-FFF2-40B4-BE49-F238E27FC236}">
                <a16:creationId xmlns:a16="http://schemas.microsoft.com/office/drawing/2014/main" id="{7D026FD5-45A4-62ED-80E3-E21F0C4C8FE4}"/>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24/98</a:t>
            </a:r>
          </a:p>
        </p:txBody>
      </p:sp>
    </p:spTree>
    <p:extLst>
      <p:ext uri="{BB962C8B-B14F-4D97-AF65-F5344CB8AC3E}">
        <p14:creationId xmlns:p14="http://schemas.microsoft.com/office/powerpoint/2010/main" val="2008457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0C715E3-32FC-56E0-3832-0A301F3CDB9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F0A1B83-693A-8719-95AC-4C090D3BC103}"/>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b="1" dirty="0"/>
              <a:t>N-Triples</a:t>
            </a:r>
            <a:r>
              <a:rPr lang="fr-FR" sz="1800" dirty="0"/>
              <a:t> :</a:t>
            </a:r>
          </a:p>
          <a:p>
            <a:pPr algn="l">
              <a:lnSpc>
                <a:spcPct val="150000"/>
              </a:lnSpc>
            </a:pPr>
            <a:endParaRPr lang="fr-FR" sz="1800" b="1" dirty="0">
              <a:solidFill>
                <a:srgbClr val="008F95"/>
              </a:solidFill>
            </a:endParaRPr>
          </a:p>
        </p:txBody>
      </p:sp>
      <p:sp>
        <p:nvSpPr>
          <p:cNvPr id="839" name="Google Shape;839;p27">
            <a:extLst>
              <a:ext uri="{FF2B5EF4-FFF2-40B4-BE49-F238E27FC236}">
                <a16:creationId xmlns:a16="http://schemas.microsoft.com/office/drawing/2014/main" id="{762972BB-2146-ED12-6B07-F87A48E0DAF3}"/>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Syntaxes de sérialisation RDF: Exemples</a:t>
            </a:r>
            <a:endParaRPr sz="2400" dirty="0"/>
          </a:p>
        </p:txBody>
      </p:sp>
      <p:grpSp>
        <p:nvGrpSpPr>
          <p:cNvPr id="841" name="Google Shape;841;p27">
            <a:extLst>
              <a:ext uri="{FF2B5EF4-FFF2-40B4-BE49-F238E27FC236}">
                <a16:creationId xmlns:a16="http://schemas.microsoft.com/office/drawing/2014/main" id="{BE8AD64E-5ED1-C298-A745-BFE527B670D1}"/>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AA399799-2E71-690E-CFFB-EB3CEB7CEA1C}"/>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83CEFBA3-C811-B2E4-FC51-D9F1ACAD99C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03465F2-A231-E52E-E6C9-87ECAD7CE0F2}"/>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2957D2D4-588E-3A3F-A818-13F1A1E0453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115C3189-530B-F39C-7B60-CF2387991C4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3254738-1F86-7856-3769-DA7A2002E4F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B4528BEF-B07B-8235-8160-69A5B051C77F}"/>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B324114-E8DC-AC76-51F4-70B987856BA1}"/>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04D59C97-977D-ED4D-949F-F58CFC22517C}"/>
              </a:ext>
            </a:extLst>
          </p:cNvPr>
          <p:cNvPicPr>
            <a:picLocks noChangeAspect="1"/>
          </p:cNvPicPr>
          <p:nvPr/>
        </p:nvPicPr>
        <p:blipFill>
          <a:blip r:embed="rId3"/>
          <a:stretch>
            <a:fillRect/>
          </a:stretch>
        </p:blipFill>
        <p:spPr>
          <a:xfrm>
            <a:off x="1161053" y="2287607"/>
            <a:ext cx="7251427" cy="943143"/>
          </a:xfrm>
          <a:prstGeom prst="rect">
            <a:avLst/>
          </a:prstGeom>
        </p:spPr>
      </p:pic>
      <p:sp>
        <p:nvSpPr>
          <p:cNvPr id="2" name="TextBox 1">
            <a:extLst>
              <a:ext uri="{FF2B5EF4-FFF2-40B4-BE49-F238E27FC236}">
                <a16:creationId xmlns:a16="http://schemas.microsoft.com/office/drawing/2014/main" id="{E0DF5ECF-6B0F-B2FA-8FEB-BA0FFCCD4338}"/>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25/98</a:t>
            </a:r>
          </a:p>
        </p:txBody>
      </p:sp>
    </p:spTree>
    <p:extLst>
      <p:ext uri="{BB962C8B-B14F-4D97-AF65-F5344CB8AC3E}">
        <p14:creationId xmlns:p14="http://schemas.microsoft.com/office/powerpoint/2010/main" val="27132970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C4E0463E-BCC7-B40E-1A32-9D5AAF75645C}"/>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8B670412-B297-CC7B-DCE4-AC6DAC778F86}"/>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a:t>JSON-LD :</a:t>
            </a:r>
          </a:p>
          <a:p>
            <a:pPr algn="l">
              <a:lnSpc>
                <a:spcPct val="150000"/>
              </a:lnSpc>
            </a:pPr>
            <a:endParaRPr lang="fr-FR" sz="1800" b="1" dirty="0">
              <a:solidFill>
                <a:srgbClr val="008F95"/>
              </a:solidFill>
            </a:endParaRPr>
          </a:p>
        </p:txBody>
      </p:sp>
      <p:sp>
        <p:nvSpPr>
          <p:cNvPr id="839" name="Google Shape;839;p27">
            <a:extLst>
              <a:ext uri="{FF2B5EF4-FFF2-40B4-BE49-F238E27FC236}">
                <a16:creationId xmlns:a16="http://schemas.microsoft.com/office/drawing/2014/main" id="{441BDB89-3309-DA86-7EB6-382F82B7483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Syntaxes de sérialisation RDF: Exemples</a:t>
            </a:r>
            <a:endParaRPr sz="2400" dirty="0"/>
          </a:p>
        </p:txBody>
      </p:sp>
      <p:grpSp>
        <p:nvGrpSpPr>
          <p:cNvPr id="841" name="Google Shape;841;p27">
            <a:extLst>
              <a:ext uri="{FF2B5EF4-FFF2-40B4-BE49-F238E27FC236}">
                <a16:creationId xmlns:a16="http://schemas.microsoft.com/office/drawing/2014/main" id="{0A29AC4B-12BD-708F-525D-E5206519ED2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881BD06-BD85-097E-544D-404FE5E43AE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72F618A-98E2-D624-8E60-23988CDCF44D}"/>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F72332FA-50C3-2837-43A5-B7F6F94D3EDE}"/>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8AE2E29E-8F04-DFD7-E828-6626999EDA74}"/>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8AC6AA6-BA9C-DFB9-A639-6F0901BBB8F5}"/>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A04E5581-7BC2-63CE-F445-054712E117B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8DBECA70-1BF5-47E5-4922-534F62B6B4D2}"/>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BAD90475-81E1-38C5-18A4-43B269431880}"/>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A297E0C6-614F-DB15-BFCB-DA77C19C6F76}"/>
              </a:ext>
            </a:extLst>
          </p:cNvPr>
          <p:cNvPicPr>
            <a:picLocks noChangeAspect="1"/>
          </p:cNvPicPr>
          <p:nvPr/>
        </p:nvPicPr>
        <p:blipFill>
          <a:blip r:embed="rId3"/>
          <a:stretch>
            <a:fillRect/>
          </a:stretch>
        </p:blipFill>
        <p:spPr>
          <a:xfrm>
            <a:off x="1118768" y="2228715"/>
            <a:ext cx="7455049" cy="2141137"/>
          </a:xfrm>
          <a:prstGeom prst="rect">
            <a:avLst/>
          </a:prstGeom>
        </p:spPr>
      </p:pic>
      <p:sp>
        <p:nvSpPr>
          <p:cNvPr id="2" name="TextBox 1">
            <a:extLst>
              <a:ext uri="{FF2B5EF4-FFF2-40B4-BE49-F238E27FC236}">
                <a16:creationId xmlns:a16="http://schemas.microsoft.com/office/drawing/2014/main" id="{15FFF660-A7DC-B323-18B5-9E92AC58D17C}"/>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26/98</a:t>
            </a:r>
          </a:p>
        </p:txBody>
      </p:sp>
    </p:spTree>
    <p:extLst>
      <p:ext uri="{BB962C8B-B14F-4D97-AF65-F5344CB8AC3E}">
        <p14:creationId xmlns:p14="http://schemas.microsoft.com/office/powerpoint/2010/main" val="416925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DE8E4B8-1944-C1B9-D19E-F424CED2F055}"/>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11BF99B-6B45-4EC8-D767-865F6B7635C9}"/>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err="1"/>
              <a:t>RDFa</a:t>
            </a:r>
            <a:r>
              <a:rPr lang="fr-FR" sz="1800" dirty="0"/>
              <a:t> :</a:t>
            </a:r>
          </a:p>
          <a:p>
            <a:pPr algn="l">
              <a:lnSpc>
                <a:spcPct val="150000"/>
              </a:lnSpc>
            </a:pPr>
            <a:endParaRPr lang="fr-FR" sz="1800" b="1" dirty="0">
              <a:solidFill>
                <a:srgbClr val="008F95"/>
              </a:solidFill>
            </a:endParaRPr>
          </a:p>
        </p:txBody>
      </p:sp>
      <p:sp>
        <p:nvSpPr>
          <p:cNvPr id="839" name="Google Shape;839;p27">
            <a:extLst>
              <a:ext uri="{FF2B5EF4-FFF2-40B4-BE49-F238E27FC236}">
                <a16:creationId xmlns:a16="http://schemas.microsoft.com/office/drawing/2014/main" id="{2973F4B1-A015-A36F-F5B0-C3138DC7991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Syntaxes de sérialisation RDF: Exemples</a:t>
            </a:r>
            <a:endParaRPr sz="2400" dirty="0"/>
          </a:p>
        </p:txBody>
      </p:sp>
      <p:grpSp>
        <p:nvGrpSpPr>
          <p:cNvPr id="841" name="Google Shape;841;p27">
            <a:extLst>
              <a:ext uri="{FF2B5EF4-FFF2-40B4-BE49-F238E27FC236}">
                <a16:creationId xmlns:a16="http://schemas.microsoft.com/office/drawing/2014/main" id="{6A8B1D1E-4C3C-D4E9-857E-9BDBF9E7B46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0390E30-78F1-3821-FE24-802870071AB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B09DC99-C24B-8B85-9A23-11B4862EC83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D7444CA-52C4-5866-6679-2CD88D4249C5}"/>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A5055616-ECCB-DA8D-0CBF-A44B3042D0DC}"/>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210A77B-EE53-7925-B409-EA3AA46001D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E52F6102-E9F0-7028-3832-B364BBA8DFE9}"/>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DC1645CB-2F92-8123-ED0E-A9C5EB1ED751}"/>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2891237-0A89-DC86-7C7C-D5D4A487CF6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4CABFEE5-3DDA-FFC2-9A7B-54E41151250B}"/>
              </a:ext>
            </a:extLst>
          </p:cNvPr>
          <p:cNvPicPr>
            <a:picLocks noChangeAspect="1"/>
          </p:cNvPicPr>
          <p:nvPr/>
        </p:nvPicPr>
        <p:blipFill>
          <a:blip r:embed="rId3"/>
          <a:stretch>
            <a:fillRect/>
          </a:stretch>
        </p:blipFill>
        <p:spPr>
          <a:xfrm>
            <a:off x="1054222" y="2297285"/>
            <a:ext cx="7519595" cy="1943471"/>
          </a:xfrm>
          <a:prstGeom prst="rect">
            <a:avLst/>
          </a:prstGeom>
        </p:spPr>
      </p:pic>
      <p:sp>
        <p:nvSpPr>
          <p:cNvPr id="2" name="TextBox 1">
            <a:extLst>
              <a:ext uri="{FF2B5EF4-FFF2-40B4-BE49-F238E27FC236}">
                <a16:creationId xmlns:a16="http://schemas.microsoft.com/office/drawing/2014/main" id="{6DF1C330-C1B7-B99B-EBE3-D52CD7EADF33}"/>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27/98</a:t>
            </a:r>
          </a:p>
        </p:txBody>
      </p:sp>
    </p:spTree>
    <p:extLst>
      <p:ext uri="{BB962C8B-B14F-4D97-AF65-F5344CB8AC3E}">
        <p14:creationId xmlns:p14="http://schemas.microsoft.com/office/powerpoint/2010/main" val="4339442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37F5E47-83A9-01D1-615F-89BE3446E5D1}"/>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CD6B66CE-F0DC-DFBB-7625-F9820ECBF97B}"/>
              </a:ext>
            </a:extLst>
          </p:cNvPr>
          <p:cNvSpPr txBox="1">
            <a:spLocks noGrp="1"/>
          </p:cNvSpPr>
          <p:nvPr>
            <p:ph type="subTitle" idx="1"/>
          </p:nvPr>
        </p:nvSpPr>
        <p:spPr>
          <a:xfrm>
            <a:off x="862152" y="1629389"/>
            <a:ext cx="7459568" cy="2964120"/>
          </a:xfrm>
          <a:prstGeom prst="rect">
            <a:avLst/>
          </a:prstGeom>
        </p:spPr>
        <p:txBody>
          <a:bodyPr spcFirstLastPara="1" wrap="square" lIns="91425" tIns="91425" rIns="91425" bIns="91425" anchor="t" anchorCtr="0">
            <a:noAutofit/>
          </a:bodyPr>
          <a:lstStyle/>
          <a:p>
            <a:pPr algn="l">
              <a:lnSpc>
                <a:spcPct val="150000"/>
              </a:lnSpc>
            </a:pPr>
            <a:r>
              <a:rPr lang="fr-FR" sz="1600" dirty="0"/>
              <a:t>OWL est un langage standardisé par le W3C, conçu pour modéliser de</a:t>
            </a:r>
          </a:p>
          <a:p>
            <a:pPr algn="l">
              <a:lnSpc>
                <a:spcPct val="150000"/>
              </a:lnSpc>
            </a:pPr>
            <a:r>
              <a:rPr lang="fr-FR" sz="1600" dirty="0"/>
              <a:t>ontologies complexes sur le Web sémantique en s'appuyant sur RDF (Resource</a:t>
            </a:r>
          </a:p>
          <a:p>
            <a:pPr algn="l">
              <a:lnSpc>
                <a:spcPct val="150000"/>
              </a:lnSpc>
            </a:pPr>
            <a:r>
              <a:rPr lang="fr-FR" sz="1600" dirty="0"/>
              <a:t>Description Framework). </a:t>
            </a:r>
          </a:p>
          <a:p>
            <a:pPr algn="l">
              <a:lnSpc>
                <a:spcPct val="150000"/>
              </a:lnSpc>
              <a:buFont typeface="Wingdings" panose="05000000000000000000" pitchFamily="2" charset="2"/>
              <a:buChar char="q"/>
            </a:pPr>
            <a:r>
              <a:rPr lang="fr-FR" sz="1600" b="1" dirty="0"/>
              <a:t>Fondation sur RDF </a:t>
            </a:r>
            <a:r>
              <a:rPr lang="fr-FR" sz="1600" dirty="0"/>
              <a:t>: OWL utilise la structure de base de RDF, qui organise les données en triplets (sujet, prédicat, objet), comme </a:t>
            </a:r>
            <a:r>
              <a:rPr lang="fr-FR" sz="1600" b="1" dirty="0"/>
              <a:t>&lt;Mona Lisa&gt; &lt;a pour créateur&gt; &lt;Léonard de Vinci&gt;</a:t>
            </a:r>
            <a:r>
              <a:rPr lang="fr-FR" sz="1600" dirty="0"/>
              <a:t>. OWL prend ces triplets pour y </a:t>
            </a:r>
            <a:r>
              <a:rPr lang="fr-FR" sz="1600" b="1" dirty="0"/>
              <a:t>ajouter des règles et des définitions plus avancées</a:t>
            </a:r>
            <a:r>
              <a:rPr lang="fr-FR" sz="1600" dirty="0"/>
              <a:t>, créant des ontologies qui décrivent des concepts et leurs relations (ex. : "un chat est un mammifère").</a:t>
            </a:r>
          </a:p>
        </p:txBody>
      </p:sp>
      <p:sp>
        <p:nvSpPr>
          <p:cNvPr id="839" name="Google Shape;839;p27">
            <a:extLst>
              <a:ext uri="{FF2B5EF4-FFF2-40B4-BE49-F238E27FC236}">
                <a16:creationId xmlns:a16="http://schemas.microsoft.com/office/drawing/2014/main" id="{1E683C6E-52E1-E813-039C-958673DE1D07}"/>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OWL (Web </a:t>
            </a:r>
            <a:r>
              <a:rPr lang="fr-FR" sz="2400" dirty="0" err="1"/>
              <a:t>Ontology</a:t>
            </a:r>
            <a:r>
              <a:rPr lang="fr-FR" sz="2400" dirty="0"/>
              <a:t> </a:t>
            </a:r>
            <a:r>
              <a:rPr lang="fr-FR" sz="2400" dirty="0" err="1"/>
              <a:t>Language</a:t>
            </a:r>
            <a:r>
              <a:rPr lang="fr-FR" sz="2400" dirty="0"/>
              <a:t>)</a:t>
            </a:r>
            <a:endParaRPr sz="2400" dirty="0"/>
          </a:p>
        </p:txBody>
      </p:sp>
      <p:grpSp>
        <p:nvGrpSpPr>
          <p:cNvPr id="841" name="Google Shape;841;p27">
            <a:extLst>
              <a:ext uri="{FF2B5EF4-FFF2-40B4-BE49-F238E27FC236}">
                <a16:creationId xmlns:a16="http://schemas.microsoft.com/office/drawing/2014/main" id="{A28A91AA-6D7A-08F2-C5CC-CC1F1B0C32A9}"/>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AC726DF0-EE7C-4AAB-353F-6208BFB3453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B0A66F58-8529-583D-37EC-D7FC367DC2E1}"/>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F0EF4E9-C6F4-8831-E4AB-719621903DF8}"/>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38A81901-258D-7DD6-BB1A-AC862F0B535F}"/>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504C4657-D8E8-3BC5-1C87-0E3B5659C5D0}"/>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698B34C9-1E3E-BACF-B6F5-2148F6D78D13}"/>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B117DCD7-D25E-C931-8E33-A7053D840840}"/>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39957846-CF90-2BA4-DB56-D264A25B190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1C3ECF9B-E8FE-FA05-5134-FC54280DBAD9}"/>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28/98</a:t>
            </a:r>
          </a:p>
        </p:txBody>
      </p:sp>
    </p:spTree>
    <p:extLst>
      <p:ext uri="{BB962C8B-B14F-4D97-AF65-F5344CB8AC3E}">
        <p14:creationId xmlns:p14="http://schemas.microsoft.com/office/powerpoint/2010/main" val="2589766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422ED328-9654-3409-0089-534C2D46F62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BEF0DF2-9443-FF7B-3F82-377D24D44A94}"/>
              </a:ext>
            </a:extLst>
          </p:cNvPr>
          <p:cNvSpPr txBox="1">
            <a:spLocks noGrp="1"/>
          </p:cNvSpPr>
          <p:nvPr>
            <p:ph type="subTitle" idx="1"/>
          </p:nvPr>
        </p:nvSpPr>
        <p:spPr>
          <a:xfrm>
            <a:off x="862152" y="1629389"/>
            <a:ext cx="7459568" cy="2964120"/>
          </a:xfrm>
          <a:prstGeom prst="rect">
            <a:avLst/>
          </a:prstGeom>
        </p:spPr>
        <p:txBody>
          <a:bodyPr spcFirstLastPara="1" wrap="square" lIns="91425" tIns="91425" rIns="91425" bIns="91425" anchor="t" anchorCtr="0">
            <a:noAutofit/>
          </a:bodyPr>
          <a:lstStyle/>
          <a:p>
            <a:pPr algn="l">
              <a:lnSpc>
                <a:spcPct val="150000"/>
              </a:lnSpc>
              <a:buFont typeface="Wingdings" panose="05000000000000000000" pitchFamily="2" charset="2"/>
              <a:buChar char="q"/>
            </a:pPr>
            <a:r>
              <a:rPr lang="fr-FR" sz="1600" b="1" dirty="0"/>
              <a:t>Ajout de logique </a:t>
            </a:r>
            <a:r>
              <a:rPr lang="fr-FR" sz="1600" dirty="0"/>
              <a:t>: Contrairement à RDF, qui se limite à décrire des faits, OWL introduit une logique pour raisonner. Par exemple, avec RDF, on peut dire "X est un oiseau", et avec OWL, on peut ajouter "tous les oiseaux volent", permettant au système de vérifier la cohérence (ex. : signaler une erreur si un oiseau ne vole pas).</a:t>
            </a:r>
          </a:p>
        </p:txBody>
      </p:sp>
      <p:sp>
        <p:nvSpPr>
          <p:cNvPr id="839" name="Google Shape;839;p27">
            <a:extLst>
              <a:ext uri="{FF2B5EF4-FFF2-40B4-BE49-F238E27FC236}">
                <a16:creationId xmlns:a16="http://schemas.microsoft.com/office/drawing/2014/main" id="{1D921462-16A9-23D3-9BFD-4C4C5A0B7DBB}"/>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OWL (Web </a:t>
            </a:r>
            <a:r>
              <a:rPr lang="fr-FR" sz="2400" dirty="0" err="1"/>
              <a:t>Ontology</a:t>
            </a:r>
            <a:r>
              <a:rPr lang="fr-FR" sz="2400" dirty="0"/>
              <a:t> </a:t>
            </a:r>
            <a:r>
              <a:rPr lang="fr-FR" sz="2400" dirty="0" err="1"/>
              <a:t>Language</a:t>
            </a:r>
            <a:r>
              <a:rPr lang="fr-FR" sz="2400" dirty="0"/>
              <a:t>)</a:t>
            </a:r>
            <a:endParaRPr sz="2400" dirty="0"/>
          </a:p>
        </p:txBody>
      </p:sp>
      <p:grpSp>
        <p:nvGrpSpPr>
          <p:cNvPr id="841" name="Google Shape;841;p27">
            <a:extLst>
              <a:ext uri="{FF2B5EF4-FFF2-40B4-BE49-F238E27FC236}">
                <a16:creationId xmlns:a16="http://schemas.microsoft.com/office/drawing/2014/main" id="{A8A275FE-0CEE-E3BC-A60D-5E7962FA6346}"/>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7FCDCF2-08CF-42AF-C307-E95BC16FCB75}"/>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73F1E309-21ED-6361-B68B-9D7C4862DC7F}"/>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1D630518-482D-C1A3-39AC-0A9956F77A8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15D9AD8-A6A6-243E-5D77-43023A38E783}"/>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5273150A-DBB5-F143-6863-A395B0832CC6}"/>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D42F511-97BE-DEF5-C630-AC2BCFE4263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D22990A9-92EE-4026-45A5-CAFD0BA6715C}"/>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E5D5F4A8-4AF3-DE9E-1C46-161309B4A063}"/>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7E74B7DB-C5E2-E27B-F892-3CD6059E0A8C}"/>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29/98</a:t>
            </a:r>
          </a:p>
        </p:txBody>
      </p:sp>
    </p:spTree>
    <p:extLst>
      <p:ext uri="{BB962C8B-B14F-4D97-AF65-F5344CB8AC3E}">
        <p14:creationId xmlns:p14="http://schemas.microsoft.com/office/powerpoint/2010/main" val="2975102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079E9A93-FF1A-A203-86E7-9306CD7413EC}"/>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0C8470BB-35C1-1729-2E34-126A5FCF423A}"/>
              </a:ext>
            </a:extLst>
          </p:cNvPr>
          <p:cNvSpPr txBox="1">
            <a:spLocks noGrp="1"/>
          </p:cNvSpPr>
          <p:nvPr>
            <p:ph type="subTitle" idx="1"/>
          </p:nvPr>
        </p:nvSpPr>
        <p:spPr>
          <a:xfrm>
            <a:off x="862152" y="1629389"/>
            <a:ext cx="7459568" cy="2964120"/>
          </a:xfrm>
          <a:prstGeom prst="rect">
            <a:avLst/>
          </a:prstGeom>
        </p:spPr>
        <p:txBody>
          <a:bodyPr spcFirstLastPara="1" wrap="square" lIns="91425" tIns="91425" rIns="91425" bIns="91425" anchor="t" anchorCtr="0">
            <a:noAutofit/>
          </a:bodyPr>
          <a:lstStyle/>
          <a:p>
            <a:pPr algn="l">
              <a:lnSpc>
                <a:spcPct val="150000"/>
              </a:lnSpc>
              <a:buFont typeface="Wingdings" panose="05000000000000000000" pitchFamily="2" charset="2"/>
              <a:buChar char="q"/>
            </a:pPr>
            <a:r>
              <a:rPr lang="fr-FR" sz="1600" b="1" dirty="0"/>
              <a:t>Types et intégration : </a:t>
            </a:r>
            <a:r>
              <a:rPr lang="fr-FR" sz="1600" dirty="0"/>
              <a:t>OWL existe en versions comme OWL Lite, OWL DL, et OWL 2, souvent encodées en formats RDF (RDF/XML, </a:t>
            </a:r>
            <a:r>
              <a:rPr lang="fr-FR" sz="1600" dirty="0" err="1"/>
              <a:t>Turtle</a:t>
            </a:r>
            <a:r>
              <a:rPr lang="fr-FR" sz="1600" dirty="0"/>
              <a:t>). Cela permet de stocker les ontologies OWL dans des bases comme </a:t>
            </a:r>
            <a:r>
              <a:rPr lang="fr-FR" sz="1600" dirty="0" err="1"/>
              <a:t>AllegroGraph</a:t>
            </a:r>
            <a:r>
              <a:rPr lang="fr-FR" sz="1600" dirty="0"/>
              <a:t> et de les interroger avec SPARQL, en utilisant des prédicats OWL comme </a:t>
            </a:r>
            <a:r>
              <a:rPr lang="fr-FR" sz="1600" b="1" dirty="0" err="1"/>
              <a:t>owl:sameAs</a:t>
            </a:r>
            <a:r>
              <a:rPr lang="fr-FR" sz="1600" b="1" dirty="0"/>
              <a:t> </a:t>
            </a:r>
            <a:r>
              <a:rPr lang="fr-FR" sz="1600" dirty="0"/>
              <a:t>ou </a:t>
            </a:r>
            <a:r>
              <a:rPr lang="fr-FR" sz="1600" b="1" dirty="0" err="1"/>
              <a:t>owl:TransitiveProperty</a:t>
            </a:r>
            <a:r>
              <a:rPr lang="fr-FR" sz="1600" dirty="0"/>
              <a:t>.</a:t>
            </a:r>
          </a:p>
        </p:txBody>
      </p:sp>
      <p:sp>
        <p:nvSpPr>
          <p:cNvPr id="839" name="Google Shape;839;p27">
            <a:extLst>
              <a:ext uri="{FF2B5EF4-FFF2-40B4-BE49-F238E27FC236}">
                <a16:creationId xmlns:a16="http://schemas.microsoft.com/office/drawing/2014/main" id="{2B547F75-34D6-AD21-4850-2F6C36B8FBD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OWL (Web </a:t>
            </a:r>
            <a:r>
              <a:rPr lang="fr-FR" sz="2400" dirty="0" err="1"/>
              <a:t>Ontology</a:t>
            </a:r>
            <a:r>
              <a:rPr lang="fr-FR" sz="2400" dirty="0"/>
              <a:t> </a:t>
            </a:r>
            <a:r>
              <a:rPr lang="fr-FR" sz="2400" dirty="0" err="1"/>
              <a:t>Language</a:t>
            </a:r>
            <a:r>
              <a:rPr lang="fr-FR" sz="2400" dirty="0"/>
              <a:t>)</a:t>
            </a:r>
            <a:endParaRPr sz="2400" dirty="0"/>
          </a:p>
        </p:txBody>
      </p:sp>
      <p:grpSp>
        <p:nvGrpSpPr>
          <p:cNvPr id="841" name="Google Shape;841;p27">
            <a:extLst>
              <a:ext uri="{FF2B5EF4-FFF2-40B4-BE49-F238E27FC236}">
                <a16:creationId xmlns:a16="http://schemas.microsoft.com/office/drawing/2014/main" id="{E33F6FA7-C06D-8243-DB72-4516B5A81B67}"/>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C0B4A78-D907-B149-ECE4-306236A134D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D157E876-69F6-8AA9-67BC-E86858BD70CC}"/>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FC367FB4-149D-D498-ECDE-40DA13DC07CF}"/>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41CF4763-7C93-BA72-30C5-724A0E9EA92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3E1A1A8-701D-709E-7E71-9276E05B0EA6}"/>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27E21F2E-AF3C-35AD-AF17-E74A33AA6B8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97CF8CC7-2266-743B-BA8B-58D0E1DF8D9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C46233B-2500-56E3-73F2-58768FF1BBD1}"/>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CFEB5109-7719-598F-8A05-2C71BE69C606}"/>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30/98</a:t>
            </a:r>
          </a:p>
        </p:txBody>
      </p:sp>
    </p:spTree>
    <p:extLst>
      <p:ext uri="{BB962C8B-B14F-4D97-AF65-F5344CB8AC3E}">
        <p14:creationId xmlns:p14="http://schemas.microsoft.com/office/powerpoint/2010/main" val="3820609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28A403EC-5747-FB78-9A19-164D350EED9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14A356ED-76DF-252C-DB2C-C9213FF61CED}"/>
              </a:ext>
            </a:extLst>
          </p:cNvPr>
          <p:cNvSpPr txBox="1">
            <a:spLocks noGrp="1"/>
          </p:cNvSpPr>
          <p:nvPr>
            <p:ph type="subTitle" idx="1"/>
          </p:nvPr>
        </p:nvSpPr>
        <p:spPr>
          <a:xfrm>
            <a:off x="862152" y="1629389"/>
            <a:ext cx="7459568" cy="2964120"/>
          </a:xfrm>
          <a:prstGeom prst="rect">
            <a:avLst/>
          </a:prstGeom>
        </p:spPr>
        <p:txBody>
          <a:bodyPr spcFirstLastPara="1" wrap="square" lIns="91425" tIns="91425" rIns="91425" bIns="91425" anchor="t" anchorCtr="0">
            <a:noAutofit/>
          </a:bodyPr>
          <a:lstStyle/>
          <a:p>
            <a:pPr algn="l">
              <a:lnSpc>
                <a:spcPct val="150000"/>
              </a:lnSpc>
              <a:buFont typeface="Wingdings" panose="05000000000000000000" pitchFamily="2" charset="2"/>
              <a:buChar char="q"/>
            </a:pPr>
            <a:r>
              <a:rPr lang="fr-FR" sz="1600" b="1" dirty="0"/>
              <a:t>Raisonnement avancé : </a:t>
            </a:r>
            <a:r>
              <a:rPr lang="fr-FR" sz="1600" dirty="0"/>
              <a:t>Grâce à OWL, des moteurs de raisonnement peuvent inférer de nouvelles informations à partir des données RDF. Par exemple, si RDF dit "A est parent de B" et "B est parent de C", OWL peut déduire "A est grand-parent de C" si une règle transitive est définie.</a:t>
            </a:r>
          </a:p>
        </p:txBody>
      </p:sp>
      <p:sp>
        <p:nvSpPr>
          <p:cNvPr id="839" name="Google Shape;839;p27">
            <a:extLst>
              <a:ext uri="{FF2B5EF4-FFF2-40B4-BE49-F238E27FC236}">
                <a16:creationId xmlns:a16="http://schemas.microsoft.com/office/drawing/2014/main" id="{F3FE5D1F-57B3-D430-BE73-296C5F610B6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OWL (Web </a:t>
            </a:r>
            <a:r>
              <a:rPr lang="fr-FR" sz="2400" dirty="0" err="1"/>
              <a:t>Ontology</a:t>
            </a:r>
            <a:r>
              <a:rPr lang="fr-FR" sz="2400" dirty="0"/>
              <a:t> </a:t>
            </a:r>
            <a:r>
              <a:rPr lang="fr-FR" sz="2400" dirty="0" err="1"/>
              <a:t>Language</a:t>
            </a:r>
            <a:r>
              <a:rPr lang="fr-FR" sz="2400" dirty="0"/>
              <a:t>)</a:t>
            </a:r>
            <a:endParaRPr sz="2400" dirty="0"/>
          </a:p>
        </p:txBody>
      </p:sp>
      <p:grpSp>
        <p:nvGrpSpPr>
          <p:cNvPr id="841" name="Google Shape;841;p27">
            <a:extLst>
              <a:ext uri="{FF2B5EF4-FFF2-40B4-BE49-F238E27FC236}">
                <a16:creationId xmlns:a16="http://schemas.microsoft.com/office/drawing/2014/main" id="{5E0EC891-BF52-EC67-ED0E-85A112164495}"/>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4D2B2FA1-C7AE-FEEA-961F-29E815D81281}"/>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1C950C0-82F6-77C1-94A4-DE9FBFD82B3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42CB189B-E3A5-2C7D-53BA-57A65F495201}"/>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4B36AED6-E87C-DD6B-5BCE-24DE721D98BC}"/>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51B0E1BA-8F86-9A08-E071-6B3202CAC6B7}"/>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0DF8B86-AC90-FF39-94B4-6DB57AD14B35}"/>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2562E77A-7009-F117-C4EE-C9151452A2D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31C787B9-4112-7259-3BB7-9B0E72084AB4}"/>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AFC4B969-6079-CC7A-E17A-C18E0F176587}"/>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31/98</a:t>
            </a:r>
          </a:p>
        </p:txBody>
      </p:sp>
    </p:spTree>
    <p:extLst>
      <p:ext uri="{BB962C8B-B14F-4D97-AF65-F5344CB8AC3E}">
        <p14:creationId xmlns:p14="http://schemas.microsoft.com/office/powerpoint/2010/main" val="3678363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050DCA8-C06F-1712-882D-0F0D00A811D4}"/>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8EE2A5D-B17B-CE15-BF81-DD3D5A943B7A}"/>
              </a:ext>
            </a:extLst>
          </p:cNvPr>
          <p:cNvSpPr txBox="1">
            <a:spLocks noGrp="1"/>
          </p:cNvSpPr>
          <p:nvPr>
            <p:ph type="subTitle" idx="1"/>
          </p:nvPr>
        </p:nvSpPr>
        <p:spPr>
          <a:xfrm>
            <a:off x="862152" y="1629389"/>
            <a:ext cx="7459568" cy="2964120"/>
          </a:xfrm>
          <a:prstGeom prst="rect">
            <a:avLst/>
          </a:prstGeom>
        </p:spPr>
        <p:txBody>
          <a:bodyPr spcFirstLastPara="1" wrap="square" lIns="91425" tIns="91425" rIns="91425" bIns="91425" anchor="t" anchorCtr="0">
            <a:normAutofit fontScale="92500" lnSpcReduction="20000"/>
          </a:bodyPr>
          <a:lstStyle/>
          <a:p>
            <a:pPr algn="l">
              <a:lnSpc>
                <a:spcPct val="150000"/>
              </a:lnSpc>
            </a:pPr>
            <a:r>
              <a:rPr lang="fr-FR" sz="1800" dirty="0"/>
              <a:t>Les </a:t>
            </a:r>
            <a:r>
              <a:rPr lang="fr-FR" sz="1800" dirty="0" err="1"/>
              <a:t>Linked</a:t>
            </a:r>
            <a:r>
              <a:rPr lang="fr-FR" sz="1800" dirty="0"/>
              <a:t> Open Data, ou données ouvertes liées, parfois données</a:t>
            </a:r>
          </a:p>
          <a:p>
            <a:pPr algn="l">
              <a:lnSpc>
                <a:spcPct val="150000"/>
              </a:lnSpc>
            </a:pPr>
            <a:r>
              <a:rPr lang="fr-FR" sz="1800" dirty="0"/>
              <a:t>ouvertes et liées, consiste à </a:t>
            </a:r>
            <a:r>
              <a:rPr lang="fr-FR" sz="1800" b="1" dirty="0"/>
              <a:t>rendre libre de toute licence des bases de</a:t>
            </a:r>
          </a:p>
          <a:p>
            <a:pPr algn="l">
              <a:lnSpc>
                <a:spcPct val="150000"/>
              </a:lnSpc>
            </a:pPr>
            <a:r>
              <a:rPr lang="fr-FR" sz="1800" b="1" dirty="0"/>
              <a:t>données préalablement liées entre elles</a:t>
            </a:r>
            <a:r>
              <a:rPr lang="fr-FR" sz="1800" dirty="0"/>
              <a:t> selon le modèle du </a:t>
            </a:r>
            <a:r>
              <a:rPr lang="fr-FR" sz="1800" dirty="0" err="1"/>
              <a:t>Linked</a:t>
            </a:r>
            <a:r>
              <a:rPr lang="fr-FR" sz="1800" dirty="0"/>
              <a:t> Data</a:t>
            </a:r>
          </a:p>
          <a:p>
            <a:pPr algn="l">
              <a:lnSpc>
                <a:spcPct val="150000"/>
              </a:lnSpc>
            </a:pPr>
            <a:r>
              <a:rPr lang="fr-FR" sz="1800" dirty="0"/>
              <a:t>de Tim Berners-Lee. Ce système rend la recherche sur le Web plus</a:t>
            </a:r>
          </a:p>
          <a:p>
            <a:pPr algn="l">
              <a:lnSpc>
                <a:spcPct val="150000"/>
              </a:lnSpc>
            </a:pPr>
            <a:r>
              <a:rPr lang="fr-FR" sz="1800" dirty="0"/>
              <a:t>efficace et dynamique pour l'utilisateur en </a:t>
            </a:r>
            <a:r>
              <a:rPr lang="fr-FR" sz="1800" b="1" dirty="0"/>
              <a:t>reliant d'autres sources</a:t>
            </a:r>
          </a:p>
          <a:p>
            <a:pPr algn="l">
              <a:lnSpc>
                <a:spcPct val="150000"/>
              </a:lnSpc>
            </a:pPr>
            <a:r>
              <a:rPr lang="fr-FR" sz="1800" b="1" dirty="0"/>
              <a:t>d'informations pertinentes et insoupçonnées à la recherche initiale</a:t>
            </a:r>
            <a:r>
              <a:rPr lang="fr-FR" sz="1800" dirty="0"/>
              <a:t>. Le fait</a:t>
            </a:r>
          </a:p>
          <a:p>
            <a:pPr algn="l">
              <a:lnSpc>
                <a:spcPct val="150000"/>
              </a:lnSpc>
            </a:pPr>
            <a:r>
              <a:rPr lang="fr-FR" sz="1800" dirty="0"/>
              <a:t>que les données soient libres permet leur accès et leur réutilisation sans</a:t>
            </a:r>
          </a:p>
          <a:p>
            <a:pPr algn="l">
              <a:lnSpc>
                <a:spcPct val="150000"/>
              </a:lnSpc>
            </a:pPr>
            <a:r>
              <a:rPr lang="fr-FR" sz="1800" dirty="0"/>
              <a:t>aucune restriction.</a:t>
            </a:r>
            <a:endParaRPr lang="fr-FR" sz="1800" b="1" dirty="0">
              <a:solidFill>
                <a:srgbClr val="008F95"/>
              </a:solidFill>
            </a:endParaRPr>
          </a:p>
        </p:txBody>
      </p:sp>
      <p:sp>
        <p:nvSpPr>
          <p:cNvPr id="839" name="Google Shape;839;p27">
            <a:extLst>
              <a:ext uri="{FF2B5EF4-FFF2-40B4-BE49-F238E27FC236}">
                <a16:creationId xmlns:a16="http://schemas.microsoft.com/office/drawing/2014/main" id="{8671533D-8A83-AC8B-ED24-9BA54F4CE8A4}"/>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Linked</a:t>
            </a:r>
            <a:r>
              <a:rPr lang="fr-FR" sz="2400" dirty="0"/>
              <a:t> open data</a:t>
            </a:r>
            <a:endParaRPr sz="2400" dirty="0"/>
          </a:p>
        </p:txBody>
      </p:sp>
      <p:grpSp>
        <p:nvGrpSpPr>
          <p:cNvPr id="841" name="Google Shape;841;p27">
            <a:extLst>
              <a:ext uri="{FF2B5EF4-FFF2-40B4-BE49-F238E27FC236}">
                <a16:creationId xmlns:a16="http://schemas.microsoft.com/office/drawing/2014/main" id="{DEC13B76-3B7B-9A1C-F87C-8038D685A692}"/>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D3176072-6C4B-A43E-3ADE-DD2DFC6F0A1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69AB7657-51FC-F5FE-D3CC-CE2CB77A49DD}"/>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24A85B86-C951-F665-CF5B-B97628243EB0}"/>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0949D0F7-0404-520A-93CD-D1284EEC1E34}"/>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9C506E6-79A7-C8AF-CCA0-C14888E43354}"/>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53F8565-6543-61E1-6EE0-42C0F725607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CFDC2C7C-6168-0347-3A4A-A4EB7CB31033}"/>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3E1FF534-28FF-2618-8D90-0023398F4F01}"/>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1930429C-C195-A5C1-4080-6FDDD83DC70E}"/>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32/98</a:t>
            </a:r>
          </a:p>
        </p:txBody>
      </p:sp>
    </p:spTree>
    <p:extLst>
      <p:ext uri="{BB962C8B-B14F-4D97-AF65-F5344CB8AC3E}">
        <p14:creationId xmlns:p14="http://schemas.microsoft.com/office/powerpoint/2010/main" val="19760367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6434D116-337B-E200-CAC6-5AD0576973D5}"/>
            </a:ext>
          </a:extLst>
        </p:cNvPr>
        <p:cNvGrpSpPr/>
        <p:nvPr/>
      </p:nvGrpSpPr>
      <p:grpSpPr>
        <a:xfrm>
          <a:off x="0" y="0"/>
          <a:ext cx="0" cy="0"/>
          <a:chOff x="0" y="0"/>
          <a:chExt cx="0" cy="0"/>
        </a:xfrm>
      </p:grpSpPr>
      <p:sp>
        <p:nvSpPr>
          <p:cNvPr id="839" name="Google Shape;839;p27">
            <a:extLst>
              <a:ext uri="{FF2B5EF4-FFF2-40B4-BE49-F238E27FC236}">
                <a16:creationId xmlns:a16="http://schemas.microsoft.com/office/drawing/2014/main" id="{E4925945-2DC4-4D52-F9CD-C3EDDEC4A55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err="1"/>
              <a:t>Linked</a:t>
            </a:r>
            <a:r>
              <a:rPr lang="fr-FR" sz="2400" dirty="0"/>
              <a:t> open data</a:t>
            </a:r>
            <a:endParaRPr sz="2400" dirty="0"/>
          </a:p>
        </p:txBody>
      </p:sp>
      <p:grpSp>
        <p:nvGrpSpPr>
          <p:cNvPr id="841" name="Google Shape;841;p27">
            <a:extLst>
              <a:ext uri="{FF2B5EF4-FFF2-40B4-BE49-F238E27FC236}">
                <a16:creationId xmlns:a16="http://schemas.microsoft.com/office/drawing/2014/main" id="{CBD6C357-F613-B985-9F4F-B1984CC6394F}"/>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F2049AC-587A-AFF1-2273-EA4ABBBBDCCC}"/>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5AF4635A-9619-2FB6-535B-653B53CF8BEE}"/>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009E8BD9-DE9C-6E56-D8A6-7B1568CD733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6DBF0993-016E-EEF6-8131-FC1ED0A6DFC9}"/>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EEBDC6AB-C5FA-A85F-6E12-ABEFBB16E31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E4738536-4895-9981-9C21-7317814FF796}"/>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83DE4367-5297-C5A4-FD46-C32527857E34}"/>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10E31287-2AC4-9134-9721-0961103426F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1030" name="Picture 6">
            <a:extLst>
              <a:ext uri="{FF2B5EF4-FFF2-40B4-BE49-F238E27FC236}">
                <a16:creationId xmlns:a16="http://schemas.microsoft.com/office/drawing/2014/main" id="{62C59D89-20C1-E7CE-E015-E934F992AB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7782" y="1458896"/>
            <a:ext cx="5188435" cy="32595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F55CFA1-9DB6-F57C-EF66-CA084FA2A0C5}"/>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33/98</a:t>
            </a:r>
          </a:p>
        </p:txBody>
      </p:sp>
    </p:spTree>
    <p:extLst>
      <p:ext uri="{BB962C8B-B14F-4D97-AF65-F5344CB8AC3E}">
        <p14:creationId xmlns:p14="http://schemas.microsoft.com/office/powerpoint/2010/main" val="41066159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B244A65-B446-0032-47B8-4C1343474D8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32A02398-34FF-939D-E06D-D6A87955E15E}"/>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a:t>SPARQL (SPARQL Protocol and RDF </a:t>
            </a:r>
            <a:r>
              <a:rPr lang="fr-FR" sz="1800" dirty="0" err="1"/>
              <a:t>Query</a:t>
            </a:r>
            <a:r>
              <a:rPr lang="fr-FR" sz="1800" dirty="0"/>
              <a:t> </a:t>
            </a:r>
            <a:r>
              <a:rPr lang="fr-FR" sz="1800" dirty="0" err="1"/>
              <a:t>Language</a:t>
            </a:r>
            <a:r>
              <a:rPr lang="fr-FR" sz="1800" dirty="0"/>
              <a:t>) est un langage</a:t>
            </a:r>
          </a:p>
          <a:p>
            <a:pPr algn="l">
              <a:lnSpc>
                <a:spcPct val="150000"/>
              </a:lnSpc>
            </a:pPr>
            <a:r>
              <a:rPr lang="fr-FR" sz="1800" dirty="0"/>
              <a:t>de requête et un protocole qui permet de rechercher, d'ajouter, de</a:t>
            </a:r>
          </a:p>
          <a:p>
            <a:pPr algn="l">
              <a:lnSpc>
                <a:spcPct val="150000"/>
              </a:lnSpc>
            </a:pPr>
            <a:r>
              <a:rPr lang="fr-FR" sz="1800" dirty="0"/>
              <a:t>modifier ou de supprimer des données RDF disponibles à travers</a:t>
            </a:r>
          </a:p>
          <a:p>
            <a:pPr algn="l">
              <a:lnSpc>
                <a:spcPct val="150000"/>
              </a:lnSpc>
            </a:pPr>
            <a:r>
              <a:rPr lang="fr-FR" sz="1800" dirty="0"/>
              <a:t>Internet. Il utilise le format XML pour l’affichage des résultats des</a:t>
            </a:r>
          </a:p>
          <a:p>
            <a:pPr algn="l">
              <a:lnSpc>
                <a:spcPct val="150000"/>
              </a:lnSpc>
            </a:pPr>
            <a:r>
              <a:rPr lang="fr-FR" sz="1800" dirty="0"/>
              <a:t>requêtes effectuer.</a:t>
            </a:r>
            <a:endParaRPr lang="fr-FR" sz="1800" b="1" dirty="0">
              <a:solidFill>
                <a:srgbClr val="008F95"/>
              </a:solidFill>
            </a:endParaRPr>
          </a:p>
        </p:txBody>
      </p:sp>
      <p:sp>
        <p:nvSpPr>
          <p:cNvPr id="839" name="Google Shape;839;p27">
            <a:extLst>
              <a:ext uri="{FF2B5EF4-FFF2-40B4-BE49-F238E27FC236}">
                <a16:creationId xmlns:a16="http://schemas.microsoft.com/office/drawing/2014/main" id="{6EA0732E-7598-8122-6E15-14C4A1A907D4}"/>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a:t>
            </a:r>
            <a:endParaRPr sz="2400" dirty="0"/>
          </a:p>
        </p:txBody>
      </p:sp>
      <p:grpSp>
        <p:nvGrpSpPr>
          <p:cNvPr id="841" name="Google Shape;841;p27">
            <a:extLst>
              <a:ext uri="{FF2B5EF4-FFF2-40B4-BE49-F238E27FC236}">
                <a16:creationId xmlns:a16="http://schemas.microsoft.com/office/drawing/2014/main" id="{00457361-6F51-1E44-72C7-C5C8B5F77D46}"/>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7BD7B416-CD8B-7DD8-7830-0BA534673840}"/>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49AEDB9A-48D6-9A86-778E-189CC10992A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BE44CE8E-A690-E6BF-0FBC-268922E95C1E}"/>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DBCC51E-458A-6D02-9CE1-ECB1DD6AFD8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2098AC43-7204-8AA3-534B-00A4664E9CCA}"/>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C2114ED0-78D4-FCBE-3593-A49936D21BB4}"/>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CA70395D-4CC5-DAD0-46C1-2CBB76B956D1}"/>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FAF04C5-F861-CF8F-4064-4FDDDD1171C2}"/>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A24005C2-BA3E-2A3B-036D-4014E1B18E90}"/>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34/98</a:t>
            </a:r>
          </a:p>
        </p:txBody>
      </p:sp>
    </p:spTree>
    <p:extLst>
      <p:ext uri="{BB962C8B-B14F-4D97-AF65-F5344CB8AC3E}">
        <p14:creationId xmlns:p14="http://schemas.microsoft.com/office/powerpoint/2010/main" val="26705514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09543AE-8989-DF2B-1B2F-266671C09E7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B4983AA8-C9FB-B8D3-2FED-C8D836203E37}"/>
              </a:ext>
            </a:extLst>
          </p:cNvPr>
          <p:cNvSpPr txBox="1">
            <a:spLocks noGrp="1"/>
          </p:cNvSpPr>
          <p:nvPr>
            <p:ph type="subTitle" idx="1"/>
          </p:nvPr>
        </p:nvSpPr>
        <p:spPr>
          <a:xfrm>
            <a:off x="753035" y="1629389"/>
            <a:ext cx="7568685" cy="2964120"/>
          </a:xfrm>
          <a:prstGeom prst="rect">
            <a:avLst/>
          </a:prstGeom>
        </p:spPr>
        <p:txBody>
          <a:bodyPr spcFirstLastPara="1" wrap="square" lIns="91425" tIns="91425" rIns="91425" bIns="91425" anchor="t" anchorCtr="0">
            <a:normAutofit lnSpcReduction="10000"/>
          </a:bodyPr>
          <a:lstStyle/>
          <a:p>
            <a:pPr algn="l">
              <a:lnSpc>
                <a:spcPct val="150000"/>
              </a:lnSpc>
            </a:pPr>
            <a:r>
              <a:rPr lang="fr-FR" sz="1800" dirty="0"/>
              <a:t>SQL (</a:t>
            </a:r>
            <a:r>
              <a:rPr lang="fr-FR" sz="1800" dirty="0" err="1"/>
              <a:t>Structured</a:t>
            </a:r>
            <a:r>
              <a:rPr lang="fr-FR" sz="1800" dirty="0"/>
              <a:t> </a:t>
            </a:r>
            <a:r>
              <a:rPr lang="fr-FR" sz="1800" dirty="0" err="1"/>
              <a:t>Query</a:t>
            </a:r>
            <a:r>
              <a:rPr lang="fr-FR" sz="1800" dirty="0"/>
              <a:t> </a:t>
            </a:r>
            <a:r>
              <a:rPr lang="fr-FR" sz="1800" dirty="0" err="1"/>
              <a:t>Language</a:t>
            </a:r>
            <a:r>
              <a:rPr lang="fr-FR" sz="1800" dirty="0"/>
              <a:t>):</a:t>
            </a:r>
          </a:p>
          <a:p>
            <a:pPr algn="l">
              <a:lnSpc>
                <a:spcPct val="150000"/>
              </a:lnSpc>
              <a:buFont typeface="Wingdings" panose="05000000000000000000" pitchFamily="2" charset="2"/>
              <a:buChar char="q"/>
            </a:pPr>
            <a:r>
              <a:rPr lang="fr-FR" sz="1800" b="1" dirty="0"/>
              <a:t>Base théorique </a:t>
            </a:r>
            <a:r>
              <a:rPr lang="fr-FR" sz="1800" dirty="0"/>
              <a:t>: SQL repose sur le calcul relationnel, qui traite les données comme des tables (relations) avec des lignes et des colonnes.</a:t>
            </a:r>
          </a:p>
          <a:p>
            <a:pPr algn="l">
              <a:lnSpc>
                <a:spcPct val="150000"/>
              </a:lnSpc>
              <a:buFont typeface="Wingdings" panose="05000000000000000000" pitchFamily="2" charset="2"/>
              <a:buChar char="q"/>
            </a:pPr>
            <a:r>
              <a:rPr lang="fr-FR" sz="1800" b="1" dirty="0"/>
              <a:t>Nature des requêtes </a:t>
            </a:r>
            <a:r>
              <a:rPr lang="fr-FR" sz="1800" dirty="0"/>
              <a:t>: Les requêtes sont exprimées dans un langage logique qui décrit ce que l'on veut obtenir. Cela inclut : les champs sélectionnés, les jointures, les filtrages, les groupes et les opérations</a:t>
            </a:r>
            <a:endParaRPr lang="fr-FR" sz="1800" b="1" dirty="0">
              <a:solidFill>
                <a:srgbClr val="008F95"/>
              </a:solidFill>
            </a:endParaRPr>
          </a:p>
        </p:txBody>
      </p:sp>
      <p:sp>
        <p:nvSpPr>
          <p:cNvPr id="839" name="Google Shape;839;p27">
            <a:extLst>
              <a:ext uri="{FF2B5EF4-FFF2-40B4-BE49-F238E27FC236}">
                <a16:creationId xmlns:a16="http://schemas.microsoft.com/office/drawing/2014/main" id="{01225DB3-8B2D-3D45-05DF-F56D248CBEDE}"/>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Comparaison: SQL-SPARQL</a:t>
            </a:r>
            <a:endParaRPr sz="2400" dirty="0"/>
          </a:p>
        </p:txBody>
      </p:sp>
      <p:grpSp>
        <p:nvGrpSpPr>
          <p:cNvPr id="841" name="Google Shape;841;p27">
            <a:extLst>
              <a:ext uri="{FF2B5EF4-FFF2-40B4-BE49-F238E27FC236}">
                <a16:creationId xmlns:a16="http://schemas.microsoft.com/office/drawing/2014/main" id="{16F929B0-2CF4-BA49-046C-36AC46B47658}"/>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E31CBF29-23F8-40D4-16B7-517F0E4E213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51B2F8F6-BCCF-9CD3-E809-EBE828939CD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B6051B7B-E17E-934B-294D-5CC5769B78F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DB2FFAD9-E244-5EC7-061F-D6F23E5A1CE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607E1AA-F488-5634-BEB9-A4260D9DD53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35965D1D-175D-C5D1-C5E6-FBE1FFE1EA0A}"/>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AD6425C2-FAC4-134B-0181-051B0CD19BFA}"/>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E07D89CE-87F9-395C-9A9D-0FEF4698123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BB933A67-A4CA-E20A-3886-9D40F2823E4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35/98</a:t>
            </a:r>
          </a:p>
        </p:txBody>
      </p:sp>
    </p:spTree>
    <p:extLst>
      <p:ext uri="{BB962C8B-B14F-4D97-AF65-F5344CB8AC3E}">
        <p14:creationId xmlns:p14="http://schemas.microsoft.com/office/powerpoint/2010/main" val="225880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7E7E5CA-69E9-8DF8-EFE8-0FDD5C4375D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1001EF63-CC74-89E8-F6B3-D359C8F1F00A}"/>
              </a:ext>
            </a:extLst>
          </p:cNvPr>
          <p:cNvSpPr txBox="1">
            <a:spLocks noGrp="1"/>
          </p:cNvSpPr>
          <p:nvPr>
            <p:ph type="subTitle" idx="1"/>
          </p:nvPr>
        </p:nvSpPr>
        <p:spPr>
          <a:xfrm>
            <a:off x="896400" y="1629389"/>
            <a:ext cx="7425320" cy="2964120"/>
          </a:xfrm>
          <a:prstGeom prst="rect">
            <a:avLst/>
          </a:prstGeom>
        </p:spPr>
        <p:txBody>
          <a:bodyPr spcFirstLastPara="1" wrap="square" lIns="91425" tIns="91425" rIns="91425" bIns="91425" anchor="t" anchorCtr="0">
            <a:normAutofit/>
          </a:bodyPr>
          <a:lstStyle/>
          <a:p>
            <a:pPr algn="l">
              <a:lnSpc>
                <a:spcPct val="150000"/>
              </a:lnSpc>
            </a:pPr>
            <a:r>
              <a:rPr lang="fr-FR" sz="1800" dirty="0"/>
              <a:t>SQL (</a:t>
            </a:r>
            <a:r>
              <a:rPr lang="fr-FR" sz="1800" dirty="0" err="1"/>
              <a:t>Structured</a:t>
            </a:r>
            <a:r>
              <a:rPr lang="fr-FR" sz="1800" dirty="0"/>
              <a:t> </a:t>
            </a:r>
            <a:r>
              <a:rPr lang="fr-FR" sz="1800" dirty="0" err="1"/>
              <a:t>Query</a:t>
            </a:r>
            <a:r>
              <a:rPr lang="fr-FR" sz="1800" dirty="0"/>
              <a:t> </a:t>
            </a:r>
            <a:r>
              <a:rPr lang="fr-FR" sz="1800" dirty="0" err="1"/>
              <a:t>Language</a:t>
            </a:r>
            <a:r>
              <a:rPr lang="fr-FR" sz="1800" dirty="0"/>
              <a:t>):</a:t>
            </a:r>
          </a:p>
          <a:p>
            <a:pPr algn="l">
              <a:lnSpc>
                <a:spcPct val="150000"/>
              </a:lnSpc>
              <a:buFont typeface="Wingdings" panose="05000000000000000000" pitchFamily="2" charset="2"/>
              <a:buChar char="q"/>
            </a:pPr>
            <a:r>
              <a:rPr lang="fr-FR" sz="1800" b="1" dirty="0"/>
              <a:t>Exemple </a:t>
            </a:r>
            <a:r>
              <a:rPr lang="fr-FR" sz="1800" dirty="0"/>
              <a:t>: Pour trouver le nombre de ventes par client, on pourrait écrire :</a:t>
            </a:r>
          </a:p>
        </p:txBody>
      </p:sp>
      <p:sp>
        <p:nvSpPr>
          <p:cNvPr id="839" name="Google Shape;839;p27">
            <a:extLst>
              <a:ext uri="{FF2B5EF4-FFF2-40B4-BE49-F238E27FC236}">
                <a16:creationId xmlns:a16="http://schemas.microsoft.com/office/drawing/2014/main" id="{52C277B9-0537-2FFD-A727-4AD065D9908E}"/>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Comparaison: SQL-SPARQL</a:t>
            </a:r>
            <a:endParaRPr sz="2400" dirty="0"/>
          </a:p>
        </p:txBody>
      </p:sp>
      <p:grpSp>
        <p:nvGrpSpPr>
          <p:cNvPr id="841" name="Google Shape;841;p27">
            <a:extLst>
              <a:ext uri="{FF2B5EF4-FFF2-40B4-BE49-F238E27FC236}">
                <a16:creationId xmlns:a16="http://schemas.microsoft.com/office/drawing/2014/main" id="{83D402C4-0FD2-1852-088D-0D54F7AB718E}"/>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2F2D903-665D-FE7B-759B-8BFED47FDF57}"/>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4C067BB7-7CA9-DC08-2DAD-D5625B50CEC7}"/>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9098575F-658E-0E2D-769F-D6EB465579C5}"/>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06901351-9904-CB33-100D-DFDE4B8B40BA}"/>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C8A6CE3F-000B-87D3-451D-AF01519975B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25D20913-EDF6-3282-5955-3786F121C6E8}"/>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073C41A9-B9BA-8685-AAA5-A8B5F67A6CE1}"/>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75EFB436-FAEA-4E74-A12A-06A0F38F8D6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1026" name="Picture 2">
            <a:extLst>
              <a:ext uri="{FF2B5EF4-FFF2-40B4-BE49-F238E27FC236}">
                <a16:creationId xmlns:a16="http://schemas.microsoft.com/office/drawing/2014/main" id="{40EA3D07-48C4-EFDC-A924-BDA4F4EFF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571750"/>
            <a:ext cx="5943600" cy="26289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4050076-3C2D-FF88-9427-735479780F09}"/>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36/98</a:t>
            </a:r>
          </a:p>
        </p:txBody>
      </p:sp>
    </p:spTree>
    <p:extLst>
      <p:ext uri="{BB962C8B-B14F-4D97-AF65-F5344CB8AC3E}">
        <p14:creationId xmlns:p14="http://schemas.microsoft.com/office/powerpoint/2010/main" val="32429493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913C0DBE-EC95-E1EB-2562-B319A01B679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BE26E3F7-C370-CC31-15A2-5182E2110FDC}"/>
              </a:ext>
            </a:extLst>
          </p:cNvPr>
          <p:cNvSpPr txBox="1">
            <a:spLocks noGrp="1"/>
          </p:cNvSpPr>
          <p:nvPr>
            <p:ph type="subTitle" idx="1"/>
          </p:nvPr>
        </p:nvSpPr>
        <p:spPr>
          <a:xfrm>
            <a:off x="774551" y="1629389"/>
            <a:ext cx="7713233" cy="3222310"/>
          </a:xfrm>
          <a:prstGeom prst="rect">
            <a:avLst/>
          </a:prstGeom>
        </p:spPr>
        <p:txBody>
          <a:bodyPr spcFirstLastPara="1" wrap="square" lIns="91425" tIns="91425" rIns="91425" bIns="91425" anchor="t" anchorCtr="0">
            <a:normAutofit fontScale="92500" lnSpcReduction="10000"/>
          </a:bodyPr>
          <a:lstStyle/>
          <a:p>
            <a:pPr algn="l">
              <a:lnSpc>
                <a:spcPct val="150000"/>
              </a:lnSpc>
            </a:pPr>
            <a:r>
              <a:rPr lang="en-US" sz="1800" dirty="0"/>
              <a:t>SPARQL (SPARQL Protocol and RDF Query Language)</a:t>
            </a:r>
            <a:r>
              <a:rPr lang="fr-FR" sz="1800" dirty="0"/>
              <a:t>:</a:t>
            </a:r>
          </a:p>
          <a:p>
            <a:pPr algn="l">
              <a:lnSpc>
                <a:spcPct val="150000"/>
              </a:lnSpc>
              <a:buFont typeface="Wingdings" panose="05000000000000000000" pitchFamily="2" charset="2"/>
              <a:buChar char="q"/>
            </a:pPr>
            <a:r>
              <a:rPr lang="fr-FR" sz="1800" b="1" dirty="0"/>
              <a:t>Base théorique </a:t>
            </a:r>
            <a:r>
              <a:rPr lang="fr-FR" sz="1800" dirty="0"/>
              <a:t>: basé sur la notion de graphes de triplets</a:t>
            </a:r>
          </a:p>
          <a:p>
            <a:pPr algn="l">
              <a:lnSpc>
                <a:spcPct val="150000"/>
              </a:lnSpc>
              <a:buFont typeface="Wingdings" panose="05000000000000000000" pitchFamily="2" charset="2"/>
              <a:buChar char="q"/>
            </a:pPr>
            <a:r>
              <a:rPr lang="fr-FR" sz="1800" b="1" dirty="0"/>
              <a:t>Nature des requêtes </a:t>
            </a:r>
            <a:r>
              <a:rPr lang="fr-FR" sz="1800" dirty="0"/>
              <a:t>: Les requêtes sont basées sur des motifs (patterns) et des variables : </a:t>
            </a:r>
          </a:p>
          <a:p>
            <a:pPr lvl="1">
              <a:lnSpc>
                <a:spcPct val="150000"/>
              </a:lnSpc>
              <a:buFont typeface="Wingdings" panose="05000000000000000000" pitchFamily="2" charset="2"/>
              <a:buChar char="v"/>
            </a:pPr>
            <a:r>
              <a:rPr lang="fr-FR" sz="1800" dirty="0"/>
              <a:t>Motifs : Des structures qui décrivent des relations dans le graphe (ex: un sujet est lié à un objet par un prédicat).</a:t>
            </a:r>
          </a:p>
          <a:p>
            <a:pPr lvl="1">
              <a:lnSpc>
                <a:spcPct val="150000"/>
              </a:lnSpc>
              <a:buFont typeface="Wingdings" panose="05000000000000000000" pitchFamily="2" charset="2"/>
              <a:buChar char="v"/>
            </a:pPr>
            <a:r>
              <a:rPr lang="fr-FR" sz="1800" dirty="0"/>
              <a:t>Variables : Des </a:t>
            </a:r>
            <a:r>
              <a:rPr lang="fr-FR" sz="1800" dirty="0" err="1"/>
              <a:t>placeholders</a:t>
            </a:r>
            <a:r>
              <a:rPr lang="fr-FR" sz="1800" dirty="0"/>
              <a:t> (ex: </a:t>
            </a:r>
            <a:r>
              <a:rPr lang="fr-FR" sz="1800" b="1" dirty="0"/>
              <a:t>?x</a:t>
            </a:r>
            <a:r>
              <a:rPr lang="fr-FR" sz="1800" dirty="0"/>
              <a:t>) pour extraire des données spécifiques.</a:t>
            </a:r>
          </a:p>
          <a:p>
            <a:pPr lvl="1">
              <a:lnSpc>
                <a:spcPct val="150000"/>
              </a:lnSpc>
              <a:buFont typeface="Wingdings" panose="05000000000000000000" pitchFamily="2" charset="2"/>
              <a:buChar char="q"/>
            </a:pPr>
            <a:endParaRPr lang="fr-FR" sz="1800" b="1" dirty="0">
              <a:solidFill>
                <a:srgbClr val="008F95"/>
              </a:solidFill>
            </a:endParaRPr>
          </a:p>
        </p:txBody>
      </p:sp>
      <p:sp>
        <p:nvSpPr>
          <p:cNvPr id="839" name="Google Shape;839;p27">
            <a:extLst>
              <a:ext uri="{FF2B5EF4-FFF2-40B4-BE49-F238E27FC236}">
                <a16:creationId xmlns:a16="http://schemas.microsoft.com/office/drawing/2014/main" id="{15F9FAEA-25CB-2AC5-DBCC-CEDEFADCC1B0}"/>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Comparaison: SQL-SPARQL</a:t>
            </a:r>
            <a:endParaRPr sz="2400" dirty="0"/>
          </a:p>
        </p:txBody>
      </p:sp>
      <p:grpSp>
        <p:nvGrpSpPr>
          <p:cNvPr id="841" name="Google Shape;841;p27">
            <a:extLst>
              <a:ext uri="{FF2B5EF4-FFF2-40B4-BE49-F238E27FC236}">
                <a16:creationId xmlns:a16="http://schemas.microsoft.com/office/drawing/2014/main" id="{B5E3919D-4959-25D7-7BA9-9B6AF7C03BF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C6135A36-31E4-8C18-C15F-3A65DFB0070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11174ACC-D3DA-474F-0D18-68EB94439D3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EE68F4E-4C85-F4CD-4009-248C864FB2C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E94BB238-5879-915D-D5CB-761CADA13FC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ECA4D53-C0B2-D20F-4A60-A554FFB213D2}"/>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EDF3CB1A-F934-C81C-0C20-FAF2853FC0F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39B3B62E-DE72-ED32-77E1-6DEAAB5E158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DDC25A19-0DAA-80F4-72CE-C1CF93FC5EB6}"/>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3E9A2976-7AA8-4F41-BF5B-869F3622EB4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37/98</a:t>
            </a:r>
          </a:p>
        </p:txBody>
      </p:sp>
    </p:spTree>
    <p:extLst>
      <p:ext uri="{BB962C8B-B14F-4D97-AF65-F5344CB8AC3E}">
        <p14:creationId xmlns:p14="http://schemas.microsoft.com/office/powerpoint/2010/main" val="2583279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0A8D906F-160D-44CB-6A9F-586434E3720F}"/>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EC02E1A-69C6-BF83-999A-DA27D25A1D98}"/>
              </a:ext>
            </a:extLst>
          </p:cNvPr>
          <p:cNvSpPr txBox="1">
            <a:spLocks noGrp="1"/>
          </p:cNvSpPr>
          <p:nvPr>
            <p:ph type="subTitle" idx="1"/>
          </p:nvPr>
        </p:nvSpPr>
        <p:spPr>
          <a:xfrm>
            <a:off x="774551" y="1629389"/>
            <a:ext cx="7713233" cy="3222310"/>
          </a:xfrm>
          <a:prstGeom prst="rect">
            <a:avLst/>
          </a:prstGeom>
        </p:spPr>
        <p:txBody>
          <a:bodyPr spcFirstLastPara="1" wrap="square" lIns="91425" tIns="91425" rIns="91425" bIns="91425" anchor="t" anchorCtr="0">
            <a:normAutofit/>
          </a:bodyPr>
          <a:lstStyle/>
          <a:p>
            <a:pPr algn="l">
              <a:lnSpc>
                <a:spcPct val="150000"/>
              </a:lnSpc>
            </a:pPr>
            <a:r>
              <a:rPr lang="en-US" sz="1800" dirty="0"/>
              <a:t>SPARQL (SPARQL Protocol and RDF Query Language)</a:t>
            </a:r>
            <a:r>
              <a:rPr lang="fr-FR" sz="1800" dirty="0"/>
              <a:t>:</a:t>
            </a:r>
          </a:p>
          <a:p>
            <a:pPr algn="l">
              <a:lnSpc>
                <a:spcPct val="150000"/>
              </a:lnSpc>
              <a:buFont typeface="Wingdings" panose="05000000000000000000" pitchFamily="2" charset="2"/>
              <a:buChar char="q"/>
            </a:pPr>
            <a:r>
              <a:rPr lang="fr-FR" sz="1800" b="1" dirty="0"/>
              <a:t>Exemple </a:t>
            </a:r>
            <a:r>
              <a:rPr lang="fr-FR" sz="1800" dirty="0"/>
              <a:t>: Pour trouver toutes les personnes liées à un lieu :</a:t>
            </a:r>
          </a:p>
        </p:txBody>
      </p:sp>
      <p:sp>
        <p:nvSpPr>
          <p:cNvPr id="839" name="Google Shape;839;p27">
            <a:extLst>
              <a:ext uri="{FF2B5EF4-FFF2-40B4-BE49-F238E27FC236}">
                <a16:creationId xmlns:a16="http://schemas.microsoft.com/office/drawing/2014/main" id="{ABA3FCBB-55F5-9A9B-9485-7AF77A157AC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Comparaison: SQL-SPARQL</a:t>
            </a:r>
            <a:endParaRPr sz="2400" dirty="0"/>
          </a:p>
        </p:txBody>
      </p:sp>
      <p:grpSp>
        <p:nvGrpSpPr>
          <p:cNvPr id="841" name="Google Shape;841;p27">
            <a:extLst>
              <a:ext uri="{FF2B5EF4-FFF2-40B4-BE49-F238E27FC236}">
                <a16:creationId xmlns:a16="http://schemas.microsoft.com/office/drawing/2014/main" id="{5273A225-019B-9C1F-A6F4-6A598F43DDC1}"/>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125A0D68-CDAB-17AF-0857-3CD67864C411}"/>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874E802-6737-6692-D9A3-9CC95ED5AD9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425EEA8-6895-3B25-C0B9-D67E54E7B322}"/>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1DD4ACD-D53B-AAF1-6D31-5084988397BA}"/>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312E70A-9442-3B9A-7A64-5CBBC8968A7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014172F-17AC-35FE-61BC-4E87F5AB512E}"/>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61A52934-5C13-76F9-35D8-63BAA7C27FE0}"/>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88C6847-0854-B1BE-B6DD-4741187D596B}"/>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2050" name="Picture 2">
            <a:extLst>
              <a:ext uri="{FF2B5EF4-FFF2-40B4-BE49-F238E27FC236}">
                <a16:creationId xmlns:a16="http://schemas.microsoft.com/office/drawing/2014/main" id="{0A5E08E3-0D0D-8C05-07AC-340115714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8917" y="2250794"/>
            <a:ext cx="5524500" cy="26384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3517993-7E15-E26A-147C-BBBC8F71D1A0}"/>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38/98</a:t>
            </a:r>
          </a:p>
        </p:txBody>
      </p:sp>
    </p:spTree>
    <p:extLst>
      <p:ext uri="{BB962C8B-B14F-4D97-AF65-F5344CB8AC3E}">
        <p14:creationId xmlns:p14="http://schemas.microsoft.com/office/powerpoint/2010/main" val="4084464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6F5A1CF-BBA0-E629-3773-033035C005D2}"/>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D981A51-0F8D-07B4-66F4-BF4D58B9F3FF}"/>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rmAutofit fontScale="92500"/>
          </a:bodyPr>
          <a:lstStyle/>
          <a:p>
            <a:pPr algn="l">
              <a:lnSpc>
                <a:spcPct val="150000"/>
              </a:lnSpc>
            </a:pPr>
            <a:r>
              <a:rPr lang="fr-FR" sz="1800" dirty="0"/>
              <a:t>SPARQL permet d'exprimer des requêtes interrogatives ou constructives : </a:t>
            </a:r>
          </a:p>
          <a:p>
            <a:pPr algn="l">
              <a:lnSpc>
                <a:spcPct val="150000"/>
              </a:lnSpc>
              <a:buFont typeface="Wingdings" panose="05000000000000000000" pitchFamily="2" charset="2"/>
              <a:buChar char="q"/>
            </a:pPr>
            <a:r>
              <a:rPr lang="fr-FR" sz="1800" dirty="0"/>
              <a:t>une requête </a:t>
            </a:r>
            <a:r>
              <a:rPr lang="fr-FR" sz="1800" b="1" dirty="0">
                <a:solidFill>
                  <a:srgbClr val="008F95"/>
                </a:solidFill>
              </a:rPr>
              <a:t>SELECT</a:t>
            </a:r>
            <a:r>
              <a:rPr lang="fr-FR" sz="1800" dirty="0"/>
              <a:t>, de type interrogative, permet d'extraire du graphe RDF un sous-graphe correspondant à un ensemble de ressources vérifiant les conditions définies dans une clause WHERE ;</a:t>
            </a:r>
          </a:p>
          <a:p>
            <a:pPr algn="l">
              <a:lnSpc>
                <a:spcPct val="150000"/>
              </a:lnSpc>
              <a:buFont typeface="Wingdings" panose="05000000000000000000" pitchFamily="2" charset="2"/>
              <a:buChar char="q"/>
            </a:pPr>
            <a:r>
              <a:rPr lang="fr-FR" sz="1800" dirty="0"/>
              <a:t>une requête </a:t>
            </a:r>
            <a:r>
              <a:rPr lang="fr-FR" sz="1800" b="1" dirty="0">
                <a:solidFill>
                  <a:srgbClr val="008F95"/>
                </a:solidFill>
              </a:rPr>
              <a:t>CONSTRUCT</a:t>
            </a:r>
            <a:r>
              <a:rPr lang="fr-FR" sz="1800" dirty="0"/>
              <a:t>, de type constructive, engendre un nouveau graphe qui complète le graphe interrogé.</a:t>
            </a:r>
          </a:p>
        </p:txBody>
      </p:sp>
      <p:sp>
        <p:nvSpPr>
          <p:cNvPr id="839" name="Google Shape;839;p27">
            <a:extLst>
              <a:ext uri="{FF2B5EF4-FFF2-40B4-BE49-F238E27FC236}">
                <a16:creationId xmlns:a16="http://schemas.microsoft.com/office/drawing/2014/main" id="{79C35B14-1D6B-9D03-CD25-832DA13BCA7E}"/>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a:t>
            </a:r>
            <a:endParaRPr sz="2400" dirty="0"/>
          </a:p>
        </p:txBody>
      </p:sp>
      <p:grpSp>
        <p:nvGrpSpPr>
          <p:cNvPr id="841" name="Google Shape;841;p27">
            <a:extLst>
              <a:ext uri="{FF2B5EF4-FFF2-40B4-BE49-F238E27FC236}">
                <a16:creationId xmlns:a16="http://schemas.microsoft.com/office/drawing/2014/main" id="{7C4478EE-BE4D-E8EF-CE07-FB3182F0C315}"/>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F3228872-3A25-A8D9-1518-A5E1C98F917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3229A0B5-7A01-5417-51D7-D21AFA4988C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5554CB07-1614-09A5-CB8B-943E4202C53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4AA7E76-BBAA-087A-793A-93D870BCDBB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F19F7073-7A24-F9E6-9A22-4697FAEC6EF3}"/>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D3B0B40-3606-3066-A673-7DF32AD21184}"/>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488D2EF-7E30-B812-2EB4-B7360874B9D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652A7B34-82A1-43C2-4FEF-7E21DE47388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10D0DE2A-067A-BDA8-0615-4F89DA66AA5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39/98</a:t>
            </a:r>
          </a:p>
        </p:txBody>
      </p:sp>
    </p:spTree>
    <p:extLst>
      <p:ext uri="{BB962C8B-B14F-4D97-AF65-F5344CB8AC3E}">
        <p14:creationId xmlns:p14="http://schemas.microsoft.com/office/powerpoint/2010/main" val="3931973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9C932FD-4D72-262C-DF2D-7AD8E9823E76}"/>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BA950603-503E-ADC3-4BC9-30C1459B8A16}"/>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a:t>Par exemple sur un graphe RDF contenant des informations</a:t>
            </a:r>
          </a:p>
          <a:p>
            <a:pPr algn="l">
              <a:lnSpc>
                <a:spcPct val="150000"/>
              </a:lnSpc>
            </a:pPr>
            <a:r>
              <a:rPr lang="fr-FR" sz="1800" dirty="0"/>
              <a:t>généalogiques, on pourra par une requête </a:t>
            </a:r>
            <a:r>
              <a:rPr lang="fr-FR" sz="1800" b="1" dirty="0"/>
              <a:t>SELECT</a:t>
            </a:r>
            <a:r>
              <a:rPr lang="fr-FR" sz="1800" dirty="0"/>
              <a:t> trouver les parents</a:t>
            </a:r>
          </a:p>
          <a:p>
            <a:pPr algn="l">
              <a:lnSpc>
                <a:spcPct val="150000"/>
              </a:lnSpc>
            </a:pPr>
            <a:r>
              <a:rPr lang="fr-FR" sz="1800" dirty="0"/>
              <a:t>ou grands-parents d'une personne donnée, et par des requêtes</a:t>
            </a:r>
          </a:p>
          <a:p>
            <a:pPr algn="l">
              <a:lnSpc>
                <a:spcPct val="150000"/>
              </a:lnSpc>
            </a:pPr>
            <a:r>
              <a:rPr lang="fr-FR" sz="1800" b="1" dirty="0"/>
              <a:t>CONSTRUCT</a:t>
            </a:r>
            <a:r>
              <a:rPr lang="fr-FR" sz="1800" dirty="0"/>
              <a:t> ajouter des relations frère-sœur, cousin-cousine, oncle</a:t>
            </a:r>
          </a:p>
          <a:p>
            <a:pPr algn="l">
              <a:lnSpc>
                <a:spcPct val="150000"/>
              </a:lnSpc>
            </a:pPr>
            <a:r>
              <a:rPr lang="fr-FR" sz="1800" dirty="0"/>
              <a:t>neveu, qui ne seraient pas explicitement déclarées dans </a:t>
            </a:r>
            <a:r>
              <a:rPr lang="fr-FR" sz="1800"/>
              <a:t>le graphe</a:t>
            </a:r>
          </a:p>
          <a:p>
            <a:pPr algn="l">
              <a:lnSpc>
                <a:spcPct val="150000"/>
              </a:lnSpc>
            </a:pPr>
            <a:r>
              <a:rPr lang="fr-FR" sz="1800"/>
              <a:t>initial</a:t>
            </a:r>
            <a:r>
              <a:rPr lang="fr-FR" sz="1800" dirty="0"/>
              <a:t>.</a:t>
            </a:r>
          </a:p>
        </p:txBody>
      </p:sp>
      <p:sp>
        <p:nvSpPr>
          <p:cNvPr id="839" name="Google Shape;839;p27">
            <a:extLst>
              <a:ext uri="{FF2B5EF4-FFF2-40B4-BE49-F238E27FC236}">
                <a16:creationId xmlns:a16="http://schemas.microsoft.com/office/drawing/2014/main" id="{25CE7F14-69FE-D6E5-C765-76E1EAFBFE5E}"/>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a:t>
            </a:r>
            <a:endParaRPr sz="2400" dirty="0"/>
          </a:p>
        </p:txBody>
      </p:sp>
      <p:grpSp>
        <p:nvGrpSpPr>
          <p:cNvPr id="841" name="Google Shape;841;p27">
            <a:extLst>
              <a:ext uri="{FF2B5EF4-FFF2-40B4-BE49-F238E27FC236}">
                <a16:creationId xmlns:a16="http://schemas.microsoft.com/office/drawing/2014/main" id="{7A17C496-5376-032C-6D88-24B67E7C6417}"/>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FD1E3A2-2829-0235-F0A5-DCDE34956611}"/>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1CC62D13-D5FE-4990-0828-8B9A33180B6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0AFF3076-1933-9E17-FDC9-2CF13F59D7F8}"/>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B19D4AB1-E6B3-E834-37BD-E57F5ADB468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9038118-B9C6-9442-ABAB-FA4650E3CD1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2FC54E71-C2C0-45E4-03D0-D6E76070A068}"/>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7758B04-0FFF-0D30-54F5-09383888F7D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9A77CA46-C3CD-0C2A-6A0E-200E238D0291}"/>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EE78D30B-48D4-FFED-039F-E67A89975C85}"/>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40/98</a:t>
            </a:r>
          </a:p>
        </p:txBody>
      </p:sp>
    </p:spTree>
    <p:extLst>
      <p:ext uri="{BB962C8B-B14F-4D97-AF65-F5344CB8AC3E}">
        <p14:creationId xmlns:p14="http://schemas.microsoft.com/office/powerpoint/2010/main" val="3337290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7A798E9-0520-2954-8727-ED2DEC9E1FE5}"/>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B8F4162C-C352-DEB9-F34C-0F3DDDF8A008}"/>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a:t>Prenons un exemple de requête SPARQL retournant une </a:t>
            </a:r>
            <a:r>
              <a:rPr lang="fr-FR" sz="1800" b="1" dirty="0">
                <a:solidFill>
                  <a:srgbClr val="008F95"/>
                </a:solidFill>
              </a:rPr>
              <a:t>liste de</a:t>
            </a:r>
          </a:p>
          <a:p>
            <a:pPr algn="l">
              <a:lnSpc>
                <a:spcPct val="150000"/>
              </a:lnSpc>
            </a:pPr>
            <a:r>
              <a:rPr lang="fr-FR" sz="1800" b="1" dirty="0">
                <a:solidFill>
                  <a:srgbClr val="008F95"/>
                </a:solidFill>
              </a:rPr>
              <a:t>photos avec le nom de la personne qu'elles représentent et une</a:t>
            </a:r>
          </a:p>
          <a:p>
            <a:pPr algn="l">
              <a:lnSpc>
                <a:spcPct val="150000"/>
              </a:lnSpc>
            </a:pPr>
            <a:r>
              <a:rPr lang="fr-FR" sz="1800" b="1" dirty="0">
                <a:solidFill>
                  <a:srgbClr val="008F95"/>
                </a:solidFill>
              </a:rPr>
              <a:t>description, à partir d'une base de données de type RDF</a:t>
            </a:r>
            <a:r>
              <a:rPr lang="fr-FR" sz="1800" dirty="0"/>
              <a:t> utilisant</a:t>
            </a:r>
          </a:p>
          <a:p>
            <a:pPr algn="l">
              <a:lnSpc>
                <a:spcPct val="150000"/>
              </a:lnSpc>
            </a:pPr>
            <a:r>
              <a:rPr lang="fr-FR" sz="1800" dirty="0"/>
              <a:t>l'ontologie (vocabulaire) FOAF (une des plus connues et utilisée pour</a:t>
            </a:r>
          </a:p>
          <a:p>
            <a:pPr algn="l">
              <a:lnSpc>
                <a:spcPct val="150000"/>
              </a:lnSpc>
            </a:pPr>
            <a:r>
              <a:rPr lang="fr-FR" sz="1800" dirty="0"/>
              <a:t>décrire les personnes et les liens entre elles).</a:t>
            </a:r>
          </a:p>
        </p:txBody>
      </p:sp>
      <p:sp>
        <p:nvSpPr>
          <p:cNvPr id="839" name="Google Shape;839;p27">
            <a:extLst>
              <a:ext uri="{FF2B5EF4-FFF2-40B4-BE49-F238E27FC236}">
                <a16:creationId xmlns:a16="http://schemas.microsoft.com/office/drawing/2014/main" id="{D468E0ED-4E12-950F-DAC6-734C00480DBD}"/>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 Exemple</a:t>
            </a:r>
            <a:endParaRPr sz="2400" dirty="0"/>
          </a:p>
        </p:txBody>
      </p:sp>
      <p:grpSp>
        <p:nvGrpSpPr>
          <p:cNvPr id="841" name="Google Shape;841;p27">
            <a:extLst>
              <a:ext uri="{FF2B5EF4-FFF2-40B4-BE49-F238E27FC236}">
                <a16:creationId xmlns:a16="http://schemas.microsoft.com/office/drawing/2014/main" id="{23653DDD-04EC-E73D-FBCB-1024FEBE2CC9}"/>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DAE7EE03-706D-ADCA-4B80-BE4A3183BE4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CB547A73-1C62-EA0C-43B9-328CC5F9380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CE6A3CAC-C356-63AC-430A-BC9D627D84A9}"/>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0B3E7B96-EA20-3BEC-E4D8-95E53770B6B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2CFC7137-2C97-1877-7D73-700967BDC362}"/>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26B0D8C0-CC2D-3526-9EA7-30D620EEAD01}"/>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A76EAF3F-0EF4-2C05-7DE8-049FB6A6C62B}"/>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FDDE46E-4E91-CB69-F085-7819811ABF15}"/>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3E242894-72FC-9C61-C655-2F4BFE4FB3DF}"/>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41/98</a:t>
            </a:r>
          </a:p>
        </p:txBody>
      </p:sp>
    </p:spTree>
    <p:extLst>
      <p:ext uri="{BB962C8B-B14F-4D97-AF65-F5344CB8AC3E}">
        <p14:creationId xmlns:p14="http://schemas.microsoft.com/office/powerpoint/2010/main" val="18608804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grpSp>
        <p:nvGrpSpPr>
          <p:cNvPr id="1139" name="Google Shape;1139;p34"/>
          <p:cNvGrpSpPr/>
          <p:nvPr/>
        </p:nvGrpSpPr>
        <p:grpSpPr>
          <a:xfrm>
            <a:off x="8573285" y="1647619"/>
            <a:ext cx="939888" cy="1397556"/>
            <a:chOff x="8573285" y="1647619"/>
            <a:chExt cx="939888" cy="1397556"/>
          </a:xfrm>
        </p:grpSpPr>
        <p:sp>
          <p:nvSpPr>
            <p:cNvPr id="1140" name="Google Shape;1140;p34"/>
            <p:cNvSpPr/>
            <p:nvPr/>
          </p:nvSpPr>
          <p:spPr>
            <a:xfrm>
              <a:off x="8678823" y="1647619"/>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1" name="Google Shape;1141;p34"/>
            <p:cNvSpPr/>
            <p:nvPr/>
          </p:nvSpPr>
          <p:spPr>
            <a:xfrm>
              <a:off x="8573285" y="25846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7" name="Google Shape;1138;p34">
            <a:extLst>
              <a:ext uri="{FF2B5EF4-FFF2-40B4-BE49-F238E27FC236}">
                <a16:creationId xmlns:a16="http://schemas.microsoft.com/office/drawing/2014/main" id="{C0439F9C-EF56-0EB1-44C0-C876482A28A6}"/>
              </a:ext>
            </a:extLst>
          </p:cNvPr>
          <p:cNvSpPr txBox="1">
            <a:spLocks/>
          </p:cNvSpPr>
          <p:nvPr/>
        </p:nvSpPr>
        <p:spPr>
          <a:xfrm>
            <a:off x="2107653" y="166908"/>
            <a:ext cx="4928693" cy="358208"/>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ays One"/>
              <a:buNone/>
              <a:defRPr sz="2800" b="1" i="0" u="none" strike="noStrike" cap="none">
                <a:solidFill>
                  <a:schemeClr val="dk1"/>
                </a:solidFill>
                <a:latin typeface="Days One"/>
                <a:ea typeface="Days One"/>
                <a:cs typeface="Days One"/>
                <a:sym typeface="Days One"/>
              </a:defRPr>
            </a:lvl1pPr>
            <a:lvl2pPr marR="0" lvl="1"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2pPr>
            <a:lvl3pPr marR="0" lvl="2"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3pPr>
            <a:lvl4pPr marR="0" lvl="3"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4pPr>
            <a:lvl5pPr marR="0" lvl="4"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5pPr>
            <a:lvl6pPr marR="0" lvl="5"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6pPr>
            <a:lvl7pPr marR="0" lvl="6"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7pPr>
            <a:lvl8pPr marR="0" lvl="7"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8pPr>
            <a:lvl9pPr marR="0" lvl="8"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9pPr>
          </a:lstStyle>
          <a:p>
            <a:r>
              <a:rPr lang="fr-FR" sz="1800" dirty="0"/>
              <a:t>Extrait du graphe RDF (écriture XML) d'exemple :</a:t>
            </a:r>
          </a:p>
        </p:txBody>
      </p:sp>
      <p:sp>
        <p:nvSpPr>
          <p:cNvPr id="11" name="Picture Placeholder 10">
            <a:extLst>
              <a:ext uri="{FF2B5EF4-FFF2-40B4-BE49-F238E27FC236}">
                <a16:creationId xmlns:a16="http://schemas.microsoft.com/office/drawing/2014/main" id="{4B06C6C4-9865-1C1B-52BC-4B58EA87182E}"/>
              </a:ext>
            </a:extLst>
          </p:cNvPr>
          <p:cNvSpPr>
            <a:spLocks noGrp="1"/>
          </p:cNvSpPr>
          <p:nvPr>
            <p:ph type="pic" idx="2"/>
          </p:nvPr>
        </p:nvSpPr>
        <p:spPr/>
      </p:sp>
      <p:pic>
        <p:nvPicPr>
          <p:cNvPr id="13" name="Picture 12">
            <a:extLst>
              <a:ext uri="{FF2B5EF4-FFF2-40B4-BE49-F238E27FC236}">
                <a16:creationId xmlns:a16="http://schemas.microsoft.com/office/drawing/2014/main" id="{DEA1AD92-AD06-6162-4459-320FA6682CCD}"/>
              </a:ext>
            </a:extLst>
          </p:cNvPr>
          <p:cNvPicPr>
            <a:picLocks noChangeAspect="1"/>
          </p:cNvPicPr>
          <p:nvPr/>
        </p:nvPicPr>
        <p:blipFill>
          <a:blip r:embed="rId3"/>
          <a:stretch>
            <a:fillRect/>
          </a:stretch>
        </p:blipFill>
        <p:spPr>
          <a:xfrm>
            <a:off x="1452282" y="609867"/>
            <a:ext cx="6406176" cy="4465754"/>
          </a:xfrm>
          <a:prstGeom prst="rect">
            <a:avLst/>
          </a:prstGeom>
        </p:spPr>
      </p:pic>
      <p:sp>
        <p:nvSpPr>
          <p:cNvPr id="2" name="TextBox 1">
            <a:extLst>
              <a:ext uri="{FF2B5EF4-FFF2-40B4-BE49-F238E27FC236}">
                <a16:creationId xmlns:a16="http://schemas.microsoft.com/office/drawing/2014/main" id="{58A1EC0F-0565-EF15-1B19-A6B983D743D9}"/>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42/98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C193C29-8ACA-7583-2B9F-2ADFA5FF2CF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E5566BE2-A61B-542D-E605-37851EFA5363}"/>
              </a:ext>
            </a:extLst>
          </p:cNvPr>
          <p:cNvSpPr txBox="1">
            <a:spLocks noGrp="1"/>
          </p:cNvSpPr>
          <p:nvPr>
            <p:ph type="subTitle" idx="1"/>
          </p:nvPr>
        </p:nvSpPr>
        <p:spPr>
          <a:xfrm>
            <a:off x="896399" y="2387428"/>
            <a:ext cx="7351200" cy="2464274"/>
          </a:xfrm>
          <a:prstGeom prst="rect">
            <a:avLst/>
          </a:prstGeom>
        </p:spPr>
        <p:txBody>
          <a:bodyPr spcFirstLastPara="1" wrap="square" lIns="91425" tIns="91425" rIns="91425" bIns="91425" anchor="t" anchorCtr="0">
            <a:normAutofit fontScale="85000" lnSpcReduction="10000"/>
          </a:bodyPr>
          <a:lstStyle/>
          <a:p>
            <a:pPr algn="l">
              <a:lnSpc>
                <a:spcPct val="150000"/>
              </a:lnSpc>
              <a:buFont typeface="Wingdings" panose="05000000000000000000" pitchFamily="2" charset="2"/>
              <a:buChar char="q"/>
            </a:pPr>
            <a:r>
              <a:rPr lang="fr-FR" sz="1800" dirty="0"/>
              <a:t>On indique qu’on écrit du RDF.</a:t>
            </a:r>
          </a:p>
          <a:p>
            <a:pPr algn="l">
              <a:lnSpc>
                <a:spcPct val="150000"/>
              </a:lnSpc>
              <a:buFont typeface="Wingdings" panose="05000000000000000000" pitchFamily="2" charset="2"/>
              <a:buChar char="q"/>
            </a:pPr>
            <a:r>
              <a:rPr lang="fr-FR" sz="1800" dirty="0"/>
              <a:t>On définit plusieurs préfixes (espaces de noms) :</a:t>
            </a:r>
          </a:p>
          <a:p>
            <a:pPr lvl="1">
              <a:lnSpc>
                <a:spcPct val="150000"/>
              </a:lnSpc>
              <a:buFont typeface="Wingdings" panose="05000000000000000000" pitchFamily="2" charset="2"/>
              <a:buChar char="v"/>
            </a:pPr>
            <a:r>
              <a:rPr lang="fr-FR" sz="1800" b="1" dirty="0" err="1"/>
              <a:t>rdf</a:t>
            </a:r>
            <a:r>
              <a:rPr lang="fr-FR" sz="1800" b="1" dirty="0"/>
              <a:t>:</a:t>
            </a:r>
            <a:r>
              <a:rPr lang="fr-FR" sz="1800" dirty="0"/>
              <a:t> vocabulaire RDF de base (type, ressource, etc.).</a:t>
            </a:r>
          </a:p>
          <a:p>
            <a:pPr lvl="1">
              <a:lnSpc>
                <a:spcPct val="150000"/>
              </a:lnSpc>
              <a:buFont typeface="Wingdings" panose="05000000000000000000" pitchFamily="2" charset="2"/>
              <a:buChar char="v"/>
            </a:pPr>
            <a:r>
              <a:rPr lang="fr-FR" sz="1800" b="1" dirty="0" err="1"/>
              <a:t>foaf</a:t>
            </a:r>
            <a:r>
              <a:rPr lang="fr-FR" sz="1800" b="1" dirty="0"/>
              <a:t>:</a:t>
            </a:r>
            <a:r>
              <a:rPr lang="fr-FR" sz="1800" dirty="0"/>
              <a:t>  vocabulaire FOAF (</a:t>
            </a:r>
            <a:r>
              <a:rPr lang="fr-FR" sz="1800" dirty="0" err="1"/>
              <a:t>Friend</a:t>
            </a:r>
            <a:r>
              <a:rPr lang="fr-FR" sz="1800" dirty="0"/>
              <a:t> Of A </a:t>
            </a:r>
            <a:r>
              <a:rPr lang="fr-FR" sz="1800" dirty="0" err="1"/>
              <a:t>Friend</a:t>
            </a:r>
            <a:r>
              <a:rPr lang="fr-FR" sz="1800" dirty="0"/>
              <a:t>) pour décrire des personnes, relations sociales, images.</a:t>
            </a:r>
          </a:p>
          <a:p>
            <a:pPr lvl="1">
              <a:lnSpc>
                <a:spcPct val="150000"/>
              </a:lnSpc>
              <a:buFont typeface="Wingdings" panose="05000000000000000000" pitchFamily="2" charset="2"/>
              <a:buChar char="v"/>
            </a:pPr>
            <a:r>
              <a:rPr lang="fr-FR" sz="1800" b="1" dirty="0" err="1"/>
              <a:t>rss</a:t>
            </a:r>
            <a:r>
              <a:rPr lang="fr-FR" sz="1800" b="1" dirty="0"/>
              <a:t>:</a:t>
            </a:r>
            <a:r>
              <a:rPr lang="fr-FR" sz="1800" dirty="0"/>
              <a:t>  vocabulaire RSS (pas utilisé ici, mais déclaré).</a:t>
            </a:r>
          </a:p>
          <a:p>
            <a:pPr lvl="1">
              <a:lnSpc>
                <a:spcPct val="150000"/>
              </a:lnSpc>
              <a:buFont typeface="Wingdings" panose="05000000000000000000" pitchFamily="2" charset="2"/>
              <a:buChar char="v"/>
            </a:pPr>
            <a:r>
              <a:rPr lang="fr-FR" sz="1800" b="1" dirty="0"/>
              <a:t>dc:</a:t>
            </a:r>
            <a:r>
              <a:rPr lang="fr-FR" sz="1800" dirty="0"/>
              <a:t>  Dublin </a:t>
            </a:r>
            <a:r>
              <a:rPr lang="fr-FR" sz="1800" dirty="0" err="1"/>
              <a:t>Core</a:t>
            </a:r>
            <a:r>
              <a:rPr lang="fr-FR" sz="1800" dirty="0"/>
              <a:t>, pour les métadonnées (description, titre…).</a:t>
            </a:r>
          </a:p>
        </p:txBody>
      </p:sp>
      <p:sp>
        <p:nvSpPr>
          <p:cNvPr id="839" name="Google Shape;839;p27">
            <a:extLst>
              <a:ext uri="{FF2B5EF4-FFF2-40B4-BE49-F238E27FC236}">
                <a16:creationId xmlns:a16="http://schemas.microsoft.com/office/drawing/2014/main" id="{E98FACE4-9BC5-B848-3788-F5C68E290B2E}"/>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 Explication du graphe RDF</a:t>
            </a:r>
            <a:endParaRPr sz="2400" dirty="0"/>
          </a:p>
        </p:txBody>
      </p:sp>
      <p:grpSp>
        <p:nvGrpSpPr>
          <p:cNvPr id="841" name="Google Shape;841;p27">
            <a:extLst>
              <a:ext uri="{FF2B5EF4-FFF2-40B4-BE49-F238E27FC236}">
                <a16:creationId xmlns:a16="http://schemas.microsoft.com/office/drawing/2014/main" id="{0376B754-A0E0-ABF3-CEFA-3E4D0012C4C1}"/>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1C1D57E-C0F7-FED2-6027-2F467609493F}"/>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DEFD91B6-3AD6-A195-D6E6-0403F795074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66870130-237C-481E-9A14-DB45001F29CD}"/>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60FA35DE-E8BE-9D6A-F290-C0A1D448976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68CFE9E8-339C-CD5A-7C97-9E9D29530A6A}"/>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E32084E2-9AF3-2374-C088-C3CA93439234}"/>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E6EB54D-08C0-B80A-3F45-3A0845B8F52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8FB87E0-76B3-0F49-7A53-0C7B3ED4F6E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F8EF26E0-BE1C-223D-4416-D4B9E261D583}"/>
              </a:ext>
            </a:extLst>
          </p:cNvPr>
          <p:cNvPicPr>
            <a:picLocks noChangeAspect="1"/>
          </p:cNvPicPr>
          <p:nvPr/>
        </p:nvPicPr>
        <p:blipFill>
          <a:blip r:embed="rId3"/>
          <a:stretch>
            <a:fillRect/>
          </a:stretch>
        </p:blipFill>
        <p:spPr>
          <a:xfrm>
            <a:off x="1985600" y="1434794"/>
            <a:ext cx="5172797" cy="952633"/>
          </a:xfrm>
          <a:prstGeom prst="rect">
            <a:avLst/>
          </a:prstGeom>
        </p:spPr>
      </p:pic>
      <p:sp>
        <p:nvSpPr>
          <p:cNvPr id="2" name="TextBox 1">
            <a:extLst>
              <a:ext uri="{FF2B5EF4-FFF2-40B4-BE49-F238E27FC236}">
                <a16:creationId xmlns:a16="http://schemas.microsoft.com/office/drawing/2014/main" id="{53936AE7-5E16-D4B7-A92F-56F4293E0A42}"/>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43/98</a:t>
            </a:r>
          </a:p>
        </p:txBody>
      </p:sp>
    </p:spTree>
    <p:extLst>
      <p:ext uri="{BB962C8B-B14F-4D97-AF65-F5344CB8AC3E}">
        <p14:creationId xmlns:p14="http://schemas.microsoft.com/office/powerpoint/2010/main" val="3149524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47555AE-892F-B3DB-676A-424B717BE64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44140533-1269-59DF-69DC-648F76708414}"/>
              </a:ext>
            </a:extLst>
          </p:cNvPr>
          <p:cNvSpPr txBox="1">
            <a:spLocks noGrp="1"/>
          </p:cNvSpPr>
          <p:nvPr>
            <p:ph type="subTitle" idx="1"/>
          </p:nvPr>
        </p:nvSpPr>
        <p:spPr>
          <a:xfrm>
            <a:off x="896398" y="2387428"/>
            <a:ext cx="7623657" cy="2464274"/>
          </a:xfrm>
          <a:prstGeom prst="rect">
            <a:avLst/>
          </a:prstGeom>
        </p:spPr>
        <p:txBody>
          <a:bodyPr spcFirstLastPara="1" wrap="square" lIns="91425" tIns="91425" rIns="91425" bIns="91425" anchor="t" anchorCtr="0">
            <a:normAutofit fontScale="85000" lnSpcReduction="10000"/>
          </a:bodyPr>
          <a:lstStyle/>
          <a:p>
            <a:pPr algn="l">
              <a:lnSpc>
                <a:spcPct val="150000"/>
              </a:lnSpc>
              <a:buFont typeface="Wingdings" panose="05000000000000000000" pitchFamily="2" charset="2"/>
              <a:buChar char="q"/>
            </a:pPr>
            <a:r>
              <a:rPr lang="fr-FR" sz="1800" dirty="0"/>
              <a:t>On décrit une ressource de type </a:t>
            </a:r>
            <a:r>
              <a:rPr lang="fr-FR" sz="1800" dirty="0" err="1"/>
              <a:t>foaf:Person</a:t>
            </a:r>
            <a:r>
              <a:rPr lang="fr-FR" sz="1800" dirty="0"/>
              <a:t>.</a:t>
            </a:r>
          </a:p>
          <a:p>
            <a:pPr algn="l">
              <a:lnSpc>
                <a:spcPct val="150000"/>
              </a:lnSpc>
              <a:buFont typeface="Wingdings" panose="05000000000000000000" pitchFamily="2" charset="2"/>
              <a:buChar char="q"/>
            </a:pPr>
            <a:r>
              <a:rPr lang="fr-FR" sz="1800" dirty="0"/>
              <a:t>URI de la personne = </a:t>
            </a:r>
            <a:r>
              <a:rPr lang="fr-FR" sz="1800" dirty="0">
                <a:hlinkClick r:id="rId3"/>
              </a:rPr>
              <a:t>http://example.net/Paul_Dupont</a:t>
            </a:r>
            <a:r>
              <a:rPr lang="fr-FR" sz="1800" dirty="0"/>
              <a:t>.</a:t>
            </a:r>
          </a:p>
          <a:p>
            <a:pPr algn="l">
              <a:lnSpc>
                <a:spcPct val="150000"/>
              </a:lnSpc>
              <a:buFont typeface="Wingdings" panose="05000000000000000000" pitchFamily="2" charset="2"/>
              <a:buChar char="q"/>
            </a:pPr>
            <a:r>
              <a:rPr lang="fr-FR" sz="1800" dirty="0"/>
              <a:t>Propriétés :</a:t>
            </a:r>
          </a:p>
          <a:p>
            <a:pPr lvl="1">
              <a:lnSpc>
                <a:spcPct val="150000"/>
              </a:lnSpc>
              <a:buFont typeface="Wingdings" panose="05000000000000000000" pitchFamily="2" charset="2"/>
              <a:buChar char="v"/>
            </a:pPr>
            <a:r>
              <a:rPr lang="fr-FR" sz="1800" b="1" dirty="0" err="1"/>
              <a:t>foaf:name</a:t>
            </a:r>
            <a:r>
              <a:rPr lang="fr-FR" sz="1800" dirty="0"/>
              <a:t> → son nom est "Paul Dupont".</a:t>
            </a:r>
          </a:p>
          <a:p>
            <a:pPr lvl="1">
              <a:lnSpc>
                <a:spcPct val="150000"/>
              </a:lnSpc>
              <a:buFont typeface="Wingdings" panose="05000000000000000000" pitchFamily="2" charset="2"/>
              <a:buChar char="v"/>
            </a:pPr>
            <a:r>
              <a:rPr lang="fr-FR" sz="1800" b="1" dirty="0" err="1"/>
              <a:t>foaf:img</a:t>
            </a:r>
            <a:r>
              <a:rPr lang="fr-FR" sz="1800" dirty="0"/>
              <a:t> → lien vers son image (URI d’une ressource image).</a:t>
            </a:r>
          </a:p>
          <a:p>
            <a:pPr lvl="1">
              <a:lnSpc>
                <a:spcPct val="150000"/>
              </a:lnSpc>
              <a:buFont typeface="Wingdings" panose="05000000000000000000" pitchFamily="2" charset="2"/>
              <a:buChar char="v"/>
            </a:pPr>
            <a:r>
              <a:rPr lang="fr-FR" sz="1800" b="1" dirty="0" err="1"/>
              <a:t>foaf:knows</a:t>
            </a:r>
            <a:r>
              <a:rPr lang="fr-FR" sz="1800" dirty="0"/>
              <a:t> → il connaît une autre personne (http://example.net/Pierre_Dumoulin).</a:t>
            </a:r>
          </a:p>
        </p:txBody>
      </p:sp>
      <p:sp>
        <p:nvSpPr>
          <p:cNvPr id="839" name="Google Shape;839;p27">
            <a:extLst>
              <a:ext uri="{FF2B5EF4-FFF2-40B4-BE49-F238E27FC236}">
                <a16:creationId xmlns:a16="http://schemas.microsoft.com/office/drawing/2014/main" id="{5E4A791C-A3E0-A7B1-173F-65EB7B962C7F}"/>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 Explication du graphe RDF</a:t>
            </a:r>
            <a:endParaRPr sz="2400" dirty="0"/>
          </a:p>
        </p:txBody>
      </p:sp>
      <p:grpSp>
        <p:nvGrpSpPr>
          <p:cNvPr id="841" name="Google Shape;841;p27">
            <a:extLst>
              <a:ext uri="{FF2B5EF4-FFF2-40B4-BE49-F238E27FC236}">
                <a16:creationId xmlns:a16="http://schemas.microsoft.com/office/drawing/2014/main" id="{DA5EA70A-14EA-A704-2F7D-360A243438DF}"/>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38ABB0CB-E25A-DE78-7CC7-26631F41918E}"/>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96F9F69A-5810-F038-35C4-F826656DB21F}"/>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1DE1FE5-AE01-E90B-635C-527A7458956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B2A8C0D5-D501-DB38-0C64-08464A0EA0E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C5459CE6-F5CF-4477-1892-2FF68FA34E5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3D527854-568D-79D6-4BC1-B545B7F9A5F8}"/>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E50FD8D1-9F06-21A5-0E53-EF8117A213F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2DDFF973-3815-EB36-E7A5-546C782C440B}"/>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61491784-3E69-3454-2E6F-98864D7E56BD}"/>
              </a:ext>
            </a:extLst>
          </p:cNvPr>
          <p:cNvPicPr>
            <a:picLocks noChangeAspect="1"/>
          </p:cNvPicPr>
          <p:nvPr/>
        </p:nvPicPr>
        <p:blipFill>
          <a:blip r:embed="rId4"/>
          <a:stretch>
            <a:fillRect/>
          </a:stretch>
        </p:blipFill>
        <p:spPr>
          <a:xfrm>
            <a:off x="1771258" y="1444781"/>
            <a:ext cx="5601482" cy="1028844"/>
          </a:xfrm>
          <a:prstGeom prst="rect">
            <a:avLst/>
          </a:prstGeom>
        </p:spPr>
      </p:pic>
      <p:sp>
        <p:nvSpPr>
          <p:cNvPr id="2" name="TextBox 1">
            <a:extLst>
              <a:ext uri="{FF2B5EF4-FFF2-40B4-BE49-F238E27FC236}">
                <a16:creationId xmlns:a16="http://schemas.microsoft.com/office/drawing/2014/main" id="{B83117F1-51DB-D586-EE9C-7564EC2587A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44/98</a:t>
            </a:r>
          </a:p>
        </p:txBody>
      </p:sp>
    </p:spTree>
    <p:extLst>
      <p:ext uri="{BB962C8B-B14F-4D97-AF65-F5344CB8AC3E}">
        <p14:creationId xmlns:p14="http://schemas.microsoft.com/office/powerpoint/2010/main" val="37629507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DF997BC3-5428-48AE-FD56-64A4337C3304}"/>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F83A804E-057A-9737-1A37-6A2DAF67F0ED}"/>
              </a:ext>
            </a:extLst>
          </p:cNvPr>
          <p:cNvSpPr txBox="1">
            <a:spLocks noGrp="1"/>
          </p:cNvSpPr>
          <p:nvPr>
            <p:ph type="subTitle" idx="1"/>
          </p:nvPr>
        </p:nvSpPr>
        <p:spPr>
          <a:xfrm>
            <a:off x="896398" y="2387428"/>
            <a:ext cx="7623657" cy="2464274"/>
          </a:xfrm>
          <a:prstGeom prst="rect">
            <a:avLst/>
          </a:prstGeom>
        </p:spPr>
        <p:txBody>
          <a:bodyPr spcFirstLastPara="1" wrap="square" lIns="91425" tIns="91425" rIns="91425" bIns="91425" anchor="t" anchorCtr="0">
            <a:normAutofit/>
          </a:bodyPr>
          <a:lstStyle/>
          <a:p>
            <a:pPr algn="l">
              <a:lnSpc>
                <a:spcPct val="150000"/>
              </a:lnSpc>
              <a:buFont typeface="Wingdings" panose="05000000000000000000" pitchFamily="2" charset="2"/>
              <a:buChar char="q"/>
            </a:pPr>
            <a:r>
              <a:rPr lang="fr-FR" sz="1800" dirty="0"/>
              <a:t>On décrit la ressource </a:t>
            </a:r>
            <a:r>
              <a:rPr lang="fr-FR" sz="1800" b="1" dirty="0">
                <a:hlinkClick r:id="rId3"/>
              </a:rPr>
              <a:t>http://example.net/Paul_Dupont.jpg</a:t>
            </a:r>
            <a:r>
              <a:rPr lang="fr-FR" sz="1800" dirty="0"/>
              <a:t>.</a:t>
            </a:r>
          </a:p>
          <a:p>
            <a:pPr algn="l">
              <a:lnSpc>
                <a:spcPct val="150000"/>
              </a:lnSpc>
              <a:buFont typeface="Wingdings" panose="05000000000000000000" pitchFamily="2" charset="2"/>
              <a:buChar char="q"/>
            </a:pPr>
            <a:r>
              <a:rPr lang="fr-FR" sz="1800" dirty="0"/>
              <a:t>C’est une image (</a:t>
            </a:r>
            <a:r>
              <a:rPr lang="fr-FR" sz="1800" b="1" dirty="0" err="1"/>
              <a:t>foaf:Image</a:t>
            </a:r>
            <a:r>
              <a:rPr lang="fr-FR" sz="1800" dirty="0"/>
              <a:t>).</a:t>
            </a:r>
          </a:p>
          <a:p>
            <a:pPr algn="l">
              <a:lnSpc>
                <a:spcPct val="150000"/>
              </a:lnSpc>
              <a:buFont typeface="Wingdings" panose="05000000000000000000" pitchFamily="2" charset="2"/>
              <a:buChar char="q"/>
            </a:pPr>
            <a:r>
              <a:rPr lang="fr-FR" sz="1800" dirty="0"/>
              <a:t>Elle a une description (</a:t>
            </a:r>
            <a:r>
              <a:rPr lang="fr-FR" sz="1800" b="1" dirty="0" err="1"/>
              <a:t>dc:description</a:t>
            </a:r>
            <a:r>
              <a:rPr lang="fr-FR" sz="1800" dirty="0"/>
              <a:t>) = "Photo d'identité de Paul Dupont".	</a:t>
            </a:r>
          </a:p>
        </p:txBody>
      </p:sp>
      <p:sp>
        <p:nvSpPr>
          <p:cNvPr id="839" name="Google Shape;839;p27">
            <a:extLst>
              <a:ext uri="{FF2B5EF4-FFF2-40B4-BE49-F238E27FC236}">
                <a16:creationId xmlns:a16="http://schemas.microsoft.com/office/drawing/2014/main" id="{64472C04-641B-332D-4FCD-AACEB5BD66B1}"/>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 Explication du graphe RDF</a:t>
            </a:r>
            <a:endParaRPr sz="2400" dirty="0"/>
          </a:p>
        </p:txBody>
      </p:sp>
      <p:grpSp>
        <p:nvGrpSpPr>
          <p:cNvPr id="841" name="Google Shape;841;p27">
            <a:extLst>
              <a:ext uri="{FF2B5EF4-FFF2-40B4-BE49-F238E27FC236}">
                <a16:creationId xmlns:a16="http://schemas.microsoft.com/office/drawing/2014/main" id="{3A997B05-6314-65D5-65D1-FCF13D2147DD}"/>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E33B3EBD-BC4B-E6FE-E1C4-AF178A85063C}"/>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CAE92A2E-1FA0-68B8-E299-27AC5CD82BB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1C504F5-7C2E-43D9-7425-5F365E376E56}"/>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A7290553-2BE1-B6E7-9680-DA1BD74D480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99FE717-3C24-6A75-596E-8A5C020409B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C464ADA-07A3-DDCD-77F7-A99379D11DCA}"/>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F7BABFBD-7446-CB67-43C1-687005DEE01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57DC9EF-D924-C2F4-6A7A-21B6FAEF1FB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92F83A25-B227-8FA2-0BC3-8DDD542B1C0C}"/>
              </a:ext>
            </a:extLst>
          </p:cNvPr>
          <p:cNvPicPr>
            <a:picLocks noChangeAspect="1"/>
          </p:cNvPicPr>
          <p:nvPr/>
        </p:nvPicPr>
        <p:blipFill>
          <a:blip r:embed="rId4"/>
          <a:stretch>
            <a:fillRect/>
          </a:stretch>
        </p:blipFill>
        <p:spPr>
          <a:xfrm>
            <a:off x="1737917" y="1477811"/>
            <a:ext cx="5668166" cy="628738"/>
          </a:xfrm>
          <a:prstGeom prst="rect">
            <a:avLst/>
          </a:prstGeom>
        </p:spPr>
      </p:pic>
      <p:sp>
        <p:nvSpPr>
          <p:cNvPr id="2" name="TextBox 1">
            <a:extLst>
              <a:ext uri="{FF2B5EF4-FFF2-40B4-BE49-F238E27FC236}">
                <a16:creationId xmlns:a16="http://schemas.microsoft.com/office/drawing/2014/main" id="{4058F91F-A54A-71FC-E173-F58BDA0E2BCD}"/>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45/98</a:t>
            </a:r>
          </a:p>
        </p:txBody>
      </p:sp>
    </p:spTree>
    <p:extLst>
      <p:ext uri="{BB962C8B-B14F-4D97-AF65-F5344CB8AC3E}">
        <p14:creationId xmlns:p14="http://schemas.microsoft.com/office/powerpoint/2010/main" val="9479192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36">
          <a:extLst>
            <a:ext uri="{FF2B5EF4-FFF2-40B4-BE49-F238E27FC236}">
              <a16:creationId xmlns:a16="http://schemas.microsoft.com/office/drawing/2014/main" id="{1AEF10FF-C4F2-F20C-A4AA-99C44B9FECEE}"/>
            </a:ext>
          </a:extLst>
        </p:cNvPr>
        <p:cNvGrpSpPr/>
        <p:nvPr/>
      </p:nvGrpSpPr>
      <p:grpSpPr>
        <a:xfrm>
          <a:off x="0" y="0"/>
          <a:ext cx="0" cy="0"/>
          <a:chOff x="0" y="0"/>
          <a:chExt cx="0" cy="0"/>
        </a:xfrm>
      </p:grpSpPr>
      <p:grpSp>
        <p:nvGrpSpPr>
          <p:cNvPr id="1139" name="Google Shape;1139;p34">
            <a:extLst>
              <a:ext uri="{FF2B5EF4-FFF2-40B4-BE49-F238E27FC236}">
                <a16:creationId xmlns:a16="http://schemas.microsoft.com/office/drawing/2014/main" id="{1B22EAE4-2BC9-D7D0-247C-79D52C122E2E}"/>
              </a:ext>
            </a:extLst>
          </p:cNvPr>
          <p:cNvGrpSpPr/>
          <p:nvPr/>
        </p:nvGrpSpPr>
        <p:grpSpPr>
          <a:xfrm>
            <a:off x="8573285" y="1647619"/>
            <a:ext cx="939888" cy="1397556"/>
            <a:chOff x="8573285" y="1647619"/>
            <a:chExt cx="939888" cy="1397556"/>
          </a:xfrm>
        </p:grpSpPr>
        <p:sp>
          <p:nvSpPr>
            <p:cNvPr id="1140" name="Google Shape;1140;p34">
              <a:extLst>
                <a:ext uri="{FF2B5EF4-FFF2-40B4-BE49-F238E27FC236}">
                  <a16:creationId xmlns:a16="http://schemas.microsoft.com/office/drawing/2014/main" id="{43DA892F-80F7-B0A7-2064-AA3F4D317802}"/>
                </a:ext>
              </a:extLst>
            </p:cNvPr>
            <p:cNvSpPr/>
            <p:nvPr/>
          </p:nvSpPr>
          <p:spPr>
            <a:xfrm>
              <a:off x="8678823" y="1647619"/>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1" name="Google Shape;1141;p34">
              <a:extLst>
                <a:ext uri="{FF2B5EF4-FFF2-40B4-BE49-F238E27FC236}">
                  <a16:creationId xmlns:a16="http://schemas.microsoft.com/office/drawing/2014/main" id="{DF08629C-42AA-33DB-E98C-D661D5353351}"/>
                </a:ext>
              </a:extLst>
            </p:cNvPr>
            <p:cNvSpPr/>
            <p:nvPr/>
          </p:nvSpPr>
          <p:spPr>
            <a:xfrm>
              <a:off x="8573285" y="25846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Picture Placeholder 2">
            <a:extLst>
              <a:ext uri="{FF2B5EF4-FFF2-40B4-BE49-F238E27FC236}">
                <a16:creationId xmlns:a16="http://schemas.microsoft.com/office/drawing/2014/main" id="{3CE063AC-88A8-B245-4CDF-F012571C676F}"/>
              </a:ext>
            </a:extLst>
          </p:cNvPr>
          <p:cNvSpPr>
            <a:spLocks noGrp="1"/>
          </p:cNvSpPr>
          <p:nvPr>
            <p:ph type="pic" idx="2"/>
          </p:nvPr>
        </p:nvSpPr>
        <p:spPr>
          <a:xfrm>
            <a:off x="462579" y="677731"/>
            <a:ext cx="8681296" cy="4298861"/>
          </a:xfrm>
        </p:spPr>
      </p:sp>
      <p:sp>
        <p:nvSpPr>
          <p:cNvPr id="11" name="Google Shape;838;p27">
            <a:extLst>
              <a:ext uri="{FF2B5EF4-FFF2-40B4-BE49-F238E27FC236}">
                <a16:creationId xmlns:a16="http://schemas.microsoft.com/office/drawing/2014/main" id="{7DAAED63-046E-763A-9058-A974137BFBD6}"/>
              </a:ext>
            </a:extLst>
          </p:cNvPr>
          <p:cNvSpPr txBox="1">
            <a:spLocks/>
          </p:cNvSpPr>
          <p:nvPr/>
        </p:nvSpPr>
        <p:spPr>
          <a:xfrm>
            <a:off x="713250" y="3564618"/>
            <a:ext cx="7717500" cy="131907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pPr>
            <a:r>
              <a:rPr lang="fr-FR" sz="1800" dirty="0"/>
              <a:t>On remarque la déclaration des </a:t>
            </a:r>
            <a:r>
              <a:rPr lang="fr-FR" sz="1800" b="1" dirty="0"/>
              <a:t>espaces de noms</a:t>
            </a:r>
            <a:r>
              <a:rPr lang="fr-FR" sz="1800" dirty="0"/>
              <a:t> en début, suivis de la </a:t>
            </a:r>
            <a:r>
              <a:rPr lang="fr-FR" sz="1800" b="1" dirty="0"/>
              <a:t>requête proprement </a:t>
            </a:r>
            <a:r>
              <a:rPr lang="fr-FR" sz="1800" dirty="0"/>
              <a:t>dite. Le nom des variables est précédé d'un point d'interrogation </a:t>
            </a:r>
            <a:r>
              <a:rPr lang="fr-FR" sz="1800" b="1" dirty="0"/>
              <a:t>(?)</a:t>
            </a:r>
            <a:r>
              <a:rPr lang="fr-FR" sz="1800" dirty="0"/>
              <a:t>.</a:t>
            </a:r>
          </a:p>
        </p:txBody>
      </p:sp>
      <p:sp>
        <p:nvSpPr>
          <p:cNvPr id="12" name="Google Shape;1138;p34">
            <a:extLst>
              <a:ext uri="{FF2B5EF4-FFF2-40B4-BE49-F238E27FC236}">
                <a16:creationId xmlns:a16="http://schemas.microsoft.com/office/drawing/2014/main" id="{2C52E256-AB16-2920-62A1-25A09A75C7CE}"/>
              </a:ext>
            </a:extLst>
          </p:cNvPr>
          <p:cNvSpPr txBox="1">
            <a:spLocks/>
          </p:cNvSpPr>
          <p:nvPr/>
        </p:nvSpPr>
        <p:spPr>
          <a:xfrm>
            <a:off x="2579894" y="166908"/>
            <a:ext cx="3983961" cy="358208"/>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ays One"/>
              <a:buNone/>
              <a:defRPr sz="2800" b="1" i="0" u="none" strike="noStrike" cap="none">
                <a:solidFill>
                  <a:schemeClr val="dk1"/>
                </a:solidFill>
                <a:latin typeface="Days One"/>
                <a:ea typeface="Days One"/>
                <a:cs typeface="Days One"/>
                <a:sym typeface="Days One"/>
              </a:defRPr>
            </a:lvl1pPr>
            <a:lvl2pPr marR="0" lvl="1"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2pPr>
            <a:lvl3pPr marR="0" lvl="2"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3pPr>
            <a:lvl4pPr marR="0" lvl="3"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4pPr>
            <a:lvl5pPr marR="0" lvl="4"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5pPr>
            <a:lvl6pPr marR="0" lvl="5"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6pPr>
            <a:lvl7pPr marR="0" lvl="6"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7pPr>
            <a:lvl8pPr marR="0" lvl="7"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8pPr>
            <a:lvl9pPr marR="0" lvl="8" algn="ctr" rtl="0">
              <a:lnSpc>
                <a:spcPct val="100000"/>
              </a:lnSpc>
              <a:spcBef>
                <a:spcPts val="0"/>
              </a:spcBef>
              <a:spcAft>
                <a:spcPts val="0"/>
              </a:spcAft>
              <a:buClr>
                <a:schemeClr val="dk1"/>
              </a:buClr>
              <a:buSzPts val="3000"/>
              <a:buFont typeface="Days One"/>
              <a:buNone/>
              <a:defRPr sz="3000" b="1" i="0" u="none" strike="noStrike" cap="none">
                <a:solidFill>
                  <a:schemeClr val="dk1"/>
                </a:solidFill>
                <a:latin typeface="Days One"/>
                <a:ea typeface="Days One"/>
                <a:cs typeface="Days One"/>
                <a:sym typeface="Days One"/>
              </a:defRPr>
            </a:lvl9pPr>
          </a:lstStyle>
          <a:p>
            <a:r>
              <a:rPr lang="fr-FR" sz="1800" dirty="0"/>
              <a:t>La requête SPARQL :</a:t>
            </a:r>
          </a:p>
        </p:txBody>
      </p:sp>
      <p:pic>
        <p:nvPicPr>
          <p:cNvPr id="16" name="Picture 15">
            <a:extLst>
              <a:ext uri="{FF2B5EF4-FFF2-40B4-BE49-F238E27FC236}">
                <a16:creationId xmlns:a16="http://schemas.microsoft.com/office/drawing/2014/main" id="{9BB7C553-8BFF-A356-5E9B-E234E3611BCA}"/>
              </a:ext>
            </a:extLst>
          </p:cNvPr>
          <p:cNvPicPr>
            <a:picLocks noChangeAspect="1"/>
          </p:cNvPicPr>
          <p:nvPr/>
        </p:nvPicPr>
        <p:blipFill>
          <a:blip r:embed="rId3"/>
          <a:stretch>
            <a:fillRect/>
          </a:stretch>
        </p:blipFill>
        <p:spPr>
          <a:xfrm>
            <a:off x="1942607" y="942235"/>
            <a:ext cx="5258534" cy="2362530"/>
          </a:xfrm>
          <a:prstGeom prst="rect">
            <a:avLst/>
          </a:prstGeom>
        </p:spPr>
      </p:pic>
      <p:sp>
        <p:nvSpPr>
          <p:cNvPr id="2" name="TextBox 1">
            <a:extLst>
              <a:ext uri="{FF2B5EF4-FFF2-40B4-BE49-F238E27FC236}">
                <a16:creationId xmlns:a16="http://schemas.microsoft.com/office/drawing/2014/main" id="{E66C915E-0730-5F70-FFBD-2BF40698377D}"/>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46/98</a:t>
            </a:r>
          </a:p>
        </p:txBody>
      </p:sp>
    </p:spTree>
    <p:extLst>
      <p:ext uri="{BB962C8B-B14F-4D97-AF65-F5344CB8AC3E}">
        <p14:creationId xmlns:p14="http://schemas.microsoft.com/office/powerpoint/2010/main" val="3368918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AB03D46-0D7C-3AAE-FAFC-277EBCAF61AB}"/>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D133C870-6E2D-FBBE-34F4-44C9CE462408}"/>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rmAutofit lnSpcReduction="10000"/>
          </a:bodyPr>
          <a:lstStyle/>
          <a:p>
            <a:pPr algn="l">
              <a:lnSpc>
                <a:spcPct val="150000"/>
              </a:lnSpc>
              <a:buFont typeface="Wingdings" panose="05000000000000000000" pitchFamily="2" charset="2"/>
              <a:buChar char="q"/>
            </a:pPr>
            <a:r>
              <a:rPr lang="fr-FR" sz="1800" dirty="0"/>
              <a:t>La ligne SELECT permet de sélectionner l'ensemble des tuples, ou lignes de variables (nom, image, description) correspondant aux contraintes de la clause WHERE.</a:t>
            </a:r>
          </a:p>
          <a:p>
            <a:pPr algn="l">
              <a:lnSpc>
                <a:spcPct val="150000"/>
              </a:lnSpc>
              <a:buFont typeface="Wingdings" panose="05000000000000000000" pitchFamily="2" charset="2"/>
              <a:buChar char="q"/>
            </a:pPr>
            <a:r>
              <a:rPr lang="fr-FR" sz="1800" dirty="0">
                <a:solidFill>
                  <a:srgbClr val="008F95"/>
                </a:solidFill>
              </a:rPr>
              <a:t>?personne </a:t>
            </a:r>
            <a:r>
              <a:rPr lang="fr-FR" sz="1800" dirty="0" err="1">
                <a:solidFill>
                  <a:srgbClr val="008F95"/>
                </a:solidFill>
              </a:rPr>
              <a:t>rdf:type</a:t>
            </a:r>
            <a:r>
              <a:rPr lang="fr-FR" sz="1800" dirty="0">
                <a:solidFill>
                  <a:srgbClr val="008F95"/>
                </a:solidFill>
              </a:rPr>
              <a:t> </a:t>
            </a:r>
            <a:r>
              <a:rPr lang="fr-FR" sz="1800" dirty="0" err="1">
                <a:solidFill>
                  <a:srgbClr val="008F95"/>
                </a:solidFill>
              </a:rPr>
              <a:t>foaf:Person</a:t>
            </a:r>
            <a:endParaRPr lang="fr-FR" sz="1800" dirty="0">
              <a:solidFill>
                <a:srgbClr val="008F95"/>
              </a:solidFill>
            </a:endParaRPr>
          </a:p>
          <a:p>
            <a:pPr lvl="1">
              <a:lnSpc>
                <a:spcPct val="150000"/>
              </a:lnSpc>
              <a:buFont typeface="Wingdings" panose="05000000000000000000" pitchFamily="2" charset="2"/>
              <a:buChar char="v"/>
            </a:pPr>
            <a:r>
              <a:rPr lang="fr-FR" sz="1800" dirty="0"/>
              <a:t> La variable </a:t>
            </a:r>
            <a:r>
              <a:rPr lang="fr-FR" sz="1800" b="1" dirty="0"/>
              <a:t>?personne</a:t>
            </a:r>
            <a:r>
              <a:rPr lang="fr-FR" sz="1800" dirty="0"/>
              <a:t> désigne un individu du graphe dont le type </a:t>
            </a:r>
            <a:r>
              <a:rPr lang="fr-FR" sz="1800" b="1" dirty="0"/>
              <a:t>est </a:t>
            </a:r>
            <a:r>
              <a:rPr lang="fr-FR" sz="1800" b="1" dirty="0" err="1"/>
              <a:t>foaf:Person</a:t>
            </a:r>
            <a:r>
              <a:rPr lang="fr-FR" sz="1800" dirty="0"/>
              <a:t> (une personne selon le vocabulaire FOAF).</a:t>
            </a:r>
          </a:p>
        </p:txBody>
      </p:sp>
      <p:sp>
        <p:nvSpPr>
          <p:cNvPr id="839" name="Google Shape;839;p27">
            <a:extLst>
              <a:ext uri="{FF2B5EF4-FFF2-40B4-BE49-F238E27FC236}">
                <a16:creationId xmlns:a16="http://schemas.microsoft.com/office/drawing/2014/main" id="{FB38B846-7565-0CB7-C51C-A05C6B7362D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 Explication de la requête</a:t>
            </a:r>
            <a:endParaRPr sz="2400" dirty="0"/>
          </a:p>
        </p:txBody>
      </p:sp>
      <p:grpSp>
        <p:nvGrpSpPr>
          <p:cNvPr id="841" name="Google Shape;841;p27">
            <a:extLst>
              <a:ext uri="{FF2B5EF4-FFF2-40B4-BE49-F238E27FC236}">
                <a16:creationId xmlns:a16="http://schemas.microsoft.com/office/drawing/2014/main" id="{7C595445-3D42-CA23-FCEE-73F86E3A5C85}"/>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82C6228-35E0-7D6F-A010-8B09422D096E}"/>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3771BFCB-6446-47C9-0230-5A0DEFB9EE7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9640413F-ADBD-2E27-AEFE-F3680A15132B}"/>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982612A9-547C-8B14-F71E-ECCD8638812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AABC746F-9242-4879-A896-BDA6FCEDF8F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FCC76EE0-A25E-ED97-FBDE-7FF15314AB94}"/>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B51640CE-20B9-EEF5-410A-8CEF12301FAA}"/>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35552A33-18C6-55AD-9B93-DF5EEF2EDEE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ACFAF114-25BA-ED9E-1757-03BD792C4172}"/>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47/98</a:t>
            </a:r>
          </a:p>
        </p:txBody>
      </p:sp>
    </p:spTree>
    <p:extLst>
      <p:ext uri="{BB962C8B-B14F-4D97-AF65-F5344CB8AC3E}">
        <p14:creationId xmlns:p14="http://schemas.microsoft.com/office/powerpoint/2010/main" val="30862660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72C881E-1EC9-232C-C162-954B9E44368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B25C1AF9-26C1-D56E-9472-23FB56E9C9CB}"/>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rmAutofit/>
          </a:bodyPr>
          <a:lstStyle/>
          <a:p>
            <a:pPr algn="l">
              <a:lnSpc>
                <a:spcPct val="150000"/>
              </a:lnSpc>
              <a:buFont typeface="Wingdings" panose="05000000000000000000" pitchFamily="2" charset="2"/>
              <a:buChar char="q"/>
            </a:pPr>
            <a:r>
              <a:rPr lang="fr-FR" sz="1800" dirty="0">
                <a:solidFill>
                  <a:srgbClr val="008F95"/>
                </a:solidFill>
              </a:rPr>
              <a:t>?personne </a:t>
            </a:r>
            <a:r>
              <a:rPr lang="fr-FR" sz="1800" dirty="0" err="1">
                <a:solidFill>
                  <a:srgbClr val="008F95"/>
                </a:solidFill>
              </a:rPr>
              <a:t>foaf:name</a:t>
            </a:r>
            <a:r>
              <a:rPr lang="fr-FR" sz="1800" dirty="0">
                <a:solidFill>
                  <a:srgbClr val="008F95"/>
                </a:solidFill>
              </a:rPr>
              <a:t> ?nom</a:t>
            </a:r>
          </a:p>
          <a:p>
            <a:pPr lvl="1">
              <a:lnSpc>
                <a:spcPct val="150000"/>
              </a:lnSpc>
              <a:buFont typeface="Wingdings" panose="05000000000000000000" pitchFamily="2" charset="2"/>
              <a:buChar char="v"/>
            </a:pPr>
            <a:r>
              <a:rPr lang="fr-FR" sz="1800" dirty="0"/>
              <a:t>On récupère la valeur de la propriété </a:t>
            </a:r>
            <a:r>
              <a:rPr lang="fr-FR" sz="1800" b="1" dirty="0" err="1"/>
              <a:t>foaf:name</a:t>
            </a:r>
            <a:r>
              <a:rPr lang="fr-FR" sz="1800" dirty="0"/>
              <a:t> de </a:t>
            </a:r>
            <a:r>
              <a:rPr lang="fr-FR" sz="1800" b="1" dirty="0"/>
              <a:t>?personne</a:t>
            </a:r>
            <a:r>
              <a:rPr lang="fr-FR" sz="1800" dirty="0"/>
              <a:t>, et on la met dans la variable </a:t>
            </a:r>
            <a:r>
              <a:rPr lang="fr-FR" sz="1800" b="1" dirty="0"/>
              <a:t>?nom</a:t>
            </a:r>
            <a:r>
              <a:rPr lang="fr-FR" sz="1800" dirty="0"/>
              <a:t>.</a:t>
            </a:r>
          </a:p>
          <a:p>
            <a:pPr algn="l">
              <a:lnSpc>
                <a:spcPct val="150000"/>
              </a:lnSpc>
              <a:buFont typeface="Wingdings" panose="05000000000000000000" pitchFamily="2" charset="2"/>
              <a:buChar char="q"/>
            </a:pPr>
            <a:r>
              <a:rPr lang="fr-FR" sz="1800" dirty="0">
                <a:solidFill>
                  <a:srgbClr val="008F95"/>
                </a:solidFill>
              </a:rPr>
              <a:t>?image </a:t>
            </a:r>
            <a:r>
              <a:rPr lang="fr-FR" sz="1800" dirty="0" err="1">
                <a:solidFill>
                  <a:srgbClr val="008F95"/>
                </a:solidFill>
              </a:rPr>
              <a:t>rdf:type</a:t>
            </a:r>
            <a:r>
              <a:rPr lang="fr-FR" sz="1800" dirty="0">
                <a:solidFill>
                  <a:srgbClr val="008F95"/>
                </a:solidFill>
              </a:rPr>
              <a:t> </a:t>
            </a:r>
            <a:r>
              <a:rPr lang="fr-FR" sz="1800" dirty="0" err="1">
                <a:solidFill>
                  <a:srgbClr val="008F95"/>
                </a:solidFill>
              </a:rPr>
              <a:t>foaf:Image</a:t>
            </a:r>
            <a:endParaRPr lang="fr-FR" sz="1800" dirty="0">
              <a:solidFill>
                <a:srgbClr val="008F95"/>
              </a:solidFill>
            </a:endParaRPr>
          </a:p>
          <a:p>
            <a:pPr lvl="1">
              <a:lnSpc>
                <a:spcPct val="150000"/>
              </a:lnSpc>
              <a:buFont typeface="Wingdings" panose="05000000000000000000" pitchFamily="2" charset="2"/>
              <a:buChar char="v"/>
            </a:pPr>
            <a:r>
              <a:rPr lang="fr-FR" sz="1800" dirty="0"/>
              <a:t>La variable </a:t>
            </a:r>
            <a:r>
              <a:rPr lang="fr-FR" sz="1800" b="1" dirty="0"/>
              <a:t>?image</a:t>
            </a:r>
            <a:r>
              <a:rPr lang="fr-FR" sz="1800" dirty="0"/>
              <a:t> représente une ressource du graphe de type </a:t>
            </a:r>
            <a:r>
              <a:rPr lang="fr-FR" sz="1800" b="1" dirty="0" err="1"/>
              <a:t>foaf:Image</a:t>
            </a:r>
            <a:r>
              <a:rPr lang="fr-FR" sz="1800" dirty="0"/>
              <a:t> (une image au sens FOAF).</a:t>
            </a:r>
            <a:endParaRPr lang="fr-FR" sz="1800" dirty="0">
              <a:solidFill>
                <a:srgbClr val="008F95"/>
              </a:solidFill>
            </a:endParaRPr>
          </a:p>
        </p:txBody>
      </p:sp>
      <p:sp>
        <p:nvSpPr>
          <p:cNvPr id="839" name="Google Shape;839;p27">
            <a:extLst>
              <a:ext uri="{FF2B5EF4-FFF2-40B4-BE49-F238E27FC236}">
                <a16:creationId xmlns:a16="http://schemas.microsoft.com/office/drawing/2014/main" id="{FABB6A79-256B-8965-B9B3-5CB13E06BAEF}"/>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 Explication de la requête</a:t>
            </a:r>
            <a:endParaRPr sz="2400" dirty="0"/>
          </a:p>
        </p:txBody>
      </p:sp>
      <p:grpSp>
        <p:nvGrpSpPr>
          <p:cNvPr id="841" name="Google Shape;841;p27">
            <a:extLst>
              <a:ext uri="{FF2B5EF4-FFF2-40B4-BE49-F238E27FC236}">
                <a16:creationId xmlns:a16="http://schemas.microsoft.com/office/drawing/2014/main" id="{2E10CA0F-3529-03CC-8ABA-E799645604BE}"/>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CCA87E5A-12B7-E98A-B12C-6014480294F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31D8413C-EFB9-11D0-5837-5A87D7FC872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BD2403AE-967A-5E71-F599-1B4FEE39745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62853EE-4ACC-3CC3-E560-C92130304B32}"/>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BE27C559-2760-B6E3-43CC-765B06C57B3C}"/>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33EF6D11-691E-AF2D-F1E8-54D4C44869F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A05BB46-7A62-26E0-F648-C4008882A54F}"/>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BB9ABF80-8173-40FD-4D2F-CA56ADA90B15}"/>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1C57392E-99BA-A175-F3C2-6FA7D52E4C7F}"/>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48/98</a:t>
            </a:r>
          </a:p>
        </p:txBody>
      </p:sp>
    </p:spTree>
    <p:extLst>
      <p:ext uri="{BB962C8B-B14F-4D97-AF65-F5344CB8AC3E}">
        <p14:creationId xmlns:p14="http://schemas.microsoft.com/office/powerpoint/2010/main" val="9646506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97374FA-2930-43E6-B636-C065E90EE9DB}"/>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CECA7208-4B70-C515-5F43-9D7956AA68A8}"/>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buFont typeface="Wingdings" panose="05000000000000000000" pitchFamily="2" charset="2"/>
              <a:buChar char="q"/>
            </a:pPr>
            <a:r>
              <a:rPr lang="fr-FR" sz="1800" dirty="0">
                <a:solidFill>
                  <a:srgbClr val="008F95"/>
                </a:solidFill>
              </a:rPr>
              <a:t>?personne </a:t>
            </a:r>
            <a:r>
              <a:rPr lang="fr-FR" sz="1800" dirty="0" err="1">
                <a:solidFill>
                  <a:srgbClr val="008F95"/>
                </a:solidFill>
              </a:rPr>
              <a:t>foaf:img</a:t>
            </a:r>
            <a:r>
              <a:rPr lang="fr-FR" sz="1800" dirty="0">
                <a:solidFill>
                  <a:srgbClr val="008F95"/>
                </a:solidFill>
              </a:rPr>
              <a:t> ?image</a:t>
            </a:r>
          </a:p>
          <a:p>
            <a:pPr lvl="1">
              <a:lnSpc>
                <a:spcPct val="150000"/>
              </a:lnSpc>
              <a:buFont typeface="Wingdings" panose="05000000000000000000" pitchFamily="2" charset="2"/>
              <a:buChar char="v"/>
            </a:pPr>
            <a:r>
              <a:rPr lang="fr-FR" sz="1800" dirty="0"/>
              <a:t>On établit le lien entre la personne et son image : la ressource </a:t>
            </a:r>
            <a:r>
              <a:rPr lang="fr-FR" sz="1800" b="1" dirty="0"/>
              <a:t>?personne</a:t>
            </a:r>
            <a:r>
              <a:rPr lang="fr-FR" sz="1800" dirty="0"/>
              <a:t> est associée à une image via la propriété </a:t>
            </a:r>
            <a:r>
              <a:rPr lang="fr-FR" sz="1800" b="1" dirty="0" err="1"/>
              <a:t>foaf:img</a:t>
            </a:r>
            <a:r>
              <a:rPr lang="fr-FR" sz="1800" dirty="0"/>
              <a:t>.</a:t>
            </a:r>
            <a:endParaRPr lang="fr-FR" sz="1800" dirty="0">
              <a:solidFill>
                <a:srgbClr val="008F95"/>
              </a:solidFill>
            </a:endParaRPr>
          </a:p>
          <a:p>
            <a:pPr algn="l">
              <a:lnSpc>
                <a:spcPct val="150000"/>
              </a:lnSpc>
              <a:buFont typeface="Wingdings" panose="05000000000000000000" pitchFamily="2" charset="2"/>
              <a:buChar char="q"/>
            </a:pPr>
            <a:r>
              <a:rPr lang="fr-FR" sz="1800" dirty="0">
                <a:solidFill>
                  <a:srgbClr val="008F95"/>
                </a:solidFill>
              </a:rPr>
              <a:t>?image </a:t>
            </a:r>
            <a:r>
              <a:rPr lang="fr-FR" sz="1800" dirty="0" err="1">
                <a:solidFill>
                  <a:srgbClr val="008F95"/>
                </a:solidFill>
              </a:rPr>
              <a:t>dc:description</a:t>
            </a:r>
            <a:r>
              <a:rPr lang="fr-FR" sz="1800" dirty="0">
                <a:solidFill>
                  <a:srgbClr val="008F95"/>
                </a:solidFill>
              </a:rPr>
              <a:t> ?description</a:t>
            </a:r>
          </a:p>
          <a:p>
            <a:pPr lvl="1">
              <a:lnSpc>
                <a:spcPct val="150000"/>
              </a:lnSpc>
              <a:buFont typeface="Wingdings" panose="05000000000000000000" pitchFamily="2" charset="2"/>
              <a:buChar char="v"/>
            </a:pPr>
            <a:r>
              <a:rPr lang="fr-FR" sz="1800" dirty="0"/>
              <a:t>Enfin, on récupère la description textuelle de l’image via la propriété </a:t>
            </a:r>
            <a:r>
              <a:rPr lang="fr-FR" sz="1800" b="1" dirty="0" err="1"/>
              <a:t>dc:description</a:t>
            </a:r>
            <a:r>
              <a:rPr lang="fr-FR" sz="1800" dirty="0"/>
              <a:t>, stockée dans la variable </a:t>
            </a:r>
            <a:r>
              <a:rPr lang="fr-FR" sz="1800" b="1" dirty="0"/>
              <a:t>?description</a:t>
            </a:r>
            <a:r>
              <a:rPr lang="fr-FR" sz="1800" dirty="0"/>
              <a:t>.</a:t>
            </a:r>
          </a:p>
        </p:txBody>
      </p:sp>
      <p:sp>
        <p:nvSpPr>
          <p:cNvPr id="839" name="Google Shape;839;p27">
            <a:extLst>
              <a:ext uri="{FF2B5EF4-FFF2-40B4-BE49-F238E27FC236}">
                <a16:creationId xmlns:a16="http://schemas.microsoft.com/office/drawing/2014/main" id="{01F7E799-0F62-1F95-39A9-ACB69A48B495}"/>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Langage SPARQL: Explication de la requête</a:t>
            </a:r>
            <a:endParaRPr sz="2400" dirty="0"/>
          </a:p>
        </p:txBody>
      </p:sp>
      <p:grpSp>
        <p:nvGrpSpPr>
          <p:cNvPr id="841" name="Google Shape;841;p27">
            <a:extLst>
              <a:ext uri="{FF2B5EF4-FFF2-40B4-BE49-F238E27FC236}">
                <a16:creationId xmlns:a16="http://schemas.microsoft.com/office/drawing/2014/main" id="{F75957D0-1B14-0C1F-1D61-6BD9B5530F36}"/>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A11271DF-FB88-AECD-92A4-E688A26F767C}"/>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3D551B6-89B8-D487-E9EC-03A7AFE161C4}"/>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1BDD8A3D-8873-164A-4475-9441F2AA5CF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ADCE285F-E539-0F92-C618-CA914AF00B6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17D495DE-535C-65F2-7443-03BC78F2A93A}"/>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397BB7E-0FC7-967B-2170-3290BEC44B5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9D3F6439-CE75-CA59-06BA-CD4675E6632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5323430-FCA4-3821-A735-01CC831E8A4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23C3BE19-9889-7F64-8A2F-B966760AFA5E}"/>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49/98</a:t>
            </a:r>
          </a:p>
        </p:txBody>
      </p:sp>
    </p:spTree>
    <p:extLst>
      <p:ext uri="{BB962C8B-B14F-4D97-AF65-F5344CB8AC3E}">
        <p14:creationId xmlns:p14="http://schemas.microsoft.com/office/powerpoint/2010/main" val="6041342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36">
          <a:extLst>
            <a:ext uri="{FF2B5EF4-FFF2-40B4-BE49-F238E27FC236}">
              <a16:creationId xmlns:a16="http://schemas.microsoft.com/office/drawing/2014/main" id="{B69BF61C-F2BF-93D6-76D1-C9CA77791410}"/>
            </a:ext>
          </a:extLst>
        </p:cNvPr>
        <p:cNvGrpSpPr/>
        <p:nvPr/>
      </p:nvGrpSpPr>
      <p:grpSpPr>
        <a:xfrm>
          <a:off x="0" y="0"/>
          <a:ext cx="0" cy="0"/>
          <a:chOff x="0" y="0"/>
          <a:chExt cx="0" cy="0"/>
        </a:xfrm>
      </p:grpSpPr>
      <p:sp>
        <p:nvSpPr>
          <p:cNvPr id="1138" name="Google Shape;1138;p34">
            <a:extLst>
              <a:ext uri="{FF2B5EF4-FFF2-40B4-BE49-F238E27FC236}">
                <a16:creationId xmlns:a16="http://schemas.microsoft.com/office/drawing/2014/main" id="{8674B492-7D41-5117-09DF-1057B38AB280}"/>
              </a:ext>
            </a:extLst>
          </p:cNvPr>
          <p:cNvSpPr txBox="1">
            <a:spLocks noGrp="1"/>
          </p:cNvSpPr>
          <p:nvPr>
            <p:ph type="title"/>
          </p:nvPr>
        </p:nvSpPr>
        <p:spPr>
          <a:xfrm>
            <a:off x="2579894" y="166908"/>
            <a:ext cx="3983961" cy="358208"/>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fr-FR" sz="2000" dirty="0"/>
              <a:t>Le résultat SPARQL :</a:t>
            </a:r>
            <a:endParaRPr sz="2000" dirty="0"/>
          </a:p>
        </p:txBody>
      </p:sp>
      <p:grpSp>
        <p:nvGrpSpPr>
          <p:cNvPr id="1139" name="Google Shape;1139;p34">
            <a:extLst>
              <a:ext uri="{FF2B5EF4-FFF2-40B4-BE49-F238E27FC236}">
                <a16:creationId xmlns:a16="http://schemas.microsoft.com/office/drawing/2014/main" id="{08EC2575-B28D-91A7-43FE-A1F6505742AF}"/>
              </a:ext>
            </a:extLst>
          </p:cNvPr>
          <p:cNvGrpSpPr/>
          <p:nvPr/>
        </p:nvGrpSpPr>
        <p:grpSpPr>
          <a:xfrm>
            <a:off x="8573285" y="1647619"/>
            <a:ext cx="939888" cy="1397556"/>
            <a:chOff x="8573285" y="1647619"/>
            <a:chExt cx="939888" cy="1397556"/>
          </a:xfrm>
        </p:grpSpPr>
        <p:sp>
          <p:nvSpPr>
            <p:cNvPr id="1140" name="Google Shape;1140;p34">
              <a:extLst>
                <a:ext uri="{FF2B5EF4-FFF2-40B4-BE49-F238E27FC236}">
                  <a16:creationId xmlns:a16="http://schemas.microsoft.com/office/drawing/2014/main" id="{87F4446F-6721-BAF4-AC6A-3404547F4D94}"/>
                </a:ext>
              </a:extLst>
            </p:cNvPr>
            <p:cNvSpPr/>
            <p:nvPr/>
          </p:nvSpPr>
          <p:spPr>
            <a:xfrm>
              <a:off x="8678823" y="1647619"/>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1" name="Google Shape;1141;p34">
              <a:extLst>
                <a:ext uri="{FF2B5EF4-FFF2-40B4-BE49-F238E27FC236}">
                  <a16:creationId xmlns:a16="http://schemas.microsoft.com/office/drawing/2014/main" id="{368F3897-896D-3C6F-2440-5CD83A1E7484}"/>
                </a:ext>
              </a:extLst>
            </p:cNvPr>
            <p:cNvSpPr/>
            <p:nvPr/>
          </p:nvSpPr>
          <p:spPr>
            <a:xfrm>
              <a:off x="8573285" y="25846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Picture Placeholder 2">
            <a:extLst>
              <a:ext uri="{FF2B5EF4-FFF2-40B4-BE49-F238E27FC236}">
                <a16:creationId xmlns:a16="http://schemas.microsoft.com/office/drawing/2014/main" id="{F3634108-FB1F-7F59-56C1-B661A1EE0388}"/>
              </a:ext>
            </a:extLst>
          </p:cNvPr>
          <p:cNvSpPr>
            <a:spLocks noGrp="1"/>
          </p:cNvSpPr>
          <p:nvPr>
            <p:ph type="pic" idx="2"/>
          </p:nvPr>
        </p:nvSpPr>
        <p:spPr>
          <a:xfrm>
            <a:off x="720203" y="568819"/>
            <a:ext cx="7853082" cy="4574681"/>
          </a:xfrm>
        </p:spPr>
      </p:sp>
      <p:pic>
        <p:nvPicPr>
          <p:cNvPr id="4" name="Picture 3">
            <a:extLst>
              <a:ext uri="{FF2B5EF4-FFF2-40B4-BE49-F238E27FC236}">
                <a16:creationId xmlns:a16="http://schemas.microsoft.com/office/drawing/2014/main" id="{87C6054E-BCA3-B216-B800-F1712E1006A5}"/>
              </a:ext>
            </a:extLst>
          </p:cNvPr>
          <p:cNvPicPr>
            <a:picLocks noChangeAspect="1"/>
          </p:cNvPicPr>
          <p:nvPr/>
        </p:nvPicPr>
        <p:blipFill>
          <a:blip r:embed="rId3"/>
          <a:stretch>
            <a:fillRect/>
          </a:stretch>
        </p:blipFill>
        <p:spPr>
          <a:xfrm>
            <a:off x="2096944" y="641582"/>
            <a:ext cx="4950112" cy="4335010"/>
          </a:xfrm>
          <a:prstGeom prst="rect">
            <a:avLst/>
          </a:prstGeom>
        </p:spPr>
      </p:pic>
      <p:sp>
        <p:nvSpPr>
          <p:cNvPr id="2" name="TextBox 1">
            <a:extLst>
              <a:ext uri="{FF2B5EF4-FFF2-40B4-BE49-F238E27FC236}">
                <a16:creationId xmlns:a16="http://schemas.microsoft.com/office/drawing/2014/main" id="{81A4F55C-94A5-DFB3-2A52-CA6A24DDC85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50/98</a:t>
            </a:r>
          </a:p>
        </p:txBody>
      </p:sp>
    </p:spTree>
    <p:extLst>
      <p:ext uri="{BB962C8B-B14F-4D97-AF65-F5344CB8AC3E}">
        <p14:creationId xmlns:p14="http://schemas.microsoft.com/office/powerpoint/2010/main" val="30425408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38"/>
          <p:cNvSpPr txBox="1">
            <a:spLocks noGrp="1"/>
          </p:cNvSpPr>
          <p:nvPr>
            <p:ph type="title"/>
          </p:nvPr>
        </p:nvSpPr>
        <p:spPr>
          <a:xfrm>
            <a:off x="1880700" y="1752675"/>
            <a:ext cx="5382600" cy="150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Présentation d’</a:t>
            </a:r>
            <a:r>
              <a:rPr lang="fr-FR" dirty="0" err="1"/>
              <a:t>AllegroGraph</a:t>
            </a:r>
            <a:endParaRPr lang="fr-FR" dirty="0"/>
          </a:p>
        </p:txBody>
      </p:sp>
      <p:grpSp>
        <p:nvGrpSpPr>
          <p:cNvPr id="1302" name="Google Shape;1302;p38"/>
          <p:cNvGrpSpPr/>
          <p:nvPr/>
        </p:nvGrpSpPr>
        <p:grpSpPr>
          <a:xfrm>
            <a:off x="896391" y="806294"/>
            <a:ext cx="7307577" cy="3676076"/>
            <a:chOff x="896391" y="927919"/>
            <a:chExt cx="7307577" cy="3676076"/>
          </a:xfrm>
        </p:grpSpPr>
        <p:grpSp>
          <p:nvGrpSpPr>
            <p:cNvPr id="1303" name="Google Shape;1303;p38"/>
            <p:cNvGrpSpPr/>
            <p:nvPr/>
          </p:nvGrpSpPr>
          <p:grpSpPr>
            <a:xfrm>
              <a:off x="7029323" y="927919"/>
              <a:ext cx="1174645" cy="1286731"/>
              <a:chOff x="7029323" y="927919"/>
              <a:chExt cx="1174645" cy="1286731"/>
            </a:xfrm>
          </p:grpSpPr>
          <p:sp>
            <p:nvSpPr>
              <p:cNvPr id="1304" name="Google Shape;1304;p38"/>
              <p:cNvSpPr/>
              <p:nvPr/>
            </p:nvSpPr>
            <p:spPr>
              <a:xfrm>
                <a:off x="7029323" y="927919"/>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5" name="Google Shape;1305;p38"/>
              <p:cNvSpPr/>
              <p:nvPr/>
            </p:nvSpPr>
            <p:spPr>
              <a:xfrm>
                <a:off x="7738935" y="1754149"/>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306" name="Google Shape;1306;p38"/>
            <p:cNvSpPr/>
            <p:nvPr/>
          </p:nvSpPr>
          <p:spPr>
            <a:xfrm rot="-5400000">
              <a:off x="4310275" y="3909195"/>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307" name="Google Shape;1307;p38"/>
            <p:cNvGrpSpPr/>
            <p:nvPr/>
          </p:nvGrpSpPr>
          <p:grpSpPr>
            <a:xfrm flipH="1">
              <a:off x="896391" y="927926"/>
              <a:ext cx="1212401" cy="1240945"/>
              <a:chOff x="8264880" y="1119240"/>
              <a:chExt cx="1865520" cy="1909440"/>
            </a:xfrm>
          </p:grpSpPr>
          <p:sp>
            <p:nvSpPr>
              <p:cNvPr id="1308" name="Google Shape;1308;p38"/>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9" name="Google Shape;1309;p38"/>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0" name="Google Shape;1310;p38"/>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1" name="Google Shape;1311;p38"/>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312" name="Google Shape;1312;p38"/>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3" name="Google Shape;1313;p38"/>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pic>
        <p:nvPicPr>
          <p:cNvPr id="6" name="Picture 5">
            <a:extLst>
              <a:ext uri="{FF2B5EF4-FFF2-40B4-BE49-F238E27FC236}">
                <a16:creationId xmlns:a16="http://schemas.microsoft.com/office/drawing/2014/main" id="{E8EF141B-EB7F-D093-B4D7-1CF879FFAEDE}"/>
              </a:ext>
            </a:extLst>
          </p:cNvPr>
          <p:cNvPicPr>
            <a:picLocks noChangeAspect="1"/>
          </p:cNvPicPr>
          <p:nvPr/>
        </p:nvPicPr>
        <p:blipFill>
          <a:blip r:embed="rId3"/>
          <a:stretch>
            <a:fillRect/>
          </a:stretch>
        </p:blipFill>
        <p:spPr>
          <a:xfrm>
            <a:off x="3339676" y="414667"/>
            <a:ext cx="1926503" cy="1609483"/>
          </a:xfrm>
          <a:prstGeom prst="rect">
            <a:avLst/>
          </a:prstGeom>
        </p:spPr>
      </p:pic>
      <p:sp>
        <p:nvSpPr>
          <p:cNvPr id="3" name="Subtitle 2">
            <a:extLst>
              <a:ext uri="{FF2B5EF4-FFF2-40B4-BE49-F238E27FC236}">
                <a16:creationId xmlns:a16="http://schemas.microsoft.com/office/drawing/2014/main" id="{14B6DC2A-CE6C-ED57-BA94-954F665427B7}"/>
              </a:ext>
            </a:extLst>
          </p:cNvPr>
          <p:cNvSpPr>
            <a:spLocks noGrp="1"/>
          </p:cNvSpPr>
          <p:nvPr>
            <p:ph type="subTitle" idx="1"/>
          </p:nvPr>
        </p:nvSpPr>
        <p:spPr/>
        <p:txBody>
          <a:bodyPr/>
          <a:lstStyle/>
          <a:p>
            <a:endParaRPr lang="fr-FR"/>
          </a:p>
        </p:txBody>
      </p:sp>
      <p:sp>
        <p:nvSpPr>
          <p:cNvPr id="2" name="TextBox 1">
            <a:extLst>
              <a:ext uri="{FF2B5EF4-FFF2-40B4-BE49-F238E27FC236}">
                <a16:creationId xmlns:a16="http://schemas.microsoft.com/office/drawing/2014/main" id="{301C5959-0046-C8FA-15D2-EF94B5DA5A18}"/>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51/98</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E750D51-3E04-023B-377F-A4BAC8CE157E}"/>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9D38BE59-3E2E-72D7-6251-AC29B7F67DD0}"/>
              </a:ext>
            </a:extLst>
          </p:cNvPr>
          <p:cNvSpPr txBox="1">
            <a:spLocks noGrp="1"/>
          </p:cNvSpPr>
          <p:nvPr>
            <p:ph type="subTitle" idx="1"/>
          </p:nvPr>
        </p:nvSpPr>
        <p:spPr>
          <a:xfrm>
            <a:off x="896400" y="1629389"/>
            <a:ext cx="7351200" cy="2964120"/>
          </a:xfrm>
          <a:prstGeom prst="rect">
            <a:avLst/>
          </a:prstGeom>
        </p:spPr>
        <p:txBody>
          <a:bodyPr spcFirstLastPara="1" wrap="square" lIns="91425" tIns="91425" rIns="91425" bIns="91425" anchor="t" anchorCtr="0">
            <a:noAutofit/>
          </a:bodyPr>
          <a:lstStyle/>
          <a:p>
            <a:pPr algn="l">
              <a:lnSpc>
                <a:spcPct val="150000"/>
              </a:lnSpc>
            </a:pPr>
            <a:r>
              <a:rPr lang="fr-FR" sz="1800" dirty="0" err="1"/>
              <a:t>AllegroGraph</a:t>
            </a:r>
            <a:r>
              <a:rPr lang="fr-FR" sz="1800" dirty="0"/>
              <a:t> est une </a:t>
            </a:r>
            <a:r>
              <a:rPr lang="fr-FR" sz="1800" b="1" dirty="0"/>
              <a:t>base de données graphe</a:t>
            </a:r>
            <a:r>
              <a:rPr lang="fr-FR" sz="1800" dirty="0"/>
              <a:t> conçue pour le </a:t>
            </a:r>
            <a:r>
              <a:rPr lang="fr-FR" sz="1800" b="1" dirty="0"/>
              <a:t>Web </a:t>
            </a:r>
          </a:p>
          <a:p>
            <a:pPr algn="l">
              <a:lnSpc>
                <a:spcPct val="150000"/>
              </a:lnSpc>
            </a:pPr>
            <a:r>
              <a:rPr lang="fr-FR" sz="1800" b="1" dirty="0"/>
              <a:t>sémantique</a:t>
            </a:r>
            <a:r>
              <a:rPr lang="fr-FR" sz="1800" dirty="0"/>
              <a:t>, qui utilise le modèle </a:t>
            </a:r>
            <a:r>
              <a:rPr lang="fr-FR" sz="1800" b="1" dirty="0"/>
              <a:t>RDF</a:t>
            </a:r>
            <a:r>
              <a:rPr lang="fr-FR" sz="1800" dirty="0"/>
              <a:t> (Resource Description</a:t>
            </a:r>
          </a:p>
          <a:p>
            <a:pPr algn="l">
              <a:lnSpc>
                <a:spcPct val="150000"/>
              </a:lnSpc>
            </a:pPr>
            <a:r>
              <a:rPr lang="fr-FR" sz="1800" dirty="0"/>
              <a:t>Framework) pour stocker, gérer et interroger des données sous forme</a:t>
            </a:r>
          </a:p>
          <a:p>
            <a:pPr algn="l">
              <a:lnSpc>
                <a:spcPct val="150000"/>
              </a:lnSpc>
            </a:pPr>
            <a:r>
              <a:rPr lang="fr-FR" sz="1800" dirty="0"/>
              <a:t>de </a:t>
            </a:r>
            <a:r>
              <a:rPr lang="fr-FR" sz="1800" b="1" dirty="0"/>
              <a:t>triplets (sujet, prédicat, objet)</a:t>
            </a:r>
            <a:r>
              <a:rPr lang="fr-FR" sz="1800" dirty="0"/>
              <a:t>.</a:t>
            </a:r>
          </a:p>
        </p:txBody>
      </p:sp>
      <p:sp>
        <p:nvSpPr>
          <p:cNvPr id="839" name="Google Shape;839;p27">
            <a:extLst>
              <a:ext uri="{FF2B5EF4-FFF2-40B4-BE49-F238E27FC236}">
                <a16:creationId xmlns:a16="http://schemas.microsoft.com/office/drawing/2014/main" id="{F1042D3D-AE09-D0DB-59A7-0DBAF117367D}"/>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Définition</a:t>
            </a:r>
            <a:endParaRPr sz="2400" dirty="0"/>
          </a:p>
        </p:txBody>
      </p:sp>
      <p:grpSp>
        <p:nvGrpSpPr>
          <p:cNvPr id="841" name="Google Shape;841;p27">
            <a:extLst>
              <a:ext uri="{FF2B5EF4-FFF2-40B4-BE49-F238E27FC236}">
                <a16:creationId xmlns:a16="http://schemas.microsoft.com/office/drawing/2014/main" id="{274A6B8F-C59E-56AC-C938-B22018A65F43}"/>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4859F85-455A-F2FF-1D16-7DFD9078FDF0}"/>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C4657CDF-D5E5-D1E0-961B-3572C61D0D6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16B3830A-62BC-42B7-6A38-A18C5D484AA5}"/>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630A723-926A-A414-FE98-8F2DE836BD1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DD6F04DD-D24B-9C84-5B10-0CB054074890}"/>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B490319-D08E-A329-0B90-4A5519C95AF8}"/>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36EC4083-52CB-0E67-6C91-C1E25DEC40F5}"/>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04AE0787-FD63-C884-CBF4-AA6C32A1A14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6D2FE6E8-ED59-3FFE-6882-3CE1BCC5CAB3}"/>
              </a:ext>
            </a:extLst>
          </p:cNvPr>
          <p:cNvPicPr>
            <a:picLocks noChangeAspect="1"/>
          </p:cNvPicPr>
          <p:nvPr/>
        </p:nvPicPr>
        <p:blipFill>
          <a:blip r:embed="rId3"/>
          <a:stretch>
            <a:fillRect/>
          </a:stretch>
        </p:blipFill>
        <p:spPr>
          <a:xfrm>
            <a:off x="896400" y="3906649"/>
            <a:ext cx="2814988" cy="700688"/>
          </a:xfrm>
          <a:prstGeom prst="rect">
            <a:avLst/>
          </a:prstGeom>
        </p:spPr>
      </p:pic>
      <p:sp>
        <p:nvSpPr>
          <p:cNvPr id="2" name="TextBox 1">
            <a:extLst>
              <a:ext uri="{FF2B5EF4-FFF2-40B4-BE49-F238E27FC236}">
                <a16:creationId xmlns:a16="http://schemas.microsoft.com/office/drawing/2014/main" id="{1BF688B7-DC8B-33C9-D346-160DE06EF5E6}"/>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52/98</a:t>
            </a:r>
          </a:p>
        </p:txBody>
      </p:sp>
    </p:spTree>
    <p:extLst>
      <p:ext uri="{BB962C8B-B14F-4D97-AF65-F5344CB8AC3E}">
        <p14:creationId xmlns:p14="http://schemas.microsoft.com/office/powerpoint/2010/main" val="39059230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0480F851-1513-080F-E467-F55EEECA3576}"/>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DC274A3A-4A47-5547-088F-CC32815706C4}"/>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Autofit/>
          </a:bodyPr>
          <a:lstStyle/>
          <a:p>
            <a:pPr algn="l">
              <a:lnSpc>
                <a:spcPct val="150000"/>
              </a:lnSpc>
            </a:pPr>
            <a:r>
              <a:rPr lang="fr-FR" sz="1700" dirty="0"/>
              <a:t>Développée pour répondre aux besoins d'</a:t>
            </a:r>
            <a:r>
              <a:rPr lang="fr-FR" sz="1700" b="1" dirty="0"/>
              <a:t>interconnexion</a:t>
            </a:r>
            <a:r>
              <a:rPr lang="fr-FR" sz="1700" dirty="0"/>
              <a:t> et d'</a:t>
            </a:r>
            <a:r>
              <a:rPr lang="fr-FR" sz="1700" b="1" dirty="0"/>
              <a:t>interopérabilité</a:t>
            </a:r>
          </a:p>
          <a:p>
            <a:pPr algn="l">
              <a:lnSpc>
                <a:spcPct val="150000"/>
              </a:lnSpc>
            </a:pPr>
            <a:r>
              <a:rPr lang="fr-FR" sz="1700" dirty="0"/>
              <a:t>des données, </a:t>
            </a:r>
            <a:r>
              <a:rPr lang="fr-FR" sz="1700" dirty="0" err="1"/>
              <a:t>AllegroGraph</a:t>
            </a:r>
            <a:r>
              <a:rPr lang="fr-FR" sz="1700" dirty="0"/>
              <a:t> permet de représenter des relations complexes</a:t>
            </a:r>
          </a:p>
          <a:p>
            <a:pPr algn="l">
              <a:lnSpc>
                <a:spcPct val="150000"/>
              </a:lnSpc>
            </a:pPr>
            <a:r>
              <a:rPr lang="fr-FR" sz="1700" dirty="0"/>
              <a:t>entre entités de manière flexible et intuitive, contrairement aux bases de</a:t>
            </a:r>
          </a:p>
          <a:p>
            <a:pPr algn="l">
              <a:lnSpc>
                <a:spcPct val="150000"/>
              </a:lnSpc>
            </a:pPr>
            <a:r>
              <a:rPr lang="fr-FR" sz="1700" dirty="0"/>
              <a:t>données relationnelles traditionnelles. Elle s'appuie sur des standards du Web</a:t>
            </a:r>
          </a:p>
          <a:p>
            <a:pPr algn="l">
              <a:lnSpc>
                <a:spcPct val="150000"/>
              </a:lnSpc>
            </a:pPr>
            <a:r>
              <a:rPr lang="fr-FR" sz="1700" dirty="0"/>
              <a:t>sémantique tels que SPARQL, </a:t>
            </a:r>
            <a:r>
              <a:rPr lang="fr-FR" sz="1700" dirty="0" err="1"/>
              <a:t>Linked</a:t>
            </a:r>
            <a:r>
              <a:rPr lang="fr-FR" sz="1700" dirty="0"/>
              <a:t> Open Data, et des vocabulaires comme</a:t>
            </a:r>
          </a:p>
          <a:p>
            <a:pPr algn="l">
              <a:lnSpc>
                <a:spcPct val="150000"/>
              </a:lnSpc>
            </a:pPr>
            <a:r>
              <a:rPr lang="fr-FR" sz="1700" dirty="0"/>
              <a:t>FOAF ou Dublin </a:t>
            </a:r>
            <a:r>
              <a:rPr lang="fr-FR" sz="1700" dirty="0" err="1"/>
              <a:t>Core</a:t>
            </a:r>
            <a:r>
              <a:rPr lang="fr-FR" sz="1700" dirty="0"/>
              <a:t>, pour faciliter la </a:t>
            </a:r>
            <a:r>
              <a:rPr lang="fr-FR" sz="1700" b="1" dirty="0"/>
              <a:t>recherche</a:t>
            </a:r>
            <a:r>
              <a:rPr lang="fr-FR" sz="1700" dirty="0"/>
              <a:t>, le </a:t>
            </a:r>
            <a:r>
              <a:rPr lang="fr-FR" sz="1700" b="1" dirty="0"/>
              <a:t>raisonnement automatique</a:t>
            </a:r>
          </a:p>
          <a:p>
            <a:pPr algn="l">
              <a:lnSpc>
                <a:spcPct val="150000"/>
              </a:lnSpc>
            </a:pPr>
            <a:r>
              <a:rPr lang="fr-FR" sz="1700" dirty="0"/>
              <a:t>et </a:t>
            </a:r>
            <a:r>
              <a:rPr lang="fr-FR" sz="1700" b="1" dirty="0"/>
              <a:t>l'intégration de données </a:t>
            </a:r>
            <a:r>
              <a:rPr lang="fr-FR" sz="1700" dirty="0"/>
              <a:t>provenant de sources multiples.</a:t>
            </a:r>
          </a:p>
        </p:txBody>
      </p:sp>
      <p:sp>
        <p:nvSpPr>
          <p:cNvPr id="839" name="Google Shape;839;p27">
            <a:extLst>
              <a:ext uri="{FF2B5EF4-FFF2-40B4-BE49-F238E27FC236}">
                <a16:creationId xmlns:a16="http://schemas.microsoft.com/office/drawing/2014/main" id="{150B8748-7C0A-4BF1-1E2A-E42EC209960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Définition</a:t>
            </a:r>
            <a:endParaRPr sz="2400" dirty="0"/>
          </a:p>
        </p:txBody>
      </p:sp>
      <p:grpSp>
        <p:nvGrpSpPr>
          <p:cNvPr id="841" name="Google Shape;841;p27">
            <a:extLst>
              <a:ext uri="{FF2B5EF4-FFF2-40B4-BE49-F238E27FC236}">
                <a16:creationId xmlns:a16="http://schemas.microsoft.com/office/drawing/2014/main" id="{AC4DBBEB-2869-EEF5-9B45-59916ECD43D2}"/>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A88C2B4F-9F8F-3B86-AA28-281C796C1561}"/>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6A6505C9-643B-9726-1EB1-F096BD5B1D2F}"/>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C7A07127-2490-0C9A-8997-673DC8F0E98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B3BA1A28-3902-EBFD-F285-CAAFD77AC77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EFF9F038-2B97-DDA3-D7DA-BCF1EE51E82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99541C06-BBE8-AA18-5BC7-E703EA5B06B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18C8B65-0762-AB53-CD27-F1E0FB68DD0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A89C1DD-25F5-E02E-AE1E-5032E22AB12F}"/>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D7F613F7-D0ED-1456-ECD0-6442552230E7}"/>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53/98</a:t>
            </a:r>
          </a:p>
        </p:txBody>
      </p:sp>
    </p:spTree>
    <p:extLst>
      <p:ext uri="{BB962C8B-B14F-4D97-AF65-F5344CB8AC3E}">
        <p14:creationId xmlns:p14="http://schemas.microsoft.com/office/powerpoint/2010/main" val="38499401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ECFAA7ED-B3BA-2794-464E-01459F206ECD}"/>
            </a:ext>
          </a:extLst>
        </p:cNvPr>
        <p:cNvGrpSpPr/>
        <p:nvPr/>
      </p:nvGrpSpPr>
      <p:grpSpPr>
        <a:xfrm>
          <a:off x="0" y="0"/>
          <a:ext cx="0" cy="0"/>
          <a:chOff x="0" y="0"/>
          <a:chExt cx="0" cy="0"/>
        </a:xfrm>
      </p:grpSpPr>
      <p:sp>
        <p:nvSpPr>
          <p:cNvPr id="855" name="Google Shape;855;p28">
            <a:extLst>
              <a:ext uri="{FF2B5EF4-FFF2-40B4-BE49-F238E27FC236}">
                <a16:creationId xmlns:a16="http://schemas.microsoft.com/office/drawing/2014/main" id="{E135D170-5F8A-6345-BC37-0F6EFF8D5B8E}"/>
              </a:ext>
            </a:extLst>
          </p:cNvPr>
          <p:cNvSpPr txBox="1">
            <a:spLocks noGrp="1"/>
          </p:cNvSpPr>
          <p:nvPr>
            <p:ph type="title"/>
          </p:nvPr>
        </p:nvSpPr>
        <p:spPr>
          <a:xfrm>
            <a:off x="1320400" y="1844257"/>
            <a:ext cx="3946800" cy="1363264"/>
          </a:xfrm>
          <a:prstGeom prst="rect">
            <a:avLst/>
          </a:prstGeom>
        </p:spPr>
        <p:txBody>
          <a:bodyPr spcFirstLastPara="1" wrap="square" lIns="91425" tIns="91425" rIns="91425" bIns="91425" anchor="b" anchorCtr="0">
            <a:noAutofit/>
          </a:bodyPr>
          <a:lstStyle/>
          <a:p>
            <a:pPr marL="0" lvl="0" indent="0"/>
            <a:r>
              <a:rPr lang="fr-FR" dirty="0"/>
              <a:t>Architecture d’</a:t>
            </a:r>
            <a:r>
              <a:rPr lang="fr-FR" dirty="0" err="1"/>
              <a:t>AllegroGraph</a:t>
            </a:r>
            <a:endParaRPr lang="fr-FR" dirty="0"/>
          </a:p>
        </p:txBody>
      </p:sp>
      <p:sp>
        <p:nvSpPr>
          <p:cNvPr id="856" name="Google Shape;856;p28">
            <a:extLst>
              <a:ext uri="{FF2B5EF4-FFF2-40B4-BE49-F238E27FC236}">
                <a16:creationId xmlns:a16="http://schemas.microsoft.com/office/drawing/2014/main" id="{751E604A-56FA-74AC-18A1-AF557DAC912A}"/>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857" name="Google Shape;857;p28">
            <a:extLst>
              <a:ext uri="{FF2B5EF4-FFF2-40B4-BE49-F238E27FC236}">
                <a16:creationId xmlns:a16="http://schemas.microsoft.com/office/drawing/2014/main" id="{5DDE67CB-E66E-AE37-D696-86D171884923}"/>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22B82FE5-3EEB-9A53-C9E5-F1E2675B4699}"/>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ACD1FE0D-CCB0-F3A9-0794-5F0F5691CCD7}"/>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79211289-F1E1-5E7C-8C68-3CB437389AD6}"/>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564312FF-3394-2AB6-B102-D81D188600C2}"/>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7661885A-262C-08D5-D82C-A71B5FC24105}"/>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877F4CB4-15E7-DA10-6E70-E0E7EAB00B19}"/>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BB00AD8A-892C-D1D5-AE67-CF9611216A88}"/>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DAC51373-81B4-EBA9-734F-060411999095}"/>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BE00A413-98E8-F2F5-D393-EAAA794927ED}"/>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3559066D-C675-71D5-2B89-38B4E5CBA4C5}"/>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19A99222-804B-90BE-5FFC-96EEC2EA5868}"/>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6E71E34F-B6A2-970C-F53D-A157410B4E51}"/>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a:extLst>
                  <a:ext uri="{FF2B5EF4-FFF2-40B4-BE49-F238E27FC236}">
                    <a16:creationId xmlns:a16="http://schemas.microsoft.com/office/drawing/2014/main" id="{E480C0A8-A32F-4253-6828-7C9EA3685C15}"/>
                  </a:ext>
                </a:extLst>
              </p:cNvPr>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a:extLst>
                  <a:ext uri="{FF2B5EF4-FFF2-40B4-BE49-F238E27FC236}">
                    <a16:creationId xmlns:a16="http://schemas.microsoft.com/office/drawing/2014/main" id="{3181C024-4EDA-A468-13E4-315ECB03D641}"/>
                  </a:ext>
                </a:extLst>
              </p:cNvPr>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42F48AD7-2F71-3DB5-5A5F-1F3FCF837EF9}"/>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Subtitle 2">
            <a:extLst>
              <a:ext uri="{FF2B5EF4-FFF2-40B4-BE49-F238E27FC236}">
                <a16:creationId xmlns:a16="http://schemas.microsoft.com/office/drawing/2014/main" id="{19C7C8F5-3628-930C-2D8C-4AAC30EF5EE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3122858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36">
          <a:extLst>
            <a:ext uri="{FF2B5EF4-FFF2-40B4-BE49-F238E27FC236}">
              <a16:creationId xmlns:a16="http://schemas.microsoft.com/office/drawing/2014/main" id="{09C6B98E-07BB-F8C3-F6E3-79232915CF85}"/>
            </a:ext>
          </a:extLst>
        </p:cNvPr>
        <p:cNvGrpSpPr/>
        <p:nvPr/>
      </p:nvGrpSpPr>
      <p:grpSpPr>
        <a:xfrm>
          <a:off x="0" y="0"/>
          <a:ext cx="0" cy="0"/>
          <a:chOff x="0" y="0"/>
          <a:chExt cx="0" cy="0"/>
        </a:xfrm>
      </p:grpSpPr>
      <p:sp>
        <p:nvSpPr>
          <p:cNvPr id="1138" name="Google Shape;1138;p34">
            <a:extLst>
              <a:ext uri="{FF2B5EF4-FFF2-40B4-BE49-F238E27FC236}">
                <a16:creationId xmlns:a16="http://schemas.microsoft.com/office/drawing/2014/main" id="{292137F0-F68A-C282-6FC0-4F72A0313AD8}"/>
              </a:ext>
            </a:extLst>
          </p:cNvPr>
          <p:cNvSpPr txBox="1">
            <a:spLocks noGrp="1"/>
          </p:cNvSpPr>
          <p:nvPr>
            <p:ph type="title"/>
          </p:nvPr>
        </p:nvSpPr>
        <p:spPr>
          <a:xfrm>
            <a:off x="2579894" y="166908"/>
            <a:ext cx="3983961" cy="358208"/>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fr-FR" sz="2000" dirty="0" err="1"/>
              <a:t>Architeccture</a:t>
            </a:r>
            <a:r>
              <a:rPr lang="fr-FR" sz="2000" dirty="0"/>
              <a:t> d’</a:t>
            </a:r>
            <a:r>
              <a:rPr lang="fr-FR" sz="2000" dirty="0" err="1"/>
              <a:t>AllegroGraph</a:t>
            </a:r>
            <a:endParaRPr sz="2000" dirty="0"/>
          </a:p>
        </p:txBody>
      </p:sp>
      <p:grpSp>
        <p:nvGrpSpPr>
          <p:cNvPr id="1139" name="Google Shape;1139;p34">
            <a:extLst>
              <a:ext uri="{FF2B5EF4-FFF2-40B4-BE49-F238E27FC236}">
                <a16:creationId xmlns:a16="http://schemas.microsoft.com/office/drawing/2014/main" id="{ECE72838-C6C1-0369-34C0-69D248B92001}"/>
              </a:ext>
            </a:extLst>
          </p:cNvPr>
          <p:cNvGrpSpPr/>
          <p:nvPr/>
        </p:nvGrpSpPr>
        <p:grpSpPr>
          <a:xfrm>
            <a:off x="8573285" y="1647619"/>
            <a:ext cx="939888" cy="1397556"/>
            <a:chOff x="8573285" y="1647619"/>
            <a:chExt cx="939888" cy="1397556"/>
          </a:xfrm>
        </p:grpSpPr>
        <p:sp>
          <p:nvSpPr>
            <p:cNvPr id="1140" name="Google Shape;1140;p34">
              <a:extLst>
                <a:ext uri="{FF2B5EF4-FFF2-40B4-BE49-F238E27FC236}">
                  <a16:creationId xmlns:a16="http://schemas.microsoft.com/office/drawing/2014/main" id="{E4C80F2C-C76B-41E0-B7C7-2CBA198F232D}"/>
                </a:ext>
              </a:extLst>
            </p:cNvPr>
            <p:cNvSpPr/>
            <p:nvPr/>
          </p:nvSpPr>
          <p:spPr>
            <a:xfrm>
              <a:off x="8678823" y="1647619"/>
              <a:ext cx="834349" cy="826230"/>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l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1" name="Google Shape;1141;p34">
              <a:extLst>
                <a:ext uri="{FF2B5EF4-FFF2-40B4-BE49-F238E27FC236}">
                  <a16:creationId xmlns:a16="http://schemas.microsoft.com/office/drawing/2014/main" id="{518B38CD-C91E-FE95-5C91-2C2A47B0D3FD}"/>
                </a:ext>
              </a:extLst>
            </p:cNvPr>
            <p:cNvSpPr/>
            <p:nvPr/>
          </p:nvSpPr>
          <p:spPr>
            <a:xfrm>
              <a:off x="8573285" y="25846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Picture Placeholder 2">
            <a:extLst>
              <a:ext uri="{FF2B5EF4-FFF2-40B4-BE49-F238E27FC236}">
                <a16:creationId xmlns:a16="http://schemas.microsoft.com/office/drawing/2014/main" id="{77095B00-56E6-99CA-6120-85BD6219F4B0}"/>
              </a:ext>
            </a:extLst>
          </p:cNvPr>
          <p:cNvSpPr>
            <a:spLocks noGrp="1"/>
          </p:cNvSpPr>
          <p:nvPr>
            <p:ph type="pic" idx="2"/>
          </p:nvPr>
        </p:nvSpPr>
        <p:spPr>
          <a:xfrm>
            <a:off x="720203" y="568819"/>
            <a:ext cx="7853082" cy="3927877"/>
          </a:xfrm>
        </p:spPr>
      </p:sp>
      <p:pic>
        <p:nvPicPr>
          <p:cNvPr id="1026" name="Picture 2">
            <a:extLst>
              <a:ext uri="{FF2B5EF4-FFF2-40B4-BE49-F238E27FC236}">
                <a16:creationId xmlns:a16="http://schemas.microsoft.com/office/drawing/2014/main" id="{D63440EE-820F-306F-7FE4-1AA16028F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113" y="800100"/>
            <a:ext cx="5819775" cy="35433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A318477-31C4-DC18-76A3-C4462869693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54/98</a:t>
            </a:r>
          </a:p>
        </p:txBody>
      </p:sp>
    </p:spTree>
    <p:extLst>
      <p:ext uri="{BB962C8B-B14F-4D97-AF65-F5344CB8AC3E}">
        <p14:creationId xmlns:p14="http://schemas.microsoft.com/office/powerpoint/2010/main" val="24380613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93B3E92-3E53-49DA-915E-F35AFDD4B27E}"/>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268AE82-CE4E-5DDC-A70D-3B708DCBA249}"/>
              </a:ext>
            </a:extLst>
          </p:cNvPr>
          <p:cNvSpPr txBox="1">
            <a:spLocks noGrp="1"/>
          </p:cNvSpPr>
          <p:nvPr>
            <p:ph type="subTitle" idx="1"/>
          </p:nvPr>
        </p:nvSpPr>
        <p:spPr>
          <a:xfrm>
            <a:off x="623944" y="2043180"/>
            <a:ext cx="7896111" cy="2464274"/>
          </a:xfrm>
          <a:prstGeom prst="rect">
            <a:avLst/>
          </a:prstGeom>
        </p:spPr>
        <p:txBody>
          <a:bodyPr spcFirstLastPara="1" wrap="square" lIns="91425" tIns="91425" rIns="91425" bIns="91425" anchor="t" anchorCtr="0">
            <a:normAutofit/>
          </a:bodyPr>
          <a:lstStyle/>
          <a:p>
            <a:pPr marL="139700" indent="0" algn="l">
              <a:lnSpc>
                <a:spcPct val="150000"/>
              </a:lnSpc>
            </a:pPr>
            <a:r>
              <a:rPr lang="fr-FR" sz="1800" dirty="0"/>
              <a:t>Cette couche représente les langages de programmation pris en charge pour interagir avec </a:t>
            </a:r>
            <a:r>
              <a:rPr lang="fr-FR" sz="1800" dirty="0" err="1"/>
              <a:t>AllegroGraph</a:t>
            </a:r>
            <a:r>
              <a:rPr lang="fr-FR" sz="1800" dirty="0"/>
              <a:t>, ainsi que les clients open source qui peuvent s'intégrer à la plateforme. Cela permet aux développeurs d'utiliser leurs langages préférés (Java, Python, Lisp) pour écrire des applications ou des scripts qui se connectent à </a:t>
            </a:r>
            <a:r>
              <a:rPr lang="fr-FR" sz="1800" dirty="0" err="1"/>
              <a:t>AllegroGraph</a:t>
            </a:r>
            <a:r>
              <a:rPr lang="fr-FR" sz="1800" dirty="0"/>
              <a:t> via son API REST.</a:t>
            </a:r>
          </a:p>
        </p:txBody>
      </p:sp>
      <p:sp>
        <p:nvSpPr>
          <p:cNvPr id="839" name="Google Shape;839;p27">
            <a:extLst>
              <a:ext uri="{FF2B5EF4-FFF2-40B4-BE49-F238E27FC236}">
                <a16:creationId xmlns:a16="http://schemas.microsoft.com/office/drawing/2014/main" id="{D0DF9679-A9F2-71F1-C2F6-3C136DDD62BD}"/>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3783CE2B-0479-9E37-7D4D-B363770FAB40}"/>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A092171-0762-8A4F-D9AC-FC506B787CA7}"/>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CCE6BFCD-5406-EB29-5A91-E5B01C16901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70C5392-EF7A-470D-4CFF-647FE3578C7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85E54FE1-B7C3-2154-11F9-67C5EFD8DD7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F206E148-D475-2F6B-312B-0DB5E474F53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EB9E805-F5A2-A7FC-F432-C9CCA288B1B1}"/>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A73C01DF-51EE-3A27-E335-1EA577C7514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DE05F30-1B70-48A6-5B5F-E60FFCAB0D84}"/>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681DD80D-7D81-96B6-D6DD-F6ABFEA08E49}"/>
              </a:ext>
            </a:extLst>
          </p:cNvPr>
          <p:cNvPicPr>
            <a:picLocks noChangeAspect="1"/>
          </p:cNvPicPr>
          <p:nvPr/>
        </p:nvPicPr>
        <p:blipFill>
          <a:blip r:embed="rId3"/>
          <a:stretch>
            <a:fillRect/>
          </a:stretch>
        </p:blipFill>
        <p:spPr>
          <a:xfrm>
            <a:off x="2288159" y="1596597"/>
            <a:ext cx="4287983" cy="314452"/>
          </a:xfrm>
          <a:prstGeom prst="rect">
            <a:avLst/>
          </a:prstGeom>
        </p:spPr>
      </p:pic>
      <p:sp>
        <p:nvSpPr>
          <p:cNvPr id="2" name="TextBox 1">
            <a:extLst>
              <a:ext uri="{FF2B5EF4-FFF2-40B4-BE49-F238E27FC236}">
                <a16:creationId xmlns:a16="http://schemas.microsoft.com/office/drawing/2014/main" id="{723915AF-38F7-C654-44C1-CE557C326530}"/>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55/98</a:t>
            </a:r>
          </a:p>
        </p:txBody>
      </p:sp>
    </p:spTree>
    <p:extLst>
      <p:ext uri="{BB962C8B-B14F-4D97-AF65-F5344CB8AC3E}">
        <p14:creationId xmlns:p14="http://schemas.microsoft.com/office/powerpoint/2010/main" val="9934329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2897B30D-FBF1-D2CC-50A3-E5B218FEB318}"/>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D6D5E4DF-C8AC-E026-BD3F-ECCE19BA09AC}"/>
              </a:ext>
            </a:extLst>
          </p:cNvPr>
          <p:cNvSpPr txBox="1">
            <a:spLocks noGrp="1"/>
          </p:cNvSpPr>
          <p:nvPr>
            <p:ph type="subTitle" idx="1"/>
          </p:nvPr>
        </p:nvSpPr>
        <p:spPr>
          <a:xfrm>
            <a:off x="634702" y="2043180"/>
            <a:ext cx="7885354" cy="2464274"/>
          </a:xfrm>
          <a:prstGeom prst="rect">
            <a:avLst/>
          </a:prstGeom>
        </p:spPr>
        <p:txBody>
          <a:bodyPr spcFirstLastPara="1" wrap="square" lIns="91425" tIns="91425" rIns="91425" bIns="91425" anchor="t" anchorCtr="0">
            <a:normAutofit/>
          </a:bodyPr>
          <a:lstStyle/>
          <a:p>
            <a:pPr marL="425450" indent="-285750" algn="l">
              <a:lnSpc>
                <a:spcPct val="150000"/>
              </a:lnSpc>
              <a:buFont typeface="Wingdings" panose="05000000000000000000" pitchFamily="2" charset="2"/>
              <a:buChar char="q"/>
            </a:pPr>
            <a:r>
              <a:rPr lang="fr-FR" sz="1800" b="1" dirty="0"/>
              <a:t>REST API </a:t>
            </a:r>
            <a:r>
              <a:rPr lang="fr-FR" sz="1800" dirty="0"/>
              <a:t>: Cette couche fournit une interface d'accès basée sur le protocole REST (</a:t>
            </a:r>
            <a:r>
              <a:rPr lang="fr-FR" sz="1800" dirty="0" err="1"/>
              <a:t>Representational</a:t>
            </a:r>
            <a:r>
              <a:rPr lang="fr-FR" sz="1800" dirty="0"/>
              <a:t> State Transfer), permettant aux applications externes de communiquer avec </a:t>
            </a:r>
            <a:r>
              <a:rPr lang="fr-FR" sz="1800" dirty="0" err="1"/>
              <a:t>AllegroGraph</a:t>
            </a:r>
            <a:r>
              <a:rPr lang="fr-FR" sz="1800" dirty="0"/>
              <a:t> via des requêtes HTTP. Elle facilite l'intégration avec d'autres systèmes ou services en ligne.</a:t>
            </a:r>
          </a:p>
        </p:txBody>
      </p:sp>
      <p:sp>
        <p:nvSpPr>
          <p:cNvPr id="839" name="Google Shape;839;p27">
            <a:extLst>
              <a:ext uri="{FF2B5EF4-FFF2-40B4-BE49-F238E27FC236}">
                <a16:creationId xmlns:a16="http://schemas.microsoft.com/office/drawing/2014/main" id="{03056046-68EC-DCAB-9BBE-1B89CFD59B0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0FC80FCF-F0D9-C792-ECC4-07FC784FCC12}"/>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0E08AB65-42C3-113E-7892-48E38E23163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E86FC99A-9C12-6AD6-AB3E-BF46FB77CB66}"/>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D144B41-DEEC-9FB2-3A6D-EA7E28B3B8A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590AB0D2-831C-582F-09B3-B5A0F5703E4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A59F3818-18DD-3510-BADA-7BAD40C0ED80}"/>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E211F424-63D2-720B-1C21-80D76532AF17}"/>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71E094D7-EC22-6C00-262D-32483B7F1591}"/>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E33A13DB-9B71-295C-A29F-5CF0822AC374}"/>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C34392FB-AB82-48E8-81F3-B7BAA2FF633E}"/>
              </a:ext>
            </a:extLst>
          </p:cNvPr>
          <p:cNvPicPr>
            <a:picLocks noChangeAspect="1"/>
          </p:cNvPicPr>
          <p:nvPr/>
        </p:nvPicPr>
        <p:blipFill>
          <a:blip r:embed="rId3"/>
          <a:stretch>
            <a:fillRect/>
          </a:stretch>
        </p:blipFill>
        <p:spPr>
          <a:xfrm>
            <a:off x="2452331" y="1583463"/>
            <a:ext cx="4229690" cy="295316"/>
          </a:xfrm>
          <a:prstGeom prst="rect">
            <a:avLst/>
          </a:prstGeom>
        </p:spPr>
      </p:pic>
      <p:sp>
        <p:nvSpPr>
          <p:cNvPr id="2" name="TextBox 1">
            <a:extLst>
              <a:ext uri="{FF2B5EF4-FFF2-40B4-BE49-F238E27FC236}">
                <a16:creationId xmlns:a16="http://schemas.microsoft.com/office/drawing/2014/main" id="{4C5F9EAF-3F9F-CCF3-F798-A3BCCF2B272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56/98</a:t>
            </a:r>
          </a:p>
        </p:txBody>
      </p:sp>
    </p:spTree>
    <p:extLst>
      <p:ext uri="{BB962C8B-B14F-4D97-AF65-F5344CB8AC3E}">
        <p14:creationId xmlns:p14="http://schemas.microsoft.com/office/powerpoint/2010/main" val="40241563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0D5EE504-4B0B-01B3-FAC5-5234D6DD3EE4}"/>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FF37B7F0-2BF1-F0B5-6337-AF42416A2036}"/>
              </a:ext>
            </a:extLst>
          </p:cNvPr>
          <p:cNvSpPr txBox="1">
            <a:spLocks noGrp="1"/>
          </p:cNvSpPr>
          <p:nvPr>
            <p:ph type="subTitle" idx="1"/>
          </p:nvPr>
        </p:nvSpPr>
        <p:spPr>
          <a:xfrm>
            <a:off x="645460" y="1814231"/>
            <a:ext cx="7874596" cy="2983679"/>
          </a:xfrm>
          <a:prstGeom prst="rect">
            <a:avLst/>
          </a:prstGeom>
        </p:spPr>
        <p:txBody>
          <a:bodyPr spcFirstLastPara="1" wrap="square" lIns="91425" tIns="91425" rIns="91425" bIns="91425" anchor="t" anchorCtr="0">
            <a:noAutofit/>
          </a:bodyPr>
          <a:lstStyle/>
          <a:p>
            <a:pPr marL="425450" indent="-285750" algn="l">
              <a:lnSpc>
                <a:spcPct val="150000"/>
              </a:lnSpc>
              <a:buFont typeface="Wingdings" panose="05000000000000000000" pitchFamily="2" charset="2"/>
              <a:buChar char="q"/>
            </a:pPr>
            <a:r>
              <a:rPr lang="fr-FR" sz="1600" b="1" dirty="0"/>
              <a:t>GUI: GRUFF/</a:t>
            </a:r>
            <a:r>
              <a:rPr lang="fr-FR" sz="1600" b="1" dirty="0" err="1"/>
              <a:t>AGWebView</a:t>
            </a:r>
            <a:r>
              <a:rPr lang="fr-FR" sz="1600" b="1" dirty="0"/>
              <a:t> </a:t>
            </a:r>
            <a:r>
              <a:rPr lang="fr-FR" sz="1600" dirty="0"/>
              <a:t>: Cette couche représente les interfaces graphiques utilisateur (GUI) fournies avec </a:t>
            </a:r>
            <a:r>
              <a:rPr lang="fr-FR" sz="1600" dirty="0" err="1"/>
              <a:t>AllegroGraph</a:t>
            </a:r>
            <a:r>
              <a:rPr lang="fr-FR" sz="1600" dirty="0"/>
              <a:t> :</a:t>
            </a:r>
          </a:p>
          <a:p>
            <a:pPr marL="882650" lvl="1" indent="-285750">
              <a:lnSpc>
                <a:spcPct val="150000"/>
              </a:lnSpc>
              <a:buFont typeface="Wingdings" panose="05000000000000000000" pitchFamily="2" charset="2"/>
              <a:buChar char="v"/>
            </a:pPr>
            <a:r>
              <a:rPr lang="fr-FR" sz="1600" b="1" dirty="0"/>
              <a:t>GRUFF</a:t>
            </a:r>
            <a:r>
              <a:rPr lang="fr-FR" sz="1600" dirty="0"/>
              <a:t> : Un outil visuel pour explorer, visualiser et éditer des graphes RDF.</a:t>
            </a:r>
          </a:p>
          <a:p>
            <a:pPr marL="882650" lvl="1" indent="-285750">
              <a:lnSpc>
                <a:spcPct val="150000"/>
              </a:lnSpc>
              <a:buFont typeface="Wingdings" panose="05000000000000000000" pitchFamily="2" charset="2"/>
              <a:buChar char="v"/>
            </a:pPr>
            <a:r>
              <a:rPr lang="fr-FR" sz="1600" b="1" dirty="0" err="1"/>
              <a:t>AGWebView</a:t>
            </a:r>
            <a:r>
              <a:rPr lang="fr-FR" sz="1600" dirty="0"/>
              <a:t> : Une interface web pour gérer et interroger la base de données.</a:t>
            </a:r>
          </a:p>
          <a:p>
            <a:pPr marL="882650" lvl="1" indent="-285750">
              <a:lnSpc>
                <a:spcPct val="150000"/>
              </a:lnSpc>
              <a:buFont typeface="Wingdings" panose="05000000000000000000" pitchFamily="2" charset="2"/>
              <a:buChar char="v"/>
            </a:pPr>
            <a:r>
              <a:rPr lang="fr-FR" sz="1600" dirty="0"/>
              <a:t>Ces outils facilitent l'utilisation par des utilisateurs non techniques ou pour la visualisation des données.</a:t>
            </a:r>
          </a:p>
        </p:txBody>
      </p:sp>
      <p:sp>
        <p:nvSpPr>
          <p:cNvPr id="839" name="Google Shape;839;p27">
            <a:extLst>
              <a:ext uri="{FF2B5EF4-FFF2-40B4-BE49-F238E27FC236}">
                <a16:creationId xmlns:a16="http://schemas.microsoft.com/office/drawing/2014/main" id="{B1506CE9-6967-530C-E89F-10836CF01E51}"/>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1D83958A-9513-EBDC-F838-67EC24AFFBFD}"/>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46170115-972C-7856-CB40-C2AC47C34BF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2A9F5B6-1CD4-7212-2D84-993841A371B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F91E64F9-3173-1A7B-A0A4-C0E020FD0737}"/>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21C1D3A-4541-6214-E761-5E2F2B42A94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0840FBB4-6C57-1D0D-C1DA-55B531CBB450}"/>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26E83B3-9B26-385E-039B-8D45C1BE02B7}"/>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95982C0C-E7F6-7B35-8A12-637F49BDA20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D39BD15A-2CE2-7014-92EA-7DB1E8EA4752}"/>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5C1DEEB4-D081-9411-79A1-1C0DC246302F}"/>
              </a:ext>
            </a:extLst>
          </p:cNvPr>
          <p:cNvPicPr>
            <a:picLocks noChangeAspect="1"/>
          </p:cNvPicPr>
          <p:nvPr/>
        </p:nvPicPr>
        <p:blipFill>
          <a:blip r:embed="rId3"/>
          <a:stretch>
            <a:fillRect/>
          </a:stretch>
        </p:blipFill>
        <p:spPr>
          <a:xfrm>
            <a:off x="2452331" y="1518915"/>
            <a:ext cx="4229690" cy="295316"/>
          </a:xfrm>
          <a:prstGeom prst="rect">
            <a:avLst/>
          </a:prstGeom>
        </p:spPr>
      </p:pic>
      <p:sp>
        <p:nvSpPr>
          <p:cNvPr id="2" name="TextBox 1">
            <a:extLst>
              <a:ext uri="{FF2B5EF4-FFF2-40B4-BE49-F238E27FC236}">
                <a16:creationId xmlns:a16="http://schemas.microsoft.com/office/drawing/2014/main" id="{10B9E7A5-92CA-C6F1-CBBC-C64E29A3B47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57/98</a:t>
            </a:r>
          </a:p>
        </p:txBody>
      </p:sp>
    </p:spTree>
    <p:extLst>
      <p:ext uri="{BB962C8B-B14F-4D97-AF65-F5344CB8AC3E}">
        <p14:creationId xmlns:p14="http://schemas.microsoft.com/office/powerpoint/2010/main" val="40599832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44FC416-ED82-00CF-A73D-BF38B7C7BAE0}"/>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13F49E27-99C5-2092-0777-7594CF67EF93}"/>
              </a:ext>
            </a:extLst>
          </p:cNvPr>
          <p:cNvSpPr txBox="1">
            <a:spLocks noGrp="1"/>
          </p:cNvSpPr>
          <p:nvPr>
            <p:ph type="subTitle" idx="1"/>
          </p:nvPr>
        </p:nvSpPr>
        <p:spPr>
          <a:xfrm>
            <a:off x="613186" y="1946358"/>
            <a:ext cx="7906870" cy="2819276"/>
          </a:xfrm>
          <a:prstGeom prst="rect">
            <a:avLst/>
          </a:prstGeom>
        </p:spPr>
        <p:txBody>
          <a:bodyPr spcFirstLastPara="1" wrap="square" lIns="91425" tIns="91425" rIns="91425" bIns="91425" anchor="t" anchorCtr="0">
            <a:noAutofit/>
          </a:bodyPr>
          <a:lstStyle/>
          <a:p>
            <a:pPr marL="425450" indent="-285750" algn="l">
              <a:lnSpc>
                <a:spcPct val="150000"/>
              </a:lnSpc>
              <a:buFont typeface="Wingdings" panose="05000000000000000000" pitchFamily="2" charset="2"/>
              <a:buChar char="q"/>
            </a:pPr>
            <a:r>
              <a:rPr lang="en-US" sz="1700" b="1" dirty="0"/>
              <a:t>Massively Parallel - Federation and Sharding </a:t>
            </a:r>
            <a:r>
              <a:rPr lang="fr-FR" sz="1700" dirty="0"/>
              <a:t>: Cette couche indique que </a:t>
            </a:r>
            <a:r>
              <a:rPr lang="fr-FR" sz="1700" dirty="0" err="1"/>
              <a:t>AllegroGraph</a:t>
            </a:r>
            <a:r>
              <a:rPr lang="fr-FR" sz="1700" dirty="0"/>
              <a:t> </a:t>
            </a:r>
            <a:r>
              <a:rPr lang="fr-FR" sz="1700" b="1" dirty="0"/>
              <a:t>prend en charge un traitement massivement parallèle</a:t>
            </a:r>
            <a:r>
              <a:rPr lang="fr-FR" sz="1700" dirty="0"/>
              <a:t>, ce qui signifie qu'il peut </a:t>
            </a:r>
            <a:r>
              <a:rPr lang="fr-FR" sz="1700" b="1" dirty="0"/>
              <a:t>distribuer les calculs sur plusieurs nœuds </a:t>
            </a:r>
            <a:r>
              <a:rPr lang="fr-FR" sz="1700" dirty="0"/>
              <a:t>pour améliorer les performances. La fédération permet de </a:t>
            </a:r>
            <a:r>
              <a:rPr lang="fr-FR" sz="1700" b="1" dirty="0"/>
              <a:t>combiner des données provenant de plusieurs bases </a:t>
            </a:r>
            <a:r>
              <a:rPr lang="fr-FR" sz="1700" b="1" dirty="0" err="1"/>
              <a:t>AllegroGraph</a:t>
            </a:r>
            <a:r>
              <a:rPr lang="fr-FR" sz="1700" dirty="0"/>
              <a:t>, tandis que le </a:t>
            </a:r>
            <a:r>
              <a:rPr lang="fr-FR" sz="1700" dirty="0" err="1"/>
              <a:t>sharding</a:t>
            </a:r>
            <a:r>
              <a:rPr lang="fr-FR" sz="1700" dirty="0"/>
              <a:t> (partitionnement) </a:t>
            </a:r>
            <a:r>
              <a:rPr lang="fr-FR" sz="1700" b="1" dirty="0"/>
              <a:t>répartit les données sur différents serveurs </a:t>
            </a:r>
            <a:r>
              <a:rPr lang="fr-FR" sz="1700" dirty="0"/>
              <a:t>pour une scalabilité horizontale.</a:t>
            </a:r>
          </a:p>
        </p:txBody>
      </p:sp>
      <p:sp>
        <p:nvSpPr>
          <p:cNvPr id="839" name="Google Shape;839;p27">
            <a:extLst>
              <a:ext uri="{FF2B5EF4-FFF2-40B4-BE49-F238E27FC236}">
                <a16:creationId xmlns:a16="http://schemas.microsoft.com/office/drawing/2014/main" id="{85281A6E-E92F-13FF-F9C4-83A209808C4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7BA78C67-3F25-5F56-7BF7-0579E8BC1BA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3E6B44AF-AB1F-A16F-C8A3-F9992E9E0B8F}"/>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947B2BBC-769A-C207-7601-5EDF237998D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FDE104A7-F640-2973-5F14-563F46D09E0B}"/>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29F1D2B5-8755-42C0-F09D-C76256E54F6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F5EFE563-FBCD-E238-4FFD-7810B7B010F7}"/>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625E2D57-CB3D-D0B9-CA5B-7CC64C8FBDE6}"/>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F3982DDA-3B3C-2073-39A2-51A8B5338BA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2A197C2C-16F3-2292-957A-0B38C2217EB1}"/>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CFCA05DB-398B-14A1-7C94-6242998F0DAE}"/>
              </a:ext>
            </a:extLst>
          </p:cNvPr>
          <p:cNvPicPr>
            <a:picLocks noChangeAspect="1"/>
          </p:cNvPicPr>
          <p:nvPr/>
        </p:nvPicPr>
        <p:blipFill>
          <a:blip r:embed="rId3"/>
          <a:stretch>
            <a:fillRect/>
          </a:stretch>
        </p:blipFill>
        <p:spPr>
          <a:xfrm>
            <a:off x="2452391" y="1521672"/>
            <a:ext cx="4239217" cy="314369"/>
          </a:xfrm>
          <a:prstGeom prst="rect">
            <a:avLst/>
          </a:prstGeom>
        </p:spPr>
      </p:pic>
      <p:sp>
        <p:nvSpPr>
          <p:cNvPr id="2" name="TextBox 1">
            <a:extLst>
              <a:ext uri="{FF2B5EF4-FFF2-40B4-BE49-F238E27FC236}">
                <a16:creationId xmlns:a16="http://schemas.microsoft.com/office/drawing/2014/main" id="{0C69CE67-212E-B65A-82AC-D2102E7E3626}"/>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58/98</a:t>
            </a:r>
          </a:p>
        </p:txBody>
      </p:sp>
    </p:spTree>
    <p:extLst>
      <p:ext uri="{BB962C8B-B14F-4D97-AF65-F5344CB8AC3E}">
        <p14:creationId xmlns:p14="http://schemas.microsoft.com/office/powerpoint/2010/main" val="14823191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57BB3AB-E655-EDFA-7ADE-48DDF15AA466}"/>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26A29F76-DC68-D214-0B0F-039ADDD1B800}"/>
              </a:ext>
            </a:extLst>
          </p:cNvPr>
          <p:cNvSpPr txBox="1">
            <a:spLocks noGrp="1"/>
          </p:cNvSpPr>
          <p:nvPr>
            <p:ph type="subTitle" idx="1"/>
          </p:nvPr>
        </p:nvSpPr>
        <p:spPr>
          <a:xfrm>
            <a:off x="613186" y="1946358"/>
            <a:ext cx="7906870" cy="2819276"/>
          </a:xfrm>
          <a:prstGeom prst="rect">
            <a:avLst/>
          </a:prstGeom>
        </p:spPr>
        <p:txBody>
          <a:bodyPr spcFirstLastPara="1" wrap="square" lIns="91425" tIns="91425" rIns="91425" bIns="91425" anchor="t" anchorCtr="0">
            <a:noAutofit/>
          </a:bodyPr>
          <a:lstStyle/>
          <a:p>
            <a:pPr marL="425450" indent="-285750" algn="l">
              <a:lnSpc>
                <a:spcPct val="150000"/>
              </a:lnSpc>
              <a:buFont typeface="Wingdings" panose="05000000000000000000" pitchFamily="2" charset="2"/>
              <a:buChar char="q"/>
            </a:pPr>
            <a:r>
              <a:rPr lang="en-US" sz="1800" b="1" dirty="0"/>
              <a:t>Virtualization: Kafka </a:t>
            </a:r>
            <a:r>
              <a:rPr lang="fr-FR" sz="1800" dirty="0"/>
              <a:t>: Cette couche indique que </a:t>
            </a:r>
            <a:r>
              <a:rPr lang="fr-FR" sz="1800" dirty="0" err="1"/>
              <a:t>AllegroGraph</a:t>
            </a:r>
            <a:r>
              <a:rPr lang="fr-FR" sz="1800" dirty="0"/>
              <a:t> prend en charge la virtualisation via Apache Kafka, un système de messagerie distribuée. Cela permet de gérer des flux de données en temps réel (streaming) et d'intégrer </a:t>
            </a:r>
            <a:r>
              <a:rPr lang="fr-FR" sz="1800" dirty="0" err="1"/>
              <a:t>AllegroGraph</a:t>
            </a:r>
            <a:r>
              <a:rPr lang="fr-FR" sz="1800" dirty="0"/>
              <a:t> dans des architectures de traitement d'événements ou de big data.</a:t>
            </a:r>
          </a:p>
        </p:txBody>
      </p:sp>
      <p:sp>
        <p:nvSpPr>
          <p:cNvPr id="839" name="Google Shape;839;p27">
            <a:extLst>
              <a:ext uri="{FF2B5EF4-FFF2-40B4-BE49-F238E27FC236}">
                <a16:creationId xmlns:a16="http://schemas.microsoft.com/office/drawing/2014/main" id="{F95AE5BE-57DF-EE30-80EC-3C56BC9F1A35}"/>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4011CAC7-67CF-1836-6ED2-6EC55F1D2F83}"/>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41009668-E210-00AA-EFD9-0F28E6DC22B6}"/>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9F87BBDB-A50A-EF16-0EF2-59555F29581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44929641-C828-C0D4-CB21-77E07325C9C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9F7BA100-8F34-F3D8-9FDF-09BCD1B8632C}"/>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C787E52-74FD-7A5C-5102-D5FEFE21C216}"/>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591821C2-CDD0-7A29-A103-B86BB3E0BCCE}"/>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677D92D3-7075-2A9B-3A0B-1A5EC374F67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175012FA-A9CA-680C-0990-331D616D4FD0}"/>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6CA2753F-A72D-8D2C-9B0B-839513625C3A}"/>
              </a:ext>
            </a:extLst>
          </p:cNvPr>
          <p:cNvPicPr>
            <a:picLocks noChangeAspect="1"/>
          </p:cNvPicPr>
          <p:nvPr/>
        </p:nvPicPr>
        <p:blipFill>
          <a:blip r:embed="rId3"/>
          <a:stretch>
            <a:fillRect/>
          </a:stretch>
        </p:blipFill>
        <p:spPr>
          <a:xfrm>
            <a:off x="2452391" y="1521672"/>
            <a:ext cx="4239217" cy="314369"/>
          </a:xfrm>
          <a:prstGeom prst="rect">
            <a:avLst/>
          </a:prstGeom>
        </p:spPr>
      </p:pic>
      <p:sp>
        <p:nvSpPr>
          <p:cNvPr id="2" name="TextBox 1">
            <a:extLst>
              <a:ext uri="{FF2B5EF4-FFF2-40B4-BE49-F238E27FC236}">
                <a16:creationId xmlns:a16="http://schemas.microsoft.com/office/drawing/2014/main" id="{A53565EE-4FEA-FA39-F216-57A808CC26B0}"/>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59/98</a:t>
            </a:r>
          </a:p>
        </p:txBody>
      </p:sp>
    </p:spTree>
    <p:extLst>
      <p:ext uri="{BB962C8B-B14F-4D97-AF65-F5344CB8AC3E}">
        <p14:creationId xmlns:p14="http://schemas.microsoft.com/office/powerpoint/2010/main" val="30888624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2B71190B-0B09-FA83-46C6-BD31833C610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0BD288A-DDFD-5075-BE53-5767224840F3}"/>
              </a:ext>
            </a:extLst>
          </p:cNvPr>
          <p:cNvSpPr txBox="1">
            <a:spLocks noGrp="1"/>
          </p:cNvSpPr>
          <p:nvPr>
            <p:ph type="subTitle" idx="1"/>
          </p:nvPr>
        </p:nvSpPr>
        <p:spPr>
          <a:xfrm>
            <a:off x="613186" y="1946358"/>
            <a:ext cx="7906870" cy="2819276"/>
          </a:xfrm>
          <a:prstGeom prst="rect">
            <a:avLst/>
          </a:prstGeom>
        </p:spPr>
        <p:txBody>
          <a:bodyPr spcFirstLastPara="1" wrap="square" lIns="91425" tIns="91425" rIns="91425" bIns="91425" anchor="t" anchorCtr="0">
            <a:noAutofit/>
          </a:bodyPr>
          <a:lstStyle/>
          <a:p>
            <a:pPr marL="139700" indent="0" algn="l">
              <a:lnSpc>
                <a:spcPct val="150000"/>
              </a:lnSpc>
            </a:pPr>
            <a:r>
              <a:rPr lang="fr-FR" sz="1800" dirty="0"/>
              <a:t>Cette couche offre des outils de requête et de raisonnement pour interroger et inférer (déduire) des relations dans les données.</a:t>
            </a:r>
          </a:p>
          <a:p>
            <a:pPr marL="425450" indent="-285750" algn="l">
              <a:lnSpc>
                <a:spcPct val="150000"/>
              </a:lnSpc>
              <a:buFont typeface="Wingdings" panose="05000000000000000000" pitchFamily="2" charset="2"/>
              <a:buChar char="q"/>
            </a:pPr>
            <a:r>
              <a:rPr lang="fr-FR" sz="1800" b="1" dirty="0"/>
              <a:t>SPARQL</a:t>
            </a:r>
            <a:r>
              <a:rPr lang="fr-FR" sz="1800" dirty="0"/>
              <a:t> : Langage de requête standard pour interroger des données RDF dans </a:t>
            </a:r>
            <a:r>
              <a:rPr lang="fr-FR" sz="1800" dirty="0" err="1"/>
              <a:t>AllegroGraph</a:t>
            </a:r>
            <a:r>
              <a:rPr lang="fr-FR" sz="1800" dirty="0"/>
              <a:t>.</a:t>
            </a:r>
          </a:p>
          <a:p>
            <a:pPr marL="425450" indent="-285750" algn="l">
              <a:lnSpc>
                <a:spcPct val="150000"/>
              </a:lnSpc>
              <a:buFont typeface="Wingdings" panose="05000000000000000000" pitchFamily="2" charset="2"/>
              <a:buChar char="q"/>
            </a:pPr>
            <a:r>
              <a:rPr lang="fr-FR" sz="1800" b="1" dirty="0" err="1"/>
              <a:t>GraphQL</a:t>
            </a:r>
            <a:r>
              <a:rPr lang="fr-FR" sz="1800" dirty="0"/>
              <a:t> : Une alternative pour interroger des graphes, offrant une flexibilité supplémentaire pour les applications modernes.</a:t>
            </a:r>
          </a:p>
        </p:txBody>
      </p:sp>
      <p:sp>
        <p:nvSpPr>
          <p:cNvPr id="839" name="Google Shape;839;p27">
            <a:extLst>
              <a:ext uri="{FF2B5EF4-FFF2-40B4-BE49-F238E27FC236}">
                <a16:creationId xmlns:a16="http://schemas.microsoft.com/office/drawing/2014/main" id="{21C95620-0814-74EF-34DE-1AB090F7669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819FBC00-B278-6CBA-5714-F5AA319FD6EE}"/>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01103940-8354-B1AF-E370-1A0B20A5175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D3B19E6E-53B9-F044-5778-A5584E065441}"/>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06DA382E-FC0D-8D12-FEED-14DA02BDCED7}"/>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AA85734A-B1C1-D0AC-873B-DF88BA92A08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397FD94-A441-F949-3540-1A6B5F606060}"/>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762FA15-ED8F-E083-2E64-E625A63E1CA7}"/>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6AF64D93-D8F3-F637-4E50-CE06B51D082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FAB1F0B5-07B7-5B03-6F0E-29EFEDB4DDD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FFF1E1AF-A07F-A31B-4C7E-BC918A5D313D}"/>
              </a:ext>
            </a:extLst>
          </p:cNvPr>
          <p:cNvPicPr>
            <a:picLocks noChangeAspect="1"/>
          </p:cNvPicPr>
          <p:nvPr/>
        </p:nvPicPr>
        <p:blipFill>
          <a:blip r:embed="rId3"/>
          <a:stretch>
            <a:fillRect/>
          </a:stretch>
        </p:blipFill>
        <p:spPr>
          <a:xfrm>
            <a:off x="2452391" y="1515680"/>
            <a:ext cx="4239217" cy="304843"/>
          </a:xfrm>
          <a:prstGeom prst="rect">
            <a:avLst/>
          </a:prstGeom>
        </p:spPr>
      </p:pic>
      <p:sp>
        <p:nvSpPr>
          <p:cNvPr id="2" name="TextBox 1">
            <a:extLst>
              <a:ext uri="{FF2B5EF4-FFF2-40B4-BE49-F238E27FC236}">
                <a16:creationId xmlns:a16="http://schemas.microsoft.com/office/drawing/2014/main" id="{824658CF-0FB0-1226-AC63-AC219EE70D96}"/>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60/98</a:t>
            </a:r>
          </a:p>
        </p:txBody>
      </p:sp>
    </p:spTree>
    <p:extLst>
      <p:ext uri="{BB962C8B-B14F-4D97-AF65-F5344CB8AC3E}">
        <p14:creationId xmlns:p14="http://schemas.microsoft.com/office/powerpoint/2010/main" val="21011139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91811641-AC7B-C942-7AB3-880E57D7E49E}"/>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DD88E29D-8D7F-8D1C-A3C7-C1B9B194BF84}"/>
              </a:ext>
            </a:extLst>
          </p:cNvPr>
          <p:cNvSpPr txBox="1">
            <a:spLocks noGrp="1"/>
          </p:cNvSpPr>
          <p:nvPr>
            <p:ph type="subTitle" idx="1"/>
          </p:nvPr>
        </p:nvSpPr>
        <p:spPr>
          <a:xfrm>
            <a:off x="613186" y="1946358"/>
            <a:ext cx="7906870" cy="2819276"/>
          </a:xfrm>
          <a:prstGeom prst="rect">
            <a:avLst/>
          </a:prstGeom>
        </p:spPr>
        <p:txBody>
          <a:bodyPr spcFirstLastPara="1" wrap="square" lIns="91425" tIns="91425" rIns="91425" bIns="91425" anchor="t" anchorCtr="0">
            <a:noAutofit/>
          </a:bodyPr>
          <a:lstStyle/>
          <a:p>
            <a:pPr marL="425450" indent="-285750" algn="l">
              <a:lnSpc>
                <a:spcPct val="150000"/>
              </a:lnSpc>
              <a:buFont typeface="Wingdings" panose="05000000000000000000" pitchFamily="2" charset="2"/>
              <a:buChar char="q"/>
            </a:pPr>
            <a:r>
              <a:rPr lang="fr-FR" sz="1800" b="1" dirty="0"/>
              <a:t>SPARQL*</a:t>
            </a:r>
            <a:r>
              <a:rPr lang="fr-FR" sz="1800" dirty="0"/>
              <a:t> : Une extension de SPARQL pour gérer des graphes enrichis avec des annotations ou des métadonnées.</a:t>
            </a:r>
          </a:p>
          <a:p>
            <a:pPr marL="425450" indent="-285750" algn="l">
              <a:lnSpc>
                <a:spcPct val="150000"/>
              </a:lnSpc>
              <a:buFont typeface="Wingdings" panose="05000000000000000000" pitchFamily="2" charset="2"/>
              <a:buChar char="q"/>
            </a:pPr>
            <a:r>
              <a:rPr lang="fr-FR" sz="1800" b="1" dirty="0"/>
              <a:t>Prolog</a:t>
            </a:r>
            <a:r>
              <a:rPr lang="fr-FR" sz="1800" dirty="0"/>
              <a:t> : Un langage de programmation logique utilisé pour le raisonnement et les inférences sur les données stockées.</a:t>
            </a:r>
          </a:p>
        </p:txBody>
      </p:sp>
      <p:sp>
        <p:nvSpPr>
          <p:cNvPr id="839" name="Google Shape;839;p27">
            <a:extLst>
              <a:ext uri="{FF2B5EF4-FFF2-40B4-BE49-F238E27FC236}">
                <a16:creationId xmlns:a16="http://schemas.microsoft.com/office/drawing/2014/main" id="{211A521B-9622-2489-186A-2650CB243686}"/>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F504FCD1-BBBB-FF5F-1CA4-4EB3211ED071}"/>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EF249D09-EC4F-6BE9-BD75-54D7778B4DF5}"/>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79792A1-F902-0D38-FB1C-D5682002C34B}"/>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F464EDFF-254F-35C8-D45D-AC26B42D57C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3C0D4581-9D64-AB90-51EF-C6835ED65C02}"/>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4C0B7AE-A250-2BE8-7FC3-5B0DC960999C}"/>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24E96022-8A1A-EB7A-C249-34EB9262BF96}"/>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A6104ACF-714D-A9F1-DE1E-422A5EE5F81A}"/>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9F2E4A3B-A4DC-760D-953B-FF9C22684D8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67DA4808-E4DA-F050-04AD-A7E6D890F566}"/>
              </a:ext>
            </a:extLst>
          </p:cNvPr>
          <p:cNvPicPr>
            <a:picLocks noChangeAspect="1"/>
          </p:cNvPicPr>
          <p:nvPr/>
        </p:nvPicPr>
        <p:blipFill>
          <a:blip r:embed="rId3"/>
          <a:stretch>
            <a:fillRect/>
          </a:stretch>
        </p:blipFill>
        <p:spPr>
          <a:xfrm>
            <a:off x="2452391" y="1515680"/>
            <a:ext cx="4239217" cy="304843"/>
          </a:xfrm>
          <a:prstGeom prst="rect">
            <a:avLst/>
          </a:prstGeom>
        </p:spPr>
      </p:pic>
      <p:sp>
        <p:nvSpPr>
          <p:cNvPr id="2" name="TextBox 1">
            <a:extLst>
              <a:ext uri="{FF2B5EF4-FFF2-40B4-BE49-F238E27FC236}">
                <a16:creationId xmlns:a16="http://schemas.microsoft.com/office/drawing/2014/main" id="{07B7ECF5-F027-6CE8-EB20-3B8FC1B7838C}"/>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61/98</a:t>
            </a:r>
          </a:p>
        </p:txBody>
      </p:sp>
    </p:spTree>
    <p:extLst>
      <p:ext uri="{BB962C8B-B14F-4D97-AF65-F5344CB8AC3E}">
        <p14:creationId xmlns:p14="http://schemas.microsoft.com/office/powerpoint/2010/main" val="25004172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12CE328-30D8-471C-07B6-016EA7D0F84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2D79146A-7203-FE21-89E5-EF26F7D56CCE}"/>
              </a:ext>
            </a:extLst>
          </p:cNvPr>
          <p:cNvSpPr txBox="1">
            <a:spLocks noGrp="1"/>
          </p:cNvSpPr>
          <p:nvPr>
            <p:ph type="subTitle" idx="1"/>
          </p:nvPr>
        </p:nvSpPr>
        <p:spPr>
          <a:xfrm>
            <a:off x="613186" y="2807746"/>
            <a:ext cx="7906870" cy="1957888"/>
          </a:xfrm>
          <a:prstGeom prst="rect">
            <a:avLst/>
          </a:prstGeom>
        </p:spPr>
        <p:txBody>
          <a:bodyPr spcFirstLastPara="1" wrap="square" lIns="91425" tIns="91425" rIns="91425" bIns="91425" anchor="t" anchorCtr="0">
            <a:noAutofit/>
          </a:bodyPr>
          <a:lstStyle/>
          <a:p>
            <a:pPr marL="425450" indent="-285750" algn="l">
              <a:lnSpc>
                <a:spcPct val="150000"/>
              </a:lnSpc>
              <a:buFont typeface="Wingdings" panose="05000000000000000000" pitchFamily="2" charset="2"/>
              <a:buChar char="q"/>
            </a:pPr>
            <a:r>
              <a:rPr lang="fr-FR" sz="1800" b="1" dirty="0"/>
              <a:t>Événements: Géospatial, Temporel, Social </a:t>
            </a:r>
            <a:r>
              <a:rPr lang="fr-FR" sz="1800" dirty="0"/>
              <a:t>: Cette couche met en avant les types d'événements ou de données que </a:t>
            </a:r>
            <a:r>
              <a:rPr lang="fr-FR" sz="1800" dirty="0" err="1"/>
              <a:t>AllegroGraph</a:t>
            </a:r>
            <a:r>
              <a:rPr lang="fr-FR" sz="1800" dirty="0"/>
              <a:t> peut gérer :</a:t>
            </a:r>
          </a:p>
          <a:p>
            <a:pPr marL="882650" lvl="1" indent="-285750">
              <a:lnSpc>
                <a:spcPct val="150000"/>
              </a:lnSpc>
              <a:buFont typeface="Wingdings" panose="05000000000000000000" pitchFamily="2" charset="2"/>
              <a:buChar char="v"/>
            </a:pPr>
            <a:r>
              <a:rPr lang="fr-FR" sz="1800" b="1" dirty="0"/>
              <a:t>Géospatial</a:t>
            </a:r>
            <a:r>
              <a:rPr lang="fr-FR" sz="1800" dirty="0"/>
              <a:t> : Données liées à des emplacements géographiques (ex: coordonnées, cartes).</a:t>
            </a:r>
          </a:p>
        </p:txBody>
      </p:sp>
      <p:sp>
        <p:nvSpPr>
          <p:cNvPr id="839" name="Google Shape;839;p27">
            <a:extLst>
              <a:ext uri="{FF2B5EF4-FFF2-40B4-BE49-F238E27FC236}">
                <a16:creationId xmlns:a16="http://schemas.microsoft.com/office/drawing/2014/main" id="{FBBBBDF8-8B2F-B317-7DB2-92BDBB33263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C20EDA60-2BCB-56E4-3D99-43DDDEADB9D0}"/>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0FC20FE-0B8E-A970-554B-DA7E34A7EAFF}"/>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A738A502-666C-03D9-BB26-4430375BB740}"/>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A5DD5ED-527D-3A7A-6D9A-24E007534AD9}"/>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83A9AA0E-A08A-428E-6D8D-B3289FF2C722}"/>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045DD35-1F90-B372-EBF6-68993E95EEF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E376845E-2E4C-77FF-0CA6-40942D613306}"/>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3C8F3802-8963-8D50-0FCF-F123ED231B4D}"/>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D50D4D97-68AE-A7DB-7231-49988BD5DDB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C75F524C-CD82-EDCD-D9C6-106F4BB972EC}"/>
              </a:ext>
            </a:extLst>
          </p:cNvPr>
          <p:cNvPicPr>
            <a:picLocks noChangeAspect="1"/>
          </p:cNvPicPr>
          <p:nvPr/>
        </p:nvPicPr>
        <p:blipFill>
          <a:blip r:embed="rId3"/>
          <a:stretch>
            <a:fillRect/>
          </a:stretch>
        </p:blipFill>
        <p:spPr>
          <a:xfrm>
            <a:off x="2433339" y="1488728"/>
            <a:ext cx="4277322" cy="1219370"/>
          </a:xfrm>
          <a:prstGeom prst="rect">
            <a:avLst/>
          </a:prstGeom>
        </p:spPr>
      </p:pic>
      <p:sp>
        <p:nvSpPr>
          <p:cNvPr id="2" name="TextBox 1">
            <a:extLst>
              <a:ext uri="{FF2B5EF4-FFF2-40B4-BE49-F238E27FC236}">
                <a16:creationId xmlns:a16="http://schemas.microsoft.com/office/drawing/2014/main" id="{8D17365C-C5AF-5DBB-5309-EFCBDAAD823F}"/>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62/98</a:t>
            </a:r>
          </a:p>
        </p:txBody>
      </p:sp>
    </p:spTree>
    <p:extLst>
      <p:ext uri="{BB962C8B-B14F-4D97-AF65-F5344CB8AC3E}">
        <p14:creationId xmlns:p14="http://schemas.microsoft.com/office/powerpoint/2010/main" val="314485487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2A3FC3B-29FD-CE77-F3D9-B004EC22AF0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54BFF21-0D49-198A-139E-BD920396B47C}"/>
              </a:ext>
            </a:extLst>
          </p:cNvPr>
          <p:cNvSpPr txBox="1">
            <a:spLocks noGrp="1"/>
          </p:cNvSpPr>
          <p:nvPr>
            <p:ph type="subTitle" idx="1"/>
          </p:nvPr>
        </p:nvSpPr>
        <p:spPr>
          <a:xfrm>
            <a:off x="613186" y="2807746"/>
            <a:ext cx="7906870" cy="1957888"/>
          </a:xfrm>
          <a:prstGeom prst="rect">
            <a:avLst/>
          </a:prstGeom>
        </p:spPr>
        <p:txBody>
          <a:bodyPr spcFirstLastPara="1" wrap="square" lIns="91425" tIns="91425" rIns="91425" bIns="91425" anchor="t" anchorCtr="0">
            <a:noAutofit/>
          </a:bodyPr>
          <a:lstStyle/>
          <a:p>
            <a:pPr marL="882650" lvl="1" indent="-285750">
              <a:lnSpc>
                <a:spcPct val="150000"/>
              </a:lnSpc>
              <a:buFont typeface="Wingdings" panose="05000000000000000000" pitchFamily="2" charset="2"/>
              <a:buChar char="v"/>
            </a:pPr>
            <a:r>
              <a:rPr lang="fr-FR" sz="1800" b="1" dirty="0"/>
              <a:t>Temporel</a:t>
            </a:r>
            <a:r>
              <a:rPr lang="fr-FR" sz="1800" dirty="0"/>
              <a:t> : Données avec une dimension temporelle (ex. : historiques, chronologies).</a:t>
            </a:r>
          </a:p>
          <a:p>
            <a:pPr marL="882650" lvl="1" indent="-285750">
              <a:lnSpc>
                <a:spcPct val="150000"/>
              </a:lnSpc>
              <a:buFont typeface="Wingdings" panose="05000000000000000000" pitchFamily="2" charset="2"/>
              <a:buChar char="v"/>
            </a:pPr>
            <a:r>
              <a:rPr lang="fr-FR" sz="1800" b="1" dirty="0"/>
              <a:t>Social</a:t>
            </a:r>
            <a:r>
              <a:rPr lang="fr-FR" sz="1800" dirty="0"/>
              <a:t> : Données issues de réseaux sociaux ou de relations entre entités.</a:t>
            </a:r>
          </a:p>
        </p:txBody>
      </p:sp>
      <p:sp>
        <p:nvSpPr>
          <p:cNvPr id="839" name="Google Shape;839;p27">
            <a:extLst>
              <a:ext uri="{FF2B5EF4-FFF2-40B4-BE49-F238E27FC236}">
                <a16:creationId xmlns:a16="http://schemas.microsoft.com/office/drawing/2014/main" id="{1BFB239A-2DDC-F4E0-FB37-7D436F37630D}"/>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024B59AE-144F-7F88-1E4C-836CCAB19BB3}"/>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FAFAB8E8-B58F-172F-6E0F-1C1398A5BEC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AEBF7D53-5F7B-8D95-7719-A4AEC533E3FF}"/>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4AE34672-6DC6-ACBD-C7B8-A57E214FC1A0}"/>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5B1C8E38-C787-19C2-754D-5C63584DE3C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0024B6E9-0A7C-2860-4BEF-A53D2919A12A}"/>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F8A5172B-3BBE-DEB8-7986-DF6E6350ADB7}"/>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87FB4B47-6845-3BD1-E019-6F72F36C031E}"/>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1C8E501F-0C70-F6DF-520A-D02CE3435376}"/>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FC543546-92CA-A953-B43E-B4C04F8C9344}"/>
              </a:ext>
            </a:extLst>
          </p:cNvPr>
          <p:cNvPicPr>
            <a:picLocks noChangeAspect="1"/>
          </p:cNvPicPr>
          <p:nvPr/>
        </p:nvPicPr>
        <p:blipFill>
          <a:blip r:embed="rId3"/>
          <a:stretch>
            <a:fillRect/>
          </a:stretch>
        </p:blipFill>
        <p:spPr>
          <a:xfrm>
            <a:off x="2433339" y="1488728"/>
            <a:ext cx="4277322" cy="1219370"/>
          </a:xfrm>
          <a:prstGeom prst="rect">
            <a:avLst/>
          </a:prstGeom>
        </p:spPr>
      </p:pic>
      <p:sp>
        <p:nvSpPr>
          <p:cNvPr id="2" name="TextBox 1">
            <a:extLst>
              <a:ext uri="{FF2B5EF4-FFF2-40B4-BE49-F238E27FC236}">
                <a16:creationId xmlns:a16="http://schemas.microsoft.com/office/drawing/2014/main" id="{53FC4CBD-0682-5E43-BD36-8CBF295B607C}"/>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63/98</a:t>
            </a:r>
          </a:p>
        </p:txBody>
      </p:sp>
    </p:spTree>
    <p:extLst>
      <p:ext uri="{BB962C8B-B14F-4D97-AF65-F5344CB8AC3E}">
        <p14:creationId xmlns:p14="http://schemas.microsoft.com/office/powerpoint/2010/main" val="21208684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4820299F-1DA1-C3A7-B054-5314D32EBB98}"/>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900EBA8-A3BD-1F94-3E67-7D87F1F0FDF4}"/>
              </a:ext>
            </a:extLst>
          </p:cNvPr>
          <p:cNvSpPr txBox="1">
            <a:spLocks noGrp="1"/>
          </p:cNvSpPr>
          <p:nvPr>
            <p:ph type="subTitle" idx="1"/>
          </p:nvPr>
        </p:nvSpPr>
        <p:spPr>
          <a:xfrm>
            <a:off x="613186" y="2700165"/>
            <a:ext cx="7906870" cy="2205321"/>
          </a:xfrm>
          <a:prstGeom prst="rect">
            <a:avLst/>
          </a:prstGeom>
        </p:spPr>
        <p:txBody>
          <a:bodyPr spcFirstLastPara="1" wrap="square" lIns="91425" tIns="91425" rIns="91425" bIns="91425" anchor="t" anchorCtr="0">
            <a:noAutofit/>
          </a:bodyPr>
          <a:lstStyle/>
          <a:p>
            <a:pPr marL="425450" indent="-285750" algn="l">
              <a:lnSpc>
                <a:spcPct val="150000"/>
              </a:lnSpc>
              <a:buFont typeface="Wingdings" panose="05000000000000000000" pitchFamily="2" charset="2"/>
              <a:buChar char="q"/>
            </a:pPr>
            <a:r>
              <a:rPr lang="fr-FR" sz="1800" b="1" dirty="0"/>
              <a:t>Raisonnement: RDF+++, OWL2-RL, Prolog, Probabiliste : </a:t>
            </a:r>
            <a:r>
              <a:rPr lang="fr-FR" sz="1800" dirty="0"/>
              <a:t>Cette couche détaille les capacités de raisonnement d'</a:t>
            </a:r>
            <a:r>
              <a:rPr lang="fr-FR" sz="1800" dirty="0" err="1"/>
              <a:t>AllegroGraph</a:t>
            </a:r>
            <a:r>
              <a:rPr lang="fr-FR" sz="1800" dirty="0"/>
              <a:t> :</a:t>
            </a:r>
          </a:p>
          <a:p>
            <a:pPr marL="882650" lvl="1" indent="-285750">
              <a:lnSpc>
                <a:spcPct val="150000"/>
              </a:lnSpc>
              <a:buFont typeface="Wingdings" panose="05000000000000000000" pitchFamily="2" charset="2"/>
              <a:buChar char="v"/>
            </a:pPr>
            <a:r>
              <a:rPr lang="fr-FR" sz="1800" b="1" dirty="0"/>
              <a:t>RDF+++ </a:t>
            </a:r>
            <a:r>
              <a:rPr lang="fr-FR" sz="1800" dirty="0"/>
              <a:t>: Une extension de RDF pour des annotations avancées.</a:t>
            </a:r>
          </a:p>
          <a:p>
            <a:pPr marL="882650" lvl="1" indent="-285750">
              <a:lnSpc>
                <a:spcPct val="150000"/>
              </a:lnSpc>
              <a:buFont typeface="Wingdings" panose="05000000000000000000" pitchFamily="2" charset="2"/>
              <a:buChar char="v"/>
            </a:pPr>
            <a:r>
              <a:rPr lang="fr-FR" sz="1800" b="1" dirty="0"/>
              <a:t>OWL2-RL</a:t>
            </a:r>
            <a:r>
              <a:rPr lang="fr-FR" sz="1800" dirty="0"/>
              <a:t> : Un sous-ensemble du langage OWL (Web </a:t>
            </a:r>
            <a:r>
              <a:rPr lang="fr-FR" sz="1800" dirty="0" err="1"/>
              <a:t>Ontology</a:t>
            </a:r>
            <a:r>
              <a:rPr lang="fr-FR" sz="1800" dirty="0"/>
              <a:t> </a:t>
            </a:r>
            <a:r>
              <a:rPr lang="fr-FR" sz="1800" dirty="0" err="1"/>
              <a:t>Language</a:t>
            </a:r>
            <a:r>
              <a:rPr lang="fr-FR" sz="1800" dirty="0"/>
              <a:t>) pour des inférences basées sur des ontologies.</a:t>
            </a:r>
          </a:p>
        </p:txBody>
      </p:sp>
      <p:sp>
        <p:nvSpPr>
          <p:cNvPr id="839" name="Google Shape;839;p27">
            <a:extLst>
              <a:ext uri="{FF2B5EF4-FFF2-40B4-BE49-F238E27FC236}">
                <a16:creationId xmlns:a16="http://schemas.microsoft.com/office/drawing/2014/main" id="{E114CD8B-9816-84B9-BF78-D0EA7A6E5A47}"/>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9C6627C5-2B05-2DE5-0EF9-4C852AEEA456}"/>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E4800388-9B07-9A44-A142-0C9329E3666D}"/>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E1E6662C-74C2-6E9D-6407-BFA4D70F49A2}"/>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C182AAC2-A25B-9A2D-3066-3932215D4561}"/>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54021753-3536-F918-4A9C-1CA4B2B865B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F9099F70-4EC2-0DA8-47EE-09CBFB951B9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B9F53313-B010-259D-D268-DCDC6176E9BA}"/>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E1C26B6B-9FE1-627B-7CE5-0CCC9C8B250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B0F2CE19-03D1-ACF4-4AC5-70AEE0DAE4C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7F0108DF-279F-84B6-4BA7-15C05053D99A}"/>
              </a:ext>
            </a:extLst>
          </p:cNvPr>
          <p:cNvPicPr>
            <a:picLocks noChangeAspect="1"/>
          </p:cNvPicPr>
          <p:nvPr/>
        </p:nvPicPr>
        <p:blipFill>
          <a:blip r:embed="rId3"/>
          <a:stretch>
            <a:fillRect/>
          </a:stretch>
        </p:blipFill>
        <p:spPr>
          <a:xfrm>
            <a:off x="2433339" y="1488728"/>
            <a:ext cx="4277322" cy="1219370"/>
          </a:xfrm>
          <a:prstGeom prst="rect">
            <a:avLst/>
          </a:prstGeom>
        </p:spPr>
      </p:pic>
      <p:sp>
        <p:nvSpPr>
          <p:cNvPr id="2" name="TextBox 1">
            <a:extLst>
              <a:ext uri="{FF2B5EF4-FFF2-40B4-BE49-F238E27FC236}">
                <a16:creationId xmlns:a16="http://schemas.microsoft.com/office/drawing/2014/main" id="{0E8AC087-CB0F-4617-22BD-FF65F26A1A99}"/>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64/98</a:t>
            </a:r>
          </a:p>
        </p:txBody>
      </p:sp>
    </p:spTree>
    <p:extLst>
      <p:ext uri="{BB962C8B-B14F-4D97-AF65-F5344CB8AC3E}">
        <p14:creationId xmlns:p14="http://schemas.microsoft.com/office/powerpoint/2010/main" val="12003127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2ED0553-CCB1-67F8-6D59-C0AA5FD44338}"/>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3246ABF1-44CA-D108-47B0-754574200951}"/>
              </a:ext>
            </a:extLst>
          </p:cNvPr>
          <p:cNvSpPr txBox="1">
            <a:spLocks noGrp="1"/>
          </p:cNvSpPr>
          <p:nvPr>
            <p:ph type="subTitle" idx="1"/>
          </p:nvPr>
        </p:nvSpPr>
        <p:spPr>
          <a:xfrm>
            <a:off x="613186" y="2700165"/>
            <a:ext cx="7906870" cy="2205321"/>
          </a:xfrm>
          <a:prstGeom prst="rect">
            <a:avLst/>
          </a:prstGeom>
        </p:spPr>
        <p:txBody>
          <a:bodyPr spcFirstLastPara="1" wrap="square" lIns="91425" tIns="91425" rIns="91425" bIns="91425" anchor="t" anchorCtr="0">
            <a:noAutofit/>
          </a:bodyPr>
          <a:lstStyle/>
          <a:p>
            <a:pPr marL="882650" lvl="1" indent="-285750">
              <a:lnSpc>
                <a:spcPct val="150000"/>
              </a:lnSpc>
              <a:buFont typeface="Wingdings" panose="05000000000000000000" pitchFamily="2" charset="2"/>
              <a:buChar char="v"/>
            </a:pPr>
            <a:r>
              <a:rPr lang="fr-FR" sz="1800" b="1" dirty="0"/>
              <a:t>Prolog</a:t>
            </a:r>
            <a:r>
              <a:rPr lang="fr-FR" sz="1800" dirty="0"/>
              <a:t> : Utilisé pour des raisonnements logiques complexes.</a:t>
            </a:r>
          </a:p>
          <a:p>
            <a:pPr marL="882650" lvl="1" indent="-285750">
              <a:lnSpc>
                <a:spcPct val="150000"/>
              </a:lnSpc>
              <a:buFont typeface="Wingdings" panose="05000000000000000000" pitchFamily="2" charset="2"/>
              <a:buChar char="v"/>
            </a:pPr>
            <a:r>
              <a:rPr lang="fr-FR" sz="1800" b="1" dirty="0"/>
              <a:t>Probabiliste</a:t>
            </a:r>
            <a:r>
              <a:rPr lang="fr-FR" sz="1800" dirty="0"/>
              <a:t> : Prise en charge du raisonnement basé sur des probabilités, utile pour des données incertaines.</a:t>
            </a:r>
          </a:p>
        </p:txBody>
      </p:sp>
      <p:sp>
        <p:nvSpPr>
          <p:cNvPr id="839" name="Google Shape;839;p27">
            <a:extLst>
              <a:ext uri="{FF2B5EF4-FFF2-40B4-BE49-F238E27FC236}">
                <a16:creationId xmlns:a16="http://schemas.microsoft.com/office/drawing/2014/main" id="{3ACFD2B6-61BE-88FD-0560-46C4E4A5B31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8E725C3D-022A-EE38-E337-D5F1170DD19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DDB70FEE-659A-176D-4853-F2DEB7BA565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DF862F7C-AD4F-72D5-D827-D756AA506DC7}"/>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F21F0C32-6693-DCEC-46D9-12003C486F1D}"/>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141156C-2DDA-5B0C-0D99-A73019589480}"/>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F98ED9D-4B14-76CE-AA10-C8D82B615B16}"/>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F038138B-3637-3192-6FEA-B5E018035D5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8FE6B10-2CFF-C462-7596-171350DD0E2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DB3C63F5-8312-735C-F63C-40A751613864}"/>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D1DE8EF6-7C02-5AF0-DFFE-D515F5EA1DBF}"/>
              </a:ext>
            </a:extLst>
          </p:cNvPr>
          <p:cNvPicPr>
            <a:picLocks noChangeAspect="1"/>
          </p:cNvPicPr>
          <p:nvPr/>
        </p:nvPicPr>
        <p:blipFill>
          <a:blip r:embed="rId3"/>
          <a:stretch>
            <a:fillRect/>
          </a:stretch>
        </p:blipFill>
        <p:spPr>
          <a:xfrm>
            <a:off x="2433339" y="1488728"/>
            <a:ext cx="4277322" cy="1219370"/>
          </a:xfrm>
          <a:prstGeom prst="rect">
            <a:avLst/>
          </a:prstGeom>
        </p:spPr>
      </p:pic>
      <p:sp>
        <p:nvSpPr>
          <p:cNvPr id="2" name="TextBox 1">
            <a:extLst>
              <a:ext uri="{FF2B5EF4-FFF2-40B4-BE49-F238E27FC236}">
                <a16:creationId xmlns:a16="http://schemas.microsoft.com/office/drawing/2014/main" id="{A4617118-4746-47DE-7566-C8D032B8D64C}"/>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65/98</a:t>
            </a:r>
          </a:p>
        </p:txBody>
      </p:sp>
    </p:spTree>
    <p:extLst>
      <p:ext uri="{BB962C8B-B14F-4D97-AF65-F5344CB8AC3E}">
        <p14:creationId xmlns:p14="http://schemas.microsoft.com/office/powerpoint/2010/main" val="12440486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0A059C55-C97F-24C2-114D-CFA038D7A5C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85FEB756-865F-1355-590B-CF1F34E09F62}"/>
              </a:ext>
            </a:extLst>
          </p:cNvPr>
          <p:cNvSpPr txBox="1">
            <a:spLocks noGrp="1"/>
          </p:cNvSpPr>
          <p:nvPr>
            <p:ph type="subTitle" idx="1"/>
          </p:nvPr>
        </p:nvSpPr>
        <p:spPr>
          <a:xfrm>
            <a:off x="613186" y="2700165"/>
            <a:ext cx="7906870" cy="2205321"/>
          </a:xfrm>
          <a:prstGeom prst="rect">
            <a:avLst/>
          </a:prstGeom>
        </p:spPr>
        <p:txBody>
          <a:bodyPr spcFirstLastPara="1" wrap="square" lIns="91425" tIns="91425" rIns="91425" bIns="91425" anchor="t" anchorCtr="0">
            <a:normAutofit fontScale="85000" lnSpcReduction="10000"/>
          </a:bodyPr>
          <a:lstStyle/>
          <a:p>
            <a:pPr marL="425450" indent="-285750" algn="l">
              <a:lnSpc>
                <a:spcPct val="150000"/>
              </a:lnSpc>
              <a:buFont typeface="Wingdings" panose="05000000000000000000" pitchFamily="2" charset="2"/>
              <a:buChar char="q"/>
            </a:pPr>
            <a:r>
              <a:rPr lang="fr-FR" sz="1800" b="1" dirty="0"/>
              <a:t>NLP (Natural </a:t>
            </a:r>
            <a:r>
              <a:rPr lang="fr-FR" sz="1800" b="1" dirty="0" err="1"/>
              <a:t>Language</a:t>
            </a:r>
            <a:r>
              <a:rPr lang="fr-FR" sz="1800" b="1" dirty="0"/>
              <a:t> </a:t>
            </a:r>
            <a:r>
              <a:rPr lang="fr-FR" sz="1800" b="1" dirty="0" err="1"/>
              <a:t>Processing</a:t>
            </a:r>
            <a:r>
              <a:rPr lang="fr-FR" sz="1800" b="1" dirty="0"/>
              <a:t>) : </a:t>
            </a:r>
            <a:r>
              <a:rPr lang="fr-FR" sz="1800" dirty="0"/>
              <a:t>cette couche regroupe des outils pour enrichir les données textuelles, incluant la création de </a:t>
            </a:r>
            <a:r>
              <a:rPr lang="fr-FR" sz="1800" b="1" dirty="0"/>
              <a:t>taxonomies</a:t>
            </a:r>
            <a:r>
              <a:rPr lang="fr-FR" sz="1800" dirty="0"/>
              <a:t> pour organiser les concepts, l'</a:t>
            </a:r>
            <a:r>
              <a:rPr lang="fr-FR" sz="1800" b="1" dirty="0"/>
              <a:t>extraction d'entités</a:t>
            </a:r>
            <a:r>
              <a:rPr lang="fr-FR" sz="1800" dirty="0"/>
              <a:t> (personnes, lieux), la </a:t>
            </a:r>
            <a:r>
              <a:rPr lang="fr-FR" sz="1800" b="1" dirty="0"/>
              <a:t>classification de textes</a:t>
            </a:r>
            <a:r>
              <a:rPr lang="fr-FR" sz="1800" dirty="0"/>
              <a:t>, </a:t>
            </a:r>
            <a:r>
              <a:rPr lang="fr-FR" sz="1800" b="1" dirty="0"/>
              <a:t>l'analyse de sentiments</a:t>
            </a:r>
            <a:r>
              <a:rPr lang="fr-FR" sz="1800" dirty="0"/>
              <a:t>, l'intégration d'</a:t>
            </a:r>
            <a:r>
              <a:rPr lang="fr-FR" sz="1800" b="1" dirty="0"/>
              <a:t>apprentissage automatique</a:t>
            </a:r>
            <a:r>
              <a:rPr lang="fr-FR" sz="1800" dirty="0"/>
              <a:t>, et la </a:t>
            </a:r>
            <a:r>
              <a:rPr lang="fr-FR" sz="1800" b="1" dirty="0"/>
              <a:t>reconnaissance vocale</a:t>
            </a:r>
            <a:r>
              <a:rPr lang="fr-FR" sz="1800" dirty="0"/>
              <a:t> pour convertir la parole en texte. Ces capacités permettent une analyse sémantique approfondie des données textuelles.</a:t>
            </a:r>
          </a:p>
        </p:txBody>
      </p:sp>
      <p:sp>
        <p:nvSpPr>
          <p:cNvPr id="839" name="Google Shape;839;p27">
            <a:extLst>
              <a:ext uri="{FF2B5EF4-FFF2-40B4-BE49-F238E27FC236}">
                <a16:creationId xmlns:a16="http://schemas.microsoft.com/office/drawing/2014/main" id="{CD78593D-B185-25F9-2457-BAF85DB763A6}"/>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51BC88B5-9B59-F9E2-F615-D9CF03743338}"/>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345B14BF-BEFF-C497-7B4A-9F316EAE3E5D}"/>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CD799F1D-465A-2AB5-5A0F-6336B779BB3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C92321BE-7D3B-9E69-7BD1-22FB6EA33C5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22457035-2576-FC45-76A3-0E08EC24C67F}"/>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4EEAE39-095C-F015-45DA-167D320CDB5A}"/>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EA21DED-1DF5-B920-5614-0F4EB2857BB3}"/>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11DAB45-7D72-069C-9791-7A2589F27D85}"/>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CCDC0419-87CB-BB6B-59E4-64383C49A72E}"/>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469BCC7E-7F93-543B-2D5A-C1BD2E9D2FAD}"/>
              </a:ext>
            </a:extLst>
          </p:cNvPr>
          <p:cNvPicPr>
            <a:picLocks noChangeAspect="1"/>
          </p:cNvPicPr>
          <p:nvPr/>
        </p:nvPicPr>
        <p:blipFill>
          <a:blip r:embed="rId3"/>
          <a:stretch>
            <a:fillRect/>
          </a:stretch>
        </p:blipFill>
        <p:spPr>
          <a:xfrm>
            <a:off x="2433339" y="1488728"/>
            <a:ext cx="4277322" cy="1219370"/>
          </a:xfrm>
          <a:prstGeom prst="rect">
            <a:avLst/>
          </a:prstGeom>
        </p:spPr>
      </p:pic>
      <p:sp>
        <p:nvSpPr>
          <p:cNvPr id="2" name="TextBox 1">
            <a:extLst>
              <a:ext uri="{FF2B5EF4-FFF2-40B4-BE49-F238E27FC236}">
                <a16:creationId xmlns:a16="http://schemas.microsoft.com/office/drawing/2014/main" id="{5574B959-F92A-F25E-246B-4379DB2238C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66/98</a:t>
            </a:r>
          </a:p>
        </p:txBody>
      </p:sp>
    </p:spTree>
    <p:extLst>
      <p:ext uri="{BB962C8B-B14F-4D97-AF65-F5344CB8AC3E}">
        <p14:creationId xmlns:p14="http://schemas.microsoft.com/office/powerpoint/2010/main" val="26975920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E321CC4-E9B8-79A4-222B-BA8E15585306}"/>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4F072961-5CF7-8208-C014-EA0D55184F76}"/>
              </a:ext>
            </a:extLst>
          </p:cNvPr>
          <p:cNvSpPr txBox="1">
            <a:spLocks noGrp="1"/>
          </p:cNvSpPr>
          <p:nvPr>
            <p:ph type="subTitle" idx="1"/>
          </p:nvPr>
        </p:nvSpPr>
        <p:spPr>
          <a:xfrm>
            <a:off x="613186" y="2700165"/>
            <a:ext cx="7906870" cy="2205321"/>
          </a:xfrm>
          <a:prstGeom prst="rect">
            <a:avLst/>
          </a:prstGeom>
        </p:spPr>
        <p:txBody>
          <a:bodyPr spcFirstLastPara="1" wrap="square" lIns="91425" tIns="91425" rIns="91425" bIns="91425" anchor="t" anchorCtr="0">
            <a:normAutofit fontScale="92500" lnSpcReduction="20000"/>
          </a:bodyPr>
          <a:lstStyle/>
          <a:p>
            <a:pPr marL="425450" indent="-285750" algn="l">
              <a:lnSpc>
                <a:spcPct val="150000"/>
              </a:lnSpc>
              <a:buFont typeface="Wingdings" panose="05000000000000000000" pitchFamily="2" charset="2"/>
              <a:buChar char="q"/>
            </a:pPr>
            <a:r>
              <a:rPr lang="fr-FR" sz="1800" b="1" dirty="0"/>
              <a:t>ETL (</a:t>
            </a:r>
            <a:r>
              <a:rPr lang="fr-FR" sz="1800" b="1" dirty="0" err="1"/>
              <a:t>Extract</a:t>
            </a:r>
            <a:r>
              <a:rPr lang="fr-FR" sz="1800" b="1" dirty="0"/>
              <a:t> </a:t>
            </a:r>
            <a:r>
              <a:rPr lang="fr-FR" sz="1800" b="1" dirty="0" err="1"/>
              <a:t>Transform</a:t>
            </a:r>
            <a:r>
              <a:rPr lang="fr-FR" sz="1800" b="1" dirty="0"/>
              <a:t> </a:t>
            </a:r>
            <a:r>
              <a:rPr lang="fr-FR" sz="1800" b="1" dirty="0" err="1"/>
              <a:t>Load</a:t>
            </a:r>
            <a:r>
              <a:rPr lang="fr-FR" sz="1800" b="1" dirty="0"/>
              <a:t>) : </a:t>
            </a:r>
            <a:r>
              <a:rPr lang="fr-FR" sz="1800" dirty="0"/>
              <a:t>Elle gère l'extraction, la transformation et le chargement (ETL) ainsi que la gestion des métadonnées, en intégrant des données de bases relationnelles (RDBMS) et divers formats comme TXT, XML et JSON-LD. Elle utilise également SHACL pour valider la conformité des données RDF, facilitant ainsi l'importation et la structuration de données hétérogènes.</a:t>
            </a:r>
          </a:p>
        </p:txBody>
      </p:sp>
      <p:sp>
        <p:nvSpPr>
          <p:cNvPr id="839" name="Google Shape;839;p27">
            <a:extLst>
              <a:ext uri="{FF2B5EF4-FFF2-40B4-BE49-F238E27FC236}">
                <a16:creationId xmlns:a16="http://schemas.microsoft.com/office/drawing/2014/main" id="{F4912329-C229-F4E2-06DE-32931852B767}"/>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9FDE6BAD-4DB8-826F-0CEF-23659C1CA049}"/>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A664F59-07A6-3636-CFB7-8C3851843476}"/>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1F6AAA45-C246-D60F-4336-063A05B502A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8C2AF60-C958-5600-9341-42E040381D4B}"/>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D4B2DBA-F1D4-7E0D-A8C8-1D6DC4A49792}"/>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B38DDC38-E0A9-C9CD-8551-7C4AC7BFE3C3}"/>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FE2F7CFE-1C52-8722-C219-D57358673E2E}"/>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A27B6FA-278D-776A-F7A9-BAF021E69E5F}"/>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71011D5A-6F03-DB42-8293-D23135D4E1ED}"/>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E8D086BF-9ADB-6E07-6085-9C52414B2949}"/>
              </a:ext>
            </a:extLst>
          </p:cNvPr>
          <p:cNvPicPr>
            <a:picLocks noChangeAspect="1"/>
          </p:cNvPicPr>
          <p:nvPr/>
        </p:nvPicPr>
        <p:blipFill>
          <a:blip r:embed="rId3"/>
          <a:stretch>
            <a:fillRect/>
          </a:stretch>
        </p:blipFill>
        <p:spPr>
          <a:xfrm>
            <a:off x="2433339" y="1488728"/>
            <a:ext cx="4277322" cy="1219370"/>
          </a:xfrm>
          <a:prstGeom prst="rect">
            <a:avLst/>
          </a:prstGeom>
        </p:spPr>
      </p:pic>
      <p:sp>
        <p:nvSpPr>
          <p:cNvPr id="2" name="TextBox 1">
            <a:extLst>
              <a:ext uri="{FF2B5EF4-FFF2-40B4-BE49-F238E27FC236}">
                <a16:creationId xmlns:a16="http://schemas.microsoft.com/office/drawing/2014/main" id="{9D8109D4-0A79-EA22-5A3C-A438B9B2536B}"/>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67/98</a:t>
            </a:r>
          </a:p>
        </p:txBody>
      </p:sp>
    </p:spTree>
    <p:extLst>
      <p:ext uri="{BB962C8B-B14F-4D97-AF65-F5344CB8AC3E}">
        <p14:creationId xmlns:p14="http://schemas.microsoft.com/office/powerpoint/2010/main" val="616550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5C16491-AA75-80F2-AA9D-E5C500366A8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B300736-88E8-DD77-EEB3-530C352C7D46}"/>
              </a:ext>
            </a:extLst>
          </p:cNvPr>
          <p:cNvSpPr txBox="1">
            <a:spLocks noGrp="1"/>
          </p:cNvSpPr>
          <p:nvPr>
            <p:ph type="subTitle" idx="1"/>
          </p:nvPr>
        </p:nvSpPr>
        <p:spPr>
          <a:xfrm>
            <a:off x="613186" y="2700165"/>
            <a:ext cx="7906870" cy="2205321"/>
          </a:xfrm>
          <a:prstGeom prst="rect">
            <a:avLst/>
          </a:prstGeom>
        </p:spPr>
        <p:txBody>
          <a:bodyPr spcFirstLastPara="1" wrap="square" lIns="91425" tIns="91425" rIns="91425" bIns="91425" anchor="t" anchorCtr="0">
            <a:normAutofit lnSpcReduction="10000"/>
          </a:bodyPr>
          <a:lstStyle/>
          <a:p>
            <a:pPr marL="425450" indent="-285750" algn="l">
              <a:lnSpc>
                <a:spcPct val="150000"/>
              </a:lnSpc>
              <a:buFont typeface="Wingdings" panose="05000000000000000000" pitchFamily="2" charset="2"/>
              <a:buChar char="q"/>
            </a:pPr>
            <a:r>
              <a:rPr lang="fr-FR" sz="1800" b="1" dirty="0" err="1"/>
              <a:t>Stored</a:t>
            </a:r>
            <a:r>
              <a:rPr lang="fr-FR" sz="1800" b="1" dirty="0"/>
              <a:t> Procs : </a:t>
            </a:r>
            <a:r>
              <a:rPr lang="fr-FR" sz="1800" dirty="0"/>
              <a:t>Elle permet d'exécuter des </a:t>
            </a:r>
            <a:r>
              <a:rPr lang="fr-FR" sz="1800" b="1" dirty="0"/>
              <a:t>instructions stockées</a:t>
            </a:r>
            <a:r>
              <a:rPr lang="fr-FR" sz="1800" dirty="0"/>
              <a:t>, comme de petits programmes écrits en JavaScript, Lisp, ou Prolog, pour automatiser des tâches sur les graphes. Elle inclut aussi des</a:t>
            </a:r>
            <a:r>
              <a:rPr lang="fr-FR" sz="1800" b="1" dirty="0"/>
              <a:t> Magic </a:t>
            </a:r>
            <a:r>
              <a:rPr lang="fr-FR" sz="1800" b="1" dirty="0" err="1"/>
              <a:t>Predicates</a:t>
            </a:r>
            <a:r>
              <a:rPr lang="fr-FR" sz="1800" dirty="0"/>
              <a:t>, des outils prêts à l’emploi, pour simplifier les opérations courantes. Ça rend le travail avec les données plus rapide et facile</a:t>
            </a:r>
          </a:p>
        </p:txBody>
      </p:sp>
      <p:sp>
        <p:nvSpPr>
          <p:cNvPr id="839" name="Google Shape;839;p27">
            <a:extLst>
              <a:ext uri="{FF2B5EF4-FFF2-40B4-BE49-F238E27FC236}">
                <a16:creationId xmlns:a16="http://schemas.microsoft.com/office/drawing/2014/main" id="{0B6156E5-F616-6F9C-CCEA-39D4F41871DF}"/>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87812C92-FF62-3ED1-C951-EBC64434A4CE}"/>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AB13335-AE96-DA9C-45C6-517B84311CE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96324B8-25E1-C704-8B35-0D3D6B4187EC}"/>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01951299-4C93-0296-DC95-7224C71C919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A40020C8-6DB9-151D-6A0B-27824E2E2E69}"/>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9D450879-7193-C494-701F-DEED23F3D8C2}"/>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0D6AB6F-E0BF-465B-64C5-6DF2F0F4FAB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DEBAA66-FCD4-1D95-7B03-FD49598D57E9}"/>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D30CC83D-AE83-B8E6-6278-1377F4F2F3B5}"/>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 name="Picture 3">
            <a:extLst>
              <a:ext uri="{FF2B5EF4-FFF2-40B4-BE49-F238E27FC236}">
                <a16:creationId xmlns:a16="http://schemas.microsoft.com/office/drawing/2014/main" id="{D401856D-AEA1-4134-1696-D91812412C92}"/>
              </a:ext>
            </a:extLst>
          </p:cNvPr>
          <p:cNvPicPr>
            <a:picLocks noChangeAspect="1"/>
          </p:cNvPicPr>
          <p:nvPr/>
        </p:nvPicPr>
        <p:blipFill>
          <a:blip r:embed="rId3"/>
          <a:stretch>
            <a:fillRect/>
          </a:stretch>
        </p:blipFill>
        <p:spPr>
          <a:xfrm>
            <a:off x="2433339" y="1488728"/>
            <a:ext cx="4277322" cy="1219370"/>
          </a:xfrm>
          <a:prstGeom prst="rect">
            <a:avLst/>
          </a:prstGeom>
        </p:spPr>
      </p:pic>
      <p:sp>
        <p:nvSpPr>
          <p:cNvPr id="2" name="TextBox 1">
            <a:extLst>
              <a:ext uri="{FF2B5EF4-FFF2-40B4-BE49-F238E27FC236}">
                <a16:creationId xmlns:a16="http://schemas.microsoft.com/office/drawing/2014/main" id="{559D348A-7637-04D6-DC35-B5FCD833797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68/98</a:t>
            </a:r>
          </a:p>
        </p:txBody>
      </p:sp>
    </p:spTree>
    <p:extLst>
      <p:ext uri="{BB962C8B-B14F-4D97-AF65-F5344CB8AC3E}">
        <p14:creationId xmlns:p14="http://schemas.microsoft.com/office/powerpoint/2010/main" val="28408838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BE9A225-1975-0C40-165F-85CD348276AF}"/>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3A25C9E0-44AC-6EC2-C3D4-496826B675FE}"/>
              </a:ext>
            </a:extLst>
          </p:cNvPr>
          <p:cNvSpPr txBox="1">
            <a:spLocks noGrp="1"/>
          </p:cNvSpPr>
          <p:nvPr>
            <p:ph type="subTitle" idx="1"/>
          </p:nvPr>
        </p:nvSpPr>
        <p:spPr>
          <a:xfrm>
            <a:off x="613186" y="2549556"/>
            <a:ext cx="7906870" cy="2366689"/>
          </a:xfrm>
          <a:prstGeom prst="rect">
            <a:avLst/>
          </a:prstGeom>
        </p:spPr>
        <p:txBody>
          <a:bodyPr spcFirstLastPara="1" wrap="square" lIns="91425" tIns="91425" rIns="91425" bIns="91425" anchor="t" anchorCtr="0">
            <a:normAutofit fontScale="85000" lnSpcReduction="20000"/>
          </a:bodyPr>
          <a:lstStyle/>
          <a:p>
            <a:pPr marL="425450" indent="-285750" algn="l">
              <a:lnSpc>
                <a:spcPct val="150000"/>
              </a:lnSpc>
              <a:buFont typeface="Wingdings" panose="05000000000000000000" pitchFamily="2" charset="2"/>
              <a:buChar char="q"/>
            </a:pPr>
            <a:r>
              <a:rPr lang="fr-FR" sz="1800" b="1" dirty="0"/>
              <a:t>Management</a:t>
            </a:r>
            <a:r>
              <a:rPr lang="fr-FR" sz="1800" dirty="0"/>
              <a:t> : Assure la sécurité, la réplication et la résilience du système.</a:t>
            </a:r>
          </a:p>
          <a:p>
            <a:pPr marL="425450" indent="-285750" algn="l">
              <a:lnSpc>
                <a:spcPct val="150000"/>
              </a:lnSpc>
              <a:buFont typeface="Wingdings" panose="05000000000000000000" pitchFamily="2" charset="2"/>
              <a:buChar char="q"/>
            </a:pPr>
            <a:r>
              <a:rPr lang="fr-FR" sz="1800" b="1" dirty="0"/>
              <a:t>Transactions</a:t>
            </a:r>
            <a:r>
              <a:rPr lang="fr-FR" sz="1800" dirty="0"/>
              <a:t> : Garantit l'intégrité des données avec des transactions fiables.</a:t>
            </a:r>
          </a:p>
          <a:p>
            <a:pPr marL="425450" indent="-285750" algn="l">
              <a:lnSpc>
                <a:spcPct val="150000"/>
              </a:lnSpc>
              <a:buFont typeface="Wingdings" panose="05000000000000000000" pitchFamily="2" charset="2"/>
              <a:buChar char="q"/>
            </a:pPr>
            <a:r>
              <a:rPr lang="fr-FR" sz="1800" b="1" dirty="0"/>
              <a:t>Storage</a:t>
            </a:r>
            <a:r>
              <a:rPr lang="fr-FR" sz="1800" dirty="0"/>
              <a:t> : Stocke et optimise les données avec des attributs, filtres et index.</a:t>
            </a:r>
          </a:p>
          <a:p>
            <a:pPr marL="425450" indent="-285750" algn="l">
              <a:lnSpc>
                <a:spcPct val="150000"/>
              </a:lnSpc>
              <a:buFont typeface="Wingdings" panose="05000000000000000000" pitchFamily="2" charset="2"/>
              <a:buChar char="q"/>
            </a:pPr>
            <a:r>
              <a:rPr lang="fr-FR" sz="1800" b="1" dirty="0"/>
              <a:t>Documents</a:t>
            </a:r>
            <a:r>
              <a:rPr lang="fr-FR" sz="1800" dirty="0"/>
              <a:t> : Gère les formats JSON et JSON-LD pour une compatibilité avec les applications web.</a:t>
            </a:r>
          </a:p>
          <a:p>
            <a:pPr marL="425450" indent="-285750" algn="l">
              <a:lnSpc>
                <a:spcPct val="150000"/>
              </a:lnSpc>
              <a:buFont typeface="Wingdings" panose="05000000000000000000" pitchFamily="2" charset="2"/>
              <a:buChar char="q"/>
            </a:pPr>
            <a:r>
              <a:rPr lang="fr-FR" sz="1800" b="1" dirty="0"/>
              <a:t>Graphs</a:t>
            </a:r>
            <a:r>
              <a:rPr lang="fr-FR" sz="1800" dirty="0"/>
              <a:t> : Structure les données sous forme de graphes RDF, RDF* et quads pour une modélisation flexible.</a:t>
            </a:r>
          </a:p>
        </p:txBody>
      </p:sp>
      <p:sp>
        <p:nvSpPr>
          <p:cNvPr id="839" name="Google Shape;839;p27">
            <a:extLst>
              <a:ext uri="{FF2B5EF4-FFF2-40B4-BE49-F238E27FC236}">
                <a16:creationId xmlns:a16="http://schemas.microsoft.com/office/drawing/2014/main" id="{084ACCEB-1CEE-7B1C-FFB7-9B2ADB0708AB}"/>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DE4E7ED9-8E69-B04E-63B8-11F5EAC0DA7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C96BB70A-A896-60D0-D47C-F9BCA1A8EB6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BA663530-CA53-5F57-088A-8B5C1F1109B6}"/>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15C44B5E-8024-F5EF-C718-B16DFB87375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F178478C-D0F9-87A5-B294-839C372030E3}"/>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05F580FC-F1A2-5EA8-915E-9608215C8E34}"/>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16CD0BA-3D9E-0721-0356-83559D8E933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742230D-0F1B-804D-5A12-07E156060F43}"/>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ED9C6CF9-013A-AC1A-7C47-854260D992C7}"/>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BB7F7757-D469-7DDC-D6ED-0AFF4E9A9966}"/>
              </a:ext>
            </a:extLst>
          </p:cNvPr>
          <p:cNvPicPr>
            <a:picLocks noChangeAspect="1"/>
          </p:cNvPicPr>
          <p:nvPr/>
        </p:nvPicPr>
        <p:blipFill>
          <a:blip r:embed="rId3"/>
          <a:stretch>
            <a:fillRect/>
          </a:stretch>
        </p:blipFill>
        <p:spPr>
          <a:xfrm>
            <a:off x="2452391" y="1444300"/>
            <a:ext cx="4239217" cy="1114581"/>
          </a:xfrm>
          <a:prstGeom prst="rect">
            <a:avLst/>
          </a:prstGeom>
        </p:spPr>
      </p:pic>
      <p:sp>
        <p:nvSpPr>
          <p:cNvPr id="2" name="TextBox 1">
            <a:extLst>
              <a:ext uri="{FF2B5EF4-FFF2-40B4-BE49-F238E27FC236}">
                <a16:creationId xmlns:a16="http://schemas.microsoft.com/office/drawing/2014/main" id="{2633C76B-25A0-9855-C2F9-7249A2114D12}"/>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69/98</a:t>
            </a:r>
          </a:p>
        </p:txBody>
      </p:sp>
    </p:spTree>
    <p:extLst>
      <p:ext uri="{BB962C8B-B14F-4D97-AF65-F5344CB8AC3E}">
        <p14:creationId xmlns:p14="http://schemas.microsoft.com/office/powerpoint/2010/main" val="35384250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7C4E24F-97B2-E530-DD73-4B38A260239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8506154-A665-D193-E982-799D07653CE0}"/>
              </a:ext>
            </a:extLst>
          </p:cNvPr>
          <p:cNvSpPr txBox="1">
            <a:spLocks noGrp="1"/>
          </p:cNvSpPr>
          <p:nvPr>
            <p:ph type="subTitle" idx="1"/>
          </p:nvPr>
        </p:nvSpPr>
        <p:spPr>
          <a:xfrm>
            <a:off x="613186" y="1552894"/>
            <a:ext cx="7906870" cy="3363351"/>
          </a:xfrm>
          <a:prstGeom prst="rect">
            <a:avLst/>
          </a:prstGeom>
        </p:spPr>
        <p:txBody>
          <a:bodyPr spcFirstLastPara="1" wrap="square" lIns="91425" tIns="91425" rIns="91425" bIns="91425" anchor="t" anchorCtr="0">
            <a:normAutofit/>
          </a:bodyPr>
          <a:lstStyle/>
          <a:p>
            <a:pPr marL="139700" indent="0" algn="l">
              <a:lnSpc>
                <a:spcPct val="150000"/>
              </a:lnSpc>
            </a:pPr>
            <a:r>
              <a:rPr lang="fr-FR" sz="1800" dirty="0" err="1"/>
              <a:t>AllegroGraph</a:t>
            </a:r>
            <a:r>
              <a:rPr lang="fr-FR" sz="1800" dirty="0"/>
              <a:t> intègre nativement des </a:t>
            </a:r>
            <a:r>
              <a:rPr lang="fr-FR" sz="1800" b="1" dirty="0"/>
              <a:t>plateformes cloud </a:t>
            </a:r>
            <a:r>
              <a:rPr lang="fr-FR" sz="1800" dirty="0"/>
              <a:t>comme AWS et Azure, des </a:t>
            </a:r>
            <a:r>
              <a:rPr lang="fr-FR" sz="1800" b="1" dirty="0"/>
              <a:t>outils de data science</a:t>
            </a:r>
            <a:r>
              <a:rPr lang="fr-FR" sz="1800" dirty="0"/>
              <a:t> comme Spark et Anaconda, ainsi que des </a:t>
            </a:r>
            <a:r>
              <a:rPr lang="fr-FR" sz="1800" b="1" dirty="0"/>
              <a:t>ressources sémantiques </a:t>
            </a:r>
            <a:r>
              <a:rPr lang="fr-FR" sz="1800" dirty="0"/>
              <a:t>comme </a:t>
            </a:r>
            <a:r>
              <a:rPr lang="fr-FR" sz="1800" dirty="0" err="1"/>
              <a:t>Linked</a:t>
            </a:r>
            <a:r>
              <a:rPr lang="fr-FR" sz="1800" dirty="0"/>
              <a:t> Open Data et des ontologies. Elle prend aussi en charge des </a:t>
            </a:r>
            <a:r>
              <a:rPr lang="fr-FR" sz="1800" b="1" dirty="0"/>
              <a:t>conteneurs</a:t>
            </a:r>
            <a:r>
              <a:rPr lang="fr-FR" sz="1800" dirty="0"/>
              <a:t> comme Docker et VMware pour des déploiements flexibles, renforçant ainsi sa compatibilité avec les environnements modernes.</a:t>
            </a:r>
          </a:p>
        </p:txBody>
      </p:sp>
      <p:sp>
        <p:nvSpPr>
          <p:cNvPr id="839" name="Google Shape;839;p27">
            <a:extLst>
              <a:ext uri="{FF2B5EF4-FFF2-40B4-BE49-F238E27FC236}">
                <a16:creationId xmlns:a16="http://schemas.microsoft.com/office/drawing/2014/main" id="{07F87D03-295A-6BBB-5C65-631A200FDE44}"/>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Architecture d’</a:t>
            </a:r>
            <a:r>
              <a:rPr lang="fr-FR" sz="2400" dirty="0" err="1"/>
              <a:t>AllegroGraph</a:t>
            </a:r>
            <a:endParaRPr sz="2400" dirty="0"/>
          </a:p>
        </p:txBody>
      </p:sp>
      <p:grpSp>
        <p:nvGrpSpPr>
          <p:cNvPr id="841" name="Google Shape;841;p27">
            <a:extLst>
              <a:ext uri="{FF2B5EF4-FFF2-40B4-BE49-F238E27FC236}">
                <a16:creationId xmlns:a16="http://schemas.microsoft.com/office/drawing/2014/main" id="{AF9E951A-B875-0D86-AE8C-9AC6DEDFA69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36B6C62D-A456-950F-D543-E15CE1EE02A0}"/>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3BFF289E-F723-4817-BF1A-4988AAA9FB6C}"/>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9BFEC2D0-F4C3-ECA3-4D4D-CCE6566B791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016DB294-1F5D-F1BC-6F7D-C18A108E64FF}"/>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59E75FB9-F22F-D408-720E-AFC1F95A892F}"/>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3F91BAE-59EE-20DB-5374-E73AFF8F85A7}"/>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8443C411-4DE9-FA66-2CAE-1623113F56C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962D4CC5-C634-8CA0-935F-63082D1F5BCE}"/>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4C130CEC-C6B1-866A-4AA7-CB8F92ACF7E3}"/>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70/98</a:t>
            </a:r>
          </a:p>
        </p:txBody>
      </p:sp>
    </p:spTree>
    <p:extLst>
      <p:ext uri="{BB962C8B-B14F-4D97-AF65-F5344CB8AC3E}">
        <p14:creationId xmlns:p14="http://schemas.microsoft.com/office/powerpoint/2010/main" val="40317824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1EBF2CFE-7C64-05B4-E1BC-9732ED7D515A}"/>
            </a:ext>
          </a:extLst>
        </p:cNvPr>
        <p:cNvGrpSpPr/>
        <p:nvPr/>
      </p:nvGrpSpPr>
      <p:grpSpPr>
        <a:xfrm>
          <a:off x="0" y="0"/>
          <a:ext cx="0" cy="0"/>
          <a:chOff x="0" y="0"/>
          <a:chExt cx="0" cy="0"/>
        </a:xfrm>
      </p:grpSpPr>
      <p:sp>
        <p:nvSpPr>
          <p:cNvPr id="855" name="Google Shape;855;p28">
            <a:extLst>
              <a:ext uri="{FF2B5EF4-FFF2-40B4-BE49-F238E27FC236}">
                <a16:creationId xmlns:a16="http://schemas.microsoft.com/office/drawing/2014/main" id="{F5A4EB44-3F4A-73AA-8BEB-34DE6E9B0501}"/>
              </a:ext>
            </a:extLst>
          </p:cNvPr>
          <p:cNvSpPr txBox="1">
            <a:spLocks noGrp="1"/>
          </p:cNvSpPr>
          <p:nvPr>
            <p:ph type="title"/>
          </p:nvPr>
        </p:nvSpPr>
        <p:spPr>
          <a:xfrm>
            <a:off x="1320400" y="1844257"/>
            <a:ext cx="3946800" cy="1363264"/>
          </a:xfrm>
          <a:prstGeom prst="rect">
            <a:avLst/>
          </a:prstGeom>
        </p:spPr>
        <p:txBody>
          <a:bodyPr spcFirstLastPara="1" wrap="square" lIns="91425" tIns="91425" rIns="91425" bIns="91425" anchor="b" anchorCtr="0">
            <a:noAutofit/>
          </a:bodyPr>
          <a:lstStyle/>
          <a:p>
            <a:pPr marL="0" lvl="0" indent="0"/>
            <a:r>
              <a:rPr lang="fr-FR" dirty="0"/>
              <a:t>Capacités d’</a:t>
            </a:r>
            <a:r>
              <a:rPr lang="fr-FR" dirty="0" err="1"/>
              <a:t>AllegroGraph</a:t>
            </a:r>
            <a:endParaRPr lang="fr-FR" dirty="0"/>
          </a:p>
        </p:txBody>
      </p:sp>
      <p:sp>
        <p:nvSpPr>
          <p:cNvPr id="856" name="Google Shape;856;p28">
            <a:extLst>
              <a:ext uri="{FF2B5EF4-FFF2-40B4-BE49-F238E27FC236}">
                <a16:creationId xmlns:a16="http://schemas.microsoft.com/office/drawing/2014/main" id="{DA1A376F-9A5B-0413-B682-5A2E57FBF8F6}"/>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grpSp>
        <p:nvGrpSpPr>
          <p:cNvPr id="857" name="Google Shape;857;p28">
            <a:extLst>
              <a:ext uri="{FF2B5EF4-FFF2-40B4-BE49-F238E27FC236}">
                <a16:creationId xmlns:a16="http://schemas.microsoft.com/office/drawing/2014/main" id="{E766DBFD-917A-4544-9069-1B4E3E2F09A9}"/>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A48D8134-E3AA-E089-B884-B43703E6836D}"/>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1FDBEACA-7F5B-F670-83F7-E886BD15A914}"/>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08913A2F-B7BB-07F7-76C6-A9120AADB57A}"/>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7C83E5CE-C600-8F7E-672A-6A5961CF2B77}"/>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93CEED09-1346-EA9F-3A25-1B594514EFDE}"/>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E5D882C6-B143-DA5C-26C9-8F2CE1E086B2}"/>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CE3B09B5-F658-051C-7370-4BD252C03B64}"/>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E8E16D25-B02E-D9C4-14F8-779DD80B877C}"/>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A020B068-00E4-0A5A-4C07-3C220EEEDD5D}"/>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C79E07BA-6267-77E2-B12C-0C31584F4D38}"/>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D48013B9-EE6F-6F65-D424-C584E32851A7}"/>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AAC9D266-BC9B-56E6-0392-B917744C5A36}"/>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a:extLst>
                  <a:ext uri="{FF2B5EF4-FFF2-40B4-BE49-F238E27FC236}">
                    <a16:creationId xmlns:a16="http://schemas.microsoft.com/office/drawing/2014/main" id="{B3E6D73D-C917-689D-68D8-158AB22389BD}"/>
                  </a:ext>
                </a:extLst>
              </p:cNvPr>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a:extLst>
                  <a:ext uri="{FF2B5EF4-FFF2-40B4-BE49-F238E27FC236}">
                    <a16:creationId xmlns:a16="http://schemas.microsoft.com/office/drawing/2014/main" id="{F31BB8C0-1AA9-15D6-E9D9-EDA2FAD87035}"/>
                  </a:ext>
                </a:extLst>
              </p:cNvPr>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F19CBAA5-F179-84B2-2609-D5F7F7A463B4}"/>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Subtitle 2">
            <a:extLst>
              <a:ext uri="{FF2B5EF4-FFF2-40B4-BE49-F238E27FC236}">
                <a16:creationId xmlns:a16="http://schemas.microsoft.com/office/drawing/2014/main" id="{3DD9EA41-426B-3D8E-FF90-74AC26BC457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428445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527F481-180A-1E46-8094-DC54B8BD08B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88CCC3AD-812B-946A-8556-DA5DC22EF3E3}"/>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10000"/>
          </a:bodyPr>
          <a:lstStyle/>
          <a:p>
            <a:pPr algn="l">
              <a:lnSpc>
                <a:spcPct val="150000"/>
              </a:lnSpc>
              <a:buFont typeface="Wingdings" panose="05000000000000000000" pitchFamily="2" charset="2"/>
              <a:buChar char="q"/>
            </a:pPr>
            <a:r>
              <a:rPr lang="fr-FR" sz="1800" b="1" dirty="0"/>
              <a:t>Analyse des réseaux sociaux : </a:t>
            </a:r>
            <a:r>
              <a:rPr lang="fr-FR" sz="1800" dirty="0"/>
              <a:t>En visualisant les interactions sous forme de connexions dans un graphique, nous pouvons traiter une multitude de situations différentes grâce aux outils d'analyse des réseaux sociaux (ARS). L'ARS nous permet de répondre à des questions telles que :</a:t>
            </a:r>
          </a:p>
          <a:p>
            <a:pPr lvl="1">
              <a:lnSpc>
                <a:spcPct val="150000"/>
              </a:lnSpc>
              <a:buFont typeface="Wingdings" panose="05000000000000000000" pitchFamily="2" charset="2"/>
              <a:buChar char="v"/>
            </a:pPr>
            <a:r>
              <a:rPr lang="fr-FR" sz="1800" dirty="0"/>
              <a:t>Dans quelle mesure deux individus sont-ils étroitement liés ?</a:t>
            </a:r>
          </a:p>
          <a:p>
            <a:pPr lvl="1">
              <a:lnSpc>
                <a:spcPct val="150000"/>
              </a:lnSpc>
              <a:buFont typeface="Wingdings" panose="05000000000000000000" pitchFamily="2" charset="2"/>
              <a:buChar char="v"/>
            </a:pPr>
            <a:r>
              <a:rPr lang="fr-FR" sz="1800" dirty="0"/>
              <a:t>Quels sont les groupes ou clusters principaux au sein des données ?</a:t>
            </a:r>
          </a:p>
          <a:p>
            <a:pPr lvl="1">
              <a:lnSpc>
                <a:spcPct val="150000"/>
              </a:lnSpc>
              <a:buFont typeface="Wingdings" panose="05000000000000000000" pitchFamily="2" charset="2"/>
              <a:buChar char="v"/>
            </a:pPr>
            <a:r>
              <a:rPr lang="fr-FR" sz="1800" dirty="0"/>
              <a:t>Quelle est l’importance de cette personne (ou de cette entreprise) pour le flux d’informations ?</a:t>
            </a:r>
          </a:p>
        </p:txBody>
      </p:sp>
      <p:sp>
        <p:nvSpPr>
          <p:cNvPr id="839" name="Google Shape;839;p27">
            <a:extLst>
              <a:ext uri="{FF2B5EF4-FFF2-40B4-BE49-F238E27FC236}">
                <a16:creationId xmlns:a16="http://schemas.microsoft.com/office/drawing/2014/main" id="{4236D56C-9BF9-FAF8-6E59-178D4D7B27D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637AA143-D9B0-FF8B-417F-1C508B712F1F}"/>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06E9C417-FEE0-F2BF-9913-BEF30B29F49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EC54DC2-BDA6-736C-805B-3B0AB1381924}"/>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1D255A8F-3949-740B-2C4F-2BF68028DA1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5750EFBA-7CD2-2C32-885A-A34F04F73F2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46EBC75-3333-4180-EAEF-3E28C4CEB60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0AF170B4-9DCE-4DA4-8D1C-4CB2EDA1F295}"/>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3ED144C-A5EE-5F3A-4D27-25EFDA0F555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6FCF7944-5CF1-63F2-021A-D4C3707010D9}"/>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D97333F6-46A1-4F19-AEC3-A2F50568DB2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71/98</a:t>
            </a:r>
          </a:p>
        </p:txBody>
      </p:sp>
    </p:spTree>
    <p:extLst>
      <p:ext uri="{BB962C8B-B14F-4D97-AF65-F5344CB8AC3E}">
        <p14:creationId xmlns:p14="http://schemas.microsoft.com/office/powerpoint/2010/main" val="39226407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D37FD0AE-9A77-CEA3-0A9A-0BCF77AA5B90}"/>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EA375186-6717-19B7-CF61-46EE0A387711}"/>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lvl="1">
              <a:lnSpc>
                <a:spcPct val="150000"/>
              </a:lnSpc>
              <a:buFont typeface="Wingdings" panose="05000000000000000000" pitchFamily="2" charset="2"/>
              <a:buChar char="v"/>
            </a:pPr>
            <a:r>
              <a:rPr lang="fr-FR" sz="1800" dirty="0"/>
              <a:t>Quelle est la probabilité que cette personne et cette autre personne se connaissent ?</a:t>
            </a:r>
          </a:p>
        </p:txBody>
      </p:sp>
      <p:sp>
        <p:nvSpPr>
          <p:cNvPr id="839" name="Google Shape;839;p27">
            <a:extLst>
              <a:ext uri="{FF2B5EF4-FFF2-40B4-BE49-F238E27FC236}">
                <a16:creationId xmlns:a16="http://schemas.microsoft.com/office/drawing/2014/main" id="{C19FB8DB-243D-268A-19BF-4FB031039646}"/>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A57FB350-0287-9C34-83C6-82D113FCF2D6}"/>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E9F4B8AF-3FF1-464F-E4F2-806EA8825F10}"/>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4DB0D659-79FD-6DBE-ECE7-962E6A1174B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747E204-9AE4-B651-501C-21BF647EEB49}"/>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95E7CC3-7371-DA9A-D7CB-0818C2F2CAF0}"/>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B505D68B-4B82-B79D-F439-68F6C7F6BE86}"/>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BA6ED7B-63B2-D205-59B7-276306C6C31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C109F6A5-AE06-C80C-DEF4-926AAA5C3F5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7C487C8-DB0D-C3F7-96D4-500CC7FB997D}"/>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2050" name="Picture 2" descr="Un exemple de graphique social">
            <a:extLst>
              <a:ext uri="{FF2B5EF4-FFF2-40B4-BE49-F238E27FC236}">
                <a16:creationId xmlns:a16="http://schemas.microsoft.com/office/drawing/2014/main" id="{3A597A05-3C22-F9FF-D0C5-120FD3054F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1263" y="2535387"/>
            <a:ext cx="4181475" cy="21812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71F1536-9E9E-E501-5348-6E8DC505DA15}"/>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72/98</a:t>
            </a:r>
          </a:p>
        </p:txBody>
      </p:sp>
    </p:spTree>
    <p:extLst>
      <p:ext uri="{BB962C8B-B14F-4D97-AF65-F5344CB8AC3E}">
        <p14:creationId xmlns:p14="http://schemas.microsoft.com/office/powerpoint/2010/main" val="18408564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CBF0FA5-FA78-B7FB-8050-CE7E932142D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721974C-E02E-398A-D06A-1BB369AF08E9}"/>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10000"/>
          </a:bodyPr>
          <a:lstStyle/>
          <a:p>
            <a:pPr algn="l">
              <a:lnSpc>
                <a:spcPct val="150000"/>
              </a:lnSpc>
              <a:buFont typeface="Wingdings" panose="05000000000000000000" pitchFamily="2" charset="2"/>
              <a:buChar char="q"/>
            </a:pPr>
            <a:r>
              <a:rPr lang="fr-FR" sz="1800" b="1" dirty="0" err="1"/>
              <a:t>Geospatial</a:t>
            </a:r>
            <a:r>
              <a:rPr lang="fr-FR" sz="1800" b="1" dirty="0"/>
              <a:t> Primitives </a:t>
            </a:r>
            <a:r>
              <a:rPr lang="fr-FR" sz="1800" dirty="0"/>
              <a:t>: </a:t>
            </a:r>
            <a:r>
              <a:rPr lang="fr-FR" sz="1800" dirty="0" err="1"/>
              <a:t>AllegroGraph</a:t>
            </a:r>
            <a:r>
              <a:rPr lang="fr-FR" sz="1800" dirty="0"/>
              <a:t> excelle dans la gestion des données liées à la localisation, appelées "</a:t>
            </a:r>
            <a:r>
              <a:rPr lang="fr-FR" sz="1800" b="1" dirty="0"/>
              <a:t>géospatiales</a:t>
            </a:r>
            <a:r>
              <a:rPr lang="fr-FR" sz="1800" dirty="0"/>
              <a:t>", qui décrivent des positions à la surface ou autour de la Terre, comme des coordonnées de lieux. Il va plus loin en prenant en charge des données multidimensionnelles (jusqu'à </a:t>
            </a:r>
            <a:r>
              <a:rPr lang="fr-FR" sz="1800" b="1" dirty="0"/>
              <a:t>N dimensions</a:t>
            </a:r>
            <a:r>
              <a:rPr lang="fr-FR" sz="1800" dirty="0"/>
              <a:t>), permettant à l'utilisateur de définir la précision selon ses besoins, par exemple pour des analyses complexes en 2D, 3D ou plus. Cette flexibilité rend </a:t>
            </a:r>
            <a:r>
              <a:rPr lang="fr-FR" sz="1800" dirty="0" err="1"/>
              <a:t>AllegroGraph</a:t>
            </a:r>
            <a:r>
              <a:rPr lang="fr-FR" sz="1800" dirty="0"/>
              <a:t> idéal pour travailler avec des données géographiques ou spatiales variées,</a:t>
            </a:r>
          </a:p>
        </p:txBody>
      </p:sp>
      <p:sp>
        <p:nvSpPr>
          <p:cNvPr id="839" name="Google Shape;839;p27">
            <a:extLst>
              <a:ext uri="{FF2B5EF4-FFF2-40B4-BE49-F238E27FC236}">
                <a16:creationId xmlns:a16="http://schemas.microsoft.com/office/drawing/2014/main" id="{5BD40167-E555-6648-05E6-F0687290488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90408A31-A176-7E87-7D47-6CDF0AA0F9F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E60227FF-9CFE-1944-7C7D-12B81EDCB2A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9C45C4D1-5401-671D-1471-525DF5C90D30}"/>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A73185EB-8109-FA2E-CD52-6E6DCF72AD9D}"/>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E45171F6-9B6C-8D92-951D-8883D050A6EA}"/>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E64B512C-8DDC-ECF9-C21B-8C4BBD860D37}"/>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37BB145-C8EA-406B-1453-5DE6FB12B053}"/>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AD916A58-1050-0988-C779-D98B53395150}"/>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10BAC3D-27E9-7418-92C7-E514357EA7E2}"/>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35A77D69-D286-AB9C-A0F8-5B0403F75FBE}"/>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73/98</a:t>
            </a:r>
          </a:p>
        </p:txBody>
      </p:sp>
    </p:spTree>
    <p:extLst>
      <p:ext uri="{BB962C8B-B14F-4D97-AF65-F5344CB8AC3E}">
        <p14:creationId xmlns:p14="http://schemas.microsoft.com/office/powerpoint/2010/main" val="17432058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DDF8A46-4EC2-F04D-7586-21247E55788F}"/>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8837C00-08F6-9E2B-553A-2822238DFD2C}"/>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20000"/>
          </a:bodyPr>
          <a:lstStyle/>
          <a:p>
            <a:pPr algn="l">
              <a:lnSpc>
                <a:spcPct val="150000"/>
              </a:lnSpc>
              <a:buFont typeface="Wingdings" panose="05000000000000000000" pitchFamily="2" charset="2"/>
              <a:buChar char="q"/>
            </a:pPr>
            <a:r>
              <a:rPr lang="fr-FR" sz="1800" b="1" dirty="0"/>
              <a:t>Temporal Primitives </a:t>
            </a:r>
            <a:r>
              <a:rPr lang="fr-FR" sz="1800" dirty="0"/>
              <a:t>: </a:t>
            </a:r>
            <a:r>
              <a:rPr lang="fr-FR" sz="1800" dirty="0" err="1"/>
              <a:t>AllegroGraph</a:t>
            </a:r>
            <a:r>
              <a:rPr lang="fr-FR" sz="1800" dirty="0"/>
              <a:t> gère efficacement le stockage et la récupération de données liées au temps, comme les </a:t>
            </a:r>
            <a:r>
              <a:rPr lang="fr-FR" sz="1800" b="1" dirty="0"/>
              <a:t>dates et heures</a:t>
            </a:r>
            <a:r>
              <a:rPr lang="fr-FR" sz="1800" dirty="0"/>
              <a:t> (au format ISO8601, ex. : « 2008-02-01T00:00:00-08:00 »), les </a:t>
            </a:r>
            <a:r>
              <a:rPr lang="fr-FR" sz="1800" b="1" dirty="0"/>
              <a:t>points temporels</a:t>
            </a:r>
            <a:r>
              <a:rPr lang="fr-FR" sz="1800" dirty="0"/>
              <a:t> (ex. : début d’une réunion) et les </a:t>
            </a:r>
            <a:r>
              <a:rPr lang="fr-FR" sz="1800" b="1" dirty="0"/>
              <a:t>intervalles de temps </a:t>
            </a:r>
            <a:r>
              <a:rPr lang="fr-FR" sz="1800" dirty="0"/>
              <a:t>(ex. : période entre deux événements). Une fois ces données encodées, les applications peuvent effectuer des requêtes avec diverses contraintes temporelles, telles que comparer des points avec des dates, des intervalles avec des dates, ou établir des relations entre deux points ou deux intervalles, rendant l’analyse temporelle très flexible.</a:t>
            </a:r>
          </a:p>
        </p:txBody>
      </p:sp>
      <p:sp>
        <p:nvSpPr>
          <p:cNvPr id="839" name="Google Shape;839;p27">
            <a:extLst>
              <a:ext uri="{FF2B5EF4-FFF2-40B4-BE49-F238E27FC236}">
                <a16:creationId xmlns:a16="http://schemas.microsoft.com/office/drawing/2014/main" id="{F765C412-D174-0622-A62B-2DF30B9A219B}"/>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0809C049-D27A-4DA5-4CA4-1201B798891D}"/>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F25876FB-05D6-ABE5-1F28-EE003519B52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533408BC-DB5C-3320-455A-4C3AE400A1FD}"/>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4597060-4E77-7A3D-21D0-30FC60DFBA7F}"/>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BB41461B-9A2C-912A-C426-3C168AC67519}"/>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BFB13E8-757A-78DA-5911-50FB5151BFC6}"/>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870BB45E-0B79-CDB9-C417-BC3063477C6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980211F1-09DB-A5EC-19DE-1EB46EBA5C0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EEC94E2-863F-08B8-B33D-065D6DD6D6EF}"/>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E3B105FB-6CF5-76E8-EE4D-4C41C4264808}"/>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74/98</a:t>
            </a:r>
          </a:p>
        </p:txBody>
      </p:sp>
    </p:spTree>
    <p:extLst>
      <p:ext uri="{BB962C8B-B14F-4D97-AF65-F5344CB8AC3E}">
        <p14:creationId xmlns:p14="http://schemas.microsoft.com/office/powerpoint/2010/main" val="9634950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6B9B0E88-8A56-CD05-1B7A-83E38DB8AAB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0148EAD-6ED0-D95C-F098-1195FCB0EAF1}"/>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85000" lnSpcReduction="10000"/>
          </a:bodyPr>
          <a:lstStyle/>
          <a:p>
            <a:pPr algn="l">
              <a:lnSpc>
                <a:spcPct val="150000"/>
              </a:lnSpc>
              <a:buFont typeface="Wingdings" panose="05000000000000000000" pitchFamily="2" charset="2"/>
              <a:buChar char="q"/>
            </a:pPr>
            <a:r>
              <a:rPr lang="fr-FR" sz="1800" b="1" dirty="0"/>
              <a:t>Raisonnement RDFS++</a:t>
            </a:r>
            <a:r>
              <a:rPr lang="fr-FR" sz="1800" dirty="0"/>
              <a:t>: Les moteurs de raisonnement basés sur la logique descriptive ou OWL sont efficaces pour gérer des ontologies complexes et fournissent des réponses complètes, mais leurs temps d'exécution deviennent imprévisibles lorsque le nombre d'individus dépasse des millions. Le raisonnement RDFS++ d'</a:t>
            </a:r>
            <a:r>
              <a:rPr lang="fr-FR" sz="1800" dirty="0" err="1"/>
              <a:t>AllegroGraph</a:t>
            </a:r>
            <a:r>
              <a:rPr lang="fr-FR" sz="1800" dirty="0"/>
              <a:t> (voir RDFS++ </a:t>
            </a:r>
            <a:r>
              <a:rPr lang="fr-FR" sz="1800" dirty="0" err="1"/>
              <a:t>Reasoning</a:t>
            </a:r>
            <a:r>
              <a:rPr lang="fr-FR" sz="1800" dirty="0"/>
              <a:t>) prend en charge tous les prédicats RDFS ainsi que certains prédicats OWL, offrant des performances rapides et prévisibles, bien qu'il ne soit pas complet. Les prédicats supportés incluent : </a:t>
            </a:r>
            <a:r>
              <a:rPr lang="fr-FR" sz="1800" b="1" dirty="0" err="1"/>
              <a:t>rdf:type</a:t>
            </a:r>
            <a:r>
              <a:rPr lang="fr-FR" sz="1800" dirty="0"/>
              <a:t> et </a:t>
            </a:r>
            <a:r>
              <a:rPr lang="fr-FR" sz="1800" b="1" dirty="0" err="1"/>
              <a:t>rdfs:subClassOf</a:t>
            </a:r>
            <a:r>
              <a:rPr lang="fr-FR" sz="1800" dirty="0"/>
              <a:t>, </a:t>
            </a:r>
            <a:r>
              <a:rPr lang="fr-FR" sz="1800" b="1" dirty="0" err="1"/>
              <a:t>rdfs:range</a:t>
            </a:r>
            <a:r>
              <a:rPr lang="fr-FR" sz="1800" b="1" dirty="0"/>
              <a:t> </a:t>
            </a:r>
            <a:r>
              <a:rPr lang="fr-FR" sz="1800" dirty="0"/>
              <a:t>et </a:t>
            </a:r>
            <a:r>
              <a:rPr lang="fr-FR" sz="1800" b="1" dirty="0" err="1"/>
              <a:t>rdfs:domain</a:t>
            </a:r>
            <a:r>
              <a:rPr lang="fr-FR" sz="1800" b="1" dirty="0"/>
              <a:t>, </a:t>
            </a:r>
            <a:r>
              <a:rPr lang="fr-FR" sz="1800" b="1" dirty="0" err="1"/>
              <a:t>rdfs:subPropertyOf</a:t>
            </a:r>
            <a:r>
              <a:rPr lang="fr-FR" sz="1800" dirty="0"/>
              <a:t>, </a:t>
            </a:r>
            <a:r>
              <a:rPr lang="fr-FR" sz="1800" b="1" dirty="0" err="1"/>
              <a:t>owl:sameAs</a:t>
            </a:r>
            <a:r>
              <a:rPr lang="fr-FR" sz="1800" dirty="0"/>
              <a:t>, </a:t>
            </a:r>
            <a:r>
              <a:rPr lang="fr-FR" sz="1800" b="1" dirty="0" err="1"/>
              <a:t>owl:inverseOf</a:t>
            </a:r>
            <a:r>
              <a:rPr lang="fr-FR" sz="1800" dirty="0"/>
              <a:t>, </a:t>
            </a:r>
            <a:r>
              <a:rPr lang="fr-FR" sz="1800" b="1" dirty="0" err="1"/>
              <a:t>owl:SymmetricProperty</a:t>
            </a:r>
            <a:r>
              <a:rPr lang="fr-FR" sz="1800" dirty="0"/>
              <a:t>, et </a:t>
            </a:r>
            <a:r>
              <a:rPr lang="fr-FR" sz="1800" b="1" dirty="0" err="1"/>
              <a:t>owl:TransitiveProperty</a:t>
            </a:r>
            <a:r>
              <a:rPr lang="fr-FR" sz="1800" dirty="0"/>
              <a:t>.</a:t>
            </a:r>
          </a:p>
        </p:txBody>
      </p:sp>
      <p:sp>
        <p:nvSpPr>
          <p:cNvPr id="839" name="Google Shape;839;p27">
            <a:extLst>
              <a:ext uri="{FF2B5EF4-FFF2-40B4-BE49-F238E27FC236}">
                <a16:creationId xmlns:a16="http://schemas.microsoft.com/office/drawing/2014/main" id="{422C898E-444F-2A37-6F01-4BD54F3393F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630AD877-F04D-1192-1BC8-06FF58A4989E}"/>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89B3711-CB45-03A4-FDC6-4389CEF77CFE}"/>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5AC5DBAD-33ED-1124-47ED-C5B1410E762D}"/>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64D5B041-DF9D-F167-8DF4-AB2F118D9E6F}"/>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B906FD3C-EBAA-FB06-6440-1CE9C1D501D7}"/>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DE329A8-857C-64CE-4DF6-8D9E3E9EE3D5}"/>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0A50569B-F742-D64A-06ED-1AD6D06CBF14}"/>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C5983068-D3ED-A593-8DC8-A4351633D8D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4A3C96E-2E81-6F42-6A43-07253F3D0257}"/>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F1AA3747-0BE3-AD84-56A3-09181244F65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75/98</a:t>
            </a:r>
          </a:p>
        </p:txBody>
      </p:sp>
    </p:spTree>
    <p:extLst>
      <p:ext uri="{BB962C8B-B14F-4D97-AF65-F5344CB8AC3E}">
        <p14:creationId xmlns:p14="http://schemas.microsoft.com/office/powerpoint/2010/main" val="1796725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63F4C185-22DA-4580-129F-BC0B38219A13}"/>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3DE82CF0-43A5-09EC-AA03-526451C52028}"/>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algn="l">
              <a:lnSpc>
                <a:spcPct val="150000"/>
              </a:lnSpc>
              <a:buFont typeface="Wingdings" panose="05000000000000000000" pitchFamily="2" charset="2"/>
              <a:buChar char="q"/>
            </a:pPr>
            <a:r>
              <a:rPr lang="fr-FR" sz="1800" b="1" dirty="0"/>
              <a:t>Coordination du centre de données </a:t>
            </a:r>
            <a:r>
              <a:rPr lang="fr-FR" sz="1800" dirty="0"/>
              <a:t>: </a:t>
            </a:r>
            <a:r>
              <a:rPr lang="fr-FR" sz="1800" dirty="0" err="1"/>
              <a:t>AllegroGraph</a:t>
            </a:r>
            <a:r>
              <a:rPr lang="fr-FR" sz="1800" dirty="0"/>
              <a:t> peut être exécuté sur plusieurs serveurs dans des emplacements très éloignés.</a:t>
            </a:r>
          </a:p>
        </p:txBody>
      </p:sp>
      <p:sp>
        <p:nvSpPr>
          <p:cNvPr id="839" name="Google Shape;839;p27">
            <a:extLst>
              <a:ext uri="{FF2B5EF4-FFF2-40B4-BE49-F238E27FC236}">
                <a16:creationId xmlns:a16="http://schemas.microsoft.com/office/drawing/2014/main" id="{D109DDD9-E9BF-F9EB-CAED-C2081C6C32E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F2862BE4-17C9-E6AA-4CAB-3E755ACC65F5}"/>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FBFE6971-34C9-AB62-5BB4-EE88E1CFEB8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2218AB91-FC92-6CE8-D6CA-FD92FE81B45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02B94DD9-DAFB-016B-B4A4-1847A0B20895}"/>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A34EE798-39CC-9F81-4F3A-D2D708FD416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B76AD20A-D079-A113-57CD-978C40334E5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D544A4C-0133-A012-6F76-7BC8C292C8DC}"/>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8362128D-6E90-FE1D-FED6-68190DA5DF9A}"/>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BC5B6701-A96A-C87F-6943-7ADC0D9FEA12}"/>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3074" name="Picture 2" descr="Centres de données répartis à l'échelle mondiale">
            <a:extLst>
              <a:ext uri="{FF2B5EF4-FFF2-40B4-BE49-F238E27FC236}">
                <a16:creationId xmlns:a16="http://schemas.microsoft.com/office/drawing/2014/main" id="{3996D735-DDB6-DA35-F0C4-6201D67F2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4482" y="2474654"/>
            <a:ext cx="3755036" cy="23674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7C2D70C-B8AB-9BA6-045B-E8FE0170C943}"/>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76/98</a:t>
            </a:r>
          </a:p>
        </p:txBody>
      </p:sp>
    </p:spTree>
    <p:extLst>
      <p:ext uri="{BB962C8B-B14F-4D97-AF65-F5344CB8AC3E}">
        <p14:creationId xmlns:p14="http://schemas.microsoft.com/office/powerpoint/2010/main" val="2378001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34A517B-880B-F305-5AB9-BCF307B4CCC4}"/>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0BEA16ED-F7BD-CC26-7DF5-A9655DA724FE}"/>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596900" lvl="1" indent="0">
              <a:lnSpc>
                <a:spcPct val="150000"/>
              </a:lnSpc>
            </a:pPr>
            <a:r>
              <a:rPr lang="fr-FR" sz="1800" dirty="0" err="1"/>
              <a:t>AllegroGraph</a:t>
            </a:r>
            <a:r>
              <a:rPr lang="fr-FR" sz="1800" dirty="0"/>
              <a:t> prend en charge la </a:t>
            </a:r>
            <a:r>
              <a:rPr lang="fr-FR" sz="1800" b="1" dirty="0"/>
              <a:t>réplication </a:t>
            </a:r>
            <a:r>
              <a:rPr lang="fr-FR" sz="1800" b="1" dirty="0" err="1"/>
              <a:t>MultiMaster</a:t>
            </a:r>
            <a:r>
              <a:rPr lang="fr-FR" sz="1800" b="1" dirty="0"/>
              <a:t> (MMR)</a:t>
            </a:r>
            <a:r>
              <a:rPr lang="fr-FR" sz="1800" dirty="0"/>
              <a:t> qui permet aux référentiels de chaque centre de données d'être synchronisés afin que tous voient les mêmes données (en tenant bien sûr compte du temps de communication réseau).</a:t>
            </a:r>
          </a:p>
        </p:txBody>
      </p:sp>
      <p:sp>
        <p:nvSpPr>
          <p:cNvPr id="839" name="Google Shape;839;p27">
            <a:extLst>
              <a:ext uri="{FF2B5EF4-FFF2-40B4-BE49-F238E27FC236}">
                <a16:creationId xmlns:a16="http://schemas.microsoft.com/office/drawing/2014/main" id="{2E54271E-DA7E-DF3C-917F-90C94AABD67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16A667E3-C86E-7245-2D1C-CD4DEB44730C}"/>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5FD9341F-E599-4E87-FBBA-F5237424AC52}"/>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CE673A8-C962-710B-B2AA-5D40BFF9B8FE}"/>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E384F414-D0B6-40FF-4D54-54DD4AE7B755}"/>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114371C5-A4CF-CC8F-25C8-3E60CF7723E4}"/>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13723774-6EF5-AD58-C8F3-17937A7DCF5A}"/>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51A084D2-529B-60DE-AAAD-BFAB4940C505}"/>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227ABD56-F32B-FECF-C607-6A4D2CF68EE2}"/>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71BE801A-FA44-4199-CED7-2C96B8C3390B}"/>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F3929F7E-903C-A821-2561-155CDAB872D3}"/>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77/98</a:t>
            </a:r>
          </a:p>
        </p:txBody>
      </p:sp>
    </p:spTree>
    <p:extLst>
      <p:ext uri="{BB962C8B-B14F-4D97-AF65-F5344CB8AC3E}">
        <p14:creationId xmlns:p14="http://schemas.microsoft.com/office/powerpoint/2010/main" val="30298347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12A80D2-9418-7780-8492-885672ACAB4A}"/>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07E8ED1D-B619-E924-FCE8-CE1E49AD44B2}"/>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10000"/>
          </a:bodyPr>
          <a:lstStyle/>
          <a:p>
            <a:pPr algn="l">
              <a:lnSpc>
                <a:spcPct val="150000"/>
              </a:lnSpc>
              <a:buFont typeface="Wingdings" panose="05000000000000000000" pitchFamily="2" charset="2"/>
              <a:buChar char="q"/>
            </a:pPr>
            <a:r>
              <a:rPr lang="fr-FR" sz="1800" b="1" dirty="0"/>
              <a:t>Gestion de très grands ensembles de données à l'aide d'</a:t>
            </a:r>
            <a:r>
              <a:rPr lang="fr-FR" sz="1800" b="1" dirty="0" err="1"/>
              <a:t>AllegroGraph</a:t>
            </a:r>
            <a:r>
              <a:rPr lang="fr-FR" sz="1800" b="1" dirty="0"/>
              <a:t> </a:t>
            </a:r>
            <a:r>
              <a:rPr lang="fr-FR" sz="1800" b="1" dirty="0" err="1"/>
              <a:t>FedShard</a:t>
            </a:r>
            <a:r>
              <a:rPr lang="fr-FR" sz="1800" b="1" dirty="0"/>
              <a:t> </a:t>
            </a:r>
            <a:r>
              <a:rPr lang="fr-FR" sz="1800" dirty="0"/>
              <a:t>: </a:t>
            </a:r>
            <a:r>
              <a:rPr lang="fr-FR" sz="1800" dirty="0" err="1"/>
              <a:t>AllegroGraph</a:t>
            </a:r>
            <a:r>
              <a:rPr lang="fr-FR" sz="1800" dirty="0"/>
              <a:t> </a:t>
            </a:r>
            <a:r>
              <a:rPr lang="fr-FR" sz="1800" dirty="0" err="1"/>
              <a:t>FedShard</a:t>
            </a:r>
            <a:r>
              <a:rPr lang="fr-FR" sz="1800" dirty="0"/>
              <a:t>™ permet de gérer de vastes quantités de données en les </a:t>
            </a:r>
            <a:r>
              <a:rPr lang="fr-FR" sz="1800" b="1" dirty="0"/>
              <a:t>répartissant sur plusieurs serveurs via des référentiels distincts</a:t>
            </a:r>
            <a:r>
              <a:rPr lang="fr-FR" sz="1800" dirty="0"/>
              <a:t>. Ces données sont </a:t>
            </a:r>
            <a:r>
              <a:rPr lang="fr-FR" sz="1800" b="1" dirty="0"/>
              <a:t>divisées en fragments selon des critères spécifiques</a:t>
            </a:r>
            <a:r>
              <a:rPr lang="fr-FR" sz="1800" dirty="0"/>
              <a:t> (par exemple, toutes les informations d’un même patient dans un hôpital iraient dans un même fragment), tout en </a:t>
            </a:r>
            <a:r>
              <a:rPr lang="fr-FR" sz="1800" b="1" dirty="0"/>
              <a:t>partageant une base de connaissances commune</a:t>
            </a:r>
            <a:r>
              <a:rPr lang="fr-FR" sz="1800" dirty="0"/>
              <a:t>, comme des ontologies médicales stockées séparément.</a:t>
            </a:r>
          </a:p>
        </p:txBody>
      </p:sp>
      <p:sp>
        <p:nvSpPr>
          <p:cNvPr id="839" name="Google Shape;839;p27">
            <a:extLst>
              <a:ext uri="{FF2B5EF4-FFF2-40B4-BE49-F238E27FC236}">
                <a16:creationId xmlns:a16="http://schemas.microsoft.com/office/drawing/2014/main" id="{340D2B71-F42F-CECD-F947-378AC2C2C4F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18E3AA85-4DC7-0136-D548-19649FDA3736}"/>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DF022376-C2BC-BBFF-2311-AEB36CE31857}"/>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0DE43E87-D79C-ABF2-D633-C2A0D2C7FBBE}"/>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0D79D1C-1D58-7F7E-18A4-100DE6909FA9}"/>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3163AF73-99A6-3F0A-43FF-C55243E94864}"/>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A6194611-DF14-511B-8751-D01B3D95427F}"/>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6EDA1880-CFB1-2977-608E-C7D56DF082A9}"/>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F0CE7098-C212-2E0B-AE65-91ABE7084390}"/>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71F393F-5484-9F12-17D8-2366ED271D1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0F7331BD-34C0-47D9-C354-7812176056B8}"/>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78/98</a:t>
            </a:r>
          </a:p>
        </p:txBody>
      </p:sp>
    </p:spTree>
    <p:extLst>
      <p:ext uri="{BB962C8B-B14F-4D97-AF65-F5344CB8AC3E}">
        <p14:creationId xmlns:p14="http://schemas.microsoft.com/office/powerpoint/2010/main" val="60434841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2DD4F63-F015-3BFA-B629-0F1E6820CF41}"/>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D19B2F06-9D9C-C9DA-DA4A-EAA7D885C018}"/>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596900" lvl="1" indent="0">
              <a:lnSpc>
                <a:spcPct val="150000"/>
              </a:lnSpc>
            </a:pPr>
            <a:r>
              <a:rPr lang="fr-FR" sz="1800" dirty="0"/>
              <a:t>Les requêtes envoyées à ce système distribué sont traitées simultanément sur chaque fragment, et les résultats sont ensuite réunis, permettant d’exécuter rapidement et efficacement des recherches complexes, même sur des données très dispersées.</a:t>
            </a:r>
          </a:p>
        </p:txBody>
      </p:sp>
      <p:sp>
        <p:nvSpPr>
          <p:cNvPr id="839" name="Google Shape;839;p27">
            <a:extLst>
              <a:ext uri="{FF2B5EF4-FFF2-40B4-BE49-F238E27FC236}">
                <a16:creationId xmlns:a16="http://schemas.microsoft.com/office/drawing/2014/main" id="{1AADC3DF-CD42-334F-DC39-3F298965E17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A123FBD7-515C-AAED-BF15-D21D0357124A}"/>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8DA6B29-CBD5-8323-9B33-31F803A2013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5DAD55AB-330E-E30C-7596-CB062783186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5E26523F-EAF8-9E61-8A76-7131ADE43F8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BCBE911-D7A9-B053-2466-C98832181BE0}"/>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E19AB0D-B071-579D-9DFF-ABD504D39BE3}"/>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7CCD623-F2B3-4908-F1C8-137F7E83BE1C}"/>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89549FC-AF6E-0153-C2B8-02033F8BFCB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E770EE3A-CCEF-7E24-7826-0E1728DA83E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395D0B67-A1DD-EDE1-84CA-41ADA81696C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79/98</a:t>
            </a:r>
          </a:p>
        </p:txBody>
      </p:sp>
    </p:spTree>
    <p:extLst>
      <p:ext uri="{BB962C8B-B14F-4D97-AF65-F5344CB8AC3E}">
        <p14:creationId xmlns:p14="http://schemas.microsoft.com/office/powerpoint/2010/main" val="35027247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90B2292-E831-3D2F-CE64-42E0DC0D7070}"/>
            </a:ext>
          </a:extLst>
        </p:cNvPr>
        <p:cNvGrpSpPr/>
        <p:nvPr/>
      </p:nvGrpSpPr>
      <p:grpSpPr>
        <a:xfrm>
          <a:off x="0" y="0"/>
          <a:ext cx="0" cy="0"/>
          <a:chOff x="0" y="0"/>
          <a:chExt cx="0" cy="0"/>
        </a:xfrm>
      </p:grpSpPr>
      <p:sp>
        <p:nvSpPr>
          <p:cNvPr id="839" name="Google Shape;839;p27">
            <a:extLst>
              <a:ext uri="{FF2B5EF4-FFF2-40B4-BE49-F238E27FC236}">
                <a16:creationId xmlns:a16="http://schemas.microsoft.com/office/drawing/2014/main" id="{B72703DC-DA9B-C4BE-BF82-C0E0726A1A65}"/>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706834DF-B552-B438-40C6-F74A597D3DB7}"/>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48946675-C2D0-F0CB-CCB3-F9CFD61426F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3D724742-99B0-E0C4-B388-821439C97F2E}"/>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47D66D5C-5F71-A15F-1914-E69324F4EFFA}"/>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DCBCFE2E-D817-457F-7A41-E3B00106B33C}"/>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7E3C8DE-252F-3E75-DF6F-22E3676F9343}"/>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BBA59A50-F497-7E1C-90D8-6C6DE14F058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AB4F7E2B-9DA7-047B-AEEA-3A01463D18BC}"/>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5EF7840-58C1-61A2-7735-D59A53E520B0}"/>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4098" name="Picture 2" descr="Utilisation des fragments et de la fédération pour les très grands ensembles de données">
            <a:extLst>
              <a:ext uri="{FF2B5EF4-FFF2-40B4-BE49-F238E27FC236}">
                <a16:creationId xmlns:a16="http://schemas.microsoft.com/office/drawing/2014/main" id="{E705677B-3906-A812-BDEE-FE7F830325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7923" y="1771362"/>
            <a:ext cx="5168153" cy="29070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1E59D02-C591-B2C4-6CBD-012DAFE62F3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80/98</a:t>
            </a:r>
          </a:p>
        </p:txBody>
      </p:sp>
    </p:spTree>
    <p:extLst>
      <p:ext uri="{BB962C8B-B14F-4D97-AF65-F5344CB8AC3E}">
        <p14:creationId xmlns:p14="http://schemas.microsoft.com/office/powerpoint/2010/main" val="13552329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EB15D80C-8E7D-44E9-0C38-DE4135489802}"/>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344BEC9A-85D2-6494-3C4F-6BE8877358B8}"/>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596900" lvl="1" indent="0">
              <a:lnSpc>
                <a:spcPct val="150000"/>
              </a:lnSpc>
            </a:pPr>
            <a:r>
              <a:rPr lang="fr-FR" sz="1800" dirty="0"/>
              <a:t>Au sommet, on voit trois bases de connaissances (</a:t>
            </a:r>
            <a:r>
              <a:rPr lang="fr-FR" sz="1800" dirty="0" err="1"/>
              <a:t>Knowledge</a:t>
            </a:r>
            <a:r>
              <a:rPr lang="fr-FR" sz="1800" dirty="0"/>
              <a:t> Base #1, #2, #3) en vert. Ce sont des ensembles d'informations importantes qui ne sont pas divisées (non </a:t>
            </a:r>
            <a:r>
              <a:rPr lang="fr-FR" sz="1800" dirty="0" err="1"/>
              <a:t>partitionnables</a:t>
            </a:r>
            <a:r>
              <a:rPr lang="fr-FR" sz="1800" dirty="0"/>
              <a:t>). Elles servent à toutes les recherches et restent accessibles partout.</a:t>
            </a:r>
          </a:p>
          <a:p>
            <a:pPr marL="596900" lvl="1" indent="0">
              <a:lnSpc>
                <a:spcPct val="150000"/>
              </a:lnSpc>
            </a:pPr>
            <a:r>
              <a:rPr lang="fr-FR" sz="1800" dirty="0"/>
              <a:t>En dessous, il y a six fragments (</a:t>
            </a:r>
            <a:r>
              <a:rPr lang="fr-FR" sz="1800" dirty="0" err="1"/>
              <a:t>Shard</a:t>
            </a:r>
            <a:r>
              <a:rPr lang="fr-FR" sz="1800" dirty="0"/>
              <a:t> #1 à </a:t>
            </a:r>
            <a:r>
              <a:rPr lang="fr-FR" sz="1800" dirty="0" err="1"/>
              <a:t>Shard</a:t>
            </a:r>
            <a:r>
              <a:rPr lang="fr-FR" sz="1800" dirty="0"/>
              <a:t> #n) en bleu. Ces fragments contiennent des données qui peuvent être divisées en petites parties.</a:t>
            </a:r>
          </a:p>
        </p:txBody>
      </p:sp>
      <p:sp>
        <p:nvSpPr>
          <p:cNvPr id="839" name="Google Shape;839;p27">
            <a:extLst>
              <a:ext uri="{FF2B5EF4-FFF2-40B4-BE49-F238E27FC236}">
                <a16:creationId xmlns:a16="http://schemas.microsoft.com/office/drawing/2014/main" id="{0485FAB0-A068-4395-80D9-C5EF47BBEFCA}"/>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1F01991F-80ED-AF09-D398-0A0E4742FAA5}"/>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CEB62F26-15AE-5EDD-0C51-38431DD42DE9}"/>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D421DF47-748D-B784-3D43-4FD3412F88F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E9307277-AF94-BA3B-AFBC-233C3D9C879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DC2545F2-5784-089B-1C98-8D876C60359B}"/>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7169A8F0-A918-8D7F-573C-29AA83DDF89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FBE0437-B283-357D-5779-AB5DB881550B}"/>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5BB5B26F-0605-C13A-1F28-CEB71A9D3AC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EEAAD631-11B3-D6F6-962B-20D06B88C544}"/>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2E2EE729-AA84-F929-6968-B7E9F35125F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81/98</a:t>
            </a:r>
          </a:p>
        </p:txBody>
      </p:sp>
    </p:spTree>
    <p:extLst>
      <p:ext uri="{BB962C8B-B14F-4D97-AF65-F5344CB8AC3E}">
        <p14:creationId xmlns:p14="http://schemas.microsoft.com/office/powerpoint/2010/main" val="155377745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D569A25-ED56-21A9-ADE6-4A80A607D45F}"/>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2093B050-9E9E-3DF5-C91D-922403C91E13}"/>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596900" lvl="1" indent="0">
              <a:lnSpc>
                <a:spcPct val="150000"/>
              </a:lnSpc>
            </a:pPr>
            <a:r>
              <a:rPr lang="fr-FR" sz="1800" dirty="0"/>
              <a:t>Chaque fragment est connecté (fédéré) avec toutes les bases de connaissances en vert, comme des ponts qui relient les informations. Les lignes noires montrent ces connexions entre les fragments et les bases de connaissances.</a:t>
            </a:r>
          </a:p>
          <a:p>
            <a:pPr marL="596900" lvl="1" indent="0">
              <a:lnSpc>
                <a:spcPct val="150000"/>
              </a:lnSpc>
            </a:pPr>
            <a:r>
              <a:rPr lang="fr-FR" sz="1800" dirty="0"/>
              <a:t>Quand tu fais une recherche, elle est envoyée en même temps (en parallèle) à chaque groupe de connexion (fédération) entre un fragment et les bases de connaissances.</a:t>
            </a:r>
          </a:p>
        </p:txBody>
      </p:sp>
      <p:sp>
        <p:nvSpPr>
          <p:cNvPr id="839" name="Google Shape;839;p27">
            <a:extLst>
              <a:ext uri="{FF2B5EF4-FFF2-40B4-BE49-F238E27FC236}">
                <a16:creationId xmlns:a16="http://schemas.microsoft.com/office/drawing/2014/main" id="{76D52B17-553E-A83F-9813-86EAF66872E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23C056A8-5361-A04D-6CDB-B5B52EE66B5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8FE984BC-49C1-D636-2AB3-F99CAD8E381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A1810A58-2603-79FF-83A1-6FAAC2A4C21D}"/>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CC2C3DEB-8FCB-E7B3-50EC-318EC1DEC982}"/>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4AE836DF-5205-2289-D699-611BBF7A47A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A6479FB7-B480-BA45-B5D2-0075A3D65A91}"/>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B7BD84AF-8287-967B-979F-5CA9717C0238}"/>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2D909490-422A-E01C-B40A-DFC7A3CCF552}"/>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F759E5C-43C4-FF52-84A2-07D3760AE9F6}"/>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CB3C815D-5785-55B8-1EA5-16C177314D40}"/>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82/98</a:t>
            </a:r>
          </a:p>
        </p:txBody>
      </p:sp>
    </p:spTree>
    <p:extLst>
      <p:ext uri="{BB962C8B-B14F-4D97-AF65-F5344CB8AC3E}">
        <p14:creationId xmlns:p14="http://schemas.microsoft.com/office/powerpoint/2010/main" val="15084422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2CEC479-6CDD-513C-7349-BCEAE10E733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3B48A54-3C8F-2C95-0DDF-75BDE005B84D}"/>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596900" lvl="1" indent="0">
              <a:lnSpc>
                <a:spcPct val="150000"/>
              </a:lnSpc>
            </a:pPr>
            <a:r>
              <a:rPr lang="fr-FR" sz="1800" dirty="0"/>
              <a:t>Par exemple, </a:t>
            </a:r>
            <a:r>
              <a:rPr lang="fr-FR" sz="1800" dirty="0" err="1"/>
              <a:t>Federation</a:t>
            </a:r>
            <a:r>
              <a:rPr lang="fr-FR" sz="1800" dirty="0"/>
              <a:t> #1 travaille avec </a:t>
            </a:r>
            <a:r>
              <a:rPr lang="fr-FR" sz="1800" dirty="0" err="1"/>
              <a:t>Shard</a:t>
            </a:r>
            <a:r>
              <a:rPr lang="fr-FR" sz="1800" dirty="0"/>
              <a:t> #1, et </a:t>
            </a:r>
            <a:r>
              <a:rPr lang="fr-FR" sz="1800" dirty="0" err="1"/>
              <a:t>Federation</a:t>
            </a:r>
            <a:r>
              <a:rPr lang="fr-FR" sz="1800" dirty="0"/>
              <a:t> #n avec </a:t>
            </a:r>
            <a:r>
              <a:rPr lang="fr-FR" sz="1800" dirty="0" err="1"/>
              <a:t>Shard</a:t>
            </a:r>
            <a:r>
              <a:rPr lang="fr-FR" sz="1800" dirty="0"/>
              <a:t> #n, et tous fonctionnent ensemble.</a:t>
            </a:r>
          </a:p>
          <a:p>
            <a:pPr marL="596900" lvl="1" indent="0">
              <a:lnSpc>
                <a:spcPct val="150000"/>
              </a:lnSpc>
            </a:pPr>
            <a:r>
              <a:rPr lang="fr-FR" sz="1800" dirty="0"/>
              <a:t>Les </a:t>
            </a:r>
            <a:r>
              <a:rPr lang="fr-FR" sz="1800" dirty="0" err="1"/>
              <a:t>ragments</a:t>
            </a:r>
            <a:r>
              <a:rPr lang="fr-FR" sz="1800" dirty="0"/>
              <a:t> n’ont pas besoin d’être sur le même ordinateur ou dans la même copie d’</a:t>
            </a:r>
            <a:r>
              <a:rPr lang="fr-FR" sz="1800" dirty="0" err="1"/>
              <a:t>AllegroGraph</a:t>
            </a:r>
            <a:r>
              <a:rPr lang="fr-FR" sz="1800" dirty="0"/>
              <a:t>. Ils peuvent être sur différents serveurs, un peu comme si chaque fragment vivait à sa propre adresse, mais ils restent tous reliés pour travailler ensemble</a:t>
            </a:r>
          </a:p>
        </p:txBody>
      </p:sp>
      <p:sp>
        <p:nvSpPr>
          <p:cNvPr id="839" name="Google Shape;839;p27">
            <a:extLst>
              <a:ext uri="{FF2B5EF4-FFF2-40B4-BE49-F238E27FC236}">
                <a16:creationId xmlns:a16="http://schemas.microsoft.com/office/drawing/2014/main" id="{47289308-B5B9-B43F-C12D-A106E857DB04}"/>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F6203EC1-AA27-9984-4BC2-33E66E80C49C}"/>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D51F861-09C2-E49F-3DC2-0399019FBB9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08ECB7D2-D679-B976-76AF-93E56005F6BE}"/>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9931EF6-EE10-3BA2-6BA7-4016EC86B81D}"/>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2F2F4B67-077A-5EC3-0C1E-ECD2860A934F}"/>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C4DA7773-C905-C324-5B1C-DBC9A68BC1F2}"/>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397D3328-09AC-B587-68B6-2E9FC0511D63}"/>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851F23B5-3F62-2E88-872D-226DA6FC46DA}"/>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7BF6A1F-2396-2D9C-04ED-231E7BF35937}"/>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043CEB01-95E3-B622-2109-D6729EF05E9F}"/>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83/98</a:t>
            </a:r>
          </a:p>
        </p:txBody>
      </p:sp>
    </p:spTree>
    <p:extLst>
      <p:ext uri="{BB962C8B-B14F-4D97-AF65-F5344CB8AC3E}">
        <p14:creationId xmlns:p14="http://schemas.microsoft.com/office/powerpoint/2010/main" val="142923091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4D2DB4C1-7DB9-9A2E-D71B-864EE82F814E}"/>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09E70521-7672-8F05-C90C-41455D1A7A3D}"/>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596900" lvl="1" indent="0">
              <a:lnSpc>
                <a:spcPct val="150000"/>
              </a:lnSpc>
            </a:pPr>
            <a:endParaRPr lang="fr-FR" sz="1800" dirty="0"/>
          </a:p>
        </p:txBody>
      </p:sp>
      <p:sp>
        <p:nvSpPr>
          <p:cNvPr id="839" name="Google Shape;839;p27">
            <a:extLst>
              <a:ext uri="{FF2B5EF4-FFF2-40B4-BE49-F238E27FC236}">
                <a16:creationId xmlns:a16="http://schemas.microsoft.com/office/drawing/2014/main" id="{604D04D3-70F6-CB20-98D3-1415F54D102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F4D6AE7E-8C61-7484-49DD-BEBD4C85F652}"/>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932D4D8-29D3-CF49-CFC2-FA29359CDA91}"/>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A559D7F6-D411-80DA-22F6-A61BA396B84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A860084F-876E-257F-C76E-C03D1947EEBE}"/>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D9E2C732-CC30-F737-330D-771257003563}"/>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DB03B92C-EE17-E86F-5A5B-C41CCACA69EC}"/>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D24FEF94-03A1-147F-EE12-4657E298116C}"/>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D7ED4213-89E1-91A9-481D-9E7B91055D8D}"/>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28D2802-0DCC-EDFD-2BB4-0AA940D2E605}"/>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pic>
        <p:nvPicPr>
          <p:cNvPr id="5122" name="Picture 2" descr="Éclats et Fédérations répartis sur plusieurs serveurs">
            <a:extLst>
              <a:ext uri="{FF2B5EF4-FFF2-40B4-BE49-F238E27FC236}">
                <a16:creationId xmlns:a16="http://schemas.microsoft.com/office/drawing/2014/main" id="{401353E0-8BFC-3F93-3E2C-C51C389A5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6888" y="1625698"/>
            <a:ext cx="5610225" cy="27527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6CEBD91-0EFB-418A-C9B3-E5B6EF119F65}"/>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84/98</a:t>
            </a:r>
          </a:p>
        </p:txBody>
      </p:sp>
    </p:spTree>
    <p:extLst>
      <p:ext uri="{BB962C8B-B14F-4D97-AF65-F5344CB8AC3E}">
        <p14:creationId xmlns:p14="http://schemas.microsoft.com/office/powerpoint/2010/main" val="38833393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A47CBFE0-2C78-8141-646D-140AE8BE19D3}"/>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F2E9F09C-D80E-17EE-ED1D-66F58A789868}"/>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algn="l">
              <a:lnSpc>
                <a:spcPct val="150000"/>
              </a:lnSpc>
              <a:buFont typeface="Wingdings" panose="05000000000000000000" pitchFamily="2" charset="2"/>
              <a:buChar char="q"/>
            </a:pPr>
            <a:r>
              <a:rPr lang="fr-FR" sz="1800" b="1" dirty="0"/>
              <a:t>Sécurité à trois niveaux </a:t>
            </a:r>
            <a:r>
              <a:rPr lang="fr-FR" sz="1800" dirty="0"/>
              <a:t>: À mesure que les stockages RDF s'intègrent de plus en plus aux applications d'entreprise, une sécurité renforcée et un contrôle d'accès aux données précis sont nécessaires. Pour ce faire, </a:t>
            </a:r>
            <a:r>
              <a:rPr lang="fr-FR" sz="1800" dirty="0" err="1"/>
              <a:t>AllegroGraph</a:t>
            </a:r>
            <a:r>
              <a:rPr lang="fr-FR" sz="1800" dirty="0"/>
              <a:t> est un leader du secteur en matière de sécurité des données grâce à ses triples attributs et ses filtres de sécurité .</a:t>
            </a:r>
          </a:p>
        </p:txBody>
      </p:sp>
      <p:sp>
        <p:nvSpPr>
          <p:cNvPr id="839" name="Google Shape;839;p27">
            <a:extLst>
              <a:ext uri="{FF2B5EF4-FFF2-40B4-BE49-F238E27FC236}">
                <a16:creationId xmlns:a16="http://schemas.microsoft.com/office/drawing/2014/main" id="{2AEFC086-77FE-63A8-9B64-FD2340846C22}"/>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8A6E0144-4284-49B1-2F11-5D31333EEAB8}"/>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F8E870FF-0872-80C3-9DA4-72EFCE7C52AC}"/>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849B210F-8535-3105-178E-A5BA1A30817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2B82CCA-B41B-5FDF-D250-D88E35671324}"/>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DC4114BA-DE71-96BC-F662-4C2146B227FD}"/>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0FFC62DB-0ADF-49DB-04D2-0B8E86D9951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7B8F4339-7A55-0529-B546-59E10380D672}"/>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C7A36CB3-8F67-50A5-3AFC-1AB4929F90AF}"/>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F10788E2-D0DE-AF5F-0187-E84FAEF7BBE1}"/>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3F2C5397-DF7E-C49E-608E-45CEB075F638}"/>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85/98</a:t>
            </a:r>
          </a:p>
        </p:txBody>
      </p:sp>
    </p:spTree>
    <p:extLst>
      <p:ext uri="{BB962C8B-B14F-4D97-AF65-F5344CB8AC3E}">
        <p14:creationId xmlns:p14="http://schemas.microsoft.com/office/powerpoint/2010/main" val="416249773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232A0BC-0127-E0C5-DDB9-D81492B250AB}"/>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55847777-32E2-EA17-2B20-246097722D2F}"/>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a:bodyPr>
          <a:lstStyle/>
          <a:p>
            <a:pPr marL="596900" lvl="1" indent="0">
              <a:lnSpc>
                <a:spcPct val="150000"/>
              </a:lnSpc>
            </a:pPr>
            <a:r>
              <a:rPr lang="fr-FR" sz="1800" dirty="0"/>
              <a:t>Les attributs de triplets offrent de nombreuses possibilités d'utilisation, notamment le contrôle d'accès. Ces attributs permettent de </a:t>
            </a:r>
            <a:r>
              <a:rPr lang="fr-FR" sz="1800" b="1" dirty="0"/>
              <a:t>spécifier quels utilisateurs peuvent accéder à quels triplets</a:t>
            </a:r>
            <a:r>
              <a:rPr lang="fr-FR" sz="1800" dirty="0"/>
              <a:t>. On peut également attribuer des attributs aux utilisateurs, comparables à ceux des triplets. Prenons l'exemple d'un attribut </a:t>
            </a:r>
            <a:r>
              <a:rPr lang="fr-FR" sz="1800" i="1" u="sng" dirty="0" err="1"/>
              <a:t>security-level</a:t>
            </a:r>
            <a:r>
              <a:rPr lang="fr-FR" sz="1800" dirty="0"/>
              <a:t> avec les valeurs </a:t>
            </a:r>
            <a:r>
              <a:rPr lang="fr-FR" sz="1800" b="1" dirty="0"/>
              <a:t>high</a:t>
            </a:r>
            <a:r>
              <a:rPr lang="fr-FR" sz="1800" dirty="0"/>
              <a:t> , </a:t>
            </a:r>
            <a:r>
              <a:rPr lang="fr-FR" sz="1800" b="1" dirty="0"/>
              <a:t>medium</a:t>
            </a:r>
            <a:r>
              <a:rPr lang="fr-FR" sz="1800" dirty="0"/>
              <a:t> et </a:t>
            </a:r>
            <a:r>
              <a:rPr lang="fr-FR" sz="1800" b="1" dirty="0" err="1"/>
              <a:t>low</a:t>
            </a:r>
            <a:r>
              <a:rPr lang="fr-FR" sz="1800" dirty="0"/>
              <a:t> . Un utilisateur dont l'attribut </a:t>
            </a:r>
            <a:r>
              <a:rPr lang="fr-FR" sz="1800" dirty="0" err="1"/>
              <a:t>security-level</a:t>
            </a:r>
            <a:r>
              <a:rPr lang="fr-FR" sz="1800" dirty="0"/>
              <a:t> est medium peut alors être empêché de consulter les triplets dont l'attribut </a:t>
            </a:r>
            <a:r>
              <a:rPr lang="fr-FR" sz="1800" dirty="0" err="1"/>
              <a:t>security-level</a:t>
            </a:r>
            <a:r>
              <a:rPr lang="fr-FR" sz="1800" dirty="0"/>
              <a:t> est high .</a:t>
            </a:r>
          </a:p>
        </p:txBody>
      </p:sp>
      <p:sp>
        <p:nvSpPr>
          <p:cNvPr id="839" name="Google Shape;839;p27">
            <a:extLst>
              <a:ext uri="{FF2B5EF4-FFF2-40B4-BE49-F238E27FC236}">
                <a16:creationId xmlns:a16="http://schemas.microsoft.com/office/drawing/2014/main" id="{786D4777-827C-E20D-1F6C-FD9EF5213630}"/>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D968AEE5-D660-A6FB-EF23-B1F1ABD8305F}"/>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C12E8B7-91DE-06C6-6496-F4BED5C0BA69}"/>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1816A376-883A-C4AE-9AB0-69634045E59C}"/>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6B719288-E69C-C57C-E076-D1BA19F8C4EB}"/>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991A0FB2-7E2B-F538-8877-7BF572541E48}"/>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F5DD2ED5-F0C2-09E9-9A4F-31689F91C858}"/>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6715C148-A664-FD23-BD6B-9E173D38A7F3}"/>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B0CC067B-4006-3432-1C4C-68895B981C96}"/>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D48E62C-E56A-2047-7E11-B182C4DB1CA7}"/>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2FF9F51D-54EA-5A28-877C-656DBD06C726}"/>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86/98</a:t>
            </a:r>
          </a:p>
        </p:txBody>
      </p:sp>
    </p:spTree>
    <p:extLst>
      <p:ext uri="{BB962C8B-B14F-4D97-AF65-F5344CB8AC3E}">
        <p14:creationId xmlns:p14="http://schemas.microsoft.com/office/powerpoint/2010/main" val="8696509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8DA86B66-4457-3F89-C2A3-82AAC19C0D8F}"/>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60B17CDF-3A07-63B9-157D-577D8BBFE141}"/>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10000"/>
          </a:bodyPr>
          <a:lstStyle/>
          <a:p>
            <a:pPr marL="596900" lvl="1" indent="0">
              <a:lnSpc>
                <a:spcPct val="150000"/>
              </a:lnSpc>
            </a:pPr>
            <a:r>
              <a:rPr lang="fr-FR" sz="1800" dirty="0"/>
              <a:t>Étant donné que les triplets peuvent avoir autant d'attributs que souhaité et que les attributs peuvent avoir autant de valeurs que souhaité (il existe des limites configurables mais les valeurs par défaut sont bien plus grandes que n'importe quelle application imaginable), le contrôle d'accès peut être aussi finement réglé que souhaité.</a:t>
            </a:r>
          </a:p>
          <a:p>
            <a:pPr marL="596900" lvl="1" indent="0">
              <a:lnSpc>
                <a:spcPct val="150000"/>
              </a:lnSpc>
            </a:pPr>
            <a:r>
              <a:rPr lang="fr-FR" sz="1800" dirty="0"/>
              <a:t>Grâce aux filtres de sécurité, l'administrateur système peut accorder aux utilisateurs l'accès à l'ensemble du référentiel ou restreindre l'accès à une vue limitée et filtrée d'un référentiel.</a:t>
            </a:r>
          </a:p>
        </p:txBody>
      </p:sp>
      <p:sp>
        <p:nvSpPr>
          <p:cNvPr id="839" name="Google Shape;839;p27">
            <a:extLst>
              <a:ext uri="{FF2B5EF4-FFF2-40B4-BE49-F238E27FC236}">
                <a16:creationId xmlns:a16="http://schemas.microsoft.com/office/drawing/2014/main" id="{4EC587E7-60C5-B33B-3F87-862AD4F6E781}"/>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Capacités d’</a:t>
            </a:r>
            <a:r>
              <a:rPr lang="fr-FR" sz="2400" dirty="0" err="1"/>
              <a:t>AllegroGraph</a:t>
            </a:r>
            <a:endParaRPr sz="2400" dirty="0"/>
          </a:p>
        </p:txBody>
      </p:sp>
      <p:grpSp>
        <p:nvGrpSpPr>
          <p:cNvPr id="841" name="Google Shape;841;p27">
            <a:extLst>
              <a:ext uri="{FF2B5EF4-FFF2-40B4-BE49-F238E27FC236}">
                <a16:creationId xmlns:a16="http://schemas.microsoft.com/office/drawing/2014/main" id="{ADB5165D-B3E1-482D-72A5-51D42C2AB00C}"/>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80FE5038-3A25-5020-8C55-A4F8C70A5325}"/>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A7CA134D-78DE-6A86-EB3D-D5C2F16F99E8}"/>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55F795CE-1967-7D9D-D7CC-1BC8417A80F1}"/>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89E092D8-5F9B-034B-61F4-CDAE345377F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B3C51D9-F06E-D1F9-A106-84824EB37D50}"/>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83228F31-1254-A1D4-153A-1D88366EBACF}"/>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F076A7AB-B924-613B-4791-369E4411C882}"/>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E9040523-810E-0DE4-53A6-807FB4407E6F}"/>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31A8C191-672B-3AD2-87E1-FCAD2E8EE93D}"/>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87/98</a:t>
            </a:r>
          </a:p>
        </p:txBody>
      </p:sp>
    </p:spTree>
    <p:extLst>
      <p:ext uri="{BB962C8B-B14F-4D97-AF65-F5344CB8AC3E}">
        <p14:creationId xmlns:p14="http://schemas.microsoft.com/office/powerpoint/2010/main" val="29524954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7A736EAE-6CD1-8C52-E04C-7B54AA619780}"/>
            </a:ext>
          </a:extLst>
        </p:cNvPr>
        <p:cNvGrpSpPr/>
        <p:nvPr/>
      </p:nvGrpSpPr>
      <p:grpSpPr>
        <a:xfrm>
          <a:off x="0" y="0"/>
          <a:ext cx="0" cy="0"/>
          <a:chOff x="0" y="0"/>
          <a:chExt cx="0" cy="0"/>
        </a:xfrm>
      </p:grpSpPr>
      <p:sp>
        <p:nvSpPr>
          <p:cNvPr id="855" name="Google Shape;855;p28">
            <a:extLst>
              <a:ext uri="{FF2B5EF4-FFF2-40B4-BE49-F238E27FC236}">
                <a16:creationId xmlns:a16="http://schemas.microsoft.com/office/drawing/2014/main" id="{C9C89078-CCDA-B4D0-DF71-8BD48820F2EC}"/>
              </a:ext>
            </a:extLst>
          </p:cNvPr>
          <p:cNvSpPr txBox="1">
            <a:spLocks noGrp="1"/>
          </p:cNvSpPr>
          <p:nvPr>
            <p:ph type="title"/>
          </p:nvPr>
        </p:nvSpPr>
        <p:spPr>
          <a:xfrm>
            <a:off x="1320400" y="1844257"/>
            <a:ext cx="3946800" cy="1363264"/>
          </a:xfrm>
          <a:prstGeom prst="rect">
            <a:avLst/>
          </a:prstGeom>
        </p:spPr>
        <p:txBody>
          <a:bodyPr spcFirstLastPara="1" wrap="square" lIns="91425" tIns="91425" rIns="91425" bIns="91425" anchor="b" anchorCtr="0">
            <a:noAutofit/>
          </a:bodyPr>
          <a:lstStyle/>
          <a:p>
            <a:pPr marL="0" lvl="0" indent="0"/>
            <a:r>
              <a:rPr lang="fr-FR" dirty="0"/>
              <a:t>Écosystème logiciel &amp; outils</a:t>
            </a:r>
          </a:p>
        </p:txBody>
      </p:sp>
      <p:sp>
        <p:nvSpPr>
          <p:cNvPr id="856" name="Google Shape;856;p28">
            <a:extLst>
              <a:ext uri="{FF2B5EF4-FFF2-40B4-BE49-F238E27FC236}">
                <a16:creationId xmlns:a16="http://schemas.microsoft.com/office/drawing/2014/main" id="{44B6A2AF-AF90-DD31-1B03-A9B572F6E663}"/>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grpSp>
        <p:nvGrpSpPr>
          <p:cNvPr id="857" name="Google Shape;857;p28">
            <a:extLst>
              <a:ext uri="{FF2B5EF4-FFF2-40B4-BE49-F238E27FC236}">
                <a16:creationId xmlns:a16="http://schemas.microsoft.com/office/drawing/2014/main" id="{79580D2E-FB76-7113-4DD2-1BC3C4E9F127}"/>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B30EFE48-1448-D308-D580-FEEB0E6ED1A2}"/>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EE23136D-47ED-1D42-F3D4-317029CDDD7E}"/>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4016B41A-A70F-53E2-93E3-43DC78C62A11}"/>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F4FEB3D4-13A9-D84E-D017-204064D1676D}"/>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5A2ED7EE-624C-9C64-C19B-7A5C0E33ABCE}"/>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33167737-625A-D5D2-351B-5A93F022EB2E}"/>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5B3F177B-3C0E-2B67-A271-280C30D2C1C4}"/>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575ADB71-09FE-0233-E350-1083F2A37642}"/>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2AF862AB-501F-25F5-DF9F-55E11FE25575}"/>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10D9009B-963F-1346-75F8-21737B473930}"/>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A74B83A7-6641-113F-4537-17F646F60AC1}"/>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CF5C4E30-CC75-73FD-86DD-B48DCC24DCCF}"/>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a:extLst>
                  <a:ext uri="{FF2B5EF4-FFF2-40B4-BE49-F238E27FC236}">
                    <a16:creationId xmlns:a16="http://schemas.microsoft.com/office/drawing/2014/main" id="{066A99DE-80A9-DAAE-D04B-6313E60EB726}"/>
                  </a:ext>
                </a:extLst>
              </p:cNvPr>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a:extLst>
                  <a:ext uri="{FF2B5EF4-FFF2-40B4-BE49-F238E27FC236}">
                    <a16:creationId xmlns:a16="http://schemas.microsoft.com/office/drawing/2014/main" id="{39E3EDCD-8E64-DC1F-83A0-99F635935E25}"/>
                  </a:ext>
                </a:extLst>
              </p:cNvPr>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BD898E9F-88D0-774C-B93C-37D522AE3FA9}"/>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Subtitle 2">
            <a:extLst>
              <a:ext uri="{FF2B5EF4-FFF2-40B4-BE49-F238E27FC236}">
                <a16:creationId xmlns:a16="http://schemas.microsoft.com/office/drawing/2014/main" id="{898B50E5-8487-A2EE-7883-874F0FAD7E0D}"/>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6238122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2AD5ECAA-9CBB-86DC-81DC-B857E895D1CD}"/>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EDDBA32F-37EA-421C-1193-EF4E634C5181}"/>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20000"/>
          </a:bodyPr>
          <a:lstStyle/>
          <a:p>
            <a:pPr marL="139700" indent="0" algn="l">
              <a:lnSpc>
                <a:spcPct val="150000"/>
              </a:lnSpc>
            </a:pPr>
            <a:r>
              <a:rPr lang="fr-FR" sz="1800" dirty="0"/>
              <a:t>L'écosystème logiciel et les outils d'</a:t>
            </a:r>
            <a:r>
              <a:rPr lang="fr-FR" sz="1800" dirty="0" err="1"/>
              <a:t>AllegroGraph</a:t>
            </a:r>
            <a:r>
              <a:rPr lang="fr-FR" sz="1800" dirty="0"/>
              <a:t> sont conçus pour maximiser ses capacités en tant que base de données graphe sémantique, offrant une gamme d'intégrations et d'outils qui facilitent son utilisation dans divers contextes. On retrouve :</a:t>
            </a:r>
          </a:p>
          <a:p>
            <a:pPr marL="425450" indent="-285750" algn="l">
              <a:lnSpc>
                <a:spcPct val="150000"/>
              </a:lnSpc>
              <a:buFont typeface="Wingdings" panose="05000000000000000000" pitchFamily="2" charset="2"/>
              <a:buChar char="q"/>
            </a:pPr>
            <a:r>
              <a:rPr lang="fr-FR" sz="1800" b="1" dirty="0"/>
              <a:t>Outils principaux </a:t>
            </a:r>
            <a:r>
              <a:rPr lang="fr-FR" sz="1800" dirty="0"/>
              <a:t>: </a:t>
            </a:r>
            <a:r>
              <a:rPr lang="fr-FR" sz="1800" dirty="0" err="1"/>
              <a:t>AllegroGraph</a:t>
            </a:r>
            <a:r>
              <a:rPr lang="fr-FR" sz="1800" dirty="0"/>
              <a:t> inclut des interfaces comme </a:t>
            </a:r>
            <a:r>
              <a:rPr lang="fr-FR" sz="1800" b="1" dirty="0" err="1"/>
              <a:t>Gruff</a:t>
            </a:r>
            <a:r>
              <a:rPr lang="fr-FR" sz="1800" dirty="0"/>
              <a:t>, un outil visuel pour explorer et éditer des graphes RDF, et </a:t>
            </a:r>
            <a:r>
              <a:rPr lang="fr-FR" sz="1800" b="1" dirty="0" err="1"/>
              <a:t>AGWebView</a:t>
            </a:r>
            <a:r>
              <a:rPr lang="fr-FR" sz="1800" dirty="0"/>
              <a:t>, une interface web pour gérer la base de données. Ces outils simplifient la visualisation et la gestion des données pour les utilisateurs, même sans expertise technique approfondie.</a:t>
            </a:r>
          </a:p>
        </p:txBody>
      </p:sp>
      <p:sp>
        <p:nvSpPr>
          <p:cNvPr id="839" name="Google Shape;839;p27">
            <a:extLst>
              <a:ext uri="{FF2B5EF4-FFF2-40B4-BE49-F238E27FC236}">
                <a16:creationId xmlns:a16="http://schemas.microsoft.com/office/drawing/2014/main" id="{AB819C52-084E-847F-87B6-5733C2C92D2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19904011-4863-699A-97C8-7A1769701953}"/>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1A3499D-FE3B-9CC7-8F44-2A23DEE4C2EE}"/>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D8D83FDD-171C-773D-293B-BCD882DAEA40}"/>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EA4E4302-CA59-4B59-5098-A91CDB8FAA73}"/>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64BFD385-7BB4-BC66-7B55-72B178085775}"/>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F88263DB-59B1-CFFE-CA7F-A467BD35E639}"/>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8E43BF8C-264D-000B-39AA-FE00103BD79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4C03B1BA-5BB9-4276-4660-6EB3F6CB9F5C}"/>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FC72D6D8-99AF-BC41-0055-80FB96F35361}"/>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5B5360E1-12D7-33C4-B0D8-585655FAD874}"/>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88/98</a:t>
            </a:r>
          </a:p>
        </p:txBody>
      </p:sp>
    </p:spTree>
    <p:extLst>
      <p:ext uri="{BB962C8B-B14F-4D97-AF65-F5344CB8AC3E}">
        <p14:creationId xmlns:p14="http://schemas.microsoft.com/office/powerpoint/2010/main" val="2042250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3CB0087-ECCE-CCEC-61D1-D90ECA27726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7D8A538-F6A1-FD25-800C-DA9E080D6D2B}"/>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25450" indent="-285750" algn="l">
              <a:lnSpc>
                <a:spcPct val="150000"/>
              </a:lnSpc>
              <a:buFont typeface="Wingdings" panose="05000000000000000000" pitchFamily="2" charset="2"/>
              <a:buChar char="q"/>
            </a:pPr>
            <a:r>
              <a:rPr lang="fr-FR" sz="1800" b="1" dirty="0"/>
              <a:t>Langages et API : </a:t>
            </a:r>
            <a:r>
              <a:rPr lang="fr-FR" sz="1800" dirty="0"/>
              <a:t>Il prend en charge des langages de programmation tels que Java, Python, et Lisp, ainsi qu'une API REST pour une intégration facile avec d'autres applications. Cela permet aux développeurs de créer des solutions personnalisées.</a:t>
            </a:r>
          </a:p>
        </p:txBody>
      </p:sp>
      <p:sp>
        <p:nvSpPr>
          <p:cNvPr id="839" name="Google Shape;839;p27">
            <a:extLst>
              <a:ext uri="{FF2B5EF4-FFF2-40B4-BE49-F238E27FC236}">
                <a16:creationId xmlns:a16="http://schemas.microsoft.com/office/drawing/2014/main" id="{797BA845-A8C9-7546-D7BA-01444B3FB5FB}"/>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53DD2328-1523-0D9B-94B5-158DEAB65B9C}"/>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2C0A7856-5691-CE21-7031-70B4ED767C6F}"/>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A75B29C9-7441-BF33-84A9-A108B71F62BC}"/>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C5ABB54C-0FD1-B710-BB5C-B622805FDFA9}"/>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081C7DF-9C2A-881D-6B07-DBCFAFC70C94}"/>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AAE1D59A-C553-CFDE-E4AF-1229EBD7EE73}"/>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07B7F2AB-DDBD-8559-FB18-9EB99FC19A7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C23CCD26-0AA6-15F6-B876-E6F4585A102B}"/>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2F4FEF50-FEAB-F96A-C943-78026874074D}"/>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0CC47CC9-FF10-2E60-E1FD-0DA8971A8D2C}"/>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89/98</a:t>
            </a:r>
          </a:p>
        </p:txBody>
      </p:sp>
    </p:spTree>
    <p:extLst>
      <p:ext uri="{BB962C8B-B14F-4D97-AF65-F5344CB8AC3E}">
        <p14:creationId xmlns:p14="http://schemas.microsoft.com/office/powerpoint/2010/main" val="21061590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1B258E90-1A63-28F5-3E5D-5964E7323385}"/>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9B503F94-5E75-8F23-59DA-99B0322F38E4}"/>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25450" indent="-285750" algn="l">
              <a:lnSpc>
                <a:spcPct val="150000"/>
              </a:lnSpc>
              <a:buFont typeface="Wingdings" panose="05000000000000000000" pitchFamily="2" charset="2"/>
              <a:buChar char="q"/>
            </a:pPr>
            <a:r>
              <a:rPr lang="fr-FR" sz="1800" b="1" dirty="0"/>
              <a:t>Intégrations : </a:t>
            </a:r>
            <a:r>
              <a:rPr lang="fr-FR" sz="1800" dirty="0" err="1"/>
              <a:t>AllegroGraph</a:t>
            </a:r>
            <a:r>
              <a:rPr lang="fr-FR" sz="1800" dirty="0"/>
              <a:t> s'intègre nativement avec des plateformes cloud (AWS, Microsoft Azure), des outils de data science (Spark, Anaconda), et des ressources sémantiques comme </a:t>
            </a:r>
            <a:r>
              <a:rPr lang="fr-FR" sz="1800" dirty="0" err="1"/>
              <a:t>Linked</a:t>
            </a:r>
            <a:r>
              <a:rPr lang="fr-FR" sz="1800" dirty="0"/>
              <a:t> Open Data et des ontologies. Il supporte aussi des conteneurs (Docker, VMware) pour des déploiements flexibles.</a:t>
            </a:r>
          </a:p>
        </p:txBody>
      </p:sp>
      <p:sp>
        <p:nvSpPr>
          <p:cNvPr id="839" name="Google Shape;839;p27">
            <a:extLst>
              <a:ext uri="{FF2B5EF4-FFF2-40B4-BE49-F238E27FC236}">
                <a16:creationId xmlns:a16="http://schemas.microsoft.com/office/drawing/2014/main" id="{DE681DC2-F5AC-0E19-E486-AADB743FDE4C}"/>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D9CD7B27-39A1-4A6B-9A71-6954A5B8B40C}"/>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E7CE9F17-FD24-0FD9-9249-372541EFAAA4}"/>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58C058CE-7D3C-1658-4DB0-91D34B015E05}"/>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7BD33953-264C-E114-8C5F-F4A3EE45F1FE}"/>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9A2F47C-3862-FD39-53C1-5512D148695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2011CF2-01AE-03EA-AF9E-9C456B9BD233}"/>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245F600B-6215-36B2-42FF-75F496138A25}"/>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B3687541-4694-AE62-F91D-A3A992BE6927}"/>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780CDEED-1682-3FF5-1527-2B75FF2A6422}"/>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0C415F61-8A36-C576-B84F-69243C57ADA1}"/>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90/98</a:t>
            </a:r>
          </a:p>
        </p:txBody>
      </p:sp>
    </p:spTree>
    <p:extLst>
      <p:ext uri="{BB962C8B-B14F-4D97-AF65-F5344CB8AC3E}">
        <p14:creationId xmlns:p14="http://schemas.microsoft.com/office/powerpoint/2010/main" val="33360358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BEF1B3B-331E-D0C4-E4CC-4FD0958ABDC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D99D7857-F3AE-2FF6-A10A-D6A970F5A84D}"/>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25450" indent="-285750" algn="l">
              <a:lnSpc>
                <a:spcPct val="150000"/>
              </a:lnSpc>
              <a:buFont typeface="Wingdings" panose="05000000000000000000" pitchFamily="2" charset="2"/>
              <a:buChar char="q"/>
            </a:pPr>
            <a:r>
              <a:rPr lang="fr-FR" sz="1800" b="1" dirty="0" err="1"/>
              <a:t>FedShard</a:t>
            </a:r>
            <a:r>
              <a:rPr lang="fr-FR" sz="1800" b="1" dirty="0"/>
              <a:t> : </a:t>
            </a:r>
            <a:r>
              <a:rPr lang="fr-FR" sz="1800" dirty="0"/>
              <a:t>gère des ensembles de données massifs en répartissant les fragments sur plusieurs serveurs, tout en connectant des bases de connaissances communes. Cela permet des requêtes complexes exécutées en parallèle, optimisant les performances.</a:t>
            </a:r>
          </a:p>
        </p:txBody>
      </p:sp>
      <p:sp>
        <p:nvSpPr>
          <p:cNvPr id="839" name="Google Shape;839;p27">
            <a:extLst>
              <a:ext uri="{FF2B5EF4-FFF2-40B4-BE49-F238E27FC236}">
                <a16:creationId xmlns:a16="http://schemas.microsoft.com/office/drawing/2014/main" id="{B8E6DD6C-ACD1-813F-7BC2-527E7C098A2E}"/>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9EAB26DF-DA9D-E423-28F4-86A788A72B97}"/>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D7C2B3F-214F-0D99-A2BD-501410BBF0F0}"/>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C0DE47E1-80FB-D424-A210-4BA667E17EC9}"/>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6542CBEC-9C6C-8899-B939-97BC24F14C90}"/>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14CEC05C-4436-FDBE-76AE-DFDB6FDB0D4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2EEA6539-A3F5-159A-AFD9-5462844E3E27}"/>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4DCB9DDD-9E88-B588-335E-C3AD44DCFFD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DADA3E10-E52E-D148-C45F-9A7E6BEE4ED1}"/>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609BDA9B-3E8A-74A5-5B9A-5116FB814698}"/>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39BB586E-EA3F-854A-B361-678A60D0C0F0}"/>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91/98</a:t>
            </a:r>
          </a:p>
        </p:txBody>
      </p:sp>
    </p:spTree>
    <p:extLst>
      <p:ext uri="{BB962C8B-B14F-4D97-AF65-F5344CB8AC3E}">
        <p14:creationId xmlns:p14="http://schemas.microsoft.com/office/powerpoint/2010/main" val="13670748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A4C6C742-DB10-6162-1CF0-A72BB2E1B222}"/>
            </a:ext>
          </a:extLst>
        </p:cNvPr>
        <p:cNvGrpSpPr/>
        <p:nvPr/>
      </p:nvGrpSpPr>
      <p:grpSpPr>
        <a:xfrm>
          <a:off x="0" y="0"/>
          <a:ext cx="0" cy="0"/>
          <a:chOff x="0" y="0"/>
          <a:chExt cx="0" cy="0"/>
        </a:xfrm>
      </p:grpSpPr>
      <p:sp>
        <p:nvSpPr>
          <p:cNvPr id="855" name="Google Shape;855;p28">
            <a:extLst>
              <a:ext uri="{FF2B5EF4-FFF2-40B4-BE49-F238E27FC236}">
                <a16:creationId xmlns:a16="http://schemas.microsoft.com/office/drawing/2014/main" id="{0C9DD94F-EDF0-CC3D-3E67-108332C34077}"/>
              </a:ext>
            </a:extLst>
          </p:cNvPr>
          <p:cNvSpPr txBox="1">
            <a:spLocks noGrp="1"/>
          </p:cNvSpPr>
          <p:nvPr>
            <p:ph type="title"/>
          </p:nvPr>
        </p:nvSpPr>
        <p:spPr>
          <a:xfrm>
            <a:off x="1320400" y="1844257"/>
            <a:ext cx="3946800" cy="1363264"/>
          </a:xfrm>
          <a:prstGeom prst="rect">
            <a:avLst/>
          </a:prstGeom>
        </p:spPr>
        <p:txBody>
          <a:bodyPr spcFirstLastPara="1" wrap="square" lIns="91425" tIns="91425" rIns="91425" bIns="91425" anchor="b" anchorCtr="0">
            <a:noAutofit/>
          </a:bodyPr>
          <a:lstStyle/>
          <a:p>
            <a:r>
              <a:rPr lang="fr-FR" dirty="0"/>
              <a:t>Avantages et limites</a:t>
            </a:r>
            <a:endParaRPr lang="fr-FR" dirty="0">
              <a:effectLst/>
            </a:endParaRPr>
          </a:p>
        </p:txBody>
      </p:sp>
      <p:sp>
        <p:nvSpPr>
          <p:cNvPr id="856" name="Google Shape;856;p28">
            <a:extLst>
              <a:ext uri="{FF2B5EF4-FFF2-40B4-BE49-F238E27FC236}">
                <a16:creationId xmlns:a16="http://schemas.microsoft.com/office/drawing/2014/main" id="{2CF620AA-4269-1E58-124A-D1CD70E9C8E5}"/>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grpSp>
        <p:nvGrpSpPr>
          <p:cNvPr id="857" name="Google Shape;857;p28">
            <a:extLst>
              <a:ext uri="{FF2B5EF4-FFF2-40B4-BE49-F238E27FC236}">
                <a16:creationId xmlns:a16="http://schemas.microsoft.com/office/drawing/2014/main" id="{589F4D84-4062-BF95-435F-2E79DF65B252}"/>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2C427693-C154-9902-5F83-4BC1665B1890}"/>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1CA44586-9BFC-06AA-3853-BB17A2D5B314}"/>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2A38D60A-6482-2E0B-F531-C83FEC0E1C75}"/>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FAC4B2D6-2953-48A3-FAE5-C87469BFB8FD}"/>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7403516F-2A0B-3B8F-58D8-6BA89EBC22F5}"/>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C7C721F1-3BDB-DFE9-AB1C-F63A02FE9E97}"/>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5C689C32-FD47-169E-157D-F03D0EA447F9}"/>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B62C9B69-6A3C-52A1-34FE-5287D2214E03}"/>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64AA3CEA-7604-F778-AA27-F61257550542}"/>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CF05E38D-2ED8-681D-9850-7C4E56882815}"/>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88C4B216-CD60-FE43-5EE4-3B3E83DA7AF1}"/>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0D00B9AE-EF82-304B-F780-91D3CB7FCDDF}"/>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a:extLst>
                  <a:ext uri="{FF2B5EF4-FFF2-40B4-BE49-F238E27FC236}">
                    <a16:creationId xmlns:a16="http://schemas.microsoft.com/office/drawing/2014/main" id="{1654A7F0-8BAF-CDAE-7F3E-023D97B1A2F9}"/>
                  </a:ext>
                </a:extLst>
              </p:cNvPr>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a:extLst>
                  <a:ext uri="{FF2B5EF4-FFF2-40B4-BE49-F238E27FC236}">
                    <a16:creationId xmlns:a16="http://schemas.microsoft.com/office/drawing/2014/main" id="{07EC2C8A-8243-E7E8-AC35-86A967286B18}"/>
                  </a:ext>
                </a:extLst>
              </p:cNvPr>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51ED9616-0EF1-FA4A-9121-D93406837274}"/>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Subtitle 2">
            <a:extLst>
              <a:ext uri="{FF2B5EF4-FFF2-40B4-BE49-F238E27FC236}">
                <a16:creationId xmlns:a16="http://schemas.microsoft.com/office/drawing/2014/main" id="{FB533C7F-309C-09BE-3EA1-47B34A7E647E}"/>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8143756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0D58B946-DB20-F021-5D5C-CA217AE56EE3}"/>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293DAD85-93F8-81EF-1B23-5B43B86B4E97}"/>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10000"/>
          </a:bodyPr>
          <a:lstStyle/>
          <a:p>
            <a:pPr marL="425450" indent="-285750" algn="l">
              <a:lnSpc>
                <a:spcPct val="150000"/>
              </a:lnSpc>
              <a:buFont typeface="Wingdings" panose="05000000000000000000" pitchFamily="2" charset="2"/>
              <a:buChar char="q"/>
            </a:pPr>
            <a:r>
              <a:rPr lang="fr-FR" sz="1800" b="1" dirty="0"/>
              <a:t>Avantages :</a:t>
            </a:r>
          </a:p>
          <a:p>
            <a:pPr marL="882650" lvl="1" indent="-285750">
              <a:lnSpc>
                <a:spcPct val="150000"/>
              </a:lnSpc>
              <a:buFont typeface="Wingdings" panose="05000000000000000000" pitchFamily="2" charset="2"/>
              <a:buChar char="v"/>
            </a:pPr>
            <a:r>
              <a:rPr lang="fr-FR" sz="1800" b="1" dirty="0"/>
              <a:t>Flexibilité des graphes </a:t>
            </a:r>
            <a:r>
              <a:rPr lang="fr-FR" sz="1800" dirty="0"/>
              <a:t>: </a:t>
            </a:r>
            <a:r>
              <a:rPr lang="fr-FR" sz="1800" dirty="0" err="1"/>
              <a:t>AllegroGraph</a:t>
            </a:r>
            <a:r>
              <a:rPr lang="fr-FR" sz="1800" dirty="0"/>
              <a:t> excelle à modéliser des relations complexes grâce à sa structure en graphes RDF, idéale pour des applications comme les réseaux sociaux ou les données médicales où les connexions sont nombreuses.</a:t>
            </a:r>
          </a:p>
          <a:p>
            <a:pPr marL="882650" lvl="1" indent="-285750">
              <a:lnSpc>
                <a:spcPct val="150000"/>
              </a:lnSpc>
              <a:buFont typeface="Wingdings" panose="05000000000000000000" pitchFamily="2" charset="2"/>
              <a:buChar char="v"/>
            </a:pPr>
            <a:r>
              <a:rPr lang="fr-FR" sz="1800" b="1" dirty="0"/>
              <a:t>Interopérabilité</a:t>
            </a:r>
            <a:r>
              <a:rPr lang="fr-FR" sz="1800" dirty="0"/>
              <a:t> : Avec des standards comme SPARQL, RDF, et JSON-LD, il s’intègre facilement avec d’autres systèmes et bases de données, notamment via </a:t>
            </a:r>
            <a:r>
              <a:rPr lang="fr-FR" sz="1800" dirty="0" err="1"/>
              <a:t>Linked</a:t>
            </a:r>
            <a:r>
              <a:rPr lang="fr-FR" sz="1800" dirty="0"/>
              <a:t> Open Data,</a:t>
            </a:r>
          </a:p>
        </p:txBody>
      </p:sp>
      <p:sp>
        <p:nvSpPr>
          <p:cNvPr id="839" name="Google Shape;839;p27">
            <a:extLst>
              <a:ext uri="{FF2B5EF4-FFF2-40B4-BE49-F238E27FC236}">
                <a16:creationId xmlns:a16="http://schemas.microsoft.com/office/drawing/2014/main" id="{F4C00C6A-4EE5-BE0E-CAFE-F0DA0DD52920}"/>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EC87A4CB-8254-E12E-A706-2B03DB0521B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8C609933-8575-1776-ED6D-3C1A341F0D67}"/>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32346259-034D-02C4-86EE-68BD37D1383D}"/>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8C4CD5DD-07C0-CC15-198C-D22780BADA4C}"/>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200BC61-E0C2-CD50-1553-2275B2FCA129}"/>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6AEDECC6-618F-6A31-E8BC-898707D66567}"/>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115C282A-03EE-545E-B2DE-66850371381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104A9CBE-67C1-F945-3685-F9A8ACE41CDD}"/>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5D480238-F269-60CD-065F-C116431740E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AC4B0899-9E72-29BF-2987-B78F37D85937}"/>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92/98</a:t>
            </a:r>
          </a:p>
        </p:txBody>
      </p:sp>
    </p:spTree>
    <p:extLst>
      <p:ext uri="{BB962C8B-B14F-4D97-AF65-F5344CB8AC3E}">
        <p14:creationId xmlns:p14="http://schemas.microsoft.com/office/powerpoint/2010/main" val="28704226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58FBA4CA-0EE1-0E1F-968E-C69DEFC28799}"/>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0FB7EB6-8C6F-9EDB-D30C-7867FC20310C}"/>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fontScale="92500" lnSpcReduction="10000"/>
          </a:bodyPr>
          <a:lstStyle/>
          <a:p>
            <a:pPr marL="425450" indent="-285750" algn="l">
              <a:lnSpc>
                <a:spcPct val="150000"/>
              </a:lnSpc>
              <a:buFont typeface="Wingdings" panose="05000000000000000000" pitchFamily="2" charset="2"/>
              <a:buChar char="q"/>
            </a:pPr>
            <a:r>
              <a:rPr lang="fr-FR" sz="1800" b="1" dirty="0"/>
              <a:t>Avantages :</a:t>
            </a:r>
          </a:p>
          <a:p>
            <a:pPr marL="882650" lvl="1" indent="-285750">
              <a:lnSpc>
                <a:spcPct val="150000"/>
              </a:lnSpc>
              <a:buFont typeface="Wingdings" panose="05000000000000000000" pitchFamily="2" charset="2"/>
              <a:buChar char="v"/>
            </a:pPr>
            <a:r>
              <a:rPr lang="fr-FR" sz="1800" b="1" dirty="0"/>
              <a:t>Raisonnement automatique : </a:t>
            </a:r>
            <a:r>
              <a:rPr lang="fr-FR" sz="1800" dirty="0"/>
              <a:t>Grâce à des outils comme RDFS++ et Prolog, il peut inférer de nouvelles relations (ex. : déduire un grand-parent à partir de relations parent-enfant), rendant les données plus intelligentes.</a:t>
            </a:r>
          </a:p>
          <a:p>
            <a:pPr marL="882650" lvl="1" indent="-285750">
              <a:lnSpc>
                <a:spcPct val="150000"/>
              </a:lnSpc>
              <a:buFont typeface="Wingdings" panose="05000000000000000000" pitchFamily="2" charset="2"/>
              <a:buChar char="v"/>
            </a:pPr>
            <a:r>
              <a:rPr lang="fr-FR" sz="1800" b="1" dirty="0"/>
              <a:t>Scalabilité</a:t>
            </a:r>
            <a:r>
              <a:rPr lang="fr-FR" sz="1800" dirty="0"/>
              <a:t> : Avec </a:t>
            </a:r>
            <a:r>
              <a:rPr lang="fr-FR" sz="1800" dirty="0" err="1"/>
              <a:t>FedShard</a:t>
            </a:r>
            <a:r>
              <a:rPr lang="fr-FR" sz="1800" dirty="0"/>
              <a:t>, il gère de grands volumes de données en répartissant les fragments sur plusieurs serveurs, optimisant les performances pour des requêtes complexes.</a:t>
            </a:r>
          </a:p>
        </p:txBody>
      </p:sp>
      <p:sp>
        <p:nvSpPr>
          <p:cNvPr id="839" name="Google Shape;839;p27">
            <a:extLst>
              <a:ext uri="{FF2B5EF4-FFF2-40B4-BE49-F238E27FC236}">
                <a16:creationId xmlns:a16="http://schemas.microsoft.com/office/drawing/2014/main" id="{644C9CD4-E2EC-E1CC-1112-1608547F8229}"/>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0F891071-F73B-F5FF-F792-EF5A7E4F3B04}"/>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73495F95-8D87-1039-3181-C20524AAC73E}"/>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16430865-BFE8-FD16-F380-E6DD5346300A}"/>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C4F4C77F-9F7C-185E-7561-91969544C91C}"/>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3800013C-108B-9BE4-8AA2-23D8E0B9E226}"/>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D0866412-8ABE-6C00-D4C8-516D7EA161B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B75E90D5-D45E-636F-A76A-408C9B82D15A}"/>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7E83D08F-AE94-6FEC-9EA2-A6BCA4C2595B}"/>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677C965C-A6DE-4043-522B-7DB4676BAAFB}"/>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697BBBD2-85BE-E1B5-64BF-D78D7849D962}"/>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93/98</a:t>
            </a:r>
          </a:p>
        </p:txBody>
      </p:sp>
    </p:spTree>
    <p:extLst>
      <p:ext uri="{BB962C8B-B14F-4D97-AF65-F5344CB8AC3E}">
        <p14:creationId xmlns:p14="http://schemas.microsoft.com/office/powerpoint/2010/main" val="39443311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9F0D6900-3071-FB8D-9CA4-9169D244882C}"/>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325E0EAC-70B0-F963-5D4D-31654ADE6763}"/>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25450" indent="-285750" algn="l">
              <a:lnSpc>
                <a:spcPct val="150000"/>
              </a:lnSpc>
              <a:buFont typeface="Wingdings" panose="05000000000000000000" pitchFamily="2" charset="2"/>
              <a:buChar char="q"/>
            </a:pPr>
            <a:r>
              <a:rPr lang="fr-FR" sz="1800" b="1" dirty="0"/>
              <a:t>Avantages :</a:t>
            </a:r>
          </a:p>
          <a:p>
            <a:pPr marL="882650" lvl="1" indent="-285750">
              <a:lnSpc>
                <a:spcPct val="150000"/>
              </a:lnSpc>
              <a:buFont typeface="Wingdings" panose="05000000000000000000" pitchFamily="2" charset="2"/>
              <a:buChar char="v"/>
            </a:pPr>
            <a:r>
              <a:rPr lang="fr-FR" sz="1800" b="1" dirty="0"/>
              <a:t>Outils puissants : </a:t>
            </a:r>
            <a:r>
              <a:rPr lang="fr-FR" sz="1800" dirty="0"/>
              <a:t>Des interfaces comme </a:t>
            </a:r>
            <a:r>
              <a:rPr lang="fr-FR" sz="1800" dirty="0" err="1"/>
              <a:t>Gruff</a:t>
            </a:r>
            <a:r>
              <a:rPr lang="fr-FR" sz="1800" dirty="0"/>
              <a:t> et </a:t>
            </a:r>
            <a:r>
              <a:rPr lang="fr-FR" sz="1800" dirty="0" err="1"/>
              <a:t>AGWebView</a:t>
            </a:r>
            <a:r>
              <a:rPr lang="fr-FR" sz="1800" dirty="0"/>
              <a:t> simplifient la visualisation et la gestion, tandis que l’API REST facilite l’intégration pour les développeurs.</a:t>
            </a:r>
          </a:p>
        </p:txBody>
      </p:sp>
      <p:sp>
        <p:nvSpPr>
          <p:cNvPr id="839" name="Google Shape;839;p27">
            <a:extLst>
              <a:ext uri="{FF2B5EF4-FFF2-40B4-BE49-F238E27FC236}">
                <a16:creationId xmlns:a16="http://schemas.microsoft.com/office/drawing/2014/main" id="{F5E5F89C-4D25-27A8-DD66-5569364250C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D5CDF056-2AA2-EEC2-280D-036F5F00267B}"/>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66D1BE94-8B5B-8415-74A0-1ADDD8A3569A}"/>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62BB8D41-CA8D-8BDC-3745-36AFF646A5B4}"/>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B22F738B-533A-4D2D-DCB1-37E6B8BD1FE1}"/>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82ED9638-6DAA-AD9C-FF28-DDE7D2E58250}"/>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85CEE18A-77EC-E753-E9A1-B4DAD9DF0CFB}"/>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864D1898-F150-BD11-B5B1-40FDDBEFB95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B75A16ED-B219-F6F5-5FA9-FE2886CF87C2}"/>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889F88D9-D8E0-9B49-98F7-784C77C7453E}"/>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A69D79DB-0DC6-7939-C08E-2184DCB9341F}"/>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94/98</a:t>
            </a:r>
          </a:p>
        </p:txBody>
      </p:sp>
    </p:spTree>
    <p:extLst>
      <p:ext uri="{BB962C8B-B14F-4D97-AF65-F5344CB8AC3E}">
        <p14:creationId xmlns:p14="http://schemas.microsoft.com/office/powerpoint/2010/main" val="21459707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FD96E077-84EA-B67E-F131-26B575C94C75}"/>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0ABDB009-E24F-64EF-A66D-93971A575FAC}"/>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25450" indent="-285750" algn="l">
              <a:lnSpc>
                <a:spcPct val="150000"/>
              </a:lnSpc>
              <a:buFont typeface="Wingdings" panose="05000000000000000000" pitchFamily="2" charset="2"/>
              <a:buChar char="q"/>
            </a:pPr>
            <a:r>
              <a:rPr lang="fr-FR" sz="1800" b="1" dirty="0"/>
              <a:t>Limites :</a:t>
            </a:r>
          </a:p>
          <a:p>
            <a:pPr marL="882650" lvl="1" indent="-285750">
              <a:lnSpc>
                <a:spcPct val="150000"/>
              </a:lnSpc>
              <a:buFont typeface="Wingdings" panose="05000000000000000000" pitchFamily="2" charset="2"/>
              <a:buChar char="v"/>
            </a:pPr>
            <a:r>
              <a:rPr lang="fr-FR" sz="1800" b="1" dirty="0"/>
              <a:t>Courbe d’apprentissage : </a:t>
            </a:r>
            <a:r>
              <a:rPr lang="fr-FR" sz="1800" dirty="0"/>
              <a:t>Maîtriser RDF, SPARQL, et les concepts sémantiques peut être difficile pour les débutants ou ceux habitués aux bases relationnelles.</a:t>
            </a:r>
          </a:p>
          <a:p>
            <a:pPr marL="882650" lvl="1" indent="-285750">
              <a:lnSpc>
                <a:spcPct val="150000"/>
              </a:lnSpc>
              <a:buFont typeface="Wingdings" panose="05000000000000000000" pitchFamily="2" charset="2"/>
              <a:buChar char="v"/>
            </a:pPr>
            <a:r>
              <a:rPr lang="fr-FR" sz="1800" b="1" dirty="0"/>
              <a:t>Performance sur graphes denses : </a:t>
            </a:r>
            <a:r>
              <a:rPr lang="fr-FR" sz="1800" dirty="0"/>
              <a:t>Avec des graphes très complexes ou mal optimisés, les requêtes peuvent ralentir si elles ne sont pas bien conçues.</a:t>
            </a:r>
          </a:p>
        </p:txBody>
      </p:sp>
      <p:sp>
        <p:nvSpPr>
          <p:cNvPr id="839" name="Google Shape;839;p27">
            <a:extLst>
              <a:ext uri="{FF2B5EF4-FFF2-40B4-BE49-F238E27FC236}">
                <a16:creationId xmlns:a16="http://schemas.microsoft.com/office/drawing/2014/main" id="{5FD14455-A382-8005-A0B7-6B19AD8F67BD}"/>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7FCB0F98-A7A4-E34D-8C9C-A0CEFABD3272}"/>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95A2B408-42F4-AE27-EDF9-37E0359A770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5A06D141-D9D0-CA74-B36C-E2DFCFAA8C61}"/>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34954511-E7AA-B054-A537-9B6A8D281088}"/>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2BDC0F35-22F1-B44E-2914-F1568F4A2C6D}"/>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2A465FE-832D-C07E-2F9B-507568B9F16F}"/>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878150A3-6B50-80D0-2A65-1C89B207E42A}"/>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E9A74D11-C000-EC7A-26B8-9034C0A3126D}"/>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154D1EE7-7832-B00B-9945-F4968A6C45DB}"/>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7E331D81-AE10-A6B1-E60B-7AEC2A671783}"/>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95/98</a:t>
            </a:r>
          </a:p>
        </p:txBody>
      </p:sp>
    </p:spTree>
    <p:extLst>
      <p:ext uri="{BB962C8B-B14F-4D97-AF65-F5344CB8AC3E}">
        <p14:creationId xmlns:p14="http://schemas.microsoft.com/office/powerpoint/2010/main" val="26088514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3DBE6AA9-C751-4705-7E0A-CF43F947C307}"/>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11EF1DE0-707D-9A9F-C20E-2EC6961CE43B}"/>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25450" indent="-285750" algn="l">
              <a:lnSpc>
                <a:spcPct val="150000"/>
              </a:lnSpc>
              <a:buFont typeface="Wingdings" panose="05000000000000000000" pitchFamily="2" charset="2"/>
              <a:buChar char="q"/>
            </a:pPr>
            <a:r>
              <a:rPr lang="fr-FR" sz="1800" b="1" dirty="0"/>
              <a:t>Limites :</a:t>
            </a:r>
          </a:p>
          <a:p>
            <a:pPr marL="882650" lvl="1" indent="-285750">
              <a:lnSpc>
                <a:spcPct val="150000"/>
              </a:lnSpc>
              <a:buFont typeface="Wingdings" panose="05000000000000000000" pitchFamily="2" charset="2"/>
              <a:buChar char="v"/>
            </a:pPr>
            <a:r>
              <a:rPr lang="fr-FR" sz="1800" b="1" dirty="0"/>
              <a:t>Dépendance aux standards : </a:t>
            </a:r>
            <a:r>
              <a:rPr lang="fr-FR" sz="1800" dirty="0"/>
              <a:t>Son efficacité repose sur l’adoption de standards sémantiques, ce qui peut poser problème dans des environnements avec des données non structurées.</a:t>
            </a:r>
          </a:p>
          <a:p>
            <a:pPr marL="882650" lvl="1" indent="-285750">
              <a:lnSpc>
                <a:spcPct val="150000"/>
              </a:lnSpc>
              <a:buFont typeface="Wingdings" panose="05000000000000000000" pitchFamily="2" charset="2"/>
              <a:buChar char="v"/>
            </a:pPr>
            <a:r>
              <a:rPr lang="fr-FR" sz="1800" b="1" dirty="0"/>
              <a:t>Coût potentiel </a:t>
            </a:r>
            <a:r>
              <a:rPr lang="fr-FR" sz="1800" dirty="0"/>
              <a:t>: Bien que des versions gratuites existent, les fonctionnalités avancées (comme </a:t>
            </a:r>
            <a:r>
              <a:rPr lang="fr-FR" sz="1800" dirty="0" err="1"/>
              <a:t>FedShard</a:t>
            </a:r>
            <a:r>
              <a:rPr lang="fr-FR" sz="1800" dirty="0"/>
              <a:t>™) peuvent nécessiter des investissements, selon les besoins.</a:t>
            </a:r>
          </a:p>
        </p:txBody>
      </p:sp>
      <p:sp>
        <p:nvSpPr>
          <p:cNvPr id="839" name="Google Shape;839;p27">
            <a:extLst>
              <a:ext uri="{FF2B5EF4-FFF2-40B4-BE49-F238E27FC236}">
                <a16:creationId xmlns:a16="http://schemas.microsoft.com/office/drawing/2014/main" id="{0E40871F-6FCE-B052-8508-9C71FEA5F45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Écosystème logiciel &amp; outils</a:t>
            </a:r>
          </a:p>
        </p:txBody>
      </p:sp>
      <p:grpSp>
        <p:nvGrpSpPr>
          <p:cNvPr id="841" name="Google Shape;841;p27">
            <a:extLst>
              <a:ext uri="{FF2B5EF4-FFF2-40B4-BE49-F238E27FC236}">
                <a16:creationId xmlns:a16="http://schemas.microsoft.com/office/drawing/2014/main" id="{1D9B5E1D-890E-2397-1ABC-C05761BC8139}"/>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4073A8C9-57B1-8342-9CC0-2ECCFA2777F0}"/>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F4A30AEE-1B2B-4240-49D1-8C1B103FB923}"/>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99C5EFBA-EEC4-3FA7-38AE-BCD067738C35}"/>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4CB4F0DF-9B3F-BEFE-E04C-4270F8D6D0D4}"/>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392A5697-9725-6262-62F0-D2B0C31AEA9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E40B1E1C-58E3-CDF1-8376-1B52426530B5}"/>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FF7D998D-DEC4-30F5-9EB9-F618770E142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A17003AD-2355-783E-D4CA-90A5A8DAAC1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8B48275D-0DBF-912B-16D9-84619565612A}"/>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96/98</a:t>
            </a:r>
          </a:p>
        </p:txBody>
      </p:sp>
    </p:spTree>
    <p:extLst>
      <p:ext uri="{BB962C8B-B14F-4D97-AF65-F5344CB8AC3E}">
        <p14:creationId xmlns:p14="http://schemas.microsoft.com/office/powerpoint/2010/main" val="6572831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53">
          <a:extLst>
            <a:ext uri="{FF2B5EF4-FFF2-40B4-BE49-F238E27FC236}">
              <a16:creationId xmlns:a16="http://schemas.microsoft.com/office/drawing/2014/main" id="{51A880DD-D6E6-2BBE-D842-2CA11EC3DB7A}"/>
            </a:ext>
          </a:extLst>
        </p:cNvPr>
        <p:cNvGrpSpPr/>
        <p:nvPr/>
      </p:nvGrpSpPr>
      <p:grpSpPr>
        <a:xfrm>
          <a:off x="0" y="0"/>
          <a:ext cx="0" cy="0"/>
          <a:chOff x="0" y="0"/>
          <a:chExt cx="0" cy="0"/>
        </a:xfrm>
      </p:grpSpPr>
      <p:sp>
        <p:nvSpPr>
          <p:cNvPr id="855" name="Google Shape;855;p28">
            <a:extLst>
              <a:ext uri="{FF2B5EF4-FFF2-40B4-BE49-F238E27FC236}">
                <a16:creationId xmlns:a16="http://schemas.microsoft.com/office/drawing/2014/main" id="{E9ECE1B7-BBFD-A16E-E3B4-877B9C2272FE}"/>
              </a:ext>
            </a:extLst>
          </p:cNvPr>
          <p:cNvSpPr txBox="1">
            <a:spLocks noGrp="1"/>
          </p:cNvSpPr>
          <p:nvPr>
            <p:ph type="title"/>
          </p:nvPr>
        </p:nvSpPr>
        <p:spPr>
          <a:xfrm>
            <a:off x="1320400" y="1844257"/>
            <a:ext cx="3946800" cy="1363264"/>
          </a:xfrm>
          <a:prstGeom prst="rect">
            <a:avLst/>
          </a:prstGeom>
        </p:spPr>
        <p:txBody>
          <a:bodyPr spcFirstLastPara="1" wrap="square" lIns="91425" tIns="91425" rIns="91425" bIns="91425" anchor="b" anchorCtr="0">
            <a:noAutofit/>
          </a:bodyPr>
          <a:lstStyle/>
          <a:p>
            <a:r>
              <a:rPr lang="fr-FR" dirty="0"/>
              <a:t>Ressources et documentation</a:t>
            </a:r>
            <a:endParaRPr lang="fr-FR" dirty="0">
              <a:effectLst/>
            </a:endParaRPr>
          </a:p>
        </p:txBody>
      </p:sp>
      <p:sp>
        <p:nvSpPr>
          <p:cNvPr id="856" name="Google Shape;856;p28">
            <a:extLst>
              <a:ext uri="{FF2B5EF4-FFF2-40B4-BE49-F238E27FC236}">
                <a16:creationId xmlns:a16="http://schemas.microsoft.com/office/drawing/2014/main" id="{4432523B-2F72-CB01-2DD8-6716E33422E9}"/>
              </a:ext>
            </a:extLst>
          </p:cNvPr>
          <p:cNvSpPr txBox="1">
            <a:spLocks noGrp="1"/>
          </p:cNvSpPr>
          <p:nvPr>
            <p:ph type="title" idx="2"/>
          </p:nvPr>
        </p:nvSpPr>
        <p:spPr>
          <a:xfrm>
            <a:off x="5820275" y="1154975"/>
            <a:ext cx="1905300" cy="109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grpSp>
        <p:nvGrpSpPr>
          <p:cNvPr id="857" name="Google Shape;857;p28">
            <a:extLst>
              <a:ext uri="{FF2B5EF4-FFF2-40B4-BE49-F238E27FC236}">
                <a16:creationId xmlns:a16="http://schemas.microsoft.com/office/drawing/2014/main" id="{B705DD23-44B9-CA79-C2C1-3286A813E270}"/>
              </a:ext>
            </a:extLst>
          </p:cNvPr>
          <p:cNvGrpSpPr/>
          <p:nvPr/>
        </p:nvGrpSpPr>
        <p:grpSpPr>
          <a:xfrm>
            <a:off x="896410" y="1154974"/>
            <a:ext cx="8191495" cy="3912334"/>
            <a:chOff x="896410" y="1154974"/>
            <a:chExt cx="8191495" cy="3912334"/>
          </a:xfrm>
        </p:grpSpPr>
        <p:sp>
          <p:nvSpPr>
            <p:cNvPr id="858" name="Google Shape;858;p28">
              <a:extLst>
                <a:ext uri="{FF2B5EF4-FFF2-40B4-BE49-F238E27FC236}">
                  <a16:creationId xmlns:a16="http://schemas.microsoft.com/office/drawing/2014/main" id="{8CB14855-7848-1B5E-7967-7E1FBE143A4B}"/>
                </a:ext>
              </a:extLst>
            </p:cNvPr>
            <p:cNvSpPr/>
            <p:nvPr/>
          </p:nvSpPr>
          <p:spPr>
            <a:xfrm rot="5400000">
              <a:off x="4917523" y="1266997"/>
              <a:ext cx="523440" cy="866160"/>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859" name="Google Shape;859;p28">
              <a:extLst>
                <a:ext uri="{FF2B5EF4-FFF2-40B4-BE49-F238E27FC236}">
                  <a16:creationId xmlns:a16="http://schemas.microsoft.com/office/drawing/2014/main" id="{8C31B2A0-7FD6-68FB-BCF5-94A01A6E9363}"/>
                </a:ext>
              </a:extLst>
            </p:cNvPr>
            <p:cNvGrpSpPr/>
            <p:nvPr/>
          </p:nvGrpSpPr>
          <p:grpSpPr>
            <a:xfrm>
              <a:off x="6869363" y="2991188"/>
              <a:ext cx="2218542" cy="2076120"/>
              <a:chOff x="8037720" y="3846600"/>
              <a:chExt cx="1923480" cy="1800000"/>
            </a:xfrm>
          </p:grpSpPr>
          <p:sp>
            <p:nvSpPr>
              <p:cNvPr id="860" name="Google Shape;860;p28">
                <a:extLst>
                  <a:ext uri="{FF2B5EF4-FFF2-40B4-BE49-F238E27FC236}">
                    <a16:creationId xmlns:a16="http://schemas.microsoft.com/office/drawing/2014/main" id="{2E9AAEEF-F4EE-50FF-D928-E7999995A6B1}"/>
                  </a:ext>
                </a:extLst>
              </p:cNvPr>
              <p:cNvSpPr/>
              <p:nvPr/>
            </p:nvSpPr>
            <p:spPr>
              <a:xfrm>
                <a:off x="8037720" y="4034160"/>
                <a:ext cx="1923480" cy="1612440"/>
              </a:xfrm>
              <a:custGeom>
                <a:avLst/>
                <a:gdLst/>
                <a:ahLst/>
                <a:cxnLst/>
                <a:rect l="l" t="t" r="r" b="b"/>
                <a:pathLst>
                  <a:path w="5343" h="4479" extrusionOk="0">
                    <a:moveTo>
                      <a:pt x="5343" y="4479"/>
                    </a:moveTo>
                    <a:lnTo>
                      <a:pt x="0" y="4479"/>
                    </a:lnTo>
                    <a:lnTo>
                      <a:pt x="0" y="0"/>
                    </a:lnTo>
                    <a:lnTo>
                      <a:pt x="5343" y="0"/>
                    </a:lnTo>
                    <a:lnTo>
                      <a:pt x="5343" y="4479"/>
                    </a:lnTo>
                    <a:close/>
                  </a:path>
                </a:pathLst>
              </a:custGeom>
              <a:solidFill>
                <a:schemeClr val="accent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1" name="Google Shape;861;p28">
                <a:extLst>
                  <a:ext uri="{FF2B5EF4-FFF2-40B4-BE49-F238E27FC236}">
                    <a16:creationId xmlns:a16="http://schemas.microsoft.com/office/drawing/2014/main" id="{8A190D6C-E512-BE9E-4D61-39B03930F81A}"/>
                  </a:ext>
                </a:extLst>
              </p:cNvPr>
              <p:cNvSpPr/>
              <p:nvPr/>
            </p:nvSpPr>
            <p:spPr>
              <a:xfrm>
                <a:off x="834408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2" name="Google Shape;862;p28">
                <a:extLst>
                  <a:ext uri="{FF2B5EF4-FFF2-40B4-BE49-F238E27FC236}">
                    <a16:creationId xmlns:a16="http://schemas.microsoft.com/office/drawing/2014/main" id="{A15ED9C5-B3EC-11FF-419C-58C130D95F8D}"/>
                  </a:ext>
                </a:extLst>
              </p:cNvPr>
              <p:cNvSpPr/>
              <p:nvPr/>
            </p:nvSpPr>
            <p:spPr>
              <a:xfrm>
                <a:off x="817488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3" name="Google Shape;863;p28">
                <a:extLst>
                  <a:ext uri="{FF2B5EF4-FFF2-40B4-BE49-F238E27FC236}">
                    <a16:creationId xmlns:a16="http://schemas.microsoft.com/office/drawing/2014/main" id="{5BE7A880-6217-7D75-36D7-CEA8C72C8F55}"/>
                  </a:ext>
                </a:extLst>
              </p:cNvPr>
              <p:cNvSpPr/>
              <p:nvPr/>
            </p:nvSpPr>
            <p:spPr>
              <a:xfrm>
                <a:off x="9549720" y="5468760"/>
                <a:ext cx="300960" cy="46800"/>
              </a:xfrm>
              <a:custGeom>
                <a:avLst/>
                <a:gdLst/>
                <a:ahLst/>
                <a:cxnLst/>
                <a:rect l="l" t="t" r="r" b="b"/>
                <a:pathLst>
                  <a:path w="836" h="130" extrusionOk="0">
                    <a:moveTo>
                      <a:pt x="836" y="130"/>
                    </a:moveTo>
                    <a:lnTo>
                      <a:pt x="0" y="130"/>
                    </a:lnTo>
                    <a:lnTo>
                      <a:pt x="0" y="0"/>
                    </a:lnTo>
                    <a:lnTo>
                      <a:pt x="836" y="0"/>
                    </a:lnTo>
                    <a:lnTo>
                      <a:pt x="836" y="130"/>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1800" rIns="90000" bIns="18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64" name="Google Shape;864;p28">
                <a:extLst>
                  <a:ext uri="{FF2B5EF4-FFF2-40B4-BE49-F238E27FC236}">
                    <a16:creationId xmlns:a16="http://schemas.microsoft.com/office/drawing/2014/main" id="{DD39FC20-204A-A26F-3DB4-24A6A753D137}"/>
                  </a:ext>
                </a:extLst>
              </p:cNvPr>
              <p:cNvSpPr/>
              <p:nvPr/>
            </p:nvSpPr>
            <p:spPr>
              <a:xfrm>
                <a:off x="9380520" y="5432760"/>
                <a:ext cx="118440" cy="118440"/>
              </a:xfrm>
              <a:custGeom>
                <a:avLst/>
                <a:gdLst/>
                <a:ahLst/>
                <a:cxnLst/>
                <a:rect l="l" t="t" r="r" b="b"/>
                <a:pathLst>
                  <a:path w="329" h="329" extrusionOk="0">
                    <a:moveTo>
                      <a:pt x="329" y="165"/>
                    </a:moveTo>
                    <a:cubicBezTo>
                      <a:pt x="329" y="255"/>
                      <a:pt x="255" y="329"/>
                      <a:pt x="165" y="329"/>
                    </a:cubicBezTo>
                    <a:cubicBezTo>
                      <a:pt x="74" y="329"/>
                      <a:pt x="0" y="255"/>
                      <a:pt x="0" y="165"/>
                    </a:cubicBezTo>
                    <a:cubicBezTo>
                      <a:pt x="0" y="74"/>
                      <a:pt x="74" y="0"/>
                      <a:pt x="165" y="0"/>
                    </a:cubicBezTo>
                    <a:cubicBezTo>
                      <a:pt x="255" y="0"/>
                      <a:pt x="329" y="74"/>
                      <a:pt x="329" y="165"/>
                    </a:cubicBez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5" name="Google Shape;865;p28">
                <a:extLst>
                  <a:ext uri="{FF2B5EF4-FFF2-40B4-BE49-F238E27FC236}">
                    <a16:creationId xmlns:a16="http://schemas.microsoft.com/office/drawing/2014/main" id="{BBB8E880-9CD2-72CC-102A-51155C0E1BEB}"/>
                  </a:ext>
                </a:extLst>
              </p:cNvPr>
              <p:cNvSpPr/>
              <p:nvPr/>
            </p:nvSpPr>
            <p:spPr>
              <a:xfrm>
                <a:off x="8037720" y="3846600"/>
                <a:ext cx="1923480" cy="187560"/>
              </a:xfrm>
              <a:custGeom>
                <a:avLst/>
                <a:gdLst/>
                <a:ahLst/>
                <a:cxnLst/>
                <a:rect l="l" t="t" r="r" b="b"/>
                <a:pathLst>
                  <a:path w="5343" h="521" extrusionOk="0">
                    <a:moveTo>
                      <a:pt x="5095" y="0"/>
                    </a:moveTo>
                    <a:lnTo>
                      <a:pt x="248" y="0"/>
                    </a:lnTo>
                    <a:cubicBezTo>
                      <a:pt x="111" y="0"/>
                      <a:pt x="0" y="111"/>
                      <a:pt x="0" y="248"/>
                    </a:cubicBezTo>
                    <a:lnTo>
                      <a:pt x="0" y="521"/>
                    </a:lnTo>
                    <a:lnTo>
                      <a:pt x="5343" y="521"/>
                    </a:lnTo>
                    <a:lnTo>
                      <a:pt x="5343" y="248"/>
                    </a:lnTo>
                    <a:cubicBezTo>
                      <a:pt x="5343" y="111"/>
                      <a:pt x="5232" y="0"/>
                      <a:pt x="5095" y="0"/>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6" name="Google Shape;866;p28">
                <a:extLst>
                  <a:ext uri="{FF2B5EF4-FFF2-40B4-BE49-F238E27FC236}">
                    <a16:creationId xmlns:a16="http://schemas.microsoft.com/office/drawing/2014/main" id="{AF5DF7E5-F4A8-4C17-0C52-7BB11DFBA12A}"/>
                  </a:ext>
                </a:extLst>
              </p:cNvPr>
              <p:cNvSpPr/>
              <p:nvPr/>
            </p:nvSpPr>
            <p:spPr>
              <a:xfrm>
                <a:off x="8120520" y="3897360"/>
                <a:ext cx="86040" cy="86040"/>
              </a:xfrm>
              <a:custGeom>
                <a:avLst/>
                <a:gdLst/>
                <a:ahLst/>
                <a:cxnLst/>
                <a:rect l="l" t="t" r="r" b="b"/>
                <a:pathLst>
                  <a:path w="239" h="239" extrusionOk="0">
                    <a:moveTo>
                      <a:pt x="239" y="119"/>
                    </a:moveTo>
                    <a:cubicBezTo>
                      <a:pt x="239" y="186"/>
                      <a:pt x="186" y="239"/>
                      <a:pt x="119" y="239"/>
                    </a:cubicBezTo>
                    <a:cubicBezTo>
                      <a:pt x="53" y="239"/>
                      <a:pt x="0" y="186"/>
                      <a:pt x="0" y="119"/>
                    </a:cubicBezTo>
                    <a:cubicBezTo>
                      <a:pt x="0" y="53"/>
                      <a:pt x="53" y="0"/>
                      <a:pt x="119"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7" name="Google Shape;867;p28">
                <a:extLst>
                  <a:ext uri="{FF2B5EF4-FFF2-40B4-BE49-F238E27FC236}">
                    <a16:creationId xmlns:a16="http://schemas.microsoft.com/office/drawing/2014/main" id="{A55C48CC-CE18-EB7C-128F-ABEBD5C92829}"/>
                  </a:ext>
                </a:extLst>
              </p:cNvPr>
              <p:cNvSpPr/>
              <p:nvPr/>
            </p:nvSpPr>
            <p:spPr>
              <a:xfrm>
                <a:off x="8253720" y="3897360"/>
                <a:ext cx="86040" cy="86040"/>
              </a:xfrm>
              <a:custGeom>
                <a:avLst/>
                <a:gdLst/>
                <a:ahLst/>
                <a:cxnLst/>
                <a:rect l="l" t="t" r="r" b="b"/>
                <a:pathLst>
                  <a:path w="239" h="239" extrusionOk="0">
                    <a:moveTo>
                      <a:pt x="239" y="119"/>
                    </a:moveTo>
                    <a:cubicBezTo>
                      <a:pt x="239" y="186"/>
                      <a:pt x="186" y="239"/>
                      <a:pt x="120" y="239"/>
                    </a:cubicBezTo>
                    <a:cubicBezTo>
                      <a:pt x="53" y="239"/>
                      <a:pt x="0" y="186"/>
                      <a:pt x="0" y="119"/>
                    </a:cubicBezTo>
                    <a:cubicBezTo>
                      <a:pt x="0" y="53"/>
                      <a:pt x="53"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8" name="Google Shape;868;p28">
                <a:extLst>
                  <a:ext uri="{FF2B5EF4-FFF2-40B4-BE49-F238E27FC236}">
                    <a16:creationId xmlns:a16="http://schemas.microsoft.com/office/drawing/2014/main" id="{E846069E-AC32-055E-3B19-B9262D9FB350}"/>
                  </a:ext>
                </a:extLst>
              </p:cNvPr>
              <p:cNvSpPr/>
              <p:nvPr/>
            </p:nvSpPr>
            <p:spPr>
              <a:xfrm>
                <a:off x="8386920" y="3897360"/>
                <a:ext cx="86040" cy="86040"/>
              </a:xfrm>
              <a:custGeom>
                <a:avLst/>
                <a:gdLst/>
                <a:ahLst/>
                <a:cxnLst/>
                <a:rect l="l" t="t" r="r" b="b"/>
                <a:pathLst>
                  <a:path w="239" h="239" extrusionOk="0">
                    <a:moveTo>
                      <a:pt x="239" y="119"/>
                    </a:moveTo>
                    <a:cubicBezTo>
                      <a:pt x="239" y="186"/>
                      <a:pt x="186" y="239"/>
                      <a:pt x="120" y="239"/>
                    </a:cubicBezTo>
                    <a:cubicBezTo>
                      <a:pt x="54" y="239"/>
                      <a:pt x="0" y="186"/>
                      <a:pt x="0" y="119"/>
                    </a:cubicBezTo>
                    <a:cubicBezTo>
                      <a:pt x="0" y="53"/>
                      <a:pt x="54" y="0"/>
                      <a:pt x="120" y="0"/>
                    </a:cubicBezTo>
                    <a:cubicBezTo>
                      <a:pt x="186" y="0"/>
                      <a:pt x="239" y="53"/>
                      <a:pt x="239" y="119"/>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1025" rIns="90000" bIns="410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9" name="Google Shape;869;p28">
                <a:extLst>
                  <a:ext uri="{FF2B5EF4-FFF2-40B4-BE49-F238E27FC236}">
                    <a16:creationId xmlns:a16="http://schemas.microsoft.com/office/drawing/2014/main" id="{BF410133-E0AE-33ED-4C02-B1B77FB2CF2D}"/>
                  </a:ext>
                </a:extLst>
              </p:cNvPr>
              <p:cNvSpPr/>
              <p:nvPr/>
            </p:nvSpPr>
            <p:spPr>
              <a:xfrm>
                <a:off x="8379000" y="4149720"/>
                <a:ext cx="1240920" cy="1241280"/>
              </a:xfrm>
              <a:custGeom>
                <a:avLst/>
                <a:gdLst/>
                <a:ahLst/>
                <a:cxnLst/>
                <a:rect l="l" t="t" r="r" b="b"/>
                <a:pathLst>
                  <a:path w="3447" h="3448" extrusionOk="0">
                    <a:moveTo>
                      <a:pt x="3447" y="1724"/>
                    </a:moveTo>
                    <a:cubicBezTo>
                      <a:pt x="3447" y="2676"/>
                      <a:pt x="2676" y="3448"/>
                      <a:pt x="1724" y="3448"/>
                    </a:cubicBezTo>
                    <a:cubicBezTo>
                      <a:pt x="772" y="3448"/>
                      <a:pt x="0" y="2676"/>
                      <a:pt x="0" y="1724"/>
                    </a:cubicBezTo>
                    <a:cubicBezTo>
                      <a:pt x="0" y="772"/>
                      <a:pt x="772" y="0"/>
                      <a:pt x="1724" y="0"/>
                    </a:cubicBezTo>
                    <a:cubicBezTo>
                      <a:pt x="2676" y="0"/>
                      <a:pt x="3447" y="772"/>
                      <a:pt x="3447" y="1724"/>
                    </a:cubicBezTo>
                    <a:close/>
                  </a:path>
                </a:pathLst>
              </a:custGeom>
              <a:solidFill>
                <a:schemeClr val="accen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0" name="Google Shape;870;p28">
                <a:extLst>
                  <a:ext uri="{FF2B5EF4-FFF2-40B4-BE49-F238E27FC236}">
                    <a16:creationId xmlns:a16="http://schemas.microsoft.com/office/drawing/2014/main" id="{5842E752-3538-AE10-F4CB-F3DABE74E3DC}"/>
                  </a:ext>
                </a:extLst>
              </p:cNvPr>
              <p:cNvSpPr/>
              <p:nvPr/>
            </p:nvSpPr>
            <p:spPr>
              <a:xfrm>
                <a:off x="8590320" y="4363200"/>
                <a:ext cx="795240" cy="795600"/>
              </a:xfrm>
              <a:custGeom>
                <a:avLst/>
                <a:gdLst/>
                <a:ahLst/>
                <a:cxnLst/>
                <a:rect l="l" t="t" r="r" b="b"/>
                <a:pathLst>
                  <a:path w="2209" h="2210" extrusionOk="0">
                    <a:moveTo>
                      <a:pt x="1104" y="1105"/>
                    </a:moveTo>
                    <a:lnTo>
                      <a:pt x="699" y="77"/>
                    </a:lnTo>
                    <a:cubicBezTo>
                      <a:pt x="824" y="28"/>
                      <a:pt x="961" y="0"/>
                      <a:pt x="1104" y="0"/>
                    </a:cubicBezTo>
                    <a:cubicBezTo>
                      <a:pt x="1715" y="0"/>
                      <a:pt x="2209" y="495"/>
                      <a:pt x="2209" y="1105"/>
                    </a:cubicBezTo>
                    <a:cubicBezTo>
                      <a:pt x="2209" y="1715"/>
                      <a:pt x="1715" y="2210"/>
                      <a:pt x="1104" y="2210"/>
                    </a:cubicBezTo>
                    <a:cubicBezTo>
                      <a:pt x="494" y="2210"/>
                      <a:pt x="0" y="1715"/>
                      <a:pt x="0" y="1105"/>
                    </a:cubicBezTo>
                    <a:cubicBezTo>
                      <a:pt x="0" y="1043"/>
                      <a:pt x="5" y="982"/>
                      <a:pt x="15" y="922"/>
                    </a:cubicBezTo>
                    <a:lnTo>
                      <a:pt x="1104" y="1105"/>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1" name="Google Shape;871;p28">
                <a:extLst>
                  <a:ext uri="{FF2B5EF4-FFF2-40B4-BE49-F238E27FC236}">
                    <a16:creationId xmlns:a16="http://schemas.microsoft.com/office/drawing/2014/main" id="{C5AA86E3-8842-A46F-1C7E-998B7A1CFA1E}"/>
                  </a:ext>
                </a:extLst>
              </p:cNvPr>
              <p:cNvSpPr/>
              <p:nvPr/>
            </p:nvSpPr>
            <p:spPr>
              <a:xfrm>
                <a:off x="8526600" y="4341240"/>
                <a:ext cx="392040" cy="370080"/>
              </a:xfrm>
              <a:custGeom>
                <a:avLst/>
                <a:gdLst/>
                <a:ahLst/>
                <a:cxnLst/>
                <a:rect l="l" t="t" r="r" b="b"/>
                <a:pathLst>
                  <a:path w="1089" h="1028" extrusionOk="0">
                    <a:moveTo>
                      <a:pt x="0" y="845"/>
                    </a:moveTo>
                    <a:cubicBezTo>
                      <a:pt x="64" y="458"/>
                      <a:pt x="329" y="140"/>
                      <a:pt x="683" y="0"/>
                    </a:cubicBezTo>
                    <a:lnTo>
                      <a:pt x="1089" y="1028"/>
                    </a:lnTo>
                    <a:lnTo>
                      <a:pt x="0" y="845"/>
                    </a:lnTo>
                    <a:close/>
                  </a:path>
                </a:pathLst>
              </a:custGeom>
              <a:solidFill>
                <a:srgbClr val="FF4D3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72" name="Google Shape;872;p28">
              <a:extLst>
                <a:ext uri="{FF2B5EF4-FFF2-40B4-BE49-F238E27FC236}">
                  <a16:creationId xmlns:a16="http://schemas.microsoft.com/office/drawing/2014/main" id="{E376B8F3-3877-B678-46BA-E569A6438E85}"/>
                </a:ext>
              </a:extLst>
            </p:cNvPr>
            <p:cNvSpPr/>
            <p:nvPr/>
          </p:nvSpPr>
          <p:spPr>
            <a:xfrm>
              <a:off x="896410" y="1154974"/>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3" name="Subtitle 2">
            <a:extLst>
              <a:ext uri="{FF2B5EF4-FFF2-40B4-BE49-F238E27FC236}">
                <a16:creationId xmlns:a16="http://schemas.microsoft.com/office/drawing/2014/main" id="{527FC00B-075E-F3C3-A3A3-598F666FA950}"/>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2211610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6A649980-C68C-04BB-39D7-6B8CD7518640}"/>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AE8F0560-6867-5578-2A88-BA25E7A2D09B}"/>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82600" indent="-342900" algn="l">
              <a:lnSpc>
                <a:spcPct val="150000"/>
              </a:lnSpc>
              <a:buFont typeface="+mj-lt"/>
              <a:buAutoNum type="arabicPeriod"/>
            </a:pPr>
            <a:r>
              <a:rPr lang="fr-FR" sz="1600" u="sng" dirty="0">
                <a:solidFill>
                  <a:srgbClr val="0070C0"/>
                </a:solidFill>
              </a:rPr>
              <a:t>https://fr.wikipedia.org/wiki/AllegroGraph</a:t>
            </a:r>
          </a:p>
          <a:p>
            <a:pPr marL="482600" indent="-342900" algn="l">
              <a:lnSpc>
                <a:spcPct val="150000"/>
              </a:lnSpc>
              <a:buFont typeface="+mj-lt"/>
              <a:buAutoNum type="arabicPeriod"/>
            </a:pPr>
            <a:r>
              <a:rPr lang="fr-FR" sz="1600" u="sng" dirty="0">
                <a:solidFill>
                  <a:srgbClr val="0070C0"/>
                </a:solidFill>
              </a:rPr>
              <a:t>https://allegrograph.com/products/allegrograph/</a:t>
            </a:r>
          </a:p>
          <a:p>
            <a:pPr marL="482600" indent="-342900" algn="l">
              <a:lnSpc>
                <a:spcPct val="150000"/>
              </a:lnSpc>
              <a:buFont typeface="+mj-lt"/>
              <a:buAutoNum type="arabicPeriod"/>
            </a:pPr>
            <a:r>
              <a:rPr lang="fr-FR" sz="1600" u="sng" dirty="0">
                <a:solidFill>
                  <a:srgbClr val="0070C0"/>
                </a:solidFill>
              </a:rPr>
              <a:t>https://franz.com/agraph/support/documentation/7.0.0/cluster-tutorial.html</a:t>
            </a:r>
          </a:p>
          <a:p>
            <a:pPr marL="482600" indent="-342900" algn="l">
              <a:lnSpc>
                <a:spcPct val="150000"/>
              </a:lnSpc>
              <a:buFont typeface="+mj-lt"/>
              <a:buAutoNum type="arabicPeriod"/>
            </a:pPr>
            <a:r>
              <a:rPr lang="fr-FR" sz="1600" u="sng" dirty="0">
                <a:solidFill>
                  <a:srgbClr val="0070C0"/>
                </a:solidFill>
              </a:rPr>
              <a:t>https://www.youtube.com/watch?v=7HyTvzbZf1I&amp;list=PLU8D7K1kFMmsk_9UgbIwu7yv3JGHag7cL</a:t>
            </a:r>
          </a:p>
          <a:p>
            <a:pPr marL="482600" indent="-342900" algn="l">
              <a:lnSpc>
                <a:spcPct val="150000"/>
              </a:lnSpc>
              <a:buFont typeface="+mj-lt"/>
              <a:buAutoNum type="arabicPeriod"/>
            </a:pPr>
            <a:r>
              <a:rPr lang="fr-FR" sz="1600" u="sng" dirty="0">
                <a:solidFill>
                  <a:srgbClr val="0070C0"/>
                </a:solidFill>
              </a:rPr>
              <a:t>https://fr.wikipedia.org/wiki/Triplet_RDF</a:t>
            </a:r>
          </a:p>
          <a:p>
            <a:pPr marL="482600" indent="-342900" algn="l">
              <a:lnSpc>
                <a:spcPct val="150000"/>
              </a:lnSpc>
              <a:buFont typeface="+mj-lt"/>
              <a:buAutoNum type="arabicPeriod"/>
            </a:pPr>
            <a:r>
              <a:rPr lang="fr-FR" sz="1600" u="sng" dirty="0">
                <a:solidFill>
                  <a:srgbClr val="0070C0"/>
                </a:solidFill>
              </a:rPr>
              <a:t>https://fr.wikipedia.org/wiki/Resource_Description_Framework</a:t>
            </a:r>
          </a:p>
        </p:txBody>
      </p:sp>
      <p:sp>
        <p:nvSpPr>
          <p:cNvPr id="839" name="Google Shape;839;p27">
            <a:extLst>
              <a:ext uri="{FF2B5EF4-FFF2-40B4-BE49-F238E27FC236}">
                <a16:creationId xmlns:a16="http://schemas.microsoft.com/office/drawing/2014/main" id="{88444B8D-4A67-AED7-573D-F5F0B76E3318}"/>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Ressources et documentation</a:t>
            </a:r>
          </a:p>
        </p:txBody>
      </p:sp>
      <p:grpSp>
        <p:nvGrpSpPr>
          <p:cNvPr id="841" name="Google Shape;841;p27">
            <a:extLst>
              <a:ext uri="{FF2B5EF4-FFF2-40B4-BE49-F238E27FC236}">
                <a16:creationId xmlns:a16="http://schemas.microsoft.com/office/drawing/2014/main" id="{D6067C27-AE9E-05B9-05C6-1192ED439546}"/>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7E604321-F196-C9D6-5406-E5600EFD7C2B}"/>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8242C11E-2272-D83C-FE33-428DE5BF6F40}"/>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D47AF974-BDC1-DAC0-9993-D11F1827E148}"/>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7EF97622-809D-BBE7-3A38-CA7E3AA5CFF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59DE460D-A64E-1EB2-C4D9-89DC238E5A2E}"/>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52369BA0-5E03-8F00-751C-29B865C5D190}"/>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9121C5F1-5EFF-36A8-9D46-4A4165F8DDED}"/>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49667EFB-A7C5-121C-1561-0A286979670E}"/>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443FBC08-AB9E-04BB-2DD6-581213595380}"/>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97/98</a:t>
            </a:r>
          </a:p>
        </p:txBody>
      </p:sp>
    </p:spTree>
    <p:extLst>
      <p:ext uri="{BB962C8B-B14F-4D97-AF65-F5344CB8AC3E}">
        <p14:creationId xmlns:p14="http://schemas.microsoft.com/office/powerpoint/2010/main" val="417340185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756492BB-F3A0-691D-BE13-4D5F3AD5DAF0}"/>
            </a:ext>
          </a:extLst>
        </p:cNvPr>
        <p:cNvGrpSpPr/>
        <p:nvPr/>
      </p:nvGrpSpPr>
      <p:grpSpPr>
        <a:xfrm>
          <a:off x="0" y="0"/>
          <a:ext cx="0" cy="0"/>
          <a:chOff x="0" y="0"/>
          <a:chExt cx="0" cy="0"/>
        </a:xfrm>
      </p:grpSpPr>
      <p:sp>
        <p:nvSpPr>
          <p:cNvPr id="838" name="Google Shape;838;p27">
            <a:extLst>
              <a:ext uri="{FF2B5EF4-FFF2-40B4-BE49-F238E27FC236}">
                <a16:creationId xmlns:a16="http://schemas.microsoft.com/office/drawing/2014/main" id="{25F5B50F-DFE6-1846-641F-4F6E304CD26B}"/>
              </a:ext>
            </a:extLst>
          </p:cNvPr>
          <p:cNvSpPr txBox="1">
            <a:spLocks noGrp="1"/>
          </p:cNvSpPr>
          <p:nvPr>
            <p:ph type="subTitle" idx="1"/>
          </p:nvPr>
        </p:nvSpPr>
        <p:spPr>
          <a:xfrm>
            <a:off x="656216" y="1586357"/>
            <a:ext cx="7874323" cy="3222310"/>
          </a:xfrm>
          <a:prstGeom prst="rect">
            <a:avLst/>
          </a:prstGeom>
        </p:spPr>
        <p:txBody>
          <a:bodyPr spcFirstLastPara="1" wrap="square" lIns="91425" tIns="91425" rIns="91425" bIns="91425" anchor="t" anchorCtr="0">
            <a:normAutofit/>
          </a:bodyPr>
          <a:lstStyle/>
          <a:p>
            <a:pPr marL="482600" indent="-342900" algn="l">
              <a:lnSpc>
                <a:spcPct val="150000"/>
              </a:lnSpc>
              <a:buFont typeface="+mj-lt"/>
              <a:buAutoNum type="arabicPeriod" startAt="7"/>
            </a:pPr>
            <a:r>
              <a:rPr lang="fr-FR" sz="1600" u="sng" dirty="0">
                <a:solidFill>
                  <a:srgbClr val="0070C0"/>
                </a:solidFill>
              </a:rPr>
              <a:t>https://fr.wikipedia.org/wiki/Linked_open_data</a:t>
            </a:r>
          </a:p>
          <a:p>
            <a:pPr marL="482600" indent="-342900" algn="l">
              <a:lnSpc>
                <a:spcPct val="150000"/>
              </a:lnSpc>
              <a:buFont typeface="+mj-lt"/>
              <a:buAutoNum type="arabicPeriod" startAt="7"/>
            </a:pPr>
            <a:r>
              <a:rPr lang="fr-FR" sz="1600" u="sng" dirty="0">
                <a:solidFill>
                  <a:srgbClr val="0070C0"/>
                </a:solidFill>
              </a:rPr>
              <a:t>https://fr.wikipedia.org/wiki/SPARQL</a:t>
            </a:r>
          </a:p>
          <a:p>
            <a:pPr marL="482600" indent="-342900" algn="l">
              <a:lnSpc>
                <a:spcPct val="150000"/>
              </a:lnSpc>
              <a:buFont typeface="+mj-lt"/>
              <a:buAutoNum type="arabicPeriod" startAt="7"/>
            </a:pPr>
            <a:r>
              <a:rPr lang="fr-FR" sz="1600" u="sng" dirty="0">
                <a:solidFill>
                  <a:srgbClr val="0070C0"/>
                </a:solidFill>
              </a:rPr>
              <a:t>https://www.researchgate.net/figure/Growth-of-Linked-Open-Data-since-2007-1-The-amount-of-data-sets-published-as-LOD-have_fig2_331748480</a:t>
            </a:r>
          </a:p>
          <a:p>
            <a:pPr marL="482600" indent="-342900" algn="l">
              <a:lnSpc>
                <a:spcPct val="150000"/>
              </a:lnSpc>
              <a:buFont typeface="+mj-lt"/>
              <a:buAutoNum type="arabicPeriod" startAt="7"/>
            </a:pPr>
            <a:r>
              <a:rPr lang="fr-FR" sz="1600" u="sng" dirty="0">
                <a:solidFill>
                  <a:srgbClr val="0070C0"/>
                </a:solidFill>
              </a:rPr>
              <a:t>https://pageperso.lis-lab.fr/bernard.espinasse/wp-content/uploads/2021/12/4-Cours-SPARQL-BE-4P-1.pdf</a:t>
            </a:r>
          </a:p>
          <a:p>
            <a:pPr marL="482600" indent="-342900" algn="l">
              <a:lnSpc>
                <a:spcPct val="150000"/>
              </a:lnSpc>
              <a:buFont typeface="+mj-lt"/>
              <a:buAutoNum type="arabicPeriod" startAt="7"/>
            </a:pPr>
            <a:r>
              <a:rPr lang="fr-FR" sz="1600" u="sng" dirty="0">
                <a:solidFill>
                  <a:srgbClr val="0070C0"/>
                </a:solidFill>
              </a:rPr>
              <a:t>https://franz.com/agraph/support/documentation/agraph-introduction.html#Distributed-and-Federated-Repositories</a:t>
            </a:r>
          </a:p>
        </p:txBody>
      </p:sp>
      <p:sp>
        <p:nvSpPr>
          <p:cNvPr id="839" name="Google Shape;839;p27">
            <a:extLst>
              <a:ext uri="{FF2B5EF4-FFF2-40B4-BE49-F238E27FC236}">
                <a16:creationId xmlns:a16="http://schemas.microsoft.com/office/drawing/2014/main" id="{18371C7C-55F2-2F60-8E0B-E57B03E34F84}"/>
              </a:ext>
            </a:extLst>
          </p:cNvPr>
          <p:cNvSpPr txBox="1">
            <a:spLocks noGrp="1"/>
          </p:cNvSpPr>
          <p:nvPr>
            <p:ph type="title"/>
          </p:nvPr>
        </p:nvSpPr>
        <p:spPr>
          <a:xfrm>
            <a:off x="896750" y="941350"/>
            <a:ext cx="7351200" cy="572700"/>
          </a:xfrm>
          <a:prstGeom prst="rect">
            <a:avLst/>
          </a:prstGeom>
        </p:spPr>
        <p:txBody>
          <a:bodyPr spcFirstLastPara="1" wrap="square" lIns="91425" tIns="91425" rIns="91425" bIns="91425" anchor="t" anchorCtr="0">
            <a:noAutofit/>
          </a:bodyPr>
          <a:lstStyle/>
          <a:p>
            <a:pPr lvl="0"/>
            <a:r>
              <a:rPr lang="fr-FR" sz="2400" dirty="0"/>
              <a:t>Ressources et documentation</a:t>
            </a:r>
          </a:p>
        </p:txBody>
      </p:sp>
      <p:grpSp>
        <p:nvGrpSpPr>
          <p:cNvPr id="841" name="Google Shape;841;p27">
            <a:extLst>
              <a:ext uri="{FF2B5EF4-FFF2-40B4-BE49-F238E27FC236}">
                <a16:creationId xmlns:a16="http://schemas.microsoft.com/office/drawing/2014/main" id="{16E2E41A-E715-4AB3-EB8C-B12C3217172D}"/>
              </a:ext>
            </a:extLst>
          </p:cNvPr>
          <p:cNvGrpSpPr/>
          <p:nvPr/>
        </p:nvGrpSpPr>
        <p:grpSpPr>
          <a:xfrm>
            <a:off x="247978" y="902744"/>
            <a:ext cx="9024608" cy="1013340"/>
            <a:chOff x="247978" y="902744"/>
            <a:chExt cx="9024608" cy="1013340"/>
          </a:xfrm>
        </p:grpSpPr>
        <p:grpSp>
          <p:nvGrpSpPr>
            <p:cNvPr id="842" name="Google Shape;842;p27">
              <a:extLst>
                <a:ext uri="{FF2B5EF4-FFF2-40B4-BE49-F238E27FC236}">
                  <a16:creationId xmlns:a16="http://schemas.microsoft.com/office/drawing/2014/main" id="{B2E26341-5C87-AFB0-0982-0CBB4EA5FC83}"/>
                </a:ext>
              </a:extLst>
            </p:cNvPr>
            <p:cNvGrpSpPr/>
            <p:nvPr/>
          </p:nvGrpSpPr>
          <p:grpSpPr>
            <a:xfrm>
              <a:off x="8282554" y="902744"/>
              <a:ext cx="990031" cy="1013340"/>
              <a:chOff x="8264880" y="1119240"/>
              <a:chExt cx="1865520" cy="1909440"/>
            </a:xfrm>
          </p:grpSpPr>
          <p:sp>
            <p:nvSpPr>
              <p:cNvPr id="843" name="Google Shape;843;p27">
                <a:extLst>
                  <a:ext uri="{FF2B5EF4-FFF2-40B4-BE49-F238E27FC236}">
                    <a16:creationId xmlns:a16="http://schemas.microsoft.com/office/drawing/2014/main" id="{4EEA7DA1-3343-0BB1-E760-5BBBF9A5B280}"/>
                  </a:ext>
                </a:extLst>
              </p:cNvPr>
              <p:cNvSpPr/>
              <p:nvPr/>
            </p:nvSpPr>
            <p:spPr>
              <a:xfrm>
                <a:off x="9336240" y="2202840"/>
                <a:ext cx="190080" cy="199080"/>
              </a:xfrm>
              <a:custGeom>
                <a:avLst/>
                <a:gdLst/>
                <a:ahLst/>
                <a:cxnLst/>
                <a:rect l="l" t="t" r="r" b="b"/>
                <a:pathLst>
                  <a:path w="528" h="553" extrusionOk="0">
                    <a:moveTo>
                      <a:pt x="0" y="0"/>
                    </a:moveTo>
                    <a:lnTo>
                      <a:pt x="528" y="553"/>
                    </a:lnTo>
                    <a:lnTo>
                      <a:pt x="0" y="0"/>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4" name="Google Shape;844;p27">
                <a:extLst>
                  <a:ext uri="{FF2B5EF4-FFF2-40B4-BE49-F238E27FC236}">
                    <a16:creationId xmlns:a16="http://schemas.microsoft.com/office/drawing/2014/main" id="{6D700C1D-770B-CB49-9199-31893DE348A2}"/>
                  </a:ext>
                </a:extLst>
              </p:cNvPr>
              <p:cNvSpPr/>
              <p:nvPr/>
            </p:nvSpPr>
            <p:spPr>
              <a:xfrm>
                <a:off x="9298800" y="2167200"/>
                <a:ext cx="264960" cy="270360"/>
              </a:xfrm>
              <a:custGeom>
                <a:avLst/>
                <a:gdLst/>
                <a:ahLst/>
                <a:cxnLst/>
                <a:rect l="l" t="t" r="r" b="b"/>
                <a:pathLst>
                  <a:path w="736" h="751" extrusionOk="0">
                    <a:moveTo>
                      <a:pt x="527" y="751"/>
                    </a:moveTo>
                    <a:lnTo>
                      <a:pt x="736" y="553"/>
                    </a:lnTo>
                    <a:lnTo>
                      <a:pt x="208" y="0"/>
                    </a:lnTo>
                    <a:lnTo>
                      <a:pt x="0" y="198"/>
                    </a:lnTo>
                    <a:lnTo>
                      <a:pt x="527" y="751"/>
                    </a:ln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5" name="Google Shape;845;p27">
                <a:extLst>
                  <a:ext uri="{FF2B5EF4-FFF2-40B4-BE49-F238E27FC236}">
                    <a16:creationId xmlns:a16="http://schemas.microsoft.com/office/drawing/2014/main" id="{C911765C-3187-BFC3-58CB-7EE716D5BFA1}"/>
                  </a:ext>
                </a:extLst>
              </p:cNvPr>
              <p:cNvSpPr/>
              <p:nvPr/>
            </p:nvSpPr>
            <p:spPr>
              <a:xfrm>
                <a:off x="9428400" y="2303640"/>
                <a:ext cx="702000" cy="725040"/>
              </a:xfrm>
              <a:custGeom>
                <a:avLst/>
                <a:gdLst/>
                <a:ahLst/>
                <a:cxnLst/>
                <a:rect l="l" t="t" r="r" b="b"/>
                <a:pathLst>
                  <a:path w="1950" h="2014" extrusionOk="0">
                    <a:moveTo>
                      <a:pt x="1950" y="1606"/>
                    </a:moveTo>
                    <a:cubicBezTo>
                      <a:pt x="1950" y="1660"/>
                      <a:pt x="1930" y="1713"/>
                      <a:pt x="1889" y="1752"/>
                    </a:cubicBezTo>
                    <a:lnTo>
                      <a:pt x="1747" y="1887"/>
                    </a:lnTo>
                    <a:lnTo>
                      <a:pt x="1671" y="1959"/>
                    </a:lnTo>
                    <a:cubicBezTo>
                      <a:pt x="1591" y="2036"/>
                      <a:pt x="1460" y="2030"/>
                      <a:pt x="1380" y="1946"/>
                    </a:cubicBezTo>
                    <a:lnTo>
                      <a:pt x="0" y="499"/>
                    </a:lnTo>
                    <a:lnTo>
                      <a:pt x="1" y="207"/>
                    </a:lnTo>
                    <a:lnTo>
                      <a:pt x="72" y="139"/>
                    </a:lnTo>
                    <a:lnTo>
                      <a:pt x="72" y="139"/>
                    </a:lnTo>
                    <a:lnTo>
                      <a:pt x="218" y="0"/>
                    </a:lnTo>
                    <a:lnTo>
                      <a:pt x="510" y="13"/>
                    </a:lnTo>
                    <a:lnTo>
                      <a:pt x="1890" y="1461"/>
                    </a:lnTo>
                    <a:cubicBezTo>
                      <a:pt x="1929" y="1501"/>
                      <a:pt x="1949" y="1554"/>
                      <a:pt x="1950" y="1606"/>
                    </a:cubicBezTo>
                    <a:close/>
                  </a:path>
                </a:pathLst>
              </a:custGeom>
              <a:solidFill>
                <a:schemeClr val="lt1"/>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6" name="Google Shape;846;p27">
                <a:extLst>
                  <a:ext uri="{FF2B5EF4-FFF2-40B4-BE49-F238E27FC236}">
                    <a16:creationId xmlns:a16="http://schemas.microsoft.com/office/drawing/2014/main" id="{484B741E-4AFC-1E78-C981-071CACF1AB8C}"/>
                  </a:ext>
                </a:extLst>
              </p:cNvPr>
              <p:cNvSpPr/>
              <p:nvPr/>
            </p:nvSpPr>
            <p:spPr>
              <a:xfrm>
                <a:off x="9428400" y="2483280"/>
                <a:ext cx="702000" cy="545400"/>
              </a:xfrm>
              <a:custGeom>
                <a:avLst/>
                <a:gdLst/>
                <a:ahLst/>
                <a:cxnLst/>
                <a:rect l="l" t="t" r="r" b="b"/>
                <a:pathLst>
                  <a:path w="1950" h="1515" extrusionOk="0">
                    <a:moveTo>
                      <a:pt x="1950" y="1107"/>
                    </a:moveTo>
                    <a:cubicBezTo>
                      <a:pt x="1950" y="1161"/>
                      <a:pt x="1930" y="1214"/>
                      <a:pt x="1889" y="1253"/>
                    </a:cubicBezTo>
                    <a:lnTo>
                      <a:pt x="1747" y="1388"/>
                    </a:lnTo>
                    <a:lnTo>
                      <a:pt x="1671" y="1460"/>
                    </a:lnTo>
                    <a:cubicBezTo>
                      <a:pt x="1591" y="1537"/>
                      <a:pt x="1460" y="1531"/>
                      <a:pt x="1380" y="1447"/>
                    </a:cubicBezTo>
                    <a:lnTo>
                      <a:pt x="0" y="0"/>
                    </a:lnTo>
                    <a:lnTo>
                      <a:pt x="1950" y="110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847" name="Google Shape;847;p27">
                <a:extLst>
                  <a:ext uri="{FF2B5EF4-FFF2-40B4-BE49-F238E27FC236}">
                    <a16:creationId xmlns:a16="http://schemas.microsoft.com/office/drawing/2014/main" id="{C498A8E9-2F4C-C362-9CA6-F4022821B69D}"/>
                  </a:ext>
                </a:extLst>
              </p:cNvPr>
              <p:cNvSpPr/>
              <p:nvPr/>
            </p:nvSpPr>
            <p:spPr>
              <a:xfrm>
                <a:off x="8338680" y="1193040"/>
                <a:ext cx="1150920" cy="1151280"/>
              </a:xfrm>
              <a:custGeom>
                <a:avLst/>
                <a:gdLst/>
                <a:ahLst/>
                <a:cxnLst/>
                <a:rect l="l" t="t" r="r" b="b"/>
                <a:pathLst>
                  <a:path w="3197" h="3198" extrusionOk="0">
                    <a:moveTo>
                      <a:pt x="3197" y="1599"/>
                    </a:moveTo>
                    <a:cubicBezTo>
                      <a:pt x="3197" y="2404"/>
                      <a:pt x="2602" y="3070"/>
                      <a:pt x="1828" y="3181"/>
                    </a:cubicBezTo>
                    <a:cubicBezTo>
                      <a:pt x="1754" y="3192"/>
                      <a:pt x="1677" y="3198"/>
                      <a:pt x="1599" y="3198"/>
                    </a:cubicBezTo>
                    <a:cubicBezTo>
                      <a:pt x="1278" y="3198"/>
                      <a:pt x="979" y="3103"/>
                      <a:pt x="729" y="2940"/>
                    </a:cubicBezTo>
                    <a:cubicBezTo>
                      <a:pt x="622" y="2871"/>
                      <a:pt x="524" y="2789"/>
                      <a:pt x="437" y="2698"/>
                    </a:cubicBezTo>
                    <a:cubicBezTo>
                      <a:pt x="306" y="2558"/>
                      <a:pt x="198" y="2396"/>
                      <a:pt x="124" y="2216"/>
                    </a:cubicBezTo>
                    <a:cubicBezTo>
                      <a:pt x="44" y="2026"/>
                      <a:pt x="0" y="1818"/>
                      <a:pt x="0" y="1599"/>
                    </a:cubicBezTo>
                    <a:cubicBezTo>
                      <a:pt x="0" y="725"/>
                      <a:pt x="702" y="14"/>
                      <a:pt x="1573" y="1"/>
                    </a:cubicBezTo>
                    <a:cubicBezTo>
                      <a:pt x="1581" y="0"/>
                      <a:pt x="1590" y="0"/>
                      <a:pt x="1599" y="0"/>
                    </a:cubicBezTo>
                    <a:cubicBezTo>
                      <a:pt x="1789" y="0"/>
                      <a:pt x="1971" y="34"/>
                      <a:pt x="2140" y="94"/>
                    </a:cubicBezTo>
                    <a:cubicBezTo>
                      <a:pt x="2261" y="138"/>
                      <a:pt x="2374" y="195"/>
                      <a:pt x="2479" y="264"/>
                    </a:cubicBezTo>
                    <a:cubicBezTo>
                      <a:pt x="2798" y="475"/>
                      <a:pt x="3037" y="797"/>
                      <a:pt x="3141" y="1175"/>
                    </a:cubicBezTo>
                    <a:cubicBezTo>
                      <a:pt x="3178" y="1310"/>
                      <a:pt x="3197" y="1452"/>
                      <a:pt x="3197" y="1599"/>
                    </a:cubicBez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8" name="Google Shape;848;p27">
                <a:extLst>
                  <a:ext uri="{FF2B5EF4-FFF2-40B4-BE49-F238E27FC236}">
                    <a16:creationId xmlns:a16="http://schemas.microsoft.com/office/drawing/2014/main" id="{38B7C179-807B-E2C2-8B7A-88A9C5643938}"/>
                  </a:ext>
                </a:extLst>
              </p:cNvPr>
              <p:cNvSpPr/>
              <p:nvPr/>
            </p:nvSpPr>
            <p:spPr>
              <a:xfrm>
                <a:off x="8264880" y="1119240"/>
                <a:ext cx="1298880" cy="1298520"/>
              </a:xfrm>
              <a:custGeom>
                <a:avLst/>
                <a:gdLst/>
                <a:ahLst/>
                <a:cxnLst/>
                <a:rect l="l" t="t" r="r" b="b"/>
                <a:pathLst>
                  <a:path w="3608" h="3607" extrusionOk="0">
                    <a:moveTo>
                      <a:pt x="3152" y="2387"/>
                    </a:moveTo>
                    <a:cubicBezTo>
                      <a:pt x="2830" y="3130"/>
                      <a:pt x="1964" y="3473"/>
                      <a:pt x="1221" y="3152"/>
                    </a:cubicBezTo>
                    <a:cubicBezTo>
                      <a:pt x="478" y="2830"/>
                      <a:pt x="135" y="1964"/>
                      <a:pt x="456" y="1221"/>
                    </a:cubicBezTo>
                    <a:cubicBezTo>
                      <a:pt x="778" y="478"/>
                      <a:pt x="1644" y="135"/>
                      <a:pt x="2387" y="456"/>
                    </a:cubicBezTo>
                    <a:cubicBezTo>
                      <a:pt x="3130" y="778"/>
                      <a:pt x="3473" y="1644"/>
                      <a:pt x="3152" y="2387"/>
                    </a:cubicBezTo>
                    <a:moveTo>
                      <a:pt x="1088" y="3459"/>
                    </a:moveTo>
                    <a:cubicBezTo>
                      <a:pt x="2002" y="3854"/>
                      <a:pt x="3063" y="3434"/>
                      <a:pt x="3459" y="2520"/>
                    </a:cubicBezTo>
                    <a:cubicBezTo>
                      <a:pt x="3854" y="1606"/>
                      <a:pt x="3434" y="544"/>
                      <a:pt x="2520" y="149"/>
                    </a:cubicBezTo>
                    <a:cubicBezTo>
                      <a:pt x="1606" y="-246"/>
                      <a:pt x="544" y="174"/>
                      <a:pt x="149" y="1088"/>
                    </a:cubicBezTo>
                    <a:cubicBezTo>
                      <a:pt x="-247" y="2002"/>
                      <a:pt x="174" y="3064"/>
                      <a:pt x="1088" y="3459"/>
                    </a:cubicBez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849" name="Google Shape;849;p27">
              <a:extLst>
                <a:ext uri="{FF2B5EF4-FFF2-40B4-BE49-F238E27FC236}">
                  <a16:creationId xmlns:a16="http://schemas.microsoft.com/office/drawing/2014/main" id="{005DE39F-DFE0-BB36-36A6-47A59091AA9A}"/>
                </a:ext>
              </a:extLst>
            </p:cNvPr>
            <p:cNvSpPr/>
            <p:nvPr/>
          </p:nvSpPr>
          <p:spPr>
            <a:xfrm rot="5400000">
              <a:off x="369489" y="920615"/>
              <a:ext cx="371152" cy="614174"/>
            </a:xfrm>
            <a:custGeom>
              <a:avLst/>
              <a:gdLst/>
              <a:ahLst/>
              <a:cxnLst/>
              <a:rect l="l" t="t" r="r" b="b"/>
              <a:pathLst>
                <a:path w="1454" h="2406" extrusionOk="0">
                  <a:moveTo>
                    <a:pt x="1454" y="1260"/>
                  </a:moveTo>
                  <a:lnTo>
                    <a:pt x="727" y="0"/>
                  </a:lnTo>
                  <a:lnTo>
                    <a:pt x="0" y="1260"/>
                  </a:lnTo>
                  <a:lnTo>
                    <a:pt x="375" y="1260"/>
                  </a:lnTo>
                  <a:lnTo>
                    <a:pt x="375" y="2406"/>
                  </a:lnTo>
                  <a:lnTo>
                    <a:pt x="1079" y="2406"/>
                  </a:lnTo>
                  <a:lnTo>
                    <a:pt x="1079" y="1260"/>
                  </a:lnTo>
                  <a:lnTo>
                    <a:pt x="1454" y="126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2" name="TextBox 1">
            <a:extLst>
              <a:ext uri="{FF2B5EF4-FFF2-40B4-BE49-F238E27FC236}">
                <a16:creationId xmlns:a16="http://schemas.microsoft.com/office/drawing/2014/main" id="{05057164-6127-F3DB-66B8-7718F59BA426}"/>
              </a:ext>
            </a:extLst>
          </p:cNvPr>
          <p:cNvSpPr txBox="1"/>
          <p:nvPr/>
        </p:nvSpPr>
        <p:spPr>
          <a:xfrm>
            <a:off x="7988800" y="4453449"/>
            <a:ext cx="627095" cy="307777"/>
          </a:xfrm>
          <a:prstGeom prst="rect">
            <a:avLst/>
          </a:prstGeom>
          <a:noFill/>
        </p:spPr>
        <p:txBody>
          <a:bodyPr wrap="none" rtlCol="0">
            <a:spAutoFit/>
          </a:bodyPr>
          <a:lstStyle/>
          <a:p>
            <a:r>
              <a:rPr lang="fr-FR" b="1" dirty="0">
                <a:latin typeface="Days One"/>
              </a:rPr>
              <a:t>98/98</a:t>
            </a:r>
          </a:p>
        </p:txBody>
      </p:sp>
    </p:spTree>
    <p:extLst>
      <p:ext uri="{BB962C8B-B14F-4D97-AF65-F5344CB8AC3E}">
        <p14:creationId xmlns:p14="http://schemas.microsoft.com/office/powerpoint/2010/main" val="321455182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837">
          <a:extLst>
            <a:ext uri="{FF2B5EF4-FFF2-40B4-BE49-F238E27FC236}">
              <a16:creationId xmlns:a16="http://schemas.microsoft.com/office/drawing/2014/main" id="{B0773C30-562F-5228-3B8F-E6DFDAE26A38}"/>
            </a:ext>
          </a:extLst>
        </p:cNvPr>
        <p:cNvGrpSpPr/>
        <p:nvPr/>
      </p:nvGrpSpPr>
      <p:grpSpPr>
        <a:xfrm>
          <a:off x="0" y="0"/>
          <a:ext cx="0" cy="0"/>
          <a:chOff x="0" y="0"/>
          <a:chExt cx="0" cy="0"/>
        </a:xfrm>
      </p:grpSpPr>
      <p:grpSp>
        <p:nvGrpSpPr>
          <p:cNvPr id="6" name="Google Shape;1557;p43">
            <a:extLst>
              <a:ext uri="{FF2B5EF4-FFF2-40B4-BE49-F238E27FC236}">
                <a16:creationId xmlns:a16="http://schemas.microsoft.com/office/drawing/2014/main" id="{74DDC243-4B4B-132E-251A-14DC00B0D241}"/>
              </a:ext>
            </a:extLst>
          </p:cNvPr>
          <p:cNvGrpSpPr/>
          <p:nvPr/>
        </p:nvGrpSpPr>
        <p:grpSpPr>
          <a:xfrm>
            <a:off x="-1416405" y="1143899"/>
            <a:ext cx="11900600" cy="3335352"/>
            <a:chOff x="-1416405" y="1143899"/>
            <a:chExt cx="11900600" cy="3335352"/>
          </a:xfrm>
        </p:grpSpPr>
        <p:grpSp>
          <p:nvGrpSpPr>
            <p:cNvPr id="7" name="Google Shape;1558;p43">
              <a:extLst>
                <a:ext uri="{FF2B5EF4-FFF2-40B4-BE49-F238E27FC236}">
                  <a16:creationId xmlns:a16="http://schemas.microsoft.com/office/drawing/2014/main" id="{D3A9F0A4-21D2-D422-AFC0-1A4B024C140D}"/>
                </a:ext>
              </a:extLst>
            </p:cNvPr>
            <p:cNvGrpSpPr/>
            <p:nvPr/>
          </p:nvGrpSpPr>
          <p:grpSpPr>
            <a:xfrm>
              <a:off x="7893995" y="1977285"/>
              <a:ext cx="2590200" cy="1672200"/>
              <a:chOff x="7350120" y="6084360"/>
              <a:chExt cx="2590200" cy="1672200"/>
            </a:xfrm>
          </p:grpSpPr>
          <p:sp>
            <p:nvSpPr>
              <p:cNvPr id="30" name="Google Shape;1559;p43">
                <a:extLst>
                  <a:ext uri="{FF2B5EF4-FFF2-40B4-BE49-F238E27FC236}">
                    <a16:creationId xmlns:a16="http://schemas.microsoft.com/office/drawing/2014/main" id="{DB34800E-6EE8-3425-D98E-6AA4537AE18B}"/>
                  </a:ext>
                </a:extLst>
              </p:cNvPr>
              <p:cNvSpPr/>
              <p:nvPr/>
            </p:nvSpPr>
            <p:spPr>
              <a:xfrm>
                <a:off x="7350120" y="6241680"/>
                <a:ext cx="2590200" cy="1514880"/>
              </a:xfrm>
              <a:custGeom>
                <a:avLst/>
                <a:gdLst/>
                <a:ahLst/>
                <a:cxnLst/>
                <a:rect l="l" t="t" r="r" b="b"/>
                <a:pathLst>
                  <a:path w="7195" h="4208" extrusionOk="0">
                    <a:moveTo>
                      <a:pt x="7195" y="4208"/>
                    </a:moveTo>
                    <a:lnTo>
                      <a:pt x="0" y="4208"/>
                    </a:lnTo>
                    <a:lnTo>
                      <a:pt x="0" y="0"/>
                    </a:lnTo>
                    <a:lnTo>
                      <a:pt x="7195" y="0"/>
                    </a:lnTo>
                    <a:lnTo>
                      <a:pt x="7195" y="4208"/>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1" name="Google Shape;1560;p43">
                <a:extLst>
                  <a:ext uri="{FF2B5EF4-FFF2-40B4-BE49-F238E27FC236}">
                    <a16:creationId xmlns:a16="http://schemas.microsoft.com/office/drawing/2014/main" id="{140C1C3D-1EC9-999B-D0DF-F4626720C3C8}"/>
                  </a:ext>
                </a:extLst>
              </p:cNvPr>
              <p:cNvSpPr/>
              <p:nvPr/>
            </p:nvSpPr>
            <p:spPr>
              <a:xfrm>
                <a:off x="7350120" y="6084360"/>
                <a:ext cx="2590200" cy="157320"/>
              </a:xfrm>
              <a:custGeom>
                <a:avLst/>
                <a:gdLst/>
                <a:ahLst/>
                <a:cxnLst/>
                <a:rect l="l" t="t" r="r" b="b"/>
                <a:pathLst>
                  <a:path w="7195" h="437" extrusionOk="0">
                    <a:moveTo>
                      <a:pt x="6988" y="0"/>
                    </a:moveTo>
                    <a:lnTo>
                      <a:pt x="207" y="0"/>
                    </a:lnTo>
                    <a:cubicBezTo>
                      <a:pt x="93" y="0"/>
                      <a:pt x="0" y="93"/>
                      <a:pt x="0" y="207"/>
                    </a:cubicBezTo>
                    <a:lnTo>
                      <a:pt x="0" y="437"/>
                    </a:lnTo>
                    <a:lnTo>
                      <a:pt x="7195" y="437"/>
                    </a:lnTo>
                    <a:lnTo>
                      <a:pt x="7195" y="207"/>
                    </a:lnTo>
                    <a:cubicBezTo>
                      <a:pt x="7195" y="93"/>
                      <a:pt x="7102" y="0"/>
                      <a:pt x="6988"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2" name="Google Shape;1561;p43">
                <a:extLst>
                  <a:ext uri="{FF2B5EF4-FFF2-40B4-BE49-F238E27FC236}">
                    <a16:creationId xmlns:a16="http://schemas.microsoft.com/office/drawing/2014/main" id="{69CA87E1-BAC7-9BD5-100D-BD0A37F5802D}"/>
                  </a:ext>
                </a:extLst>
              </p:cNvPr>
              <p:cNvSpPr/>
              <p:nvPr/>
            </p:nvSpPr>
            <p:spPr>
              <a:xfrm>
                <a:off x="7419240" y="6126840"/>
                <a:ext cx="72360" cy="72360"/>
              </a:xfrm>
              <a:custGeom>
                <a:avLst/>
                <a:gdLst/>
                <a:ahLst/>
                <a:cxnLst/>
                <a:rect l="l" t="t" r="r" b="b"/>
                <a:pathLst>
                  <a:path w="201" h="201" extrusionOk="0">
                    <a:moveTo>
                      <a:pt x="201" y="100"/>
                    </a:moveTo>
                    <a:cubicBezTo>
                      <a:pt x="201" y="156"/>
                      <a:pt x="156" y="201"/>
                      <a:pt x="100" y="201"/>
                    </a:cubicBezTo>
                    <a:cubicBezTo>
                      <a:pt x="45" y="201"/>
                      <a:pt x="0" y="156"/>
                      <a:pt x="0" y="100"/>
                    </a:cubicBezTo>
                    <a:cubicBezTo>
                      <a:pt x="0" y="45"/>
                      <a:pt x="45" y="0"/>
                      <a:pt x="100" y="0"/>
                    </a:cubicBezTo>
                    <a:cubicBezTo>
                      <a:pt x="156" y="0"/>
                      <a:pt x="201" y="45"/>
                      <a:pt x="201"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3" name="Google Shape;1562;p43">
                <a:extLst>
                  <a:ext uri="{FF2B5EF4-FFF2-40B4-BE49-F238E27FC236}">
                    <a16:creationId xmlns:a16="http://schemas.microsoft.com/office/drawing/2014/main" id="{EDFC4BB9-F967-0726-6FC8-D68C69056515}"/>
                  </a:ext>
                </a:extLst>
              </p:cNvPr>
              <p:cNvSpPr/>
              <p:nvPr/>
            </p:nvSpPr>
            <p:spPr>
              <a:xfrm>
                <a:off x="7530840" y="6126840"/>
                <a:ext cx="72360" cy="72360"/>
              </a:xfrm>
              <a:custGeom>
                <a:avLst/>
                <a:gdLst/>
                <a:ahLst/>
                <a:cxnLst/>
                <a:rect l="l" t="t" r="r" b="b"/>
                <a:pathLst>
                  <a:path w="201" h="201" extrusionOk="0">
                    <a:moveTo>
                      <a:pt x="201" y="100"/>
                    </a:moveTo>
                    <a:cubicBezTo>
                      <a:pt x="201" y="156"/>
                      <a:pt x="156" y="201"/>
                      <a:pt x="101" y="201"/>
                    </a:cubicBezTo>
                    <a:cubicBezTo>
                      <a:pt x="45" y="201"/>
                      <a:pt x="0" y="156"/>
                      <a:pt x="0" y="100"/>
                    </a:cubicBezTo>
                    <a:cubicBezTo>
                      <a:pt x="0" y="45"/>
                      <a:pt x="45" y="0"/>
                      <a:pt x="101" y="0"/>
                    </a:cubicBezTo>
                    <a:cubicBezTo>
                      <a:pt x="156" y="0"/>
                      <a:pt x="201" y="45"/>
                      <a:pt x="201"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4" name="Google Shape;1563;p43">
                <a:extLst>
                  <a:ext uri="{FF2B5EF4-FFF2-40B4-BE49-F238E27FC236}">
                    <a16:creationId xmlns:a16="http://schemas.microsoft.com/office/drawing/2014/main" id="{7268631E-3548-3028-DB1F-48BD2BD0E177}"/>
                  </a:ext>
                </a:extLst>
              </p:cNvPr>
              <p:cNvSpPr/>
              <p:nvPr/>
            </p:nvSpPr>
            <p:spPr>
              <a:xfrm>
                <a:off x="7642800" y="6126840"/>
                <a:ext cx="72000" cy="72360"/>
              </a:xfrm>
              <a:custGeom>
                <a:avLst/>
                <a:gdLst/>
                <a:ahLst/>
                <a:cxnLst/>
                <a:rect l="l" t="t" r="r" b="b"/>
                <a:pathLst>
                  <a:path w="200" h="201" extrusionOk="0">
                    <a:moveTo>
                      <a:pt x="200" y="100"/>
                    </a:moveTo>
                    <a:cubicBezTo>
                      <a:pt x="200" y="156"/>
                      <a:pt x="156" y="201"/>
                      <a:pt x="100" y="201"/>
                    </a:cubicBezTo>
                    <a:cubicBezTo>
                      <a:pt x="45" y="201"/>
                      <a:pt x="0" y="156"/>
                      <a:pt x="0" y="100"/>
                    </a:cubicBezTo>
                    <a:cubicBezTo>
                      <a:pt x="0" y="45"/>
                      <a:pt x="45" y="0"/>
                      <a:pt x="100" y="0"/>
                    </a:cubicBezTo>
                    <a:cubicBezTo>
                      <a:pt x="156" y="0"/>
                      <a:pt x="200" y="45"/>
                      <a:pt x="200"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5" name="Google Shape;1564;p43">
                <a:extLst>
                  <a:ext uri="{FF2B5EF4-FFF2-40B4-BE49-F238E27FC236}">
                    <a16:creationId xmlns:a16="http://schemas.microsoft.com/office/drawing/2014/main" id="{7E5B8DC5-9D67-D26E-33CB-8A195E0C7EE8}"/>
                  </a:ext>
                </a:extLst>
              </p:cNvPr>
              <p:cNvSpPr/>
              <p:nvPr/>
            </p:nvSpPr>
            <p:spPr>
              <a:xfrm>
                <a:off x="7523280" y="6372000"/>
                <a:ext cx="2237760" cy="1217880"/>
              </a:xfrm>
              <a:custGeom>
                <a:avLst/>
                <a:gdLst/>
                <a:ahLst/>
                <a:cxnLst/>
                <a:rect l="l" t="t" r="r" b="b"/>
                <a:pathLst>
                  <a:path w="6216" h="3383" extrusionOk="0">
                    <a:moveTo>
                      <a:pt x="6216" y="3383"/>
                    </a:moveTo>
                    <a:lnTo>
                      <a:pt x="0" y="3383"/>
                    </a:lnTo>
                    <a:lnTo>
                      <a:pt x="0" y="0"/>
                    </a:lnTo>
                    <a:lnTo>
                      <a:pt x="42" y="0"/>
                    </a:lnTo>
                    <a:lnTo>
                      <a:pt x="42" y="3341"/>
                    </a:lnTo>
                    <a:lnTo>
                      <a:pt x="6216" y="3341"/>
                    </a:lnTo>
                    <a:lnTo>
                      <a:pt x="6216" y="3383"/>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36" name="Google Shape;1565;p43">
                <a:extLst>
                  <a:ext uri="{FF2B5EF4-FFF2-40B4-BE49-F238E27FC236}">
                    <a16:creationId xmlns:a16="http://schemas.microsoft.com/office/drawing/2014/main" id="{310B2186-43B1-58B3-5F07-A0B91A50BEFD}"/>
                  </a:ext>
                </a:extLst>
              </p:cNvPr>
              <p:cNvSpPr/>
              <p:nvPr/>
            </p:nvSpPr>
            <p:spPr>
              <a:xfrm>
                <a:off x="7629840" y="7052040"/>
                <a:ext cx="218880" cy="448560"/>
              </a:xfrm>
              <a:custGeom>
                <a:avLst/>
                <a:gdLst/>
                <a:ahLst/>
                <a:cxnLst/>
                <a:rect l="l" t="t" r="r" b="b"/>
                <a:pathLst>
                  <a:path w="608" h="1246" extrusionOk="0">
                    <a:moveTo>
                      <a:pt x="608" y="0"/>
                    </a:moveTo>
                    <a:lnTo>
                      <a:pt x="0" y="0"/>
                    </a:lnTo>
                    <a:lnTo>
                      <a:pt x="0" y="1246"/>
                    </a:lnTo>
                    <a:lnTo>
                      <a:pt x="608" y="1246"/>
                    </a:lnTo>
                    <a:lnTo>
                      <a:pt x="608" y="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7" name="Google Shape;1566;p43">
                <a:extLst>
                  <a:ext uri="{FF2B5EF4-FFF2-40B4-BE49-F238E27FC236}">
                    <a16:creationId xmlns:a16="http://schemas.microsoft.com/office/drawing/2014/main" id="{9A9094BE-BA93-4D9D-F53B-E3FB449EBFCD}"/>
                  </a:ext>
                </a:extLst>
              </p:cNvPr>
              <p:cNvSpPr/>
              <p:nvPr/>
            </p:nvSpPr>
            <p:spPr>
              <a:xfrm>
                <a:off x="7984440" y="6415200"/>
                <a:ext cx="219240" cy="1085400"/>
              </a:xfrm>
              <a:custGeom>
                <a:avLst/>
                <a:gdLst/>
                <a:ahLst/>
                <a:cxnLst/>
                <a:rect l="l" t="t" r="r" b="b"/>
                <a:pathLst>
                  <a:path w="609" h="3015" extrusionOk="0">
                    <a:moveTo>
                      <a:pt x="609" y="0"/>
                    </a:moveTo>
                    <a:lnTo>
                      <a:pt x="0" y="0"/>
                    </a:lnTo>
                    <a:lnTo>
                      <a:pt x="0" y="3015"/>
                    </a:lnTo>
                    <a:lnTo>
                      <a:pt x="609" y="3015"/>
                    </a:lnTo>
                    <a:lnTo>
                      <a:pt x="609" y="0"/>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8" name="Google Shape;1567;p43">
                <a:extLst>
                  <a:ext uri="{FF2B5EF4-FFF2-40B4-BE49-F238E27FC236}">
                    <a16:creationId xmlns:a16="http://schemas.microsoft.com/office/drawing/2014/main" id="{E7C04446-656D-9704-6134-C8B29F193CA6}"/>
                  </a:ext>
                </a:extLst>
              </p:cNvPr>
              <p:cNvSpPr/>
              <p:nvPr/>
            </p:nvSpPr>
            <p:spPr>
              <a:xfrm>
                <a:off x="8339400" y="6681960"/>
                <a:ext cx="219240" cy="818640"/>
              </a:xfrm>
              <a:custGeom>
                <a:avLst/>
                <a:gdLst/>
                <a:ahLst/>
                <a:cxnLst/>
                <a:rect l="l" t="t" r="r" b="b"/>
                <a:pathLst>
                  <a:path w="609" h="2274" extrusionOk="0">
                    <a:moveTo>
                      <a:pt x="609" y="0"/>
                    </a:moveTo>
                    <a:lnTo>
                      <a:pt x="0" y="0"/>
                    </a:lnTo>
                    <a:lnTo>
                      <a:pt x="0" y="2274"/>
                    </a:lnTo>
                    <a:lnTo>
                      <a:pt x="609" y="2274"/>
                    </a:lnTo>
                    <a:lnTo>
                      <a:pt x="609" y="0"/>
                    </a:lnTo>
                    <a:close/>
                  </a:path>
                </a:pathLst>
              </a:custGeom>
              <a:solidFill>
                <a:srgbClr val="D1FAFB"/>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39" name="Google Shape;1568;p43">
                <a:extLst>
                  <a:ext uri="{FF2B5EF4-FFF2-40B4-BE49-F238E27FC236}">
                    <a16:creationId xmlns:a16="http://schemas.microsoft.com/office/drawing/2014/main" id="{3E34FCD5-A014-CD60-BF1B-501B15DF6623}"/>
                  </a:ext>
                </a:extLst>
              </p:cNvPr>
              <p:cNvSpPr/>
              <p:nvPr/>
            </p:nvSpPr>
            <p:spPr>
              <a:xfrm>
                <a:off x="8694360" y="6824520"/>
                <a:ext cx="219240" cy="676080"/>
              </a:xfrm>
              <a:custGeom>
                <a:avLst/>
                <a:gdLst/>
                <a:ahLst/>
                <a:cxnLst/>
                <a:rect l="l" t="t" r="r" b="b"/>
                <a:pathLst>
                  <a:path w="609" h="1878" extrusionOk="0">
                    <a:moveTo>
                      <a:pt x="609" y="0"/>
                    </a:moveTo>
                    <a:lnTo>
                      <a:pt x="0" y="0"/>
                    </a:lnTo>
                    <a:lnTo>
                      <a:pt x="0" y="1878"/>
                    </a:lnTo>
                    <a:lnTo>
                      <a:pt x="609" y="1878"/>
                    </a:lnTo>
                    <a:lnTo>
                      <a:pt x="609" y="0"/>
                    </a:lnTo>
                    <a:close/>
                  </a:path>
                </a:pathLst>
              </a:custGeom>
              <a:solidFill>
                <a:srgbClr val="FCB100"/>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0" name="Google Shape;1569;p43">
                <a:extLst>
                  <a:ext uri="{FF2B5EF4-FFF2-40B4-BE49-F238E27FC236}">
                    <a16:creationId xmlns:a16="http://schemas.microsoft.com/office/drawing/2014/main" id="{E675886E-01A3-1F24-08B4-6BBF96680912}"/>
                  </a:ext>
                </a:extLst>
              </p:cNvPr>
              <p:cNvSpPr/>
              <p:nvPr/>
            </p:nvSpPr>
            <p:spPr>
              <a:xfrm>
                <a:off x="9049320" y="6999120"/>
                <a:ext cx="218880" cy="501480"/>
              </a:xfrm>
              <a:custGeom>
                <a:avLst/>
                <a:gdLst/>
                <a:ahLst/>
                <a:cxnLst/>
                <a:rect l="l" t="t" r="r" b="b"/>
                <a:pathLst>
                  <a:path w="608" h="1393" extrusionOk="0">
                    <a:moveTo>
                      <a:pt x="608" y="0"/>
                    </a:moveTo>
                    <a:lnTo>
                      <a:pt x="0" y="0"/>
                    </a:lnTo>
                    <a:lnTo>
                      <a:pt x="0" y="1393"/>
                    </a:lnTo>
                    <a:lnTo>
                      <a:pt x="608" y="1393"/>
                    </a:lnTo>
                    <a:lnTo>
                      <a:pt x="608" y="0"/>
                    </a:ln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1" name="Google Shape;1570;p43">
                <a:extLst>
                  <a:ext uri="{FF2B5EF4-FFF2-40B4-BE49-F238E27FC236}">
                    <a16:creationId xmlns:a16="http://schemas.microsoft.com/office/drawing/2014/main" id="{5656E6A9-4076-E9CE-5A06-C0B5F12168E6}"/>
                  </a:ext>
                </a:extLst>
              </p:cNvPr>
              <p:cNvSpPr/>
              <p:nvPr/>
            </p:nvSpPr>
            <p:spPr>
              <a:xfrm>
                <a:off x="9403920" y="6415200"/>
                <a:ext cx="219240" cy="1085400"/>
              </a:xfrm>
              <a:custGeom>
                <a:avLst/>
                <a:gdLst/>
                <a:ahLst/>
                <a:cxnLst/>
                <a:rect l="l" t="t" r="r" b="b"/>
                <a:pathLst>
                  <a:path w="609" h="3015" extrusionOk="0">
                    <a:moveTo>
                      <a:pt x="609" y="0"/>
                    </a:moveTo>
                    <a:lnTo>
                      <a:pt x="0" y="0"/>
                    </a:lnTo>
                    <a:lnTo>
                      <a:pt x="0" y="3015"/>
                    </a:lnTo>
                    <a:lnTo>
                      <a:pt x="609" y="3015"/>
                    </a:lnTo>
                    <a:lnTo>
                      <a:pt x="609" y="0"/>
                    </a:lnTo>
                    <a:close/>
                  </a:path>
                </a:pathLst>
              </a:custGeom>
              <a:solidFill>
                <a:srgbClr val="D1FAFB"/>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42" name="Google Shape;1571;p43">
                <a:extLst>
                  <a:ext uri="{FF2B5EF4-FFF2-40B4-BE49-F238E27FC236}">
                    <a16:creationId xmlns:a16="http://schemas.microsoft.com/office/drawing/2014/main" id="{FAA5DF5F-F088-CE77-99FE-03BDA113DAE9}"/>
                  </a:ext>
                </a:extLst>
              </p:cNvPr>
              <p:cNvSpPr/>
              <p:nvPr/>
            </p:nvSpPr>
            <p:spPr>
              <a:xfrm>
                <a:off x="7629840" y="7642800"/>
                <a:ext cx="218880" cy="24120"/>
              </a:xfrm>
              <a:custGeom>
                <a:avLst/>
                <a:gdLst/>
                <a:ahLst/>
                <a:cxnLst/>
                <a:rect l="l" t="t" r="r" b="b"/>
                <a:pathLst>
                  <a:path w="608" h="67" extrusionOk="0">
                    <a:moveTo>
                      <a:pt x="608" y="67"/>
                    </a:moveTo>
                    <a:lnTo>
                      <a:pt x="0" y="67"/>
                    </a:lnTo>
                    <a:lnTo>
                      <a:pt x="0" y="0"/>
                    </a:lnTo>
                    <a:lnTo>
                      <a:pt x="608" y="0"/>
                    </a:lnTo>
                    <a:lnTo>
                      <a:pt x="608"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3" name="Google Shape;1572;p43">
                <a:extLst>
                  <a:ext uri="{FF2B5EF4-FFF2-40B4-BE49-F238E27FC236}">
                    <a16:creationId xmlns:a16="http://schemas.microsoft.com/office/drawing/2014/main" id="{57C5DDDB-2B78-40F5-2969-042B10FCE9DD}"/>
                  </a:ext>
                </a:extLst>
              </p:cNvPr>
              <p:cNvSpPr/>
              <p:nvPr/>
            </p:nvSpPr>
            <p:spPr>
              <a:xfrm>
                <a:off x="798444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4" name="Google Shape;1573;p43">
                <a:extLst>
                  <a:ext uri="{FF2B5EF4-FFF2-40B4-BE49-F238E27FC236}">
                    <a16:creationId xmlns:a16="http://schemas.microsoft.com/office/drawing/2014/main" id="{0676CE2A-47B7-8FBE-A9C4-61F6202412D3}"/>
                  </a:ext>
                </a:extLst>
              </p:cNvPr>
              <p:cNvSpPr/>
              <p:nvPr/>
            </p:nvSpPr>
            <p:spPr>
              <a:xfrm>
                <a:off x="833940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5" name="Google Shape;1574;p43">
                <a:extLst>
                  <a:ext uri="{FF2B5EF4-FFF2-40B4-BE49-F238E27FC236}">
                    <a16:creationId xmlns:a16="http://schemas.microsoft.com/office/drawing/2014/main" id="{9B813BA4-8BE4-409F-3439-D4E20A569F72}"/>
                  </a:ext>
                </a:extLst>
              </p:cNvPr>
              <p:cNvSpPr/>
              <p:nvPr/>
            </p:nvSpPr>
            <p:spPr>
              <a:xfrm>
                <a:off x="869436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6" name="Google Shape;1575;p43">
                <a:extLst>
                  <a:ext uri="{FF2B5EF4-FFF2-40B4-BE49-F238E27FC236}">
                    <a16:creationId xmlns:a16="http://schemas.microsoft.com/office/drawing/2014/main" id="{A782CDC1-F987-290D-3014-54887AF00CC2}"/>
                  </a:ext>
                </a:extLst>
              </p:cNvPr>
              <p:cNvSpPr/>
              <p:nvPr/>
            </p:nvSpPr>
            <p:spPr>
              <a:xfrm>
                <a:off x="9049320" y="7642800"/>
                <a:ext cx="218880" cy="24120"/>
              </a:xfrm>
              <a:custGeom>
                <a:avLst/>
                <a:gdLst/>
                <a:ahLst/>
                <a:cxnLst/>
                <a:rect l="l" t="t" r="r" b="b"/>
                <a:pathLst>
                  <a:path w="608" h="67" extrusionOk="0">
                    <a:moveTo>
                      <a:pt x="608" y="67"/>
                    </a:moveTo>
                    <a:lnTo>
                      <a:pt x="0" y="67"/>
                    </a:lnTo>
                    <a:lnTo>
                      <a:pt x="0" y="0"/>
                    </a:lnTo>
                    <a:lnTo>
                      <a:pt x="608" y="0"/>
                    </a:lnTo>
                    <a:lnTo>
                      <a:pt x="608"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47" name="Google Shape;1576;p43">
                <a:extLst>
                  <a:ext uri="{FF2B5EF4-FFF2-40B4-BE49-F238E27FC236}">
                    <a16:creationId xmlns:a16="http://schemas.microsoft.com/office/drawing/2014/main" id="{E029AF92-513E-9FA6-DB87-A16F96F24C3C}"/>
                  </a:ext>
                </a:extLst>
              </p:cNvPr>
              <p:cNvSpPr/>
              <p:nvPr/>
            </p:nvSpPr>
            <p:spPr>
              <a:xfrm>
                <a:off x="940392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8" name="Google Shape;1577;p43">
              <a:extLst>
                <a:ext uri="{FF2B5EF4-FFF2-40B4-BE49-F238E27FC236}">
                  <a16:creationId xmlns:a16="http://schemas.microsoft.com/office/drawing/2014/main" id="{BAE218D7-27D4-3BE3-32DC-68B1583A4DB5}"/>
                </a:ext>
              </a:extLst>
            </p:cNvPr>
            <p:cNvGrpSpPr/>
            <p:nvPr/>
          </p:nvGrpSpPr>
          <p:grpSpPr>
            <a:xfrm>
              <a:off x="-1416405" y="1977285"/>
              <a:ext cx="2590200" cy="1672200"/>
              <a:chOff x="7350120" y="6084360"/>
              <a:chExt cx="2590200" cy="1672200"/>
            </a:xfrm>
          </p:grpSpPr>
          <p:sp>
            <p:nvSpPr>
              <p:cNvPr id="12" name="Google Shape;1578;p43">
                <a:extLst>
                  <a:ext uri="{FF2B5EF4-FFF2-40B4-BE49-F238E27FC236}">
                    <a16:creationId xmlns:a16="http://schemas.microsoft.com/office/drawing/2014/main" id="{14BEB2BD-A81F-2226-E699-56794174F86A}"/>
                  </a:ext>
                </a:extLst>
              </p:cNvPr>
              <p:cNvSpPr/>
              <p:nvPr/>
            </p:nvSpPr>
            <p:spPr>
              <a:xfrm>
                <a:off x="7350120" y="6241680"/>
                <a:ext cx="2590200" cy="1514880"/>
              </a:xfrm>
              <a:custGeom>
                <a:avLst/>
                <a:gdLst/>
                <a:ahLst/>
                <a:cxnLst/>
                <a:rect l="l" t="t" r="r" b="b"/>
                <a:pathLst>
                  <a:path w="7195" h="4208" extrusionOk="0">
                    <a:moveTo>
                      <a:pt x="7195" y="4208"/>
                    </a:moveTo>
                    <a:lnTo>
                      <a:pt x="0" y="4208"/>
                    </a:lnTo>
                    <a:lnTo>
                      <a:pt x="0" y="0"/>
                    </a:lnTo>
                    <a:lnTo>
                      <a:pt x="7195" y="0"/>
                    </a:lnTo>
                    <a:lnTo>
                      <a:pt x="7195" y="4208"/>
                    </a:ln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 name="Google Shape;1579;p43">
                <a:extLst>
                  <a:ext uri="{FF2B5EF4-FFF2-40B4-BE49-F238E27FC236}">
                    <a16:creationId xmlns:a16="http://schemas.microsoft.com/office/drawing/2014/main" id="{C3F7A1ED-1BE5-4E86-4279-EA4F70E47D1A}"/>
                  </a:ext>
                </a:extLst>
              </p:cNvPr>
              <p:cNvSpPr/>
              <p:nvPr/>
            </p:nvSpPr>
            <p:spPr>
              <a:xfrm>
                <a:off x="7350120" y="6084360"/>
                <a:ext cx="2590200" cy="157320"/>
              </a:xfrm>
              <a:custGeom>
                <a:avLst/>
                <a:gdLst/>
                <a:ahLst/>
                <a:cxnLst/>
                <a:rect l="l" t="t" r="r" b="b"/>
                <a:pathLst>
                  <a:path w="7195" h="437" extrusionOk="0">
                    <a:moveTo>
                      <a:pt x="6988" y="0"/>
                    </a:moveTo>
                    <a:lnTo>
                      <a:pt x="207" y="0"/>
                    </a:lnTo>
                    <a:cubicBezTo>
                      <a:pt x="93" y="0"/>
                      <a:pt x="0" y="93"/>
                      <a:pt x="0" y="207"/>
                    </a:cubicBezTo>
                    <a:lnTo>
                      <a:pt x="0" y="437"/>
                    </a:lnTo>
                    <a:lnTo>
                      <a:pt x="7195" y="437"/>
                    </a:lnTo>
                    <a:lnTo>
                      <a:pt x="7195" y="207"/>
                    </a:lnTo>
                    <a:cubicBezTo>
                      <a:pt x="7195" y="93"/>
                      <a:pt x="7102" y="0"/>
                      <a:pt x="6988" y="0"/>
                    </a:cubicBezTo>
                    <a:close/>
                  </a:path>
                </a:pathLst>
              </a:custGeom>
              <a:solidFill>
                <a:srgbClr val="009096"/>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 name="Google Shape;1580;p43">
                <a:extLst>
                  <a:ext uri="{FF2B5EF4-FFF2-40B4-BE49-F238E27FC236}">
                    <a16:creationId xmlns:a16="http://schemas.microsoft.com/office/drawing/2014/main" id="{1F4837AD-66A4-36D4-8264-10A287CA12C8}"/>
                  </a:ext>
                </a:extLst>
              </p:cNvPr>
              <p:cNvSpPr/>
              <p:nvPr/>
            </p:nvSpPr>
            <p:spPr>
              <a:xfrm>
                <a:off x="7419240" y="6126840"/>
                <a:ext cx="72360" cy="72360"/>
              </a:xfrm>
              <a:custGeom>
                <a:avLst/>
                <a:gdLst/>
                <a:ahLst/>
                <a:cxnLst/>
                <a:rect l="l" t="t" r="r" b="b"/>
                <a:pathLst>
                  <a:path w="201" h="201" extrusionOk="0">
                    <a:moveTo>
                      <a:pt x="201" y="100"/>
                    </a:moveTo>
                    <a:cubicBezTo>
                      <a:pt x="201" y="156"/>
                      <a:pt x="156" y="201"/>
                      <a:pt x="100" y="201"/>
                    </a:cubicBezTo>
                    <a:cubicBezTo>
                      <a:pt x="45" y="201"/>
                      <a:pt x="0" y="156"/>
                      <a:pt x="0" y="100"/>
                    </a:cubicBezTo>
                    <a:cubicBezTo>
                      <a:pt x="0" y="45"/>
                      <a:pt x="45" y="0"/>
                      <a:pt x="100" y="0"/>
                    </a:cubicBezTo>
                    <a:cubicBezTo>
                      <a:pt x="156" y="0"/>
                      <a:pt x="201" y="45"/>
                      <a:pt x="201"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 name="Google Shape;1581;p43">
                <a:extLst>
                  <a:ext uri="{FF2B5EF4-FFF2-40B4-BE49-F238E27FC236}">
                    <a16:creationId xmlns:a16="http://schemas.microsoft.com/office/drawing/2014/main" id="{4794B48B-6F8C-8B71-2D3B-8D6AB1F334FF}"/>
                  </a:ext>
                </a:extLst>
              </p:cNvPr>
              <p:cNvSpPr/>
              <p:nvPr/>
            </p:nvSpPr>
            <p:spPr>
              <a:xfrm>
                <a:off x="7530840" y="6126840"/>
                <a:ext cx="72360" cy="72360"/>
              </a:xfrm>
              <a:custGeom>
                <a:avLst/>
                <a:gdLst/>
                <a:ahLst/>
                <a:cxnLst/>
                <a:rect l="l" t="t" r="r" b="b"/>
                <a:pathLst>
                  <a:path w="201" h="201" extrusionOk="0">
                    <a:moveTo>
                      <a:pt x="201" y="100"/>
                    </a:moveTo>
                    <a:cubicBezTo>
                      <a:pt x="201" y="156"/>
                      <a:pt x="156" y="201"/>
                      <a:pt x="101" y="201"/>
                    </a:cubicBezTo>
                    <a:cubicBezTo>
                      <a:pt x="45" y="201"/>
                      <a:pt x="0" y="156"/>
                      <a:pt x="0" y="100"/>
                    </a:cubicBezTo>
                    <a:cubicBezTo>
                      <a:pt x="0" y="45"/>
                      <a:pt x="45" y="0"/>
                      <a:pt x="101" y="0"/>
                    </a:cubicBezTo>
                    <a:cubicBezTo>
                      <a:pt x="156" y="0"/>
                      <a:pt x="201" y="45"/>
                      <a:pt x="201"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 name="Google Shape;1582;p43">
                <a:extLst>
                  <a:ext uri="{FF2B5EF4-FFF2-40B4-BE49-F238E27FC236}">
                    <a16:creationId xmlns:a16="http://schemas.microsoft.com/office/drawing/2014/main" id="{A75F630A-3FB1-8862-340E-BA0C3AC82BA6}"/>
                  </a:ext>
                </a:extLst>
              </p:cNvPr>
              <p:cNvSpPr/>
              <p:nvPr/>
            </p:nvSpPr>
            <p:spPr>
              <a:xfrm>
                <a:off x="7642800" y="6126840"/>
                <a:ext cx="72000" cy="72360"/>
              </a:xfrm>
              <a:custGeom>
                <a:avLst/>
                <a:gdLst/>
                <a:ahLst/>
                <a:cxnLst/>
                <a:rect l="l" t="t" r="r" b="b"/>
                <a:pathLst>
                  <a:path w="200" h="201" extrusionOk="0">
                    <a:moveTo>
                      <a:pt x="200" y="100"/>
                    </a:moveTo>
                    <a:cubicBezTo>
                      <a:pt x="200" y="156"/>
                      <a:pt x="156" y="201"/>
                      <a:pt x="100" y="201"/>
                    </a:cubicBezTo>
                    <a:cubicBezTo>
                      <a:pt x="45" y="201"/>
                      <a:pt x="0" y="156"/>
                      <a:pt x="0" y="100"/>
                    </a:cubicBezTo>
                    <a:cubicBezTo>
                      <a:pt x="0" y="45"/>
                      <a:pt x="45" y="0"/>
                      <a:pt x="100" y="0"/>
                    </a:cubicBezTo>
                    <a:cubicBezTo>
                      <a:pt x="156" y="0"/>
                      <a:pt x="200" y="45"/>
                      <a:pt x="200" y="100"/>
                    </a:cubicBezTo>
                    <a:close/>
                  </a:path>
                </a:pathLst>
              </a:custGeom>
              <a:solidFill>
                <a:srgbClr val="FFFFFF"/>
              </a:solidFill>
              <a:ln w="19050" cap="flat" cmpd="sng">
                <a:solidFill>
                  <a:schemeClr val="dk1"/>
                </a:solidFill>
                <a:prstDash val="solid"/>
                <a:round/>
                <a:headEnd type="none" w="sm" len="sm"/>
                <a:tailEnd type="none" w="sm" len="sm"/>
              </a:ln>
            </p:spPr>
            <p:txBody>
              <a:bodyPr spcFirstLastPara="1" wrap="square" lIns="90000" tIns="27350" rIns="90000" bIns="273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 name="Google Shape;1583;p43">
                <a:extLst>
                  <a:ext uri="{FF2B5EF4-FFF2-40B4-BE49-F238E27FC236}">
                    <a16:creationId xmlns:a16="http://schemas.microsoft.com/office/drawing/2014/main" id="{A833479E-AB8D-7864-CFCD-BB08B8DA87BE}"/>
                  </a:ext>
                </a:extLst>
              </p:cNvPr>
              <p:cNvSpPr/>
              <p:nvPr/>
            </p:nvSpPr>
            <p:spPr>
              <a:xfrm>
                <a:off x="7523280" y="6372000"/>
                <a:ext cx="2237760" cy="1217880"/>
              </a:xfrm>
              <a:custGeom>
                <a:avLst/>
                <a:gdLst/>
                <a:ahLst/>
                <a:cxnLst/>
                <a:rect l="l" t="t" r="r" b="b"/>
                <a:pathLst>
                  <a:path w="6216" h="3383" extrusionOk="0">
                    <a:moveTo>
                      <a:pt x="6216" y="3383"/>
                    </a:moveTo>
                    <a:lnTo>
                      <a:pt x="0" y="3383"/>
                    </a:lnTo>
                    <a:lnTo>
                      <a:pt x="0" y="0"/>
                    </a:lnTo>
                    <a:lnTo>
                      <a:pt x="42" y="0"/>
                    </a:lnTo>
                    <a:lnTo>
                      <a:pt x="42" y="3341"/>
                    </a:lnTo>
                    <a:lnTo>
                      <a:pt x="6216" y="3341"/>
                    </a:lnTo>
                    <a:lnTo>
                      <a:pt x="6216" y="3383"/>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18" name="Google Shape;1584;p43">
                <a:extLst>
                  <a:ext uri="{FF2B5EF4-FFF2-40B4-BE49-F238E27FC236}">
                    <a16:creationId xmlns:a16="http://schemas.microsoft.com/office/drawing/2014/main" id="{BFE93F8C-C83B-5A1E-7EB6-B23F618AFE5D}"/>
                  </a:ext>
                </a:extLst>
              </p:cNvPr>
              <p:cNvSpPr/>
              <p:nvPr/>
            </p:nvSpPr>
            <p:spPr>
              <a:xfrm>
                <a:off x="7629840" y="7052040"/>
                <a:ext cx="218880" cy="448560"/>
              </a:xfrm>
              <a:custGeom>
                <a:avLst/>
                <a:gdLst/>
                <a:ahLst/>
                <a:cxnLst/>
                <a:rect l="l" t="t" r="r" b="b"/>
                <a:pathLst>
                  <a:path w="608" h="1246" extrusionOk="0">
                    <a:moveTo>
                      <a:pt x="608" y="0"/>
                    </a:moveTo>
                    <a:lnTo>
                      <a:pt x="0" y="0"/>
                    </a:lnTo>
                    <a:lnTo>
                      <a:pt x="0" y="1246"/>
                    </a:lnTo>
                    <a:lnTo>
                      <a:pt x="608" y="1246"/>
                    </a:lnTo>
                    <a:lnTo>
                      <a:pt x="608" y="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 name="Google Shape;1585;p43">
                <a:extLst>
                  <a:ext uri="{FF2B5EF4-FFF2-40B4-BE49-F238E27FC236}">
                    <a16:creationId xmlns:a16="http://schemas.microsoft.com/office/drawing/2014/main" id="{9D1EE949-FDEA-B8A8-13FA-46446D28A4E1}"/>
                  </a:ext>
                </a:extLst>
              </p:cNvPr>
              <p:cNvSpPr/>
              <p:nvPr/>
            </p:nvSpPr>
            <p:spPr>
              <a:xfrm>
                <a:off x="7984440" y="6415200"/>
                <a:ext cx="219240" cy="1085400"/>
              </a:xfrm>
              <a:custGeom>
                <a:avLst/>
                <a:gdLst/>
                <a:ahLst/>
                <a:cxnLst/>
                <a:rect l="l" t="t" r="r" b="b"/>
                <a:pathLst>
                  <a:path w="609" h="3015" extrusionOk="0">
                    <a:moveTo>
                      <a:pt x="609" y="0"/>
                    </a:moveTo>
                    <a:lnTo>
                      <a:pt x="0" y="0"/>
                    </a:lnTo>
                    <a:lnTo>
                      <a:pt x="0" y="3015"/>
                    </a:lnTo>
                    <a:lnTo>
                      <a:pt x="609" y="3015"/>
                    </a:lnTo>
                    <a:lnTo>
                      <a:pt x="609" y="0"/>
                    </a:ln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 name="Google Shape;1586;p43">
                <a:extLst>
                  <a:ext uri="{FF2B5EF4-FFF2-40B4-BE49-F238E27FC236}">
                    <a16:creationId xmlns:a16="http://schemas.microsoft.com/office/drawing/2014/main" id="{78B7A21C-81BA-FFBE-F97F-D5570BD19807}"/>
                  </a:ext>
                </a:extLst>
              </p:cNvPr>
              <p:cNvSpPr/>
              <p:nvPr/>
            </p:nvSpPr>
            <p:spPr>
              <a:xfrm>
                <a:off x="8339400" y="6681960"/>
                <a:ext cx="219240" cy="818640"/>
              </a:xfrm>
              <a:custGeom>
                <a:avLst/>
                <a:gdLst/>
                <a:ahLst/>
                <a:cxnLst/>
                <a:rect l="l" t="t" r="r" b="b"/>
                <a:pathLst>
                  <a:path w="609" h="2274" extrusionOk="0">
                    <a:moveTo>
                      <a:pt x="609" y="0"/>
                    </a:moveTo>
                    <a:lnTo>
                      <a:pt x="0" y="0"/>
                    </a:lnTo>
                    <a:lnTo>
                      <a:pt x="0" y="2274"/>
                    </a:lnTo>
                    <a:lnTo>
                      <a:pt x="609" y="2274"/>
                    </a:lnTo>
                    <a:lnTo>
                      <a:pt x="609" y="0"/>
                    </a:ln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1" name="Google Shape;1587;p43">
                <a:extLst>
                  <a:ext uri="{FF2B5EF4-FFF2-40B4-BE49-F238E27FC236}">
                    <a16:creationId xmlns:a16="http://schemas.microsoft.com/office/drawing/2014/main" id="{E11463F8-4A1C-1C65-549F-DB6EE4D58366}"/>
                  </a:ext>
                </a:extLst>
              </p:cNvPr>
              <p:cNvSpPr/>
              <p:nvPr/>
            </p:nvSpPr>
            <p:spPr>
              <a:xfrm>
                <a:off x="8694360" y="6824520"/>
                <a:ext cx="219240" cy="676080"/>
              </a:xfrm>
              <a:custGeom>
                <a:avLst/>
                <a:gdLst/>
                <a:ahLst/>
                <a:cxnLst/>
                <a:rect l="l" t="t" r="r" b="b"/>
                <a:pathLst>
                  <a:path w="609" h="1878" extrusionOk="0">
                    <a:moveTo>
                      <a:pt x="609" y="0"/>
                    </a:moveTo>
                    <a:lnTo>
                      <a:pt x="0" y="0"/>
                    </a:lnTo>
                    <a:lnTo>
                      <a:pt x="0" y="1878"/>
                    </a:lnTo>
                    <a:lnTo>
                      <a:pt x="609" y="1878"/>
                    </a:lnTo>
                    <a:lnTo>
                      <a:pt x="609" y="0"/>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2" name="Google Shape;1588;p43">
                <a:extLst>
                  <a:ext uri="{FF2B5EF4-FFF2-40B4-BE49-F238E27FC236}">
                    <a16:creationId xmlns:a16="http://schemas.microsoft.com/office/drawing/2014/main" id="{AAF30814-D051-2929-D122-881E7BD33373}"/>
                  </a:ext>
                </a:extLst>
              </p:cNvPr>
              <p:cNvSpPr/>
              <p:nvPr/>
            </p:nvSpPr>
            <p:spPr>
              <a:xfrm>
                <a:off x="9049320" y="6999120"/>
                <a:ext cx="218880" cy="501480"/>
              </a:xfrm>
              <a:custGeom>
                <a:avLst/>
                <a:gdLst/>
                <a:ahLst/>
                <a:cxnLst/>
                <a:rect l="l" t="t" r="r" b="b"/>
                <a:pathLst>
                  <a:path w="608" h="1393" extrusionOk="0">
                    <a:moveTo>
                      <a:pt x="608" y="0"/>
                    </a:moveTo>
                    <a:lnTo>
                      <a:pt x="0" y="0"/>
                    </a:lnTo>
                    <a:lnTo>
                      <a:pt x="0" y="1393"/>
                    </a:lnTo>
                    <a:lnTo>
                      <a:pt x="608" y="1393"/>
                    </a:lnTo>
                    <a:lnTo>
                      <a:pt x="608" y="0"/>
                    </a:lnTo>
                    <a:close/>
                  </a:path>
                </a:pathLst>
              </a:custGeom>
              <a:solidFill>
                <a:schemeClr val="accent3"/>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 name="Google Shape;1589;p43">
                <a:extLst>
                  <a:ext uri="{FF2B5EF4-FFF2-40B4-BE49-F238E27FC236}">
                    <a16:creationId xmlns:a16="http://schemas.microsoft.com/office/drawing/2014/main" id="{8A411C3B-CF20-EA0C-5849-02D44EBDCB64}"/>
                  </a:ext>
                </a:extLst>
              </p:cNvPr>
              <p:cNvSpPr/>
              <p:nvPr/>
            </p:nvSpPr>
            <p:spPr>
              <a:xfrm>
                <a:off x="9403920" y="6415200"/>
                <a:ext cx="219240" cy="1085400"/>
              </a:xfrm>
              <a:custGeom>
                <a:avLst/>
                <a:gdLst/>
                <a:ahLst/>
                <a:cxnLst/>
                <a:rect l="l" t="t" r="r" b="b"/>
                <a:pathLst>
                  <a:path w="609" h="3015" extrusionOk="0">
                    <a:moveTo>
                      <a:pt x="609" y="0"/>
                    </a:moveTo>
                    <a:lnTo>
                      <a:pt x="0" y="0"/>
                    </a:lnTo>
                    <a:lnTo>
                      <a:pt x="0" y="3015"/>
                    </a:lnTo>
                    <a:lnTo>
                      <a:pt x="609" y="3015"/>
                    </a:lnTo>
                    <a:lnTo>
                      <a:pt x="609" y="0"/>
                    </a:lnTo>
                    <a:close/>
                  </a:path>
                </a:pathLst>
              </a:custGeom>
              <a:solidFill>
                <a:schemeClr val="accent4"/>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 name="Google Shape;1590;p43">
                <a:extLst>
                  <a:ext uri="{FF2B5EF4-FFF2-40B4-BE49-F238E27FC236}">
                    <a16:creationId xmlns:a16="http://schemas.microsoft.com/office/drawing/2014/main" id="{2685E893-2D93-F7D6-DB11-7483F0CAB883}"/>
                  </a:ext>
                </a:extLst>
              </p:cNvPr>
              <p:cNvSpPr/>
              <p:nvPr/>
            </p:nvSpPr>
            <p:spPr>
              <a:xfrm>
                <a:off x="7629840" y="7642800"/>
                <a:ext cx="218880" cy="24120"/>
              </a:xfrm>
              <a:custGeom>
                <a:avLst/>
                <a:gdLst/>
                <a:ahLst/>
                <a:cxnLst/>
                <a:rect l="l" t="t" r="r" b="b"/>
                <a:pathLst>
                  <a:path w="608" h="67" extrusionOk="0">
                    <a:moveTo>
                      <a:pt x="608" y="67"/>
                    </a:moveTo>
                    <a:lnTo>
                      <a:pt x="0" y="67"/>
                    </a:lnTo>
                    <a:lnTo>
                      <a:pt x="0" y="0"/>
                    </a:lnTo>
                    <a:lnTo>
                      <a:pt x="608" y="0"/>
                    </a:lnTo>
                    <a:lnTo>
                      <a:pt x="608"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5" name="Google Shape;1591;p43">
                <a:extLst>
                  <a:ext uri="{FF2B5EF4-FFF2-40B4-BE49-F238E27FC236}">
                    <a16:creationId xmlns:a16="http://schemas.microsoft.com/office/drawing/2014/main" id="{48134E06-2DBE-21DC-3C39-46333D158293}"/>
                  </a:ext>
                </a:extLst>
              </p:cNvPr>
              <p:cNvSpPr/>
              <p:nvPr/>
            </p:nvSpPr>
            <p:spPr>
              <a:xfrm>
                <a:off x="798444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6" name="Google Shape;1592;p43">
                <a:extLst>
                  <a:ext uri="{FF2B5EF4-FFF2-40B4-BE49-F238E27FC236}">
                    <a16:creationId xmlns:a16="http://schemas.microsoft.com/office/drawing/2014/main" id="{BEBF017A-F085-80D6-7603-B4BFD7875EFC}"/>
                  </a:ext>
                </a:extLst>
              </p:cNvPr>
              <p:cNvSpPr/>
              <p:nvPr/>
            </p:nvSpPr>
            <p:spPr>
              <a:xfrm>
                <a:off x="833940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 name="Google Shape;1593;p43">
                <a:extLst>
                  <a:ext uri="{FF2B5EF4-FFF2-40B4-BE49-F238E27FC236}">
                    <a16:creationId xmlns:a16="http://schemas.microsoft.com/office/drawing/2014/main" id="{0208C44D-B6C1-7008-832A-717D409344EA}"/>
                  </a:ext>
                </a:extLst>
              </p:cNvPr>
              <p:cNvSpPr/>
              <p:nvPr/>
            </p:nvSpPr>
            <p:spPr>
              <a:xfrm>
                <a:off x="869436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 name="Google Shape;1594;p43">
                <a:extLst>
                  <a:ext uri="{FF2B5EF4-FFF2-40B4-BE49-F238E27FC236}">
                    <a16:creationId xmlns:a16="http://schemas.microsoft.com/office/drawing/2014/main" id="{48CCF8F0-A59B-65DC-10DD-1D0B39BAE309}"/>
                  </a:ext>
                </a:extLst>
              </p:cNvPr>
              <p:cNvSpPr/>
              <p:nvPr/>
            </p:nvSpPr>
            <p:spPr>
              <a:xfrm>
                <a:off x="9049320" y="7642800"/>
                <a:ext cx="218880" cy="24120"/>
              </a:xfrm>
              <a:custGeom>
                <a:avLst/>
                <a:gdLst/>
                <a:ahLst/>
                <a:cxnLst/>
                <a:rect l="l" t="t" r="r" b="b"/>
                <a:pathLst>
                  <a:path w="608" h="67" extrusionOk="0">
                    <a:moveTo>
                      <a:pt x="608" y="67"/>
                    </a:moveTo>
                    <a:lnTo>
                      <a:pt x="0" y="67"/>
                    </a:lnTo>
                    <a:lnTo>
                      <a:pt x="0" y="0"/>
                    </a:lnTo>
                    <a:lnTo>
                      <a:pt x="608" y="0"/>
                    </a:lnTo>
                    <a:lnTo>
                      <a:pt x="608"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9" name="Google Shape;1595;p43">
                <a:extLst>
                  <a:ext uri="{FF2B5EF4-FFF2-40B4-BE49-F238E27FC236}">
                    <a16:creationId xmlns:a16="http://schemas.microsoft.com/office/drawing/2014/main" id="{B14B5DA9-1F14-B97F-7915-FD7B93D20006}"/>
                  </a:ext>
                </a:extLst>
              </p:cNvPr>
              <p:cNvSpPr/>
              <p:nvPr/>
            </p:nvSpPr>
            <p:spPr>
              <a:xfrm>
                <a:off x="9403920" y="7642800"/>
                <a:ext cx="219240" cy="24120"/>
              </a:xfrm>
              <a:custGeom>
                <a:avLst/>
                <a:gdLst/>
                <a:ahLst/>
                <a:cxnLst/>
                <a:rect l="l" t="t" r="r" b="b"/>
                <a:pathLst>
                  <a:path w="609" h="67" extrusionOk="0">
                    <a:moveTo>
                      <a:pt x="609" y="67"/>
                    </a:moveTo>
                    <a:lnTo>
                      <a:pt x="0" y="67"/>
                    </a:lnTo>
                    <a:lnTo>
                      <a:pt x="0" y="0"/>
                    </a:lnTo>
                    <a:lnTo>
                      <a:pt x="609" y="0"/>
                    </a:lnTo>
                    <a:lnTo>
                      <a:pt x="609" y="67"/>
                    </a:lnTo>
                    <a:close/>
                  </a:path>
                </a:pathLst>
              </a:custGeom>
              <a:solidFill>
                <a:srgbClr val="3E282C"/>
              </a:solidFill>
              <a:ln w="19050" cap="flat" cmpd="sng">
                <a:solidFill>
                  <a:schemeClr val="dk1"/>
                </a:solidFill>
                <a:prstDash val="solid"/>
                <a:round/>
                <a:headEnd type="none" w="sm" len="sm"/>
                <a:tailEnd type="none" w="sm" len="sm"/>
              </a:ln>
            </p:spPr>
            <p:txBody>
              <a:bodyPr spcFirstLastPara="1" wrap="square" lIns="90000" tIns="0" rIns="90000" bIns="0" anchor="ctr" anchorCtr="1">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grpSp>
        <p:grpSp>
          <p:nvGrpSpPr>
            <p:cNvPr id="9" name="Google Shape;1596;p43">
              <a:extLst>
                <a:ext uri="{FF2B5EF4-FFF2-40B4-BE49-F238E27FC236}">
                  <a16:creationId xmlns:a16="http://schemas.microsoft.com/office/drawing/2014/main" id="{A7FE689A-C0A5-0806-9B22-812DB0CE91AB}"/>
                </a:ext>
              </a:extLst>
            </p:cNvPr>
            <p:cNvGrpSpPr/>
            <p:nvPr/>
          </p:nvGrpSpPr>
          <p:grpSpPr>
            <a:xfrm>
              <a:off x="713235" y="1143899"/>
              <a:ext cx="7717534" cy="3335352"/>
              <a:chOff x="713235" y="1143899"/>
              <a:chExt cx="7717534" cy="3335352"/>
            </a:xfrm>
          </p:grpSpPr>
          <p:sp>
            <p:nvSpPr>
              <p:cNvPr id="10" name="Google Shape;1597;p43">
                <a:extLst>
                  <a:ext uri="{FF2B5EF4-FFF2-40B4-BE49-F238E27FC236}">
                    <a16:creationId xmlns:a16="http://schemas.microsoft.com/office/drawing/2014/main" id="{2829DD39-6EFC-7796-8078-862D20FB80F2}"/>
                  </a:ext>
                </a:extLst>
              </p:cNvPr>
              <p:cNvSpPr/>
              <p:nvPr/>
            </p:nvSpPr>
            <p:spPr>
              <a:xfrm>
                <a:off x="7965735" y="4018749"/>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accent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 name="Google Shape;1598;p43">
                <a:extLst>
                  <a:ext uri="{FF2B5EF4-FFF2-40B4-BE49-F238E27FC236}">
                    <a16:creationId xmlns:a16="http://schemas.microsoft.com/office/drawing/2014/main" id="{5A34A4F7-96FF-FD1C-3FC0-1C1C56CA9A41}"/>
                  </a:ext>
                </a:extLst>
              </p:cNvPr>
              <p:cNvSpPr/>
              <p:nvPr/>
            </p:nvSpPr>
            <p:spPr>
              <a:xfrm>
                <a:off x="713235" y="1143899"/>
                <a:ext cx="465034" cy="460502"/>
              </a:xfrm>
              <a:custGeom>
                <a:avLst/>
                <a:gdLst/>
                <a:ahLst/>
                <a:cxnLst/>
                <a:rect l="l" t="t" r="r" b="b"/>
                <a:pathLst>
                  <a:path w="4515" h="4471" extrusionOk="0">
                    <a:moveTo>
                      <a:pt x="1821" y="3126"/>
                    </a:moveTo>
                    <a:cubicBezTo>
                      <a:pt x="1330" y="2885"/>
                      <a:pt x="1126" y="2290"/>
                      <a:pt x="1367" y="1799"/>
                    </a:cubicBezTo>
                    <a:cubicBezTo>
                      <a:pt x="1608" y="1308"/>
                      <a:pt x="2204" y="1105"/>
                      <a:pt x="2695" y="1345"/>
                    </a:cubicBezTo>
                    <a:cubicBezTo>
                      <a:pt x="3186" y="1587"/>
                      <a:pt x="3389" y="2182"/>
                      <a:pt x="3148" y="2673"/>
                    </a:cubicBezTo>
                    <a:cubicBezTo>
                      <a:pt x="2907" y="3164"/>
                      <a:pt x="2312" y="3367"/>
                      <a:pt x="1821" y="3126"/>
                    </a:cubicBezTo>
                    <a:moveTo>
                      <a:pt x="3878" y="3808"/>
                    </a:moveTo>
                    <a:cubicBezTo>
                      <a:pt x="4043" y="3638"/>
                      <a:pt x="4179" y="3444"/>
                      <a:pt x="4284" y="3230"/>
                    </a:cubicBezTo>
                    <a:lnTo>
                      <a:pt x="4287" y="3225"/>
                    </a:lnTo>
                    <a:lnTo>
                      <a:pt x="3946" y="3058"/>
                    </a:lnTo>
                    <a:cubicBezTo>
                      <a:pt x="4035" y="2876"/>
                      <a:pt x="4091" y="2687"/>
                      <a:pt x="4118" y="2496"/>
                    </a:cubicBezTo>
                    <a:lnTo>
                      <a:pt x="4494" y="2549"/>
                    </a:lnTo>
                    <a:cubicBezTo>
                      <a:pt x="4526" y="2315"/>
                      <a:pt x="4522" y="2077"/>
                      <a:pt x="4481" y="1843"/>
                    </a:cubicBezTo>
                    <a:lnTo>
                      <a:pt x="4106" y="1909"/>
                    </a:lnTo>
                    <a:cubicBezTo>
                      <a:pt x="4072" y="1716"/>
                      <a:pt x="4007" y="1528"/>
                      <a:pt x="3915" y="1354"/>
                    </a:cubicBezTo>
                    <a:lnTo>
                      <a:pt x="4251" y="1176"/>
                    </a:lnTo>
                    <a:cubicBezTo>
                      <a:pt x="4139" y="966"/>
                      <a:pt x="3996" y="776"/>
                      <a:pt x="3826" y="612"/>
                    </a:cubicBezTo>
                    <a:lnTo>
                      <a:pt x="3562" y="885"/>
                    </a:lnTo>
                    <a:cubicBezTo>
                      <a:pt x="3425" y="752"/>
                      <a:pt x="3266" y="638"/>
                      <a:pt x="3085" y="550"/>
                    </a:cubicBezTo>
                    <a:cubicBezTo>
                      <a:pt x="3084" y="549"/>
                      <a:pt x="3083" y="549"/>
                      <a:pt x="3081" y="548"/>
                    </a:cubicBezTo>
                    <a:lnTo>
                      <a:pt x="3248" y="207"/>
                    </a:lnTo>
                    <a:cubicBezTo>
                      <a:pt x="3034" y="103"/>
                      <a:pt x="2807" y="33"/>
                      <a:pt x="2573" y="0"/>
                    </a:cubicBezTo>
                    <a:lnTo>
                      <a:pt x="2520" y="376"/>
                    </a:lnTo>
                    <a:cubicBezTo>
                      <a:pt x="2323" y="349"/>
                      <a:pt x="2125" y="353"/>
                      <a:pt x="1933" y="387"/>
                    </a:cubicBezTo>
                    <a:lnTo>
                      <a:pt x="1867" y="13"/>
                    </a:lnTo>
                    <a:cubicBezTo>
                      <a:pt x="1633" y="54"/>
                      <a:pt x="1409" y="131"/>
                      <a:pt x="1200" y="242"/>
                    </a:cubicBezTo>
                    <a:lnTo>
                      <a:pt x="1378" y="578"/>
                    </a:lnTo>
                    <a:cubicBezTo>
                      <a:pt x="1205" y="669"/>
                      <a:pt x="1046" y="787"/>
                      <a:pt x="908" y="930"/>
                    </a:cubicBezTo>
                    <a:lnTo>
                      <a:pt x="635" y="666"/>
                    </a:lnTo>
                    <a:cubicBezTo>
                      <a:pt x="472" y="835"/>
                      <a:pt x="336" y="1029"/>
                      <a:pt x="232" y="1241"/>
                    </a:cubicBezTo>
                    <a:lnTo>
                      <a:pt x="230" y="1244"/>
                    </a:lnTo>
                    <a:lnTo>
                      <a:pt x="571" y="1409"/>
                    </a:lnTo>
                    <a:cubicBezTo>
                      <a:pt x="482" y="1592"/>
                      <a:pt x="425" y="1782"/>
                      <a:pt x="398" y="1972"/>
                    </a:cubicBezTo>
                    <a:lnTo>
                      <a:pt x="23" y="1919"/>
                    </a:lnTo>
                    <a:cubicBezTo>
                      <a:pt x="-11" y="2153"/>
                      <a:pt x="-7" y="2391"/>
                      <a:pt x="35" y="2625"/>
                    </a:cubicBezTo>
                    <a:lnTo>
                      <a:pt x="409" y="2559"/>
                    </a:lnTo>
                    <a:cubicBezTo>
                      <a:pt x="443" y="2753"/>
                      <a:pt x="507" y="2941"/>
                      <a:pt x="599" y="3115"/>
                    </a:cubicBezTo>
                    <a:lnTo>
                      <a:pt x="263" y="3293"/>
                    </a:lnTo>
                    <a:cubicBezTo>
                      <a:pt x="374" y="3503"/>
                      <a:pt x="517" y="3693"/>
                      <a:pt x="687" y="3857"/>
                    </a:cubicBezTo>
                    <a:lnTo>
                      <a:pt x="951" y="3585"/>
                    </a:lnTo>
                    <a:cubicBezTo>
                      <a:pt x="1089" y="3718"/>
                      <a:pt x="1249" y="3833"/>
                      <a:pt x="1430" y="3922"/>
                    </a:cubicBezTo>
                    <a:cubicBezTo>
                      <a:pt x="1431" y="3922"/>
                      <a:pt x="1431" y="3922"/>
                      <a:pt x="1432" y="3923"/>
                    </a:cubicBezTo>
                    <a:lnTo>
                      <a:pt x="1265" y="4263"/>
                    </a:lnTo>
                    <a:cubicBezTo>
                      <a:pt x="1479" y="4367"/>
                      <a:pt x="1705" y="4438"/>
                      <a:pt x="1939" y="4471"/>
                    </a:cubicBezTo>
                    <a:lnTo>
                      <a:pt x="1993" y="4095"/>
                    </a:lnTo>
                    <a:cubicBezTo>
                      <a:pt x="2190" y="4123"/>
                      <a:pt x="2388" y="4119"/>
                      <a:pt x="2580" y="4085"/>
                    </a:cubicBezTo>
                    <a:lnTo>
                      <a:pt x="2645" y="4460"/>
                    </a:lnTo>
                    <a:cubicBezTo>
                      <a:pt x="2879" y="4419"/>
                      <a:pt x="3103" y="4342"/>
                      <a:pt x="3313" y="4231"/>
                    </a:cubicBezTo>
                    <a:lnTo>
                      <a:pt x="3135" y="3895"/>
                    </a:lnTo>
                    <a:cubicBezTo>
                      <a:pt x="3308" y="3804"/>
                      <a:pt x="3467" y="3686"/>
                      <a:pt x="3606" y="3544"/>
                    </a:cubicBezTo>
                    <a:lnTo>
                      <a:pt x="3878" y="3808"/>
                    </a:ln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48" name="Google Shape;1532;p43">
            <a:extLst>
              <a:ext uri="{FF2B5EF4-FFF2-40B4-BE49-F238E27FC236}">
                <a16:creationId xmlns:a16="http://schemas.microsoft.com/office/drawing/2014/main" id="{CD59653E-1570-6AA3-163A-D2EFF95914A3}"/>
              </a:ext>
            </a:extLst>
          </p:cNvPr>
          <p:cNvSpPr txBox="1">
            <a:spLocks noGrp="1"/>
          </p:cNvSpPr>
          <p:nvPr>
            <p:ph type="title"/>
          </p:nvPr>
        </p:nvSpPr>
        <p:spPr>
          <a:xfrm>
            <a:off x="2347938" y="785150"/>
            <a:ext cx="44481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6500" dirty="0"/>
              <a:t>Merci!</a:t>
            </a:r>
            <a:endParaRPr sz="6500" dirty="0"/>
          </a:p>
        </p:txBody>
      </p:sp>
      <p:sp>
        <p:nvSpPr>
          <p:cNvPr id="49" name="Google Shape;1533;p43">
            <a:extLst>
              <a:ext uri="{FF2B5EF4-FFF2-40B4-BE49-F238E27FC236}">
                <a16:creationId xmlns:a16="http://schemas.microsoft.com/office/drawing/2014/main" id="{CD6EE14F-BCE5-3F26-0185-ED5C378938CD}"/>
              </a:ext>
            </a:extLst>
          </p:cNvPr>
          <p:cNvSpPr txBox="1">
            <a:spLocks noGrp="1"/>
          </p:cNvSpPr>
          <p:nvPr>
            <p:ph type="subTitle" idx="1"/>
          </p:nvPr>
        </p:nvSpPr>
        <p:spPr>
          <a:xfrm>
            <a:off x="2347900" y="2526783"/>
            <a:ext cx="4448100" cy="1113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800" b="1" dirty="0"/>
              <a:t>QUESTIONS ?</a:t>
            </a:r>
            <a:endParaRPr sz="2800" dirty="0"/>
          </a:p>
        </p:txBody>
      </p:sp>
    </p:spTree>
    <p:extLst>
      <p:ext uri="{BB962C8B-B14F-4D97-AF65-F5344CB8AC3E}">
        <p14:creationId xmlns:p14="http://schemas.microsoft.com/office/powerpoint/2010/main" val="76982726"/>
      </p:ext>
    </p:extLst>
  </p:cSld>
  <p:clrMapOvr>
    <a:masterClrMapping/>
  </p:clrMapOvr>
</p:sld>
</file>

<file path=ppt/theme/theme1.xml><?xml version="1.0" encoding="utf-8"?>
<a:theme xmlns:a="http://schemas.openxmlformats.org/drawingml/2006/main" name="Data Analysis and Statistics - 5th grade by Slidesgo">
  <a:themeElements>
    <a:clrScheme name="Simple Light">
      <a:dk1>
        <a:srgbClr val="3C2C31"/>
      </a:dk1>
      <a:lt1>
        <a:srgbClr val="E24E42"/>
      </a:lt1>
      <a:dk2>
        <a:srgbClr val="E9B000"/>
      </a:dk2>
      <a:lt2>
        <a:srgbClr val="008F95"/>
      </a:lt2>
      <a:accent1>
        <a:srgbClr val="DDFBFC"/>
      </a:accent1>
      <a:accent2>
        <a:srgbClr val="EB6E80"/>
      </a:accent2>
      <a:accent3>
        <a:srgbClr val="F8D2D2"/>
      </a:accent3>
      <a:accent4>
        <a:srgbClr val="FAEBEB"/>
      </a:accent4>
      <a:accent5>
        <a:srgbClr val="FFFFFF"/>
      </a:accent5>
      <a:accent6>
        <a:srgbClr val="FFFFFF"/>
      </a:accent6>
      <a:hlink>
        <a:srgbClr val="3C2C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1870</TotalTime>
  <Words>6608</Words>
  <Application>Microsoft Office PowerPoint</Application>
  <PresentationFormat>On-screen Show (16:9)</PresentationFormat>
  <Paragraphs>565</Paragraphs>
  <Slides>109</Slides>
  <Notes>109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109</vt:i4>
      </vt:variant>
    </vt:vector>
  </HeadingPairs>
  <TitlesOfParts>
    <vt:vector size="116" baseType="lpstr">
      <vt:lpstr>Arial</vt:lpstr>
      <vt:lpstr>Bebas Neue</vt:lpstr>
      <vt:lpstr>Darker Grotesque SemiBold</vt:lpstr>
      <vt:lpstr>Days One</vt:lpstr>
      <vt:lpstr>Lato</vt:lpstr>
      <vt:lpstr>Wingdings</vt:lpstr>
      <vt:lpstr>Data Analysis and Statistics - 5th grade by Slidesgo</vt:lpstr>
      <vt:lpstr>AllegroGraph</vt:lpstr>
      <vt:lpstr>Qu'allons-nous apprendre?</vt:lpstr>
      <vt:lpstr>Qu'allons-nous apprendre?</vt:lpstr>
      <vt:lpstr>Contexte général</vt:lpstr>
      <vt:lpstr>Web sémantique: Les 3 composants du Web Traditionel</vt:lpstr>
      <vt:lpstr>Web sémantique: Problématiques du Web traditionnel </vt:lpstr>
      <vt:lpstr>Web sémantique: Problématiques du Web traditionnel </vt:lpstr>
      <vt:lpstr>Web sémantique: Problématiques du Web traditionnel </vt:lpstr>
      <vt:lpstr>Web sémantique: Problématiques du Web traditionnel </vt:lpstr>
      <vt:lpstr>Web sémantique: Problématiques du Web traditionnel </vt:lpstr>
      <vt:lpstr>Web sémantique: Définition et Objectif</vt:lpstr>
      <vt:lpstr>Web sémantique: Les 3 composants du Web Traditionel</vt:lpstr>
      <vt:lpstr>Le rôle des bases de données graphe dans cette vision</vt:lpstr>
      <vt:lpstr>Le rôle des bases de données graphe dans cette vision</vt:lpstr>
      <vt:lpstr>Modèle de données fondamental &amp; Langage</vt:lpstr>
      <vt:lpstr>Resource Description Framework (RDF)</vt:lpstr>
      <vt:lpstr>RDF: Concept de triplet</vt:lpstr>
      <vt:lpstr>RDF: Concept de triplet</vt:lpstr>
      <vt:lpstr>RDF: Concept de triplet</vt:lpstr>
      <vt:lpstr>URIs, préfixes et vocabulaires RDF</vt:lpstr>
      <vt:lpstr>URIs, préfixes et vocabulaires RDF</vt:lpstr>
      <vt:lpstr>URIs, préfixes et vocabulaires RDF</vt:lpstr>
      <vt:lpstr>URIs, préfixes et vocabulaires RDF</vt:lpstr>
      <vt:lpstr>URIs, préfixes et vocabulaires RDF</vt:lpstr>
      <vt:lpstr>URIs, préfixes et vocabulaires RDF</vt:lpstr>
      <vt:lpstr>Syntaxes de sérialisation RDF</vt:lpstr>
      <vt:lpstr>Syntaxes de sérialisation RDF</vt:lpstr>
      <vt:lpstr>Syntaxes de sérialisation RDF: Exemples</vt:lpstr>
      <vt:lpstr>Syntaxes de sérialisation RDF: Exemples</vt:lpstr>
      <vt:lpstr>Syntaxes de sérialisation RDF: Exemples</vt:lpstr>
      <vt:lpstr>Syntaxes de sérialisation RDF: Exemples</vt:lpstr>
      <vt:lpstr>Syntaxes de sérialisation RDF: Exemples</vt:lpstr>
      <vt:lpstr>OWL (Web Ontology Language)</vt:lpstr>
      <vt:lpstr>OWL (Web Ontology Language)</vt:lpstr>
      <vt:lpstr>OWL (Web Ontology Language)</vt:lpstr>
      <vt:lpstr>OWL (Web Ontology Language)</vt:lpstr>
      <vt:lpstr>Linked open data</vt:lpstr>
      <vt:lpstr>Linked open data</vt:lpstr>
      <vt:lpstr>Langage SPARQL</vt:lpstr>
      <vt:lpstr>Comparaison: SQL-SPARQL</vt:lpstr>
      <vt:lpstr>Comparaison: SQL-SPARQL</vt:lpstr>
      <vt:lpstr>Comparaison: SQL-SPARQL</vt:lpstr>
      <vt:lpstr>Comparaison: SQL-SPARQL</vt:lpstr>
      <vt:lpstr>Langage SPARQL</vt:lpstr>
      <vt:lpstr>Langage SPARQL</vt:lpstr>
      <vt:lpstr>Langage SPARQL: Exemple</vt:lpstr>
      <vt:lpstr>PowerPoint Presentation</vt:lpstr>
      <vt:lpstr>Langage SPARQL: Explication du graphe RDF</vt:lpstr>
      <vt:lpstr>Langage SPARQL: Explication du graphe RDF</vt:lpstr>
      <vt:lpstr>Langage SPARQL: Explication du graphe RDF</vt:lpstr>
      <vt:lpstr>PowerPoint Presentation</vt:lpstr>
      <vt:lpstr>Langage SPARQL: Explication de la requête</vt:lpstr>
      <vt:lpstr>Langage SPARQL: Explication de la requête</vt:lpstr>
      <vt:lpstr>Langage SPARQL: Explication de la requête</vt:lpstr>
      <vt:lpstr>Le résultat SPARQL :</vt:lpstr>
      <vt:lpstr>Présentation d’AllegroGraph</vt:lpstr>
      <vt:lpstr>Définition</vt:lpstr>
      <vt:lpstr>Définition</vt:lpstr>
      <vt:lpstr>Architecture d’AllegroGraph</vt:lpstr>
      <vt:lpstr>Architeccture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Architecture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Capacités d’AllegroGraph</vt:lpstr>
      <vt:lpstr>Écosystème logiciel &amp; outils</vt:lpstr>
      <vt:lpstr>Écosystème logiciel &amp; outils</vt:lpstr>
      <vt:lpstr>Écosystème logiciel &amp; outils</vt:lpstr>
      <vt:lpstr>Écosystème logiciel &amp; outils</vt:lpstr>
      <vt:lpstr>Écosystème logiciel &amp; outils</vt:lpstr>
      <vt:lpstr>Avantages et limites</vt:lpstr>
      <vt:lpstr>Écosystème logiciel &amp; outils</vt:lpstr>
      <vt:lpstr>Écosystème logiciel &amp; outils</vt:lpstr>
      <vt:lpstr>Écosystème logiciel &amp; outils</vt:lpstr>
      <vt:lpstr>Écosystème logiciel &amp; outils</vt:lpstr>
      <vt:lpstr>Écosystème logiciel &amp; outils</vt:lpstr>
      <vt:lpstr>Ressources et documentation</vt:lpstr>
      <vt:lpstr>Ressources et documentation</vt:lpstr>
      <vt:lpstr>Ressources et documentation</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DELL</cp:lastModifiedBy>
  <cp:revision>155</cp:revision>
  <dcterms:modified xsi:type="dcterms:W3CDTF">2025-09-07T23:24:40Z</dcterms:modified>
</cp:coreProperties>
</file>
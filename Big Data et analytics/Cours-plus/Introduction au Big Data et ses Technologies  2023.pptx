
<file path=[Content_Types].xml><?xml version="1.0" encoding="utf-8"?>
<Types xmlns="http://schemas.openxmlformats.org/package/2006/content-types">
  <Default Extension="png" ContentType="image/png"/>
  <Default Extension="tmp"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notesMasterIdLst>
    <p:notesMasterId r:id="rId28"/>
  </p:notesMasterIdLst>
  <p:sldIdLst>
    <p:sldId id="256" r:id="rId2"/>
    <p:sldId id="257" r:id="rId3"/>
    <p:sldId id="258" r:id="rId4"/>
    <p:sldId id="260" r:id="rId5"/>
    <p:sldId id="291" r:id="rId6"/>
    <p:sldId id="270" r:id="rId7"/>
    <p:sldId id="292" r:id="rId8"/>
    <p:sldId id="262" r:id="rId9"/>
    <p:sldId id="274" r:id="rId10"/>
    <p:sldId id="275" r:id="rId11"/>
    <p:sldId id="273" r:id="rId12"/>
    <p:sldId id="280" r:id="rId13"/>
    <p:sldId id="281" r:id="rId14"/>
    <p:sldId id="282" r:id="rId15"/>
    <p:sldId id="283" r:id="rId16"/>
    <p:sldId id="284" r:id="rId17"/>
    <p:sldId id="285" r:id="rId18"/>
    <p:sldId id="279" r:id="rId19"/>
    <p:sldId id="277" r:id="rId20"/>
    <p:sldId id="278" r:id="rId21"/>
    <p:sldId id="286" r:id="rId22"/>
    <p:sldId id="287" r:id="rId23"/>
    <p:sldId id="288" r:id="rId24"/>
    <p:sldId id="259" r:id="rId25"/>
    <p:sldId id="263" r:id="rId26"/>
    <p:sldId id="289" r:id="rId27"/>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IDIBE" initials="S" lastIdx="2" clrIdx="0">
    <p:extLst>
      <p:ext uri="{19B8F6BF-5375-455C-9EA6-DF929625EA0E}">
        <p15:presenceInfo xmlns:p15="http://schemas.microsoft.com/office/powerpoint/2012/main" userId="SIDIBE"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Style moyen 1 - Accentuation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5940675A-B579-460E-94D1-54222C63F5DA}" styleName="Aucun style, grille du tableau">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61" autoAdjust="0"/>
    <p:restoredTop sz="84899" autoAdjust="0"/>
  </p:normalViewPr>
  <p:slideViewPr>
    <p:cSldViewPr snapToGrid="0">
      <p:cViewPr varScale="1">
        <p:scale>
          <a:sx n="71" d="100"/>
          <a:sy n="71" d="100"/>
        </p:scale>
        <p:origin x="1066"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90C73FE-F505-4A4B-8BD5-8E7950D6B750}" type="doc">
      <dgm:prSet loTypeId="urn:microsoft.com/office/officeart/2008/layout/RadialCluster" loCatId="cycle" qsTypeId="urn:microsoft.com/office/officeart/2005/8/quickstyle/simple1" qsCatId="simple" csTypeId="urn:microsoft.com/office/officeart/2005/8/colors/colorful1" csCatId="colorful" phldr="1"/>
      <dgm:spPr/>
      <dgm:t>
        <a:bodyPr/>
        <a:lstStyle/>
        <a:p>
          <a:endParaRPr lang="fr-FR"/>
        </a:p>
      </dgm:t>
    </dgm:pt>
    <dgm:pt modelId="{C70DCDB6-CAF7-43F9-A256-024599336BB0}">
      <dgm:prSet phldrT="[Texte]"/>
      <dgm:spPr/>
      <dgm:t>
        <a:bodyPr/>
        <a:lstStyle/>
        <a:p>
          <a:r>
            <a:rPr lang="fr-FR" dirty="0"/>
            <a:t>Big Data</a:t>
          </a:r>
        </a:p>
      </dgm:t>
    </dgm:pt>
    <dgm:pt modelId="{AB305E0A-8C2F-4C80-8672-DB569C9CA0D5}" type="parTrans" cxnId="{37D97BD2-241B-4E38-8C8F-0809DA45BA70}">
      <dgm:prSet/>
      <dgm:spPr/>
      <dgm:t>
        <a:bodyPr/>
        <a:lstStyle/>
        <a:p>
          <a:endParaRPr lang="fr-FR"/>
        </a:p>
      </dgm:t>
    </dgm:pt>
    <dgm:pt modelId="{EADE6B0C-75C4-4BFB-A7B0-90DCE058E6AA}" type="sibTrans" cxnId="{37D97BD2-241B-4E38-8C8F-0809DA45BA70}">
      <dgm:prSet/>
      <dgm:spPr/>
      <dgm:t>
        <a:bodyPr/>
        <a:lstStyle/>
        <a:p>
          <a:endParaRPr lang="fr-FR"/>
        </a:p>
      </dgm:t>
    </dgm:pt>
    <dgm:pt modelId="{89768A72-2E26-4BC6-A84B-C8BD2836FD81}">
      <dgm:prSet phldrT="[Texte]"/>
      <dgm:spPr/>
      <dgm:t>
        <a:bodyPr/>
        <a:lstStyle/>
        <a:p>
          <a:pPr algn="ctr"/>
          <a:r>
            <a:rPr lang="fr-FR" b="1" dirty="0"/>
            <a:t>Véracité </a:t>
          </a:r>
        </a:p>
        <a:p>
          <a:pPr algn="just"/>
          <a:r>
            <a:rPr lang="fr-FR" dirty="0"/>
            <a:t>Les données doivent être propre pour être  lisibles</a:t>
          </a:r>
        </a:p>
      </dgm:t>
    </dgm:pt>
    <dgm:pt modelId="{EE23B0E5-A383-457F-BA76-2242367CFEC7}" type="parTrans" cxnId="{2FD06129-F544-4327-A4BB-ED5BF797B9AD}">
      <dgm:prSet/>
      <dgm:spPr/>
      <dgm:t>
        <a:bodyPr/>
        <a:lstStyle/>
        <a:p>
          <a:endParaRPr lang="fr-FR"/>
        </a:p>
      </dgm:t>
    </dgm:pt>
    <dgm:pt modelId="{B0A4AA17-8EE8-4151-B5F7-FD1A258C272F}" type="sibTrans" cxnId="{2FD06129-F544-4327-A4BB-ED5BF797B9AD}">
      <dgm:prSet/>
      <dgm:spPr/>
      <dgm:t>
        <a:bodyPr/>
        <a:lstStyle/>
        <a:p>
          <a:endParaRPr lang="fr-FR"/>
        </a:p>
      </dgm:t>
    </dgm:pt>
    <dgm:pt modelId="{0413FBFA-2D98-43EE-86B2-3BC56DF09C21}">
      <dgm:prSet phldrT="[Texte]"/>
      <dgm:spPr/>
      <dgm:t>
        <a:bodyPr/>
        <a:lstStyle/>
        <a:p>
          <a:pPr algn="ctr"/>
          <a:r>
            <a:rPr lang="fr-FR" b="1" dirty="0"/>
            <a:t>Variété</a:t>
          </a:r>
        </a:p>
        <a:p>
          <a:pPr algn="just"/>
          <a:r>
            <a:rPr lang="fr-FR" dirty="0"/>
            <a:t>Les données sont complexes, structurées de façon hétérogène et disponibles sous plusieurs formats,</a:t>
          </a:r>
        </a:p>
      </dgm:t>
    </dgm:pt>
    <dgm:pt modelId="{FCEB17BC-42C0-432C-9A93-4B5D4468ABF5}" type="parTrans" cxnId="{307DEF6B-8243-44ED-9506-49BBFF123C11}">
      <dgm:prSet/>
      <dgm:spPr/>
      <dgm:t>
        <a:bodyPr/>
        <a:lstStyle/>
        <a:p>
          <a:endParaRPr lang="fr-FR"/>
        </a:p>
      </dgm:t>
    </dgm:pt>
    <dgm:pt modelId="{A72559E4-B57A-4665-9B27-1EC47E8DBE08}" type="sibTrans" cxnId="{307DEF6B-8243-44ED-9506-49BBFF123C11}">
      <dgm:prSet/>
      <dgm:spPr/>
      <dgm:t>
        <a:bodyPr/>
        <a:lstStyle/>
        <a:p>
          <a:endParaRPr lang="fr-FR"/>
        </a:p>
      </dgm:t>
    </dgm:pt>
    <dgm:pt modelId="{6D35444E-2730-4F26-9C25-21B0D5718273}">
      <dgm:prSet phldrT="[Texte]"/>
      <dgm:spPr/>
      <dgm:t>
        <a:bodyPr/>
        <a:lstStyle/>
        <a:p>
          <a:pPr algn="ctr"/>
          <a:r>
            <a:rPr lang="fr-FR" b="1" dirty="0"/>
            <a:t>Volume</a:t>
          </a:r>
        </a:p>
        <a:p>
          <a:pPr algn="just"/>
          <a:r>
            <a:rPr lang="fr-FR" dirty="0"/>
            <a:t>La quantité de données est trop  importante pour être traitée sur un ordinateur classique</a:t>
          </a:r>
        </a:p>
      </dgm:t>
    </dgm:pt>
    <dgm:pt modelId="{730843B6-8CB2-455C-90E0-CB6A7564DE8F}" type="parTrans" cxnId="{34F8F085-32A4-4CFC-BBD1-DC1B0EA8D01A}">
      <dgm:prSet/>
      <dgm:spPr/>
      <dgm:t>
        <a:bodyPr/>
        <a:lstStyle/>
        <a:p>
          <a:endParaRPr lang="fr-FR"/>
        </a:p>
      </dgm:t>
    </dgm:pt>
    <dgm:pt modelId="{782E4BBC-7906-44B9-A5EE-7CCD7660A13B}" type="sibTrans" cxnId="{34F8F085-32A4-4CFC-BBD1-DC1B0EA8D01A}">
      <dgm:prSet/>
      <dgm:spPr/>
      <dgm:t>
        <a:bodyPr/>
        <a:lstStyle/>
        <a:p>
          <a:endParaRPr lang="fr-FR"/>
        </a:p>
      </dgm:t>
    </dgm:pt>
    <dgm:pt modelId="{D410DFF7-E04E-4868-89BC-91E688813B4A}">
      <dgm:prSet/>
      <dgm:spPr/>
      <dgm:t>
        <a:bodyPr/>
        <a:lstStyle/>
        <a:p>
          <a:pPr algn="ctr"/>
          <a:r>
            <a:rPr lang="fr-FR" b="1" dirty="0"/>
            <a:t>Valeur</a:t>
          </a:r>
        </a:p>
        <a:p>
          <a:pPr algn="just"/>
          <a:r>
            <a:rPr lang="fr-FR" dirty="0"/>
            <a:t>Le traitement des jeux de données représente une véritable valeur pour l’entreprise</a:t>
          </a:r>
        </a:p>
      </dgm:t>
    </dgm:pt>
    <dgm:pt modelId="{9A60D2CA-8B9D-4B0D-A722-09BBD90FC381}" type="parTrans" cxnId="{01752E14-8A61-425C-B612-F3D5D6AED609}">
      <dgm:prSet/>
      <dgm:spPr/>
      <dgm:t>
        <a:bodyPr/>
        <a:lstStyle/>
        <a:p>
          <a:endParaRPr lang="fr-FR"/>
        </a:p>
      </dgm:t>
    </dgm:pt>
    <dgm:pt modelId="{A90C55B2-AE78-4C54-AE94-1CF134E6E52F}" type="sibTrans" cxnId="{01752E14-8A61-425C-B612-F3D5D6AED609}">
      <dgm:prSet/>
      <dgm:spPr/>
      <dgm:t>
        <a:bodyPr/>
        <a:lstStyle/>
        <a:p>
          <a:endParaRPr lang="fr-FR"/>
        </a:p>
      </dgm:t>
    </dgm:pt>
    <dgm:pt modelId="{F8800D4E-B053-4887-96B5-BD80A1F245D0}">
      <dgm:prSet/>
      <dgm:spPr/>
      <dgm:t>
        <a:bodyPr/>
        <a:lstStyle/>
        <a:p>
          <a:pPr algn="ctr"/>
          <a:r>
            <a:rPr lang="fr-FR" b="1" dirty="0"/>
            <a:t>Vélocité</a:t>
          </a:r>
        </a:p>
        <a:p>
          <a:pPr algn="just"/>
          <a:r>
            <a:rPr lang="fr-FR" dirty="0"/>
            <a:t>Les flux de données sont générés, capturés et traités en temps réel, </a:t>
          </a:r>
        </a:p>
      </dgm:t>
    </dgm:pt>
    <dgm:pt modelId="{CFF27EC8-0091-46BC-9B10-FA36257DA898}" type="parTrans" cxnId="{C3754FDD-359D-42E2-AA6A-5F12B96AFAE6}">
      <dgm:prSet/>
      <dgm:spPr/>
      <dgm:t>
        <a:bodyPr/>
        <a:lstStyle/>
        <a:p>
          <a:endParaRPr lang="fr-FR"/>
        </a:p>
      </dgm:t>
    </dgm:pt>
    <dgm:pt modelId="{F5CF005F-2623-4F5E-B761-318BA100B3A9}" type="sibTrans" cxnId="{C3754FDD-359D-42E2-AA6A-5F12B96AFAE6}">
      <dgm:prSet/>
      <dgm:spPr/>
      <dgm:t>
        <a:bodyPr/>
        <a:lstStyle/>
        <a:p>
          <a:endParaRPr lang="fr-FR"/>
        </a:p>
      </dgm:t>
    </dgm:pt>
    <dgm:pt modelId="{31C84467-FD84-4904-914A-D5D89130EDC0}" type="pres">
      <dgm:prSet presAssocID="{390C73FE-F505-4A4B-8BD5-8E7950D6B750}" presName="Name0" presStyleCnt="0">
        <dgm:presLayoutVars>
          <dgm:chMax val="1"/>
          <dgm:chPref val="1"/>
          <dgm:dir/>
          <dgm:animOne val="branch"/>
          <dgm:animLvl val="lvl"/>
        </dgm:presLayoutVars>
      </dgm:prSet>
      <dgm:spPr/>
      <dgm:t>
        <a:bodyPr/>
        <a:lstStyle/>
        <a:p>
          <a:endParaRPr lang="fr-FR"/>
        </a:p>
      </dgm:t>
    </dgm:pt>
    <dgm:pt modelId="{9627FB79-F1FD-4858-81EF-F34A40A10E53}" type="pres">
      <dgm:prSet presAssocID="{C70DCDB6-CAF7-43F9-A256-024599336BB0}" presName="singleCycle" presStyleCnt="0"/>
      <dgm:spPr/>
    </dgm:pt>
    <dgm:pt modelId="{C2FC4F4F-9C4B-4FF6-A405-A654E792EE1D}" type="pres">
      <dgm:prSet presAssocID="{C70DCDB6-CAF7-43F9-A256-024599336BB0}" presName="singleCenter" presStyleLbl="node1" presStyleIdx="0" presStyleCnt="6" custLinFactNeighborX="-1718" custLinFactNeighborY="-8607">
        <dgm:presLayoutVars>
          <dgm:chMax val="7"/>
          <dgm:chPref val="7"/>
        </dgm:presLayoutVars>
      </dgm:prSet>
      <dgm:spPr/>
      <dgm:t>
        <a:bodyPr/>
        <a:lstStyle/>
        <a:p>
          <a:endParaRPr lang="fr-FR"/>
        </a:p>
      </dgm:t>
    </dgm:pt>
    <dgm:pt modelId="{6D28EBC7-7432-4866-86E6-40EFC64A2C32}" type="pres">
      <dgm:prSet presAssocID="{EE23B0E5-A383-457F-BA76-2242367CFEC7}" presName="Name56" presStyleLbl="parChTrans1D2" presStyleIdx="0" presStyleCnt="5"/>
      <dgm:spPr/>
      <dgm:t>
        <a:bodyPr/>
        <a:lstStyle/>
        <a:p>
          <a:endParaRPr lang="fr-FR"/>
        </a:p>
      </dgm:t>
    </dgm:pt>
    <dgm:pt modelId="{E6B9AC27-1B75-471F-B1E8-D9B253B22F8D}" type="pres">
      <dgm:prSet presAssocID="{89768A72-2E26-4BC6-A84B-C8BD2836FD81}" presName="text0" presStyleLbl="node1" presStyleIdx="1" presStyleCnt="6" custScaleX="263265" custRadScaleRad="99939" custRadScaleInc="-9797">
        <dgm:presLayoutVars>
          <dgm:bulletEnabled val="1"/>
        </dgm:presLayoutVars>
      </dgm:prSet>
      <dgm:spPr/>
      <dgm:t>
        <a:bodyPr/>
        <a:lstStyle/>
        <a:p>
          <a:endParaRPr lang="fr-FR"/>
        </a:p>
      </dgm:t>
    </dgm:pt>
    <dgm:pt modelId="{D473B412-CCF3-413C-ACCB-49790414E825}" type="pres">
      <dgm:prSet presAssocID="{9A60D2CA-8B9D-4B0D-A722-09BBD90FC381}" presName="Name56" presStyleLbl="parChTrans1D2" presStyleIdx="1" presStyleCnt="5"/>
      <dgm:spPr/>
      <dgm:t>
        <a:bodyPr/>
        <a:lstStyle/>
        <a:p>
          <a:endParaRPr lang="fr-FR"/>
        </a:p>
      </dgm:t>
    </dgm:pt>
    <dgm:pt modelId="{EFF1C281-ABE3-4BF9-8CEC-10ABEA06EFD9}" type="pres">
      <dgm:prSet presAssocID="{D410DFF7-E04E-4868-89BC-91E688813B4A}" presName="text0" presStyleLbl="node1" presStyleIdx="2" presStyleCnt="6" custScaleX="268210" custScaleY="175079" custRadScaleRad="145143" custRadScaleInc="17476">
        <dgm:presLayoutVars>
          <dgm:bulletEnabled val="1"/>
        </dgm:presLayoutVars>
      </dgm:prSet>
      <dgm:spPr/>
      <dgm:t>
        <a:bodyPr/>
        <a:lstStyle/>
        <a:p>
          <a:endParaRPr lang="fr-FR"/>
        </a:p>
      </dgm:t>
    </dgm:pt>
    <dgm:pt modelId="{35D17C89-07DD-4A3A-91CB-582519D48AE6}" type="pres">
      <dgm:prSet presAssocID="{CFF27EC8-0091-46BC-9B10-FA36257DA898}" presName="Name56" presStyleLbl="parChTrans1D2" presStyleIdx="2" presStyleCnt="5"/>
      <dgm:spPr/>
      <dgm:t>
        <a:bodyPr/>
        <a:lstStyle/>
        <a:p>
          <a:endParaRPr lang="fr-FR"/>
        </a:p>
      </dgm:t>
    </dgm:pt>
    <dgm:pt modelId="{5F3C54C7-4DA2-4ED8-9123-80084B4AB824}" type="pres">
      <dgm:prSet presAssocID="{F8800D4E-B053-4887-96B5-BD80A1F245D0}" presName="text0" presStyleLbl="node1" presStyleIdx="3" presStyleCnt="6" custScaleX="295098" custScaleY="129382" custRadScaleRad="150605" custRadScaleInc="-70392">
        <dgm:presLayoutVars>
          <dgm:bulletEnabled val="1"/>
        </dgm:presLayoutVars>
      </dgm:prSet>
      <dgm:spPr/>
      <dgm:t>
        <a:bodyPr/>
        <a:lstStyle/>
        <a:p>
          <a:endParaRPr lang="fr-FR"/>
        </a:p>
      </dgm:t>
    </dgm:pt>
    <dgm:pt modelId="{3B663AB5-807D-4D2A-BB91-9C0784F0E0D6}" type="pres">
      <dgm:prSet presAssocID="{FCEB17BC-42C0-432C-9A93-4B5D4468ABF5}" presName="Name56" presStyleLbl="parChTrans1D2" presStyleIdx="3" presStyleCnt="5"/>
      <dgm:spPr/>
      <dgm:t>
        <a:bodyPr/>
        <a:lstStyle/>
        <a:p>
          <a:endParaRPr lang="fr-FR"/>
        </a:p>
      </dgm:t>
    </dgm:pt>
    <dgm:pt modelId="{81349F80-407C-402A-B10D-679BF0B6F22A}" type="pres">
      <dgm:prSet presAssocID="{0413FBFA-2D98-43EE-86B2-3BC56DF09C21}" presName="text0" presStyleLbl="node1" presStyleIdx="4" presStyleCnt="6" custScaleX="327308" custScaleY="141246" custRadScaleRad="141515" custRadScaleInc="59256">
        <dgm:presLayoutVars>
          <dgm:bulletEnabled val="1"/>
        </dgm:presLayoutVars>
      </dgm:prSet>
      <dgm:spPr/>
      <dgm:t>
        <a:bodyPr/>
        <a:lstStyle/>
        <a:p>
          <a:endParaRPr lang="fr-FR"/>
        </a:p>
      </dgm:t>
    </dgm:pt>
    <dgm:pt modelId="{CC532D25-E448-4142-824C-BB5D23BD32C4}" type="pres">
      <dgm:prSet presAssocID="{730843B6-8CB2-455C-90E0-CB6A7564DE8F}" presName="Name56" presStyleLbl="parChTrans1D2" presStyleIdx="4" presStyleCnt="5"/>
      <dgm:spPr/>
      <dgm:t>
        <a:bodyPr/>
        <a:lstStyle/>
        <a:p>
          <a:endParaRPr lang="fr-FR"/>
        </a:p>
      </dgm:t>
    </dgm:pt>
    <dgm:pt modelId="{5D6FBED0-AA80-4A86-B40F-9B82AED8CC8F}" type="pres">
      <dgm:prSet presAssocID="{6D35444E-2730-4F26-9C25-21B0D5718273}" presName="text0" presStyleLbl="node1" presStyleIdx="5" presStyleCnt="6" custScaleX="226904" custScaleY="173173" custRadScaleRad="157676" custRadScaleInc="-26860">
        <dgm:presLayoutVars>
          <dgm:bulletEnabled val="1"/>
        </dgm:presLayoutVars>
      </dgm:prSet>
      <dgm:spPr/>
      <dgm:t>
        <a:bodyPr/>
        <a:lstStyle/>
        <a:p>
          <a:endParaRPr lang="fr-FR"/>
        </a:p>
      </dgm:t>
    </dgm:pt>
  </dgm:ptLst>
  <dgm:cxnLst>
    <dgm:cxn modelId="{F7DE6BE4-ACD4-4A96-9769-8CCB32EB98CB}" type="presOf" srcId="{390C73FE-F505-4A4B-8BD5-8E7950D6B750}" destId="{31C84467-FD84-4904-914A-D5D89130EDC0}" srcOrd="0" destOrd="0" presId="urn:microsoft.com/office/officeart/2008/layout/RadialCluster"/>
    <dgm:cxn modelId="{01752E14-8A61-425C-B612-F3D5D6AED609}" srcId="{C70DCDB6-CAF7-43F9-A256-024599336BB0}" destId="{D410DFF7-E04E-4868-89BC-91E688813B4A}" srcOrd="1" destOrd="0" parTransId="{9A60D2CA-8B9D-4B0D-A722-09BBD90FC381}" sibTransId="{A90C55B2-AE78-4C54-AE94-1CF134E6E52F}"/>
    <dgm:cxn modelId="{2FD06129-F544-4327-A4BB-ED5BF797B9AD}" srcId="{C70DCDB6-CAF7-43F9-A256-024599336BB0}" destId="{89768A72-2E26-4BC6-A84B-C8BD2836FD81}" srcOrd="0" destOrd="0" parTransId="{EE23B0E5-A383-457F-BA76-2242367CFEC7}" sibTransId="{B0A4AA17-8EE8-4151-B5F7-FD1A258C272F}"/>
    <dgm:cxn modelId="{307DEF6B-8243-44ED-9506-49BBFF123C11}" srcId="{C70DCDB6-CAF7-43F9-A256-024599336BB0}" destId="{0413FBFA-2D98-43EE-86B2-3BC56DF09C21}" srcOrd="3" destOrd="0" parTransId="{FCEB17BC-42C0-432C-9A93-4B5D4468ABF5}" sibTransId="{A72559E4-B57A-4665-9B27-1EC47E8DBE08}"/>
    <dgm:cxn modelId="{C3754FDD-359D-42E2-AA6A-5F12B96AFAE6}" srcId="{C70DCDB6-CAF7-43F9-A256-024599336BB0}" destId="{F8800D4E-B053-4887-96B5-BD80A1F245D0}" srcOrd="2" destOrd="0" parTransId="{CFF27EC8-0091-46BC-9B10-FA36257DA898}" sibTransId="{F5CF005F-2623-4F5E-B761-318BA100B3A9}"/>
    <dgm:cxn modelId="{37D97BD2-241B-4E38-8C8F-0809DA45BA70}" srcId="{390C73FE-F505-4A4B-8BD5-8E7950D6B750}" destId="{C70DCDB6-CAF7-43F9-A256-024599336BB0}" srcOrd="0" destOrd="0" parTransId="{AB305E0A-8C2F-4C80-8672-DB569C9CA0D5}" sibTransId="{EADE6B0C-75C4-4BFB-A7B0-90DCE058E6AA}"/>
    <dgm:cxn modelId="{8D8D3C03-833A-4907-ACBE-0EDB80181370}" type="presOf" srcId="{C70DCDB6-CAF7-43F9-A256-024599336BB0}" destId="{C2FC4F4F-9C4B-4FF6-A405-A654E792EE1D}" srcOrd="0" destOrd="0" presId="urn:microsoft.com/office/officeart/2008/layout/RadialCluster"/>
    <dgm:cxn modelId="{78FB5B92-D437-4399-86D4-44B30634E921}" type="presOf" srcId="{9A60D2CA-8B9D-4B0D-A722-09BBD90FC381}" destId="{D473B412-CCF3-413C-ACCB-49790414E825}" srcOrd="0" destOrd="0" presId="urn:microsoft.com/office/officeart/2008/layout/RadialCluster"/>
    <dgm:cxn modelId="{052B6EB9-CB9B-47D8-8636-9BEB2DFECA8F}" type="presOf" srcId="{0413FBFA-2D98-43EE-86B2-3BC56DF09C21}" destId="{81349F80-407C-402A-B10D-679BF0B6F22A}" srcOrd="0" destOrd="0" presId="urn:microsoft.com/office/officeart/2008/layout/RadialCluster"/>
    <dgm:cxn modelId="{1D2D1BF9-C233-4059-8326-48D32F4D9061}" type="presOf" srcId="{89768A72-2E26-4BC6-A84B-C8BD2836FD81}" destId="{E6B9AC27-1B75-471F-B1E8-D9B253B22F8D}" srcOrd="0" destOrd="0" presId="urn:microsoft.com/office/officeart/2008/layout/RadialCluster"/>
    <dgm:cxn modelId="{34F8F085-32A4-4CFC-BBD1-DC1B0EA8D01A}" srcId="{C70DCDB6-CAF7-43F9-A256-024599336BB0}" destId="{6D35444E-2730-4F26-9C25-21B0D5718273}" srcOrd="4" destOrd="0" parTransId="{730843B6-8CB2-455C-90E0-CB6A7564DE8F}" sibTransId="{782E4BBC-7906-44B9-A5EE-7CCD7660A13B}"/>
    <dgm:cxn modelId="{0A9C6339-659C-45F8-819B-15ED40880B56}" type="presOf" srcId="{6D35444E-2730-4F26-9C25-21B0D5718273}" destId="{5D6FBED0-AA80-4A86-B40F-9B82AED8CC8F}" srcOrd="0" destOrd="0" presId="urn:microsoft.com/office/officeart/2008/layout/RadialCluster"/>
    <dgm:cxn modelId="{EC72669A-96C3-49B6-B116-896FB7B3902F}" type="presOf" srcId="{FCEB17BC-42C0-432C-9A93-4B5D4468ABF5}" destId="{3B663AB5-807D-4D2A-BB91-9C0784F0E0D6}" srcOrd="0" destOrd="0" presId="urn:microsoft.com/office/officeart/2008/layout/RadialCluster"/>
    <dgm:cxn modelId="{C78596B5-6188-4E4E-9FD2-A637AF6C2345}" type="presOf" srcId="{730843B6-8CB2-455C-90E0-CB6A7564DE8F}" destId="{CC532D25-E448-4142-824C-BB5D23BD32C4}" srcOrd="0" destOrd="0" presId="urn:microsoft.com/office/officeart/2008/layout/RadialCluster"/>
    <dgm:cxn modelId="{CA4CCE9F-F0A3-44B8-A4AF-076D1E480138}" type="presOf" srcId="{EE23B0E5-A383-457F-BA76-2242367CFEC7}" destId="{6D28EBC7-7432-4866-86E6-40EFC64A2C32}" srcOrd="0" destOrd="0" presId="urn:microsoft.com/office/officeart/2008/layout/RadialCluster"/>
    <dgm:cxn modelId="{4152361E-0C22-474D-98A9-E296708C1DCB}" type="presOf" srcId="{CFF27EC8-0091-46BC-9B10-FA36257DA898}" destId="{35D17C89-07DD-4A3A-91CB-582519D48AE6}" srcOrd="0" destOrd="0" presId="urn:microsoft.com/office/officeart/2008/layout/RadialCluster"/>
    <dgm:cxn modelId="{6595B68A-AD0B-412B-A8C2-4DC16505772E}" type="presOf" srcId="{F8800D4E-B053-4887-96B5-BD80A1F245D0}" destId="{5F3C54C7-4DA2-4ED8-9123-80084B4AB824}" srcOrd="0" destOrd="0" presId="urn:microsoft.com/office/officeart/2008/layout/RadialCluster"/>
    <dgm:cxn modelId="{1E10D2A1-EA1B-4338-A162-3B54C19EF42E}" type="presOf" srcId="{D410DFF7-E04E-4868-89BC-91E688813B4A}" destId="{EFF1C281-ABE3-4BF9-8CEC-10ABEA06EFD9}" srcOrd="0" destOrd="0" presId="urn:microsoft.com/office/officeart/2008/layout/RadialCluster"/>
    <dgm:cxn modelId="{4069D651-4509-4919-AC5B-705038BECD90}" type="presParOf" srcId="{31C84467-FD84-4904-914A-D5D89130EDC0}" destId="{9627FB79-F1FD-4858-81EF-F34A40A10E53}" srcOrd="0" destOrd="0" presId="urn:microsoft.com/office/officeart/2008/layout/RadialCluster"/>
    <dgm:cxn modelId="{57A1E8EE-DCEB-4FFC-8F24-4DBF5519D429}" type="presParOf" srcId="{9627FB79-F1FD-4858-81EF-F34A40A10E53}" destId="{C2FC4F4F-9C4B-4FF6-A405-A654E792EE1D}" srcOrd="0" destOrd="0" presId="urn:microsoft.com/office/officeart/2008/layout/RadialCluster"/>
    <dgm:cxn modelId="{62797BEC-89D2-45D3-8E0E-4CABBE5BBD28}" type="presParOf" srcId="{9627FB79-F1FD-4858-81EF-F34A40A10E53}" destId="{6D28EBC7-7432-4866-86E6-40EFC64A2C32}" srcOrd="1" destOrd="0" presId="urn:microsoft.com/office/officeart/2008/layout/RadialCluster"/>
    <dgm:cxn modelId="{8045E79E-042F-4479-955B-3A94DD243614}" type="presParOf" srcId="{9627FB79-F1FD-4858-81EF-F34A40A10E53}" destId="{E6B9AC27-1B75-471F-B1E8-D9B253B22F8D}" srcOrd="2" destOrd="0" presId="urn:microsoft.com/office/officeart/2008/layout/RadialCluster"/>
    <dgm:cxn modelId="{CC773767-7052-45ED-AC9E-D9C202A66036}" type="presParOf" srcId="{9627FB79-F1FD-4858-81EF-F34A40A10E53}" destId="{D473B412-CCF3-413C-ACCB-49790414E825}" srcOrd="3" destOrd="0" presId="urn:microsoft.com/office/officeart/2008/layout/RadialCluster"/>
    <dgm:cxn modelId="{E4E2D3F5-C6C3-4DDB-94A8-A2A2198E7251}" type="presParOf" srcId="{9627FB79-F1FD-4858-81EF-F34A40A10E53}" destId="{EFF1C281-ABE3-4BF9-8CEC-10ABEA06EFD9}" srcOrd="4" destOrd="0" presId="urn:microsoft.com/office/officeart/2008/layout/RadialCluster"/>
    <dgm:cxn modelId="{7ED1EA4B-26E2-426A-9FF0-02E0FD235922}" type="presParOf" srcId="{9627FB79-F1FD-4858-81EF-F34A40A10E53}" destId="{35D17C89-07DD-4A3A-91CB-582519D48AE6}" srcOrd="5" destOrd="0" presId="urn:microsoft.com/office/officeart/2008/layout/RadialCluster"/>
    <dgm:cxn modelId="{8291A5B4-F3FB-40EE-990B-76FFE1EF186B}" type="presParOf" srcId="{9627FB79-F1FD-4858-81EF-F34A40A10E53}" destId="{5F3C54C7-4DA2-4ED8-9123-80084B4AB824}" srcOrd="6" destOrd="0" presId="urn:microsoft.com/office/officeart/2008/layout/RadialCluster"/>
    <dgm:cxn modelId="{2E7E8541-7329-4971-90C9-64EEE540C495}" type="presParOf" srcId="{9627FB79-F1FD-4858-81EF-F34A40A10E53}" destId="{3B663AB5-807D-4D2A-BB91-9C0784F0E0D6}" srcOrd="7" destOrd="0" presId="urn:microsoft.com/office/officeart/2008/layout/RadialCluster"/>
    <dgm:cxn modelId="{4E8BD1C1-5066-4143-B223-A4E31A0C5346}" type="presParOf" srcId="{9627FB79-F1FD-4858-81EF-F34A40A10E53}" destId="{81349F80-407C-402A-B10D-679BF0B6F22A}" srcOrd="8" destOrd="0" presId="urn:microsoft.com/office/officeart/2008/layout/RadialCluster"/>
    <dgm:cxn modelId="{AD17B2D7-6625-44A9-AA2C-4853587BF808}" type="presParOf" srcId="{9627FB79-F1FD-4858-81EF-F34A40A10E53}" destId="{CC532D25-E448-4142-824C-BB5D23BD32C4}" srcOrd="9" destOrd="0" presId="urn:microsoft.com/office/officeart/2008/layout/RadialCluster"/>
    <dgm:cxn modelId="{236AA64C-860D-4FC9-98CD-747747662E45}" type="presParOf" srcId="{9627FB79-F1FD-4858-81EF-F34A40A10E53}" destId="{5D6FBED0-AA80-4A86-B40F-9B82AED8CC8F}" srcOrd="10" destOrd="0" presId="urn:microsoft.com/office/officeart/2008/layout/RadialCluster"/>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143FBD4-D1EA-44E6-A9B8-159EC162A8EB}" type="doc">
      <dgm:prSet loTypeId="urn:microsoft.com/office/officeart/2005/8/layout/radial5" loCatId="cycle" qsTypeId="urn:microsoft.com/office/officeart/2005/8/quickstyle/simple1" qsCatId="simple" csTypeId="urn:microsoft.com/office/officeart/2005/8/colors/colorful1" csCatId="colorful" phldr="1"/>
      <dgm:spPr/>
      <dgm:t>
        <a:bodyPr/>
        <a:lstStyle/>
        <a:p>
          <a:endParaRPr lang="fr-FR"/>
        </a:p>
      </dgm:t>
    </dgm:pt>
    <dgm:pt modelId="{08132AE3-2BC1-42D8-93D7-2AE5B4389F2D}">
      <dgm:prSet phldrT="[Texte]"/>
      <dgm:spPr/>
      <dgm:t>
        <a:bodyPr/>
        <a:lstStyle/>
        <a:p>
          <a:r>
            <a:rPr lang="fr-FR" dirty="0"/>
            <a:t>Ecosystème Apache</a:t>
          </a:r>
        </a:p>
      </dgm:t>
    </dgm:pt>
    <dgm:pt modelId="{C47CB2B5-9107-4EDE-BC89-350F9B126CE2}" type="parTrans" cxnId="{F17378CF-AC91-4C5B-8DB5-7A10E0D5E461}">
      <dgm:prSet/>
      <dgm:spPr/>
      <dgm:t>
        <a:bodyPr/>
        <a:lstStyle/>
        <a:p>
          <a:endParaRPr lang="fr-FR"/>
        </a:p>
      </dgm:t>
    </dgm:pt>
    <dgm:pt modelId="{C9B6E291-AE7B-4A03-91B6-3639DA9A41C3}" type="sibTrans" cxnId="{F17378CF-AC91-4C5B-8DB5-7A10E0D5E461}">
      <dgm:prSet/>
      <dgm:spPr/>
      <dgm:t>
        <a:bodyPr/>
        <a:lstStyle/>
        <a:p>
          <a:endParaRPr lang="fr-FR"/>
        </a:p>
      </dgm:t>
    </dgm:pt>
    <dgm:pt modelId="{1F8D653E-F2A4-42FF-841A-6B1CE4E9C489}">
      <dgm:prSet phldrT="[Texte]"/>
      <dgm:spPr/>
      <dgm:t>
        <a:bodyPr/>
        <a:lstStyle/>
        <a:p>
          <a:r>
            <a:rPr lang="fr-FR" b="1" dirty="0"/>
            <a:t>Hbase</a:t>
          </a:r>
        </a:p>
      </dgm:t>
    </dgm:pt>
    <dgm:pt modelId="{99DC34AA-7091-4728-89C2-06EC0933E3E3}" type="parTrans" cxnId="{BA351086-58D3-46B6-B5E0-795314AEB703}">
      <dgm:prSet/>
      <dgm:spPr/>
      <dgm:t>
        <a:bodyPr/>
        <a:lstStyle/>
        <a:p>
          <a:endParaRPr lang="fr-FR"/>
        </a:p>
      </dgm:t>
    </dgm:pt>
    <dgm:pt modelId="{936C4325-9866-43B6-8194-30F43C0A6910}" type="sibTrans" cxnId="{BA351086-58D3-46B6-B5E0-795314AEB703}">
      <dgm:prSet/>
      <dgm:spPr/>
      <dgm:t>
        <a:bodyPr/>
        <a:lstStyle/>
        <a:p>
          <a:endParaRPr lang="fr-FR"/>
        </a:p>
      </dgm:t>
    </dgm:pt>
    <dgm:pt modelId="{68F7C4C8-386A-4EBC-9B42-1E7198976189}">
      <dgm:prSet phldrT="[Texte]"/>
      <dgm:spPr/>
      <dgm:t>
        <a:bodyPr/>
        <a:lstStyle/>
        <a:p>
          <a:r>
            <a:rPr lang="fr-FR" b="1" dirty="0"/>
            <a:t>Hive</a:t>
          </a:r>
        </a:p>
      </dgm:t>
    </dgm:pt>
    <dgm:pt modelId="{E1A79DB1-4CC8-49B1-ACF1-F1BFC2B59EF9}" type="parTrans" cxnId="{17A1B80C-92A5-4CD0-B03E-1C77F0FA4765}">
      <dgm:prSet/>
      <dgm:spPr/>
      <dgm:t>
        <a:bodyPr/>
        <a:lstStyle/>
        <a:p>
          <a:endParaRPr lang="fr-FR"/>
        </a:p>
      </dgm:t>
    </dgm:pt>
    <dgm:pt modelId="{3F5A3BC1-1FEE-4B8A-B6F6-65A1C336E93D}" type="sibTrans" cxnId="{17A1B80C-92A5-4CD0-B03E-1C77F0FA4765}">
      <dgm:prSet/>
      <dgm:spPr/>
      <dgm:t>
        <a:bodyPr/>
        <a:lstStyle/>
        <a:p>
          <a:endParaRPr lang="fr-FR"/>
        </a:p>
      </dgm:t>
    </dgm:pt>
    <dgm:pt modelId="{2F742F73-A3E8-4AF4-864C-B77D39F0DFD5}">
      <dgm:prSet phldrT="[Texte]"/>
      <dgm:spPr/>
      <dgm:t>
        <a:bodyPr/>
        <a:lstStyle/>
        <a:p>
          <a:r>
            <a:rPr lang="fr-FR" b="1" dirty="0"/>
            <a:t>Pig</a:t>
          </a:r>
        </a:p>
      </dgm:t>
    </dgm:pt>
    <dgm:pt modelId="{02E1CA79-27DF-418C-8824-56CA65A7FC0B}" type="parTrans" cxnId="{6EBA08DF-09E4-4118-881F-77303E47D2C7}">
      <dgm:prSet/>
      <dgm:spPr/>
      <dgm:t>
        <a:bodyPr/>
        <a:lstStyle/>
        <a:p>
          <a:endParaRPr lang="fr-FR"/>
        </a:p>
      </dgm:t>
    </dgm:pt>
    <dgm:pt modelId="{562F7A93-0C3C-422F-8B14-6874555586D9}" type="sibTrans" cxnId="{6EBA08DF-09E4-4118-881F-77303E47D2C7}">
      <dgm:prSet/>
      <dgm:spPr/>
      <dgm:t>
        <a:bodyPr/>
        <a:lstStyle/>
        <a:p>
          <a:endParaRPr lang="fr-FR"/>
        </a:p>
      </dgm:t>
    </dgm:pt>
    <dgm:pt modelId="{6FE3DEE0-4983-4DCC-92D5-D3B81B2F3325}">
      <dgm:prSet phldrT="[Texte]"/>
      <dgm:spPr/>
      <dgm:t>
        <a:bodyPr/>
        <a:lstStyle/>
        <a:p>
          <a:r>
            <a:rPr lang="fr-FR" b="1" dirty="0"/>
            <a:t>Zookeeper</a:t>
          </a:r>
        </a:p>
      </dgm:t>
    </dgm:pt>
    <dgm:pt modelId="{0679C5A2-7B05-4A70-BA6F-58BE4EA62BA2}" type="parTrans" cxnId="{AE3DF775-279C-4D03-BF18-238B15E0703B}">
      <dgm:prSet/>
      <dgm:spPr/>
      <dgm:t>
        <a:bodyPr/>
        <a:lstStyle/>
        <a:p>
          <a:endParaRPr lang="fr-FR"/>
        </a:p>
      </dgm:t>
    </dgm:pt>
    <dgm:pt modelId="{48515011-3DB8-42D4-85C5-812D75EEBEAD}" type="sibTrans" cxnId="{AE3DF775-279C-4D03-BF18-238B15E0703B}">
      <dgm:prSet/>
      <dgm:spPr/>
      <dgm:t>
        <a:bodyPr/>
        <a:lstStyle/>
        <a:p>
          <a:endParaRPr lang="fr-FR"/>
        </a:p>
      </dgm:t>
    </dgm:pt>
    <dgm:pt modelId="{73001DF0-80EC-43AB-AD19-D08ECB800B23}">
      <dgm:prSet/>
      <dgm:spPr/>
      <dgm:t>
        <a:bodyPr/>
        <a:lstStyle/>
        <a:p>
          <a:r>
            <a:rPr lang="fr-FR" b="1" dirty="0"/>
            <a:t>Sqoop</a:t>
          </a:r>
        </a:p>
      </dgm:t>
    </dgm:pt>
    <dgm:pt modelId="{A27FF933-2DE4-408B-A2C1-7859222CFCE0}" type="parTrans" cxnId="{0361DFEC-DF1B-4C66-86FB-DFBC532C44DC}">
      <dgm:prSet/>
      <dgm:spPr/>
      <dgm:t>
        <a:bodyPr/>
        <a:lstStyle/>
        <a:p>
          <a:endParaRPr lang="fr-FR"/>
        </a:p>
      </dgm:t>
    </dgm:pt>
    <dgm:pt modelId="{CFFBA824-F129-446A-883C-9A16411D6190}" type="sibTrans" cxnId="{0361DFEC-DF1B-4C66-86FB-DFBC532C44DC}">
      <dgm:prSet/>
      <dgm:spPr/>
      <dgm:t>
        <a:bodyPr/>
        <a:lstStyle/>
        <a:p>
          <a:endParaRPr lang="fr-FR"/>
        </a:p>
      </dgm:t>
    </dgm:pt>
    <dgm:pt modelId="{FE29939F-67FB-47F7-B7B4-5205A9636CB2}">
      <dgm:prSet/>
      <dgm:spPr/>
      <dgm:t>
        <a:bodyPr/>
        <a:lstStyle/>
        <a:p>
          <a:r>
            <a:rPr lang="fr-FR" b="1" dirty="0" err="1"/>
            <a:t>Flume</a:t>
          </a:r>
          <a:endParaRPr lang="fr-FR" b="1" dirty="0"/>
        </a:p>
      </dgm:t>
    </dgm:pt>
    <dgm:pt modelId="{19384E9B-7883-470A-82FC-AF8DB89804C8}" type="parTrans" cxnId="{8FC69099-D556-4F65-A19C-6A4316F15E43}">
      <dgm:prSet/>
      <dgm:spPr/>
      <dgm:t>
        <a:bodyPr/>
        <a:lstStyle/>
        <a:p>
          <a:endParaRPr lang="fr-FR"/>
        </a:p>
      </dgm:t>
    </dgm:pt>
    <dgm:pt modelId="{B91E3234-9997-45EF-93F3-D069AED5CFFA}" type="sibTrans" cxnId="{8FC69099-D556-4F65-A19C-6A4316F15E43}">
      <dgm:prSet/>
      <dgm:spPr/>
      <dgm:t>
        <a:bodyPr/>
        <a:lstStyle/>
        <a:p>
          <a:endParaRPr lang="fr-FR"/>
        </a:p>
      </dgm:t>
    </dgm:pt>
    <dgm:pt modelId="{0C237480-72D9-4932-9823-7EF0DC0BD6E2}" type="pres">
      <dgm:prSet presAssocID="{0143FBD4-D1EA-44E6-A9B8-159EC162A8EB}" presName="Name0" presStyleCnt="0">
        <dgm:presLayoutVars>
          <dgm:chMax val="1"/>
          <dgm:dir/>
          <dgm:animLvl val="ctr"/>
          <dgm:resizeHandles val="exact"/>
        </dgm:presLayoutVars>
      </dgm:prSet>
      <dgm:spPr/>
      <dgm:t>
        <a:bodyPr/>
        <a:lstStyle/>
        <a:p>
          <a:endParaRPr lang="fr-FR"/>
        </a:p>
      </dgm:t>
    </dgm:pt>
    <dgm:pt modelId="{FB0272C0-7D1B-481A-9386-CBC59E240511}" type="pres">
      <dgm:prSet presAssocID="{08132AE3-2BC1-42D8-93D7-2AE5B4389F2D}" presName="centerShape" presStyleLbl="node0" presStyleIdx="0" presStyleCnt="1" custScaleX="149663" custScaleY="128770"/>
      <dgm:spPr/>
      <dgm:t>
        <a:bodyPr/>
        <a:lstStyle/>
        <a:p>
          <a:endParaRPr lang="fr-FR"/>
        </a:p>
      </dgm:t>
    </dgm:pt>
    <dgm:pt modelId="{8E6E3785-3CFF-4CD9-B5A4-8779FF27D0EC}" type="pres">
      <dgm:prSet presAssocID="{99DC34AA-7091-4728-89C2-06EC0933E3E3}" presName="parTrans" presStyleLbl="sibTrans2D1" presStyleIdx="0" presStyleCnt="6"/>
      <dgm:spPr/>
      <dgm:t>
        <a:bodyPr/>
        <a:lstStyle/>
        <a:p>
          <a:endParaRPr lang="fr-FR"/>
        </a:p>
      </dgm:t>
    </dgm:pt>
    <dgm:pt modelId="{D94EC1E5-E774-4FDC-8070-CCF69D8820ED}" type="pres">
      <dgm:prSet presAssocID="{99DC34AA-7091-4728-89C2-06EC0933E3E3}" presName="connectorText" presStyleLbl="sibTrans2D1" presStyleIdx="0" presStyleCnt="6"/>
      <dgm:spPr/>
      <dgm:t>
        <a:bodyPr/>
        <a:lstStyle/>
        <a:p>
          <a:endParaRPr lang="fr-FR"/>
        </a:p>
      </dgm:t>
    </dgm:pt>
    <dgm:pt modelId="{7742BC85-48C9-4BE6-AB35-662ADB1CAB9E}" type="pres">
      <dgm:prSet presAssocID="{1F8D653E-F2A4-42FF-841A-6B1CE4E9C489}" presName="node" presStyleLbl="node1" presStyleIdx="0" presStyleCnt="6" custScaleX="123853">
        <dgm:presLayoutVars>
          <dgm:bulletEnabled val="1"/>
        </dgm:presLayoutVars>
      </dgm:prSet>
      <dgm:spPr/>
      <dgm:t>
        <a:bodyPr/>
        <a:lstStyle/>
        <a:p>
          <a:endParaRPr lang="fr-FR"/>
        </a:p>
      </dgm:t>
    </dgm:pt>
    <dgm:pt modelId="{8BDA23C6-2BBD-4EAF-A96B-D9798D727929}" type="pres">
      <dgm:prSet presAssocID="{E1A79DB1-4CC8-49B1-ACF1-F1BFC2B59EF9}" presName="parTrans" presStyleLbl="sibTrans2D1" presStyleIdx="1" presStyleCnt="6"/>
      <dgm:spPr/>
      <dgm:t>
        <a:bodyPr/>
        <a:lstStyle/>
        <a:p>
          <a:endParaRPr lang="fr-FR"/>
        </a:p>
      </dgm:t>
    </dgm:pt>
    <dgm:pt modelId="{6C2AA377-4FBB-4F78-A5AE-2B46D62C1B57}" type="pres">
      <dgm:prSet presAssocID="{E1A79DB1-4CC8-49B1-ACF1-F1BFC2B59EF9}" presName="connectorText" presStyleLbl="sibTrans2D1" presStyleIdx="1" presStyleCnt="6"/>
      <dgm:spPr/>
      <dgm:t>
        <a:bodyPr/>
        <a:lstStyle/>
        <a:p>
          <a:endParaRPr lang="fr-FR"/>
        </a:p>
      </dgm:t>
    </dgm:pt>
    <dgm:pt modelId="{A1C7C771-5325-4DB5-837C-6BA8C9C2C9E7}" type="pres">
      <dgm:prSet presAssocID="{68F7C4C8-386A-4EBC-9B42-1E7198976189}" presName="node" presStyleLbl="node1" presStyleIdx="1" presStyleCnt="6" custScaleX="115990" custScaleY="116514" custRadScaleRad="127032" custRadScaleInc="28925">
        <dgm:presLayoutVars>
          <dgm:bulletEnabled val="1"/>
        </dgm:presLayoutVars>
      </dgm:prSet>
      <dgm:spPr/>
      <dgm:t>
        <a:bodyPr/>
        <a:lstStyle/>
        <a:p>
          <a:endParaRPr lang="fr-FR"/>
        </a:p>
      </dgm:t>
    </dgm:pt>
    <dgm:pt modelId="{2E44BB44-2AFA-49D5-8D5C-0C482C2A32F2}" type="pres">
      <dgm:prSet presAssocID="{02E1CA79-27DF-418C-8824-56CA65A7FC0B}" presName="parTrans" presStyleLbl="sibTrans2D1" presStyleIdx="2" presStyleCnt="6"/>
      <dgm:spPr/>
      <dgm:t>
        <a:bodyPr/>
        <a:lstStyle/>
        <a:p>
          <a:endParaRPr lang="fr-FR"/>
        </a:p>
      </dgm:t>
    </dgm:pt>
    <dgm:pt modelId="{24FA680B-8113-4B6B-B42E-4E82B8D691BC}" type="pres">
      <dgm:prSet presAssocID="{02E1CA79-27DF-418C-8824-56CA65A7FC0B}" presName="connectorText" presStyleLbl="sibTrans2D1" presStyleIdx="2" presStyleCnt="6"/>
      <dgm:spPr/>
      <dgm:t>
        <a:bodyPr/>
        <a:lstStyle/>
        <a:p>
          <a:endParaRPr lang="fr-FR"/>
        </a:p>
      </dgm:t>
    </dgm:pt>
    <dgm:pt modelId="{0BA8C2DE-CEA6-4D60-925A-B6A87DF7F0AF}" type="pres">
      <dgm:prSet presAssocID="{2F742F73-A3E8-4AF4-864C-B77D39F0DFD5}" presName="node" presStyleLbl="node1" presStyleIdx="2" presStyleCnt="6" custScaleX="121224" custRadScaleRad="125786" custRadScaleInc="-8372">
        <dgm:presLayoutVars>
          <dgm:bulletEnabled val="1"/>
        </dgm:presLayoutVars>
      </dgm:prSet>
      <dgm:spPr/>
      <dgm:t>
        <a:bodyPr/>
        <a:lstStyle/>
        <a:p>
          <a:endParaRPr lang="fr-FR"/>
        </a:p>
      </dgm:t>
    </dgm:pt>
    <dgm:pt modelId="{D869CC51-BFF1-47C3-8132-262C08BC0126}" type="pres">
      <dgm:prSet presAssocID="{A27FF933-2DE4-408B-A2C1-7859222CFCE0}" presName="parTrans" presStyleLbl="sibTrans2D1" presStyleIdx="3" presStyleCnt="6"/>
      <dgm:spPr/>
      <dgm:t>
        <a:bodyPr/>
        <a:lstStyle/>
        <a:p>
          <a:endParaRPr lang="fr-FR"/>
        </a:p>
      </dgm:t>
    </dgm:pt>
    <dgm:pt modelId="{99D78527-746B-4F77-9321-76E4B9B64F63}" type="pres">
      <dgm:prSet presAssocID="{A27FF933-2DE4-408B-A2C1-7859222CFCE0}" presName="connectorText" presStyleLbl="sibTrans2D1" presStyleIdx="3" presStyleCnt="6"/>
      <dgm:spPr/>
      <dgm:t>
        <a:bodyPr/>
        <a:lstStyle/>
        <a:p>
          <a:endParaRPr lang="fr-FR"/>
        </a:p>
      </dgm:t>
    </dgm:pt>
    <dgm:pt modelId="{C77C7ED6-EFE6-4614-8455-58DCBD959C09}" type="pres">
      <dgm:prSet presAssocID="{73001DF0-80EC-43AB-AD19-D08ECB800B23}" presName="node" presStyleLbl="node1" presStyleIdx="3" presStyleCnt="6" custScaleX="121306" custRadScaleRad="108173" custRadScaleInc="5744">
        <dgm:presLayoutVars>
          <dgm:bulletEnabled val="1"/>
        </dgm:presLayoutVars>
      </dgm:prSet>
      <dgm:spPr/>
      <dgm:t>
        <a:bodyPr/>
        <a:lstStyle/>
        <a:p>
          <a:endParaRPr lang="fr-FR"/>
        </a:p>
      </dgm:t>
    </dgm:pt>
    <dgm:pt modelId="{0BF90922-84DD-4B7E-A979-CC73F48C96AC}" type="pres">
      <dgm:prSet presAssocID="{19384E9B-7883-470A-82FC-AF8DB89804C8}" presName="parTrans" presStyleLbl="sibTrans2D1" presStyleIdx="4" presStyleCnt="6"/>
      <dgm:spPr/>
      <dgm:t>
        <a:bodyPr/>
        <a:lstStyle/>
        <a:p>
          <a:endParaRPr lang="fr-FR"/>
        </a:p>
      </dgm:t>
    </dgm:pt>
    <dgm:pt modelId="{BE6DBCBC-9CDF-4F7B-99D8-6D69701D71CB}" type="pres">
      <dgm:prSet presAssocID="{19384E9B-7883-470A-82FC-AF8DB89804C8}" presName="connectorText" presStyleLbl="sibTrans2D1" presStyleIdx="4" presStyleCnt="6"/>
      <dgm:spPr/>
      <dgm:t>
        <a:bodyPr/>
        <a:lstStyle/>
        <a:p>
          <a:endParaRPr lang="fr-FR"/>
        </a:p>
      </dgm:t>
    </dgm:pt>
    <dgm:pt modelId="{EC950E98-1243-4F2A-B1EF-587C00D3C208}" type="pres">
      <dgm:prSet presAssocID="{FE29939F-67FB-47F7-B7B4-5205A9636CB2}" presName="node" presStyleLbl="node1" presStyleIdx="4" presStyleCnt="6" custScaleX="111210" custScaleY="113176" custRadScaleRad="131949" custRadScaleInc="16863">
        <dgm:presLayoutVars>
          <dgm:bulletEnabled val="1"/>
        </dgm:presLayoutVars>
      </dgm:prSet>
      <dgm:spPr/>
      <dgm:t>
        <a:bodyPr/>
        <a:lstStyle/>
        <a:p>
          <a:endParaRPr lang="fr-FR"/>
        </a:p>
      </dgm:t>
    </dgm:pt>
    <dgm:pt modelId="{3FE43C2F-4F8F-4A71-BCA6-3D959E1E57AC}" type="pres">
      <dgm:prSet presAssocID="{0679C5A2-7B05-4A70-BA6F-58BE4EA62BA2}" presName="parTrans" presStyleLbl="sibTrans2D1" presStyleIdx="5" presStyleCnt="6"/>
      <dgm:spPr/>
      <dgm:t>
        <a:bodyPr/>
        <a:lstStyle/>
        <a:p>
          <a:endParaRPr lang="fr-FR"/>
        </a:p>
      </dgm:t>
    </dgm:pt>
    <dgm:pt modelId="{DB876593-9395-4E68-81A8-7F8BE4C67FBD}" type="pres">
      <dgm:prSet presAssocID="{0679C5A2-7B05-4A70-BA6F-58BE4EA62BA2}" presName="connectorText" presStyleLbl="sibTrans2D1" presStyleIdx="5" presStyleCnt="6"/>
      <dgm:spPr/>
      <dgm:t>
        <a:bodyPr/>
        <a:lstStyle/>
        <a:p>
          <a:endParaRPr lang="fr-FR"/>
        </a:p>
      </dgm:t>
    </dgm:pt>
    <dgm:pt modelId="{194B0B06-D07D-4F99-BBAD-4983A0A0E541}" type="pres">
      <dgm:prSet presAssocID="{6FE3DEE0-4983-4DCC-92D5-D3B81B2F3325}" presName="node" presStyleLbl="node1" presStyleIdx="5" presStyleCnt="6" custScaleX="116832" custScaleY="124432" custRadScaleRad="118950" custRadScaleInc="-15718">
        <dgm:presLayoutVars>
          <dgm:bulletEnabled val="1"/>
        </dgm:presLayoutVars>
      </dgm:prSet>
      <dgm:spPr/>
      <dgm:t>
        <a:bodyPr/>
        <a:lstStyle/>
        <a:p>
          <a:endParaRPr lang="fr-FR"/>
        </a:p>
      </dgm:t>
    </dgm:pt>
  </dgm:ptLst>
  <dgm:cxnLst>
    <dgm:cxn modelId="{995DC1D7-89D4-4C1F-B3B1-B8D47A82C83A}" type="presOf" srcId="{2F742F73-A3E8-4AF4-864C-B77D39F0DFD5}" destId="{0BA8C2DE-CEA6-4D60-925A-B6A87DF7F0AF}" srcOrd="0" destOrd="0" presId="urn:microsoft.com/office/officeart/2005/8/layout/radial5"/>
    <dgm:cxn modelId="{8FC69099-D556-4F65-A19C-6A4316F15E43}" srcId="{08132AE3-2BC1-42D8-93D7-2AE5B4389F2D}" destId="{FE29939F-67FB-47F7-B7B4-5205A9636CB2}" srcOrd="4" destOrd="0" parTransId="{19384E9B-7883-470A-82FC-AF8DB89804C8}" sibTransId="{B91E3234-9997-45EF-93F3-D069AED5CFFA}"/>
    <dgm:cxn modelId="{17A1B80C-92A5-4CD0-B03E-1C77F0FA4765}" srcId="{08132AE3-2BC1-42D8-93D7-2AE5B4389F2D}" destId="{68F7C4C8-386A-4EBC-9B42-1E7198976189}" srcOrd="1" destOrd="0" parTransId="{E1A79DB1-4CC8-49B1-ACF1-F1BFC2B59EF9}" sibTransId="{3F5A3BC1-1FEE-4B8A-B6F6-65A1C336E93D}"/>
    <dgm:cxn modelId="{25039872-2F50-473C-A630-CF9F05BF0ADD}" type="presOf" srcId="{6FE3DEE0-4983-4DCC-92D5-D3B81B2F3325}" destId="{194B0B06-D07D-4F99-BBAD-4983A0A0E541}" srcOrd="0" destOrd="0" presId="urn:microsoft.com/office/officeart/2005/8/layout/radial5"/>
    <dgm:cxn modelId="{C0987524-A4B6-4B53-AFD7-CAE29636B1E2}" type="presOf" srcId="{0679C5A2-7B05-4A70-BA6F-58BE4EA62BA2}" destId="{3FE43C2F-4F8F-4A71-BCA6-3D959E1E57AC}" srcOrd="0" destOrd="0" presId="urn:microsoft.com/office/officeart/2005/8/layout/radial5"/>
    <dgm:cxn modelId="{CC4BE529-DEF8-48AF-83CA-AFA63BC6EC98}" type="presOf" srcId="{99DC34AA-7091-4728-89C2-06EC0933E3E3}" destId="{8E6E3785-3CFF-4CD9-B5A4-8779FF27D0EC}" srcOrd="0" destOrd="0" presId="urn:microsoft.com/office/officeart/2005/8/layout/radial5"/>
    <dgm:cxn modelId="{6EBA08DF-09E4-4118-881F-77303E47D2C7}" srcId="{08132AE3-2BC1-42D8-93D7-2AE5B4389F2D}" destId="{2F742F73-A3E8-4AF4-864C-B77D39F0DFD5}" srcOrd="2" destOrd="0" parTransId="{02E1CA79-27DF-418C-8824-56CA65A7FC0B}" sibTransId="{562F7A93-0C3C-422F-8B14-6874555586D9}"/>
    <dgm:cxn modelId="{F02CE983-BC46-406F-824B-D9F538D51905}" type="presOf" srcId="{19384E9B-7883-470A-82FC-AF8DB89804C8}" destId="{BE6DBCBC-9CDF-4F7B-99D8-6D69701D71CB}" srcOrd="1" destOrd="0" presId="urn:microsoft.com/office/officeart/2005/8/layout/radial5"/>
    <dgm:cxn modelId="{C7D27ECF-018A-4A07-9B31-F91DAE3D866A}" type="presOf" srcId="{68F7C4C8-386A-4EBC-9B42-1E7198976189}" destId="{A1C7C771-5325-4DB5-837C-6BA8C9C2C9E7}" srcOrd="0" destOrd="0" presId="urn:microsoft.com/office/officeart/2005/8/layout/radial5"/>
    <dgm:cxn modelId="{F17378CF-AC91-4C5B-8DB5-7A10E0D5E461}" srcId="{0143FBD4-D1EA-44E6-A9B8-159EC162A8EB}" destId="{08132AE3-2BC1-42D8-93D7-2AE5B4389F2D}" srcOrd="0" destOrd="0" parTransId="{C47CB2B5-9107-4EDE-BC89-350F9B126CE2}" sibTransId="{C9B6E291-AE7B-4A03-91B6-3639DA9A41C3}"/>
    <dgm:cxn modelId="{4F0F3C1B-BDF2-4D72-842C-FF1718B760CA}" type="presOf" srcId="{08132AE3-2BC1-42D8-93D7-2AE5B4389F2D}" destId="{FB0272C0-7D1B-481A-9386-CBC59E240511}" srcOrd="0" destOrd="0" presId="urn:microsoft.com/office/officeart/2005/8/layout/radial5"/>
    <dgm:cxn modelId="{16B6F532-CB5F-4949-98B5-DA8C09EBCCC9}" type="presOf" srcId="{02E1CA79-27DF-418C-8824-56CA65A7FC0B}" destId="{24FA680B-8113-4B6B-B42E-4E82B8D691BC}" srcOrd="1" destOrd="0" presId="urn:microsoft.com/office/officeart/2005/8/layout/radial5"/>
    <dgm:cxn modelId="{0361DFEC-DF1B-4C66-86FB-DFBC532C44DC}" srcId="{08132AE3-2BC1-42D8-93D7-2AE5B4389F2D}" destId="{73001DF0-80EC-43AB-AD19-D08ECB800B23}" srcOrd="3" destOrd="0" parTransId="{A27FF933-2DE4-408B-A2C1-7859222CFCE0}" sibTransId="{CFFBA824-F129-446A-883C-9A16411D6190}"/>
    <dgm:cxn modelId="{298EE314-688C-4E99-85AF-15D7BB5E6D75}" type="presOf" srcId="{99DC34AA-7091-4728-89C2-06EC0933E3E3}" destId="{D94EC1E5-E774-4FDC-8070-CCF69D8820ED}" srcOrd="1" destOrd="0" presId="urn:microsoft.com/office/officeart/2005/8/layout/radial5"/>
    <dgm:cxn modelId="{298490E7-5140-4C82-A6E2-1C7CD7ED865A}" type="presOf" srcId="{E1A79DB1-4CC8-49B1-ACF1-F1BFC2B59EF9}" destId="{8BDA23C6-2BBD-4EAF-A96B-D9798D727929}" srcOrd="0" destOrd="0" presId="urn:microsoft.com/office/officeart/2005/8/layout/radial5"/>
    <dgm:cxn modelId="{C9DBAB68-D83B-4105-BC04-ECE7F2D11636}" type="presOf" srcId="{19384E9B-7883-470A-82FC-AF8DB89804C8}" destId="{0BF90922-84DD-4B7E-A979-CC73F48C96AC}" srcOrd="0" destOrd="0" presId="urn:microsoft.com/office/officeart/2005/8/layout/radial5"/>
    <dgm:cxn modelId="{6AB99DB2-7101-4E21-8F2E-08AFABAD966D}" type="presOf" srcId="{73001DF0-80EC-43AB-AD19-D08ECB800B23}" destId="{C77C7ED6-EFE6-4614-8455-58DCBD959C09}" srcOrd="0" destOrd="0" presId="urn:microsoft.com/office/officeart/2005/8/layout/radial5"/>
    <dgm:cxn modelId="{B38A3462-9C5C-479F-A543-56AD02CE573F}" type="presOf" srcId="{0143FBD4-D1EA-44E6-A9B8-159EC162A8EB}" destId="{0C237480-72D9-4932-9823-7EF0DC0BD6E2}" srcOrd="0" destOrd="0" presId="urn:microsoft.com/office/officeart/2005/8/layout/radial5"/>
    <dgm:cxn modelId="{8DFB931A-9075-40AF-9423-E982572271CF}" type="presOf" srcId="{1F8D653E-F2A4-42FF-841A-6B1CE4E9C489}" destId="{7742BC85-48C9-4BE6-AB35-662ADB1CAB9E}" srcOrd="0" destOrd="0" presId="urn:microsoft.com/office/officeart/2005/8/layout/radial5"/>
    <dgm:cxn modelId="{12644119-9DBB-4272-89D3-E82BEA22AB27}" type="presOf" srcId="{E1A79DB1-4CC8-49B1-ACF1-F1BFC2B59EF9}" destId="{6C2AA377-4FBB-4F78-A5AE-2B46D62C1B57}" srcOrd="1" destOrd="0" presId="urn:microsoft.com/office/officeart/2005/8/layout/radial5"/>
    <dgm:cxn modelId="{BA351086-58D3-46B6-B5E0-795314AEB703}" srcId="{08132AE3-2BC1-42D8-93D7-2AE5B4389F2D}" destId="{1F8D653E-F2A4-42FF-841A-6B1CE4E9C489}" srcOrd="0" destOrd="0" parTransId="{99DC34AA-7091-4728-89C2-06EC0933E3E3}" sibTransId="{936C4325-9866-43B6-8194-30F43C0A6910}"/>
    <dgm:cxn modelId="{37E2B7DC-795A-4DFC-8F88-6846332CA6C3}" type="presOf" srcId="{A27FF933-2DE4-408B-A2C1-7859222CFCE0}" destId="{99D78527-746B-4F77-9321-76E4B9B64F63}" srcOrd="1" destOrd="0" presId="urn:microsoft.com/office/officeart/2005/8/layout/radial5"/>
    <dgm:cxn modelId="{AE3DF775-279C-4D03-BF18-238B15E0703B}" srcId="{08132AE3-2BC1-42D8-93D7-2AE5B4389F2D}" destId="{6FE3DEE0-4983-4DCC-92D5-D3B81B2F3325}" srcOrd="5" destOrd="0" parTransId="{0679C5A2-7B05-4A70-BA6F-58BE4EA62BA2}" sibTransId="{48515011-3DB8-42D4-85C5-812D75EEBEAD}"/>
    <dgm:cxn modelId="{ED6F6BE2-4D30-4C65-90F8-E0348F47E8DF}" type="presOf" srcId="{02E1CA79-27DF-418C-8824-56CA65A7FC0B}" destId="{2E44BB44-2AFA-49D5-8D5C-0C482C2A32F2}" srcOrd="0" destOrd="0" presId="urn:microsoft.com/office/officeart/2005/8/layout/radial5"/>
    <dgm:cxn modelId="{DBF9867F-B582-480B-9A44-100F66D430C7}" type="presOf" srcId="{FE29939F-67FB-47F7-B7B4-5205A9636CB2}" destId="{EC950E98-1243-4F2A-B1EF-587C00D3C208}" srcOrd="0" destOrd="0" presId="urn:microsoft.com/office/officeart/2005/8/layout/radial5"/>
    <dgm:cxn modelId="{4FD1B6F6-7246-428C-92BA-76725859358D}" type="presOf" srcId="{0679C5A2-7B05-4A70-BA6F-58BE4EA62BA2}" destId="{DB876593-9395-4E68-81A8-7F8BE4C67FBD}" srcOrd="1" destOrd="0" presId="urn:microsoft.com/office/officeart/2005/8/layout/radial5"/>
    <dgm:cxn modelId="{72C06FA6-0485-4B7F-B50D-507F90929F54}" type="presOf" srcId="{A27FF933-2DE4-408B-A2C1-7859222CFCE0}" destId="{D869CC51-BFF1-47C3-8132-262C08BC0126}" srcOrd="0" destOrd="0" presId="urn:microsoft.com/office/officeart/2005/8/layout/radial5"/>
    <dgm:cxn modelId="{DE384755-5A79-4B22-9888-59D8A67B8649}" type="presParOf" srcId="{0C237480-72D9-4932-9823-7EF0DC0BD6E2}" destId="{FB0272C0-7D1B-481A-9386-CBC59E240511}" srcOrd="0" destOrd="0" presId="urn:microsoft.com/office/officeart/2005/8/layout/radial5"/>
    <dgm:cxn modelId="{E340D8A0-70D0-4D7A-8C66-639DA0B1B04D}" type="presParOf" srcId="{0C237480-72D9-4932-9823-7EF0DC0BD6E2}" destId="{8E6E3785-3CFF-4CD9-B5A4-8779FF27D0EC}" srcOrd="1" destOrd="0" presId="urn:microsoft.com/office/officeart/2005/8/layout/radial5"/>
    <dgm:cxn modelId="{C1238A2F-913D-4466-B958-809323FC6BD5}" type="presParOf" srcId="{8E6E3785-3CFF-4CD9-B5A4-8779FF27D0EC}" destId="{D94EC1E5-E774-4FDC-8070-CCF69D8820ED}" srcOrd="0" destOrd="0" presId="urn:microsoft.com/office/officeart/2005/8/layout/radial5"/>
    <dgm:cxn modelId="{122C411A-EF6B-4009-B544-5A9FB8F64C10}" type="presParOf" srcId="{0C237480-72D9-4932-9823-7EF0DC0BD6E2}" destId="{7742BC85-48C9-4BE6-AB35-662ADB1CAB9E}" srcOrd="2" destOrd="0" presId="urn:microsoft.com/office/officeart/2005/8/layout/radial5"/>
    <dgm:cxn modelId="{1E7DFAFB-A79F-43BD-BCD9-B83ED59E6F30}" type="presParOf" srcId="{0C237480-72D9-4932-9823-7EF0DC0BD6E2}" destId="{8BDA23C6-2BBD-4EAF-A96B-D9798D727929}" srcOrd="3" destOrd="0" presId="urn:microsoft.com/office/officeart/2005/8/layout/radial5"/>
    <dgm:cxn modelId="{0608A4D9-6286-47D1-8856-15CD96EF93DC}" type="presParOf" srcId="{8BDA23C6-2BBD-4EAF-A96B-D9798D727929}" destId="{6C2AA377-4FBB-4F78-A5AE-2B46D62C1B57}" srcOrd="0" destOrd="0" presId="urn:microsoft.com/office/officeart/2005/8/layout/radial5"/>
    <dgm:cxn modelId="{EC1A60D3-6699-4041-806E-24F8D4019D9C}" type="presParOf" srcId="{0C237480-72D9-4932-9823-7EF0DC0BD6E2}" destId="{A1C7C771-5325-4DB5-837C-6BA8C9C2C9E7}" srcOrd="4" destOrd="0" presId="urn:microsoft.com/office/officeart/2005/8/layout/radial5"/>
    <dgm:cxn modelId="{2E295ABC-7DAC-4A69-B28D-A42E5BF5302F}" type="presParOf" srcId="{0C237480-72D9-4932-9823-7EF0DC0BD6E2}" destId="{2E44BB44-2AFA-49D5-8D5C-0C482C2A32F2}" srcOrd="5" destOrd="0" presId="urn:microsoft.com/office/officeart/2005/8/layout/radial5"/>
    <dgm:cxn modelId="{4E2C784D-FF6F-46CA-B277-97C1AAD55BAB}" type="presParOf" srcId="{2E44BB44-2AFA-49D5-8D5C-0C482C2A32F2}" destId="{24FA680B-8113-4B6B-B42E-4E82B8D691BC}" srcOrd="0" destOrd="0" presId="urn:microsoft.com/office/officeart/2005/8/layout/radial5"/>
    <dgm:cxn modelId="{A868E37E-254E-4E0E-B3B1-8C25FBDB5CFA}" type="presParOf" srcId="{0C237480-72D9-4932-9823-7EF0DC0BD6E2}" destId="{0BA8C2DE-CEA6-4D60-925A-B6A87DF7F0AF}" srcOrd="6" destOrd="0" presId="urn:microsoft.com/office/officeart/2005/8/layout/radial5"/>
    <dgm:cxn modelId="{8710CAD3-6271-40D1-AE60-24295898A889}" type="presParOf" srcId="{0C237480-72D9-4932-9823-7EF0DC0BD6E2}" destId="{D869CC51-BFF1-47C3-8132-262C08BC0126}" srcOrd="7" destOrd="0" presId="urn:microsoft.com/office/officeart/2005/8/layout/radial5"/>
    <dgm:cxn modelId="{F25E24A6-072D-485C-920F-53467ADB3996}" type="presParOf" srcId="{D869CC51-BFF1-47C3-8132-262C08BC0126}" destId="{99D78527-746B-4F77-9321-76E4B9B64F63}" srcOrd="0" destOrd="0" presId="urn:microsoft.com/office/officeart/2005/8/layout/radial5"/>
    <dgm:cxn modelId="{F3A2184D-F3F3-4105-8F3B-5054CC194F61}" type="presParOf" srcId="{0C237480-72D9-4932-9823-7EF0DC0BD6E2}" destId="{C77C7ED6-EFE6-4614-8455-58DCBD959C09}" srcOrd="8" destOrd="0" presId="urn:microsoft.com/office/officeart/2005/8/layout/radial5"/>
    <dgm:cxn modelId="{59B8C685-F502-4C39-8FE0-6F69B4C511B1}" type="presParOf" srcId="{0C237480-72D9-4932-9823-7EF0DC0BD6E2}" destId="{0BF90922-84DD-4B7E-A979-CC73F48C96AC}" srcOrd="9" destOrd="0" presId="urn:microsoft.com/office/officeart/2005/8/layout/radial5"/>
    <dgm:cxn modelId="{0BE6555F-45A7-443B-96FA-B166498E305F}" type="presParOf" srcId="{0BF90922-84DD-4B7E-A979-CC73F48C96AC}" destId="{BE6DBCBC-9CDF-4F7B-99D8-6D69701D71CB}" srcOrd="0" destOrd="0" presId="urn:microsoft.com/office/officeart/2005/8/layout/radial5"/>
    <dgm:cxn modelId="{ED93B1A3-3C00-416D-AF16-E34DAF8A19BE}" type="presParOf" srcId="{0C237480-72D9-4932-9823-7EF0DC0BD6E2}" destId="{EC950E98-1243-4F2A-B1EF-587C00D3C208}" srcOrd="10" destOrd="0" presId="urn:microsoft.com/office/officeart/2005/8/layout/radial5"/>
    <dgm:cxn modelId="{28081821-04C7-4AF0-9356-B7E65F2B7DCF}" type="presParOf" srcId="{0C237480-72D9-4932-9823-7EF0DC0BD6E2}" destId="{3FE43C2F-4F8F-4A71-BCA6-3D959E1E57AC}" srcOrd="11" destOrd="0" presId="urn:microsoft.com/office/officeart/2005/8/layout/radial5"/>
    <dgm:cxn modelId="{236C8E42-1D92-4811-8FA2-FA9F51E931E1}" type="presParOf" srcId="{3FE43C2F-4F8F-4A71-BCA6-3D959E1E57AC}" destId="{DB876593-9395-4E68-81A8-7F8BE4C67FBD}" srcOrd="0" destOrd="0" presId="urn:microsoft.com/office/officeart/2005/8/layout/radial5"/>
    <dgm:cxn modelId="{FBD8A569-80F9-402D-A087-2CF9CFEB2FF3}" type="presParOf" srcId="{0C237480-72D9-4932-9823-7EF0DC0BD6E2}" destId="{194B0B06-D07D-4F99-BBAD-4983A0A0E541}" srcOrd="12" destOrd="0" presId="urn:microsoft.com/office/officeart/2005/8/layout/radial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2FC4F4F-9C4B-4FF6-A405-A654E792EE1D}">
      <dsp:nvSpPr>
        <dsp:cNvPr id="0" name=""/>
        <dsp:cNvSpPr/>
      </dsp:nvSpPr>
      <dsp:spPr>
        <a:xfrm>
          <a:off x="4061706" y="1549833"/>
          <a:ext cx="1565026" cy="1565026"/>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lvl="0" algn="ctr" defTabSz="1600200">
            <a:lnSpc>
              <a:spcPct val="90000"/>
            </a:lnSpc>
            <a:spcBef>
              <a:spcPct val="0"/>
            </a:spcBef>
            <a:spcAft>
              <a:spcPct val="35000"/>
            </a:spcAft>
          </a:pPr>
          <a:r>
            <a:rPr lang="fr-FR" sz="3600" kern="1200" dirty="0"/>
            <a:t>Big Data</a:t>
          </a:r>
        </a:p>
      </dsp:txBody>
      <dsp:txXfrm>
        <a:off x="4138104" y="1626231"/>
        <a:ext cx="1412230" cy="1412230"/>
      </dsp:txXfrm>
    </dsp:sp>
    <dsp:sp modelId="{6D28EBC7-7432-4866-86E6-40EFC64A2C32}">
      <dsp:nvSpPr>
        <dsp:cNvPr id="0" name=""/>
        <dsp:cNvSpPr/>
      </dsp:nvSpPr>
      <dsp:spPr>
        <a:xfrm rot="16087082">
          <a:off x="4559510" y="1299205"/>
          <a:ext cx="501525" cy="0"/>
        </a:xfrm>
        <a:custGeom>
          <a:avLst/>
          <a:gdLst/>
          <a:ahLst/>
          <a:cxnLst/>
          <a:rect l="0" t="0" r="0" b="0"/>
          <a:pathLst>
            <a:path>
              <a:moveTo>
                <a:pt x="0" y="0"/>
              </a:moveTo>
              <a:lnTo>
                <a:pt x="501525" y="0"/>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6B9AC27-1B75-471F-B1E8-D9B253B22F8D}">
      <dsp:nvSpPr>
        <dsp:cNvPr id="0" name=""/>
        <dsp:cNvSpPr/>
      </dsp:nvSpPr>
      <dsp:spPr>
        <a:xfrm>
          <a:off x="3404554" y="10"/>
          <a:ext cx="2760512" cy="1048567"/>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ctr" defTabSz="800100">
            <a:lnSpc>
              <a:spcPct val="90000"/>
            </a:lnSpc>
            <a:spcBef>
              <a:spcPct val="0"/>
            </a:spcBef>
            <a:spcAft>
              <a:spcPct val="35000"/>
            </a:spcAft>
          </a:pPr>
          <a:r>
            <a:rPr lang="fr-FR" sz="1800" b="1" kern="1200" dirty="0"/>
            <a:t>Véracité </a:t>
          </a:r>
        </a:p>
        <a:p>
          <a:pPr lvl="0" algn="just" defTabSz="800100">
            <a:lnSpc>
              <a:spcPct val="90000"/>
            </a:lnSpc>
            <a:spcBef>
              <a:spcPct val="0"/>
            </a:spcBef>
            <a:spcAft>
              <a:spcPct val="35000"/>
            </a:spcAft>
          </a:pPr>
          <a:r>
            <a:rPr lang="fr-FR" sz="1800" kern="1200" dirty="0"/>
            <a:t>Les données doivent être propre pour être  lisibles</a:t>
          </a:r>
        </a:p>
      </dsp:txBody>
      <dsp:txXfrm>
        <a:off x="3455741" y="51197"/>
        <a:ext cx="2658138" cy="946193"/>
      </dsp:txXfrm>
    </dsp:sp>
    <dsp:sp modelId="{D473B412-CCF3-413C-ACCB-49790414E825}">
      <dsp:nvSpPr>
        <dsp:cNvPr id="0" name=""/>
        <dsp:cNvSpPr/>
      </dsp:nvSpPr>
      <dsp:spPr>
        <a:xfrm rot="21311586">
          <a:off x="5624968" y="2224496"/>
          <a:ext cx="1003490" cy="0"/>
        </a:xfrm>
        <a:custGeom>
          <a:avLst/>
          <a:gdLst/>
          <a:ahLst/>
          <a:cxnLst/>
          <a:rect l="0" t="0" r="0" b="0"/>
          <a:pathLst>
            <a:path>
              <a:moveTo>
                <a:pt x="0" y="0"/>
              </a:moveTo>
              <a:lnTo>
                <a:pt x="1003490" y="0"/>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FF1C281-ABE3-4BF9-8CEC-10ABEA06EFD9}">
      <dsp:nvSpPr>
        <dsp:cNvPr id="0" name=""/>
        <dsp:cNvSpPr/>
      </dsp:nvSpPr>
      <dsp:spPr>
        <a:xfrm>
          <a:off x="6626694" y="1146289"/>
          <a:ext cx="2812364" cy="1835822"/>
        </a:xfrm>
        <a:prstGeom prst="round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0" tIns="50800" rIns="50800" bIns="50800" numCol="1" spcCol="1270" anchor="ctr" anchorCtr="0">
          <a:noAutofit/>
        </a:bodyPr>
        <a:lstStyle/>
        <a:p>
          <a:pPr lvl="0" algn="ctr" defTabSz="889000">
            <a:lnSpc>
              <a:spcPct val="90000"/>
            </a:lnSpc>
            <a:spcBef>
              <a:spcPct val="0"/>
            </a:spcBef>
            <a:spcAft>
              <a:spcPct val="35000"/>
            </a:spcAft>
          </a:pPr>
          <a:r>
            <a:rPr lang="fr-FR" sz="2000" b="1" kern="1200" dirty="0"/>
            <a:t>Valeur</a:t>
          </a:r>
        </a:p>
        <a:p>
          <a:pPr lvl="0" algn="just" defTabSz="889000">
            <a:lnSpc>
              <a:spcPct val="90000"/>
            </a:lnSpc>
            <a:spcBef>
              <a:spcPct val="0"/>
            </a:spcBef>
            <a:spcAft>
              <a:spcPct val="35000"/>
            </a:spcAft>
          </a:pPr>
          <a:r>
            <a:rPr lang="fr-FR" sz="2000" kern="1200" dirty="0"/>
            <a:t>Le traitement des jeux de données représente une véritable valeur pour l’entreprise</a:t>
          </a:r>
        </a:p>
      </dsp:txBody>
      <dsp:txXfrm>
        <a:off x="6716311" y="1235906"/>
        <a:ext cx="2633130" cy="1656588"/>
      </dsp:txXfrm>
    </dsp:sp>
    <dsp:sp modelId="{35D17C89-07DD-4A3A-91CB-582519D48AE6}">
      <dsp:nvSpPr>
        <dsp:cNvPr id="0" name=""/>
        <dsp:cNvSpPr/>
      </dsp:nvSpPr>
      <dsp:spPr>
        <a:xfrm rot="2004668">
          <a:off x="5511959" y="3230962"/>
          <a:ext cx="1389013" cy="0"/>
        </a:xfrm>
        <a:custGeom>
          <a:avLst/>
          <a:gdLst/>
          <a:ahLst/>
          <a:cxnLst/>
          <a:rect l="0" t="0" r="0" b="0"/>
          <a:pathLst>
            <a:path>
              <a:moveTo>
                <a:pt x="0" y="0"/>
              </a:moveTo>
              <a:lnTo>
                <a:pt x="1389013" y="0"/>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F3C54C7-4DA2-4ED8-9123-80084B4AB824}">
      <dsp:nvSpPr>
        <dsp:cNvPr id="0" name=""/>
        <dsp:cNvSpPr/>
      </dsp:nvSpPr>
      <dsp:spPr>
        <a:xfrm>
          <a:off x="6267353" y="3613387"/>
          <a:ext cx="3094303" cy="1356658"/>
        </a:xfrm>
        <a:prstGeom prst="round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ctr" defTabSz="800100">
            <a:lnSpc>
              <a:spcPct val="90000"/>
            </a:lnSpc>
            <a:spcBef>
              <a:spcPct val="0"/>
            </a:spcBef>
            <a:spcAft>
              <a:spcPct val="35000"/>
            </a:spcAft>
          </a:pPr>
          <a:r>
            <a:rPr lang="fr-FR" sz="1800" b="1" kern="1200" dirty="0"/>
            <a:t>Vélocité</a:t>
          </a:r>
        </a:p>
        <a:p>
          <a:pPr lvl="0" algn="just" defTabSz="800100">
            <a:lnSpc>
              <a:spcPct val="90000"/>
            </a:lnSpc>
            <a:spcBef>
              <a:spcPct val="0"/>
            </a:spcBef>
            <a:spcAft>
              <a:spcPct val="35000"/>
            </a:spcAft>
          </a:pPr>
          <a:r>
            <a:rPr lang="fr-FR" sz="1800" kern="1200" dirty="0"/>
            <a:t>Les flux de données sont générés, capturés et traités en temps réel, </a:t>
          </a:r>
        </a:p>
      </dsp:txBody>
      <dsp:txXfrm>
        <a:off x="6333580" y="3679614"/>
        <a:ext cx="2961849" cy="1224204"/>
      </dsp:txXfrm>
    </dsp:sp>
    <dsp:sp modelId="{3B663AB5-807D-4D2A-BB91-9C0784F0E0D6}">
      <dsp:nvSpPr>
        <dsp:cNvPr id="0" name=""/>
        <dsp:cNvSpPr/>
      </dsp:nvSpPr>
      <dsp:spPr>
        <a:xfrm rot="8461568">
          <a:off x="3105391" y="3303826"/>
          <a:ext cx="1076062" cy="0"/>
        </a:xfrm>
        <a:custGeom>
          <a:avLst/>
          <a:gdLst/>
          <a:ahLst/>
          <a:cxnLst/>
          <a:rect l="0" t="0" r="0" b="0"/>
          <a:pathLst>
            <a:path>
              <a:moveTo>
                <a:pt x="0" y="0"/>
              </a:moveTo>
              <a:lnTo>
                <a:pt x="1076062" y="0"/>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1349F80-407C-402A-B10D-679BF0B6F22A}">
      <dsp:nvSpPr>
        <dsp:cNvPr id="0" name=""/>
        <dsp:cNvSpPr/>
      </dsp:nvSpPr>
      <dsp:spPr>
        <a:xfrm>
          <a:off x="593784" y="3642229"/>
          <a:ext cx="3432046" cy="1481060"/>
        </a:xfrm>
        <a:prstGeom prst="round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3180" tIns="43180" rIns="43180" bIns="43180" numCol="1" spcCol="1270" anchor="ctr" anchorCtr="0">
          <a:noAutofit/>
        </a:bodyPr>
        <a:lstStyle/>
        <a:p>
          <a:pPr lvl="0" algn="ctr" defTabSz="755650">
            <a:lnSpc>
              <a:spcPct val="90000"/>
            </a:lnSpc>
            <a:spcBef>
              <a:spcPct val="0"/>
            </a:spcBef>
            <a:spcAft>
              <a:spcPct val="35000"/>
            </a:spcAft>
          </a:pPr>
          <a:r>
            <a:rPr lang="fr-FR" sz="1700" b="1" kern="1200" dirty="0"/>
            <a:t>Variété</a:t>
          </a:r>
        </a:p>
        <a:p>
          <a:pPr lvl="0" algn="just" defTabSz="755650">
            <a:lnSpc>
              <a:spcPct val="90000"/>
            </a:lnSpc>
            <a:spcBef>
              <a:spcPct val="0"/>
            </a:spcBef>
            <a:spcAft>
              <a:spcPct val="35000"/>
            </a:spcAft>
          </a:pPr>
          <a:r>
            <a:rPr lang="fr-FR" sz="1700" kern="1200" dirty="0"/>
            <a:t>Les données sont complexes, structurées de façon hétérogène et disponibles sous plusieurs formats,</a:t>
          </a:r>
        </a:p>
      </dsp:txBody>
      <dsp:txXfrm>
        <a:off x="666083" y="3714528"/>
        <a:ext cx="3287448" cy="1336462"/>
      </dsp:txXfrm>
    </dsp:sp>
    <dsp:sp modelId="{CC532D25-E448-4142-824C-BB5D23BD32C4}">
      <dsp:nvSpPr>
        <dsp:cNvPr id="0" name=""/>
        <dsp:cNvSpPr/>
      </dsp:nvSpPr>
      <dsp:spPr>
        <a:xfrm rot="10926800">
          <a:off x="2690991" y="2278188"/>
          <a:ext cx="1371181" cy="0"/>
        </a:xfrm>
        <a:custGeom>
          <a:avLst/>
          <a:gdLst/>
          <a:ahLst/>
          <a:cxnLst/>
          <a:rect l="0" t="0" r="0" b="0"/>
          <a:pathLst>
            <a:path>
              <a:moveTo>
                <a:pt x="0" y="0"/>
              </a:moveTo>
              <a:lnTo>
                <a:pt x="1371181" y="0"/>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D6FBED0-AA80-4A86-B40F-9B82AED8CC8F}">
      <dsp:nvSpPr>
        <dsp:cNvPr id="0" name=""/>
        <dsp:cNvSpPr/>
      </dsp:nvSpPr>
      <dsp:spPr>
        <a:xfrm>
          <a:off x="312215" y="1301089"/>
          <a:ext cx="2379242" cy="1815836"/>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3180" tIns="43180" rIns="43180" bIns="43180" numCol="1" spcCol="1270" anchor="ctr" anchorCtr="0">
          <a:noAutofit/>
        </a:bodyPr>
        <a:lstStyle/>
        <a:p>
          <a:pPr lvl="0" algn="ctr" defTabSz="755650">
            <a:lnSpc>
              <a:spcPct val="90000"/>
            </a:lnSpc>
            <a:spcBef>
              <a:spcPct val="0"/>
            </a:spcBef>
            <a:spcAft>
              <a:spcPct val="35000"/>
            </a:spcAft>
          </a:pPr>
          <a:r>
            <a:rPr lang="fr-FR" sz="1700" b="1" kern="1200" dirty="0"/>
            <a:t>Volume</a:t>
          </a:r>
        </a:p>
        <a:p>
          <a:pPr lvl="0" algn="just" defTabSz="755650">
            <a:lnSpc>
              <a:spcPct val="90000"/>
            </a:lnSpc>
            <a:spcBef>
              <a:spcPct val="0"/>
            </a:spcBef>
            <a:spcAft>
              <a:spcPct val="35000"/>
            </a:spcAft>
          </a:pPr>
          <a:r>
            <a:rPr lang="fr-FR" sz="1700" kern="1200" dirty="0"/>
            <a:t>La quantité de données est trop  importante pour être traitée sur un ordinateur classique</a:t>
          </a:r>
        </a:p>
      </dsp:txBody>
      <dsp:txXfrm>
        <a:off x="400857" y="1389731"/>
        <a:ext cx="2201958" cy="163855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B0272C0-7D1B-481A-9386-CBC59E240511}">
      <dsp:nvSpPr>
        <dsp:cNvPr id="0" name=""/>
        <dsp:cNvSpPr/>
      </dsp:nvSpPr>
      <dsp:spPr>
        <a:xfrm>
          <a:off x="3387933" y="1771935"/>
          <a:ext cx="1878461" cy="1616227"/>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6670" tIns="26670" rIns="26670" bIns="26670" numCol="1" spcCol="1270" anchor="ctr" anchorCtr="0">
          <a:noAutofit/>
        </a:bodyPr>
        <a:lstStyle/>
        <a:p>
          <a:pPr lvl="0" algn="ctr" defTabSz="933450">
            <a:lnSpc>
              <a:spcPct val="90000"/>
            </a:lnSpc>
            <a:spcBef>
              <a:spcPct val="0"/>
            </a:spcBef>
            <a:spcAft>
              <a:spcPct val="35000"/>
            </a:spcAft>
          </a:pPr>
          <a:r>
            <a:rPr lang="fr-FR" sz="2100" kern="1200" dirty="0"/>
            <a:t>Ecosystème Apache</a:t>
          </a:r>
        </a:p>
      </dsp:txBody>
      <dsp:txXfrm>
        <a:off x="3663027" y="2008626"/>
        <a:ext cx="1328273" cy="1142845"/>
      </dsp:txXfrm>
    </dsp:sp>
    <dsp:sp modelId="{8E6E3785-3CFF-4CD9-B5A4-8779FF27D0EC}">
      <dsp:nvSpPr>
        <dsp:cNvPr id="0" name=""/>
        <dsp:cNvSpPr/>
      </dsp:nvSpPr>
      <dsp:spPr>
        <a:xfrm rot="16200000">
          <a:off x="4217928" y="1341340"/>
          <a:ext cx="218472" cy="461344"/>
        </a:xfrm>
        <a:prstGeom prst="rightArrow">
          <a:avLst>
            <a:gd name="adj1" fmla="val 60000"/>
            <a:gd name="adj2" fmla="val 5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755650">
            <a:lnSpc>
              <a:spcPct val="90000"/>
            </a:lnSpc>
            <a:spcBef>
              <a:spcPct val="0"/>
            </a:spcBef>
            <a:spcAft>
              <a:spcPct val="35000"/>
            </a:spcAft>
          </a:pPr>
          <a:endParaRPr lang="fr-FR" sz="1700" kern="1200"/>
        </a:p>
      </dsp:txBody>
      <dsp:txXfrm>
        <a:off x="4250699" y="1466380"/>
        <a:ext cx="152930" cy="276806"/>
      </dsp:txXfrm>
    </dsp:sp>
    <dsp:sp modelId="{7742BC85-48C9-4BE6-AB35-662ADB1CAB9E}">
      <dsp:nvSpPr>
        <dsp:cNvPr id="0" name=""/>
        <dsp:cNvSpPr/>
      </dsp:nvSpPr>
      <dsp:spPr>
        <a:xfrm>
          <a:off x="3486886" y="2828"/>
          <a:ext cx="1680554" cy="1356894"/>
        </a:xfrm>
        <a:prstGeom prst="ellipse">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130" tIns="24130" rIns="24130" bIns="24130" numCol="1" spcCol="1270" anchor="ctr" anchorCtr="0">
          <a:noAutofit/>
        </a:bodyPr>
        <a:lstStyle/>
        <a:p>
          <a:pPr lvl="0" algn="ctr" defTabSz="844550">
            <a:lnSpc>
              <a:spcPct val="90000"/>
            </a:lnSpc>
            <a:spcBef>
              <a:spcPct val="0"/>
            </a:spcBef>
            <a:spcAft>
              <a:spcPct val="35000"/>
            </a:spcAft>
          </a:pPr>
          <a:r>
            <a:rPr lang="fr-FR" sz="1900" b="1" kern="1200" dirty="0"/>
            <a:t>Hbase</a:t>
          </a:r>
        </a:p>
      </dsp:txBody>
      <dsp:txXfrm>
        <a:off x="3732997" y="201541"/>
        <a:ext cx="1188332" cy="959468"/>
      </dsp:txXfrm>
    </dsp:sp>
    <dsp:sp modelId="{8BDA23C6-2BBD-4EAF-A96B-D9798D727929}">
      <dsp:nvSpPr>
        <dsp:cNvPr id="0" name=""/>
        <dsp:cNvSpPr/>
      </dsp:nvSpPr>
      <dsp:spPr>
        <a:xfrm rot="20320650">
          <a:off x="5314460" y="1890922"/>
          <a:ext cx="374430" cy="461344"/>
        </a:xfrm>
        <a:prstGeom prst="rightArrow">
          <a:avLst>
            <a:gd name="adj1" fmla="val 60000"/>
            <a:gd name="adj2" fmla="val 5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755650">
            <a:lnSpc>
              <a:spcPct val="90000"/>
            </a:lnSpc>
            <a:spcBef>
              <a:spcPct val="0"/>
            </a:spcBef>
            <a:spcAft>
              <a:spcPct val="35000"/>
            </a:spcAft>
          </a:pPr>
          <a:endParaRPr lang="fr-FR" sz="1700" kern="1200"/>
        </a:p>
      </dsp:txBody>
      <dsp:txXfrm>
        <a:off x="5318305" y="2003613"/>
        <a:ext cx="262101" cy="276806"/>
      </dsp:txXfrm>
    </dsp:sp>
    <dsp:sp modelId="{A1C7C771-5325-4DB5-837C-6BA8C9C2C9E7}">
      <dsp:nvSpPr>
        <dsp:cNvPr id="0" name=""/>
        <dsp:cNvSpPr/>
      </dsp:nvSpPr>
      <dsp:spPr>
        <a:xfrm>
          <a:off x="5787173" y="912500"/>
          <a:ext cx="1573862" cy="1580972"/>
        </a:xfrm>
        <a:prstGeom prst="ellipse">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130" tIns="24130" rIns="24130" bIns="24130" numCol="1" spcCol="1270" anchor="ctr" anchorCtr="0">
          <a:noAutofit/>
        </a:bodyPr>
        <a:lstStyle/>
        <a:p>
          <a:pPr lvl="0" algn="ctr" defTabSz="844550">
            <a:lnSpc>
              <a:spcPct val="90000"/>
            </a:lnSpc>
            <a:spcBef>
              <a:spcPct val="0"/>
            </a:spcBef>
            <a:spcAft>
              <a:spcPct val="35000"/>
            </a:spcAft>
          </a:pPr>
          <a:r>
            <a:rPr lang="fr-FR" sz="1900" b="1" kern="1200" dirty="0"/>
            <a:t>Hive</a:t>
          </a:r>
        </a:p>
      </dsp:txBody>
      <dsp:txXfrm>
        <a:off x="6017660" y="1144028"/>
        <a:ext cx="1112888" cy="1117916"/>
      </dsp:txXfrm>
    </dsp:sp>
    <dsp:sp modelId="{2E44BB44-2AFA-49D5-8D5C-0C482C2A32F2}">
      <dsp:nvSpPr>
        <dsp:cNvPr id="0" name=""/>
        <dsp:cNvSpPr/>
      </dsp:nvSpPr>
      <dsp:spPr>
        <a:xfrm rot="1649304">
          <a:off x="5246248" y="2923861"/>
          <a:ext cx="370073" cy="461344"/>
        </a:xfrm>
        <a:prstGeom prst="rightArrow">
          <a:avLst>
            <a:gd name="adj1" fmla="val 60000"/>
            <a:gd name="adj2" fmla="val 5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755650">
            <a:lnSpc>
              <a:spcPct val="90000"/>
            </a:lnSpc>
            <a:spcBef>
              <a:spcPct val="0"/>
            </a:spcBef>
            <a:spcAft>
              <a:spcPct val="35000"/>
            </a:spcAft>
          </a:pPr>
          <a:endParaRPr lang="fr-FR" sz="1700" kern="1200"/>
        </a:p>
      </dsp:txBody>
      <dsp:txXfrm>
        <a:off x="5252515" y="2990508"/>
        <a:ext cx="259051" cy="276806"/>
      </dsp:txXfrm>
    </dsp:sp>
    <dsp:sp modelId="{0BA8C2DE-CEA6-4D60-925A-B6A87DF7F0AF}">
      <dsp:nvSpPr>
        <dsp:cNvPr id="0" name=""/>
        <dsp:cNvSpPr/>
      </dsp:nvSpPr>
      <dsp:spPr>
        <a:xfrm>
          <a:off x="5623474" y="3004008"/>
          <a:ext cx="1644882" cy="1356894"/>
        </a:xfrm>
        <a:prstGeom prst="ellipse">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130" tIns="24130" rIns="24130" bIns="24130" numCol="1" spcCol="1270" anchor="ctr" anchorCtr="0">
          <a:noAutofit/>
        </a:bodyPr>
        <a:lstStyle/>
        <a:p>
          <a:pPr lvl="0" algn="ctr" defTabSz="844550">
            <a:lnSpc>
              <a:spcPct val="90000"/>
            </a:lnSpc>
            <a:spcBef>
              <a:spcPct val="0"/>
            </a:spcBef>
            <a:spcAft>
              <a:spcPct val="35000"/>
            </a:spcAft>
          </a:pPr>
          <a:r>
            <a:rPr lang="fr-FR" sz="1900" b="1" kern="1200" dirty="0"/>
            <a:t>Pig</a:t>
          </a:r>
        </a:p>
      </dsp:txBody>
      <dsp:txXfrm>
        <a:off x="5864361" y="3202721"/>
        <a:ext cx="1163108" cy="959468"/>
      </dsp:txXfrm>
    </dsp:sp>
    <dsp:sp modelId="{D869CC51-BFF1-47C3-8132-262C08BC0126}">
      <dsp:nvSpPr>
        <dsp:cNvPr id="0" name=""/>
        <dsp:cNvSpPr/>
      </dsp:nvSpPr>
      <dsp:spPr>
        <a:xfrm rot="5511620">
          <a:off x="4184188" y="3358740"/>
          <a:ext cx="220383" cy="461344"/>
        </a:xfrm>
        <a:prstGeom prst="rightArrow">
          <a:avLst>
            <a:gd name="adj1" fmla="val 60000"/>
            <a:gd name="adj2" fmla="val 5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755650">
            <a:lnSpc>
              <a:spcPct val="90000"/>
            </a:lnSpc>
            <a:spcBef>
              <a:spcPct val="0"/>
            </a:spcBef>
            <a:spcAft>
              <a:spcPct val="35000"/>
            </a:spcAft>
          </a:pPr>
          <a:endParaRPr lang="fr-FR" sz="1700" kern="1200"/>
        </a:p>
      </dsp:txBody>
      <dsp:txXfrm rot="10800000">
        <a:off x="4218319" y="3417969"/>
        <a:ext cx="154268" cy="276806"/>
      </dsp:txXfrm>
    </dsp:sp>
    <dsp:sp modelId="{C77C7ED6-EFE6-4614-8455-58DCBD959C09}">
      <dsp:nvSpPr>
        <dsp:cNvPr id="0" name=""/>
        <dsp:cNvSpPr/>
      </dsp:nvSpPr>
      <dsp:spPr>
        <a:xfrm>
          <a:off x="3442402" y="3803203"/>
          <a:ext cx="1645994" cy="1356894"/>
        </a:xfrm>
        <a:prstGeom prst="ellipse">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130" tIns="24130" rIns="24130" bIns="24130" numCol="1" spcCol="1270" anchor="ctr" anchorCtr="0">
          <a:noAutofit/>
        </a:bodyPr>
        <a:lstStyle/>
        <a:p>
          <a:pPr lvl="0" algn="ctr" defTabSz="844550">
            <a:lnSpc>
              <a:spcPct val="90000"/>
            </a:lnSpc>
            <a:spcBef>
              <a:spcPct val="0"/>
            </a:spcBef>
            <a:spcAft>
              <a:spcPct val="35000"/>
            </a:spcAft>
          </a:pPr>
          <a:r>
            <a:rPr lang="fr-FR" sz="1900" b="1" kern="1200" dirty="0"/>
            <a:t>Sqoop</a:t>
          </a:r>
        </a:p>
      </dsp:txBody>
      <dsp:txXfrm>
        <a:off x="3683452" y="4001916"/>
        <a:ext cx="1163894" cy="959468"/>
      </dsp:txXfrm>
    </dsp:sp>
    <dsp:sp modelId="{0BF90922-84DD-4B7E-A979-CC73F48C96AC}">
      <dsp:nvSpPr>
        <dsp:cNvPr id="0" name=""/>
        <dsp:cNvSpPr/>
      </dsp:nvSpPr>
      <dsp:spPr>
        <a:xfrm rot="9303534">
          <a:off x="2910767" y="2904886"/>
          <a:ext cx="443796" cy="461344"/>
        </a:xfrm>
        <a:prstGeom prst="rightArrow">
          <a:avLst>
            <a:gd name="adj1" fmla="val 60000"/>
            <a:gd name="adj2" fmla="val 50000"/>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755650">
            <a:lnSpc>
              <a:spcPct val="90000"/>
            </a:lnSpc>
            <a:spcBef>
              <a:spcPct val="0"/>
            </a:spcBef>
            <a:spcAft>
              <a:spcPct val="35000"/>
            </a:spcAft>
          </a:pPr>
          <a:endParaRPr lang="fr-FR" sz="1700" kern="1200"/>
        </a:p>
      </dsp:txBody>
      <dsp:txXfrm rot="10800000">
        <a:off x="3037698" y="2969084"/>
        <a:ext cx="310657" cy="276806"/>
      </dsp:txXfrm>
    </dsp:sp>
    <dsp:sp modelId="{EC950E98-1243-4F2A-B1EF-587C00D3C208}">
      <dsp:nvSpPr>
        <dsp:cNvPr id="0" name=""/>
        <dsp:cNvSpPr/>
      </dsp:nvSpPr>
      <dsp:spPr>
        <a:xfrm>
          <a:off x="1300901" y="2868707"/>
          <a:ext cx="1509002" cy="1535679"/>
        </a:xfrm>
        <a:prstGeom prst="ellipse">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130" tIns="24130" rIns="24130" bIns="24130" numCol="1" spcCol="1270" anchor="ctr" anchorCtr="0">
          <a:noAutofit/>
        </a:bodyPr>
        <a:lstStyle/>
        <a:p>
          <a:pPr lvl="0" algn="ctr" defTabSz="844550">
            <a:lnSpc>
              <a:spcPct val="90000"/>
            </a:lnSpc>
            <a:spcBef>
              <a:spcPct val="0"/>
            </a:spcBef>
            <a:spcAft>
              <a:spcPct val="35000"/>
            </a:spcAft>
          </a:pPr>
          <a:r>
            <a:rPr lang="fr-FR" sz="1900" b="1" kern="1200" dirty="0" err="1"/>
            <a:t>Flume</a:t>
          </a:r>
          <a:endParaRPr lang="fr-FR" sz="1900" b="1" kern="1200" dirty="0"/>
        </a:p>
      </dsp:txBody>
      <dsp:txXfrm>
        <a:off x="1521889" y="3093602"/>
        <a:ext cx="1067026" cy="1085889"/>
      </dsp:txXfrm>
    </dsp:sp>
    <dsp:sp modelId="{3FE43C2F-4F8F-4A71-BCA6-3D959E1E57AC}">
      <dsp:nvSpPr>
        <dsp:cNvPr id="0" name=""/>
        <dsp:cNvSpPr/>
      </dsp:nvSpPr>
      <dsp:spPr>
        <a:xfrm rot="12317076">
          <a:off x="3119230" y="1847220"/>
          <a:ext cx="289749" cy="461344"/>
        </a:xfrm>
        <a:prstGeom prst="rightArrow">
          <a:avLst>
            <a:gd name="adj1" fmla="val 60000"/>
            <a:gd name="adj2" fmla="val 5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755650">
            <a:lnSpc>
              <a:spcPct val="90000"/>
            </a:lnSpc>
            <a:spcBef>
              <a:spcPct val="0"/>
            </a:spcBef>
            <a:spcAft>
              <a:spcPct val="35000"/>
            </a:spcAft>
          </a:pPr>
          <a:endParaRPr lang="fr-FR" sz="1700" kern="1200"/>
        </a:p>
      </dsp:txBody>
      <dsp:txXfrm rot="10800000">
        <a:off x="3201991" y="1958052"/>
        <a:ext cx="202824" cy="276806"/>
      </dsp:txXfrm>
    </dsp:sp>
    <dsp:sp modelId="{194B0B06-D07D-4F99-BBAD-4983A0A0E541}">
      <dsp:nvSpPr>
        <dsp:cNvPr id="0" name=""/>
        <dsp:cNvSpPr/>
      </dsp:nvSpPr>
      <dsp:spPr>
        <a:xfrm>
          <a:off x="1492309" y="771166"/>
          <a:ext cx="1585287" cy="1688411"/>
        </a:xfrm>
        <a:prstGeom prst="ellipse">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130" tIns="24130" rIns="24130" bIns="24130" numCol="1" spcCol="1270" anchor="ctr" anchorCtr="0">
          <a:noAutofit/>
        </a:bodyPr>
        <a:lstStyle/>
        <a:p>
          <a:pPr lvl="0" algn="ctr" defTabSz="844550">
            <a:lnSpc>
              <a:spcPct val="90000"/>
            </a:lnSpc>
            <a:spcBef>
              <a:spcPct val="0"/>
            </a:spcBef>
            <a:spcAft>
              <a:spcPct val="35000"/>
            </a:spcAft>
          </a:pPr>
          <a:r>
            <a:rPr lang="fr-FR" sz="1900" b="1" kern="1200" dirty="0"/>
            <a:t>Zookeeper</a:t>
          </a:r>
        </a:p>
      </dsp:txBody>
      <dsp:txXfrm>
        <a:off x="1724469" y="1018428"/>
        <a:ext cx="1120967" cy="1193887"/>
      </dsp:txXfrm>
    </dsp:sp>
  </dsp:spTree>
</dsp:drawing>
</file>

<file path=ppt/diagrams/layout1.xml><?xml version="1.0" encoding="utf-8"?>
<dgm:layoutDef xmlns:dgm="http://schemas.openxmlformats.org/drawingml/2006/diagram" xmlns:a="http://schemas.openxmlformats.org/drawingml/2006/main" uniqueId="urn:microsoft.com/office/officeart/2008/layout/RadialCluster">
  <dgm:title val=""/>
  <dgm:desc val=""/>
  <dgm:catLst>
    <dgm:cat type="relationship" pri="19500"/>
    <dgm:cat type="cycle" pri="150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useDef="1">
    <dgm:dataModel>
      <dgm:ptLst/>
      <dgm:bg/>
      <dgm:whole/>
    </dgm:dataModel>
  </dgm:styleData>
  <dgm:clrData useDef="1">
    <dgm:dataModel>
      <dgm:ptLst/>
      <dgm:bg/>
      <dgm:whole/>
    </dgm:dataModel>
  </dgm:clrData>
  <dgm:layoutNode name="Name0">
    <dgm:varLst>
      <dgm:chMax val="1"/>
      <dgm:chPref val="1"/>
      <dgm:dir/>
      <dgm:animOne val="branch"/>
      <dgm:animLvl val="lvl"/>
    </dgm:varLst>
    <dgm:alg type="composite">
      <dgm:param type="ar" val="1.00"/>
    </dgm:alg>
    <dgm:shape xmlns:r="http://schemas.openxmlformats.org/officeDocument/2006/relationships" r:blip="">
      <dgm:adjLst/>
    </dgm:shape>
    <dgm:choose name="Name1">
      <dgm:if name="Name2" func="var" arg="dir" op="equ" val="norm">
        <dgm:choose name="Name3">
          <dgm:if name="Name4" axis="ch ch" ptType="node node" cnt="1 0" func="cnt" op="equ" val="1">
            <dgm:constrLst>
              <dgm:constr type="l" for="ch" forName="textCenter"/>
              <dgm:constr type="ctrY" for="ch" forName="textCenter" refType="h" fact="0.5"/>
              <dgm:constr type="w" for="ch" forName="textCenter" refType="w" fact="0.32"/>
              <dgm:constr type="h" for="ch" forName="textCenter" refType="w" refFor="ch" refForName="textCenter"/>
              <dgm:constr type="r" for="ch" forName="cycle_1" refType="w"/>
              <dgm:constr type="ctrY" for="ch" forName="cycle_1" refType="h" fact="0.5"/>
              <dgm:constr type="w" for="ch" forName="cycle_1" refType="w" fact="0.56"/>
              <dgm:constr type="h" for="ch" forName="cycle_1" refType="h"/>
              <dgm:constr type="primFontSz" for="ch" forName="textCenter" val="65"/>
              <dgm:constr type="primFontSz" for="des" forName="childCenter1" val="65"/>
              <dgm:constr type="primFontSz" for="des" forName="text1" op="equ" val="65"/>
              <dgm:constr type="userS" for="des" ptType="node" refType="w" refFor="ch" refForName="textCenter" fact="0.67"/>
            </dgm:constrLst>
          </dgm:if>
          <dgm:if name="Name5" axis="ch ch" ptType="node node" cnt="1 0" func="cnt" op="equ" val="2">
            <dgm:constrLst>
              <dgm:constr type="ctrX" for="ch" forName="textCenter" refType="w" fact="0.5"/>
              <dgm:constr type="ctrY" for="ch" forName="textCenter" refType="h" fact="0.5"/>
              <dgm:constr type="w" for="ch" forName="textCenter" refType="w" fact="0.25"/>
              <dgm:constr type="h" for="ch" forName="textCenter" refType="w" refFor="ch" refForName="textCenter"/>
              <dgm:constr type="ctrX" for="ch" forName="cycle_1" refType="w" fact="0.5"/>
              <dgm:constr type="t" for="ch" forName="cycle_1"/>
              <dgm:constr type="w" for="ch" forName="cycle_1" refType="w"/>
              <dgm:constr type="h" for="ch" forName="cycle_1" refType="h" fact="0.34"/>
              <dgm:constr type="ctrX" for="ch" forName="cycle_2" refType="w" fact="0.5"/>
              <dgm:constr type="b" for="ch" forName="cycle_2" refType="h"/>
              <dgm:constr type="w" for="ch" forName="cycle_2" refType="w"/>
              <dgm:constr type="h" for="ch" forName="cycle_2" refType="h" fact="0.34"/>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userS" for="des" ptType="node" refType="w" refFor="ch" refForName="textCenter" fact="0.67"/>
            </dgm:constrLst>
          </dgm:if>
          <dgm:if name="Name6" axis="ch ch" ptType="node node" cnt="1 0" func="cnt" op="equ" val="3">
            <dgm:choose name="Name7">
              <dgm:if name="Name8" axis="ch ch ch" ptType="node node node" st="1 2 0" cnt="1 1 0" func="cnt" op="equ" val="1">
                <dgm:choose name="Name9">
                  <dgm:if name="Name10" axis="ch ch ch" ptType="node node node" st="1 3 0" cnt="1 1 0" func="cnt" op="equ" val="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r" for="ch" forName="cycle_2" refType="w"/>
                      <dgm:constr type="b" for="ch" forName="cycle_2" refType="h" fact="0.85"/>
                      <dgm:constr type="w" for="ch" forName="cycle_2" refType="w" fact="0.46"/>
                      <dgm:constr type="h" for="ch" forName="cycle_2" refType="h" fact="0.54"/>
                      <dgm:constr type="diam" for="ch" forName="cycle_2" refType="w" fact="0.5"/>
                      <dgm:constr type="l" for="ch" forName="cycle_3"/>
                      <dgm:constr type="b" for="ch" forName="cycle_3" refType="h" fact="0.85"/>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if>
                  <dgm:else name="Name1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r" for="ch" forName="cycle_2" refType="w"/>
                      <dgm:constr type="b" for="ch" forName="cycle_2" refType="h" fact="0.85"/>
                      <dgm:constr type="w" for="ch" forName="cycle_2" refType="w" fact="0.46"/>
                      <dgm:constr type="h" for="ch" forName="cycle_2" refType="h" fact="0.54"/>
                      <dgm:constr type="diam" for="ch" forName="cycle_2" refType="w" fact="0.5"/>
                      <dgm:constr type="l" for="ch" forName="cycle_3"/>
                      <dgm:constr type="b" for="ch" forName="cycle_3" refType="h"/>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else>
                </dgm:choose>
              </dgm:if>
              <dgm:else name="Name12">
                <dgm:choose name="Name13">
                  <dgm:if name="Name14" axis="ch ch ch" ptType="node node node" st="1 3 0" cnt="1 1 0" func="cnt" op="equ" val="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r" for="ch" forName="cycle_2" refType="w"/>
                      <dgm:constr type="b" for="ch" forName="cycle_2" refType="h"/>
                      <dgm:constr type="w" for="ch" forName="cycle_2" refType="w" fact="0.46"/>
                      <dgm:constr type="h" for="ch" forName="cycle_2" refType="h" fact="0.54"/>
                      <dgm:constr type="diam" for="ch" forName="cycle_2" refType="w" fact="0.5"/>
                      <dgm:constr type="l" for="ch" forName="cycle_3"/>
                      <dgm:constr type="b" for="ch" forName="cycle_3" refType="h" fact="0.85"/>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if>
                  <dgm:else name="Name15">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r" for="ch" forName="cycle_2" refType="w"/>
                      <dgm:constr type="b" for="ch" forName="cycle_2" refType="h"/>
                      <dgm:constr type="w" for="ch" forName="cycle_2" refType="w" fact="0.46"/>
                      <dgm:constr type="h" for="ch" forName="cycle_2" refType="h" fact="0.54"/>
                      <dgm:constr type="diam" for="ch" forName="cycle_2" refType="w" fact="0.5"/>
                      <dgm:constr type="l" for="ch" forName="cycle_3"/>
                      <dgm:constr type="b" for="ch" forName="cycle_3" refType="h"/>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else>
                </dgm:choose>
              </dgm:else>
            </dgm:choose>
          </dgm:if>
          <dgm:if name="Name16" axis="ch ch" ptType="node node" cnt="1 0" func="cnt" op="equ" val="4">
            <dgm:constrLst>
              <dgm:constr type="ctrX" for="ch" forName="textCenter" refType="w" fact="0.5"/>
              <dgm:constr type="ctrY" for="ch" forName="textCenter" refType="h" fact="0.5"/>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5"/>
              <dgm:constr type="h" for="ch" forName="cycle_1" refType="h" fact="0.33"/>
              <dgm:constr type="r" for="ch" forName="cycle_2" refType="w"/>
              <dgm:constr type="ctrY" for="ch" forName="cycle_2" refType="h" fact="0.5"/>
              <dgm:constr type="w" for="ch" forName="cycle_2" refType="w" fact="0.33"/>
              <dgm:constr type="h" for="ch" forName="cycle_2" refType="h" fact="0.5"/>
              <dgm:constr type="ctrX" for="ch" forName="cycle_3" refType="w" fact="0.5"/>
              <dgm:constr type="b" for="ch" forName="cycle_3" refType="h"/>
              <dgm:constr type="w" for="ch" forName="cycle_3" refType="w" fact="0.5"/>
              <dgm:constr type="h" for="ch" forName="cycle_3" refType="h" fact="0.33"/>
              <dgm:constr type="l" for="ch" forName="cycle_4"/>
              <dgm:constr type="ctrY" for="ch" forName="cycle_4" refType="h" fact="0.5"/>
              <dgm:constr type="w" for="ch" forName="cycle_4" refType="w" fact="0.33"/>
              <dgm:constr type="h" for="ch" forName="cycle_4" refType="h"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userS" for="des" ptType="node" refType="w" refFor="ch" refForName="textCenter" fact="0.67"/>
            </dgm:constrLst>
          </dgm:if>
          <dgm:if name="Name17" axis="ch ch" ptType="node node" cnt="1 0" func="cnt" op="equ" val="5">
            <dgm:constrLst>
              <dgm:constr type="ctrX" for="ch" forName="textCenter" refType="w" fact="0.5"/>
              <dgm:constr type="t" for="ch" forName="textCenter" refType="h" fact="0.42"/>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33"/>
              <dgm:constr type="h" for="ch" forName="cycle_1" refType="w" refFor="ch" refForName="cycle_1"/>
              <dgm:constr type="r" for="ch" forName="cycle_2" refType="w"/>
              <dgm:constr type="t" for="ch" forName="cycle_2" refType="h" fact="0.24"/>
              <dgm:constr type="w" for="ch" forName="cycle_2" refType="w" fact="0.33"/>
              <dgm:constr type="h" for="ch" forName="cycle_2" refType="w" refFor="ch" refForName="cycle_2"/>
              <dgm:constr type="r" for="ch" forName="cycle_3" refType="w" fact="0.89"/>
              <dgm:constr type="b" for="ch" forName="cycle_3" refType="h"/>
              <dgm:constr type="w" for="ch" forName="cycle_3" refType="w" fact="0.33"/>
              <dgm:constr type="h" for="ch" forName="cycle_3" refType="w" refFor="ch" refForName="cycle_3"/>
              <dgm:constr type="l" for="ch" forName="cycle_4" refType="w" fact="0.11"/>
              <dgm:constr type="b" for="ch" forName="cycle_4" refType="h"/>
              <dgm:constr type="w" for="ch" forName="cycle_4" refType="w" fact="0.33"/>
              <dgm:constr type="h" for="ch" forName="cycle_4" refType="w" refFor="ch" refForName="cycle_4"/>
              <dgm:constr type="l" for="ch" forName="cycle_5"/>
              <dgm:constr type="t" for="ch" forName="cycle_5" refType="h" fact="0.24"/>
              <dgm:constr type="w" for="ch" forName="cycle_5" refType="w" fact="0.33"/>
              <dgm:constr type="h" for="ch" forName="cycle_5" refType="w" refFor="ch" refForName="cycle_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userS" for="des" ptType="node" refType="w" refFor="ch" refForName="textCenter" fact="0.67"/>
            </dgm:constrLst>
          </dgm:if>
          <dgm:if name="Name18" axis="ch ch" ptType="node node" cnt="1 0" func="cnt" op="equ" val="6">
            <dgm:constrLst>
              <dgm:constr type="ctrX" for="ch" forName="textCenter" refType="w" fact="0.5"/>
              <dgm:constr type="ctrY" for="ch" forName="textCenter" refType="h" fact="0.5"/>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33"/>
              <dgm:constr type="h" for="ch" forName="cycle_1" refType="w" refFor="ch" refForName="cycle_1"/>
              <dgm:constr type="r" for="ch" forName="cycle_2" refType="w"/>
              <dgm:constr type="t" for="ch" forName="cycle_2" refType="h" fact="0.17"/>
              <dgm:constr type="w" for="ch" forName="cycle_2" refType="w" fact="0.33"/>
              <dgm:constr type="h" for="ch" forName="cycle_2" refType="w" refFor="ch" refForName="cycle_2"/>
              <dgm:constr type="r" for="ch" forName="cycle_3" refType="w"/>
              <dgm:constr type="b" for="ch" forName="cycle_3" refType="h" fact="0.83"/>
              <dgm:constr type="w" for="ch" forName="cycle_3" refType="w" fact="0.33"/>
              <dgm:constr type="h" for="ch" forName="cycle_3" refType="w" refFor="ch" refForName="cycle_3"/>
              <dgm:constr type="ctrX" for="ch" forName="cycle_4" refType="w" fact="0.5"/>
              <dgm:constr type="b" for="ch" forName="cycle_4" refType="h"/>
              <dgm:constr type="w" for="ch" forName="cycle_4" refType="w" fact="0.33"/>
              <dgm:constr type="h" for="ch" forName="cycle_4" refType="w" refFor="ch" refForName="cycle_4"/>
              <dgm:constr type="l" for="ch" forName="cycle_5"/>
              <dgm:constr type="b" for="ch" forName="cycle_5" refType="h" fact="0.83"/>
              <dgm:constr type="w" for="ch" forName="cycle_5" refType="w" fact="0.33"/>
              <dgm:constr type="h" for="ch" forName="cycle_5" refType="w" refFor="ch" refForName="cycle_5"/>
              <dgm:constr type="l" for="ch" forName="cycle_6"/>
              <dgm:constr type="t" for="ch" forName="cycle_6" refType="h" fact="0.17"/>
              <dgm:constr type="w" for="ch" forName="cycle_6" refType="w" fact="0.33"/>
              <dgm:constr type="h" for="ch" forName="cycle_6" refType="w" refFor="ch" refForName="cycle_6"/>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primFontSz" for="des" forName="childCenter6" refType="primFontSz" refFor="des" refForName="childCenter1" op="equ"/>
              <dgm:constr type="primFontSz" for="des" forName="text6" refType="primFontSz" refFor="des" refForName="text1" op="equ"/>
              <dgm:constr type="userS" for="des" ptType="node" refType="w" refFor="ch" refForName="textCenter" fact="0.67"/>
            </dgm:constrLst>
          </dgm:if>
          <dgm:else name="Name19">
            <dgm:constrLst>
              <dgm:constr type="ctrX" for="ch" forName="textCenter" refType="w" fact="0.5"/>
              <dgm:constr type="t" for="ch" forName="textCenter" refType="h" fact="0.444"/>
              <dgm:constr type="w" for="ch" forName="textCenter" refType="w" fact="0.167"/>
              <dgm:constr type="h" for="ch" forName="textCenter" refType="w" refFor="ch" refForName="textCenter"/>
              <dgm:constr type="ctrX" for="ch" forName="cycle_1" refType="w" fact="0.5"/>
              <dgm:constr type="t" for="ch" forName="cycle_1"/>
              <dgm:constr type="w" for="ch" forName="cycle_1" refType="w" fact="0.263"/>
              <dgm:constr type="h" for="ch" forName="cycle_1" refType="w" refFor="ch" refForName="cycle_1"/>
              <dgm:constr type="r" for="ch" forName="cycle_2" refType="w" fact="0.938"/>
              <dgm:constr type="t" for="ch" forName="cycle_2" refType="h" fact="0.141"/>
              <dgm:constr type="w" for="ch" forName="cycle_2" refType="w" fact="0.263"/>
              <dgm:constr type="h" for="ch" forName="cycle_2" refType="w" refFor="ch" refForName="cycle_2"/>
              <dgm:constr type="r" for="ch" forName="cycle_3" refType="w"/>
              <dgm:constr type="b" for="ch" forName="cycle_3" refType="h" fact="0.74"/>
              <dgm:constr type="w" for="ch" forName="cycle_3" refType="w" fact="0.263"/>
              <dgm:constr type="h" for="ch" forName="cycle_3" refType="w" refFor="ch" refForName="cycle_3"/>
              <dgm:constr type="r" for="ch" forName="cycle_4" refType="w" fact="0.8"/>
              <dgm:constr type="b" for="ch" forName="cycle_4" refType="h"/>
              <dgm:constr type="w" for="ch" forName="cycle_4" refType="w" fact="0.263"/>
              <dgm:constr type="h" for="ch" forName="cycle_4" refType="w" refFor="ch" refForName="cycle_4"/>
              <dgm:constr type="l" for="ch" forName="cycle_5" refType="w" fact="0.2"/>
              <dgm:constr type="b" for="ch" forName="cycle_5" refType="h"/>
              <dgm:constr type="w" for="ch" forName="cycle_5" refType="w" fact="0.263"/>
              <dgm:constr type="h" for="ch" forName="cycle_5" refType="w" refFor="ch" refForName="cycle_5"/>
              <dgm:constr type="l" for="ch" forName="cycle_6"/>
              <dgm:constr type="b" for="ch" forName="cycle_6" refType="h" fact="0.74"/>
              <dgm:constr type="w" for="ch" forName="cycle_6" refType="w" fact="0.263"/>
              <dgm:constr type="h" for="ch" forName="cycle_6" refType="w" refFor="ch" refForName="cycle_6"/>
              <dgm:constr type="l" for="ch" forName="cycle_7" refType="w" fact="0.062"/>
              <dgm:constr type="t" for="ch" forName="cycle_7" refType="h" fact="0.141"/>
              <dgm:constr type="w" for="ch" forName="cycle_7" refType="w" fact="0.263"/>
              <dgm:constr type="h" for="ch" forName="cycle_7" refType="w" refFor="ch" refForName="cycle_7"/>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primFontSz" for="des" forName="childCenter6" refType="primFontSz" refFor="des" refForName="childCenter1" op="equ"/>
              <dgm:constr type="primFontSz" for="des" forName="text6" refType="primFontSz" refFor="des" refForName="text1" op="equ"/>
              <dgm:constr type="primFontSz" for="des" forName="childCenter7" refType="primFontSz" refFor="des" refForName="childCenter1" op="equ"/>
              <dgm:constr type="primFontSz" for="des" forName="text7" refType="primFontSz" refFor="des" refForName="text1" op="equ"/>
              <dgm:constr type="userS" for="des" ptType="node" refType="w" refFor="ch" refForName="textCenter" fact="0.67"/>
            </dgm:constrLst>
          </dgm:else>
        </dgm:choose>
      </dgm:if>
      <dgm:else name="Name20">
        <dgm:choose name="Name21">
          <dgm:if name="Name22" axis="ch ch" ptType="node node" func="cnt" op="equ" val="1">
            <dgm:constrLst>
              <dgm:constr type="r" for="ch" forName="textCenter" refType="w"/>
              <dgm:constr type="ctrY" for="ch" forName="textCenter" refType="h" fact="0.5"/>
              <dgm:constr type="w" for="ch" forName="textCenter" refType="w" fact="0.32"/>
              <dgm:constr type="h" for="ch" forName="textCenter" refType="w" refFor="ch" refForName="textCenter"/>
              <dgm:constr type="l" for="ch" forName="cycle_1"/>
              <dgm:constr type="ctrY" for="ch" forName="cycle_1" refType="h" fact="0.5"/>
              <dgm:constr type="w" for="ch" forName="cycle_1" refType="w" fact="0.56"/>
              <dgm:constr type="h" for="ch" forName="cycle_1" refType="h"/>
              <dgm:constr type="primFontSz" for="ch" forName="textCenter" val="65"/>
              <dgm:constr type="primFontSz" for="des" forName="childCenter1" val="65"/>
              <dgm:constr type="primFontSz" for="des" forName="text1" op="equ" val="65"/>
              <dgm:constr type="userS" for="des" ptType="node" refType="w" refFor="ch" refForName="textCenter" fact="0.67"/>
            </dgm:constrLst>
          </dgm:if>
          <dgm:if name="Name23" axis="ch ch" ptType="node node" func="cnt" op="equ" val="2">
            <dgm:constrLst>
              <dgm:constr type="ctrX" for="ch" forName="textCenter" refType="w" fact="0.5"/>
              <dgm:constr type="ctrY" for="ch" forName="textCenter" refType="h" fact="0.5"/>
              <dgm:constr type="w" for="ch" forName="textCenter" refType="w" fact="0.25"/>
              <dgm:constr type="h" for="ch" forName="textCenter" refType="w" refFor="ch" refForName="textCenter"/>
              <dgm:constr type="ctrX" for="ch" forName="cycle_1" refType="w" fact="0.5"/>
              <dgm:constr type="t" for="ch" forName="cycle_1"/>
              <dgm:constr type="w" for="ch" forName="cycle_1" refType="w"/>
              <dgm:constr type="h" for="ch" forName="cycle_1" refType="h" fact="0.34"/>
              <dgm:constr type="ctrX" for="ch" forName="cycle_2" refType="w" fact="0.5"/>
              <dgm:constr type="b" for="ch" forName="cycle_2" refType="h"/>
              <dgm:constr type="w" for="ch" forName="cycle_2" refType="w"/>
              <dgm:constr type="h" for="ch" forName="cycle_2" refType="h" fact="0.34"/>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userS" for="des" ptType="node" refType="w" refFor="ch" refForName="textCenter" fact="0.67"/>
            </dgm:constrLst>
          </dgm:if>
          <dgm:if name="Name24" axis="ch ch" ptType="node node" func="cnt" op="equ" val="3">
            <dgm:choose name="Name25">
              <dgm:if name="Name26" axis="ch ch ch" ptType="node node node" st="1 2 0" cnt="1 1 0" func="cnt" op="equ" val="1">
                <dgm:choose name="Name27">
                  <dgm:if name="Name28" axis="ch ch ch" ptType="node node node" st="1 3 0" cnt="1 1 0" func="cnt" op="equ" val="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l" for="ch" forName="cycle_2"/>
                      <dgm:constr type="b" for="ch" forName="cycle_2" refType="h" fact="0.85"/>
                      <dgm:constr type="w" for="ch" forName="cycle_2" refType="w" fact="0.46"/>
                      <dgm:constr type="h" for="ch" forName="cycle_2" refType="h" fact="0.54"/>
                      <dgm:constr type="diam" for="ch" forName="cycle_2" refType="w" fact="0.5"/>
                      <dgm:constr type="r" for="ch" forName="cycle_3" refType="w"/>
                      <dgm:constr type="b" for="ch" forName="cycle_3" refType="h" fact="0.85"/>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if>
                  <dgm:else name="Name29">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l" for="ch" forName="cycle_2"/>
                      <dgm:constr type="b" for="ch" forName="cycle_2" refType="h" fact="0.85"/>
                      <dgm:constr type="w" for="ch" forName="cycle_2" refType="w" fact="0.46"/>
                      <dgm:constr type="h" for="ch" forName="cycle_2" refType="h" fact="0.54"/>
                      <dgm:constr type="diam" for="ch" forName="cycle_2" refType="w" fact="0.5"/>
                      <dgm:constr type="r" for="ch" forName="cycle_3" refType="w"/>
                      <dgm:constr type="b" for="ch" forName="cycle_3" refType="h"/>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else>
                </dgm:choose>
              </dgm:if>
              <dgm:else name="Name30">
                <dgm:choose name="Name31">
                  <dgm:if name="Name32" axis="ch ch ch" ptType="node node node" st="1 3 0" cnt="1 1 0" func="cnt" op="equ" val="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l" for="ch" forName="cycle_2"/>
                      <dgm:constr type="b" for="ch" forName="cycle_2" refType="h"/>
                      <dgm:constr type="w" for="ch" forName="cycle_2" refType="w" fact="0.46"/>
                      <dgm:constr type="h" for="ch" forName="cycle_2" refType="h" fact="0.54"/>
                      <dgm:constr type="diam" for="ch" forName="cycle_2" refType="w" fact="0.5"/>
                      <dgm:constr type="r" for="ch" forName="cycle_3" refType="w"/>
                      <dgm:constr type="b" for="ch" forName="cycle_3" refType="h" fact="0.85"/>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if>
                  <dgm:else name="Name33">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l" for="ch" forName="cycle_2"/>
                      <dgm:constr type="b" for="ch" forName="cycle_2" refType="h"/>
                      <dgm:constr type="w" for="ch" forName="cycle_2" refType="w" fact="0.46"/>
                      <dgm:constr type="h" for="ch" forName="cycle_2" refType="h" fact="0.54"/>
                      <dgm:constr type="diam" for="ch" forName="cycle_2" refType="w" fact="0.5"/>
                      <dgm:constr type="r" for="ch" forName="cycle_3" refType="w"/>
                      <dgm:constr type="b" for="ch" forName="cycle_3" refType="h"/>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else>
                </dgm:choose>
              </dgm:else>
            </dgm:choose>
          </dgm:if>
          <dgm:if name="Name34" axis="ch ch" ptType="node node" func="cnt" op="equ" val="4">
            <dgm:constrLst>
              <dgm:constr type="ctrX" for="ch" forName="textCenter" refType="w" fact="0.5"/>
              <dgm:constr type="ctrY" for="ch" forName="textCenter" refType="h" fact="0.5"/>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5"/>
              <dgm:constr type="h" for="ch" forName="cycle_1" refType="h" fact="0.33"/>
              <dgm:constr type="l" for="ch" forName="cycle_2"/>
              <dgm:constr type="ctrY" for="ch" forName="cycle_2" refType="h" fact="0.5"/>
              <dgm:constr type="w" for="ch" forName="cycle_2" refType="w" fact="0.33"/>
              <dgm:constr type="h" for="ch" forName="cycle_2" refType="h" fact="0.5"/>
              <dgm:constr type="ctrX" for="ch" forName="cycle_3" refType="w" fact="0.5"/>
              <dgm:constr type="b" for="ch" forName="cycle_3" refType="h"/>
              <dgm:constr type="w" for="ch" forName="cycle_3" refType="w" fact="0.5"/>
              <dgm:constr type="h" for="ch" forName="cycle_3" refType="h" fact="0.33"/>
              <dgm:constr type="r" for="ch" forName="cycle_4" refType="w"/>
              <dgm:constr type="ctrY" for="ch" forName="cycle_4" refType="h" fact="0.5"/>
              <dgm:constr type="w" for="ch" forName="cycle_4" refType="w" fact="0.33"/>
              <dgm:constr type="h" for="ch" forName="cycle_4" refType="h"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userS" for="des" ptType="node" refType="w" refFor="ch" refForName="textCenter" fact="0.67"/>
            </dgm:constrLst>
          </dgm:if>
          <dgm:if name="Name35" axis="ch ch" ptType="node node" func="cnt" op="equ" val="5">
            <dgm:constrLst>
              <dgm:constr type="ctrX" for="ch" forName="textCenter" refType="w" fact="0.5"/>
              <dgm:constr type="t" for="ch" forName="textCenter" refType="h" fact="0.42"/>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33"/>
              <dgm:constr type="h" for="ch" forName="cycle_1" refType="w" refFor="ch" refForName="cycle_1"/>
              <dgm:constr type="l" for="ch" forName="cycle_2"/>
              <dgm:constr type="t" for="ch" forName="cycle_2" refType="h" fact="0.24"/>
              <dgm:constr type="w" for="ch" forName="cycle_2" refType="w" fact="0.33"/>
              <dgm:constr type="h" for="ch" forName="cycle_2" refType="w" refFor="ch" refForName="cycle_2"/>
              <dgm:constr type="l" for="ch" forName="cycle_3" refType="w" fact="0.11"/>
              <dgm:constr type="b" for="ch" forName="cycle_3" refType="h"/>
              <dgm:constr type="w" for="ch" forName="cycle_3" refType="w" fact="0.33"/>
              <dgm:constr type="h" for="ch" forName="cycle_3" refType="w" refFor="ch" refForName="cycle_3"/>
              <dgm:constr type="r" for="ch" forName="cycle_4" refType="w" fact="0.89"/>
              <dgm:constr type="b" for="ch" forName="cycle_4" refType="h"/>
              <dgm:constr type="w" for="ch" forName="cycle_4" refType="w" fact="0.33"/>
              <dgm:constr type="h" for="ch" forName="cycle_4" refType="w" refFor="ch" refForName="cycle_4"/>
              <dgm:constr type="r" for="ch" forName="cycle_5" refType="w"/>
              <dgm:constr type="t" for="ch" forName="cycle_5" refType="h" fact="0.24"/>
              <dgm:constr type="w" for="ch" forName="cycle_5" refType="w" fact="0.33"/>
              <dgm:constr type="h" for="ch" forName="cycle_5" refType="w" refFor="ch" refForName="cycle_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userS" for="des" ptType="node" refType="w" refFor="ch" refForName="textCenter" fact="0.67"/>
            </dgm:constrLst>
          </dgm:if>
          <dgm:if name="Name36" axis="ch ch" ptType="node node" func="cnt" op="equ" val="6">
            <dgm:constrLst>
              <dgm:constr type="ctrX" for="ch" forName="textCenter" refType="w" fact="0.5"/>
              <dgm:constr type="ctrY" for="ch" forName="textCenter" refType="h" fact="0.5"/>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33"/>
              <dgm:constr type="h" for="ch" forName="cycle_1" refType="w" refFor="ch" refForName="cycle_1"/>
              <dgm:constr type="l" for="ch" forName="cycle_2"/>
              <dgm:constr type="t" for="ch" forName="cycle_2" refType="h" fact="0.17"/>
              <dgm:constr type="w" for="ch" forName="cycle_2" refType="w" fact="0.33"/>
              <dgm:constr type="h" for="ch" forName="cycle_2" refType="w" refFor="ch" refForName="cycle_2"/>
              <dgm:constr type="l" for="ch" forName="cycle_3"/>
              <dgm:constr type="b" for="ch" forName="cycle_3" refType="h" fact="0.83"/>
              <dgm:constr type="w" for="ch" forName="cycle_3" refType="w" fact="0.33"/>
              <dgm:constr type="h" for="ch" forName="cycle_3" refType="w" refFor="ch" refForName="cycle_3"/>
              <dgm:constr type="ctrX" for="ch" forName="cycle_4" refType="w" fact="0.5"/>
              <dgm:constr type="b" for="ch" forName="cycle_4" refType="h"/>
              <dgm:constr type="w" for="ch" forName="cycle_4" refType="w" fact="0.33"/>
              <dgm:constr type="h" for="ch" forName="cycle_4" refType="w" refFor="ch" refForName="cycle_4"/>
              <dgm:constr type="r" for="ch" forName="cycle_5" refType="w"/>
              <dgm:constr type="b" for="ch" forName="cycle_5" refType="h" fact="0.83"/>
              <dgm:constr type="w" for="ch" forName="cycle_5" refType="w" fact="0.33"/>
              <dgm:constr type="h" for="ch" forName="cycle_5" refType="w" refFor="ch" refForName="cycle_5"/>
              <dgm:constr type="r" for="ch" forName="cycle_6" refType="w"/>
              <dgm:constr type="t" for="ch" forName="cycle_6" refType="h" fact="0.17"/>
              <dgm:constr type="w" for="ch" forName="cycle_6" refType="w" fact="0.33"/>
              <dgm:constr type="h" for="ch" forName="cycle_6" refType="w" refFor="ch" refForName="cycle_6"/>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primFontSz" for="des" forName="childCenter6" refType="primFontSz" refFor="des" refForName="childCenter1" op="equ"/>
              <dgm:constr type="primFontSz" for="des" forName="text6" refType="primFontSz" refFor="des" refForName="text1" op="equ"/>
              <dgm:constr type="userS" for="des" ptType="node" refType="w" refFor="ch" refForName="textCenter" fact="0.67"/>
            </dgm:constrLst>
          </dgm:if>
          <dgm:else name="Name37">
            <dgm:constrLst>
              <dgm:constr type="ctrX" for="ch" forName="textCenter" refType="w" fact="0.5"/>
              <dgm:constr type="t" for="ch" forName="textCenter" refType="h" fact="0.444"/>
              <dgm:constr type="w" for="ch" forName="textCenter" refType="w" fact="0.167"/>
              <dgm:constr type="h" for="ch" forName="textCenter" refType="w" refFor="ch" refForName="textCenter"/>
              <dgm:constr type="ctrX" for="ch" forName="cycle_1" refType="w" fact="0.5"/>
              <dgm:constr type="t" for="ch" forName="cycle_1"/>
              <dgm:constr type="w" for="ch" forName="cycle_1" refType="w" fact="0.263"/>
              <dgm:constr type="h" for="ch" forName="cycle_1" refType="w" refFor="ch" refForName="cycle_1"/>
              <dgm:constr type="l" for="ch" forName="cycle_2" refType="w" fact="0.062"/>
              <dgm:constr type="t" for="ch" forName="cycle_2" refType="h" fact="0.141"/>
              <dgm:constr type="w" for="ch" forName="cycle_2" refType="w" fact="0.263"/>
              <dgm:constr type="h" for="ch" forName="cycle_2" refType="w" refFor="ch" refForName="cycle_2"/>
              <dgm:constr type="l" for="ch" forName="cycle_3"/>
              <dgm:constr type="b" for="ch" forName="cycle_3" refType="h" fact="0.74"/>
              <dgm:constr type="w" for="ch" forName="cycle_3" refType="w" fact="0.263"/>
              <dgm:constr type="h" for="ch" forName="cycle_3" refType="w" refFor="ch" refForName="cycle_3"/>
              <dgm:constr type="l" for="ch" forName="cycle_4" refType="w" fact="0.2"/>
              <dgm:constr type="b" for="ch" forName="cycle_4" refType="h"/>
              <dgm:constr type="w" for="ch" forName="cycle_4" refType="w" fact="0.263"/>
              <dgm:constr type="h" for="ch" forName="cycle_4" refType="w" refFor="ch" refForName="cycle_4"/>
              <dgm:constr type="r" for="ch" forName="cycle_5" refType="w" fact="0.8"/>
              <dgm:constr type="b" for="ch" forName="cycle_5" refType="h"/>
              <dgm:constr type="w" for="ch" forName="cycle_5" refType="w" fact="0.263"/>
              <dgm:constr type="h" for="ch" forName="cycle_5" refType="w" refFor="ch" refForName="cycle_5"/>
              <dgm:constr type="r" for="ch" forName="cycle_6" refType="w"/>
              <dgm:constr type="b" for="ch" forName="cycle_6" refType="h" fact="0.74"/>
              <dgm:constr type="w" for="ch" forName="cycle_6" refType="w" fact="0.263"/>
              <dgm:constr type="h" for="ch" forName="cycle_6" refType="w" refFor="ch" refForName="cycle_6"/>
              <dgm:constr type="r" for="ch" forName="cycle_7" refType="w" fact="0.938"/>
              <dgm:constr type="t" for="ch" forName="cycle_7" refType="h" fact="0.141"/>
              <dgm:constr type="w" for="ch" forName="cycle_7" refType="w" fact="0.263"/>
              <dgm:constr type="h" for="ch" forName="cycle_7" refType="w" refFor="ch" refForName="cycle_7"/>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primFontSz" for="des" forName="childCenter6" refType="primFontSz" refFor="des" refForName="childCenter1" op="equ"/>
              <dgm:constr type="primFontSz" for="des" forName="text6" refType="primFontSz" refFor="des" refForName="text1" op="equ"/>
              <dgm:constr type="primFontSz" for="des" forName="childCenter7" refType="primFontSz" refFor="des" refForName="childCenter1" op="equ"/>
              <dgm:constr type="primFontSz" for="des" forName="text7" refType="primFontSz" refFor="des" refForName="text1" op="equ"/>
              <dgm:constr type="userS" for="des" ptType="node" refType="w" refFor="ch" refForName="textCenter" fact="0.67"/>
            </dgm:constrLst>
          </dgm:else>
        </dgm:choose>
      </dgm:else>
    </dgm:choose>
    <dgm:forEach name="Name38" axis="ch" ptType="node" cnt="1">
      <dgm:choose name="Name39">
        <dgm:if name="Name40" axis="des" func="maxDepth" op="lte" val="1">
          <dgm:layoutNode name="singleCycle">
            <dgm:choose name="Name41">
              <dgm:if name="Name42" axis="ch" ptType="node" func="cnt" op="equ" val="1">
                <dgm:choose name="Name43">
                  <dgm:if name="Name44" func="var" arg="dir" op="equ" val="norm">
                    <dgm:alg type="cycle">
                      <dgm:param type="stAng" val="90"/>
                      <dgm:param type="ctrShpMap" val="fNode"/>
                    </dgm:alg>
                  </dgm:if>
                  <dgm:else name="Name45">
                    <dgm:alg type="cycle">
                      <dgm:param type="stAng" val="-90"/>
                      <dgm:param type="spanAng" val="-360"/>
                      <dgm:param type="ctrShpMap" val="fNode"/>
                    </dgm:alg>
                  </dgm:else>
                </dgm:choose>
              </dgm:if>
              <dgm:else name="Name46">
                <dgm:choose name="Name47">
                  <dgm:if name="Name48" func="var" arg="dir" op="equ" val="norm">
                    <dgm:alg type="cycle">
                      <dgm:param type="ctrShpMap" val="fNode"/>
                    </dgm:alg>
                  </dgm:if>
                  <dgm:else name="Name49">
                    <dgm:alg type="cycle">
                      <dgm:param type="spanAng" val="-360"/>
                      <dgm:param type="ctrShpMap" val="fNode"/>
                    </dgm:alg>
                  </dgm:else>
                </dgm:choose>
              </dgm:else>
            </dgm:choose>
            <dgm:shape xmlns:r="http://schemas.openxmlformats.org/officeDocument/2006/relationships" r:blip="">
              <dgm:adjLst/>
            </dgm:shape>
            <dgm:presOf/>
            <dgm:choose name="Name50">
              <dgm:if name="Name51" axis="ch" ptType="node" func="cnt" op="equ" val="0">
                <dgm:constrLst>
                  <dgm:constr type="w" for="ch" forName="singleCenter" refType="w"/>
                  <dgm:constr type="h" for="ch" forName="singleCenter" refType="w" refFor="ch" refForName="singleCenter"/>
                </dgm:constrLst>
              </dgm:if>
              <dgm:if name="Name52" axis="ch" ptType="node" func="cnt" op="equ" val="1">
                <dgm:constrLst>
                  <dgm:constr type="w" for="ch" forName="singleCenter" refType="w" fact="0.5"/>
                  <dgm:constr type="h" for="ch" forName="singleCenter" refType="w" refFor="ch" refForName="singleCenter"/>
                  <dgm:constr type="userS" for="ch" ptType="node" refType="w" refFor="ch" refForName="singleCenter" fact="0.67"/>
                </dgm:constrLst>
              </dgm:if>
              <dgm:else name="Name53">
                <dgm:constrLst>
                  <dgm:constr type="w" for="ch" forName="singleCenter" refType="w" fact="0.3"/>
                  <dgm:constr type="h" for="ch" forName="singleCenter" refType="w" refFor="ch" refForName="singleCenter"/>
                  <dgm:constr type="userS" for="ch" ptType="node" refType="w" refFor="ch" refForName="singleCenter" fact="0.67"/>
                </dgm:constrLst>
              </dgm:else>
            </dgm:choose>
            <dgm:layoutNode name="singleCenter" styleLbl="node1">
              <dgm:varLst>
                <dgm:chMax val="7"/>
                <dgm:chPref val="7"/>
              </dgm:varLst>
              <dgm:alg type="tx"/>
              <dgm:shape xmlns:r="http://schemas.openxmlformats.org/officeDocument/2006/relationships" type="roundRect" r:blip="">
                <dgm:adjLst/>
              </dgm:shape>
              <dgm:presOf axis="self" ptType="node"/>
              <dgm:constrLst>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54" axis="ch" cnt="21">
              <dgm:forEach name="Name55" axis="self" ptType="parTrans">
                <dgm:layoutNode name="Name56">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57" axis="self" ptType="node">
                <dgm:layoutNode name="text0"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layoutNode>
        </dgm:if>
        <dgm:else name="Name58">
          <dgm:layoutNode name="textCenter" styleLbl="node1">
            <dgm:alg type="tx"/>
            <dgm:shape xmlns:r="http://schemas.openxmlformats.org/officeDocument/2006/relationships" type="roundRect" r:blip="">
              <dgm:adjLst/>
            </dgm:shape>
            <dgm:presOf axis="self" ptType="node"/>
            <dgm:constrLst>
              <dgm:constr type="tMarg" refType="primFontSz" fact="0.2"/>
              <dgm:constr type="bMarg" refType="primFontSz" fact="0.2"/>
              <dgm:constr type="lMarg" refType="primFontSz" fact="0.2"/>
              <dgm:constr type="rMarg" refType="primFontSz" fact="0.2"/>
            </dgm:constrLst>
            <dgm:ruleLst>
              <dgm:rule type="primFontSz" val="5" fact="NaN" max="NaN"/>
            </dgm:ruleLst>
          </dgm:layoutNode>
          <dgm:choose name="Name59">
            <dgm:if name="Name60" axis="ch" ptType="node" func="cnt" op="gte" val="1">
              <dgm:layoutNode name="cycle_1">
                <dgm:choose name="Name61">
                  <dgm:if name="Name62" func="var" arg="dir" op="equ" val="norm">
                    <dgm:choose name="Name63">
                      <dgm:if name="Name64" axis="ch" ptType="node" func="cnt" op="equ" val="1">
                        <dgm:choose name="Name65">
                          <dgm:if name="Name66" axis="ch ch" ptType="node node" st="1 1" cnt="1 0" func="cnt" op="equ" val="1">
                            <dgm:alg type="cycle">
                              <dgm:param type="ctrShpMap" val="fNode"/>
                              <dgm:param type="stAng" val="90"/>
                            </dgm:alg>
                          </dgm:if>
                          <dgm:if name="Name67" axis="ch ch" ptType="node node" st="1 1" cnt="1 0" func="cnt" op="equ" val="2">
                            <dgm:alg type="cycle">
                              <dgm:param type="ctrShpMap" val="fNode"/>
                              <dgm:param type="stAng" val="45"/>
                              <dgm:param type="spanAng" val="90"/>
                            </dgm:alg>
                          </dgm:if>
                          <dgm:else name="Name68">
                            <dgm:alg type="cycle">
                              <dgm:param type="ctrShpMap" val="fNode"/>
                              <dgm:param type="stAng" val="0"/>
                              <dgm:param type="spanAng" val="180"/>
                            </dgm:alg>
                          </dgm:else>
                        </dgm:choose>
                      </dgm:if>
                      <dgm:if name="Name69" axis="ch" ptType="node" func="cnt" op="equ" val="2">
                        <dgm:choose name="Name70">
                          <dgm:if name="Name71" axis="ch ch" ptType="node node" st="1 1" cnt="1 0" func="cnt" op="equ" val="1">
                            <dgm:alg type="cycle">
                              <dgm:param type="ctrShpMap" val="fNode"/>
                              <dgm:param type="stAng" val="0"/>
                            </dgm:alg>
                          </dgm:if>
                          <dgm:if name="Name72" axis="ch ch" ptType="node node" st="1 1" cnt="1 0" func="cnt" op="equ" val="2">
                            <dgm:alg type="cycle">
                              <dgm:param type="ctrShpMap" val="fNode"/>
                              <dgm:param type="stAng" val="315"/>
                              <dgm:param type="spanAng" val="90"/>
                            </dgm:alg>
                          </dgm:if>
                          <dgm:else name="Name73">
                            <dgm:alg type="cycle">
                              <dgm:param type="ctrShpMap" val="fNode"/>
                              <dgm:param type="stAng" val="270"/>
                              <dgm:param type="spanAng" val="180"/>
                            </dgm:alg>
                          </dgm:else>
                        </dgm:choose>
                      </dgm:if>
                      <dgm:if name="Name74" axis="ch" ptType="node" func="cnt" op="equ" val="3">
                        <dgm:choose name="Name75">
                          <dgm:if name="Name76" axis="ch ch" ptType="node node" st="1 1" cnt="1 0" func="cnt" op="equ" val="1">
                            <dgm:alg type="cycle">
                              <dgm:param type="ctrShpMap" val="fNode"/>
                              <dgm:param type="stAng" val="0"/>
                            </dgm:alg>
                          </dgm:if>
                          <dgm:if name="Name77" axis="ch ch" ptType="node node" st="1 1" cnt="1 0" func="cnt" op="equ" val="2">
                            <dgm:alg type="cycle">
                              <dgm:param type="ctrShpMap" val="fNode"/>
                              <dgm:param type="stAng" val="315"/>
                              <dgm:param type="spanAng" val="90"/>
                            </dgm:alg>
                          </dgm:if>
                          <dgm:else name="Name78">
                            <dgm:alg type="cycle">
                              <dgm:param type="ctrShpMap" val="fNode"/>
                              <dgm:param type="stAng" val="270"/>
                              <dgm:param type="spanAng" val="180"/>
                            </dgm:alg>
                          </dgm:else>
                        </dgm:choose>
                      </dgm:if>
                      <dgm:if name="Name79" axis="ch" ptType="node" func="cnt" op="equ" val="4">
                        <dgm:choose name="Name80">
                          <dgm:if name="Name81" axis="ch ch" ptType="node node" st="1 1" cnt="1 0" func="cnt" op="equ" val="1">
                            <dgm:alg type="cycle">
                              <dgm:param type="ctrShpMap" val="fNode"/>
                              <dgm:param type="stAng" val="0"/>
                            </dgm:alg>
                          </dgm:if>
                          <dgm:if name="Name82" axis="ch ch" ptType="node node" st="1 1" cnt="1 0" func="cnt" op="equ" val="2">
                            <dgm:alg type="cycle">
                              <dgm:param type="ctrShpMap" val="fNode"/>
                              <dgm:param type="stAng" val="315"/>
                              <dgm:param type="spanAng" val="90"/>
                            </dgm:alg>
                          </dgm:if>
                          <dgm:else name="Name83">
                            <dgm:alg type="cycle">
                              <dgm:param type="ctrShpMap" val="fNode"/>
                              <dgm:param type="stAng" val="292.5"/>
                              <dgm:param type="spanAng" val="135"/>
                            </dgm:alg>
                          </dgm:else>
                        </dgm:choose>
                      </dgm:if>
                      <dgm:if name="Name84" axis="ch" ptType="node" func="cnt" op="equ" val="5">
                        <dgm:choose name="Name85">
                          <dgm:if name="Name86" axis="ch ch" ptType="node node" st="1 1" cnt="1 0" func="cnt" op="equ" val="1">
                            <dgm:alg type="cycle">
                              <dgm:param type="ctrShpMap" val="fNode"/>
                              <dgm:param type="stAng" val="0"/>
                            </dgm:alg>
                          </dgm:if>
                          <dgm:if name="Name87" axis="ch ch" ptType="node node" st="1 1" cnt="1 0" func="cnt" op="equ" val="2">
                            <dgm:alg type="cycle">
                              <dgm:param type="ctrShpMap" val="fNode"/>
                              <dgm:param type="stAng" val="315"/>
                              <dgm:param type="spanAng" val="90"/>
                            </dgm:alg>
                          </dgm:if>
                          <dgm:else name="Name88">
                            <dgm:alg type="cycle">
                              <dgm:param type="ctrShpMap" val="fNode"/>
                              <dgm:param type="stAng" val="0"/>
                              <dgm:param type="spanAng" val="360"/>
                            </dgm:alg>
                          </dgm:else>
                        </dgm:choose>
                      </dgm:if>
                      <dgm:if name="Name89" axis="ch" ptType="node" func="cnt" op="equ" val="6">
                        <dgm:choose name="Name90">
                          <dgm:if name="Name91" axis="ch ch" ptType="node node" st="1 1" cnt="1 0" func="cnt" op="equ" val="1">
                            <dgm:alg type="cycle">
                              <dgm:param type="ctrShpMap" val="fNode"/>
                              <dgm:param type="stAng" val="0"/>
                            </dgm:alg>
                          </dgm:if>
                          <dgm:if name="Name92" axis="ch ch" ptType="node node" st="1 1" cnt="1 0" func="cnt" op="equ" val="2">
                            <dgm:alg type="cycle">
                              <dgm:param type="ctrShpMap" val="fNode"/>
                              <dgm:param type="stAng" val="315"/>
                              <dgm:param type="spanAng" val="90"/>
                            </dgm:alg>
                          </dgm:if>
                          <dgm:else name="Name93">
                            <dgm:alg type="cycle">
                              <dgm:param type="ctrShpMap" val="fNode"/>
                              <dgm:param type="stAng" val="0"/>
                              <dgm:param type="spanAng" val="360"/>
                            </dgm:alg>
                          </dgm:else>
                        </dgm:choose>
                      </dgm:if>
                      <dgm:if name="Name94" axis="ch" ptType="node" func="cnt" op="gte" val="7">
                        <dgm:choose name="Name95">
                          <dgm:if name="Name96" axis="ch ch" ptType="node node" st="1 1" cnt="1 0" func="cnt" op="equ" val="1">
                            <dgm:alg type="cycle">
                              <dgm:param type="ctrShpMap" val="fNode"/>
                              <dgm:param type="stAng" val="0"/>
                            </dgm:alg>
                          </dgm:if>
                          <dgm:if name="Name97" axis="ch ch" ptType="node node" st="1 1" cnt="1 0" func="cnt" op="equ" val="2">
                            <dgm:alg type="cycle">
                              <dgm:param type="ctrShpMap" val="fNode"/>
                              <dgm:param type="stAng" val="315"/>
                              <dgm:param type="spanAng" val="90"/>
                            </dgm:alg>
                          </dgm:if>
                          <dgm:else name="Name98">
                            <dgm:alg type="cycle">
                              <dgm:param type="ctrShpMap" val="fNode"/>
                              <dgm:param type="stAng" val="0"/>
                              <dgm:param type="spanAng" val="360"/>
                            </dgm:alg>
                          </dgm:else>
                        </dgm:choose>
                      </dgm:if>
                      <dgm:else name="Name99"/>
                    </dgm:choose>
                  </dgm:if>
                  <dgm:else name="Name100">
                    <dgm:choose name="Name101">
                      <dgm:if name="Name102" axis="ch" ptType="node" func="cnt" op="equ" val="1">
                        <dgm:choose name="Name103">
                          <dgm:if name="Name104" axis="ch ch" ptType="node node" st="1 1" cnt="1 0" func="cnt" op="equ" val="1">
                            <dgm:alg type="cycle">
                              <dgm:param type="ctrShpMap" val="fNode"/>
                              <dgm:param type="stAng" val="270"/>
                            </dgm:alg>
                          </dgm:if>
                          <dgm:if name="Name105" axis="ch ch" ptType="node node" st="1 1" cnt="1 0" func="cnt" op="equ" val="2">
                            <dgm:alg type="cycle">
                              <dgm:param type="ctrShpMap" val="fNode"/>
                              <dgm:param type="stAng" val="315"/>
                              <dgm:param type="spanAng" val="-90"/>
                            </dgm:alg>
                          </dgm:if>
                          <dgm:else name="Name106">
                            <dgm:alg type="cycle">
                              <dgm:param type="ctrShpMap" val="fNode"/>
                              <dgm:param type="stAng" val="0"/>
                              <dgm:param type="spanAng" val="-180"/>
                            </dgm:alg>
                          </dgm:else>
                        </dgm:choose>
                      </dgm:if>
                      <dgm:if name="Name107" axis="ch" ptType="node" func="cnt" op="equ" val="2">
                        <dgm:choose name="Name108">
                          <dgm:if name="Name109" axis="ch ch" ptType="node node" st="1 1" cnt="1 0" func="cnt" op="equ" val="1">
                            <dgm:alg type="cycle">
                              <dgm:param type="ctrShpMap" val="fNode"/>
                              <dgm:param type="stAng" val="0"/>
                            </dgm:alg>
                          </dgm:if>
                          <dgm:if name="Name110" axis="ch ch" ptType="node node" st="1 1" cnt="1 0" func="cnt" op="equ" val="2">
                            <dgm:alg type="cycle">
                              <dgm:param type="ctrShpMap" val="fNode"/>
                              <dgm:param type="stAng" val="45"/>
                              <dgm:param type="spanAng" val="-90"/>
                            </dgm:alg>
                          </dgm:if>
                          <dgm:else name="Name111">
                            <dgm:alg type="cycle">
                              <dgm:param type="ctrShpMap" val="fNode"/>
                              <dgm:param type="stAng" val="90"/>
                              <dgm:param type="spanAng" val="-180"/>
                            </dgm:alg>
                          </dgm:else>
                        </dgm:choose>
                      </dgm:if>
                      <dgm:if name="Name112" axis="ch" ptType="node" func="cnt" op="equ" val="3">
                        <dgm:choose name="Name113">
                          <dgm:if name="Name114" axis="ch ch" ptType="node node" st="1 1" cnt="1 0" func="cnt" op="equ" val="1">
                            <dgm:alg type="cycle">
                              <dgm:param type="ctrShpMap" val="fNode"/>
                              <dgm:param type="stAng" val="0"/>
                            </dgm:alg>
                          </dgm:if>
                          <dgm:if name="Name115" axis="ch ch" ptType="node node" st="1 1" cnt="1 0" func="cnt" op="equ" val="2">
                            <dgm:alg type="cycle">
                              <dgm:param type="ctrShpMap" val="fNode"/>
                              <dgm:param type="stAng" val="45"/>
                              <dgm:param type="spanAng" val="-90"/>
                            </dgm:alg>
                          </dgm:if>
                          <dgm:else name="Name116">
                            <dgm:alg type="cycle">
                              <dgm:param type="ctrShpMap" val="fNode"/>
                              <dgm:param type="stAng" val="90"/>
                              <dgm:param type="spanAng" val="-180"/>
                            </dgm:alg>
                          </dgm:else>
                        </dgm:choose>
                      </dgm:if>
                      <dgm:if name="Name117" axis="ch" ptType="node" func="cnt" op="equ" val="4">
                        <dgm:choose name="Name118">
                          <dgm:if name="Name119" axis="ch ch" ptType="node node" st="1 1" cnt="1 0" func="cnt" op="equ" val="1">
                            <dgm:alg type="cycle">
                              <dgm:param type="ctrShpMap" val="fNode"/>
                              <dgm:param type="stAng" val="0"/>
                            </dgm:alg>
                          </dgm:if>
                          <dgm:if name="Name120" axis="ch ch" ptType="node node" st="1 1" cnt="1 0" func="cnt" op="equ" val="2">
                            <dgm:alg type="cycle">
                              <dgm:param type="ctrShpMap" val="fNode"/>
                              <dgm:param type="stAng" val="45"/>
                              <dgm:param type="spanAng" val="-90"/>
                            </dgm:alg>
                          </dgm:if>
                          <dgm:else name="Name121">
                            <dgm:alg type="cycle">
                              <dgm:param type="ctrShpMap" val="fNode"/>
                              <dgm:param type="stAng" val="67.5"/>
                              <dgm:param type="spanAng" val="-135"/>
                            </dgm:alg>
                          </dgm:else>
                        </dgm:choose>
                      </dgm:if>
                      <dgm:if name="Name122" axis="ch" ptType="node" func="cnt" op="equ" val="5">
                        <dgm:choose name="Name123">
                          <dgm:if name="Name124" axis="ch ch" ptType="node node" st="1 1" cnt="1 0" func="cnt" op="equ" val="1">
                            <dgm:alg type="cycle">
                              <dgm:param type="ctrShpMap" val="fNode"/>
                              <dgm:param type="stAng" val="0"/>
                            </dgm:alg>
                          </dgm:if>
                          <dgm:if name="Name125" axis="ch ch" ptType="node node" st="1 1" cnt="1 0" func="cnt" op="equ" val="2">
                            <dgm:alg type="cycle">
                              <dgm:param type="ctrShpMap" val="fNode"/>
                              <dgm:param type="stAng" val="45"/>
                              <dgm:param type="spanAng" val="-90"/>
                            </dgm:alg>
                          </dgm:if>
                          <dgm:else name="Name126">
                            <dgm:alg type="cycle">
                              <dgm:param type="ctrShpMap" val="fNode"/>
                              <dgm:param type="stAng" val="0"/>
                              <dgm:param type="spanAng" val="-360"/>
                            </dgm:alg>
                          </dgm:else>
                        </dgm:choose>
                      </dgm:if>
                      <dgm:if name="Name127" axis="ch" ptType="node" func="cnt" op="equ" val="6">
                        <dgm:choose name="Name128">
                          <dgm:if name="Name129" axis="ch ch" ptType="node node" st="1 1" cnt="1 0" func="cnt" op="equ" val="1">
                            <dgm:alg type="cycle">
                              <dgm:param type="ctrShpMap" val="fNode"/>
                              <dgm:param type="stAng" val="0"/>
                            </dgm:alg>
                          </dgm:if>
                          <dgm:if name="Name130" axis="ch ch" ptType="node node" st="1 1" cnt="1 0" func="cnt" op="equ" val="2">
                            <dgm:alg type="cycle">
                              <dgm:param type="ctrShpMap" val="fNode"/>
                              <dgm:param type="stAng" val="45"/>
                              <dgm:param type="spanAng" val="-90"/>
                            </dgm:alg>
                          </dgm:if>
                          <dgm:else name="Name131">
                            <dgm:alg type="cycle">
                              <dgm:param type="ctrShpMap" val="fNode"/>
                              <dgm:param type="stAng" val="0"/>
                              <dgm:param type="spanAng" val="-360"/>
                            </dgm:alg>
                          </dgm:else>
                        </dgm:choose>
                      </dgm:if>
                      <dgm:if name="Name132" axis="ch" ptType="node" func="cnt" op="gte" val="7">
                        <dgm:choose name="Name133">
                          <dgm:if name="Name134" axis="ch ch" ptType="node node" st="1 1" cnt="1 0" func="cnt" op="equ" val="1">
                            <dgm:alg type="cycle">
                              <dgm:param type="ctrShpMap" val="fNode"/>
                              <dgm:param type="stAng" val="0"/>
                            </dgm:alg>
                          </dgm:if>
                          <dgm:if name="Name135" axis="ch ch" ptType="node node" st="1 1" cnt="1 0" func="cnt" op="equ" val="2">
                            <dgm:alg type="cycle">
                              <dgm:param type="ctrShpMap" val="fNode"/>
                              <dgm:param type="stAng" val="45"/>
                              <dgm:param type="spanAng" val="-90"/>
                            </dgm:alg>
                          </dgm:if>
                          <dgm:else name="Name136">
                            <dgm:alg type="cycle">
                              <dgm:param type="ctrShpMap" val="fNode"/>
                              <dgm:param type="stAng" val="0"/>
                              <dgm:param type="spanAng" val="-360"/>
                            </dgm:alg>
                          </dgm:else>
                        </dgm:choose>
                      </dgm:if>
                      <dgm:else name="Name137"/>
                    </dgm:choose>
                  </dgm:else>
                </dgm:choose>
                <dgm:shape xmlns:r="http://schemas.openxmlformats.org/officeDocument/2006/relationships" r:blip="">
                  <dgm:adjLst/>
                </dgm:shape>
                <dgm:presOf/>
                <dgm:constrLst>
                  <dgm:constr type="sp" refType="w" fact="0.1"/>
                  <dgm:constr type="sibSp" refType="w" fact="0.1"/>
                </dgm:constrLst>
                <dgm:forEach name="Name138" axis="ch" ptType="node" cnt="1">
                  <dgm:layoutNode name="childCenter1"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139" axis="ch">
                    <dgm:forEach name="Name140" axis="self" ptType="parTrans">
                      <dgm:layoutNode name="Name141">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142" axis="self" ptType="node">
                      <dgm:layoutNode name="text1"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143" axis="ch" ptType="parTrans" cnt="1">
                <dgm:layoutNode name="Name144">
                  <dgm:alg type="conn">
                    <dgm:param type="dim" val="1D"/>
                    <dgm:param type="begPts" val="auto"/>
                    <dgm:param type="endPts" val="auto"/>
                    <dgm:param type="endSty" val="noArr"/>
                    <dgm:param type="srcNode" val="textCenter"/>
                    <dgm:param type="dstNode" val="childCenter1"/>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145"/>
          </dgm:choose>
          <dgm:choose name="Name146">
            <dgm:if name="Name147" axis="ch" ptType="node" func="cnt" op="gte" val="2">
              <dgm:layoutNode name="cycle_2">
                <dgm:choose name="Name148">
                  <dgm:if name="Name149" func="var" arg="dir" op="equ" val="norm">
                    <dgm:choose name="Name150">
                      <dgm:if name="Name151" axis="ch" ptType="node" func="cnt" op="equ" val="2">
                        <dgm:choose name="Name152">
                          <dgm:if name="Name153" axis="ch ch" ptType="node node" st="2 1" cnt="1 0" func="cnt" op="equ" val="1">
                            <dgm:alg type="cycle">
                              <dgm:param type="ctrShpMap" val="fNode"/>
                              <dgm:param type="stAng" val="180"/>
                            </dgm:alg>
                          </dgm:if>
                          <dgm:if name="Name154" axis="ch ch" ptType="node node" st="2 1" cnt="1 0" func="cnt" op="equ" val="2">
                            <dgm:alg type="cycle">
                              <dgm:param type="ctrShpMap" val="fNode"/>
                              <dgm:param type="stAng" val="135"/>
                              <dgm:param type="spanAng" val="90"/>
                            </dgm:alg>
                          </dgm:if>
                          <dgm:else name="Name155">
                            <dgm:alg type="cycle">
                              <dgm:param type="ctrShpMap" val="fNode"/>
                              <dgm:param type="stAng" val="90"/>
                              <dgm:param type="spanAng" val="180"/>
                            </dgm:alg>
                          </dgm:else>
                        </dgm:choose>
                      </dgm:if>
                      <dgm:if name="Name156" axis="ch" ptType="node" func="cnt" op="equ" val="3">
                        <dgm:choose name="Name157">
                          <dgm:if name="Name158" axis="ch ch" ptType="node node" st="2 1" cnt="1 0" func="cnt" op="equ" val="1">
                            <dgm:alg type="cycle">
                              <dgm:param type="ctrShpMap" val="fNode"/>
                              <dgm:param type="stAng" val="120"/>
                              <dgm:param type="horzAlign" val="r"/>
                              <dgm:param type="vertAlign" val="b"/>
                            </dgm:alg>
                          </dgm:if>
                          <dgm:if name="Name159" axis="ch ch" ptType="node node" st="2 1" cnt="1 0" func="cnt" op="equ" val="2">
                            <dgm:alg type="cycle">
                              <dgm:param type="ctrShpMap" val="fNode"/>
                              <dgm:param type="stAng" val="75"/>
                              <dgm:param type="spanAng" val="90"/>
                              <dgm:param type="horzAlign" val="r"/>
                              <dgm:param type="vertAlign" val="b"/>
                            </dgm:alg>
                          </dgm:if>
                          <dgm:else name="Name160">
                            <dgm:alg type="cycle">
                              <dgm:param type="ctrShpMap" val="fNode"/>
                              <dgm:param type="stAng" val="30"/>
                              <dgm:param type="spanAng" val="180"/>
                            </dgm:alg>
                          </dgm:else>
                        </dgm:choose>
                      </dgm:if>
                      <dgm:if name="Name161" axis="ch" ptType="node" func="cnt" op="equ" val="4">
                        <dgm:choose name="Name162">
                          <dgm:if name="Name163" axis="ch ch" ptType="node node" st="2 1" cnt="1 0" func="cnt" op="equ" val="1">
                            <dgm:alg type="cycle">
                              <dgm:param type="ctrShpMap" val="fNode"/>
                              <dgm:param type="stAng" val="90"/>
                            </dgm:alg>
                          </dgm:if>
                          <dgm:if name="Name164" axis="ch ch" ptType="node node" st="2 1" cnt="1 0" func="cnt" op="equ" val="2">
                            <dgm:alg type="cycle">
                              <dgm:param type="ctrShpMap" val="fNode"/>
                              <dgm:param type="stAng" val="45"/>
                              <dgm:param type="spanAng" val="90"/>
                            </dgm:alg>
                          </dgm:if>
                          <dgm:else name="Name165">
                            <dgm:alg type="cycle">
                              <dgm:param type="ctrShpMap" val="fNode"/>
                              <dgm:param type="stAng" val="22.5"/>
                              <dgm:param type="spanAng" val="135"/>
                            </dgm:alg>
                          </dgm:else>
                        </dgm:choose>
                      </dgm:if>
                      <dgm:if name="Name166" axis="ch" ptType="node" func="cnt" op="equ" val="5">
                        <dgm:choose name="Name167">
                          <dgm:if name="Name168" axis="ch ch" ptType="node node" st="2 1" cnt="1 0" func="cnt" op="equ" val="1">
                            <dgm:alg type="cycle">
                              <dgm:param type="ctrShpMap" val="fNode"/>
                              <dgm:param type="stAng" val="72"/>
                            </dgm:alg>
                          </dgm:if>
                          <dgm:if name="Name169" axis="ch ch" ptType="node node" st="2 1" cnt="1 0" func="cnt" op="equ" val="2">
                            <dgm:alg type="cycle">
                              <dgm:param type="ctrShpMap" val="fNode"/>
                              <dgm:param type="stAng" val="27"/>
                              <dgm:param type="spanAng" val="90"/>
                            </dgm:alg>
                          </dgm:if>
                          <dgm:else name="Name170">
                            <dgm:alg type="cycle">
                              <dgm:param type="ctrShpMap" val="fNode"/>
                              <dgm:param type="stAng" val="0"/>
                              <dgm:param type="spanAng" val="360"/>
                            </dgm:alg>
                          </dgm:else>
                        </dgm:choose>
                      </dgm:if>
                      <dgm:if name="Name171" axis="ch" ptType="node" func="cnt" op="equ" val="6">
                        <dgm:choose name="Name172">
                          <dgm:if name="Name173" axis="ch ch" ptType="node node" st="2 1" cnt="1 0" func="cnt" op="equ" val="1">
                            <dgm:alg type="cycle">
                              <dgm:param type="ctrShpMap" val="fNode"/>
                              <dgm:param type="stAng" val="60"/>
                            </dgm:alg>
                          </dgm:if>
                          <dgm:if name="Name174" axis="ch ch" ptType="node node" st="2 1" cnt="1 0" func="cnt" op="equ" val="2">
                            <dgm:alg type="cycle">
                              <dgm:param type="ctrShpMap" val="fNode"/>
                              <dgm:param type="stAng" val="15"/>
                              <dgm:param type="spanAng" val="90"/>
                            </dgm:alg>
                          </dgm:if>
                          <dgm:else name="Name175">
                            <dgm:alg type="cycle">
                              <dgm:param type="ctrShpMap" val="fNode"/>
                              <dgm:param type="stAng" val="0"/>
                              <dgm:param type="spanAng" val="360"/>
                            </dgm:alg>
                          </dgm:else>
                        </dgm:choose>
                      </dgm:if>
                      <dgm:if name="Name176" axis="ch" ptType="node" func="cnt" op="gte" val="7">
                        <dgm:choose name="Name177">
                          <dgm:if name="Name178" axis="ch ch" ptType="node node" st="2 1" cnt="1 0" func="cnt" op="equ" val="1">
                            <dgm:alg type="cycle">
                              <dgm:param type="ctrShpMap" val="fNode"/>
                              <dgm:param type="stAng" val="51"/>
                            </dgm:alg>
                          </dgm:if>
                          <dgm:if name="Name179" axis="ch ch" ptType="node node" st="2 1" cnt="1 0" func="cnt" op="equ" val="2">
                            <dgm:alg type="cycle">
                              <dgm:param type="ctrShpMap" val="fNode"/>
                              <dgm:param type="stAng" val="6"/>
                              <dgm:param type="spanAng" val="90"/>
                            </dgm:alg>
                          </dgm:if>
                          <dgm:else name="Name180">
                            <dgm:alg type="cycle">
                              <dgm:param type="ctrShpMap" val="fNode"/>
                              <dgm:param type="stAng" val="0"/>
                              <dgm:param type="spanAng" val="360"/>
                            </dgm:alg>
                          </dgm:else>
                        </dgm:choose>
                      </dgm:if>
                      <dgm:else name="Name181"/>
                    </dgm:choose>
                  </dgm:if>
                  <dgm:else name="Name182">
                    <dgm:choose name="Name183">
                      <dgm:if name="Name184" axis="ch" ptType="node" func="cnt" op="equ" val="2">
                        <dgm:choose name="Name185">
                          <dgm:if name="Name186" axis="ch ch" ptType="node node" st="2 1" cnt="1 0" func="cnt" op="equ" val="1">
                            <dgm:alg type="cycle">
                              <dgm:param type="ctrShpMap" val="fNode"/>
                              <dgm:param type="stAng" val="180"/>
                            </dgm:alg>
                          </dgm:if>
                          <dgm:if name="Name187" axis="ch ch" ptType="node node" st="2 1" cnt="1 0" func="cnt" op="equ" val="2">
                            <dgm:alg type="cycle">
                              <dgm:param type="ctrShpMap" val="fNode"/>
                              <dgm:param type="stAng" val="225"/>
                              <dgm:param type="spanAng" val="-90"/>
                            </dgm:alg>
                          </dgm:if>
                          <dgm:else name="Name188">
                            <dgm:alg type="cycle">
                              <dgm:param type="ctrShpMap" val="fNode"/>
                              <dgm:param type="stAng" val="270"/>
                              <dgm:param type="spanAng" val="-180"/>
                            </dgm:alg>
                          </dgm:else>
                        </dgm:choose>
                      </dgm:if>
                      <dgm:if name="Name189" axis="ch" ptType="node" func="cnt" op="equ" val="3">
                        <dgm:choose name="Name190">
                          <dgm:if name="Name191" axis="ch ch" ptType="node node" st="2 1" cnt="1 0" func="cnt" op="equ" val="1">
                            <dgm:alg type="cycle">
                              <dgm:param type="ctrShpMap" val="fNode"/>
                              <dgm:param type="stAng" val="240"/>
                              <dgm:param type="horzAlign" val="l"/>
                              <dgm:param type="vertAlign" val="b"/>
                            </dgm:alg>
                          </dgm:if>
                          <dgm:if name="Name192" axis="ch ch" ptType="node node" st="2 1" cnt="1 0" func="cnt" op="equ" val="2">
                            <dgm:alg type="cycle">
                              <dgm:param type="ctrShpMap" val="fNode"/>
                              <dgm:param type="stAng" val="285"/>
                              <dgm:param type="spanAng" val="-90"/>
                              <dgm:param type="horzAlign" val="l"/>
                              <dgm:param type="vertAlign" val="b"/>
                            </dgm:alg>
                          </dgm:if>
                          <dgm:else name="Name193">
                            <dgm:alg type="cycle">
                              <dgm:param type="ctrShpMap" val="fNode"/>
                              <dgm:param type="stAng" val="330"/>
                              <dgm:param type="spanAng" val="-180"/>
                            </dgm:alg>
                          </dgm:else>
                        </dgm:choose>
                      </dgm:if>
                      <dgm:if name="Name194" axis="ch" ptType="node" func="cnt" op="equ" val="4">
                        <dgm:choose name="Name195">
                          <dgm:if name="Name196" axis="ch ch" ptType="node node" st="2 1" cnt="1 0" func="cnt" op="equ" val="1">
                            <dgm:alg type="cycle">
                              <dgm:param type="ctrShpMap" val="fNode"/>
                              <dgm:param type="stAng" val="270"/>
                            </dgm:alg>
                          </dgm:if>
                          <dgm:if name="Name197" axis="ch ch" ptType="node node" st="2 1" cnt="1 0" func="cnt" op="equ" val="2">
                            <dgm:alg type="cycle">
                              <dgm:param type="ctrShpMap" val="fNode"/>
                              <dgm:param type="stAng" val="315"/>
                              <dgm:param type="spanAng" val="-90"/>
                            </dgm:alg>
                          </dgm:if>
                          <dgm:else name="Name198">
                            <dgm:alg type="cycle">
                              <dgm:param type="ctrShpMap" val="fNode"/>
                              <dgm:param type="stAng" val="337.5"/>
                              <dgm:param type="spanAng" val="-135"/>
                            </dgm:alg>
                          </dgm:else>
                        </dgm:choose>
                      </dgm:if>
                      <dgm:if name="Name199" axis="ch" ptType="node" func="cnt" op="equ" val="5">
                        <dgm:choose name="Name200">
                          <dgm:if name="Name201" axis="ch ch" ptType="node node" st="2 1" cnt="1 0" func="cnt" op="equ" val="1">
                            <dgm:alg type="cycle">
                              <dgm:param type="ctrShpMap" val="fNode"/>
                              <dgm:param type="stAng" val="288"/>
                            </dgm:alg>
                          </dgm:if>
                          <dgm:if name="Name202" axis="ch ch" ptType="node node" st="2 1" cnt="1 0" func="cnt" op="equ" val="2">
                            <dgm:alg type="cycle">
                              <dgm:param type="ctrShpMap" val="fNode"/>
                              <dgm:param type="stAng" val="333"/>
                              <dgm:param type="spanAng" val="-90"/>
                            </dgm:alg>
                          </dgm:if>
                          <dgm:else name="Name203">
                            <dgm:alg type="cycle">
                              <dgm:param type="ctrShpMap" val="fNode"/>
                              <dgm:param type="stAng" val="0"/>
                              <dgm:param type="spanAng" val="-360"/>
                            </dgm:alg>
                          </dgm:else>
                        </dgm:choose>
                      </dgm:if>
                      <dgm:if name="Name204" axis="ch" ptType="node" func="cnt" op="equ" val="6">
                        <dgm:choose name="Name205">
                          <dgm:if name="Name206" axis="ch ch" ptType="node node" st="2 1" cnt="1 0" func="cnt" op="equ" val="1">
                            <dgm:alg type="cycle">
                              <dgm:param type="ctrShpMap" val="fNode"/>
                              <dgm:param type="stAng" val="300"/>
                            </dgm:alg>
                          </dgm:if>
                          <dgm:if name="Name207" axis="ch ch" ptType="node node" st="2 1" cnt="1 0" func="cnt" op="equ" val="2">
                            <dgm:alg type="cycle">
                              <dgm:param type="ctrShpMap" val="fNode"/>
                              <dgm:param type="stAng" val="345"/>
                              <dgm:param type="spanAng" val="-90"/>
                            </dgm:alg>
                          </dgm:if>
                          <dgm:else name="Name208">
                            <dgm:alg type="cycle">
                              <dgm:param type="ctrShpMap" val="fNode"/>
                              <dgm:param type="stAng" val="0"/>
                              <dgm:param type="spanAng" val="-360"/>
                            </dgm:alg>
                          </dgm:else>
                        </dgm:choose>
                      </dgm:if>
                      <dgm:if name="Name209" axis="ch" ptType="node" func="cnt" op="gte" val="7">
                        <dgm:choose name="Name210">
                          <dgm:if name="Name211" axis="ch ch" ptType="node node" st="2 1" cnt="1 0" func="cnt" op="equ" val="1">
                            <dgm:alg type="cycle">
                              <dgm:param type="ctrShpMap" val="fNode"/>
                              <dgm:param type="stAng" val="308"/>
                            </dgm:alg>
                          </dgm:if>
                          <dgm:if name="Name212" axis="ch ch" ptType="node node" st="2 1" cnt="1 0" func="cnt" op="equ" val="2">
                            <dgm:alg type="cycle">
                              <dgm:param type="ctrShpMap" val="fNode"/>
                              <dgm:param type="stAng" val="353"/>
                              <dgm:param type="spanAng" val="-90"/>
                            </dgm:alg>
                          </dgm:if>
                          <dgm:else name="Name213">
                            <dgm:alg type="cycle">
                              <dgm:param type="ctrShpMap" val="fNode"/>
                              <dgm:param type="stAng" val="0"/>
                              <dgm:param type="spanAng" val="-360"/>
                            </dgm:alg>
                          </dgm:else>
                        </dgm:choose>
                      </dgm:if>
                      <dgm:else name="Name214"/>
                    </dgm:choose>
                  </dgm:else>
                </dgm:choose>
                <dgm:shape xmlns:r="http://schemas.openxmlformats.org/officeDocument/2006/relationships" r:blip="">
                  <dgm:adjLst/>
                </dgm:shape>
                <dgm:presOf/>
                <dgm:constrLst>
                  <dgm:constr type="sp" refType="w" fact="0.1"/>
                  <dgm:constr type="sibSp" refType="w" fact="0.1"/>
                </dgm:constrLst>
                <dgm:forEach name="Name215" axis="ch" ptType="node" st="2" cnt="1">
                  <dgm:layoutNode name="childCenter2"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216" axis="ch">
                    <dgm:forEach name="Name217" axis="self" ptType="parTrans">
                      <dgm:layoutNode name="Name218">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219" axis="self" ptType="node">
                      <dgm:layoutNode name="text2"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220" axis="ch" ptType="parTrans" st="2" cnt="1">
                <dgm:layoutNode name="Name221">
                  <dgm:alg type="conn">
                    <dgm:param type="dim" val="1D"/>
                    <dgm:param type="begPts" val="auto"/>
                    <dgm:param type="endPts" val="auto"/>
                    <dgm:param type="endSty" val="noArr"/>
                    <dgm:param type="srcNode" val="textCenter"/>
                    <dgm:param type="dstNode" val="childCenter2"/>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222"/>
          </dgm:choose>
          <dgm:choose name="Name223">
            <dgm:if name="Name224" axis="ch" ptType="node" func="cnt" op="gte" val="3">
              <dgm:layoutNode name="cycle_3">
                <dgm:choose name="Name225">
                  <dgm:if name="Name226" func="var" arg="dir" op="equ" val="norm">
                    <dgm:choose name="Name227">
                      <dgm:if name="Name228" axis="ch" ptType="node" func="cnt" op="equ" val="3">
                        <dgm:choose name="Name229">
                          <dgm:if name="Name230" axis="ch ch" ptType="node node" st="3 1" cnt="1 0" func="cnt" op="equ" val="1">
                            <dgm:alg type="cycle">
                              <dgm:param type="ctrShpMap" val="fNode"/>
                              <dgm:param type="stAng" val="240"/>
                              <dgm:param type="horzAlign" val="l"/>
                              <dgm:param type="vertAlign" val="b"/>
                            </dgm:alg>
                          </dgm:if>
                          <dgm:if name="Name231" axis="ch ch" ptType="node node" st="3 1" cnt="1 0" func="cnt" op="equ" val="2">
                            <dgm:alg type="cycle">
                              <dgm:param type="ctrShpMap" val="fNode"/>
                              <dgm:param type="stAng" val="195"/>
                              <dgm:param type="spanAng" val="90"/>
                              <dgm:param type="horzAlign" val="l"/>
                              <dgm:param type="vertAlign" val="b"/>
                            </dgm:alg>
                          </dgm:if>
                          <dgm:else name="Name232">
                            <dgm:alg type="cycle">
                              <dgm:param type="ctrShpMap" val="fNode"/>
                              <dgm:param type="stAng" val="150"/>
                              <dgm:param type="spanAng" val="180"/>
                            </dgm:alg>
                          </dgm:else>
                        </dgm:choose>
                      </dgm:if>
                      <dgm:if name="Name233" axis="ch" ptType="node" func="cnt" op="equ" val="4">
                        <dgm:choose name="Name234">
                          <dgm:if name="Name235" axis="ch ch" ptType="node node" st="3 1" cnt="1 0" func="cnt" op="equ" val="1">
                            <dgm:alg type="cycle">
                              <dgm:param type="ctrShpMap" val="fNode"/>
                              <dgm:param type="stAng" val="180"/>
                            </dgm:alg>
                          </dgm:if>
                          <dgm:if name="Name236" axis="ch ch" ptType="node node" st="3 1" cnt="1 0" func="cnt" op="equ" val="2">
                            <dgm:alg type="cycle">
                              <dgm:param type="ctrShpMap" val="fNode"/>
                              <dgm:param type="stAng" val="135"/>
                              <dgm:param type="spanAng" val="90"/>
                            </dgm:alg>
                          </dgm:if>
                          <dgm:else name="Name237">
                            <dgm:alg type="cycle">
                              <dgm:param type="ctrShpMap" val="fNode"/>
                              <dgm:param type="stAng" val="112.5"/>
                              <dgm:param type="spanAng" val="135"/>
                            </dgm:alg>
                          </dgm:else>
                        </dgm:choose>
                      </dgm:if>
                      <dgm:if name="Name238" axis="ch" ptType="node" func="cnt" op="equ" val="5">
                        <dgm:choose name="Name239">
                          <dgm:if name="Name240" axis="ch ch" ptType="node node" st="3 1" cnt="1 0" func="cnt" op="equ" val="1">
                            <dgm:alg type="cycle">
                              <dgm:param type="ctrShpMap" val="fNode"/>
                              <dgm:param type="stAng" val="144"/>
                            </dgm:alg>
                          </dgm:if>
                          <dgm:if name="Name241" axis="ch ch" ptType="node node" st="3 1" cnt="1 0" func="cnt" op="equ" val="2">
                            <dgm:alg type="cycle">
                              <dgm:param type="ctrShpMap" val="fNode"/>
                              <dgm:param type="stAng" val="99"/>
                              <dgm:param type="spanAng" val="90"/>
                            </dgm:alg>
                          </dgm:if>
                          <dgm:else name="Name242">
                            <dgm:alg type="cycle">
                              <dgm:param type="ctrShpMap" val="fNode"/>
                              <dgm:param type="stAng" val="0"/>
                              <dgm:param type="spanAng" val="360"/>
                            </dgm:alg>
                          </dgm:else>
                        </dgm:choose>
                      </dgm:if>
                      <dgm:if name="Name243" axis="ch" ptType="node" func="cnt" op="equ" val="6">
                        <dgm:choose name="Name244">
                          <dgm:if name="Name245" axis="ch ch" ptType="node node" st="3 1" cnt="1 0" func="cnt" op="equ" val="1">
                            <dgm:alg type="cycle">
                              <dgm:param type="ctrShpMap" val="fNode"/>
                              <dgm:param type="stAng" val="120"/>
                            </dgm:alg>
                          </dgm:if>
                          <dgm:if name="Name246" axis="ch ch" ptType="node node" st="3 1" cnt="1 0" func="cnt" op="equ" val="2">
                            <dgm:alg type="cycle">
                              <dgm:param type="ctrShpMap" val="fNode"/>
                              <dgm:param type="stAng" val="75"/>
                              <dgm:param type="spanAng" val="90"/>
                            </dgm:alg>
                          </dgm:if>
                          <dgm:else name="Name247">
                            <dgm:alg type="cycle">
                              <dgm:param type="ctrShpMap" val="fNode"/>
                              <dgm:param type="stAng" val="0"/>
                              <dgm:param type="spanAng" val="360"/>
                            </dgm:alg>
                          </dgm:else>
                        </dgm:choose>
                      </dgm:if>
                      <dgm:if name="Name248" axis="ch" ptType="node" func="cnt" op="gte" val="7">
                        <dgm:choose name="Name249">
                          <dgm:if name="Name250" axis="ch ch" ptType="node node" st="3 1" cnt="1 0" func="cnt" op="equ" val="1">
                            <dgm:alg type="cycle">
                              <dgm:param type="ctrShpMap" val="fNode"/>
                              <dgm:param type="stAng" val="102"/>
                            </dgm:alg>
                          </dgm:if>
                          <dgm:if name="Name251" axis="ch ch" ptType="node node" st="3 1" cnt="1 0" func="cnt" op="equ" val="2">
                            <dgm:alg type="cycle">
                              <dgm:param type="ctrShpMap" val="fNode"/>
                              <dgm:param type="stAng" val="57"/>
                              <dgm:param type="spanAng" val="90"/>
                            </dgm:alg>
                          </dgm:if>
                          <dgm:else name="Name252">
                            <dgm:alg type="cycle">
                              <dgm:param type="ctrShpMap" val="fNode"/>
                              <dgm:param type="stAng" val="0"/>
                              <dgm:param type="spanAng" val="360"/>
                            </dgm:alg>
                          </dgm:else>
                        </dgm:choose>
                      </dgm:if>
                      <dgm:else name="Name253"/>
                    </dgm:choose>
                  </dgm:if>
                  <dgm:else name="Name254">
                    <dgm:choose name="Name255">
                      <dgm:if name="Name256" axis="ch" ptType="node" func="cnt" op="equ" val="3">
                        <dgm:choose name="Name257">
                          <dgm:if name="Name258" axis="ch ch" ptType="node node" st="3 1" cnt="1 0" func="cnt" op="equ" val="1">
                            <dgm:alg type="cycle">
                              <dgm:param type="ctrShpMap" val="fNode"/>
                              <dgm:param type="stAng" val="120"/>
                              <dgm:param type="horzAlign" val="r"/>
                              <dgm:param type="vertAlign" val="b"/>
                            </dgm:alg>
                          </dgm:if>
                          <dgm:if name="Name259" axis="ch ch" ptType="node node" st="3 1" cnt="1 0" func="cnt" op="equ" val="2">
                            <dgm:alg type="cycle">
                              <dgm:param type="ctrShpMap" val="fNode"/>
                              <dgm:param type="stAng" val="165"/>
                              <dgm:param type="spanAng" val="-90"/>
                              <dgm:param type="horzAlign" val="r"/>
                              <dgm:param type="vertAlign" val="b"/>
                            </dgm:alg>
                          </dgm:if>
                          <dgm:else name="Name260">
                            <dgm:alg type="cycle">
                              <dgm:param type="ctrShpMap" val="fNode"/>
                              <dgm:param type="stAng" val="210"/>
                              <dgm:param type="spanAng" val="-180"/>
                            </dgm:alg>
                          </dgm:else>
                        </dgm:choose>
                      </dgm:if>
                      <dgm:if name="Name261" axis="ch" ptType="node" func="cnt" op="equ" val="4">
                        <dgm:choose name="Name262">
                          <dgm:if name="Name263" axis="ch ch" ptType="node node" st="3 1" cnt="1 0" func="cnt" op="equ" val="1">
                            <dgm:alg type="cycle">
                              <dgm:param type="ctrShpMap" val="fNode"/>
                              <dgm:param type="stAng" val="180"/>
                            </dgm:alg>
                          </dgm:if>
                          <dgm:if name="Name264" axis="ch ch" ptType="node node" st="3 1" cnt="1 0" func="cnt" op="equ" val="2">
                            <dgm:alg type="cycle">
                              <dgm:param type="ctrShpMap" val="fNode"/>
                              <dgm:param type="stAng" val="225"/>
                              <dgm:param type="spanAng" val="-90"/>
                            </dgm:alg>
                          </dgm:if>
                          <dgm:else name="Name265">
                            <dgm:alg type="cycle">
                              <dgm:param type="ctrShpMap" val="fNode"/>
                              <dgm:param type="stAng" val="247.5"/>
                              <dgm:param type="spanAng" val="-135"/>
                            </dgm:alg>
                          </dgm:else>
                        </dgm:choose>
                      </dgm:if>
                      <dgm:if name="Name266" axis="ch" ptType="node" func="cnt" op="equ" val="5">
                        <dgm:choose name="Name267">
                          <dgm:if name="Name268" axis="ch ch" ptType="node node" st="3 1" cnt="1 0" func="cnt" op="equ" val="1">
                            <dgm:alg type="cycle">
                              <dgm:param type="ctrShpMap" val="fNode"/>
                              <dgm:param type="stAng" val="216"/>
                            </dgm:alg>
                          </dgm:if>
                          <dgm:if name="Name269" axis="ch ch" ptType="node node" st="3 1" cnt="1 0" func="cnt" op="equ" val="2">
                            <dgm:alg type="cycle">
                              <dgm:param type="ctrShpMap" val="fNode"/>
                              <dgm:param type="stAng" val="261"/>
                              <dgm:param type="spanAng" val="-90"/>
                            </dgm:alg>
                          </dgm:if>
                          <dgm:else name="Name270">
                            <dgm:alg type="cycle">
                              <dgm:param type="ctrShpMap" val="fNode"/>
                              <dgm:param type="stAng" val="0"/>
                              <dgm:param type="spanAng" val="-360"/>
                            </dgm:alg>
                          </dgm:else>
                        </dgm:choose>
                      </dgm:if>
                      <dgm:if name="Name271" axis="ch" ptType="node" func="cnt" op="equ" val="6">
                        <dgm:choose name="Name272">
                          <dgm:if name="Name273" axis="ch ch" ptType="node node" st="3 1" cnt="1 0" func="cnt" op="equ" val="1">
                            <dgm:alg type="cycle">
                              <dgm:param type="ctrShpMap" val="fNode"/>
                              <dgm:param type="stAng" val="240"/>
                            </dgm:alg>
                          </dgm:if>
                          <dgm:if name="Name274" axis="ch ch" ptType="node node" st="3 1" cnt="1 0" func="cnt" op="equ" val="2">
                            <dgm:alg type="cycle">
                              <dgm:param type="ctrShpMap" val="fNode"/>
                              <dgm:param type="stAng" val="285"/>
                              <dgm:param type="spanAng" val="-90"/>
                            </dgm:alg>
                          </dgm:if>
                          <dgm:else name="Name275">
                            <dgm:alg type="cycle">
                              <dgm:param type="ctrShpMap" val="fNode"/>
                              <dgm:param type="stAng" val="0"/>
                              <dgm:param type="spanAng" val="-360"/>
                            </dgm:alg>
                          </dgm:else>
                        </dgm:choose>
                      </dgm:if>
                      <dgm:if name="Name276" axis="ch" ptType="node" func="cnt" op="gte" val="7">
                        <dgm:choose name="Name277">
                          <dgm:if name="Name278" axis="ch ch" ptType="node node" st="3 1" cnt="1 0" func="cnt" op="equ" val="1">
                            <dgm:alg type="cycle">
                              <dgm:param type="ctrShpMap" val="fNode"/>
                              <dgm:param type="stAng" val="257"/>
                            </dgm:alg>
                          </dgm:if>
                          <dgm:if name="Name279" axis="ch ch" ptType="node node" st="3 1" cnt="1 0" func="cnt" op="equ" val="2">
                            <dgm:alg type="cycle">
                              <dgm:param type="ctrShpMap" val="fNode"/>
                              <dgm:param type="stAng" val="302"/>
                              <dgm:param type="spanAng" val="-90"/>
                            </dgm:alg>
                          </dgm:if>
                          <dgm:else name="Name280">
                            <dgm:alg type="cycle">
                              <dgm:param type="ctrShpMap" val="fNode"/>
                              <dgm:param type="stAng" val="0"/>
                              <dgm:param type="spanAng" val="-360"/>
                            </dgm:alg>
                          </dgm:else>
                        </dgm:choose>
                      </dgm:if>
                      <dgm:else name="Name281"/>
                    </dgm:choose>
                  </dgm:else>
                </dgm:choose>
                <dgm:shape xmlns:r="http://schemas.openxmlformats.org/officeDocument/2006/relationships" r:blip="">
                  <dgm:adjLst/>
                </dgm:shape>
                <dgm:presOf/>
                <dgm:constrLst>
                  <dgm:constr type="sp" refType="w" fact="0.1"/>
                  <dgm:constr type="sibSp" refType="w" fact="0.1"/>
                </dgm:constrLst>
                <dgm:forEach name="Name282" axis="ch" ptType="node" st="3" cnt="1">
                  <dgm:layoutNode name="childCenter3"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283" axis="ch">
                    <dgm:forEach name="Name284" axis="self" ptType="parTrans">
                      <dgm:layoutNode name="Name285">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286" axis="self" ptType="node">
                      <dgm:layoutNode name="text3"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287" axis="ch" ptType="parTrans" st="3" cnt="1">
                <dgm:layoutNode name="Name288">
                  <dgm:alg type="conn">
                    <dgm:param type="dim" val="1D"/>
                    <dgm:param type="begPts" val="auto"/>
                    <dgm:param type="endPts" val="auto"/>
                    <dgm:param type="endSty" val="noArr"/>
                    <dgm:param type="srcNode" val="textCenter"/>
                    <dgm:param type="dstNode" val="childCenter3"/>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289"/>
          </dgm:choose>
          <dgm:choose name="Name290">
            <dgm:if name="Name291" axis="ch" ptType="node" func="cnt" op="gte" val="4">
              <dgm:layoutNode name="cycle_4">
                <dgm:choose name="Name292">
                  <dgm:if name="Name293" func="var" arg="dir" op="equ" val="norm">
                    <dgm:choose name="Name294">
                      <dgm:if name="Name295" axis="ch" ptType="node" func="cnt" op="equ" val="4">
                        <dgm:choose name="Name296">
                          <dgm:if name="Name297" axis="ch ch" ptType="node node" st="4 1" cnt="1 0" func="cnt" op="equ" val="1">
                            <dgm:alg type="cycle">
                              <dgm:param type="ctrShpMap" val="fNode"/>
                              <dgm:param type="stAng" val="270"/>
                            </dgm:alg>
                          </dgm:if>
                          <dgm:if name="Name298" axis="ch ch" ptType="node node" st="4 1" cnt="1 0" func="cnt" op="equ" val="2">
                            <dgm:alg type="cycle">
                              <dgm:param type="ctrShpMap" val="fNode"/>
                              <dgm:param type="stAng" val="225"/>
                              <dgm:param type="spanAng" val="90"/>
                            </dgm:alg>
                          </dgm:if>
                          <dgm:else name="Name299">
                            <dgm:alg type="cycle">
                              <dgm:param type="ctrShpMap" val="fNode"/>
                              <dgm:param type="stAng" val="202.5"/>
                              <dgm:param type="spanAng" val="135"/>
                            </dgm:alg>
                          </dgm:else>
                        </dgm:choose>
                      </dgm:if>
                      <dgm:if name="Name300" axis="ch" ptType="node" func="cnt" op="equ" val="5">
                        <dgm:choose name="Name301">
                          <dgm:if name="Name302" axis="ch ch" ptType="node node" st="4 1" cnt="1 0" func="cnt" op="equ" val="1">
                            <dgm:alg type="cycle">
                              <dgm:param type="ctrShpMap" val="fNode"/>
                              <dgm:param type="stAng" val="216"/>
                            </dgm:alg>
                          </dgm:if>
                          <dgm:if name="Name303" axis="ch ch" ptType="node node" st="4 1" cnt="1 0" func="cnt" op="equ" val="2">
                            <dgm:alg type="cycle">
                              <dgm:param type="ctrShpMap" val="fNode"/>
                              <dgm:param type="stAng" val="171"/>
                              <dgm:param type="spanAng" val="90"/>
                            </dgm:alg>
                          </dgm:if>
                          <dgm:else name="Name304">
                            <dgm:alg type="cycle">
                              <dgm:param type="ctrShpMap" val="fNode"/>
                              <dgm:param type="stAng" val="0"/>
                              <dgm:param type="spanAng" val="360"/>
                            </dgm:alg>
                          </dgm:else>
                        </dgm:choose>
                      </dgm:if>
                      <dgm:if name="Name305" axis="ch" ptType="node" func="cnt" op="equ" val="6">
                        <dgm:choose name="Name306">
                          <dgm:if name="Name307" axis="ch ch" ptType="node node" st="4 1" cnt="1 0" func="cnt" op="equ" val="1">
                            <dgm:alg type="cycle">
                              <dgm:param type="ctrShpMap" val="fNode"/>
                              <dgm:param type="stAng" val="180"/>
                            </dgm:alg>
                          </dgm:if>
                          <dgm:if name="Name308" axis="ch ch" ptType="node node" st="4 1" cnt="1 0" func="cnt" op="equ" val="2">
                            <dgm:alg type="cycle">
                              <dgm:param type="ctrShpMap" val="fNode"/>
                              <dgm:param type="stAng" val="135"/>
                              <dgm:param type="spanAng" val="90"/>
                            </dgm:alg>
                          </dgm:if>
                          <dgm:else name="Name309">
                            <dgm:alg type="cycle">
                              <dgm:param type="ctrShpMap" val="fNode"/>
                              <dgm:param type="stAng" val="0"/>
                              <dgm:param type="spanAng" val="360"/>
                            </dgm:alg>
                          </dgm:else>
                        </dgm:choose>
                      </dgm:if>
                      <dgm:if name="Name310" axis="ch" ptType="node" func="cnt" op="gte" val="7">
                        <dgm:choose name="Name311">
                          <dgm:if name="Name312" axis="ch ch" ptType="node node" st="4 1" cnt="1 0" func="cnt" op="equ" val="1">
                            <dgm:alg type="cycle">
                              <dgm:param type="ctrShpMap" val="fNode"/>
                              <dgm:param type="stAng" val="154"/>
                            </dgm:alg>
                          </dgm:if>
                          <dgm:if name="Name313" axis="ch ch" ptType="node node" st="4 1" cnt="1 0" func="cnt" op="equ" val="2">
                            <dgm:alg type="cycle">
                              <dgm:param type="ctrShpMap" val="fNode"/>
                              <dgm:param type="stAng" val="109"/>
                              <dgm:param type="spanAng" val="90"/>
                            </dgm:alg>
                          </dgm:if>
                          <dgm:else name="Name314">
                            <dgm:alg type="cycle">
                              <dgm:param type="ctrShpMap" val="fNode"/>
                              <dgm:param type="stAng" val="0"/>
                              <dgm:param type="spanAng" val="360"/>
                            </dgm:alg>
                          </dgm:else>
                        </dgm:choose>
                      </dgm:if>
                      <dgm:else name="Name315"/>
                    </dgm:choose>
                  </dgm:if>
                  <dgm:else name="Name316">
                    <dgm:choose name="Name317">
                      <dgm:if name="Name318" axis="ch" ptType="node" func="cnt" op="equ" val="4">
                        <dgm:choose name="Name319">
                          <dgm:if name="Name320" axis="ch ch" ptType="node node" st="4 1" cnt="1 0" func="cnt" op="equ" val="1">
                            <dgm:alg type="cycle">
                              <dgm:param type="ctrShpMap" val="fNode"/>
                              <dgm:param type="stAng" val="90"/>
                            </dgm:alg>
                          </dgm:if>
                          <dgm:if name="Name321" axis="ch ch" ptType="node node" st="4 1" cnt="1 0" func="cnt" op="equ" val="2">
                            <dgm:alg type="cycle">
                              <dgm:param type="ctrShpMap" val="fNode"/>
                              <dgm:param type="stAng" val="135"/>
                              <dgm:param type="spanAng" val="-90"/>
                            </dgm:alg>
                          </dgm:if>
                          <dgm:else name="Name322">
                            <dgm:alg type="cycle">
                              <dgm:param type="ctrShpMap" val="fNode"/>
                              <dgm:param type="stAng" val="157.5"/>
                              <dgm:param type="spanAng" val="-135"/>
                            </dgm:alg>
                          </dgm:else>
                        </dgm:choose>
                      </dgm:if>
                      <dgm:if name="Name323" axis="ch" ptType="node" func="cnt" op="equ" val="5">
                        <dgm:choose name="Name324">
                          <dgm:if name="Name325" axis="ch ch" ptType="node node" st="4 1" cnt="1 0" func="cnt" op="equ" val="1">
                            <dgm:alg type="cycle">
                              <dgm:param type="ctrShpMap" val="fNode"/>
                              <dgm:param type="stAng" val="144"/>
                            </dgm:alg>
                          </dgm:if>
                          <dgm:if name="Name326" axis="ch ch" ptType="node node" st="4 1" cnt="1 0" func="cnt" op="equ" val="2">
                            <dgm:alg type="cycle">
                              <dgm:param type="ctrShpMap" val="fNode"/>
                              <dgm:param type="stAng" val="189"/>
                              <dgm:param type="spanAng" val="-90"/>
                            </dgm:alg>
                          </dgm:if>
                          <dgm:else name="Name327">
                            <dgm:alg type="cycle">
                              <dgm:param type="ctrShpMap" val="fNode"/>
                              <dgm:param type="stAng" val="0"/>
                              <dgm:param type="spanAng" val="-360"/>
                            </dgm:alg>
                          </dgm:else>
                        </dgm:choose>
                      </dgm:if>
                      <dgm:if name="Name328" axis="ch" ptType="node" func="cnt" op="equ" val="6">
                        <dgm:choose name="Name329">
                          <dgm:if name="Name330" axis="ch ch" ptType="node node" st="4 1" cnt="1 0" func="cnt" op="equ" val="1">
                            <dgm:alg type="cycle">
                              <dgm:param type="ctrShpMap" val="fNode"/>
                              <dgm:param type="stAng" val="180"/>
                            </dgm:alg>
                          </dgm:if>
                          <dgm:if name="Name331" axis="ch ch" ptType="node node" st="4 1" cnt="1 0" func="cnt" op="equ" val="2">
                            <dgm:alg type="cycle">
                              <dgm:param type="ctrShpMap" val="fNode"/>
                              <dgm:param type="stAng" val="225"/>
                              <dgm:param type="spanAng" val="-90"/>
                            </dgm:alg>
                          </dgm:if>
                          <dgm:else name="Name332">
                            <dgm:alg type="cycle">
                              <dgm:param type="ctrShpMap" val="fNode"/>
                              <dgm:param type="stAng" val="0"/>
                              <dgm:param type="spanAng" val="-360"/>
                            </dgm:alg>
                          </dgm:else>
                        </dgm:choose>
                      </dgm:if>
                      <dgm:if name="Name333" axis="ch" ptType="node" func="cnt" op="gte" val="7">
                        <dgm:choose name="Name334">
                          <dgm:if name="Name335" axis="ch ch" ptType="node node" st="4 1" cnt="1 0" func="cnt" op="equ" val="1">
                            <dgm:alg type="cycle">
                              <dgm:param type="ctrShpMap" val="fNode"/>
                              <dgm:param type="stAng" val="205"/>
                            </dgm:alg>
                          </dgm:if>
                          <dgm:if name="Name336" axis="ch ch" ptType="node node" st="4 1" cnt="1 0" func="cnt" op="equ" val="2">
                            <dgm:alg type="cycle">
                              <dgm:param type="ctrShpMap" val="fNode"/>
                              <dgm:param type="stAng" val="250"/>
                              <dgm:param type="spanAng" val="-90"/>
                            </dgm:alg>
                          </dgm:if>
                          <dgm:else name="Name337">
                            <dgm:alg type="cycle">
                              <dgm:param type="ctrShpMap" val="fNode"/>
                              <dgm:param type="stAng" val="0"/>
                              <dgm:param type="spanAng" val="-360"/>
                            </dgm:alg>
                          </dgm:else>
                        </dgm:choose>
                      </dgm:if>
                      <dgm:else name="Name338"/>
                    </dgm:choose>
                  </dgm:else>
                </dgm:choose>
                <dgm:shape xmlns:r="http://schemas.openxmlformats.org/officeDocument/2006/relationships" r:blip="">
                  <dgm:adjLst/>
                </dgm:shape>
                <dgm:presOf/>
                <dgm:constrLst>
                  <dgm:constr type="sp" refType="w" fact="0.1"/>
                  <dgm:constr type="sibSp" refType="w" fact="0.1"/>
                </dgm:constrLst>
                <dgm:forEach name="Name339" axis="ch" ptType="node" st="4" cnt="1">
                  <dgm:layoutNode name="childCenter4"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340" axis="ch">
                    <dgm:forEach name="Name341" axis="self" ptType="parTrans">
                      <dgm:layoutNode name="Name342">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343" axis="self" ptType="node">
                      <dgm:layoutNode name="text4"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344" axis="ch" ptType="parTrans" st="4" cnt="1">
                <dgm:layoutNode name="Name345">
                  <dgm:alg type="conn">
                    <dgm:param type="dim" val="1D"/>
                    <dgm:param type="begPts" val="auto"/>
                    <dgm:param type="endPts" val="auto"/>
                    <dgm:param type="endSty" val="noArr"/>
                    <dgm:param type="srcNode" val="textCenter"/>
                    <dgm:param type="dstNode" val="childCenter4"/>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346"/>
          </dgm:choose>
          <dgm:choose name="Name347">
            <dgm:if name="Name348" axis="ch" ptType="node" func="cnt" op="gte" val="5">
              <dgm:layoutNode name="cycle_5">
                <dgm:choose name="Name349">
                  <dgm:if name="Name350" func="var" arg="dir" op="equ" val="norm">
                    <dgm:choose name="Name351">
                      <dgm:if name="Name352" axis="ch" ptType="node" func="cnt" op="equ" val="5">
                        <dgm:choose name="Name353">
                          <dgm:if name="Name354" axis="ch ch" ptType="node node" st="5 1" cnt="1 0" func="cnt" op="equ" val="1">
                            <dgm:alg type="cycle">
                              <dgm:param type="ctrShpMap" val="fNode"/>
                              <dgm:param type="stAng" val="288"/>
                            </dgm:alg>
                          </dgm:if>
                          <dgm:if name="Name355" axis="ch ch" ptType="node node" st="5 1" cnt="1 0" func="cnt" op="equ" val="2">
                            <dgm:alg type="cycle">
                              <dgm:param type="ctrShpMap" val="fNode"/>
                              <dgm:param type="stAng" val="243"/>
                              <dgm:param type="spanAng" val="90"/>
                            </dgm:alg>
                          </dgm:if>
                          <dgm:else name="Name356">
                            <dgm:alg type="cycle">
                              <dgm:param type="ctrShpMap" val="fNode"/>
                              <dgm:param type="stAng" val="0"/>
                              <dgm:param type="spanAng" val="360"/>
                            </dgm:alg>
                          </dgm:else>
                        </dgm:choose>
                      </dgm:if>
                      <dgm:if name="Name357" axis="ch" ptType="node" func="cnt" op="equ" val="6">
                        <dgm:choose name="Name358">
                          <dgm:if name="Name359" axis="ch ch" ptType="node node" st="5 1" cnt="1 0" func="cnt" op="equ" val="1">
                            <dgm:alg type="cycle">
                              <dgm:param type="ctrShpMap" val="fNode"/>
                              <dgm:param type="stAng" val="240"/>
                            </dgm:alg>
                          </dgm:if>
                          <dgm:if name="Name360" axis="ch ch" ptType="node node" st="5 1" cnt="1 0" func="cnt" op="equ" val="2">
                            <dgm:alg type="cycle">
                              <dgm:param type="ctrShpMap" val="fNode"/>
                              <dgm:param type="stAng" val="195"/>
                              <dgm:param type="spanAng" val="90"/>
                            </dgm:alg>
                          </dgm:if>
                          <dgm:else name="Name361">
                            <dgm:alg type="cycle">
                              <dgm:param type="ctrShpMap" val="fNode"/>
                              <dgm:param type="stAng" val="0"/>
                              <dgm:param type="spanAng" val="360"/>
                            </dgm:alg>
                          </dgm:else>
                        </dgm:choose>
                      </dgm:if>
                      <dgm:if name="Name362" axis="ch" ptType="node" func="cnt" op="gte" val="7">
                        <dgm:choose name="Name363">
                          <dgm:if name="Name364" axis="ch ch" ptType="node node" st="5 1" cnt="1 0" func="cnt" op="equ" val="1">
                            <dgm:alg type="cycle">
                              <dgm:param type="ctrShpMap" val="fNode"/>
                              <dgm:param type="stAng" val="205"/>
                            </dgm:alg>
                          </dgm:if>
                          <dgm:if name="Name365" axis="ch ch" ptType="node node" st="5 1" cnt="1 0" func="cnt" op="equ" val="2">
                            <dgm:alg type="cycle">
                              <dgm:param type="ctrShpMap" val="fNode"/>
                              <dgm:param type="stAng" val="160"/>
                              <dgm:param type="spanAng" val="90"/>
                            </dgm:alg>
                          </dgm:if>
                          <dgm:else name="Name366">
                            <dgm:alg type="cycle">
                              <dgm:param type="ctrShpMap" val="fNode"/>
                              <dgm:param type="stAng" val="0"/>
                              <dgm:param type="spanAng" val="360"/>
                            </dgm:alg>
                          </dgm:else>
                        </dgm:choose>
                      </dgm:if>
                      <dgm:else name="Name367"/>
                    </dgm:choose>
                  </dgm:if>
                  <dgm:else name="Name368">
                    <dgm:choose name="Name369">
                      <dgm:if name="Name370" axis="ch" ptType="node" func="cnt" op="equ" val="5">
                        <dgm:choose name="Name371">
                          <dgm:if name="Name372" axis="ch ch" ptType="node node" st="5 1" cnt="1 0" func="cnt" op="equ" val="1">
                            <dgm:alg type="cycle">
                              <dgm:param type="ctrShpMap" val="fNode"/>
                              <dgm:param type="stAng" val="72"/>
                            </dgm:alg>
                          </dgm:if>
                          <dgm:if name="Name373" axis="ch ch" ptType="node node" st="5 1" cnt="1 0" func="cnt" op="equ" val="2">
                            <dgm:alg type="cycle">
                              <dgm:param type="ctrShpMap" val="fNode"/>
                              <dgm:param type="stAng" val="117"/>
                              <dgm:param type="spanAng" val="-90"/>
                            </dgm:alg>
                          </dgm:if>
                          <dgm:else name="Name374">
                            <dgm:alg type="cycle">
                              <dgm:param type="ctrShpMap" val="fNode"/>
                              <dgm:param type="stAng" val="0"/>
                              <dgm:param type="spanAng" val="-360"/>
                            </dgm:alg>
                          </dgm:else>
                        </dgm:choose>
                      </dgm:if>
                      <dgm:if name="Name375" axis="ch" ptType="node" func="cnt" op="equ" val="6">
                        <dgm:choose name="Name376">
                          <dgm:if name="Name377" axis="ch ch" ptType="node node" st="5 1" cnt="1 0" func="cnt" op="equ" val="1">
                            <dgm:alg type="cycle">
                              <dgm:param type="ctrShpMap" val="fNode"/>
                              <dgm:param type="stAng" val="120"/>
                            </dgm:alg>
                          </dgm:if>
                          <dgm:if name="Name378" axis="ch ch" ptType="node node" st="5 1" cnt="1 0" func="cnt" op="equ" val="2">
                            <dgm:alg type="cycle">
                              <dgm:param type="ctrShpMap" val="fNode"/>
                              <dgm:param type="stAng" val="165"/>
                              <dgm:param type="spanAng" val="-90"/>
                            </dgm:alg>
                          </dgm:if>
                          <dgm:else name="Name379">
                            <dgm:alg type="cycle">
                              <dgm:param type="ctrShpMap" val="fNode"/>
                              <dgm:param type="stAng" val="0"/>
                              <dgm:param type="spanAng" val="-360"/>
                            </dgm:alg>
                          </dgm:else>
                        </dgm:choose>
                      </dgm:if>
                      <dgm:if name="Name380" axis="ch" ptType="node" func="cnt" op="gte" val="7">
                        <dgm:choose name="Name381">
                          <dgm:if name="Name382" axis="ch ch" ptType="node node" st="5 1" cnt="1 0" func="cnt" op="equ" val="1">
                            <dgm:alg type="cycle">
                              <dgm:param type="ctrShpMap" val="fNode"/>
                              <dgm:param type="stAng" val="154"/>
                            </dgm:alg>
                          </dgm:if>
                          <dgm:if name="Name383" axis="ch ch" ptType="node node" st="5 1" cnt="1 0" func="cnt" op="equ" val="2">
                            <dgm:alg type="cycle">
                              <dgm:param type="ctrShpMap" val="fNode"/>
                              <dgm:param type="stAng" val="199"/>
                              <dgm:param type="spanAng" val="-90"/>
                            </dgm:alg>
                          </dgm:if>
                          <dgm:else name="Name384">
                            <dgm:alg type="cycle">
                              <dgm:param type="ctrShpMap" val="fNode"/>
                              <dgm:param type="stAng" val="0"/>
                              <dgm:param type="spanAng" val="-360"/>
                            </dgm:alg>
                          </dgm:else>
                        </dgm:choose>
                      </dgm:if>
                      <dgm:else name="Name385"/>
                    </dgm:choose>
                  </dgm:else>
                </dgm:choose>
                <dgm:shape xmlns:r="http://schemas.openxmlformats.org/officeDocument/2006/relationships" r:blip="">
                  <dgm:adjLst/>
                </dgm:shape>
                <dgm:presOf/>
                <dgm:constrLst>
                  <dgm:constr type="sp" refType="w" fact="0.1"/>
                  <dgm:constr type="sibSp" refType="w" fact="0.1"/>
                </dgm:constrLst>
                <dgm:forEach name="Name386" axis="ch" ptType="node" st="5" cnt="1">
                  <dgm:layoutNode name="childCenter5"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387" axis="ch">
                    <dgm:forEach name="Name388" axis="self" ptType="parTrans">
                      <dgm:layoutNode name="Name389">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390" axis="self" ptType="node">
                      <dgm:layoutNode name="text5"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391" axis="ch" ptType="parTrans" st="5" cnt="1">
                <dgm:layoutNode name="Name392">
                  <dgm:alg type="conn">
                    <dgm:param type="dim" val="1D"/>
                    <dgm:param type="begPts" val="auto"/>
                    <dgm:param type="endPts" val="auto"/>
                    <dgm:param type="endSty" val="noArr"/>
                    <dgm:param type="srcNode" val="textCenter"/>
                    <dgm:param type="dstNode" val="childCenter5"/>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393"/>
          </dgm:choose>
          <dgm:choose name="Name394">
            <dgm:if name="Name395" axis="ch" ptType="node" func="cnt" op="gte" val="6">
              <dgm:layoutNode name="cycle_6">
                <dgm:choose name="Name396">
                  <dgm:if name="Name397" func="var" arg="dir" op="equ" val="norm">
                    <dgm:choose name="Name398">
                      <dgm:if name="Name399" axis="ch" ptType="node" func="cnt" op="equ" val="6">
                        <dgm:choose name="Name400">
                          <dgm:if name="Name401" axis="ch ch" ptType="node node" st="6 1" cnt="1 0" func="cnt" op="equ" val="1">
                            <dgm:alg type="cycle">
                              <dgm:param type="ctrShpMap" val="fNode"/>
                              <dgm:param type="stAng" val="300"/>
                            </dgm:alg>
                          </dgm:if>
                          <dgm:if name="Name402" axis="ch ch" ptType="node node" st="6 1" cnt="1 0" func="cnt" op="equ" val="2">
                            <dgm:alg type="cycle">
                              <dgm:param type="ctrShpMap" val="fNode"/>
                              <dgm:param type="stAng" val="255"/>
                              <dgm:param type="spanAng" val="90"/>
                            </dgm:alg>
                          </dgm:if>
                          <dgm:else name="Name403">
                            <dgm:alg type="cycle">
                              <dgm:param type="ctrShpMap" val="fNode"/>
                              <dgm:param type="stAng" val="0"/>
                              <dgm:param type="spanAng" val="360"/>
                            </dgm:alg>
                          </dgm:else>
                        </dgm:choose>
                      </dgm:if>
                      <dgm:if name="Name404" axis="ch" ptType="node" func="cnt" op="gte" val="7">
                        <dgm:choose name="Name405">
                          <dgm:if name="Name406" axis="ch ch" ptType="node node" st="6 1" cnt="1 0" func="cnt" op="equ" val="1">
                            <dgm:alg type="cycle">
                              <dgm:param type="ctrShpMap" val="fNode"/>
                              <dgm:param type="stAng" val="257"/>
                            </dgm:alg>
                          </dgm:if>
                          <dgm:if name="Name407" axis="ch ch" ptType="node node" st="6 1" cnt="1 0" func="cnt" op="equ" val="2">
                            <dgm:alg type="cycle">
                              <dgm:param type="ctrShpMap" val="fNode"/>
                              <dgm:param type="stAng" val="212"/>
                              <dgm:param type="spanAng" val="90"/>
                            </dgm:alg>
                          </dgm:if>
                          <dgm:else name="Name408">
                            <dgm:alg type="cycle">
                              <dgm:param type="ctrShpMap" val="fNode"/>
                              <dgm:param type="stAng" val="0"/>
                              <dgm:param type="spanAng" val="360"/>
                            </dgm:alg>
                          </dgm:else>
                        </dgm:choose>
                      </dgm:if>
                      <dgm:else name="Name409"/>
                    </dgm:choose>
                  </dgm:if>
                  <dgm:else name="Name410">
                    <dgm:choose name="Name411">
                      <dgm:if name="Name412" axis="ch" ptType="node" func="cnt" op="equ" val="6">
                        <dgm:choose name="Name413">
                          <dgm:if name="Name414" axis="ch ch" ptType="node node" st="6 1" cnt="1 0" func="cnt" op="equ" val="1">
                            <dgm:alg type="cycle">
                              <dgm:param type="ctrShpMap" val="fNode"/>
                              <dgm:param type="stAng" val="60"/>
                            </dgm:alg>
                          </dgm:if>
                          <dgm:if name="Name415" axis="ch ch" ptType="node node" st="6 1" cnt="1 0" func="cnt" op="equ" val="2">
                            <dgm:alg type="cycle">
                              <dgm:param type="ctrShpMap" val="fNode"/>
                              <dgm:param type="stAng" val="105"/>
                              <dgm:param type="spanAng" val="-90"/>
                            </dgm:alg>
                          </dgm:if>
                          <dgm:else name="Name416">
                            <dgm:alg type="cycle">
                              <dgm:param type="ctrShpMap" val="fNode"/>
                              <dgm:param type="stAng" val="0"/>
                              <dgm:param type="spanAng" val="-360"/>
                            </dgm:alg>
                          </dgm:else>
                        </dgm:choose>
                      </dgm:if>
                      <dgm:if name="Name417" axis="ch" ptType="node" func="cnt" op="gte" val="7">
                        <dgm:choose name="Name418">
                          <dgm:if name="Name419" axis="ch ch" ptType="node node" st="6 1" cnt="1 0" func="cnt" op="equ" val="1">
                            <dgm:alg type="cycle">
                              <dgm:param type="ctrShpMap" val="fNode"/>
                              <dgm:param type="stAng" val="102"/>
                            </dgm:alg>
                          </dgm:if>
                          <dgm:if name="Name420" axis="ch ch" ptType="node node" st="6 1" cnt="1 0" func="cnt" op="equ" val="2">
                            <dgm:alg type="cycle">
                              <dgm:param type="ctrShpMap" val="fNode"/>
                              <dgm:param type="stAng" val="147"/>
                              <dgm:param type="spanAng" val="-90"/>
                            </dgm:alg>
                          </dgm:if>
                          <dgm:else name="Name421">
                            <dgm:alg type="cycle">
                              <dgm:param type="ctrShpMap" val="fNode"/>
                              <dgm:param type="stAng" val="0"/>
                              <dgm:param type="spanAng" val="-360"/>
                            </dgm:alg>
                          </dgm:else>
                        </dgm:choose>
                      </dgm:if>
                      <dgm:else name="Name422"/>
                    </dgm:choose>
                  </dgm:else>
                </dgm:choose>
                <dgm:shape xmlns:r="http://schemas.openxmlformats.org/officeDocument/2006/relationships" r:blip="">
                  <dgm:adjLst/>
                </dgm:shape>
                <dgm:presOf/>
                <dgm:constrLst>
                  <dgm:constr type="sp" refType="w" fact="0.1"/>
                  <dgm:constr type="sibSp" refType="w" fact="0.1"/>
                </dgm:constrLst>
                <dgm:forEach name="Name423" axis="ch" ptType="node" st="6" cnt="1">
                  <dgm:layoutNode name="childCenter6"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424" axis="ch">
                    <dgm:forEach name="Name425" axis="self" ptType="parTrans">
                      <dgm:layoutNode name="Name426">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427" axis="self" ptType="node">
                      <dgm:layoutNode name="text6"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428" axis="ch" ptType="parTrans" st="6" cnt="1">
                <dgm:layoutNode name="Name429">
                  <dgm:alg type="conn">
                    <dgm:param type="dim" val="1D"/>
                    <dgm:param type="begPts" val="auto"/>
                    <dgm:param type="endPts" val="auto"/>
                    <dgm:param type="endSty" val="noArr"/>
                    <dgm:param type="srcNode" val="textCenter"/>
                    <dgm:param type="dstNode" val="childCenter6"/>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430"/>
          </dgm:choose>
          <dgm:choose name="Name431">
            <dgm:if name="Name432" axis="ch" ptType="node" func="cnt" op="gte" val="7">
              <dgm:layoutNode name="cycle_7">
                <dgm:choose name="Name433">
                  <dgm:if name="Name434" func="var" arg="dir" op="equ" val="norm">
                    <dgm:choose name="Name435">
                      <dgm:if name="Name436" axis="ch" ptType="node" func="cnt" op="gte" val="7">
                        <dgm:choose name="Name437">
                          <dgm:if name="Name438" axis="ch ch" ptType="node node" st="7 1" cnt="1 0" func="cnt" op="equ" val="1">
                            <dgm:alg type="cycle">
                              <dgm:param type="ctrShpMap" val="fNode"/>
                              <dgm:param type="stAng" val="308"/>
                            </dgm:alg>
                          </dgm:if>
                          <dgm:if name="Name439" axis="ch ch" ptType="node node" st="7 1" cnt="1 0" func="cnt" op="equ" val="2">
                            <dgm:alg type="cycle">
                              <dgm:param type="ctrShpMap" val="fNode"/>
                              <dgm:param type="stAng" val="263"/>
                              <dgm:param type="spanAng" val="90"/>
                            </dgm:alg>
                          </dgm:if>
                          <dgm:else name="Name440">
                            <dgm:alg type="cycle">
                              <dgm:param type="ctrShpMap" val="fNode"/>
                              <dgm:param type="stAng" val="0"/>
                              <dgm:param type="spanAng" val="360"/>
                            </dgm:alg>
                          </dgm:else>
                        </dgm:choose>
                      </dgm:if>
                      <dgm:else name="Name441"/>
                    </dgm:choose>
                  </dgm:if>
                  <dgm:else name="Name442">
                    <dgm:choose name="Name443">
                      <dgm:if name="Name444" axis="ch" ptType="node" func="cnt" op="gte" val="7">
                        <dgm:choose name="Name445">
                          <dgm:if name="Name446" axis="ch ch" ptType="node node" st="7 1" cnt="1 0" func="cnt" op="equ" val="1">
                            <dgm:alg type="cycle">
                              <dgm:param type="ctrShpMap" val="fNode"/>
                              <dgm:param type="stAng" val="51"/>
                            </dgm:alg>
                          </dgm:if>
                          <dgm:if name="Name447" axis="ch ch" ptType="node node" st="7 1" cnt="1 0" func="cnt" op="equ" val="2">
                            <dgm:alg type="cycle">
                              <dgm:param type="ctrShpMap" val="fNode"/>
                              <dgm:param type="stAng" val="96"/>
                              <dgm:param type="spanAng" val="-90"/>
                            </dgm:alg>
                          </dgm:if>
                          <dgm:else name="Name448">
                            <dgm:alg type="cycle">
                              <dgm:param type="ctrShpMap" val="fNode"/>
                              <dgm:param type="stAng" val="0"/>
                              <dgm:param type="spanAng" val="-360"/>
                            </dgm:alg>
                          </dgm:else>
                        </dgm:choose>
                      </dgm:if>
                      <dgm:else name="Name449"/>
                    </dgm:choose>
                  </dgm:else>
                </dgm:choose>
                <dgm:shape xmlns:r="http://schemas.openxmlformats.org/officeDocument/2006/relationships" r:blip="">
                  <dgm:adjLst/>
                </dgm:shape>
                <dgm:presOf/>
                <dgm:constrLst>
                  <dgm:constr type="sp" refType="w" fact="0.1"/>
                  <dgm:constr type="sibSp" refType="w" fact="0.1"/>
                </dgm:constrLst>
                <dgm:forEach name="Name450" axis="ch" ptType="node" st="7" cnt="1">
                  <dgm:layoutNode name="childCenter7"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451" axis="ch">
                    <dgm:forEach name="Name452" axis="self" ptType="parTrans">
                      <dgm:layoutNode name="Name453">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454" axis="self" ptType="node">
                      <dgm:layoutNode name="text7"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455" axis="ch" ptType="parTrans" st="7" cnt="1">
                <dgm:layoutNode name="Name456">
                  <dgm:alg type="conn">
                    <dgm:param type="dim" val="1D"/>
                    <dgm:param type="begPts" val="auto"/>
                    <dgm:param type="endPts" val="auto"/>
                    <dgm:param type="endSty" val="noArr"/>
                    <dgm:param type="srcNode" val="textCenter"/>
                    <dgm:param type="dstNode" val="childCenter7"/>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45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radial5">
  <dgm:title val=""/>
  <dgm:desc val=""/>
  <dgm:catLst>
    <dgm:cat type="relationship" pri="23000"/>
    <dgm:cat type="cycle" pri="1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alg type="cycle">
          <dgm:param type="stAng" val="0"/>
          <dgm:param type="spanAng" val="360"/>
          <dgm:param type="ctrShpMap" val="fNode"/>
        </dgm:alg>
      </dgm:if>
      <dgm:else name="Name3">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parTrans" refType="w" refFor="ch" refForName="centerShape" fact="0.4"/>
      <dgm:constr type="w" for="ch" forName="node" refType="w" refFor="ch" refForName="centerShape" op="equ" fact="1.25"/>
      <dgm:constr type="sp" refType="w" refFor="ch" refForName="centerShape" op="equ" fact="0.4"/>
      <dgm:constr type="sibSp" refType="w" refFor="ch" refForName="node" fact="0.3"/>
      <dgm:constr type="primFontSz" for="ch" forName="centerShape" val="65"/>
      <dgm:constr type="primFontSz" for="des" forName="node" op="equ" val="65"/>
      <dgm:constr type="primFontSz" for="des" forName="node" refType="primFontSz" refFor="ch" refForName="centerShape" op="lte"/>
      <dgm:constr type="primFontSz" for="des" forName="connectorText" op="equ" val="55"/>
      <dgm:constr type="primFontSz" for="des" forName="connectorText" refType="primFontSz" refFor="ch" refForName="centerShape" op="lte" fact="0.8"/>
      <dgm:constr type="primFontSz" for="des" forName="connectorText" refType="primFontSz" refFor="des" refForName="node" op="lte"/>
    </dgm:constrLst>
    <dgm:choose name="Name4">
      <dgm:if name="Name5" axis="ch ch" ptType="node node" st="1 1" cnt="1 0" func="cnt" op="lte" val="6">
        <dgm:ruleLst>
          <dgm:rule type="w" for="ch" forName="node" val="NaN" fact="1" max="NaN"/>
        </dgm:ruleLst>
      </dgm:if>
      <dgm:if name="Name6" axis="ch ch" ptType="node node" st="1 1" cnt="1 0" func="cnt" op="lte" val="8">
        <dgm:ruleLst>
          <dgm:rule type="w" for="ch" forName="node" val="NaN" fact="0.9" max="NaN"/>
        </dgm:ruleLst>
      </dgm:if>
      <dgm:if name="Name7" axis="ch ch" ptType="node node" st="1 1" cnt="1 0" func="cnt" op="lte" val="10">
        <dgm:ruleLst>
          <dgm:rule type="w" for="ch" forName="node" val="NaN" fact="0.8" max="NaN"/>
        </dgm:ruleLst>
      </dgm:if>
      <dgm:if name="Name8" axis="ch ch" ptType="node node" st="1 1" cnt="1 0" func="cnt" op="lte" val="12">
        <dgm:ruleLst>
          <dgm:rule type="w" for="ch" forName="node" val="NaN" fact="0.7" max="NaN"/>
        </dgm:ruleLst>
      </dgm:if>
      <dgm:if name="Name9" axis="ch ch" ptType="node node" st="1 1" cnt="1 0" func="cnt" op="lte" val="14">
        <dgm:ruleLst>
          <dgm:rule type="w" for="ch" forName="node" val="NaN" fact="0.6" max="NaN"/>
        </dgm:ruleLst>
      </dgm:if>
      <dgm:else name="Name10">
        <dgm:ruleLst>
          <dgm:rule type="w" for="ch" forName="node" val="NaN" fact="0.5" max="NaN"/>
        </dgm:ruleLst>
      </dgm:else>
    </dgm:choose>
    <dgm:forEach name="Name11"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12" axis="ch">
        <dgm:forEach name="Name13" axis="self" ptType="parTrans">
          <dgm:layoutNode name="parTrans" styleLbl="sibTrans2D1">
            <dgm:alg type="conn">
              <dgm:param type="begPts" val="auto"/>
              <dgm:param type="endPts" val="auto"/>
            </dgm:alg>
            <dgm:shape xmlns:r="http://schemas.openxmlformats.org/officeDocument/2006/relationships" type="conn" r:blip="">
              <dgm:adjLst/>
            </dgm:shape>
            <dgm:presOf axis="self"/>
            <dgm:constrLst>
              <dgm:constr type="h" refType="w" fact="0.85"/>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name="Name14"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w" val="INF" fact="NaN" max="NaN"/>
              <dgm:rule type="primFontSz" val="5" fact="NaN" max="NaN"/>
            </dgm:ruleLst>
          </dgm:layoutNode>
        </dgm:forEach>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E65679A-E375-4F9F-9E1F-719E36B4654C}" type="datetimeFigureOut">
              <a:rPr lang="fr-FR" smtClean="0"/>
              <a:t>27/01/2023</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EE084AE-0529-463D-B529-2E18D169A571}" type="slidenum">
              <a:rPr lang="fr-FR" smtClean="0"/>
              <a:t>‹N°›</a:t>
            </a:fld>
            <a:endParaRPr lang="fr-FR"/>
          </a:p>
        </p:txBody>
      </p:sp>
    </p:spTree>
    <p:extLst>
      <p:ext uri="{BB962C8B-B14F-4D97-AF65-F5344CB8AC3E}">
        <p14:creationId xmlns:p14="http://schemas.microsoft.com/office/powerpoint/2010/main" val="26057475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Selon </a:t>
            </a:r>
            <a:r>
              <a:rPr lang="fr-FR" dirty="0" err="1"/>
              <a:t>Wikipedia</a:t>
            </a:r>
            <a:r>
              <a:rPr lang="fr-FR" dirty="0"/>
              <a:t>, le Big Data peut </a:t>
            </a:r>
            <a:r>
              <a:rPr lang="fr-FR" dirty="0" err="1"/>
              <a:t>etre</a:t>
            </a:r>
            <a:r>
              <a:rPr lang="fr-FR" dirty="0"/>
              <a:t> </a:t>
            </a:r>
            <a:r>
              <a:rPr lang="fr-FR" dirty="0" err="1"/>
              <a:t>definir</a:t>
            </a:r>
            <a:r>
              <a:rPr lang="fr-FR" dirty="0"/>
              <a:t> comme les ensembles de données qui deviennent tellement volumineux qu’il </a:t>
            </a:r>
            <a:r>
              <a:rPr lang="fr-FR" dirty="0" smtClean="0"/>
              <a:t>en deviennent </a:t>
            </a:r>
            <a:r>
              <a:rPr lang="fr-FR" dirty="0"/>
              <a:t>difficiles à travailler avec des outils classiques de gestion de base de données</a:t>
            </a:r>
            <a:r>
              <a:rPr lang="fr-FR" dirty="0" smtClean="0"/>
              <a:t>.</a:t>
            </a:r>
          </a:p>
          <a:p>
            <a:r>
              <a:rPr lang="fr-FR" sz="1200" b="0" i="0" kern="1200" dirty="0" smtClean="0">
                <a:solidFill>
                  <a:schemeClr val="tx1"/>
                </a:solidFill>
                <a:effectLst/>
                <a:latin typeface="+mn-lt"/>
                <a:ea typeface="+mn-ea"/>
                <a:cs typeface="+mn-cs"/>
              </a:rPr>
              <a:t>La génomique est la </a:t>
            </a:r>
            <a:r>
              <a:rPr lang="fr-FR" sz="1200" b="1" i="0" kern="1200" dirty="0" smtClean="0">
                <a:solidFill>
                  <a:schemeClr val="tx1"/>
                </a:solidFill>
                <a:effectLst/>
                <a:latin typeface="+mn-lt"/>
                <a:ea typeface="+mn-ea"/>
                <a:cs typeface="+mn-cs"/>
              </a:rPr>
              <a:t>science qui étudie le génome</a:t>
            </a:r>
            <a:r>
              <a:rPr lang="fr-FR" sz="1200" b="0" i="0" kern="1200" dirty="0" smtClean="0">
                <a:solidFill>
                  <a:schemeClr val="tx1"/>
                </a:solidFill>
                <a:effectLst/>
                <a:latin typeface="+mn-lt"/>
                <a:ea typeface="+mn-ea"/>
                <a:cs typeface="+mn-cs"/>
              </a:rPr>
              <a:t>.</a:t>
            </a:r>
            <a:endParaRPr lang="fr-FR" dirty="0"/>
          </a:p>
        </p:txBody>
      </p:sp>
      <p:sp>
        <p:nvSpPr>
          <p:cNvPr id="4" name="Espace réservé du numéro de diapositive 3"/>
          <p:cNvSpPr>
            <a:spLocks noGrp="1"/>
          </p:cNvSpPr>
          <p:nvPr>
            <p:ph type="sldNum" sz="quarter" idx="5"/>
          </p:nvPr>
        </p:nvSpPr>
        <p:spPr/>
        <p:txBody>
          <a:bodyPr/>
          <a:lstStyle/>
          <a:p>
            <a:fld id="{4EE084AE-0529-463D-B529-2E18D169A571}" type="slidenum">
              <a:rPr lang="fr-FR" smtClean="0"/>
              <a:t>4</a:t>
            </a:fld>
            <a:endParaRPr lang="fr-FR"/>
          </a:p>
        </p:txBody>
      </p:sp>
    </p:spTree>
    <p:extLst>
      <p:ext uri="{BB962C8B-B14F-4D97-AF65-F5344CB8AC3E}">
        <p14:creationId xmlns:p14="http://schemas.microsoft.com/office/powerpoint/2010/main" val="280457734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b="0" i="0" dirty="0">
                <a:solidFill>
                  <a:srgbClr val="161513"/>
                </a:solidFill>
                <a:effectLst/>
                <a:latin typeface="OracleSansVF"/>
              </a:rPr>
              <a:t>Le Big Data offre de nouvelles perspectives, qui ouvrent de nouvelles opportunités et favorisent de nouveaux business modèle.</a:t>
            </a:r>
          </a:p>
          <a:p>
            <a:r>
              <a:rPr lang="fr-FR" b="0" i="0" dirty="0">
                <a:solidFill>
                  <a:srgbClr val="161513"/>
                </a:solidFill>
                <a:effectLst/>
                <a:latin typeface="OracleSansVF"/>
              </a:rPr>
              <a:t>Pour une Entreprise l’investissement dans le Big Data porte ses fruits dès lors qu’elle est en mesure d’analyser ses données et d’agir à partir de l’analyse.</a:t>
            </a:r>
            <a:endParaRPr lang="fr-FR" dirty="0"/>
          </a:p>
        </p:txBody>
      </p:sp>
      <p:sp>
        <p:nvSpPr>
          <p:cNvPr id="4" name="Espace réservé du numéro de diapositive 3"/>
          <p:cNvSpPr>
            <a:spLocks noGrp="1"/>
          </p:cNvSpPr>
          <p:nvPr>
            <p:ph type="sldNum" sz="quarter" idx="5"/>
          </p:nvPr>
        </p:nvSpPr>
        <p:spPr/>
        <p:txBody>
          <a:bodyPr/>
          <a:lstStyle/>
          <a:p>
            <a:fld id="{4EE084AE-0529-463D-B529-2E18D169A571}" type="slidenum">
              <a:rPr lang="fr-FR" smtClean="0"/>
              <a:t>5</a:t>
            </a:fld>
            <a:endParaRPr lang="fr-FR"/>
          </a:p>
        </p:txBody>
      </p:sp>
    </p:spTree>
    <p:extLst>
      <p:ext uri="{BB962C8B-B14F-4D97-AF65-F5344CB8AC3E}">
        <p14:creationId xmlns:p14="http://schemas.microsoft.com/office/powerpoint/2010/main" val="5394007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 Très volumineux » dans ce contexte signifie des fichiers d'une taille de centaines de mégaoctets, de </a:t>
            </a:r>
            <a:r>
              <a:rPr lang="fr-FR" dirty="0" err="1"/>
              <a:t>gigaoctets</a:t>
            </a:r>
            <a:r>
              <a:rPr lang="fr-FR" dirty="0"/>
              <a:t> ou de téraoctets. Il existe aujourd'hui des clusters Hadoop qui stockent des pétaoctets de données.†</a:t>
            </a:r>
          </a:p>
        </p:txBody>
      </p:sp>
      <p:sp>
        <p:nvSpPr>
          <p:cNvPr id="4" name="Espace réservé du numéro de diapositive 3"/>
          <p:cNvSpPr>
            <a:spLocks noGrp="1"/>
          </p:cNvSpPr>
          <p:nvPr>
            <p:ph type="sldNum" sz="quarter" idx="5"/>
          </p:nvPr>
        </p:nvSpPr>
        <p:spPr/>
        <p:txBody>
          <a:bodyPr/>
          <a:lstStyle/>
          <a:p>
            <a:fld id="{4EE084AE-0529-463D-B529-2E18D169A571}" type="slidenum">
              <a:rPr lang="fr-FR" smtClean="0"/>
              <a:t>10</a:t>
            </a:fld>
            <a:endParaRPr lang="fr-FR"/>
          </a:p>
        </p:txBody>
      </p:sp>
    </p:spTree>
    <p:extLst>
      <p:ext uri="{BB962C8B-B14F-4D97-AF65-F5344CB8AC3E}">
        <p14:creationId xmlns:p14="http://schemas.microsoft.com/office/powerpoint/2010/main" val="423697532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Comme le montre la figure , l'architecture de HDFS se compose d'un nœud de nom et d'un ensemble de nœuds de données. Le nœud de nom gère l'espace de noms du système de fichiers, régule l'accès aux fichiers et exécute également certaines opérations du système de fichiers telles que le renommage, la fermeture, etc. Le nœud de données effectue des opérations de lecture-écriture sur les données réelles stockées dans chaque nœud et effectue également des opérations telles que la création, la suppression et la réplication de blocs selon les instructions du nœud de nom.</a:t>
            </a:r>
          </a:p>
          <a:p>
            <a:endParaRPr lang="fr-FR" dirty="0"/>
          </a:p>
          <a:p>
            <a:r>
              <a:rPr lang="fr-FR" dirty="0"/>
              <a:t>Les données dans HDFS sont vues sous forme de fichiers et automatiquement partitionnées et répliquées au sein du cluster. La capacité de stockage pour HDFS augmente presque linéairement en ajoutant de nouveaux nœuds de données dans le cluster. HDFS fournit également un équilibreur automatisé pour améliorer l'utilisation du stockage en cluster. De plus, les versions récentes de HDFS ont introduit un nœud de sauvegarde pour résoudre le problème causé par la défaillance d'un seul nœud du nœud de nom principal.</a:t>
            </a:r>
          </a:p>
        </p:txBody>
      </p:sp>
      <p:sp>
        <p:nvSpPr>
          <p:cNvPr id="4" name="Espace réservé du numéro de diapositive 3"/>
          <p:cNvSpPr>
            <a:spLocks noGrp="1"/>
          </p:cNvSpPr>
          <p:nvPr>
            <p:ph type="sldNum" sz="quarter" idx="5"/>
          </p:nvPr>
        </p:nvSpPr>
        <p:spPr/>
        <p:txBody>
          <a:bodyPr/>
          <a:lstStyle/>
          <a:p>
            <a:fld id="{4EE084AE-0529-463D-B529-2E18D169A571}" type="slidenum">
              <a:rPr lang="fr-FR" smtClean="0"/>
              <a:t>11</a:t>
            </a:fld>
            <a:endParaRPr lang="fr-FR"/>
          </a:p>
        </p:txBody>
      </p:sp>
    </p:spTree>
    <p:extLst>
      <p:ext uri="{BB962C8B-B14F-4D97-AF65-F5344CB8AC3E}">
        <p14:creationId xmlns:p14="http://schemas.microsoft.com/office/powerpoint/2010/main" val="366653456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sz="1800" dirty="0">
                <a:solidFill>
                  <a:srgbClr val="312F2F"/>
                </a:solidFill>
                <a:effectLst/>
                <a:latin typeface="Times New Roman" panose="02020603050405020304" pitchFamily="18" charset="0"/>
                <a:ea typeface="Calibri" panose="020F0502020204030204" pitchFamily="34" charset="0"/>
              </a:rPr>
              <a:t>No SQL est une autre technologie largement utilisée pour gérer les Big Data, principalement des données non structurées. Il offre essentiellement de la flexibilité et de l'évolutivité. </a:t>
            </a:r>
            <a:endParaRPr lang="fr-FR" dirty="0"/>
          </a:p>
          <a:p>
            <a:endParaRPr lang="fr-FR" dirty="0"/>
          </a:p>
          <a:p>
            <a:r>
              <a:rPr lang="fr-FR" dirty="0"/>
              <a:t>Le NoSQL </a:t>
            </a:r>
            <a:r>
              <a:rPr lang="fr-FR" sz="1800" dirty="0">
                <a:effectLst/>
                <a:latin typeface="Calibri" panose="020F0502020204030204" pitchFamily="34" charset="0"/>
                <a:ea typeface="Calibri" panose="020F0502020204030204" pitchFamily="34" charset="0"/>
                <a:cs typeface="Times New Roman" panose="02020603050405020304" pitchFamily="18" charset="0"/>
              </a:rPr>
              <a:t>est conçu pour couvrir certains des inconvénients du système de gestion de bases de données relationnelles, en particulier lorsqu'il s'agit de données volumineuses à haute variabilité.</a:t>
            </a:r>
          </a:p>
          <a:p>
            <a:r>
              <a:rPr lang="fr-FR" sz="1800" dirty="0">
                <a:solidFill>
                  <a:srgbClr val="312F2F"/>
                </a:solidFill>
                <a:effectLst/>
                <a:latin typeface="Times New Roman" panose="02020603050405020304" pitchFamily="18" charset="0"/>
                <a:ea typeface="Calibri" panose="020F0502020204030204" pitchFamily="34" charset="0"/>
              </a:rPr>
              <a:t>SQL (</a:t>
            </a:r>
            <a:r>
              <a:rPr lang="fr-FR" sz="1800" dirty="0" err="1">
                <a:solidFill>
                  <a:srgbClr val="312F2F"/>
                </a:solidFill>
                <a:effectLst/>
                <a:latin typeface="Times New Roman" panose="02020603050405020304" pitchFamily="18" charset="0"/>
                <a:ea typeface="Calibri" panose="020F0502020204030204" pitchFamily="34" charset="0"/>
              </a:rPr>
              <a:t>Structured</a:t>
            </a:r>
            <a:r>
              <a:rPr lang="fr-FR" sz="1800" dirty="0">
                <a:solidFill>
                  <a:srgbClr val="312F2F"/>
                </a:solidFill>
                <a:effectLst/>
                <a:latin typeface="Times New Roman" panose="02020603050405020304" pitchFamily="18" charset="0"/>
                <a:ea typeface="Calibri" panose="020F0502020204030204" pitchFamily="34" charset="0"/>
              </a:rPr>
              <a:t> </a:t>
            </a:r>
            <a:r>
              <a:rPr lang="fr-FR" sz="1800" dirty="0" err="1">
                <a:solidFill>
                  <a:srgbClr val="312F2F"/>
                </a:solidFill>
                <a:effectLst/>
                <a:latin typeface="Times New Roman" panose="02020603050405020304" pitchFamily="18" charset="0"/>
                <a:ea typeface="Calibri" panose="020F0502020204030204" pitchFamily="34" charset="0"/>
              </a:rPr>
              <a:t>Query</a:t>
            </a:r>
            <a:r>
              <a:rPr lang="fr-FR" sz="1800" dirty="0">
                <a:solidFill>
                  <a:srgbClr val="312F2F"/>
                </a:solidFill>
                <a:effectLst/>
                <a:latin typeface="Times New Roman" panose="02020603050405020304" pitchFamily="18" charset="0"/>
                <a:ea typeface="Calibri" panose="020F0502020204030204" pitchFamily="34" charset="0"/>
              </a:rPr>
              <a:t> </a:t>
            </a:r>
            <a:r>
              <a:rPr lang="fr-FR" sz="1800" dirty="0" err="1">
                <a:solidFill>
                  <a:srgbClr val="312F2F"/>
                </a:solidFill>
                <a:effectLst/>
                <a:latin typeface="Times New Roman" panose="02020603050405020304" pitchFamily="18" charset="0"/>
                <a:ea typeface="Calibri" panose="020F0502020204030204" pitchFamily="34" charset="0"/>
              </a:rPr>
              <a:t>Language</a:t>
            </a:r>
            <a:r>
              <a:rPr lang="fr-FR" sz="1800" dirty="0">
                <a:solidFill>
                  <a:srgbClr val="312F2F"/>
                </a:solidFill>
                <a:effectLst/>
                <a:latin typeface="Times New Roman" panose="02020603050405020304" pitchFamily="18" charset="0"/>
                <a:ea typeface="Calibri" panose="020F0502020204030204" pitchFamily="34" charset="0"/>
              </a:rPr>
              <a:t>) est le standard utilisé par les fournisseurs de bases de données relationnelles, mais il n'existe pas de langage de requête standard articulé pour les bases de données NoSQL. Cela peut être considéré comme un inconvénient de cette technique de stockage.</a:t>
            </a:r>
            <a:endParaRPr lang="fr-FR" dirty="0"/>
          </a:p>
        </p:txBody>
      </p:sp>
      <p:sp>
        <p:nvSpPr>
          <p:cNvPr id="4" name="Espace réservé du numéro de diapositive 3"/>
          <p:cNvSpPr>
            <a:spLocks noGrp="1"/>
          </p:cNvSpPr>
          <p:nvPr>
            <p:ph type="sldNum" sz="quarter" idx="5"/>
          </p:nvPr>
        </p:nvSpPr>
        <p:spPr/>
        <p:txBody>
          <a:bodyPr/>
          <a:lstStyle/>
          <a:p>
            <a:fld id="{4EE084AE-0529-463D-B529-2E18D169A571}" type="slidenum">
              <a:rPr lang="fr-FR" smtClean="0"/>
              <a:t>12</a:t>
            </a:fld>
            <a:endParaRPr lang="fr-FR"/>
          </a:p>
        </p:txBody>
      </p:sp>
    </p:spTree>
    <p:extLst>
      <p:ext uri="{BB962C8B-B14F-4D97-AF65-F5344CB8AC3E}">
        <p14:creationId xmlns:p14="http://schemas.microsoft.com/office/powerpoint/2010/main" val="118544384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sz="1800" dirty="0">
                <a:solidFill>
                  <a:srgbClr val="312F2F"/>
                </a:solidFill>
                <a:effectLst/>
                <a:latin typeface="Times New Roman" panose="02020603050405020304" pitchFamily="18" charset="0"/>
                <a:ea typeface="Calibri" panose="020F0502020204030204" pitchFamily="34" charset="0"/>
              </a:rPr>
              <a:t>- </a:t>
            </a:r>
            <a:r>
              <a:rPr lang="fr-FR" sz="2800" b="1" i="0" dirty="0">
                <a:solidFill>
                  <a:srgbClr val="4D5156"/>
                </a:solidFill>
                <a:effectLst/>
                <a:latin typeface="arial" panose="020B0604020202020204" pitchFamily="34" charset="0"/>
              </a:rPr>
              <a:t>Une base de données orientée colonnes </a:t>
            </a:r>
            <a:r>
              <a:rPr lang="fr-FR" sz="2800" b="0" i="0" dirty="0">
                <a:solidFill>
                  <a:srgbClr val="4D5156"/>
                </a:solidFill>
                <a:effectLst/>
                <a:latin typeface="arial" panose="020B0604020202020204" pitchFamily="34" charset="0"/>
              </a:rPr>
              <a:t>est une base de données qui </a:t>
            </a:r>
            <a:r>
              <a:rPr lang="fr-FR" sz="2800" b="1" i="0" dirty="0">
                <a:solidFill>
                  <a:srgbClr val="4D5156"/>
                </a:solidFill>
                <a:effectLst/>
                <a:latin typeface="arial" panose="020B0604020202020204" pitchFamily="34" charset="0"/>
              </a:rPr>
              <a:t>stocke les données par colonne </a:t>
            </a:r>
            <a:r>
              <a:rPr lang="fr-FR" sz="2800" b="0" i="0" dirty="0">
                <a:solidFill>
                  <a:srgbClr val="4D5156"/>
                </a:solidFill>
                <a:effectLst/>
                <a:latin typeface="arial" panose="020B0604020202020204" pitchFamily="34" charset="0"/>
              </a:rPr>
              <a:t>et non par ligne. L'orientation colonne permet d'ajouter des colonnes plus facilement aux tables.</a:t>
            </a:r>
            <a:endParaRPr lang="fr-FR" sz="1800" dirty="0">
              <a:solidFill>
                <a:srgbClr val="312F2F"/>
              </a:solidFill>
              <a:effectLst/>
              <a:latin typeface="Times New Roman" panose="02020603050405020304" pitchFamily="18" charset="0"/>
              <a:ea typeface="Calibri" panose="020F0502020204030204" pitchFamily="34" charset="0"/>
            </a:endParaRPr>
          </a:p>
          <a:p>
            <a:endParaRPr lang="fr-FR" sz="2800" b="1" i="0" dirty="0">
              <a:solidFill>
                <a:srgbClr val="4D5156"/>
              </a:solidFill>
              <a:effectLst/>
              <a:latin typeface="arial" panose="020B0604020202020204" pitchFamily="34" charset="0"/>
            </a:endParaRPr>
          </a:p>
          <a:p>
            <a:pPr marL="0" indent="0">
              <a:buFontTx/>
              <a:buNone/>
            </a:pPr>
            <a:r>
              <a:rPr lang="fr-FR" sz="4000" b="0" i="0" dirty="0">
                <a:solidFill>
                  <a:srgbClr val="202124"/>
                </a:solidFill>
                <a:effectLst/>
                <a:latin typeface="arial" panose="020B0604020202020204" pitchFamily="34" charset="0"/>
              </a:rPr>
              <a:t>- Une </a:t>
            </a:r>
            <a:r>
              <a:rPr lang="fr-FR" sz="4000" b="1" i="0" dirty="0">
                <a:solidFill>
                  <a:srgbClr val="202124"/>
                </a:solidFill>
                <a:effectLst/>
                <a:latin typeface="arial" panose="020B0604020202020204" pitchFamily="34" charset="0"/>
              </a:rPr>
              <a:t>base de données clé</a:t>
            </a:r>
            <a:r>
              <a:rPr lang="fr-FR" sz="4000" b="0" i="0" dirty="0">
                <a:solidFill>
                  <a:srgbClr val="202124"/>
                </a:solidFill>
                <a:effectLst/>
                <a:latin typeface="arial" panose="020B0604020202020204" pitchFamily="34" charset="0"/>
              </a:rPr>
              <a:t>-</a:t>
            </a:r>
            <a:r>
              <a:rPr lang="fr-FR" sz="4000" b="1" i="0" dirty="0">
                <a:solidFill>
                  <a:srgbClr val="202124"/>
                </a:solidFill>
                <a:effectLst/>
                <a:latin typeface="arial" panose="020B0604020202020204" pitchFamily="34" charset="0"/>
              </a:rPr>
              <a:t>valeur</a:t>
            </a:r>
            <a:r>
              <a:rPr lang="fr-FR" sz="4000" b="0" i="0" dirty="0">
                <a:solidFill>
                  <a:srgbClr val="202124"/>
                </a:solidFill>
                <a:effectLst/>
                <a:latin typeface="arial" panose="020B0604020202020204" pitchFamily="34" charset="0"/>
              </a:rPr>
              <a:t> est un type de </a:t>
            </a:r>
            <a:r>
              <a:rPr lang="fr-FR" sz="4000" b="1" i="0" dirty="0">
                <a:solidFill>
                  <a:srgbClr val="202124"/>
                </a:solidFill>
                <a:effectLst/>
                <a:latin typeface="arial" panose="020B0604020202020204" pitchFamily="34" charset="0"/>
              </a:rPr>
              <a:t>base de données</a:t>
            </a:r>
            <a:r>
              <a:rPr lang="fr-FR" sz="4000" b="0" i="0" dirty="0">
                <a:solidFill>
                  <a:srgbClr val="202124"/>
                </a:solidFill>
                <a:effectLst/>
                <a:latin typeface="arial" panose="020B0604020202020204" pitchFamily="34" charset="0"/>
              </a:rPr>
              <a:t> non relationnelle qui utilise une méthode </a:t>
            </a:r>
            <a:r>
              <a:rPr lang="fr-FR" sz="4000" b="1" i="0" dirty="0">
                <a:solidFill>
                  <a:srgbClr val="202124"/>
                </a:solidFill>
                <a:effectLst/>
                <a:latin typeface="arial" panose="020B0604020202020204" pitchFamily="34" charset="0"/>
              </a:rPr>
              <a:t>clé</a:t>
            </a:r>
            <a:r>
              <a:rPr lang="fr-FR" sz="4000" b="0" i="0" dirty="0">
                <a:solidFill>
                  <a:srgbClr val="202124"/>
                </a:solidFill>
                <a:effectLst/>
                <a:latin typeface="arial" panose="020B0604020202020204" pitchFamily="34" charset="0"/>
              </a:rPr>
              <a:t>-</a:t>
            </a:r>
            <a:r>
              <a:rPr lang="fr-FR" sz="4000" b="1" i="0" dirty="0">
                <a:solidFill>
                  <a:srgbClr val="202124"/>
                </a:solidFill>
                <a:effectLst/>
                <a:latin typeface="arial" panose="020B0604020202020204" pitchFamily="34" charset="0"/>
              </a:rPr>
              <a:t>valeur</a:t>
            </a:r>
            <a:r>
              <a:rPr lang="fr-FR" sz="4000" b="0" i="0" dirty="0">
                <a:solidFill>
                  <a:srgbClr val="202124"/>
                </a:solidFill>
                <a:effectLst/>
                <a:latin typeface="arial" panose="020B0604020202020204" pitchFamily="34" charset="0"/>
              </a:rPr>
              <a:t> simple pour stocker des </a:t>
            </a:r>
            <a:r>
              <a:rPr lang="fr-FR" sz="4000" b="1" i="0" dirty="0">
                <a:solidFill>
                  <a:srgbClr val="202124"/>
                </a:solidFill>
                <a:effectLst/>
                <a:latin typeface="arial" panose="020B0604020202020204" pitchFamily="34" charset="0"/>
              </a:rPr>
              <a:t>données</a:t>
            </a:r>
            <a:r>
              <a:rPr lang="fr-FR" sz="4000" b="0" i="0" dirty="0">
                <a:solidFill>
                  <a:srgbClr val="202124"/>
                </a:solidFill>
                <a:effectLst/>
                <a:latin typeface="arial" panose="020B0604020202020204" pitchFamily="34" charset="0"/>
              </a:rPr>
              <a:t>. Une </a:t>
            </a:r>
            <a:r>
              <a:rPr lang="fr-FR" sz="4000" b="1" i="0" dirty="0">
                <a:solidFill>
                  <a:srgbClr val="202124"/>
                </a:solidFill>
                <a:effectLst/>
                <a:latin typeface="arial" panose="020B0604020202020204" pitchFamily="34" charset="0"/>
              </a:rPr>
              <a:t>base de données clé</a:t>
            </a:r>
            <a:r>
              <a:rPr lang="fr-FR" sz="4000" b="0" i="0" dirty="0">
                <a:solidFill>
                  <a:srgbClr val="202124"/>
                </a:solidFill>
                <a:effectLst/>
                <a:latin typeface="arial" panose="020B0604020202020204" pitchFamily="34" charset="0"/>
              </a:rPr>
              <a:t>-</a:t>
            </a:r>
            <a:r>
              <a:rPr lang="fr-FR" sz="4000" b="1" i="0" dirty="0">
                <a:solidFill>
                  <a:srgbClr val="202124"/>
                </a:solidFill>
                <a:effectLst/>
                <a:latin typeface="arial" panose="020B0604020202020204" pitchFamily="34" charset="0"/>
              </a:rPr>
              <a:t>valeur</a:t>
            </a:r>
            <a:r>
              <a:rPr lang="fr-FR" sz="4000" b="0" i="0" dirty="0">
                <a:solidFill>
                  <a:srgbClr val="202124"/>
                </a:solidFill>
                <a:effectLst/>
                <a:latin typeface="arial" panose="020B0604020202020204" pitchFamily="34" charset="0"/>
              </a:rPr>
              <a:t> stocke les </a:t>
            </a:r>
            <a:r>
              <a:rPr lang="fr-FR" sz="4000" b="1" i="0" dirty="0">
                <a:solidFill>
                  <a:srgbClr val="202124"/>
                </a:solidFill>
                <a:effectLst/>
                <a:latin typeface="arial" panose="020B0604020202020204" pitchFamily="34" charset="0"/>
              </a:rPr>
              <a:t>données sous forme de paires clé-valeur </a:t>
            </a:r>
            <a:r>
              <a:rPr lang="fr-FR" sz="4000" b="0" i="0" dirty="0">
                <a:solidFill>
                  <a:srgbClr val="202124"/>
                </a:solidFill>
                <a:effectLst/>
                <a:latin typeface="arial" panose="020B0604020202020204" pitchFamily="34" charset="0"/>
              </a:rPr>
              <a:t>dans lesquelles une </a:t>
            </a:r>
            <a:r>
              <a:rPr lang="fr-FR" sz="4000" b="1" i="0" dirty="0">
                <a:solidFill>
                  <a:srgbClr val="202124"/>
                </a:solidFill>
                <a:effectLst/>
                <a:latin typeface="arial" panose="020B0604020202020204" pitchFamily="34" charset="0"/>
              </a:rPr>
              <a:t>clé</a:t>
            </a:r>
            <a:r>
              <a:rPr lang="fr-FR" sz="4000" b="0" i="0" dirty="0">
                <a:solidFill>
                  <a:srgbClr val="202124"/>
                </a:solidFill>
                <a:effectLst/>
                <a:latin typeface="arial" panose="020B0604020202020204" pitchFamily="34" charset="0"/>
              </a:rPr>
              <a:t> sert d'identifiant unique.</a:t>
            </a:r>
          </a:p>
          <a:p>
            <a:pPr marL="457200" indent="-457200">
              <a:buFontTx/>
              <a:buChar char="-"/>
            </a:pPr>
            <a:endParaRPr lang="fr-FR" sz="2800" b="1" i="0" dirty="0">
              <a:solidFill>
                <a:srgbClr val="4D5156"/>
              </a:solidFill>
              <a:effectLst/>
              <a:latin typeface="arial" panose="020B0604020202020204" pitchFamily="34" charset="0"/>
            </a:endParaRPr>
          </a:p>
          <a:p>
            <a:r>
              <a:rPr lang="fr-FR" sz="2800" b="1" i="0" dirty="0">
                <a:solidFill>
                  <a:srgbClr val="4D5156"/>
                </a:solidFill>
                <a:effectLst/>
                <a:latin typeface="arial" panose="020B0604020202020204" pitchFamily="34" charset="0"/>
              </a:rPr>
              <a:t>- B</a:t>
            </a:r>
            <a:r>
              <a:rPr lang="fr-FR" sz="4000" b="1" i="0" dirty="0">
                <a:solidFill>
                  <a:srgbClr val="333333"/>
                </a:solidFill>
                <a:effectLst/>
                <a:latin typeface="AmazonEmber"/>
              </a:rPr>
              <a:t>ase de données orienté documents</a:t>
            </a:r>
            <a:r>
              <a:rPr lang="fr-FR" sz="4000" b="0" i="0" dirty="0">
                <a:solidFill>
                  <a:srgbClr val="333333"/>
                </a:solidFill>
                <a:effectLst/>
                <a:latin typeface="AmazonEmber"/>
              </a:rPr>
              <a:t> est un type de base de données non relationnelle conçu pour stocker et interroger des </a:t>
            </a:r>
            <a:r>
              <a:rPr lang="fr-FR" sz="4000" b="1" i="0" dirty="0">
                <a:solidFill>
                  <a:srgbClr val="333333"/>
                </a:solidFill>
                <a:effectLst/>
                <a:latin typeface="AmazonEmber"/>
              </a:rPr>
              <a:t>données sous forme de documents </a:t>
            </a:r>
            <a:r>
              <a:rPr lang="fr-FR" sz="4000" b="0" i="0" dirty="0">
                <a:solidFill>
                  <a:srgbClr val="333333"/>
                </a:solidFill>
                <a:effectLst/>
                <a:latin typeface="AmazonEmber"/>
              </a:rPr>
              <a:t>de type JSON (</a:t>
            </a:r>
            <a:r>
              <a:rPr lang="fr-FR" sz="5400" b="0" i="0" dirty="0">
                <a:solidFill>
                  <a:srgbClr val="202124"/>
                </a:solidFill>
                <a:effectLst/>
                <a:latin typeface="arial" panose="020B0604020202020204" pitchFamily="34" charset="0"/>
              </a:rPr>
              <a:t>JavaScript Objet Notation)</a:t>
            </a:r>
            <a:r>
              <a:rPr lang="fr-FR" sz="4000" b="0" i="0" dirty="0">
                <a:solidFill>
                  <a:srgbClr val="333333"/>
                </a:solidFill>
                <a:effectLst/>
                <a:latin typeface="AmazonEmber"/>
              </a:rPr>
              <a:t>. Les bases de données de documents permettent aux développeurs de stocker et d'interroger une base de données en utilisant le même format de modèle de document que celui qu'ils utilisent dans leur code d'application.</a:t>
            </a:r>
          </a:p>
          <a:p>
            <a:endParaRPr lang="fr-FR" sz="2800" b="1" i="0" dirty="0">
              <a:solidFill>
                <a:srgbClr val="4D5156"/>
              </a:solidFill>
              <a:effectLst/>
              <a:latin typeface="arial" panose="020B0604020202020204" pitchFamily="34" charset="0"/>
            </a:endParaRPr>
          </a:p>
          <a:p>
            <a:r>
              <a:rPr lang="fr-FR" sz="2800" b="1" i="0" dirty="0">
                <a:solidFill>
                  <a:srgbClr val="4D5156"/>
                </a:solidFill>
                <a:effectLst/>
                <a:latin typeface="arial" panose="020B0604020202020204" pitchFamily="34" charset="0"/>
              </a:rPr>
              <a:t>- Une base de données orientée graphe </a:t>
            </a:r>
            <a:r>
              <a:rPr lang="fr-FR" sz="2800" b="0" i="0" dirty="0">
                <a:solidFill>
                  <a:srgbClr val="4D5156"/>
                </a:solidFill>
                <a:effectLst/>
                <a:latin typeface="arial" panose="020B0604020202020204" pitchFamily="34" charset="0"/>
              </a:rPr>
              <a:t>est une base de données orientée objet utilisant la théorie des graphes, donc avec des nœuds et des arcs, </a:t>
            </a:r>
            <a:r>
              <a:rPr lang="fr-FR" sz="2800" b="1" i="0" dirty="0">
                <a:solidFill>
                  <a:srgbClr val="4D5156"/>
                </a:solidFill>
                <a:effectLst/>
                <a:latin typeface="arial" panose="020B0604020202020204" pitchFamily="34" charset="0"/>
              </a:rPr>
              <a:t>permettant de représenter et stocker les données</a:t>
            </a:r>
            <a:r>
              <a:rPr lang="fr-FR" sz="2800" b="0" i="0" dirty="0">
                <a:solidFill>
                  <a:srgbClr val="4D5156"/>
                </a:solidFill>
                <a:effectLst/>
                <a:latin typeface="arial" panose="020B0604020202020204" pitchFamily="34" charset="0"/>
              </a:rPr>
              <a:t>.</a:t>
            </a:r>
            <a:endParaRPr lang="fr-FR" sz="1800" dirty="0">
              <a:solidFill>
                <a:srgbClr val="312F2F"/>
              </a:solidFill>
              <a:effectLst/>
              <a:latin typeface="Times New Roman" panose="02020603050405020304" pitchFamily="18" charset="0"/>
              <a:ea typeface="Calibri" panose="020F0502020204030204" pitchFamily="34" charset="0"/>
            </a:endParaRPr>
          </a:p>
          <a:p>
            <a:endParaRPr lang="fr-FR" sz="1800" dirty="0">
              <a:solidFill>
                <a:srgbClr val="312F2F"/>
              </a:solidFill>
              <a:effectLst/>
              <a:latin typeface="Times New Roman" panose="02020603050405020304" pitchFamily="18" charset="0"/>
              <a:ea typeface="Calibri" panose="020F0502020204030204" pitchFamily="34" charset="0"/>
            </a:endParaRPr>
          </a:p>
          <a:p>
            <a:endParaRPr lang="fr-FR" sz="1800" dirty="0">
              <a:solidFill>
                <a:srgbClr val="312F2F"/>
              </a:solidFill>
              <a:effectLst/>
              <a:latin typeface="Times New Roman" panose="02020603050405020304" pitchFamily="18" charset="0"/>
              <a:ea typeface="Calibri" panose="020F0502020204030204" pitchFamily="34" charset="0"/>
            </a:endParaRPr>
          </a:p>
          <a:p>
            <a:r>
              <a:rPr lang="fr-FR" sz="1800" dirty="0">
                <a:solidFill>
                  <a:srgbClr val="312F2F"/>
                </a:solidFill>
                <a:effectLst/>
                <a:latin typeface="Times New Roman" panose="02020603050405020304" pitchFamily="18" charset="0"/>
                <a:ea typeface="Calibri" panose="020F0502020204030204" pitchFamily="34" charset="0"/>
              </a:rPr>
              <a:t>De nombreuses bases de données orientées colonnes peuvent être facilement déployées sur MapReduce, donc facilement déployées pour le big data. Il est le plus approprié pour les applications d'exploration de données. </a:t>
            </a:r>
            <a:r>
              <a:rPr lang="fr-FR" sz="1800" b="1" dirty="0">
                <a:solidFill>
                  <a:srgbClr val="312F2F"/>
                </a:solidFill>
                <a:effectLst/>
                <a:latin typeface="Times New Roman" panose="02020603050405020304" pitchFamily="18" charset="0"/>
                <a:ea typeface="Calibri" panose="020F0502020204030204" pitchFamily="34" charset="0"/>
              </a:rPr>
              <a:t>Les bases de données orientées colonnes offrent une meilleure indexation et une meilleure structure de requête que les bases de données clé-valeur [8</a:t>
            </a:r>
            <a:r>
              <a:rPr lang="fr-FR" sz="1800" dirty="0">
                <a:solidFill>
                  <a:srgbClr val="312F2F"/>
                </a:solidFill>
                <a:effectLst/>
                <a:latin typeface="Times New Roman" panose="02020603050405020304" pitchFamily="18" charset="0"/>
                <a:ea typeface="Calibri" panose="020F0502020204030204" pitchFamily="34" charset="0"/>
              </a:rPr>
              <a:t>]</a:t>
            </a:r>
          </a:p>
          <a:p>
            <a:r>
              <a:rPr lang="fr-FR" sz="1800" dirty="0">
                <a:solidFill>
                  <a:srgbClr val="312F2F"/>
                </a:solidFill>
                <a:effectLst/>
                <a:latin typeface="Times New Roman" panose="02020603050405020304" pitchFamily="18" charset="0"/>
                <a:ea typeface="Calibri" panose="020F0502020204030204" pitchFamily="34" charset="0"/>
              </a:rPr>
              <a:t>Exemple: Google </a:t>
            </a:r>
            <a:r>
              <a:rPr lang="fr-FR" sz="1800" dirty="0" err="1">
                <a:solidFill>
                  <a:srgbClr val="312F2F"/>
                </a:solidFill>
                <a:effectLst/>
                <a:latin typeface="Times New Roman" panose="02020603050405020304" pitchFamily="18" charset="0"/>
                <a:ea typeface="Calibri" panose="020F0502020204030204" pitchFamily="34" charset="0"/>
              </a:rPr>
              <a:t>BigTable</a:t>
            </a:r>
            <a:r>
              <a:rPr lang="fr-FR" sz="1800" dirty="0">
                <a:solidFill>
                  <a:srgbClr val="312F2F"/>
                </a:solidFill>
                <a:effectLst/>
                <a:latin typeface="Times New Roman" panose="02020603050405020304" pitchFamily="18" charset="0"/>
                <a:ea typeface="Calibri" panose="020F0502020204030204" pitchFamily="34" charset="0"/>
              </a:rPr>
              <a:t>, HBase, </a:t>
            </a:r>
            <a:r>
              <a:rPr lang="fr-FR" sz="1800" dirty="0" err="1">
                <a:solidFill>
                  <a:srgbClr val="312F2F"/>
                </a:solidFill>
                <a:effectLst/>
                <a:latin typeface="Times New Roman" panose="02020603050405020304" pitchFamily="18" charset="0"/>
                <a:ea typeface="Calibri" panose="020F0502020204030204" pitchFamily="34" charset="0"/>
              </a:rPr>
              <a:t>SciDB</a:t>
            </a:r>
            <a:r>
              <a:rPr lang="fr-FR" sz="1800" dirty="0">
                <a:solidFill>
                  <a:srgbClr val="312F2F"/>
                </a:solidFill>
                <a:effectLst/>
                <a:latin typeface="Times New Roman" panose="02020603050405020304" pitchFamily="18" charset="0"/>
                <a:ea typeface="Calibri" panose="020F0502020204030204" pitchFamily="34" charset="0"/>
              </a:rPr>
              <a:t>, Amazon </a:t>
            </a:r>
            <a:r>
              <a:rPr lang="fr-FR" sz="1800" dirty="0" err="1">
                <a:solidFill>
                  <a:srgbClr val="312F2F"/>
                </a:solidFill>
                <a:effectLst/>
                <a:latin typeface="Times New Roman" panose="02020603050405020304" pitchFamily="18" charset="0"/>
                <a:ea typeface="Calibri" panose="020F0502020204030204" pitchFamily="34" charset="0"/>
              </a:rPr>
              <a:t>SimpleDB</a:t>
            </a:r>
            <a:r>
              <a:rPr lang="fr-FR" sz="1800" dirty="0">
                <a:solidFill>
                  <a:srgbClr val="312F2F"/>
                </a:solidFill>
                <a:effectLst/>
                <a:latin typeface="Times New Roman" panose="02020603050405020304" pitchFamily="18" charset="0"/>
                <a:ea typeface="Calibri" panose="020F0502020204030204" pitchFamily="34" charset="0"/>
              </a:rPr>
              <a:t> et Cassandra.</a:t>
            </a:r>
          </a:p>
          <a:p>
            <a:r>
              <a:rPr lang="fr-FR" sz="1800" dirty="0">
                <a:solidFill>
                  <a:srgbClr val="312F2F"/>
                </a:solidFill>
                <a:effectLst/>
                <a:latin typeface="Times New Roman" panose="02020603050405020304" pitchFamily="18" charset="0"/>
                <a:ea typeface="Calibri" panose="020F0502020204030204" pitchFamily="34" charset="0"/>
              </a:rPr>
              <a:t>De nombreuses bases de données NoSQL utilisent leur propre langage de requête qui n'est pas applicable aux autres types de bases de données. CQL (Cassandra </a:t>
            </a:r>
            <a:r>
              <a:rPr lang="fr-FR" sz="1800" dirty="0" err="1">
                <a:solidFill>
                  <a:srgbClr val="312F2F"/>
                </a:solidFill>
                <a:effectLst/>
                <a:latin typeface="Times New Roman" panose="02020603050405020304" pitchFamily="18" charset="0"/>
                <a:ea typeface="Calibri" panose="020F0502020204030204" pitchFamily="34" charset="0"/>
              </a:rPr>
              <a:t>Query</a:t>
            </a:r>
            <a:r>
              <a:rPr lang="fr-FR" sz="1800" dirty="0">
                <a:solidFill>
                  <a:srgbClr val="312F2F"/>
                </a:solidFill>
                <a:effectLst/>
                <a:latin typeface="Times New Roman" panose="02020603050405020304" pitchFamily="18" charset="0"/>
                <a:ea typeface="Calibri" panose="020F0502020204030204" pitchFamily="34" charset="0"/>
              </a:rPr>
              <a:t> </a:t>
            </a:r>
            <a:r>
              <a:rPr lang="fr-FR" sz="1800" dirty="0" err="1">
                <a:solidFill>
                  <a:srgbClr val="312F2F"/>
                </a:solidFill>
                <a:effectLst/>
                <a:latin typeface="Times New Roman" panose="02020603050405020304" pitchFamily="18" charset="0"/>
                <a:ea typeface="Calibri" panose="020F0502020204030204" pitchFamily="34" charset="0"/>
              </a:rPr>
              <a:t>Language</a:t>
            </a:r>
            <a:r>
              <a:rPr lang="fr-FR" sz="1800" dirty="0">
                <a:solidFill>
                  <a:srgbClr val="312F2F"/>
                </a:solidFill>
                <a:effectLst/>
                <a:latin typeface="Times New Roman" panose="02020603050405020304" pitchFamily="18" charset="0"/>
                <a:ea typeface="Calibri" panose="020F0502020204030204" pitchFamily="34" charset="0"/>
              </a:rPr>
              <a:t>) pour Cassandra, </a:t>
            </a:r>
            <a:r>
              <a:rPr lang="fr-FR" sz="1800" dirty="0" err="1">
                <a:solidFill>
                  <a:srgbClr val="312F2F"/>
                </a:solidFill>
                <a:effectLst/>
                <a:latin typeface="Times New Roman" panose="02020603050405020304" pitchFamily="18" charset="0"/>
                <a:ea typeface="Calibri" panose="020F0502020204030204" pitchFamily="34" charset="0"/>
              </a:rPr>
              <a:t>Cypher</a:t>
            </a:r>
            <a:r>
              <a:rPr lang="fr-FR" sz="1800" dirty="0">
                <a:solidFill>
                  <a:srgbClr val="312F2F"/>
                </a:solidFill>
                <a:effectLst/>
                <a:latin typeface="Times New Roman" panose="02020603050405020304" pitchFamily="18" charset="0"/>
                <a:ea typeface="Calibri" panose="020F0502020204030204" pitchFamily="34" charset="0"/>
              </a:rPr>
              <a:t> pour Neo4J, le langage de requête MongoDB, Javascript pour </a:t>
            </a:r>
            <a:r>
              <a:rPr lang="fr-FR" sz="1800" dirty="0" err="1">
                <a:solidFill>
                  <a:srgbClr val="312F2F"/>
                </a:solidFill>
                <a:effectLst/>
                <a:latin typeface="Times New Roman" panose="02020603050405020304" pitchFamily="18" charset="0"/>
                <a:ea typeface="Calibri" panose="020F0502020204030204" pitchFamily="34" charset="0"/>
              </a:rPr>
              <a:t>CouchDB</a:t>
            </a:r>
            <a:r>
              <a:rPr lang="fr-FR" sz="1800" dirty="0">
                <a:solidFill>
                  <a:srgbClr val="312F2F"/>
                </a:solidFill>
                <a:effectLst/>
                <a:latin typeface="Times New Roman" panose="02020603050405020304" pitchFamily="18" charset="0"/>
                <a:ea typeface="Calibri" panose="020F0502020204030204" pitchFamily="34" charset="0"/>
              </a:rPr>
              <a:t> sont quelques exemples</a:t>
            </a:r>
            <a:endParaRPr lang="fr-FR" dirty="0"/>
          </a:p>
        </p:txBody>
      </p:sp>
      <p:sp>
        <p:nvSpPr>
          <p:cNvPr id="4" name="Espace réservé du numéro de diapositive 3"/>
          <p:cNvSpPr>
            <a:spLocks noGrp="1"/>
          </p:cNvSpPr>
          <p:nvPr>
            <p:ph type="sldNum" sz="quarter" idx="5"/>
          </p:nvPr>
        </p:nvSpPr>
        <p:spPr/>
        <p:txBody>
          <a:bodyPr/>
          <a:lstStyle/>
          <a:p>
            <a:fld id="{4EE084AE-0529-463D-B529-2E18D169A571}" type="slidenum">
              <a:rPr lang="fr-FR" smtClean="0"/>
              <a:t>13</a:t>
            </a:fld>
            <a:endParaRPr lang="fr-FR"/>
          </a:p>
        </p:txBody>
      </p:sp>
    </p:spTree>
    <p:extLst>
      <p:ext uri="{BB962C8B-B14F-4D97-AF65-F5344CB8AC3E}">
        <p14:creationId xmlns:p14="http://schemas.microsoft.com/office/powerpoint/2010/main" val="163770954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fr-FR" sz="1200" dirty="0">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a:latin typeface="Times New Roman" panose="02020603050405020304" pitchFamily="18" charset="0"/>
                <a:cs typeface="Times New Roman" panose="02020603050405020304" pitchFamily="18" charset="0"/>
              </a:rPr>
              <a:t>1. </a:t>
            </a:r>
            <a:r>
              <a:rPr lang="fr-FR" sz="1200" b="1" dirty="0">
                <a:latin typeface="Times New Roman" panose="02020603050405020304" pitchFamily="18" charset="0"/>
                <a:cs typeface="Times New Roman" panose="02020603050405020304" pitchFamily="18" charset="0"/>
              </a:rPr>
              <a:t>Apache</a:t>
            </a:r>
            <a:r>
              <a:rPr lang="fr-FR" sz="1200" dirty="0">
                <a:latin typeface="Times New Roman" panose="02020603050405020304" pitchFamily="18" charset="0"/>
                <a:cs typeface="Times New Roman" panose="02020603050405020304" pitchFamily="18" charset="0"/>
              </a:rPr>
              <a:t> </a:t>
            </a:r>
            <a:r>
              <a:rPr lang="fr-FR" sz="1800" b="1" dirty="0">
                <a:solidFill>
                  <a:srgbClr val="312F2F"/>
                </a:solidFill>
                <a:effectLst/>
                <a:latin typeface="Times New Roman" panose="02020603050405020304" pitchFamily="18" charset="0"/>
                <a:ea typeface="Calibri" panose="020F0502020204030204" pitchFamily="34" charset="0"/>
                <a:cs typeface="Times New Roman" panose="02020603050405020304" pitchFamily="18" charset="0"/>
              </a:rPr>
              <a:t>Hadoop </a:t>
            </a:r>
            <a:r>
              <a:rPr lang="fr-FR" sz="1800" dirty="0">
                <a:solidFill>
                  <a:srgbClr val="312F2F"/>
                </a:solidFill>
                <a:effectLst/>
                <a:latin typeface="Times New Roman" panose="02020603050405020304" pitchFamily="18" charset="0"/>
                <a:ea typeface="Calibri" panose="020F0502020204030204" pitchFamily="34" charset="0"/>
                <a:cs typeface="Times New Roman" panose="02020603050405020304" pitchFamily="18" charset="0"/>
              </a:rPr>
              <a:t>est un framework open source pour le stockage et le traitement de grands ensembles de données. Hadoop peut gérer de grandes quantités de données structurées et non structurées.</a:t>
            </a:r>
            <a:endParaRPr lang="fr-FR"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fr-FR" sz="1200" dirty="0">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a:latin typeface="Times New Roman" panose="02020603050405020304" pitchFamily="18" charset="0"/>
                <a:cs typeface="Times New Roman" panose="02020603050405020304" pitchFamily="18" charset="0"/>
              </a:rPr>
              <a:t>2. </a:t>
            </a:r>
            <a:r>
              <a:rPr lang="fr-FR" sz="1200" b="1" dirty="0">
                <a:latin typeface="Times New Roman" panose="02020603050405020304" pitchFamily="18" charset="0"/>
                <a:cs typeface="Times New Roman" panose="02020603050405020304" pitchFamily="18" charset="0"/>
              </a:rPr>
              <a:t>Apache Spark</a:t>
            </a:r>
            <a:r>
              <a:rPr lang="fr-FR" sz="1200" dirty="0">
                <a:latin typeface="Times New Roman" panose="02020603050405020304" pitchFamily="18" charset="0"/>
                <a:cs typeface="Times New Roman" panose="02020603050405020304" pitchFamily="18" charset="0"/>
              </a:rPr>
              <a:t> </a:t>
            </a:r>
            <a:r>
              <a:rPr lang="fr-FR" sz="1800" dirty="0">
                <a:solidFill>
                  <a:srgbClr val="333333"/>
                </a:solidFill>
                <a:effectLst/>
                <a:latin typeface="Calibri" panose="020F0502020204030204" pitchFamily="34" charset="0"/>
                <a:ea typeface="Calibri" panose="020F0502020204030204" pitchFamily="34" charset="0"/>
                <a:cs typeface="Times New Roman" panose="02020603050405020304" pitchFamily="18" charset="0"/>
              </a:rPr>
              <a:t>est un framework ou un moteur d'analyses unifiées ultra-rapide pour le big data et le machine </a:t>
            </a:r>
            <a:r>
              <a:rPr lang="fr-FR" sz="1800" dirty="0" err="1">
                <a:solidFill>
                  <a:srgbClr val="333333"/>
                </a:solidFill>
                <a:effectLst/>
                <a:latin typeface="Calibri" panose="020F0502020204030204" pitchFamily="34" charset="0"/>
                <a:ea typeface="Calibri" panose="020F0502020204030204" pitchFamily="34" charset="0"/>
                <a:cs typeface="Times New Roman" panose="02020603050405020304" pitchFamily="18" charset="0"/>
              </a:rPr>
              <a:t>learning</a:t>
            </a:r>
            <a:r>
              <a:rPr lang="fr-FR" sz="1800" dirty="0">
                <a:solidFill>
                  <a:srgbClr val="333333"/>
                </a:solidFill>
                <a:effectLst/>
                <a:latin typeface="Calibri" panose="020F0502020204030204" pitchFamily="34" charset="0"/>
                <a:ea typeface="Calibri" panose="020F0502020204030204" pitchFamily="34" charset="0"/>
                <a:cs typeface="Times New Roman" panose="02020603050405020304" pitchFamily="18" charset="0"/>
              </a:rPr>
              <a:t>. Il a initialement été conçu à l'Université de Californie à Berkeley en 2009.</a:t>
            </a:r>
          </a:p>
          <a:p>
            <a:pPr marL="0" marR="0" lvl="0" indent="0" algn="l" defTabSz="914400" rtl="0" eaLnBrk="1" fontAlgn="auto" latinLnBrk="0" hangingPunct="1">
              <a:lnSpc>
                <a:spcPct val="100000"/>
              </a:lnSpc>
              <a:spcBef>
                <a:spcPts val="0"/>
              </a:spcBef>
              <a:spcAft>
                <a:spcPts val="0"/>
              </a:spcAft>
              <a:buClrTx/>
              <a:buSzTx/>
              <a:buFontTx/>
              <a:buNone/>
              <a:tabLst/>
              <a:defRPr/>
            </a:pPr>
            <a:r>
              <a:rPr lang="fr-FR" sz="1800" dirty="0">
                <a:solidFill>
                  <a:srgbClr val="312F2F"/>
                </a:solidFill>
                <a:effectLst/>
                <a:latin typeface="Times New Roman" panose="02020603050405020304" pitchFamily="18" charset="0"/>
                <a:ea typeface="Calibri" panose="020F0502020204030204" pitchFamily="34" charset="0"/>
                <a:cs typeface="Times New Roman" panose="02020603050405020304" pitchFamily="18" charset="0"/>
              </a:rPr>
              <a:t>Spark s'exécute sur des </a:t>
            </a:r>
            <a:r>
              <a:rPr lang="fr-FR" sz="1800" dirty="0">
                <a:solidFill>
                  <a:srgbClr val="00B050"/>
                </a:solidFill>
                <a:effectLst/>
                <a:latin typeface="Times New Roman" panose="02020603050405020304" pitchFamily="18" charset="0"/>
                <a:ea typeface="Calibri" panose="020F0502020204030204" pitchFamily="34" charset="0"/>
                <a:cs typeface="Times New Roman" panose="02020603050405020304" pitchFamily="18" charset="0"/>
              </a:rPr>
              <a:t>clusters Hadoop </a:t>
            </a:r>
            <a:r>
              <a:rPr lang="fr-FR" sz="1800" dirty="0">
                <a:solidFill>
                  <a:srgbClr val="312F2F"/>
                </a:solidFill>
                <a:effectLst/>
                <a:latin typeface="Times New Roman" panose="02020603050405020304" pitchFamily="18" charset="0"/>
                <a:ea typeface="Calibri" panose="020F0502020204030204" pitchFamily="34" charset="0"/>
                <a:cs typeface="Times New Roman" panose="02020603050405020304" pitchFamily="18" charset="0"/>
              </a:rPr>
              <a:t>tels que </a:t>
            </a:r>
            <a:r>
              <a:rPr lang="fr-FR" sz="1800" b="1" dirty="0">
                <a:solidFill>
                  <a:srgbClr val="312F2F"/>
                </a:solidFill>
                <a:effectLst/>
                <a:latin typeface="Times New Roman" panose="02020603050405020304" pitchFamily="18" charset="0"/>
                <a:ea typeface="Calibri" panose="020F0502020204030204" pitchFamily="34" charset="0"/>
                <a:cs typeface="Times New Roman" panose="02020603050405020304" pitchFamily="18" charset="0"/>
              </a:rPr>
              <a:t>Hadoop YARN</a:t>
            </a:r>
            <a:r>
              <a:rPr lang="fr-FR" sz="1800" dirty="0">
                <a:solidFill>
                  <a:srgbClr val="312F2F"/>
                </a:solidFill>
                <a:effectLst/>
                <a:latin typeface="Times New Roman" panose="02020603050405020304" pitchFamily="18" charset="0"/>
                <a:ea typeface="Calibri" panose="020F0502020204030204" pitchFamily="34" charset="0"/>
                <a:cs typeface="Times New Roman" panose="02020603050405020304" pitchFamily="18" charset="0"/>
              </a:rPr>
              <a:t> ou </a:t>
            </a:r>
            <a:r>
              <a:rPr lang="fr-FR" sz="1800" b="1" dirty="0">
                <a:solidFill>
                  <a:srgbClr val="312F2F"/>
                </a:solidFill>
                <a:effectLst/>
                <a:latin typeface="Times New Roman" panose="02020603050405020304" pitchFamily="18" charset="0"/>
                <a:ea typeface="Calibri" panose="020F0502020204030204" pitchFamily="34" charset="0"/>
                <a:cs typeface="Times New Roman" panose="02020603050405020304" pitchFamily="18" charset="0"/>
              </a:rPr>
              <a:t>Apache </a:t>
            </a:r>
            <a:r>
              <a:rPr lang="fr-FR" sz="1800" b="1" dirty="0" err="1">
                <a:solidFill>
                  <a:srgbClr val="312F2F"/>
                </a:solidFill>
                <a:effectLst/>
                <a:latin typeface="Times New Roman" panose="02020603050405020304" pitchFamily="18" charset="0"/>
                <a:ea typeface="Calibri" panose="020F0502020204030204" pitchFamily="34" charset="0"/>
                <a:cs typeface="Times New Roman" panose="02020603050405020304" pitchFamily="18" charset="0"/>
              </a:rPr>
              <a:t>Mesos</a:t>
            </a:r>
            <a:r>
              <a:rPr lang="fr-FR" sz="1800" dirty="0">
                <a:solidFill>
                  <a:srgbClr val="312F2F"/>
                </a:solidFill>
                <a:effectLst/>
                <a:latin typeface="Times New Roman" panose="02020603050405020304" pitchFamily="18" charset="0"/>
                <a:ea typeface="Calibri" panose="020F0502020204030204" pitchFamily="34" charset="0"/>
                <a:cs typeface="Times New Roman" panose="02020603050405020304" pitchFamily="18" charset="0"/>
              </a:rPr>
              <a:t>, ou même de </a:t>
            </a:r>
            <a:r>
              <a:rPr lang="fr-FR" sz="1800" b="1" dirty="0">
                <a:solidFill>
                  <a:srgbClr val="00B050"/>
                </a:solidFill>
                <a:effectLst/>
                <a:latin typeface="Times New Roman" panose="02020603050405020304" pitchFamily="18" charset="0"/>
                <a:ea typeface="Calibri" panose="020F0502020204030204" pitchFamily="34" charset="0"/>
                <a:cs typeface="Times New Roman" panose="02020603050405020304" pitchFamily="18" charset="0"/>
              </a:rPr>
              <a:t>manière autonome </a:t>
            </a:r>
            <a:r>
              <a:rPr lang="fr-FR" sz="1800" b="1" dirty="0">
                <a:solidFill>
                  <a:srgbClr val="312F2F"/>
                </a:solidFill>
                <a:effectLst/>
                <a:latin typeface="Times New Roman" panose="02020603050405020304" pitchFamily="18" charset="0"/>
                <a:ea typeface="Calibri" panose="020F0502020204030204" pitchFamily="34" charset="0"/>
                <a:cs typeface="Times New Roman" panose="02020603050405020304" pitchFamily="18" charset="0"/>
              </a:rPr>
              <a:t>avec son propre planificateur</a:t>
            </a:r>
            <a:r>
              <a:rPr lang="fr-FR" sz="1800" dirty="0">
                <a:solidFill>
                  <a:srgbClr val="312F2F"/>
                </a:solidFill>
                <a:effectLst/>
                <a:latin typeface="Times New Roman" panose="02020603050405020304" pitchFamily="18" charset="0"/>
                <a:ea typeface="Calibri" panose="020F0502020204030204" pitchFamily="34" charset="0"/>
                <a:cs typeface="Times New Roman" panose="02020603050405020304" pitchFamily="18" charset="0"/>
              </a:rPr>
              <a:t>.</a:t>
            </a:r>
            <a:endParaRPr lang="fr-FR"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fr-FR" sz="1800" dirty="0">
                <a:solidFill>
                  <a:srgbClr val="312F2F"/>
                </a:solidFill>
                <a:effectLst/>
                <a:latin typeface="Times New Roman" panose="02020603050405020304" pitchFamily="18" charset="0"/>
                <a:ea typeface="Calibri" panose="020F0502020204030204" pitchFamily="34" charset="0"/>
                <a:cs typeface="Times New Roman" panose="02020603050405020304" pitchFamily="18" charset="0"/>
              </a:rPr>
              <a:t>Spark </a:t>
            </a:r>
            <a:r>
              <a:rPr lang="fr-FR" sz="1800" dirty="0">
                <a:solidFill>
                  <a:srgbClr val="312F2F"/>
                </a:solidFill>
                <a:effectLst/>
                <a:latin typeface="Times New Roman" panose="02020603050405020304" pitchFamily="18" charset="0"/>
                <a:ea typeface="Calibri" panose="020F0502020204030204" pitchFamily="34" charset="0"/>
              </a:rPr>
              <a:t>étend le modèle </a:t>
            </a:r>
            <a:r>
              <a:rPr lang="fr-FR" sz="1800" b="1" dirty="0">
                <a:solidFill>
                  <a:srgbClr val="312F2F"/>
                </a:solidFill>
                <a:effectLst/>
                <a:latin typeface="Times New Roman" panose="02020603050405020304" pitchFamily="18" charset="0"/>
                <a:ea typeface="Calibri" panose="020F0502020204030204" pitchFamily="34" charset="0"/>
              </a:rPr>
              <a:t>MapReduce </a:t>
            </a:r>
            <a:r>
              <a:rPr lang="fr-FR" sz="1800" dirty="0">
                <a:solidFill>
                  <a:srgbClr val="312F2F"/>
                </a:solidFill>
                <a:effectLst/>
                <a:latin typeface="Times New Roman" panose="02020603050405020304" pitchFamily="18" charset="0"/>
                <a:ea typeface="Calibri" panose="020F0502020204030204" pitchFamily="34" charset="0"/>
              </a:rPr>
              <a:t>et le prend à un autre niveau. La vitesse provient des calculs en mémoire (</a:t>
            </a:r>
            <a:r>
              <a:rPr lang="fr-FR" sz="1800" dirty="0">
                <a:effectLst/>
                <a:latin typeface="TimesNewRoman"/>
                <a:ea typeface="Calibri" panose="020F0502020204030204" pitchFamily="34" charset="0"/>
                <a:cs typeface="TimesNewRoman"/>
              </a:rPr>
              <a:t>the in-memory computations)</a:t>
            </a:r>
            <a:r>
              <a:rPr lang="fr-FR" sz="1800" dirty="0">
                <a:solidFill>
                  <a:srgbClr val="312F2F"/>
                </a:solidFill>
                <a:effectLst/>
                <a:latin typeface="Times New Roman" panose="02020603050405020304" pitchFamily="18" charset="0"/>
                <a:ea typeface="Calibri" panose="020F0502020204030204" pitchFamily="34" charset="0"/>
              </a:rPr>
              <a:t>. Les applications exécutées en mémoire permettent un traitement et une réponse beaucoup plus rapides. </a:t>
            </a:r>
            <a:r>
              <a:rPr lang="fr-FR" sz="1800" b="1" dirty="0">
                <a:solidFill>
                  <a:srgbClr val="312F2F"/>
                </a:solidFill>
                <a:effectLst/>
                <a:latin typeface="Times New Roman" panose="02020603050405020304" pitchFamily="18" charset="0"/>
                <a:ea typeface="Calibri" panose="020F0502020204030204" pitchFamily="34" charset="0"/>
              </a:rPr>
              <a:t>Spark est encore plus rapide que </a:t>
            </a:r>
            <a:r>
              <a:rPr lang="fr-FR" sz="1800" b="1" dirty="0" err="1">
                <a:solidFill>
                  <a:srgbClr val="312F2F"/>
                </a:solidFill>
                <a:effectLst/>
                <a:latin typeface="Times New Roman" panose="02020603050405020304" pitchFamily="18" charset="0"/>
                <a:ea typeface="Calibri" panose="020F0502020204030204" pitchFamily="34" charset="0"/>
              </a:rPr>
              <a:t>Mapreduce</a:t>
            </a:r>
            <a:r>
              <a:rPr lang="fr-FR" sz="1800" b="1" dirty="0">
                <a:solidFill>
                  <a:srgbClr val="312F2F"/>
                </a:solidFill>
                <a:effectLst/>
                <a:latin typeface="Times New Roman" panose="02020603050405020304" pitchFamily="18" charset="0"/>
                <a:ea typeface="Calibri" panose="020F0502020204030204" pitchFamily="34" charset="0"/>
              </a:rPr>
              <a:t> pour des applications complexes sur les disques. </a:t>
            </a:r>
            <a:r>
              <a:rPr lang="fr-FR" sz="1200" dirty="0">
                <a:latin typeface="Times New Roman" panose="02020603050405020304" pitchFamily="18" charset="0"/>
                <a:cs typeface="Times New Roman" panose="02020603050405020304" pitchFamily="18" charset="0"/>
              </a:rPr>
              <a:t>De plus, Spark propose un partage de données appelé </a:t>
            </a:r>
            <a:r>
              <a:rPr lang="fr-FR" sz="1200" dirty="0" err="1">
                <a:latin typeface="Times New Roman" panose="02020603050405020304" pitchFamily="18" charset="0"/>
                <a:cs typeface="Times New Roman" panose="02020603050405020304" pitchFamily="18" charset="0"/>
              </a:rPr>
              <a:t>Resilient</a:t>
            </a:r>
            <a:r>
              <a:rPr lang="fr-FR" sz="1200" dirty="0">
                <a:latin typeface="Times New Roman" panose="02020603050405020304" pitchFamily="18" charset="0"/>
                <a:cs typeface="Times New Roman" panose="02020603050405020304" pitchFamily="18" charset="0"/>
              </a:rPr>
              <a:t> Distributed </a:t>
            </a:r>
            <a:r>
              <a:rPr lang="fr-FR" sz="1200" dirty="0" err="1">
                <a:latin typeface="Times New Roman" panose="02020603050405020304" pitchFamily="18" charset="0"/>
                <a:cs typeface="Times New Roman" panose="02020603050405020304" pitchFamily="18" charset="0"/>
              </a:rPr>
              <a:t>Datasets</a:t>
            </a:r>
            <a:r>
              <a:rPr lang="fr-FR" sz="1200" dirty="0">
                <a:latin typeface="Times New Roman" panose="02020603050405020304" pitchFamily="18" charset="0"/>
                <a:cs typeface="Times New Roman" panose="02020603050405020304" pitchFamily="18" charset="0"/>
              </a:rPr>
              <a:t> (RDD) et </a:t>
            </a:r>
            <a:r>
              <a:rPr lang="fr-FR" sz="1200" dirty="0" err="1">
                <a:latin typeface="Times New Roman" panose="02020603050405020304" pitchFamily="18" charset="0"/>
                <a:cs typeface="Times New Roman" panose="02020603050405020304" pitchFamily="18" charset="0"/>
              </a:rPr>
              <a:t>Directed</a:t>
            </a:r>
            <a:r>
              <a:rPr lang="fr-FR" sz="1200" dirty="0">
                <a:latin typeface="Times New Roman" panose="02020603050405020304" pitchFamily="18" charset="0"/>
                <a:cs typeface="Times New Roman" panose="02020603050405020304" pitchFamily="18" charset="0"/>
              </a:rPr>
              <a:t> </a:t>
            </a:r>
            <a:r>
              <a:rPr lang="fr-FR" sz="1200" dirty="0" err="1">
                <a:latin typeface="Times New Roman" panose="02020603050405020304" pitchFamily="18" charset="0"/>
                <a:cs typeface="Times New Roman" panose="02020603050405020304" pitchFamily="18" charset="0"/>
              </a:rPr>
              <a:t>Acyclic</a:t>
            </a:r>
            <a:r>
              <a:rPr lang="fr-FR" sz="1200" dirty="0">
                <a:latin typeface="Times New Roman" panose="02020603050405020304" pitchFamily="18" charset="0"/>
                <a:cs typeface="Times New Roman" panose="02020603050405020304" pitchFamily="18" charset="0"/>
              </a:rPr>
              <a:t> Graph (DAG)</a:t>
            </a:r>
          </a:p>
          <a:p>
            <a:pPr marL="0" marR="0" lvl="0" indent="0" algn="l" defTabSz="914400" rtl="0" eaLnBrk="1" fontAlgn="auto" latinLnBrk="0" hangingPunct="1">
              <a:lnSpc>
                <a:spcPct val="100000"/>
              </a:lnSpc>
              <a:spcBef>
                <a:spcPts val="0"/>
              </a:spcBef>
              <a:spcAft>
                <a:spcPts val="0"/>
              </a:spcAft>
              <a:buClrTx/>
              <a:buSzTx/>
              <a:buFontTx/>
              <a:buNone/>
              <a:tabLst/>
              <a:defRPr/>
            </a:pPr>
            <a:endParaRPr lang="fr-FR" sz="1200" dirty="0">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a:latin typeface="Times New Roman" panose="02020603050405020304" pitchFamily="18" charset="0"/>
                <a:cs typeface="Times New Roman" panose="02020603050405020304" pitchFamily="18" charset="0"/>
              </a:rPr>
              <a:t>3. </a:t>
            </a:r>
            <a:r>
              <a:rPr lang="fr-FR" sz="1200" b="1" dirty="0">
                <a:latin typeface="Times New Roman" panose="02020603050405020304" pitchFamily="18" charset="0"/>
                <a:cs typeface="Times New Roman" panose="02020603050405020304" pitchFamily="18" charset="0"/>
              </a:rPr>
              <a:t>Apache</a:t>
            </a:r>
            <a:r>
              <a:rPr lang="fr-FR" sz="1200" dirty="0">
                <a:latin typeface="Times New Roman" panose="02020603050405020304" pitchFamily="18" charset="0"/>
                <a:cs typeface="Times New Roman" panose="02020603050405020304" pitchFamily="18" charset="0"/>
              </a:rPr>
              <a:t> </a:t>
            </a:r>
            <a:r>
              <a:rPr lang="fr-FR" sz="1200" b="1" dirty="0">
                <a:latin typeface="Times New Roman" panose="02020603050405020304" pitchFamily="18" charset="0"/>
                <a:cs typeface="Times New Roman" panose="02020603050405020304" pitchFamily="18" charset="0"/>
              </a:rPr>
              <a:t>Storm </a:t>
            </a:r>
            <a:r>
              <a:rPr lang="fr-FR" sz="1200" b="0" dirty="0">
                <a:latin typeface="Times New Roman" panose="02020603050405020304" pitchFamily="18" charset="0"/>
                <a:cs typeface="Times New Roman" panose="02020603050405020304" pitchFamily="18" charset="0"/>
              </a:rPr>
              <a:t>est un framework open source qui a été conçu pour traiter les données de streaming en temps réel. </a:t>
            </a:r>
          </a:p>
          <a:p>
            <a:pPr marL="0" marR="0" lvl="0" indent="0" algn="l" defTabSz="914400" rtl="0" eaLnBrk="1" fontAlgn="auto" latinLnBrk="0" hangingPunct="1">
              <a:lnSpc>
                <a:spcPct val="100000"/>
              </a:lnSpc>
              <a:spcBef>
                <a:spcPts val="0"/>
              </a:spcBef>
              <a:spcAft>
                <a:spcPts val="0"/>
              </a:spcAft>
              <a:buClrTx/>
              <a:buSzTx/>
              <a:buFontTx/>
              <a:buNone/>
              <a:tabLst/>
              <a:defRPr/>
            </a:pPr>
            <a:endParaRPr lang="fr-FR" sz="1200" b="0" dirty="0">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fr-FR" sz="1200" b="0" dirty="0">
                <a:latin typeface="Times New Roman" panose="02020603050405020304" pitchFamily="18" charset="0"/>
                <a:cs typeface="Times New Roman" panose="02020603050405020304" pitchFamily="18" charset="0"/>
              </a:rPr>
              <a:t>4. </a:t>
            </a:r>
            <a:r>
              <a:rPr lang="fr-FR" sz="1800" b="1" dirty="0">
                <a:effectLst/>
                <a:latin typeface="Calibri" panose="020F0502020204030204" pitchFamily="34" charset="0"/>
                <a:ea typeface="Calibri" panose="020F0502020204030204" pitchFamily="34" charset="0"/>
                <a:cs typeface="Times New Roman" panose="02020603050405020304" pitchFamily="18" charset="0"/>
              </a:rPr>
              <a:t>Apache Flink </a:t>
            </a:r>
            <a:r>
              <a:rPr lang="fr-FR" sz="1800" dirty="0">
                <a:effectLst/>
                <a:latin typeface="Calibri" panose="020F0502020204030204" pitchFamily="34" charset="0"/>
                <a:ea typeface="Calibri" panose="020F0502020204030204" pitchFamily="34" charset="0"/>
                <a:cs typeface="Times New Roman" panose="02020603050405020304" pitchFamily="18" charset="0"/>
              </a:rPr>
              <a:t>est un framework open source utilisé efficacement pour le traitement des données à la fois en temps réel et en mode batch. </a:t>
            </a:r>
            <a:endParaRPr lang="fr-FR" sz="1200" b="0" dirty="0">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fr-FR" sz="1200" dirty="0">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fr-FR" sz="1200" dirty="0">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fr-FR" sz="1200" dirty="0">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fr-FR" sz="1200" dirty="0">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fr-FR" sz="1200" dirty="0">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a:latin typeface="Times New Roman" panose="02020603050405020304" pitchFamily="18" charset="0"/>
                <a:cs typeface="Times New Roman" panose="02020603050405020304" pitchFamily="18" charset="0"/>
              </a:rPr>
              <a:t>Bien que ces quatre prennent en charge le traitement des Big data, ces </a:t>
            </a:r>
            <a:r>
              <a:rPr lang="fr-FR" sz="1200" dirty="0" err="1">
                <a:latin typeface="Times New Roman" panose="02020603050405020304" pitchFamily="18" charset="0"/>
                <a:cs typeface="Times New Roman" panose="02020603050405020304" pitchFamily="18" charset="0"/>
              </a:rPr>
              <a:t>frameworks</a:t>
            </a:r>
            <a:r>
              <a:rPr lang="fr-FR" sz="1200" dirty="0">
                <a:latin typeface="Times New Roman" panose="02020603050405020304" pitchFamily="18" charset="0"/>
                <a:cs typeface="Times New Roman" panose="02020603050405020304" pitchFamily="18" charset="0"/>
              </a:rPr>
              <a:t> diffèrent par leur utilisation et l'architecture sous-jacente qui prend en charge cette utilisation.</a:t>
            </a:r>
          </a:p>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a:latin typeface="Times New Roman" panose="02020603050405020304" pitchFamily="18" charset="0"/>
                <a:cs typeface="Times New Roman" panose="02020603050405020304" pitchFamily="18" charset="0"/>
              </a:rPr>
              <a:t>De nombreuses sociétés, entreprises et organisations utilisent Apache Hadoop pour deux raisons principales. Premièrement, mener des recherches à des fins académiques ou scientifiques. Deuxièmement, s'engager dans l'analyse pour satisfaire les besoins des clients et aider les organisations à prendre les bonnes décisions. Par exemple, lorsque l'organisation a besoin de savoir quel type de produit les clients ont besoin. Ensuite, il peut produire le produit dont on a besoin en abondance, ce qui est l'une des nombreuses applications d'Apache Hadoop.</a:t>
            </a:r>
          </a:p>
          <a:p>
            <a:endParaRPr lang="fr-FR" dirty="0"/>
          </a:p>
        </p:txBody>
      </p:sp>
      <p:sp>
        <p:nvSpPr>
          <p:cNvPr id="4" name="Espace réservé du numéro de diapositive 3"/>
          <p:cNvSpPr>
            <a:spLocks noGrp="1"/>
          </p:cNvSpPr>
          <p:nvPr>
            <p:ph type="sldNum" sz="quarter" idx="5"/>
          </p:nvPr>
        </p:nvSpPr>
        <p:spPr/>
        <p:txBody>
          <a:bodyPr/>
          <a:lstStyle/>
          <a:p>
            <a:fld id="{4EE084AE-0529-463D-B529-2E18D169A571}" type="slidenum">
              <a:rPr lang="fr-FR" smtClean="0"/>
              <a:t>16</a:t>
            </a:fld>
            <a:endParaRPr lang="fr-FR"/>
          </a:p>
        </p:txBody>
      </p:sp>
    </p:spTree>
    <p:extLst>
      <p:ext uri="{BB962C8B-B14F-4D97-AF65-F5344CB8AC3E}">
        <p14:creationId xmlns:p14="http://schemas.microsoft.com/office/powerpoint/2010/main" val="12713080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un framework open source, qui collecte et traite les données distribuées via un groupe de machines hôtes (couche matérielle) appelées clusters ou nœuds. Il fournit une machine de services de distribution plutôt qu'un seul service. Ainsi, ils peuvent travailler en parallèle en utilisant des clusters ou des nœuds.</a:t>
            </a:r>
          </a:p>
        </p:txBody>
      </p:sp>
      <p:sp>
        <p:nvSpPr>
          <p:cNvPr id="4" name="Espace réservé du numéro de diapositive 3"/>
          <p:cNvSpPr>
            <a:spLocks noGrp="1"/>
          </p:cNvSpPr>
          <p:nvPr>
            <p:ph type="sldNum" sz="quarter" idx="5"/>
          </p:nvPr>
        </p:nvSpPr>
        <p:spPr/>
        <p:txBody>
          <a:bodyPr/>
          <a:lstStyle/>
          <a:p>
            <a:fld id="{4EE084AE-0529-463D-B529-2E18D169A571}" type="slidenum">
              <a:rPr lang="fr-FR" smtClean="0"/>
              <a:t>17</a:t>
            </a:fld>
            <a:endParaRPr lang="fr-FR"/>
          </a:p>
        </p:txBody>
      </p:sp>
    </p:spTree>
    <p:extLst>
      <p:ext uri="{BB962C8B-B14F-4D97-AF65-F5344CB8AC3E}">
        <p14:creationId xmlns:p14="http://schemas.microsoft.com/office/powerpoint/2010/main" val="65885839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4EE084AE-0529-463D-B529-2E18D169A571}" type="slidenum">
              <a:rPr lang="fr-FR" smtClean="0"/>
              <a:t>18</a:t>
            </a:fld>
            <a:endParaRPr lang="fr-FR"/>
          </a:p>
        </p:txBody>
      </p:sp>
    </p:spTree>
    <p:extLst>
      <p:ext uri="{BB962C8B-B14F-4D97-AF65-F5344CB8AC3E}">
        <p14:creationId xmlns:p14="http://schemas.microsoft.com/office/powerpoint/2010/main" val="86228672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4EE084AE-0529-463D-B529-2E18D169A571}" type="slidenum">
              <a:rPr lang="fr-FR" smtClean="0"/>
              <a:t>19</a:t>
            </a:fld>
            <a:endParaRPr lang="fr-FR"/>
          </a:p>
        </p:txBody>
      </p:sp>
    </p:spTree>
    <p:extLst>
      <p:ext uri="{BB962C8B-B14F-4D97-AF65-F5344CB8AC3E}">
        <p14:creationId xmlns:p14="http://schemas.microsoft.com/office/powerpoint/2010/main" val="261278318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sz="1200" dirty="0">
                <a:latin typeface="Times New Roman" panose="02020603050405020304" pitchFamily="18" charset="0"/>
                <a:cs typeface="Times New Roman" panose="02020603050405020304" pitchFamily="18" charset="0"/>
              </a:rPr>
              <a:t>En général, Spark offre un cadre de traitement de données à grande échelle utilisé par les banques, les sociétés de télécommunications, les sociétés de jeux, les gouvernements et les entreprises telles que Apple, Yahoo et Facebook.</a:t>
            </a:r>
            <a:endParaRPr lang="fr-FR" dirty="0"/>
          </a:p>
        </p:txBody>
      </p:sp>
      <p:sp>
        <p:nvSpPr>
          <p:cNvPr id="4" name="Espace réservé du numéro de diapositive 3"/>
          <p:cNvSpPr>
            <a:spLocks noGrp="1"/>
          </p:cNvSpPr>
          <p:nvPr>
            <p:ph type="sldNum" sz="quarter" idx="5"/>
          </p:nvPr>
        </p:nvSpPr>
        <p:spPr/>
        <p:txBody>
          <a:bodyPr/>
          <a:lstStyle/>
          <a:p>
            <a:fld id="{4EE084AE-0529-463D-B529-2E18D169A571}" type="slidenum">
              <a:rPr lang="fr-FR" smtClean="0"/>
              <a:t>21</a:t>
            </a:fld>
            <a:endParaRPr lang="fr-FR"/>
          </a:p>
        </p:txBody>
      </p:sp>
    </p:spTree>
    <p:extLst>
      <p:ext uri="{BB962C8B-B14F-4D97-AF65-F5344CB8AC3E}">
        <p14:creationId xmlns:p14="http://schemas.microsoft.com/office/powerpoint/2010/main" val="51052012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sz="1200" dirty="0">
                <a:latin typeface="Times New Roman" panose="02020603050405020304" pitchFamily="18" charset="0"/>
                <a:cs typeface="Times New Roman" panose="02020603050405020304" pitchFamily="18" charset="0"/>
              </a:rPr>
              <a:t>Nimbus est similaire au Job-Tracker de Hadoop.</a:t>
            </a:r>
          </a:p>
          <a:p>
            <a:endParaRPr lang="fr-FR" sz="1200" dirty="0">
              <a:latin typeface="Times New Roman" panose="02020603050405020304" pitchFamily="18" charset="0"/>
              <a:cs typeface="Times New Roman" panose="02020603050405020304" pitchFamily="18" charset="0"/>
            </a:endParaRPr>
          </a:p>
          <a:p>
            <a:r>
              <a:rPr lang="fr-FR" sz="1200" dirty="0">
                <a:latin typeface="Times New Roman" panose="02020603050405020304" pitchFamily="18" charset="0"/>
                <a:cs typeface="Times New Roman" panose="02020603050405020304" pitchFamily="18" charset="0"/>
              </a:rPr>
              <a:t>s'il y a une défaillance dans un cluster, </a:t>
            </a:r>
            <a:r>
              <a:rPr lang="fr-FR" sz="1200" b="1" dirty="0">
                <a:latin typeface="Times New Roman" panose="02020603050405020304" pitchFamily="18" charset="0"/>
                <a:cs typeface="Times New Roman" panose="02020603050405020304" pitchFamily="18" charset="0"/>
              </a:rPr>
              <a:t>Zookeeper </a:t>
            </a:r>
            <a:r>
              <a:rPr lang="fr-FR" sz="1200" dirty="0">
                <a:latin typeface="Times New Roman" panose="02020603050405020304" pitchFamily="18" charset="0"/>
                <a:cs typeface="Times New Roman" panose="02020603050405020304" pitchFamily="18" charset="0"/>
              </a:rPr>
              <a:t>réaffecte la tâche à un autre. Ainsi, le nœud esclave contrôle l'exécution de ses propres tâches</a:t>
            </a:r>
            <a:endParaRPr lang="fr-FR" dirty="0"/>
          </a:p>
        </p:txBody>
      </p:sp>
      <p:sp>
        <p:nvSpPr>
          <p:cNvPr id="4" name="Espace réservé du numéro de diapositive 3"/>
          <p:cNvSpPr>
            <a:spLocks noGrp="1"/>
          </p:cNvSpPr>
          <p:nvPr>
            <p:ph type="sldNum" sz="quarter" idx="5"/>
          </p:nvPr>
        </p:nvSpPr>
        <p:spPr/>
        <p:txBody>
          <a:bodyPr/>
          <a:lstStyle/>
          <a:p>
            <a:fld id="{4EE084AE-0529-463D-B529-2E18D169A571}" type="slidenum">
              <a:rPr lang="fr-FR" smtClean="0"/>
              <a:t>22</a:t>
            </a:fld>
            <a:endParaRPr lang="fr-FR"/>
          </a:p>
        </p:txBody>
      </p:sp>
    </p:spTree>
    <p:extLst>
      <p:ext uri="{BB962C8B-B14F-4D97-AF65-F5344CB8AC3E}">
        <p14:creationId xmlns:p14="http://schemas.microsoft.com/office/powerpoint/2010/main" val="37587746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800" dirty="0">
                <a:effectLst/>
                <a:latin typeface="Calibri" panose="020F0502020204030204" pitchFamily="34" charset="0"/>
                <a:ea typeface="Calibri" panose="020F0502020204030204" pitchFamily="34" charset="0"/>
                <a:cs typeface="Times New Roman" panose="02020603050405020304" pitchFamily="18" charset="0"/>
              </a:rPr>
              <a:t>Apache Flink  utilise </a:t>
            </a:r>
            <a:r>
              <a:rPr lang="fr-FR" sz="1800" b="1" dirty="0">
                <a:effectLst/>
                <a:latin typeface="Calibri" panose="020F0502020204030204" pitchFamily="34" charset="0"/>
                <a:ea typeface="Calibri" panose="020F0502020204030204" pitchFamily="34" charset="0"/>
                <a:cs typeface="Times New Roman" panose="02020603050405020304" pitchFamily="18" charset="0"/>
              </a:rPr>
              <a:t>une technique de traitement en mémoire</a:t>
            </a:r>
            <a:r>
              <a:rPr lang="fr-FR" sz="1800" dirty="0">
                <a:effectLst/>
                <a:latin typeface="Calibri" panose="020F0502020204030204" pitchFamily="34" charset="0"/>
                <a:ea typeface="Calibri" panose="020F0502020204030204" pitchFamily="34" charset="0"/>
                <a:cs typeface="Times New Roman" panose="02020603050405020304" pitchFamily="18" charset="0"/>
              </a:rPr>
              <a:t> et fournit un certain nombre d'API telles que l'API de traitement de flux (flux de données), l'API de traitement par lots (ensemble de données) et l'API de table qui a été utilisée pour les requêtes. Il possède également des bibliothèques d'apprentissage automatique (ML) et de traitement de graphes (</a:t>
            </a:r>
            <a:r>
              <a:rPr lang="fr-FR" sz="1800" dirty="0" err="1">
                <a:effectLst/>
                <a:latin typeface="Calibri" panose="020F0502020204030204" pitchFamily="34" charset="0"/>
                <a:ea typeface="Calibri" panose="020F0502020204030204" pitchFamily="34" charset="0"/>
                <a:cs typeface="Times New Roman" panose="02020603050405020304" pitchFamily="18" charset="0"/>
              </a:rPr>
              <a:t>Gelly</a:t>
            </a:r>
            <a:r>
              <a:rPr lang="fr-FR" sz="1800" dirty="0">
                <a:effectLst/>
                <a:latin typeface="Calibri" panose="020F0502020204030204" pitchFamily="34" charset="0"/>
                <a:ea typeface="Calibri" panose="020F0502020204030204" pitchFamily="34" charset="0"/>
                <a:cs typeface="Times New Roman" panose="02020603050405020304" pitchFamily="18" charset="0"/>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fr-FR"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fr-FR" sz="1800" dirty="0">
                <a:effectLst/>
                <a:latin typeface="Calibri" panose="020F0502020204030204" pitchFamily="34" charset="0"/>
                <a:ea typeface="Calibri" panose="020F0502020204030204" pitchFamily="34" charset="0"/>
                <a:cs typeface="Times New Roman" panose="02020603050405020304" pitchFamily="18" charset="0"/>
              </a:rPr>
              <a:t>La couche de gestion des ressources </a:t>
            </a:r>
            <a:r>
              <a:rPr lang="fr-FR" sz="2800" dirty="0"/>
              <a:t>contient également </a:t>
            </a:r>
            <a:r>
              <a:rPr lang="fr-FR" sz="2800" b="1" dirty="0"/>
              <a:t>l'environnement qui exécute le programme</a:t>
            </a:r>
            <a:r>
              <a:rPr lang="fr-FR" sz="2800" dirty="0"/>
              <a:t>, </a:t>
            </a:r>
            <a:r>
              <a:rPr lang="fr-FR" sz="2800" b="1" dirty="0"/>
              <a:t>qui sont les clusters ou les environnements cloud</a:t>
            </a:r>
            <a:r>
              <a:rPr lang="fr-FR" sz="2800" dirty="0"/>
              <a:t>. En outre, il a la zone locale pour une seule machine virtuelle Java</a:t>
            </a:r>
            <a:endParaRPr lang="fr-FR"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fr-FR" dirty="0"/>
          </a:p>
        </p:txBody>
      </p:sp>
      <p:sp>
        <p:nvSpPr>
          <p:cNvPr id="4" name="Espace réservé du numéro de diapositive 3"/>
          <p:cNvSpPr>
            <a:spLocks noGrp="1"/>
          </p:cNvSpPr>
          <p:nvPr>
            <p:ph type="sldNum" sz="quarter" idx="5"/>
          </p:nvPr>
        </p:nvSpPr>
        <p:spPr/>
        <p:txBody>
          <a:bodyPr/>
          <a:lstStyle/>
          <a:p>
            <a:fld id="{4EE084AE-0529-463D-B529-2E18D169A571}" type="slidenum">
              <a:rPr lang="fr-FR" smtClean="0"/>
              <a:t>23</a:t>
            </a:fld>
            <a:endParaRPr lang="fr-FR"/>
          </a:p>
        </p:txBody>
      </p:sp>
    </p:spTree>
    <p:extLst>
      <p:ext uri="{BB962C8B-B14F-4D97-AF65-F5344CB8AC3E}">
        <p14:creationId xmlns:p14="http://schemas.microsoft.com/office/powerpoint/2010/main" val="419329125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b="0" i="0" dirty="0">
                <a:solidFill>
                  <a:srgbClr val="161513"/>
                </a:solidFill>
                <a:effectLst/>
                <a:latin typeface="OracleSansVF"/>
              </a:rPr>
              <a:t>Le Big Data offre de nouvelles perspectives, qui ouvrent de nouvelles opportunités et favorisent de nouveaux business </a:t>
            </a:r>
            <a:r>
              <a:rPr lang="fr-FR" b="0" i="0" dirty="0" err="1">
                <a:solidFill>
                  <a:srgbClr val="161513"/>
                </a:solidFill>
                <a:effectLst/>
                <a:latin typeface="OracleSansVF"/>
              </a:rPr>
              <a:t>models</a:t>
            </a:r>
            <a:r>
              <a:rPr lang="fr-FR" b="0" i="0" dirty="0">
                <a:solidFill>
                  <a:srgbClr val="161513"/>
                </a:solidFill>
                <a:effectLst/>
                <a:latin typeface="OracleSansVF"/>
              </a:rPr>
              <a:t> (</a:t>
            </a:r>
            <a:r>
              <a:rPr lang="fr-FR" b="0" i="0" dirty="0" err="1">
                <a:solidFill>
                  <a:srgbClr val="161513"/>
                </a:solidFill>
                <a:effectLst/>
                <a:latin typeface="OracleSansVF"/>
              </a:rPr>
              <a:t>modeèles</a:t>
            </a:r>
            <a:r>
              <a:rPr lang="fr-FR" b="0" i="0" dirty="0">
                <a:solidFill>
                  <a:srgbClr val="161513"/>
                </a:solidFill>
                <a:effectLst/>
                <a:latin typeface="OracleSansVF"/>
              </a:rPr>
              <a:t> économiques).</a:t>
            </a:r>
          </a:p>
          <a:p>
            <a:r>
              <a:rPr lang="fr-FR" sz="1800" dirty="0">
                <a:effectLst/>
                <a:latin typeface="Times New Roman" panose="02020603050405020304" pitchFamily="18" charset="0"/>
                <a:ea typeface="Times New Roman" panose="02020603050405020304" pitchFamily="18" charset="0"/>
              </a:rPr>
              <a:t>Les systèmes de recommandation sont utilisés pour recommander les choses que les visiteurs aiment apprécier ou selon son comportement de recherche, les pages Web sont liées à sa recherche actuelle</a:t>
            </a:r>
            <a:r>
              <a:rPr lang="fr-FR" sz="1800" b="0" i="0" dirty="0">
                <a:solidFill>
                  <a:srgbClr val="161513"/>
                </a:solidFill>
                <a:effectLst/>
                <a:latin typeface="OracleSansVF"/>
                <a:ea typeface="Times New Roman" panose="02020603050405020304" pitchFamily="18" charset="0"/>
              </a:rPr>
              <a:t>.</a:t>
            </a:r>
          </a:p>
          <a:p>
            <a:endParaRPr lang="fr-FR" dirty="0"/>
          </a:p>
          <a:p>
            <a:r>
              <a:rPr lang="fr-FR" sz="1800" b="1" dirty="0">
                <a:effectLst/>
                <a:latin typeface="Times New Roman" panose="02020603050405020304" pitchFamily="18" charset="0"/>
                <a:ea typeface="Times New Roman" panose="02020603050405020304" pitchFamily="18" charset="0"/>
              </a:rPr>
              <a:t>De nombreux sites Web de commerce électronique utilisent Hadoop pour ce type d'analyse, comme Amazon, car les données présentes dans ce scénario sont très importantes en raison du grand nombre d'utilisateurs.</a:t>
            </a:r>
          </a:p>
          <a:p>
            <a:endParaRPr lang="fr-FR" sz="1800" b="1" dirty="0">
              <a:effectLst/>
              <a:latin typeface="Times New Roman" panose="02020603050405020304" pitchFamily="18" charset="0"/>
            </a:endParaRPr>
          </a:p>
          <a:p>
            <a:r>
              <a:rPr lang="fr-FR" sz="1800" dirty="0">
                <a:effectLst/>
                <a:latin typeface="Times New Roman" panose="02020603050405020304" pitchFamily="18" charset="0"/>
                <a:ea typeface="Times New Roman" panose="02020603050405020304" pitchFamily="18" charset="0"/>
              </a:rPr>
              <a:t>Pour faire de bonnes recommandations, de nombreux éléments doivent être pris en considération tels que : l'historique des achats, les notes d'achat, les produits recherchés par le client mais non achetés, les produits achetés par des amis, les réponses aux recommandations précédentes, les produits achetés dans une région, les produits achetés par des clients ayant des goûts similaires etc. Les possibilités sont infinies.</a:t>
            </a:r>
          </a:p>
          <a:p>
            <a:r>
              <a:rPr lang="fr-FR" sz="1800" dirty="0">
                <a:effectLst/>
                <a:latin typeface="Times New Roman" panose="02020603050405020304" pitchFamily="18" charset="0"/>
                <a:ea typeface="Times New Roman" panose="02020603050405020304" pitchFamily="18" charset="0"/>
              </a:rPr>
              <a:t> Les organisations peuvent rapidement développer et faire progresser leurs algorithmes de recommandation en utilisant les données stockées dans le des entrepôts de données des organisations et en les combinant avec des données stockées dans Hadoop et d'autres sources NoSQL</a:t>
            </a:r>
            <a:endParaRPr lang="fr-FR" dirty="0"/>
          </a:p>
        </p:txBody>
      </p:sp>
      <p:sp>
        <p:nvSpPr>
          <p:cNvPr id="4" name="Espace réservé du numéro de diapositive 3"/>
          <p:cNvSpPr>
            <a:spLocks noGrp="1"/>
          </p:cNvSpPr>
          <p:nvPr>
            <p:ph type="sldNum" sz="quarter" idx="5"/>
          </p:nvPr>
        </p:nvSpPr>
        <p:spPr/>
        <p:txBody>
          <a:bodyPr/>
          <a:lstStyle/>
          <a:p>
            <a:fld id="{4EE084AE-0529-463D-B529-2E18D169A571}" type="slidenum">
              <a:rPr lang="fr-FR" smtClean="0"/>
              <a:t>24</a:t>
            </a:fld>
            <a:endParaRPr lang="fr-FR"/>
          </a:p>
        </p:txBody>
      </p:sp>
    </p:spTree>
    <p:extLst>
      <p:ext uri="{BB962C8B-B14F-4D97-AF65-F5344CB8AC3E}">
        <p14:creationId xmlns:p14="http://schemas.microsoft.com/office/powerpoint/2010/main" val="39192557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21FDFA1-AC8E-4E18-80D7-84943A6DC864}"/>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C5B2DEEA-6A46-4A1E-A33A-230386A04DE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29A8D379-E6CE-4ACF-A36C-596CEC5D082F}"/>
              </a:ext>
            </a:extLst>
          </p:cNvPr>
          <p:cNvSpPr>
            <a:spLocks noGrp="1"/>
          </p:cNvSpPr>
          <p:nvPr>
            <p:ph type="dt" sz="half" idx="10"/>
          </p:nvPr>
        </p:nvSpPr>
        <p:spPr/>
        <p:txBody>
          <a:bodyPr/>
          <a:lstStyle/>
          <a:p>
            <a:fld id="{8FCD48FD-5431-44F3-A1EF-865E7C47449B}" type="datetimeFigureOut">
              <a:rPr lang="fr-FR" smtClean="0"/>
              <a:t>27/01/2023</a:t>
            </a:fld>
            <a:endParaRPr lang="fr-FR"/>
          </a:p>
        </p:txBody>
      </p:sp>
      <p:sp>
        <p:nvSpPr>
          <p:cNvPr id="5" name="Espace réservé du pied de page 4">
            <a:extLst>
              <a:ext uri="{FF2B5EF4-FFF2-40B4-BE49-F238E27FC236}">
                <a16:creationId xmlns:a16="http://schemas.microsoft.com/office/drawing/2014/main" id="{74E57BDC-BA30-4994-BA73-DFCA7805951D}"/>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7B38C45B-D305-4D10-93BC-A2FD4290E7B1}"/>
              </a:ext>
            </a:extLst>
          </p:cNvPr>
          <p:cNvSpPr>
            <a:spLocks noGrp="1"/>
          </p:cNvSpPr>
          <p:nvPr>
            <p:ph type="sldNum" sz="quarter" idx="12"/>
          </p:nvPr>
        </p:nvSpPr>
        <p:spPr/>
        <p:txBody>
          <a:bodyPr/>
          <a:lstStyle/>
          <a:p>
            <a:fld id="{6807AD62-E7FC-4802-81DA-1B195E543D33}" type="slidenum">
              <a:rPr lang="fr-FR" smtClean="0"/>
              <a:t>‹N°›</a:t>
            </a:fld>
            <a:endParaRPr lang="fr-FR"/>
          </a:p>
        </p:txBody>
      </p:sp>
    </p:spTree>
    <p:extLst>
      <p:ext uri="{BB962C8B-B14F-4D97-AF65-F5344CB8AC3E}">
        <p14:creationId xmlns:p14="http://schemas.microsoft.com/office/powerpoint/2010/main" val="3454000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EE301BD-FFCF-415B-B8F8-A628A9A1A096}"/>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BF2BB4D3-69C2-4671-B536-586B64592792}"/>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EA8EAA60-6165-42FB-AFFB-A47BA98B0F6B}"/>
              </a:ext>
            </a:extLst>
          </p:cNvPr>
          <p:cNvSpPr>
            <a:spLocks noGrp="1"/>
          </p:cNvSpPr>
          <p:nvPr>
            <p:ph type="dt" sz="half" idx="10"/>
          </p:nvPr>
        </p:nvSpPr>
        <p:spPr/>
        <p:txBody>
          <a:bodyPr/>
          <a:lstStyle/>
          <a:p>
            <a:fld id="{8FCD48FD-5431-44F3-A1EF-865E7C47449B}" type="datetimeFigureOut">
              <a:rPr lang="fr-FR" smtClean="0"/>
              <a:t>27/01/2023</a:t>
            </a:fld>
            <a:endParaRPr lang="fr-FR"/>
          </a:p>
        </p:txBody>
      </p:sp>
      <p:sp>
        <p:nvSpPr>
          <p:cNvPr id="5" name="Espace réservé du pied de page 4">
            <a:extLst>
              <a:ext uri="{FF2B5EF4-FFF2-40B4-BE49-F238E27FC236}">
                <a16:creationId xmlns:a16="http://schemas.microsoft.com/office/drawing/2014/main" id="{4F55900F-FF65-4C07-8549-D6B57BA942AE}"/>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7F2C9FB7-32CD-461D-B513-7004E40C4834}"/>
              </a:ext>
            </a:extLst>
          </p:cNvPr>
          <p:cNvSpPr>
            <a:spLocks noGrp="1"/>
          </p:cNvSpPr>
          <p:nvPr>
            <p:ph type="sldNum" sz="quarter" idx="12"/>
          </p:nvPr>
        </p:nvSpPr>
        <p:spPr/>
        <p:txBody>
          <a:bodyPr/>
          <a:lstStyle/>
          <a:p>
            <a:fld id="{6807AD62-E7FC-4802-81DA-1B195E543D33}" type="slidenum">
              <a:rPr lang="fr-FR" smtClean="0"/>
              <a:t>‹N°›</a:t>
            </a:fld>
            <a:endParaRPr lang="fr-FR"/>
          </a:p>
        </p:txBody>
      </p:sp>
    </p:spTree>
    <p:extLst>
      <p:ext uri="{BB962C8B-B14F-4D97-AF65-F5344CB8AC3E}">
        <p14:creationId xmlns:p14="http://schemas.microsoft.com/office/powerpoint/2010/main" val="33705154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E2D8240-1B77-4C08-8F36-67530657B004}"/>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9F4DA814-1162-49EE-8473-352115B6CF6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6DB13834-6185-42F1-A591-9A363A7944DB}"/>
              </a:ext>
            </a:extLst>
          </p:cNvPr>
          <p:cNvSpPr>
            <a:spLocks noGrp="1"/>
          </p:cNvSpPr>
          <p:nvPr>
            <p:ph type="dt" sz="half" idx="10"/>
          </p:nvPr>
        </p:nvSpPr>
        <p:spPr/>
        <p:txBody>
          <a:bodyPr/>
          <a:lstStyle/>
          <a:p>
            <a:fld id="{8FCD48FD-5431-44F3-A1EF-865E7C47449B}" type="datetimeFigureOut">
              <a:rPr lang="fr-FR" smtClean="0"/>
              <a:t>27/01/2023</a:t>
            </a:fld>
            <a:endParaRPr lang="fr-FR"/>
          </a:p>
        </p:txBody>
      </p:sp>
      <p:sp>
        <p:nvSpPr>
          <p:cNvPr id="5" name="Espace réservé du pied de page 4">
            <a:extLst>
              <a:ext uri="{FF2B5EF4-FFF2-40B4-BE49-F238E27FC236}">
                <a16:creationId xmlns:a16="http://schemas.microsoft.com/office/drawing/2014/main" id="{BBD9E736-F234-4F39-82CA-D8FE7CBF06E3}"/>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3E0F64DE-0186-4AFF-80E2-63585BB3F2E8}"/>
              </a:ext>
            </a:extLst>
          </p:cNvPr>
          <p:cNvSpPr>
            <a:spLocks noGrp="1"/>
          </p:cNvSpPr>
          <p:nvPr>
            <p:ph type="sldNum" sz="quarter" idx="12"/>
          </p:nvPr>
        </p:nvSpPr>
        <p:spPr/>
        <p:txBody>
          <a:bodyPr/>
          <a:lstStyle/>
          <a:p>
            <a:fld id="{6807AD62-E7FC-4802-81DA-1B195E543D33}" type="slidenum">
              <a:rPr lang="fr-FR" smtClean="0"/>
              <a:t>‹N°›</a:t>
            </a:fld>
            <a:endParaRPr lang="fr-FR"/>
          </a:p>
        </p:txBody>
      </p:sp>
    </p:spTree>
    <p:extLst>
      <p:ext uri="{BB962C8B-B14F-4D97-AF65-F5344CB8AC3E}">
        <p14:creationId xmlns:p14="http://schemas.microsoft.com/office/powerpoint/2010/main" val="26961810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1C0E1EA-B644-46F1-BC49-15BDF6199669}"/>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BDC492AA-481B-4E50-A447-1A90A5E6A9D9}"/>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087BB5F0-6FAB-412B-B1AB-DBB5ADAF5953}"/>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FA9AB460-6A6A-476E-8E15-54B87B0BFC26}"/>
              </a:ext>
            </a:extLst>
          </p:cNvPr>
          <p:cNvSpPr>
            <a:spLocks noGrp="1"/>
          </p:cNvSpPr>
          <p:nvPr>
            <p:ph type="dt" sz="half" idx="10"/>
          </p:nvPr>
        </p:nvSpPr>
        <p:spPr/>
        <p:txBody>
          <a:bodyPr/>
          <a:lstStyle/>
          <a:p>
            <a:fld id="{8FCD48FD-5431-44F3-A1EF-865E7C47449B}" type="datetimeFigureOut">
              <a:rPr lang="fr-FR" smtClean="0"/>
              <a:t>27/01/2023</a:t>
            </a:fld>
            <a:endParaRPr lang="fr-FR"/>
          </a:p>
        </p:txBody>
      </p:sp>
      <p:sp>
        <p:nvSpPr>
          <p:cNvPr id="6" name="Espace réservé du pied de page 5">
            <a:extLst>
              <a:ext uri="{FF2B5EF4-FFF2-40B4-BE49-F238E27FC236}">
                <a16:creationId xmlns:a16="http://schemas.microsoft.com/office/drawing/2014/main" id="{F5882428-BC29-450A-8221-5782756B0B95}"/>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4615B57A-E6C9-4543-B8E8-F024B765141F}"/>
              </a:ext>
            </a:extLst>
          </p:cNvPr>
          <p:cNvSpPr>
            <a:spLocks noGrp="1"/>
          </p:cNvSpPr>
          <p:nvPr>
            <p:ph type="sldNum" sz="quarter" idx="12"/>
          </p:nvPr>
        </p:nvSpPr>
        <p:spPr/>
        <p:txBody>
          <a:bodyPr/>
          <a:lstStyle/>
          <a:p>
            <a:fld id="{6807AD62-E7FC-4802-81DA-1B195E543D33}" type="slidenum">
              <a:rPr lang="fr-FR" smtClean="0"/>
              <a:t>‹N°›</a:t>
            </a:fld>
            <a:endParaRPr lang="fr-FR"/>
          </a:p>
        </p:txBody>
      </p:sp>
    </p:spTree>
    <p:extLst>
      <p:ext uri="{BB962C8B-B14F-4D97-AF65-F5344CB8AC3E}">
        <p14:creationId xmlns:p14="http://schemas.microsoft.com/office/powerpoint/2010/main" val="13729019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6C05C1F-9D60-4CC4-807A-FC1217345A49}"/>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1701078D-51A2-4161-8F00-86014C64FE0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32374F91-16EC-410F-8A3C-664D60414EFC}"/>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6BA8F30C-7ACD-4021-AB88-2870B7BBB35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775E70B7-E5D4-4CDA-A5F7-BC9E7E716178}"/>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520E069E-7547-4DBC-8ACA-727A0D846F03}"/>
              </a:ext>
            </a:extLst>
          </p:cNvPr>
          <p:cNvSpPr>
            <a:spLocks noGrp="1"/>
          </p:cNvSpPr>
          <p:nvPr>
            <p:ph type="dt" sz="half" idx="10"/>
          </p:nvPr>
        </p:nvSpPr>
        <p:spPr/>
        <p:txBody>
          <a:bodyPr/>
          <a:lstStyle/>
          <a:p>
            <a:fld id="{8FCD48FD-5431-44F3-A1EF-865E7C47449B}" type="datetimeFigureOut">
              <a:rPr lang="fr-FR" smtClean="0"/>
              <a:t>27/01/2023</a:t>
            </a:fld>
            <a:endParaRPr lang="fr-FR"/>
          </a:p>
        </p:txBody>
      </p:sp>
      <p:sp>
        <p:nvSpPr>
          <p:cNvPr id="8" name="Espace réservé du pied de page 7">
            <a:extLst>
              <a:ext uri="{FF2B5EF4-FFF2-40B4-BE49-F238E27FC236}">
                <a16:creationId xmlns:a16="http://schemas.microsoft.com/office/drawing/2014/main" id="{C9BD6777-6C8C-45C3-B8F8-C78FE9D12E37}"/>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3B5C5AD7-3ACF-43FB-9435-4F1AFA6AF8CF}"/>
              </a:ext>
            </a:extLst>
          </p:cNvPr>
          <p:cNvSpPr>
            <a:spLocks noGrp="1"/>
          </p:cNvSpPr>
          <p:nvPr>
            <p:ph type="sldNum" sz="quarter" idx="12"/>
          </p:nvPr>
        </p:nvSpPr>
        <p:spPr/>
        <p:txBody>
          <a:bodyPr/>
          <a:lstStyle/>
          <a:p>
            <a:fld id="{6807AD62-E7FC-4802-81DA-1B195E543D33}" type="slidenum">
              <a:rPr lang="fr-FR" smtClean="0"/>
              <a:t>‹N°›</a:t>
            </a:fld>
            <a:endParaRPr lang="fr-FR"/>
          </a:p>
        </p:txBody>
      </p:sp>
    </p:spTree>
    <p:extLst>
      <p:ext uri="{BB962C8B-B14F-4D97-AF65-F5344CB8AC3E}">
        <p14:creationId xmlns:p14="http://schemas.microsoft.com/office/powerpoint/2010/main" val="29563103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E554054-4CA8-49FC-BB72-772EA62C074E}"/>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4307EF85-C86D-4A37-B21F-36F0E2F66260}"/>
              </a:ext>
            </a:extLst>
          </p:cNvPr>
          <p:cNvSpPr>
            <a:spLocks noGrp="1"/>
          </p:cNvSpPr>
          <p:nvPr>
            <p:ph type="dt" sz="half" idx="10"/>
          </p:nvPr>
        </p:nvSpPr>
        <p:spPr/>
        <p:txBody>
          <a:bodyPr/>
          <a:lstStyle/>
          <a:p>
            <a:fld id="{8FCD48FD-5431-44F3-A1EF-865E7C47449B}" type="datetimeFigureOut">
              <a:rPr lang="fr-FR" smtClean="0"/>
              <a:t>27/01/2023</a:t>
            </a:fld>
            <a:endParaRPr lang="fr-FR"/>
          </a:p>
        </p:txBody>
      </p:sp>
      <p:sp>
        <p:nvSpPr>
          <p:cNvPr id="4" name="Espace réservé du pied de page 3">
            <a:extLst>
              <a:ext uri="{FF2B5EF4-FFF2-40B4-BE49-F238E27FC236}">
                <a16:creationId xmlns:a16="http://schemas.microsoft.com/office/drawing/2014/main" id="{AB2ACB2A-4529-4148-BDA6-DD27E9813D95}"/>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1B3F5BB2-C161-471D-AD53-4CA4B7359354}"/>
              </a:ext>
            </a:extLst>
          </p:cNvPr>
          <p:cNvSpPr>
            <a:spLocks noGrp="1"/>
          </p:cNvSpPr>
          <p:nvPr>
            <p:ph type="sldNum" sz="quarter" idx="12"/>
          </p:nvPr>
        </p:nvSpPr>
        <p:spPr/>
        <p:txBody>
          <a:bodyPr/>
          <a:lstStyle/>
          <a:p>
            <a:fld id="{6807AD62-E7FC-4802-81DA-1B195E543D33}" type="slidenum">
              <a:rPr lang="fr-FR" smtClean="0"/>
              <a:t>‹N°›</a:t>
            </a:fld>
            <a:endParaRPr lang="fr-FR"/>
          </a:p>
        </p:txBody>
      </p:sp>
    </p:spTree>
    <p:extLst>
      <p:ext uri="{BB962C8B-B14F-4D97-AF65-F5344CB8AC3E}">
        <p14:creationId xmlns:p14="http://schemas.microsoft.com/office/powerpoint/2010/main" val="15444525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7314BE62-BD63-438D-B35B-EC7BF1FED11B}"/>
              </a:ext>
            </a:extLst>
          </p:cNvPr>
          <p:cNvSpPr>
            <a:spLocks noGrp="1"/>
          </p:cNvSpPr>
          <p:nvPr>
            <p:ph type="dt" sz="half" idx="10"/>
          </p:nvPr>
        </p:nvSpPr>
        <p:spPr/>
        <p:txBody>
          <a:bodyPr/>
          <a:lstStyle/>
          <a:p>
            <a:fld id="{8FCD48FD-5431-44F3-A1EF-865E7C47449B}" type="datetimeFigureOut">
              <a:rPr lang="fr-FR" smtClean="0"/>
              <a:t>27/01/2023</a:t>
            </a:fld>
            <a:endParaRPr lang="fr-FR"/>
          </a:p>
        </p:txBody>
      </p:sp>
      <p:sp>
        <p:nvSpPr>
          <p:cNvPr id="3" name="Espace réservé du pied de page 2">
            <a:extLst>
              <a:ext uri="{FF2B5EF4-FFF2-40B4-BE49-F238E27FC236}">
                <a16:creationId xmlns:a16="http://schemas.microsoft.com/office/drawing/2014/main" id="{0897B022-A70B-4D51-9CFE-DFE556E61A2A}"/>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9606459E-31BF-46E0-839B-E2977248A5DF}"/>
              </a:ext>
            </a:extLst>
          </p:cNvPr>
          <p:cNvSpPr>
            <a:spLocks noGrp="1"/>
          </p:cNvSpPr>
          <p:nvPr>
            <p:ph type="sldNum" sz="quarter" idx="12"/>
          </p:nvPr>
        </p:nvSpPr>
        <p:spPr/>
        <p:txBody>
          <a:bodyPr/>
          <a:lstStyle/>
          <a:p>
            <a:fld id="{6807AD62-E7FC-4802-81DA-1B195E543D33}" type="slidenum">
              <a:rPr lang="fr-FR" smtClean="0"/>
              <a:t>‹N°›</a:t>
            </a:fld>
            <a:endParaRPr lang="fr-FR"/>
          </a:p>
        </p:txBody>
      </p:sp>
    </p:spTree>
    <p:extLst>
      <p:ext uri="{BB962C8B-B14F-4D97-AF65-F5344CB8AC3E}">
        <p14:creationId xmlns:p14="http://schemas.microsoft.com/office/powerpoint/2010/main" val="38157963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0857A60-3CEF-474E-BFDA-DEB2C4B7CAA7}"/>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D1C61A50-451A-4F7D-A060-86E91AE9FC0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9A7631FD-39E0-43A4-9D24-19A041D2BA2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20C03561-D966-4C07-B70D-D03CEED2C67A}"/>
              </a:ext>
            </a:extLst>
          </p:cNvPr>
          <p:cNvSpPr>
            <a:spLocks noGrp="1"/>
          </p:cNvSpPr>
          <p:nvPr>
            <p:ph type="dt" sz="half" idx="10"/>
          </p:nvPr>
        </p:nvSpPr>
        <p:spPr/>
        <p:txBody>
          <a:bodyPr/>
          <a:lstStyle/>
          <a:p>
            <a:fld id="{8FCD48FD-5431-44F3-A1EF-865E7C47449B}" type="datetimeFigureOut">
              <a:rPr lang="fr-FR" smtClean="0"/>
              <a:t>27/01/2023</a:t>
            </a:fld>
            <a:endParaRPr lang="fr-FR"/>
          </a:p>
        </p:txBody>
      </p:sp>
      <p:sp>
        <p:nvSpPr>
          <p:cNvPr id="6" name="Espace réservé du pied de page 5">
            <a:extLst>
              <a:ext uri="{FF2B5EF4-FFF2-40B4-BE49-F238E27FC236}">
                <a16:creationId xmlns:a16="http://schemas.microsoft.com/office/drawing/2014/main" id="{8B913426-BD66-49F7-86D8-E90C74E8F202}"/>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418F78A6-5EFE-4EBE-9AB3-EEEF44D21A91}"/>
              </a:ext>
            </a:extLst>
          </p:cNvPr>
          <p:cNvSpPr>
            <a:spLocks noGrp="1"/>
          </p:cNvSpPr>
          <p:nvPr>
            <p:ph type="sldNum" sz="quarter" idx="12"/>
          </p:nvPr>
        </p:nvSpPr>
        <p:spPr/>
        <p:txBody>
          <a:bodyPr/>
          <a:lstStyle/>
          <a:p>
            <a:fld id="{6807AD62-E7FC-4802-81DA-1B195E543D33}" type="slidenum">
              <a:rPr lang="fr-FR" smtClean="0"/>
              <a:t>‹N°›</a:t>
            </a:fld>
            <a:endParaRPr lang="fr-FR"/>
          </a:p>
        </p:txBody>
      </p:sp>
    </p:spTree>
    <p:extLst>
      <p:ext uri="{BB962C8B-B14F-4D97-AF65-F5344CB8AC3E}">
        <p14:creationId xmlns:p14="http://schemas.microsoft.com/office/powerpoint/2010/main" val="17616663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44B3323-9D63-4D24-BAEA-97AADF14EC08}"/>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304C37D1-6B54-4290-B08F-7F46CEF5465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35303BBF-B88F-42F9-9B84-D25A1724B09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7B325560-7D04-4915-895F-B473B584C788}"/>
              </a:ext>
            </a:extLst>
          </p:cNvPr>
          <p:cNvSpPr>
            <a:spLocks noGrp="1"/>
          </p:cNvSpPr>
          <p:nvPr>
            <p:ph type="dt" sz="half" idx="10"/>
          </p:nvPr>
        </p:nvSpPr>
        <p:spPr/>
        <p:txBody>
          <a:bodyPr/>
          <a:lstStyle/>
          <a:p>
            <a:fld id="{8FCD48FD-5431-44F3-A1EF-865E7C47449B}" type="datetimeFigureOut">
              <a:rPr lang="fr-FR" smtClean="0"/>
              <a:t>27/01/2023</a:t>
            </a:fld>
            <a:endParaRPr lang="fr-FR"/>
          </a:p>
        </p:txBody>
      </p:sp>
      <p:sp>
        <p:nvSpPr>
          <p:cNvPr id="6" name="Espace réservé du pied de page 5">
            <a:extLst>
              <a:ext uri="{FF2B5EF4-FFF2-40B4-BE49-F238E27FC236}">
                <a16:creationId xmlns:a16="http://schemas.microsoft.com/office/drawing/2014/main" id="{D6108D6C-3AE0-44B4-993D-A92E14150A2A}"/>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B90774EA-2814-4582-B67D-656AC82B70D5}"/>
              </a:ext>
            </a:extLst>
          </p:cNvPr>
          <p:cNvSpPr>
            <a:spLocks noGrp="1"/>
          </p:cNvSpPr>
          <p:nvPr>
            <p:ph type="sldNum" sz="quarter" idx="12"/>
          </p:nvPr>
        </p:nvSpPr>
        <p:spPr/>
        <p:txBody>
          <a:bodyPr/>
          <a:lstStyle/>
          <a:p>
            <a:fld id="{6807AD62-E7FC-4802-81DA-1B195E543D33}" type="slidenum">
              <a:rPr lang="fr-FR" smtClean="0"/>
              <a:t>‹N°›</a:t>
            </a:fld>
            <a:endParaRPr lang="fr-FR"/>
          </a:p>
        </p:txBody>
      </p:sp>
    </p:spTree>
    <p:extLst>
      <p:ext uri="{BB962C8B-B14F-4D97-AF65-F5344CB8AC3E}">
        <p14:creationId xmlns:p14="http://schemas.microsoft.com/office/powerpoint/2010/main" val="20465013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6374422-70A3-4984-A4A3-726B2532B9D9}"/>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74F47B3F-9753-45EF-8F25-98CA3E9BCA30}"/>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65FAE398-06F9-4AA9-88B2-A7C78D75D08A}"/>
              </a:ext>
            </a:extLst>
          </p:cNvPr>
          <p:cNvSpPr>
            <a:spLocks noGrp="1"/>
          </p:cNvSpPr>
          <p:nvPr>
            <p:ph type="dt" sz="half" idx="10"/>
          </p:nvPr>
        </p:nvSpPr>
        <p:spPr/>
        <p:txBody>
          <a:bodyPr/>
          <a:lstStyle/>
          <a:p>
            <a:fld id="{8FCD48FD-5431-44F3-A1EF-865E7C47449B}" type="datetimeFigureOut">
              <a:rPr lang="fr-FR" smtClean="0"/>
              <a:t>27/01/2023</a:t>
            </a:fld>
            <a:endParaRPr lang="fr-FR"/>
          </a:p>
        </p:txBody>
      </p:sp>
      <p:sp>
        <p:nvSpPr>
          <p:cNvPr id="5" name="Espace réservé du pied de page 4">
            <a:extLst>
              <a:ext uri="{FF2B5EF4-FFF2-40B4-BE49-F238E27FC236}">
                <a16:creationId xmlns:a16="http://schemas.microsoft.com/office/drawing/2014/main" id="{63D3298B-FF54-49B3-AB11-8720C0EEC46D}"/>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BA1BE424-EBFB-4E49-86FD-FEF147261A87}"/>
              </a:ext>
            </a:extLst>
          </p:cNvPr>
          <p:cNvSpPr>
            <a:spLocks noGrp="1"/>
          </p:cNvSpPr>
          <p:nvPr>
            <p:ph type="sldNum" sz="quarter" idx="12"/>
          </p:nvPr>
        </p:nvSpPr>
        <p:spPr/>
        <p:txBody>
          <a:bodyPr/>
          <a:lstStyle/>
          <a:p>
            <a:fld id="{6807AD62-E7FC-4802-81DA-1B195E543D33}" type="slidenum">
              <a:rPr lang="fr-FR" smtClean="0"/>
              <a:t>‹N°›</a:t>
            </a:fld>
            <a:endParaRPr lang="fr-FR"/>
          </a:p>
        </p:txBody>
      </p:sp>
    </p:spTree>
    <p:extLst>
      <p:ext uri="{BB962C8B-B14F-4D97-AF65-F5344CB8AC3E}">
        <p14:creationId xmlns:p14="http://schemas.microsoft.com/office/powerpoint/2010/main" val="8900217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E1F676BA-55E2-4891-B0FA-BDC786FB2FF1}"/>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20E79CED-4E45-4620-ACBF-5C5F7CDFF5C2}"/>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F7D45A4E-F8AC-4D42-80D2-D4E499ECF6AF}"/>
              </a:ext>
            </a:extLst>
          </p:cNvPr>
          <p:cNvSpPr>
            <a:spLocks noGrp="1"/>
          </p:cNvSpPr>
          <p:nvPr>
            <p:ph type="dt" sz="half" idx="10"/>
          </p:nvPr>
        </p:nvSpPr>
        <p:spPr/>
        <p:txBody>
          <a:bodyPr/>
          <a:lstStyle/>
          <a:p>
            <a:fld id="{8FCD48FD-5431-44F3-A1EF-865E7C47449B}" type="datetimeFigureOut">
              <a:rPr lang="fr-FR" smtClean="0"/>
              <a:t>27/01/2023</a:t>
            </a:fld>
            <a:endParaRPr lang="fr-FR"/>
          </a:p>
        </p:txBody>
      </p:sp>
      <p:sp>
        <p:nvSpPr>
          <p:cNvPr id="5" name="Espace réservé du pied de page 4">
            <a:extLst>
              <a:ext uri="{FF2B5EF4-FFF2-40B4-BE49-F238E27FC236}">
                <a16:creationId xmlns:a16="http://schemas.microsoft.com/office/drawing/2014/main" id="{6BD9050F-3404-4471-9FDA-FAD5A7D26E5A}"/>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B41E3BD8-2F85-4D9A-BC8B-0EC65B753A62}"/>
              </a:ext>
            </a:extLst>
          </p:cNvPr>
          <p:cNvSpPr>
            <a:spLocks noGrp="1"/>
          </p:cNvSpPr>
          <p:nvPr>
            <p:ph type="sldNum" sz="quarter" idx="12"/>
          </p:nvPr>
        </p:nvSpPr>
        <p:spPr/>
        <p:txBody>
          <a:bodyPr/>
          <a:lstStyle/>
          <a:p>
            <a:fld id="{6807AD62-E7FC-4802-81DA-1B195E543D33}" type="slidenum">
              <a:rPr lang="fr-FR" smtClean="0"/>
              <a:t>‹N°›</a:t>
            </a:fld>
            <a:endParaRPr lang="fr-FR"/>
          </a:p>
        </p:txBody>
      </p:sp>
    </p:spTree>
    <p:extLst>
      <p:ext uri="{BB962C8B-B14F-4D97-AF65-F5344CB8AC3E}">
        <p14:creationId xmlns:p14="http://schemas.microsoft.com/office/powerpoint/2010/main" val="15585350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C4B6B947-47C4-4846-9E53-CC1ADC2E47C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3D37CCB0-4FB9-475D-ADD0-E109BE8CC8C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04981AEA-30E6-4F11-ACC2-0691748571B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FCD48FD-5431-44F3-A1EF-865E7C47449B}" type="datetimeFigureOut">
              <a:rPr lang="fr-FR" smtClean="0"/>
              <a:t>27/01/2023</a:t>
            </a:fld>
            <a:endParaRPr lang="fr-FR"/>
          </a:p>
        </p:txBody>
      </p:sp>
      <p:sp>
        <p:nvSpPr>
          <p:cNvPr id="5" name="Espace réservé du pied de page 4">
            <a:extLst>
              <a:ext uri="{FF2B5EF4-FFF2-40B4-BE49-F238E27FC236}">
                <a16:creationId xmlns:a16="http://schemas.microsoft.com/office/drawing/2014/main" id="{F8F3B38D-07CB-4F4F-BF0C-47302291427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C617B6C7-0E4D-4FB8-A4A7-75065C3F8B7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807AD62-E7FC-4802-81DA-1B195E543D33}" type="slidenum">
              <a:rPr lang="fr-FR" smtClean="0"/>
              <a:t>‹N°›</a:t>
            </a:fld>
            <a:endParaRPr lang="fr-FR"/>
          </a:p>
        </p:txBody>
      </p:sp>
    </p:spTree>
    <p:extLst>
      <p:ext uri="{BB962C8B-B14F-4D97-AF65-F5344CB8AC3E}">
        <p14:creationId xmlns:p14="http://schemas.microsoft.com/office/powerpoint/2010/main" val="3078166866"/>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2.tmp"/><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ZoneTexte 3">
            <a:extLst>
              <a:ext uri="{FF2B5EF4-FFF2-40B4-BE49-F238E27FC236}">
                <a16:creationId xmlns:a16="http://schemas.microsoft.com/office/drawing/2014/main" id="{7D71B430-FACF-48B8-84E6-B7DCC8438FEB}"/>
              </a:ext>
            </a:extLst>
          </p:cNvPr>
          <p:cNvSpPr txBox="1"/>
          <p:nvPr/>
        </p:nvSpPr>
        <p:spPr>
          <a:xfrm>
            <a:off x="2154382" y="2015185"/>
            <a:ext cx="7883235" cy="707886"/>
          </a:xfrm>
          <a:prstGeom prst="rect">
            <a:avLst/>
          </a:prstGeom>
          <a:noFill/>
        </p:spPr>
        <p:txBody>
          <a:bodyPr wrap="square" rtlCol="0">
            <a:spAutoFit/>
          </a:bodyPr>
          <a:lstStyle/>
          <a:p>
            <a:r>
              <a:rPr lang="fr-FR" sz="4000" b="1" dirty="0">
                <a:solidFill>
                  <a:srgbClr val="C00000"/>
                </a:solidFill>
                <a:effectLst>
                  <a:outerShdw blurRad="38100" dist="38100" dir="2700000" algn="tl">
                    <a:srgbClr val="000000">
                      <a:alpha val="43137"/>
                    </a:srgbClr>
                  </a:outerShdw>
                </a:effectLst>
              </a:rPr>
              <a:t>Le BIG DATA et SES TECHNOLOGIES</a:t>
            </a:r>
          </a:p>
        </p:txBody>
      </p:sp>
      <p:sp>
        <p:nvSpPr>
          <p:cNvPr id="5" name="ZoneTexte 4">
            <a:extLst>
              <a:ext uri="{FF2B5EF4-FFF2-40B4-BE49-F238E27FC236}">
                <a16:creationId xmlns:a16="http://schemas.microsoft.com/office/drawing/2014/main" id="{2B7FD354-47D7-4052-8386-A749EB93D437}"/>
              </a:ext>
            </a:extLst>
          </p:cNvPr>
          <p:cNvSpPr txBox="1"/>
          <p:nvPr/>
        </p:nvSpPr>
        <p:spPr>
          <a:xfrm>
            <a:off x="6572595" y="4571999"/>
            <a:ext cx="5389419" cy="1200329"/>
          </a:xfrm>
          <a:prstGeom prst="rect">
            <a:avLst/>
          </a:prstGeom>
          <a:noFill/>
        </p:spPr>
        <p:txBody>
          <a:bodyPr wrap="square" rtlCol="0">
            <a:spAutoFit/>
          </a:bodyPr>
          <a:lstStyle/>
          <a:p>
            <a:r>
              <a:rPr lang="fr-FR" sz="2400" b="1" dirty="0">
                <a:effectLst>
                  <a:outerShdw blurRad="38100" dist="38100" dir="2700000" algn="tl">
                    <a:srgbClr val="000000">
                      <a:alpha val="43137"/>
                    </a:srgbClr>
                  </a:outerShdw>
                </a:effectLst>
              </a:rPr>
              <a:t>Dr. Abdoulaye SIDIBE, Maitre Assistant</a:t>
            </a:r>
          </a:p>
          <a:p>
            <a:r>
              <a:rPr lang="fr-FR" sz="2400" dirty="0">
                <a:latin typeface="Times New Roman" panose="02020603050405020304" pitchFamily="18" charset="0"/>
                <a:cs typeface="Times New Roman" panose="02020603050405020304" pitchFamily="18" charset="0"/>
              </a:rPr>
              <a:t>Ecole Nationale d’Ingénieurs Abderhamane Baba Touré (ENI-ABT)</a:t>
            </a:r>
          </a:p>
        </p:txBody>
      </p:sp>
    </p:spTree>
    <p:extLst>
      <p:ext uri="{BB962C8B-B14F-4D97-AF65-F5344CB8AC3E}">
        <p14:creationId xmlns:p14="http://schemas.microsoft.com/office/powerpoint/2010/main" val="8792679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C289EB3C-565F-4FEA-9BCC-516C7834B36A}"/>
              </a:ext>
            </a:extLst>
          </p:cNvPr>
          <p:cNvSpPr txBox="1"/>
          <p:nvPr/>
        </p:nvSpPr>
        <p:spPr>
          <a:xfrm>
            <a:off x="343592" y="259988"/>
            <a:ext cx="3871912" cy="584775"/>
          </a:xfrm>
          <a:prstGeom prst="rect">
            <a:avLst/>
          </a:prstGeom>
          <a:noFill/>
        </p:spPr>
        <p:txBody>
          <a:bodyPr wrap="square" rtlCol="0">
            <a:spAutoFit/>
          </a:bodyPr>
          <a:lstStyle/>
          <a:p>
            <a:r>
              <a:rPr lang="fr-FR" sz="3200" b="1"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Plan</a:t>
            </a:r>
          </a:p>
        </p:txBody>
      </p:sp>
      <p:sp>
        <p:nvSpPr>
          <p:cNvPr id="3" name="ZoneTexte 2">
            <a:extLst>
              <a:ext uri="{FF2B5EF4-FFF2-40B4-BE49-F238E27FC236}">
                <a16:creationId xmlns:a16="http://schemas.microsoft.com/office/drawing/2014/main" id="{4A538802-4236-4BB8-BA3F-DD3BAFA6B0BE}"/>
              </a:ext>
            </a:extLst>
          </p:cNvPr>
          <p:cNvSpPr txBox="1"/>
          <p:nvPr/>
        </p:nvSpPr>
        <p:spPr>
          <a:xfrm>
            <a:off x="343592" y="1154082"/>
            <a:ext cx="11504816" cy="4549835"/>
          </a:xfrm>
          <a:prstGeom prst="rect">
            <a:avLst/>
          </a:prstGeom>
          <a:noFill/>
        </p:spPr>
        <p:txBody>
          <a:bodyPr wrap="square" rtlCol="0">
            <a:spAutoFit/>
          </a:bodyPr>
          <a:lstStyle/>
          <a:p>
            <a:pPr marL="342900" indent="-342900">
              <a:lnSpc>
                <a:spcPct val="150000"/>
              </a:lnSpc>
              <a:buAutoNum type="arabicPeriod"/>
            </a:pPr>
            <a:r>
              <a:rPr lang="fr-FR" sz="2800" b="1" dirty="0">
                <a:solidFill>
                  <a:srgbClr val="C00000"/>
                </a:solidFill>
              </a:rPr>
              <a:t>Introduction au Big Data </a:t>
            </a:r>
          </a:p>
          <a:p>
            <a:pPr marL="342900" indent="-342900">
              <a:lnSpc>
                <a:spcPct val="150000"/>
              </a:lnSpc>
              <a:buAutoNum type="arabicPeriod"/>
            </a:pPr>
            <a:r>
              <a:rPr lang="fr-FR" sz="2800" b="1" dirty="0">
                <a:solidFill>
                  <a:srgbClr val="C00000"/>
                </a:solidFill>
              </a:rPr>
              <a:t>C’est Quoi le Big Data</a:t>
            </a:r>
          </a:p>
          <a:p>
            <a:pPr marL="342900" indent="-342900">
              <a:lnSpc>
                <a:spcPct val="150000"/>
              </a:lnSpc>
              <a:buAutoNum type="arabicPeriod"/>
            </a:pPr>
            <a:r>
              <a:rPr lang="fr-FR" sz="2800" b="1" dirty="0">
                <a:solidFill>
                  <a:srgbClr val="C00000"/>
                </a:solidFill>
              </a:rPr>
              <a:t>Les Caractéristiques du Big Data</a:t>
            </a:r>
          </a:p>
          <a:p>
            <a:pPr marL="342900" indent="-342900">
              <a:lnSpc>
                <a:spcPct val="150000"/>
              </a:lnSpc>
              <a:buAutoNum type="arabicPeriod"/>
            </a:pPr>
            <a:r>
              <a:rPr lang="fr-FR" sz="2800" b="1" dirty="0">
                <a:solidFill>
                  <a:srgbClr val="C00000"/>
                </a:solidFill>
              </a:rPr>
              <a:t>Les Technologies de Stockage des Big Data</a:t>
            </a:r>
          </a:p>
          <a:p>
            <a:pPr marL="342900" indent="-342900">
              <a:lnSpc>
                <a:spcPct val="150000"/>
              </a:lnSpc>
              <a:buFontTx/>
              <a:buAutoNum type="arabicPeriod"/>
            </a:pPr>
            <a:r>
              <a:rPr lang="fr-FR" sz="2800" b="1" dirty="0">
                <a:solidFill>
                  <a:srgbClr val="C00000"/>
                </a:solidFill>
              </a:rPr>
              <a:t>Les Technologies de Traitement et d’ Analyse des Big Data</a:t>
            </a:r>
          </a:p>
          <a:p>
            <a:pPr marL="342900" indent="-342900">
              <a:lnSpc>
                <a:spcPct val="150000"/>
              </a:lnSpc>
              <a:buAutoNum type="arabicPeriod"/>
            </a:pPr>
            <a:r>
              <a:rPr lang="fr-FR" sz="2800" b="1" dirty="0">
                <a:solidFill>
                  <a:srgbClr val="C00000"/>
                </a:solidFill>
              </a:rPr>
              <a:t>Les Domaines d’Application du Big Data</a:t>
            </a:r>
          </a:p>
          <a:p>
            <a:pPr marL="342900" indent="-342900">
              <a:lnSpc>
                <a:spcPct val="150000"/>
              </a:lnSpc>
              <a:buAutoNum type="arabicPeriod"/>
            </a:pPr>
            <a:r>
              <a:rPr lang="fr-FR" sz="2800" b="1" dirty="0">
                <a:solidFill>
                  <a:srgbClr val="C00000"/>
                </a:solidFill>
              </a:rPr>
              <a:t>Les Défis du Big Data</a:t>
            </a:r>
          </a:p>
        </p:txBody>
      </p:sp>
    </p:spTree>
    <p:extLst>
      <p:ext uri="{BB962C8B-B14F-4D97-AF65-F5344CB8AC3E}">
        <p14:creationId xmlns:p14="http://schemas.microsoft.com/office/powerpoint/2010/main" val="12859244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ZoneTexte 4">
            <a:extLst>
              <a:ext uri="{FF2B5EF4-FFF2-40B4-BE49-F238E27FC236}">
                <a16:creationId xmlns:a16="http://schemas.microsoft.com/office/drawing/2014/main" id="{CE0A3D73-55CF-4B51-9AEC-202F66AA9A7E}"/>
              </a:ext>
            </a:extLst>
          </p:cNvPr>
          <p:cNvSpPr txBox="1"/>
          <p:nvPr/>
        </p:nvSpPr>
        <p:spPr>
          <a:xfrm>
            <a:off x="358423" y="94124"/>
            <a:ext cx="7322537" cy="646331"/>
          </a:xfrm>
          <a:prstGeom prst="rect">
            <a:avLst/>
          </a:prstGeom>
          <a:noFill/>
        </p:spPr>
        <p:txBody>
          <a:bodyPr wrap="square">
            <a:spAutoFit/>
          </a:bodyPr>
          <a:lstStyle/>
          <a:p>
            <a:pPr marL="342900" marR="0" lvl="0" indent="-342900" algn="l" defTabSz="914400" rtl="0" eaLnBrk="1" fontAlgn="auto" latinLnBrk="0" hangingPunct="1">
              <a:spcBef>
                <a:spcPts val="0"/>
              </a:spcBef>
              <a:spcAft>
                <a:spcPts val="0"/>
              </a:spcAft>
              <a:buClrTx/>
              <a:buSzTx/>
              <a:buFontTx/>
              <a:buAutoNum type="arabicPeriod"/>
              <a:tabLst/>
              <a:defRPr/>
            </a:pPr>
            <a:r>
              <a:rPr kumimoji="0" lang="fr-FR" sz="3600" b="1" i="0" u="none" strike="noStrike" kern="1200" cap="none" spc="0" normalizeH="0" baseline="0" noProof="0" dirty="0">
                <a:ln>
                  <a:noFill/>
                </a:ln>
                <a:solidFill>
                  <a:srgbClr val="C00000"/>
                </a:solidFill>
                <a:effectLst/>
                <a:uLnTx/>
                <a:uFillTx/>
                <a:latin typeface="Times New Roman" panose="02020603050405020304" pitchFamily="18" charset="0"/>
                <a:cs typeface="Times New Roman" panose="02020603050405020304" pitchFamily="18" charset="0"/>
              </a:rPr>
              <a:t>Introduction au Big Data</a:t>
            </a:r>
          </a:p>
        </p:txBody>
      </p:sp>
      <p:sp>
        <p:nvSpPr>
          <p:cNvPr id="4" name="ZoneTexte 3">
            <a:extLst>
              <a:ext uri="{FF2B5EF4-FFF2-40B4-BE49-F238E27FC236}">
                <a16:creationId xmlns:a16="http://schemas.microsoft.com/office/drawing/2014/main" id="{CC091F95-10CA-4993-B4BD-E80C917D08AE}"/>
              </a:ext>
            </a:extLst>
          </p:cNvPr>
          <p:cNvSpPr txBox="1"/>
          <p:nvPr/>
        </p:nvSpPr>
        <p:spPr>
          <a:xfrm>
            <a:off x="358423" y="720994"/>
            <a:ext cx="11475154" cy="6092758"/>
          </a:xfrm>
          <a:prstGeom prst="rect">
            <a:avLst/>
          </a:prstGeom>
          <a:noFill/>
        </p:spPr>
        <p:txBody>
          <a:bodyPr wrap="square">
            <a:spAutoFit/>
          </a:bodyPr>
          <a:lstStyle/>
          <a:p>
            <a:pPr algn="just">
              <a:lnSpc>
                <a:spcPct val="115000"/>
              </a:lnSpc>
              <a:spcAft>
                <a:spcPts val="800"/>
              </a:spcAft>
            </a:pPr>
            <a:r>
              <a:rPr lang="fr-FR" sz="2400" dirty="0">
                <a:effectLst/>
                <a:latin typeface="Times New Roman" panose="02020603050405020304" pitchFamily="18" charset="0"/>
                <a:ea typeface="Calibri" panose="020F0502020204030204" pitchFamily="34" charset="0"/>
                <a:cs typeface="Times New Roman" panose="02020603050405020304" pitchFamily="18" charset="0"/>
              </a:rPr>
              <a:t>Le terme Big data a été utilisé pour la première fois pour désigner l'augmentation des volumes de données </a:t>
            </a:r>
            <a:r>
              <a:rPr lang="fr-FR" sz="2400" b="1" dirty="0">
                <a:effectLst/>
                <a:latin typeface="Times New Roman" panose="02020603050405020304" pitchFamily="18" charset="0"/>
                <a:ea typeface="Calibri" panose="020F0502020204030204" pitchFamily="34" charset="0"/>
                <a:cs typeface="Times New Roman" panose="02020603050405020304" pitchFamily="18" charset="0"/>
              </a:rPr>
              <a:t>au milieu des années 90</a:t>
            </a:r>
            <a:r>
              <a:rPr lang="fr-FR" sz="2400" dirty="0">
                <a:effectLst/>
                <a:latin typeface="Times New Roman" panose="02020603050405020304" pitchFamily="18" charset="0"/>
                <a:ea typeface="Calibri" panose="020F0502020204030204" pitchFamily="34" charset="0"/>
                <a:cs typeface="Times New Roman" panose="02020603050405020304" pitchFamily="18" charset="0"/>
              </a:rPr>
              <a:t>. </a:t>
            </a:r>
          </a:p>
          <a:p>
            <a:pPr algn="just">
              <a:lnSpc>
                <a:spcPct val="115000"/>
              </a:lnSpc>
              <a:spcAft>
                <a:spcPts val="800"/>
              </a:spcAft>
            </a:pPr>
            <a:r>
              <a:rPr lang="fr-FR" sz="2400" b="1" dirty="0">
                <a:solidFill>
                  <a:srgbClr val="C00000"/>
                </a:solidFill>
                <a:effectLst/>
                <a:latin typeface="Times New Roman" panose="02020603050405020304" pitchFamily="18" charset="0"/>
                <a:ea typeface="Calibri" panose="020F0502020204030204" pitchFamily="34" charset="0"/>
                <a:cs typeface="Times New Roman" panose="02020603050405020304" pitchFamily="18" charset="0"/>
              </a:rPr>
              <a:t>En 2001</a:t>
            </a:r>
            <a:r>
              <a:rPr lang="fr-FR" sz="2400" dirty="0">
                <a:effectLst/>
                <a:latin typeface="Times New Roman" panose="02020603050405020304" pitchFamily="18" charset="0"/>
                <a:ea typeface="Calibri" panose="020F0502020204030204" pitchFamily="34" charset="0"/>
                <a:cs typeface="Times New Roman" panose="02020603050405020304" pitchFamily="18" charset="0"/>
              </a:rPr>
              <a:t>, Doug </a:t>
            </a:r>
            <a:r>
              <a:rPr lang="fr-FR" sz="2400" dirty="0" err="1">
                <a:effectLst/>
                <a:latin typeface="Times New Roman" panose="02020603050405020304" pitchFamily="18" charset="0"/>
                <a:ea typeface="Calibri" panose="020F0502020204030204" pitchFamily="34" charset="0"/>
                <a:cs typeface="Times New Roman" panose="02020603050405020304" pitchFamily="18" charset="0"/>
              </a:rPr>
              <a:t>Laney</a:t>
            </a:r>
            <a:r>
              <a:rPr lang="fr-FR" sz="2400" dirty="0">
                <a:effectLst/>
                <a:latin typeface="Times New Roman" panose="02020603050405020304" pitchFamily="18" charset="0"/>
                <a:ea typeface="Calibri" panose="020F0502020204030204" pitchFamily="34" charset="0"/>
                <a:cs typeface="Times New Roman" panose="02020603050405020304" pitchFamily="18" charset="0"/>
              </a:rPr>
              <a:t>, analyste au cabinet de conseil Meta Group Inc., a élargi la définition du big data. Cette expansion décrit l'augmentation </a:t>
            </a:r>
            <a:r>
              <a:rPr lang="fr-FR" sz="2400" dirty="0" smtClean="0">
                <a:effectLst/>
                <a:latin typeface="Times New Roman" panose="02020603050405020304" pitchFamily="18" charset="0"/>
                <a:ea typeface="Calibri" panose="020F0502020204030204" pitchFamily="34" charset="0"/>
                <a:cs typeface="Times New Roman" panose="02020603050405020304" pitchFamily="18" charset="0"/>
              </a:rPr>
              <a:t>par:</a:t>
            </a:r>
            <a:endParaRPr lang="fr-FR" sz="2400" dirty="0">
              <a:effectLst/>
              <a:latin typeface="Times New Roman" panose="02020603050405020304" pitchFamily="18" charset="0"/>
              <a:ea typeface="Calibri" panose="020F0502020204030204" pitchFamily="34" charset="0"/>
              <a:cs typeface="Times New Roman" panose="02020603050405020304" pitchFamily="18" charset="0"/>
            </a:endParaRPr>
          </a:p>
          <a:p>
            <a:pPr marL="898525" lvl="0" algn="just">
              <a:lnSpc>
                <a:spcPct val="115000"/>
              </a:lnSpc>
              <a:buFont typeface="Wingdings" panose="05000000000000000000" pitchFamily="2" charset="2"/>
              <a:buChar char=""/>
              <a:tabLst>
                <a:tab pos="1346200" algn="l"/>
              </a:tabLst>
            </a:pPr>
            <a:r>
              <a:rPr lang="fr-FR" sz="2400" dirty="0">
                <a:effectLst/>
                <a:latin typeface="Times New Roman" panose="02020603050405020304" pitchFamily="18" charset="0"/>
                <a:ea typeface="Calibri" panose="020F0502020204030204" pitchFamily="34" charset="0"/>
                <a:cs typeface="Times New Roman" panose="02020603050405020304" pitchFamily="18" charset="0"/>
              </a:rPr>
              <a:t>  </a:t>
            </a:r>
            <a:r>
              <a:rPr lang="fr-FR" sz="2400" dirty="0">
                <a:solidFill>
                  <a:srgbClr val="C00000"/>
                </a:solidFill>
                <a:effectLst/>
                <a:latin typeface="Times New Roman" panose="02020603050405020304" pitchFamily="18" charset="0"/>
                <a:ea typeface="Calibri" panose="020F0502020204030204" pitchFamily="34" charset="0"/>
                <a:cs typeface="Times New Roman" panose="02020603050405020304" pitchFamily="18" charset="0"/>
              </a:rPr>
              <a:t>Volume</a:t>
            </a:r>
            <a:r>
              <a:rPr lang="fr-FR" sz="2400" dirty="0">
                <a:effectLst/>
                <a:latin typeface="Times New Roman" panose="02020603050405020304" pitchFamily="18" charset="0"/>
                <a:ea typeface="Calibri" panose="020F0502020204030204" pitchFamily="34" charset="0"/>
                <a:cs typeface="Times New Roman" panose="02020603050405020304" pitchFamily="18" charset="0"/>
              </a:rPr>
              <a:t> de données stockées et utilisées par les </a:t>
            </a:r>
            <a:r>
              <a:rPr lang="fr-FR" sz="2400" dirty="0" smtClean="0">
                <a:effectLst/>
                <a:latin typeface="Times New Roman" panose="02020603050405020304" pitchFamily="18" charset="0"/>
                <a:ea typeface="Calibri" panose="020F0502020204030204" pitchFamily="34" charset="0"/>
                <a:cs typeface="Times New Roman" panose="02020603050405020304" pitchFamily="18" charset="0"/>
              </a:rPr>
              <a:t>entreprises</a:t>
            </a:r>
            <a:r>
              <a:rPr lang="fr-FR" sz="2400" dirty="0">
                <a:effectLst/>
                <a:latin typeface="Times New Roman" panose="02020603050405020304" pitchFamily="18" charset="0"/>
                <a:ea typeface="Calibri" panose="020F0502020204030204" pitchFamily="34" charset="0"/>
                <a:cs typeface="Times New Roman" panose="02020603050405020304" pitchFamily="18" charset="0"/>
              </a:rPr>
              <a:t> ;</a:t>
            </a:r>
          </a:p>
          <a:p>
            <a:pPr marL="898525" lvl="0" algn="just">
              <a:lnSpc>
                <a:spcPct val="115000"/>
              </a:lnSpc>
              <a:buFont typeface="Wingdings" panose="05000000000000000000" pitchFamily="2" charset="2"/>
              <a:buChar char=""/>
              <a:tabLst>
                <a:tab pos="1346200" algn="l"/>
              </a:tabLst>
            </a:pPr>
            <a:r>
              <a:rPr lang="fr-FR" sz="2400" dirty="0">
                <a:effectLst/>
                <a:latin typeface="Times New Roman" panose="02020603050405020304" pitchFamily="18" charset="0"/>
                <a:ea typeface="Calibri" panose="020F0502020204030204" pitchFamily="34" charset="0"/>
                <a:cs typeface="Times New Roman" panose="02020603050405020304" pitchFamily="18" charset="0"/>
              </a:rPr>
              <a:t>  </a:t>
            </a:r>
            <a:r>
              <a:rPr lang="fr-FR" sz="2400" dirty="0">
                <a:solidFill>
                  <a:srgbClr val="C00000"/>
                </a:solidFill>
                <a:effectLst/>
                <a:latin typeface="Times New Roman" panose="02020603050405020304" pitchFamily="18" charset="0"/>
                <a:ea typeface="Calibri" panose="020F0502020204030204" pitchFamily="34" charset="0"/>
                <a:cs typeface="Times New Roman" panose="02020603050405020304" pitchFamily="18" charset="0"/>
              </a:rPr>
              <a:t>Variété</a:t>
            </a:r>
            <a:r>
              <a:rPr lang="fr-FR" sz="2400" dirty="0">
                <a:effectLst/>
                <a:latin typeface="Times New Roman" panose="02020603050405020304" pitchFamily="18" charset="0"/>
                <a:ea typeface="Calibri" panose="020F0502020204030204" pitchFamily="34" charset="0"/>
                <a:cs typeface="Times New Roman" panose="02020603050405020304" pitchFamily="18" charset="0"/>
              </a:rPr>
              <a:t> de données générées par les </a:t>
            </a:r>
            <a:r>
              <a:rPr lang="fr-FR" sz="2400" dirty="0">
                <a:latin typeface="Times New Roman" panose="02020603050405020304" pitchFamily="18" charset="0"/>
                <a:ea typeface="Calibri" panose="020F0502020204030204" pitchFamily="34" charset="0"/>
                <a:cs typeface="Times New Roman" panose="02020603050405020304" pitchFamily="18" charset="0"/>
              </a:rPr>
              <a:t>entreprises </a:t>
            </a:r>
            <a:r>
              <a:rPr lang="fr-FR" sz="2400" dirty="0" smtClean="0">
                <a:effectLst/>
                <a:latin typeface="Times New Roman" panose="02020603050405020304" pitchFamily="18" charset="0"/>
                <a:ea typeface="Calibri" panose="020F0502020204030204" pitchFamily="34" charset="0"/>
                <a:cs typeface="Times New Roman" panose="02020603050405020304" pitchFamily="18" charset="0"/>
              </a:rPr>
              <a:t>; </a:t>
            </a:r>
          </a:p>
          <a:p>
            <a:pPr marL="898525" lvl="0" algn="just">
              <a:lnSpc>
                <a:spcPct val="115000"/>
              </a:lnSpc>
              <a:buFont typeface="Wingdings" panose="05000000000000000000" pitchFamily="2" charset="2"/>
              <a:buChar char=""/>
              <a:tabLst>
                <a:tab pos="1346200" algn="l"/>
              </a:tabLst>
            </a:pPr>
            <a:r>
              <a:rPr lang="fr-FR" sz="2400" dirty="0" smtClean="0">
                <a:effectLst/>
                <a:latin typeface="Times New Roman" panose="02020603050405020304" pitchFamily="18" charset="0"/>
                <a:ea typeface="Calibri" panose="020F0502020204030204" pitchFamily="34" charset="0"/>
                <a:cs typeface="Times New Roman" panose="02020603050405020304" pitchFamily="18" charset="0"/>
              </a:rPr>
              <a:t>  </a:t>
            </a:r>
            <a:r>
              <a:rPr lang="fr-FR" sz="2400" dirty="0">
                <a:solidFill>
                  <a:srgbClr val="C00000"/>
                </a:solidFill>
                <a:effectLst/>
                <a:latin typeface="Times New Roman" panose="02020603050405020304" pitchFamily="18" charset="0"/>
                <a:ea typeface="Calibri" panose="020F0502020204030204" pitchFamily="34" charset="0"/>
                <a:cs typeface="Times New Roman" panose="02020603050405020304" pitchFamily="18" charset="0"/>
              </a:rPr>
              <a:t>Vélocité</a:t>
            </a:r>
            <a:r>
              <a:rPr lang="fr-FR" sz="2400" dirty="0">
                <a:effectLst/>
                <a:latin typeface="Times New Roman" panose="02020603050405020304" pitchFamily="18" charset="0"/>
                <a:ea typeface="Calibri" panose="020F0502020204030204" pitchFamily="34" charset="0"/>
                <a:cs typeface="Times New Roman" panose="02020603050405020304" pitchFamily="18" charset="0"/>
              </a:rPr>
              <a:t>, ou vitesse, à laquelle ces données ont été créées et mises à jour</a:t>
            </a:r>
          </a:p>
          <a:p>
            <a:pPr algn="just">
              <a:lnSpc>
                <a:spcPct val="115000"/>
              </a:lnSpc>
              <a:spcAft>
                <a:spcPts val="800"/>
              </a:spcAft>
            </a:pPr>
            <a:r>
              <a:rPr lang="fr-FR" sz="2400" b="1" dirty="0">
                <a:solidFill>
                  <a:srgbClr val="C00000"/>
                </a:solidFill>
                <a:effectLst/>
                <a:latin typeface="Times New Roman" panose="02020603050405020304" pitchFamily="18" charset="0"/>
                <a:ea typeface="Calibri" panose="020F0502020204030204" pitchFamily="34" charset="0"/>
                <a:cs typeface="Times New Roman" panose="02020603050405020304" pitchFamily="18" charset="0"/>
              </a:rPr>
              <a:t>En 2005</a:t>
            </a:r>
            <a:r>
              <a:rPr lang="fr-FR" sz="2400" dirty="0">
                <a:effectLst/>
                <a:latin typeface="Times New Roman" panose="02020603050405020304" pitchFamily="18" charset="0"/>
                <a:ea typeface="Calibri" panose="020F0502020204030204" pitchFamily="34" charset="0"/>
                <a:cs typeface="Times New Roman" panose="02020603050405020304" pitchFamily="18" charset="0"/>
              </a:rPr>
              <a:t>, ces trois facteurs sont devenus connus sous le nom de 3V du Big Data (Volume, Vélocité et Variété).</a:t>
            </a:r>
          </a:p>
          <a:p>
            <a:pPr algn="just">
              <a:lnSpc>
                <a:spcPct val="115000"/>
              </a:lnSpc>
              <a:spcAft>
                <a:spcPts val="800"/>
              </a:spcAft>
            </a:pPr>
            <a:r>
              <a:rPr lang="fr-FR" sz="2400" b="1" dirty="0">
                <a:solidFill>
                  <a:srgbClr val="C00000"/>
                </a:solidFill>
                <a:effectLst/>
                <a:latin typeface="Times New Roman" panose="02020603050405020304" pitchFamily="18" charset="0"/>
                <a:ea typeface="Calibri" panose="020F0502020204030204" pitchFamily="34" charset="0"/>
                <a:cs typeface="Times New Roman" panose="02020603050405020304" pitchFamily="18" charset="0"/>
              </a:rPr>
              <a:t>En 2006</a:t>
            </a:r>
            <a:r>
              <a:rPr lang="fr-FR" sz="2400" dirty="0">
                <a:effectLst/>
                <a:latin typeface="Times New Roman" panose="02020603050405020304" pitchFamily="18" charset="0"/>
                <a:ea typeface="Calibri" panose="020F0502020204030204" pitchFamily="34" charset="0"/>
                <a:cs typeface="Times New Roman" panose="02020603050405020304" pitchFamily="18" charset="0"/>
              </a:rPr>
              <a:t>, un autre développement important dans l'histoire du Big Data a été le lancement d’un </a:t>
            </a:r>
            <a:r>
              <a:rPr lang="fr-FR" sz="2400" b="1" dirty="0">
                <a:effectLst/>
                <a:latin typeface="Times New Roman" panose="02020603050405020304" pitchFamily="18" charset="0"/>
                <a:ea typeface="Calibri" panose="020F0502020204030204" pitchFamily="34" charset="0"/>
                <a:cs typeface="Times New Roman" panose="02020603050405020304" pitchFamily="18" charset="0"/>
              </a:rPr>
              <a:t>projet open source Apache Hadoop pour la gestion et le traitement des Big Data. </a:t>
            </a:r>
            <a:endParaRPr lang="fr-FR" sz="2400" dirty="0">
              <a:effectLst/>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15000"/>
              </a:lnSpc>
              <a:spcAft>
                <a:spcPts val="800"/>
              </a:spcAft>
            </a:pPr>
            <a:r>
              <a:rPr lang="fr-FR" sz="2400" dirty="0">
                <a:solidFill>
                  <a:srgbClr val="C00000"/>
                </a:solidFill>
                <a:effectLst/>
                <a:latin typeface="Times New Roman" panose="02020603050405020304" pitchFamily="18" charset="0"/>
                <a:ea typeface="Calibri" panose="020F0502020204030204" pitchFamily="34" charset="0"/>
                <a:cs typeface="Times New Roman" panose="02020603050405020304" pitchFamily="18" charset="0"/>
              </a:rPr>
              <a:t>En 2011</a:t>
            </a:r>
            <a:r>
              <a:rPr lang="fr-FR" sz="2400" dirty="0">
                <a:effectLst/>
                <a:latin typeface="Times New Roman" panose="02020603050405020304" pitchFamily="18" charset="0"/>
                <a:ea typeface="Calibri" panose="020F0502020204030204" pitchFamily="34" charset="0"/>
                <a:cs typeface="Times New Roman" panose="02020603050405020304" pitchFamily="18" charset="0"/>
              </a:rPr>
              <a:t>, l'analyse des Big Data a commencé à s'implanter fermement dans les </a:t>
            </a:r>
            <a:r>
              <a:rPr lang="fr-FR" sz="2400" dirty="0">
                <a:latin typeface="Times New Roman" panose="02020603050405020304" pitchFamily="18" charset="0"/>
                <a:ea typeface="Calibri" panose="020F0502020204030204" pitchFamily="34" charset="0"/>
                <a:cs typeface="Times New Roman" panose="02020603050405020304" pitchFamily="18" charset="0"/>
              </a:rPr>
              <a:t>entreprises </a:t>
            </a:r>
            <a:r>
              <a:rPr lang="fr-FR" sz="2400" dirty="0" smtClean="0">
                <a:effectLst/>
                <a:latin typeface="Times New Roman" panose="02020603050405020304" pitchFamily="18" charset="0"/>
                <a:ea typeface="Calibri" panose="020F0502020204030204" pitchFamily="34" charset="0"/>
                <a:cs typeface="Times New Roman" panose="02020603050405020304" pitchFamily="18" charset="0"/>
              </a:rPr>
              <a:t>et </a:t>
            </a:r>
            <a:r>
              <a:rPr lang="fr-FR" sz="2400" dirty="0">
                <a:effectLst/>
                <a:latin typeface="Times New Roman" panose="02020603050405020304" pitchFamily="18" charset="0"/>
                <a:ea typeface="Calibri" panose="020F0502020204030204" pitchFamily="34" charset="0"/>
                <a:cs typeface="Times New Roman" panose="02020603050405020304" pitchFamily="18" charset="0"/>
              </a:rPr>
              <a:t>le public, avec Hadoop et diverses technologies de </a:t>
            </a:r>
            <a:r>
              <a:rPr lang="fr-FR" sz="2400" dirty="0" err="1">
                <a:latin typeface="Times New Roman" panose="02020603050405020304" pitchFamily="18" charset="0"/>
                <a:ea typeface="Calibri" panose="020F0502020204030204" pitchFamily="34" charset="0"/>
                <a:cs typeface="Times New Roman" panose="02020603050405020304" pitchFamily="18" charset="0"/>
              </a:rPr>
              <a:t>Big</a:t>
            </a:r>
            <a:r>
              <a:rPr lang="fr-FR" sz="2400" dirty="0">
                <a:latin typeface="Times New Roman" panose="02020603050405020304" pitchFamily="18" charset="0"/>
                <a:ea typeface="Calibri" panose="020F0502020204030204" pitchFamily="34" charset="0"/>
                <a:cs typeface="Times New Roman" panose="02020603050405020304" pitchFamily="18" charset="0"/>
              </a:rPr>
              <a:t> data </a:t>
            </a:r>
            <a:r>
              <a:rPr lang="fr-FR" sz="2400" dirty="0">
                <a:effectLst/>
                <a:latin typeface="Times New Roman" panose="02020603050405020304" pitchFamily="18" charset="0"/>
                <a:ea typeface="Calibri" panose="020F0502020204030204" pitchFamily="34" charset="0"/>
                <a:cs typeface="Times New Roman" panose="02020603050405020304" pitchFamily="18" charset="0"/>
              </a:rPr>
              <a:t>connexes.</a:t>
            </a:r>
          </a:p>
        </p:txBody>
      </p:sp>
    </p:spTree>
    <p:extLst>
      <p:ext uri="{BB962C8B-B14F-4D97-AF65-F5344CB8AC3E}">
        <p14:creationId xmlns:p14="http://schemas.microsoft.com/office/powerpoint/2010/main" val="33446748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ZoneTexte 4">
            <a:extLst>
              <a:ext uri="{FF2B5EF4-FFF2-40B4-BE49-F238E27FC236}">
                <a16:creationId xmlns:a16="http://schemas.microsoft.com/office/drawing/2014/main" id="{D9F2D724-47AE-47A0-B110-2F35E4A44A9F}"/>
              </a:ext>
            </a:extLst>
          </p:cNvPr>
          <p:cNvSpPr txBox="1"/>
          <p:nvPr/>
        </p:nvSpPr>
        <p:spPr>
          <a:xfrm>
            <a:off x="275034" y="171450"/>
            <a:ext cx="6840661" cy="823752"/>
          </a:xfrm>
          <a:prstGeom prst="rect">
            <a:avLst/>
          </a:prstGeom>
          <a:noFill/>
        </p:spPr>
        <p:txBody>
          <a:bodyPr wrap="square">
            <a:spAutoFit/>
          </a:bodyPr>
          <a:lstStyle/>
          <a:p>
            <a:pPr>
              <a:lnSpc>
                <a:spcPct val="150000"/>
              </a:lnSpc>
              <a:spcAft>
                <a:spcPts val="800"/>
              </a:spcAft>
            </a:pPr>
            <a:r>
              <a:rPr lang="fr-FR" sz="3600" b="1" dirty="0">
                <a:solidFill>
                  <a:srgbClr val="C00000"/>
                </a:solidFill>
                <a:latin typeface="Times New Roman" panose="02020603050405020304" pitchFamily="18" charset="0"/>
                <a:cs typeface="Times New Roman" panose="02020603050405020304" pitchFamily="18" charset="0"/>
              </a:rPr>
              <a:t>2. </a:t>
            </a:r>
            <a:r>
              <a:rPr lang="fr-FR" sz="3600" b="1" dirty="0">
                <a:solidFill>
                  <a:srgbClr val="C00000"/>
                </a:solidFill>
                <a:latin typeface="Times New Roman" panose="02020603050405020304" pitchFamily="18" charset="0"/>
                <a:ea typeface="Calibri" panose="020F0502020204030204" pitchFamily="34" charset="0"/>
                <a:cs typeface="Times New Roman" panose="02020603050405020304" pitchFamily="18" charset="0"/>
              </a:rPr>
              <a:t>Qu'est-ce que le Big Data </a:t>
            </a:r>
            <a:r>
              <a:rPr lang="fr-FR" sz="3600" b="1" dirty="0">
                <a:solidFill>
                  <a:srgbClr val="C00000"/>
                </a:solidFill>
                <a:latin typeface="Times New Roman" panose="02020603050405020304" pitchFamily="18" charset="0"/>
                <a:cs typeface="Times New Roman" panose="02020603050405020304" pitchFamily="18" charset="0"/>
              </a:rPr>
              <a:t>?</a:t>
            </a:r>
          </a:p>
        </p:txBody>
      </p:sp>
      <p:sp>
        <p:nvSpPr>
          <p:cNvPr id="6" name="ZoneTexte 5">
            <a:extLst>
              <a:ext uri="{FF2B5EF4-FFF2-40B4-BE49-F238E27FC236}">
                <a16:creationId xmlns:a16="http://schemas.microsoft.com/office/drawing/2014/main" id="{0668561E-094F-4636-B6EB-2A7D9979885A}"/>
              </a:ext>
            </a:extLst>
          </p:cNvPr>
          <p:cNvSpPr txBox="1"/>
          <p:nvPr/>
        </p:nvSpPr>
        <p:spPr>
          <a:xfrm>
            <a:off x="319617" y="1267291"/>
            <a:ext cx="11297840" cy="5338384"/>
          </a:xfrm>
          <a:prstGeom prst="rect">
            <a:avLst/>
          </a:prstGeom>
          <a:noFill/>
        </p:spPr>
        <p:txBody>
          <a:bodyPr wrap="square" rtlCol="0">
            <a:spAutoFit/>
          </a:bodyPr>
          <a:lstStyle/>
          <a:p>
            <a:pPr algn="just">
              <a:lnSpc>
                <a:spcPct val="150000"/>
              </a:lnSpc>
              <a:spcAft>
                <a:spcPts val="800"/>
              </a:spcAft>
            </a:pPr>
            <a:r>
              <a:rPr lang="fr-FR" sz="2800" dirty="0">
                <a:solidFill>
                  <a:srgbClr val="312F2F"/>
                </a:solidFill>
                <a:effectLst>
                  <a:outerShdw blurRad="38100" dist="38100" dir="2700000" algn="tl">
                    <a:srgbClr val="000000">
                      <a:alpha val="43137"/>
                    </a:srgbClr>
                  </a:outerShdw>
                </a:effectLst>
                <a:latin typeface="Times New Roman" panose="02020603050405020304" pitchFamily="18" charset="0"/>
                <a:ea typeface="Calibri" panose="020F0502020204030204" pitchFamily="34" charset="0"/>
                <a:cs typeface="Times New Roman" panose="02020603050405020304" pitchFamily="18" charset="0"/>
              </a:rPr>
              <a:t>Les Big Data décrivent des ensembles de données si volumineux et complexes qu'ils deviennent difficiles à traiter à l'aide de matériel et de logiciels de traitement de données classiques</a:t>
            </a:r>
            <a:r>
              <a:rPr lang="fr-FR" sz="2800" b="1" dirty="0">
                <a:solidFill>
                  <a:srgbClr val="312F2F"/>
                </a:solidFill>
                <a:effectLst/>
                <a:latin typeface="Times New Roman" panose="02020603050405020304" pitchFamily="18" charset="0"/>
                <a:ea typeface="Calibri" panose="020F0502020204030204" pitchFamily="34" charset="0"/>
                <a:cs typeface="Times New Roman" panose="02020603050405020304" pitchFamily="18" charset="0"/>
              </a:rPr>
              <a:t>. </a:t>
            </a:r>
            <a:r>
              <a:rPr lang="fr-FR" sz="2800" dirty="0">
                <a:solidFill>
                  <a:srgbClr val="312F2F"/>
                </a:solidFill>
                <a:effectLst/>
                <a:latin typeface="Times New Roman" panose="02020603050405020304" pitchFamily="18" charset="0"/>
                <a:ea typeface="Calibri" panose="020F0502020204030204" pitchFamily="34" charset="0"/>
                <a:cs typeface="Times New Roman" panose="02020603050405020304" pitchFamily="18" charset="0"/>
              </a:rPr>
              <a:t> </a:t>
            </a:r>
          </a:p>
          <a:p>
            <a:pPr algn="just">
              <a:lnSpc>
                <a:spcPct val="150000"/>
              </a:lnSpc>
              <a:spcAft>
                <a:spcPts val="800"/>
              </a:spcAft>
            </a:pPr>
            <a:endParaRPr lang="fr-FR" sz="2800" dirty="0">
              <a:solidFill>
                <a:srgbClr val="312F2F"/>
              </a:solidFill>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50000"/>
              </a:lnSpc>
              <a:spcAft>
                <a:spcPts val="800"/>
              </a:spcAft>
            </a:pPr>
            <a:r>
              <a:rPr lang="fr-FR" sz="2800" dirty="0">
                <a:solidFill>
                  <a:srgbClr val="312F2F"/>
                </a:solidFill>
                <a:latin typeface="Times New Roman" panose="02020603050405020304" pitchFamily="18" charset="0"/>
                <a:ea typeface="Calibri" panose="020F0502020204030204" pitchFamily="34" charset="0"/>
                <a:cs typeface="Times New Roman" panose="02020603050405020304" pitchFamily="18" charset="0"/>
              </a:rPr>
              <a:t>Les perspectives du traitement des Big Data sont énormes notamment pour l’analyse d’opinions ou de tendances industrielles, la génomique, l’épidémiologie ou la lutte contre la criminalité. </a:t>
            </a:r>
          </a:p>
          <a:p>
            <a:pPr algn="just">
              <a:lnSpc>
                <a:spcPct val="150000"/>
              </a:lnSpc>
              <a:spcAft>
                <a:spcPts val="800"/>
              </a:spcAft>
            </a:pPr>
            <a:endParaRPr lang="fr-FR" sz="20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66787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FD20CA1E-3DBD-4483-943E-8FE16452FB53}"/>
              </a:ext>
            </a:extLst>
          </p:cNvPr>
          <p:cNvSpPr txBox="1"/>
          <p:nvPr/>
        </p:nvSpPr>
        <p:spPr>
          <a:xfrm>
            <a:off x="247151" y="281346"/>
            <a:ext cx="6120398" cy="646331"/>
          </a:xfrm>
          <a:prstGeom prst="rect">
            <a:avLst/>
          </a:prstGeom>
          <a:noFill/>
        </p:spPr>
        <p:txBody>
          <a:bodyPr wrap="square">
            <a:spAutoFit/>
          </a:bodyPr>
          <a:lstStyle/>
          <a:p>
            <a:pPr marR="0" lvl="0" algn="l" defTabSz="914400" rtl="0" eaLnBrk="1" fontAlgn="auto" latinLnBrk="0" hangingPunct="1">
              <a:spcBef>
                <a:spcPts val="0"/>
              </a:spcBef>
              <a:spcAft>
                <a:spcPts val="0"/>
              </a:spcAft>
              <a:buClrTx/>
              <a:buSzTx/>
              <a:tabLst/>
              <a:defRPr/>
            </a:pPr>
            <a:r>
              <a:rPr lang="fr-FR" sz="3600" b="1" dirty="0">
                <a:solidFill>
                  <a:srgbClr val="C00000"/>
                </a:solidFill>
                <a:latin typeface="Times New Roman" panose="02020603050405020304" pitchFamily="18" charset="0"/>
                <a:cs typeface="Times New Roman" panose="02020603050405020304" pitchFamily="18" charset="0"/>
              </a:rPr>
              <a:t>2.1. L’enjeu du Big Data</a:t>
            </a:r>
          </a:p>
        </p:txBody>
      </p:sp>
      <p:sp>
        <p:nvSpPr>
          <p:cNvPr id="3" name="ZoneTexte 2">
            <a:extLst>
              <a:ext uri="{FF2B5EF4-FFF2-40B4-BE49-F238E27FC236}">
                <a16:creationId xmlns:a16="http://schemas.microsoft.com/office/drawing/2014/main" id="{2E06FE04-E0FE-45DA-B495-3C635EDD8091}"/>
              </a:ext>
            </a:extLst>
          </p:cNvPr>
          <p:cNvSpPr txBox="1"/>
          <p:nvPr/>
        </p:nvSpPr>
        <p:spPr>
          <a:xfrm>
            <a:off x="380155" y="1330036"/>
            <a:ext cx="10440786" cy="3785652"/>
          </a:xfrm>
          <a:prstGeom prst="rect">
            <a:avLst/>
          </a:prstGeom>
          <a:noFill/>
        </p:spPr>
        <p:txBody>
          <a:bodyPr wrap="square" rtlCol="0">
            <a:spAutoFit/>
          </a:bodyPr>
          <a:lstStyle/>
          <a:p>
            <a:pPr>
              <a:lnSpc>
                <a:spcPct val="150000"/>
              </a:lnSpc>
            </a:pPr>
            <a:r>
              <a:rPr lang="fr-FR" sz="2800" dirty="0">
                <a:latin typeface="Times New Roman" panose="02020603050405020304" pitchFamily="18" charset="0"/>
                <a:cs typeface="Times New Roman" panose="02020603050405020304" pitchFamily="18" charset="0"/>
              </a:rPr>
              <a:t>L’ enjeu du Big Data  est </a:t>
            </a:r>
            <a:r>
              <a:rPr lang="fr-FR" sz="3600"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la création de la valeur</a:t>
            </a:r>
            <a:r>
              <a:rPr lang="fr-FR" sz="2800" dirty="0">
                <a:latin typeface="Times New Roman" panose="02020603050405020304" pitchFamily="18" charset="0"/>
                <a:cs typeface="Times New Roman" panose="02020603050405020304" pitchFamily="18" charset="0"/>
              </a:rPr>
              <a:t>.</a:t>
            </a:r>
          </a:p>
          <a:p>
            <a:pPr>
              <a:lnSpc>
                <a:spcPct val="150000"/>
              </a:lnSpc>
            </a:pPr>
            <a:r>
              <a:rPr lang="fr-FR" sz="2800" dirty="0">
                <a:latin typeface="Times New Roman" panose="02020603050405020304" pitchFamily="18" charset="0"/>
                <a:cs typeface="Times New Roman" panose="02020603050405020304" pitchFamily="18" charset="0"/>
              </a:rPr>
              <a:t>Il faut exploiter le Big Data pour :</a:t>
            </a:r>
          </a:p>
          <a:p>
            <a:pPr marL="457200" indent="-457200">
              <a:lnSpc>
                <a:spcPct val="150000"/>
              </a:lnSpc>
              <a:buClr>
                <a:srgbClr val="C00000"/>
              </a:buClr>
              <a:buFont typeface="Wingdings" panose="05000000000000000000" pitchFamily="2" charset="2"/>
              <a:buChar char="v"/>
            </a:pPr>
            <a:r>
              <a:rPr lang="fr-FR" sz="2800" dirty="0">
                <a:latin typeface="Times New Roman" panose="02020603050405020304" pitchFamily="18" charset="0"/>
                <a:cs typeface="Times New Roman" panose="02020603050405020304" pitchFamily="18" charset="0"/>
              </a:rPr>
              <a:t>Plus de productivité</a:t>
            </a:r>
          </a:p>
          <a:p>
            <a:pPr marL="457200" indent="-457200">
              <a:lnSpc>
                <a:spcPct val="150000"/>
              </a:lnSpc>
              <a:buClr>
                <a:srgbClr val="C00000"/>
              </a:buClr>
              <a:buFont typeface="Wingdings" panose="05000000000000000000" pitchFamily="2" charset="2"/>
              <a:buChar char="v"/>
            </a:pPr>
            <a:r>
              <a:rPr lang="fr-FR" sz="2800" dirty="0">
                <a:latin typeface="Times New Roman" panose="02020603050405020304" pitchFamily="18" charset="0"/>
                <a:cs typeface="Times New Roman" panose="02020603050405020304" pitchFamily="18" charset="0"/>
              </a:rPr>
              <a:t>Mieux compétir</a:t>
            </a:r>
          </a:p>
          <a:p>
            <a:pPr marL="457200" indent="-457200">
              <a:lnSpc>
                <a:spcPct val="150000"/>
              </a:lnSpc>
              <a:buClr>
                <a:srgbClr val="C00000"/>
              </a:buClr>
              <a:buFont typeface="Wingdings" panose="05000000000000000000" pitchFamily="2" charset="2"/>
              <a:buChar char="v"/>
            </a:pPr>
            <a:r>
              <a:rPr lang="fr-FR" sz="2800" dirty="0">
                <a:latin typeface="Times New Roman" panose="02020603050405020304" pitchFamily="18" charset="0"/>
                <a:cs typeface="Times New Roman" panose="02020603050405020304" pitchFamily="18" charset="0"/>
              </a:rPr>
              <a:t>Autres choses ( Nouveau marché, innovation, Partenariat, etc.)</a:t>
            </a:r>
          </a:p>
          <a:p>
            <a:endParaRPr lang="fr-FR" dirty="0"/>
          </a:p>
        </p:txBody>
      </p:sp>
    </p:spTree>
    <p:extLst>
      <p:ext uri="{BB962C8B-B14F-4D97-AF65-F5344CB8AC3E}">
        <p14:creationId xmlns:p14="http://schemas.microsoft.com/office/powerpoint/2010/main" val="29213828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Diagramme 2">
            <a:extLst>
              <a:ext uri="{FF2B5EF4-FFF2-40B4-BE49-F238E27FC236}">
                <a16:creationId xmlns:a16="http://schemas.microsoft.com/office/drawing/2014/main" id="{6763F2C1-DA33-4CF1-942D-CCB36763E72C}"/>
              </a:ext>
            </a:extLst>
          </p:cNvPr>
          <p:cNvGraphicFramePr/>
          <p:nvPr>
            <p:extLst>
              <p:ext uri="{D42A27DB-BD31-4B8C-83A1-F6EECF244321}">
                <p14:modId xmlns:p14="http://schemas.microsoft.com/office/powerpoint/2010/main" val="4057874079"/>
              </p:ext>
            </p:extLst>
          </p:nvPr>
        </p:nvGraphicFramePr>
        <p:xfrm>
          <a:off x="1549027" y="941873"/>
          <a:ext cx="10055541" cy="521675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ZoneTexte 3">
            <a:extLst>
              <a:ext uri="{FF2B5EF4-FFF2-40B4-BE49-F238E27FC236}">
                <a16:creationId xmlns:a16="http://schemas.microsoft.com/office/drawing/2014/main" id="{45240332-35C4-472C-A328-EC1FE40B1FCA}"/>
              </a:ext>
            </a:extLst>
          </p:cNvPr>
          <p:cNvSpPr txBox="1"/>
          <p:nvPr/>
        </p:nvSpPr>
        <p:spPr>
          <a:xfrm>
            <a:off x="182880" y="187893"/>
            <a:ext cx="4264116" cy="584775"/>
          </a:xfrm>
          <a:prstGeom prst="rect">
            <a:avLst/>
          </a:prstGeom>
          <a:noFill/>
        </p:spPr>
        <p:txBody>
          <a:bodyPr wrap="square" rtlCol="0">
            <a:spAutoFit/>
          </a:bodyPr>
          <a:lstStyle/>
          <a:p>
            <a:pPr algn="ctr"/>
            <a:r>
              <a:rPr lang="fr-FR" sz="3200" b="1" dirty="0">
                <a:solidFill>
                  <a:srgbClr val="C00000"/>
                </a:solidFill>
                <a:latin typeface="Times New Roman" panose="02020603050405020304" pitchFamily="18" charset="0"/>
                <a:cs typeface="Times New Roman" panose="02020603050405020304" pitchFamily="18" charset="0"/>
              </a:rPr>
              <a:t>3. Les 5V du Big Data</a:t>
            </a:r>
          </a:p>
        </p:txBody>
      </p:sp>
      <p:sp>
        <p:nvSpPr>
          <p:cNvPr id="2" name="ZoneTexte 1">
            <a:extLst>
              <a:ext uri="{FF2B5EF4-FFF2-40B4-BE49-F238E27FC236}">
                <a16:creationId xmlns:a16="http://schemas.microsoft.com/office/drawing/2014/main" id="{1BE74B35-6006-4360-8756-97A6A45204D7}"/>
              </a:ext>
            </a:extLst>
          </p:cNvPr>
          <p:cNvSpPr txBox="1"/>
          <p:nvPr/>
        </p:nvSpPr>
        <p:spPr>
          <a:xfrm>
            <a:off x="4638502" y="6265593"/>
            <a:ext cx="4272742" cy="430887"/>
          </a:xfrm>
          <a:prstGeom prst="rect">
            <a:avLst/>
          </a:prstGeom>
          <a:noFill/>
        </p:spPr>
        <p:txBody>
          <a:bodyPr wrap="square" rtlCol="0">
            <a:spAutoFit/>
          </a:bodyPr>
          <a:lstStyle/>
          <a:p>
            <a:r>
              <a:rPr lang="fr-FR" sz="2200" b="1" dirty="0">
                <a:latin typeface="Times New Roman" panose="02020603050405020304" pitchFamily="18" charset="0"/>
                <a:cs typeface="Times New Roman" panose="02020603050405020304" pitchFamily="18" charset="0"/>
              </a:rPr>
              <a:t>Figure 1: </a:t>
            </a:r>
            <a:r>
              <a:rPr lang="fr-FR" sz="2200" dirty="0">
                <a:latin typeface="Times New Roman" panose="02020603050405020304" pitchFamily="18" charset="0"/>
                <a:cs typeface="Times New Roman" panose="02020603050405020304" pitchFamily="18" charset="0"/>
              </a:rPr>
              <a:t>Les 5V du Big Data</a:t>
            </a:r>
          </a:p>
        </p:txBody>
      </p:sp>
    </p:spTree>
    <p:extLst>
      <p:ext uri="{BB962C8B-B14F-4D97-AF65-F5344CB8AC3E}">
        <p14:creationId xmlns:p14="http://schemas.microsoft.com/office/powerpoint/2010/main" val="36146524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9D20EE60-E650-4A96-AA78-E79FCA7BD01D}"/>
              </a:ext>
            </a:extLst>
          </p:cNvPr>
          <p:cNvSpPr txBox="1"/>
          <p:nvPr/>
        </p:nvSpPr>
        <p:spPr>
          <a:xfrm>
            <a:off x="520237" y="925261"/>
            <a:ext cx="9289473" cy="5185522"/>
          </a:xfrm>
          <a:prstGeom prst="rect">
            <a:avLst/>
          </a:prstGeom>
          <a:noFill/>
        </p:spPr>
        <p:txBody>
          <a:bodyPr wrap="square">
            <a:spAutoFit/>
          </a:bodyPr>
          <a:lstStyle/>
          <a:p>
            <a:pPr marL="342900" indent="-342900">
              <a:lnSpc>
                <a:spcPct val="150000"/>
              </a:lnSpc>
              <a:buClr>
                <a:srgbClr val="C00000"/>
              </a:buClr>
              <a:buFont typeface="Wingdings" panose="05000000000000000000" pitchFamily="2" charset="2"/>
              <a:buChar char="v"/>
            </a:pPr>
            <a:r>
              <a:rPr lang="fr-FR" sz="2800" dirty="0">
                <a:latin typeface="Times New Roman" panose="02020603050405020304" pitchFamily="18" charset="0"/>
                <a:cs typeface="Times New Roman" panose="02020603050405020304" pitchFamily="18" charset="0"/>
              </a:rPr>
              <a:t>Journaux du serveur, du site Web et des applications</a:t>
            </a:r>
          </a:p>
          <a:p>
            <a:pPr marL="342900" indent="-342900">
              <a:lnSpc>
                <a:spcPct val="150000"/>
              </a:lnSpc>
              <a:buClr>
                <a:srgbClr val="C00000"/>
              </a:buClr>
              <a:buFont typeface="Wingdings" panose="05000000000000000000" pitchFamily="2" charset="2"/>
              <a:buChar char="v"/>
            </a:pPr>
            <a:r>
              <a:rPr lang="fr-FR" sz="2800" dirty="0">
                <a:latin typeface="Times New Roman" panose="02020603050405020304" pitchFamily="18" charset="0"/>
                <a:cs typeface="Times New Roman" panose="02020603050405020304" pitchFamily="18" charset="0"/>
              </a:rPr>
              <a:t>Données du capteur</a:t>
            </a:r>
          </a:p>
          <a:p>
            <a:pPr marL="342900" indent="-342900">
              <a:lnSpc>
                <a:spcPct val="150000"/>
              </a:lnSpc>
              <a:buClr>
                <a:srgbClr val="C00000"/>
              </a:buClr>
              <a:buFont typeface="Wingdings" panose="05000000000000000000" pitchFamily="2" charset="2"/>
              <a:buChar char="v"/>
            </a:pPr>
            <a:r>
              <a:rPr lang="fr-FR" sz="2800" dirty="0">
                <a:latin typeface="Times New Roman" panose="02020603050405020304" pitchFamily="18" charset="0"/>
                <a:cs typeface="Times New Roman" panose="02020603050405020304" pitchFamily="18" charset="0"/>
              </a:rPr>
              <a:t>Images</a:t>
            </a:r>
          </a:p>
          <a:p>
            <a:pPr marL="342900" indent="-342900">
              <a:lnSpc>
                <a:spcPct val="150000"/>
              </a:lnSpc>
              <a:buClr>
                <a:srgbClr val="C00000"/>
              </a:buClr>
              <a:buFont typeface="Wingdings" panose="05000000000000000000" pitchFamily="2" charset="2"/>
              <a:buChar char="v"/>
            </a:pPr>
            <a:r>
              <a:rPr lang="fr-FR" sz="2800" dirty="0">
                <a:latin typeface="Times New Roman" panose="02020603050405020304" pitchFamily="18" charset="0"/>
                <a:cs typeface="Times New Roman" panose="02020603050405020304" pitchFamily="18" charset="0"/>
              </a:rPr>
              <a:t>Fichiers </a:t>
            </a:r>
          </a:p>
          <a:p>
            <a:pPr marL="342900" indent="-342900">
              <a:lnSpc>
                <a:spcPct val="150000"/>
              </a:lnSpc>
              <a:buClr>
                <a:srgbClr val="C00000"/>
              </a:buClr>
              <a:buFont typeface="Wingdings" panose="05000000000000000000" pitchFamily="2" charset="2"/>
              <a:buChar char="v"/>
            </a:pPr>
            <a:r>
              <a:rPr lang="fr-FR" sz="2800" dirty="0">
                <a:latin typeface="Times New Roman" panose="02020603050405020304" pitchFamily="18" charset="0"/>
                <a:cs typeface="Times New Roman" panose="02020603050405020304" pitchFamily="18" charset="0"/>
              </a:rPr>
              <a:t>Vidéo</a:t>
            </a:r>
          </a:p>
          <a:p>
            <a:pPr marL="342900" indent="-342900">
              <a:lnSpc>
                <a:spcPct val="150000"/>
              </a:lnSpc>
              <a:buClr>
                <a:srgbClr val="C00000"/>
              </a:buClr>
              <a:buFont typeface="Wingdings" panose="05000000000000000000" pitchFamily="2" charset="2"/>
              <a:buChar char="v"/>
            </a:pPr>
            <a:r>
              <a:rPr lang="fr-FR" sz="2800" dirty="0">
                <a:latin typeface="Times New Roman" panose="02020603050405020304" pitchFamily="18" charset="0"/>
                <a:cs typeface="Times New Roman" panose="02020603050405020304" pitchFamily="18" charset="0"/>
              </a:rPr>
              <a:t>Fichiers audio</a:t>
            </a:r>
          </a:p>
          <a:p>
            <a:pPr marL="342900" indent="-342900">
              <a:lnSpc>
                <a:spcPct val="150000"/>
              </a:lnSpc>
              <a:buClr>
                <a:srgbClr val="C00000"/>
              </a:buClr>
              <a:buFont typeface="Wingdings" panose="05000000000000000000" pitchFamily="2" charset="2"/>
              <a:buChar char="v"/>
            </a:pPr>
            <a:r>
              <a:rPr lang="fr-FR" sz="2800" dirty="0">
                <a:latin typeface="Times New Roman" panose="02020603050405020304" pitchFamily="18" charset="0"/>
                <a:cs typeface="Times New Roman" panose="02020603050405020304" pitchFamily="18" charset="0"/>
              </a:rPr>
              <a:t>E-mail </a:t>
            </a:r>
          </a:p>
          <a:p>
            <a:pPr marL="342900" indent="-342900">
              <a:lnSpc>
                <a:spcPct val="150000"/>
              </a:lnSpc>
              <a:buClr>
                <a:srgbClr val="C00000"/>
              </a:buClr>
              <a:buFont typeface="Wingdings" panose="05000000000000000000" pitchFamily="2" charset="2"/>
              <a:buChar char="v"/>
            </a:pPr>
            <a:r>
              <a:rPr lang="fr-FR" sz="2800" dirty="0">
                <a:latin typeface="Times New Roman" panose="02020603050405020304" pitchFamily="18" charset="0"/>
                <a:cs typeface="Times New Roman" panose="02020603050405020304" pitchFamily="18" charset="0"/>
              </a:rPr>
              <a:t>Des médias sociaux</a:t>
            </a:r>
          </a:p>
        </p:txBody>
      </p:sp>
      <p:sp>
        <p:nvSpPr>
          <p:cNvPr id="4" name="ZoneTexte 3">
            <a:extLst>
              <a:ext uri="{FF2B5EF4-FFF2-40B4-BE49-F238E27FC236}">
                <a16:creationId xmlns:a16="http://schemas.microsoft.com/office/drawing/2014/main" id="{5618EFA0-FD4C-4001-B489-62DAA901C916}"/>
              </a:ext>
            </a:extLst>
          </p:cNvPr>
          <p:cNvSpPr txBox="1"/>
          <p:nvPr/>
        </p:nvSpPr>
        <p:spPr>
          <a:xfrm>
            <a:off x="665018" y="91084"/>
            <a:ext cx="9936479" cy="646331"/>
          </a:xfrm>
          <a:prstGeom prst="rect">
            <a:avLst/>
          </a:prstGeom>
          <a:noFill/>
        </p:spPr>
        <p:txBody>
          <a:bodyPr wrap="square" rtlCol="0">
            <a:spAutoFit/>
          </a:bodyPr>
          <a:lstStyle/>
          <a:p>
            <a:pPr algn="ctr"/>
            <a:r>
              <a:rPr lang="fr-FR" sz="3600" b="1" dirty="0">
                <a:solidFill>
                  <a:srgbClr val="C00000"/>
                </a:solidFill>
                <a:latin typeface="Times New Roman" panose="02020603050405020304" pitchFamily="18" charset="0"/>
                <a:cs typeface="Times New Roman" panose="02020603050405020304" pitchFamily="18" charset="0"/>
              </a:rPr>
              <a:t>Quelque Exemples de Données Non Structurées</a:t>
            </a:r>
          </a:p>
        </p:txBody>
      </p:sp>
      <p:pic>
        <p:nvPicPr>
          <p:cNvPr id="6" name="Image 5">
            <a:extLst>
              <a:ext uri="{FF2B5EF4-FFF2-40B4-BE49-F238E27FC236}">
                <a16:creationId xmlns:a16="http://schemas.microsoft.com/office/drawing/2014/main" id="{8F909BA4-68A6-4DFC-AFB2-72222B931CF0}"/>
              </a:ext>
            </a:extLst>
          </p:cNvPr>
          <p:cNvPicPr>
            <a:picLocks noChangeAspect="1"/>
          </p:cNvPicPr>
          <p:nvPr/>
        </p:nvPicPr>
        <p:blipFill>
          <a:blip r:embed="rId2"/>
          <a:stretch>
            <a:fillRect/>
          </a:stretch>
        </p:blipFill>
        <p:spPr>
          <a:xfrm>
            <a:off x="5164973" y="2013677"/>
            <a:ext cx="6268489" cy="4097106"/>
          </a:xfrm>
          <a:prstGeom prst="rect">
            <a:avLst/>
          </a:prstGeom>
        </p:spPr>
      </p:pic>
    </p:spTree>
    <p:extLst>
      <p:ext uri="{BB962C8B-B14F-4D97-AF65-F5344CB8AC3E}">
        <p14:creationId xmlns:p14="http://schemas.microsoft.com/office/powerpoint/2010/main" val="1375559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4E317C39-3D9C-4DD4-99FF-718699F9E7DA}"/>
              </a:ext>
            </a:extLst>
          </p:cNvPr>
          <p:cNvSpPr txBox="1"/>
          <p:nvPr/>
        </p:nvSpPr>
        <p:spPr>
          <a:xfrm>
            <a:off x="435469" y="465511"/>
            <a:ext cx="5514220" cy="646331"/>
          </a:xfrm>
          <a:prstGeom prst="rect">
            <a:avLst/>
          </a:prstGeom>
          <a:noFill/>
        </p:spPr>
        <p:txBody>
          <a:bodyPr wrap="square">
            <a:spAutoFit/>
          </a:bodyPr>
          <a:lstStyle/>
          <a:p>
            <a:pPr marR="0" lvl="0" algn="l" defTabSz="914400" rtl="0" eaLnBrk="1" fontAlgn="auto" latinLnBrk="0" hangingPunct="1">
              <a:spcBef>
                <a:spcPts val="0"/>
              </a:spcBef>
              <a:spcAft>
                <a:spcPts val="0"/>
              </a:spcAft>
              <a:buClrTx/>
              <a:buSzTx/>
              <a:tabLst/>
              <a:defRPr/>
            </a:pPr>
            <a:r>
              <a:rPr lang="fr-FR" sz="3200" b="1" dirty="0">
                <a:solidFill>
                  <a:srgbClr val="C00000"/>
                </a:solidFill>
                <a:latin typeface="Times New Roman" panose="02020603050405020304" pitchFamily="18" charset="0"/>
                <a:cs typeface="Times New Roman" panose="02020603050405020304" pitchFamily="18" charset="0"/>
              </a:rPr>
              <a:t>4. Les </a:t>
            </a:r>
            <a:r>
              <a:rPr lang="fr-FR" sz="3600" b="1" dirty="0">
                <a:solidFill>
                  <a:srgbClr val="C00000"/>
                </a:solidFill>
                <a:latin typeface="Times New Roman" panose="02020603050405020304" pitchFamily="18" charset="0"/>
                <a:cs typeface="Times New Roman" panose="02020603050405020304" pitchFamily="18" charset="0"/>
              </a:rPr>
              <a:t>Technologies</a:t>
            </a:r>
            <a:r>
              <a:rPr lang="fr-FR" sz="3200" b="1" dirty="0">
                <a:solidFill>
                  <a:srgbClr val="C00000"/>
                </a:solidFill>
                <a:latin typeface="Times New Roman" panose="02020603050405020304" pitchFamily="18" charset="0"/>
                <a:cs typeface="Times New Roman" panose="02020603050405020304" pitchFamily="18" charset="0"/>
              </a:rPr>
              <a:t> Big Data</a:t>
            </a:r>
          </a:p>
        </p:txBody>
      </p:sp>
      <p:sp>
        <p:nvSpPr>
          <p:cNvPr id="4" name="ZoneTexte 3">
            <a:extLst>
              <a:ext uri="{FF2B5EF4-FFF2-40B4-BE49-F238E27FC236}">
                <a16:creationId xmlns:a16="http://schemas.microsoft.com/office/drawing/2014/main" id="{1139B724-70C9-426C-91DF-555EF595735B}"/>
              </a:ext>
            </a:extLst>
          </p:cNvPr>
          <p:cNvSpPr txBox="1"/>
          <p:nvPr/>
        </p:nvSpPr>
        <p:spPr>
          <a:xfrm>
            <a:off x="435469" y="1679463"/>
            <a:ext cx="10090484" cy="2339102"/>
          </a:xfrm>
          <a:prstGeom prst="rect">
            <a:avLst/>
          </a:prstGeom>
          <a:noFill/>
        </p:spPr>
        <p:txBody>
          <a:bodyPr wrap="square" rtlCol="0">
            <a:spAutoFit/>
          </a:bodyPr>
          <a:lstStyle/>
          <a:p>
            <a:pPr marL="457200" indent="-457200">
              <a:lnSpc>
                <a:spcPct val="200000"/>
              </a:lnSpc>
              <a:buClr>
                <a:srgbClr val="C00000"/>
              </a:buClr>
              <a:buFont typeface="Wingdings" panose="05000000000000000000" pitchFamily="2" charset="2"/>
              <a:buChar char="v"/>
            </a:pPr>
            <a:r>
              <a:rPr lang="fr-FR" sz="3200" dirty="0"/>
              <a:t> </a:t>
            </a:r>
            <a:r>
              <a:rPr lang="fr-FR" sz="3200" dirty="0">
                <a:latin typeface="Times New Roman" panose="02020603050405020304" pitchFamily="18" charset="0"/>
                <a:cs typeface="Times New Roman" panose="02020603050405020304" pitchFamily="18" charset="0"/>
              </a:rPr>
              <a:t>Technologies de </a:t>
            </a:r>
            <a:r>
              <a:rPr lang="fr-FR" sz="3200" b="1" dirty="0">
                <a:latin typeface="Times New Roman" panose="02020603050405020304" pitchFamily="18" charset="0"/>
                <a:cs typeface="Times New Roman" panose="02020603050405020304" pitchFamily="18" charset="0"/>
              </a:rPr>
              <a:t>Stockage</a:t>
            </a:r>
            <a:r>
              <a:rPr lang="fr-FR" sz="3200" dirty="0">
                <a:latin typeface="Times New Roman" panose="02020603050405020304" pitchFamily="18" charset="0"/>
                <a:cs typeface="Times New Roman" panose="02020603050405020304" pitchFamily="18" charset="0"/>
              </a:rPr>
              <a:t>  Big Data</a:t>
            </a:r>
          </a:p>
          <a:p>
            <a:pPr marL="457200" indent="-457200">
              <a:lnSpc>
                <a:spcPct val="200000"/>
              </a:lnSpc>
              <a:buClr>
                <a:srgbClr val="C00000"/>
              </a:buClr>
              <a:buFont typeface="Wingdings" panose="05000000000000000000" pitchFamily="2" charset="2"/>
              <a:buChar char="v"/>
            </a:pPr>
            <a:r>
              <a:rPr lang="fr-FR" sz="3200" dirty="0">
                <a:latin typeface="Times New Roman" panose="02020603050405020304" pitchFamily="18" charset="0"/>
                <a:cs typeface="Times New Roman" panose="02020603050405020304" pitchFamily="18" charset="0"/>
              </a:rPr>
              <a:t>Technologies de </a:t>
            </a:r>
            <a:r>
              <a:rPr lang="fr-FR" sz="3200" b="1" dirty="0">
                <a:latin typeface="Times New Roman" panose="02020603050405020304" pitchFamily="18" charset="0"/>
                <a:cs typeface="Times New Roman" panose="02020603050405020304" pitchFamily="18" charset="0"/>
              </a:rPr>
              <a:t>Traitement</a:t>
            </a:r>
            <a:r>
              <a:rPr lang="fr-FR" sz="3200" dirty="0">
                <a:latin typeface="Times New Roman" panose="02020603050405020304" pitchFamily="18" charset="0"/>
                <a:cs typeface="Times New Roman" panose="02020603050405020304" pitchFamily="18" charset="0"/>
              </a:rPr>
              <a:t> et d’</a:t>
            </a:r>
            <a:r>
              <a:rPr lang="fr-FR" sz="3200" b="1" dirty="0">
                <a:latin typeface="Times New Roman" panose="02020603050405020304" pitchFamily="18" charset="0"/>
                <a:cs typeface="Times New Roman" panose="02020603050405020304" pitchFamily="18" charset="0"/>
              </a:rPr>
              <a:t>Analyse</a:t>
            </a:r>
            <a:r>
              <a:rPr lang="fr-FR" sz="3200" dirty="0">
                <a:latin typeface="Times New Roman" panose="02020603050405020304" pitchFamily="18" charset="0"/>
                <a:cs typeface="Times New Roman" panose="02020603050405020304" pitchFamily="18" charset="0"/>
              </a:rPr>
              <a:t> Big Data</a:t>
            </a:r>
          </a:p>
          <a:p>
            <a:endParaRPr lang="fr-FR" dirty="0"/>
          </a:p>
        </p:txBody>
      </p:sp>
    </p:spTree>
    <p:extLst>
      <p:ext uri="{BB962C8B-B14F-4D97-AF65-F5344CB8AC3E}">
        <p14:creationId xmlns:p14="http://schemas.microsoft.com/office/powerpoint/2010/main" val="18547686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93264C45-547F-4616-A869-E500AF7A91B3}"/>
              </a:ext>
            </a:extLst>
          </p:cNvPr>
          <p:cNvSpPr txBox="1"/>
          <p:nvPr/>
        </p:nvSpPr>
        <p:spPr>
          <a:xfrm>
            <a:off x="350592" y="1353526"/>
            <a:ext cx="11036968" cy="3163687"/>
          </a:xfrm>
          <a:prstGeom prst="rect">
            <a:avLst/>
          </a:prstGeom>
          <a:noFill/>
        </p:spPr>
        <p:txBody>
          <a:bodyPr wrap="square">
            <a:spAutoFit/>
          </a:bodyPr>
          <a:lstStyle/>
          <a:p>
            <a:pPr algn="just">
              <a:lnSpc>
                <a:spcPct val="150000"/>
              </a:lnSpc>
              <a:spcAft>
                <a:spcPts val="800"/>
              </a:spcAft>
            </a:pPr>
            <a:r>
              <a:rPr lang="fr-FR" sz="3200" dirty="0">
                <a:solidFill>
                  <a:srgbClr val="312F2F"/>
                </a:solidFill>
                <a:effectLst/>
                <a:latin typeface="Times New Roman" panose="02020603050405020304" pitchFamily="18" charset="0"/>
                <a:ea typeface="Calibri" panose="020F0502020204030204" pitchFamily="34" charset="0"/>
                <a:cs typeface="Times New Roman" panose="02020603050405020304" pitchFamily="18" charset="0"/>
              </a:rPr>
              <a:t>Le Stockage de Big Data est assuré par les </a:t>
            </a:r>
            <a:r>
              <a:rPr lang="fr-FR" sz="3200" dirty="0">
                <a:solidFill>
                  <a:srgbClr val="312F2F"/>
                </a:solidFill>
                <a:latin typeface="Times New Roman" panose="02020603050405020304" pitchFamily="18" charset="0"/>
                <a:ea typeface="Calibri" panose="020F0502020204030204" pitchFamily="34" charset="0"/>
                <a:cs typeface="Times New Roman" panose="02020603050405020304" pitchFamily="18" charset="0"/>
              </a:rPr>
              <a:t>deux</a:t>
            </a:r>
            <a:r>
              <a:rPr lang="fr-FR" sz="3200" dirty="0">
                <a:solidFill>
                  <a:srgbClr val="312F2F"/>
                </a:solidFill>
                <a:effectLst/>
                <a:latin typeface="Times New Roman" panose="02020603050405020304" pitchFamily="18" charset="0"/>
                <a:ea typeface="Calibri" panose="020F0502020204030204" pitchFamily="34" charset="0"/>
                <a:cs typeface="Times New Roman" panose="02020603050405020304" pitchFamily="18" charset="0"/>
              </a:rPr>
              <a:t> techniques suivantes :</a:t>
            </a:r>
            <a:endParaRPr lang="fr-FR" sz="3200" dirty="0">
              <a:effectLst/>
              <a:latin typeface="Times New Roman" panose="02020603050405020304" pitchFamily="18" charset="0"/>
              <a:ea typeface="Calibri" panose="020F0502020204030204" pitchFamily="34" charset="0"/>
              <a:cs typeface="Times New Roman" panose="02020603050405020304" pitchFamily="18" charset="0"/>
            </a:endParaRPr>
          </a:p>
          <a:p>
            <a:pPr marL="514350" indent="-514350" algn="just">
              <a:lnSpc>
                <a:spcPct val="150000"/>
              </a:lnSpc>
              <a:spcAft>
                <a:spcPts val="800"/>
              </a:spcAft>
              <a:buFont typeface="+mj-lt"/>
              <a:buAutoNum type="arabicPeriod"/>
            </a:pPr>
            <a:r>
              <a:rPr lang="fr-FR" sz="3200" b="1" dirty="0">
                <a:solidFill>
                  <a:srgbClr val="312F2F"/>
                </a:solidFill>
                <a:effectLst/>
                <a:latin typeface="Times New Roman" panose="02020603050405020304" pitchFamily="18" charset="0"/>
                <a:ea typeface="Calibri" panose="020F0502020204030204" pitchFamily="34" charset="0"/>
                <a:cs typeface="Times New Roman" panose="02020603050405020304" pitchFamily="18" charset="0"/>
              </a:rPr>
              <a:t>Systèmes de </a:t>
            </a:r>
            <a:r>
              <a:rPr lang="fr-FR" sz="3200" b="1" dirty="0">
                <a:solidFill>
                  <a:srgbClr val="312F2F"/>
                </a:solidFill>
                <a:latin typeface="Times New Roman" panose="02020603050405020304" pitchFamily="18" charset="0"/>
                <a:ea typeface="Calibri" panose="020F0502020204030204" pitchFamily="34" charset="0"/>
                <a:cs typeface="Times New Roman" panose="02020603050405020304" pitchFamily="18" charset="0"/>
              </a:rPr>
              <a:t>F</a:t>
            </a:r>
            <a:r>
              <a:rPr lang="fr-FR" sz="3200" b="1" dirty="0">
                <a:solidFill>
                  <a:srgbClr val="312F2F"/>
                </a:solidFill>
                <a:effectLst/>
                <a:latin typeface="Times New Roman" panose="02020603050405020304" pitchFamily="18" charset="0"/>
                <a:ea typeface="Calibri" panose="020F0502020204030204" pitchFamily="34" charset="0"/>
                <a:cs typeface="Times New Roman" panose="02020603050405020304" pitchFamily="18" charset="0"/>
              </a:rPr>
              <a:t>ichiers </a:t>
            </a:r>
            <a:r>
              <a:rPr lang="fr-FR" sz="3200" b="1" dirty="0">
                <a:solidFill>
                  <a:srgbClr val="312F2F"/>
                </a:solidFill>
                <a:latin typeface="Times New Roman" panose="02020603050405020304" pitchFamily="18" charset="0"/>
                <a:ea typeface="Calibri" panose="020F0502020204030204" pitchFamily="34" charset="0"/>
                <a:cs typeface="Times New Roman" panose="02020603050405020304" pitchFamily="18" charset="0"/>
              </a:rPr>
              <a:t>D</a:t>
            </a:r>
            <a:r>
              <a:rPr lang="fr-FR" sz="3200" b="1" dirty="0">
                <a:solidFill>
                  <a:srgbClr val="312F2F"/>
                </a:solidFill>
                <a:effectLst/>
                <a:latin typeface="Times New Roman" panose="02020603050405020304" pitchFamily="18" charset="0"/>
                <a:ea typeface="Calibri" panose="020F0502020204030204" pitchFamily="34" charset="0"/>
                <a:cs typeface="Times New Roman" panose="02020603050405020304" pitchFamily="18" charset="0"/>
              </a:rPr>
              <a:t>istribués </a:t>
            </a:r>
            <a:r>
              <a:rPr lang="fr-FR" sz="3200" b="1" dirty="0">
                <a:solidFill>
                  <a:srgbClr val="312F2F"/>
                </a:solidFill>
                <a:effectLst/>
                <a:latin typeface="Times New Roman" panose="02020603050405020304" pitchFamily="18" charset="0"/>
                <a:ea typeface="Calibri" panose="020F0502020204030204" pitchFamily="34" charset="0"/>
              </a:rPr>
              <a:t>Hadoop</a:t>
            </a:r>
            <a:r>
              <a:rPr lang="fr-FR" sz="3200" b="1" dirty="0">
                <a:solidFill>
                  <a:srgbClr val="312F2F"/>
                </a:solidFill>
                <a:effectLst/>
                <a:latin typeface="Times New Roman" panose="02020603050405020304" pitchFamily="18" charset="0"/>
                <a:ea typeface="Calibri" panose="020F0502020204030204" pitchFamily="34" charset="0"/>
                <a:cs typeface="Times New Roman" panose="02020603050405020304" pitchFamily="18" charset="0"/>
              </a:rPr>
              <a:t> </a:t>
            </a:r>
            <a:r>
              <a:rPr lang="fr-FR" sz="3200" b="1" dirty="0">
                <a:solidFill>
                  <a:srgbClr val="312F2F"/>
                </a:solidFill>
                <a:effectLst/>
                <a:latin typeface="Times New Roman" panose="02020603050405020304" pitchFamily="18" charset="0"/>
                <a:ea typeface="Calibri" panose="020F0502020204030204" pitchFamily="34" charset="0"/>
              </a:rPr>
              <a:t>(HDFS) </a:t>
            </a:r>
            <a:endParaRPr lang="fr-FR" sz="3200" b="1" dirty="0">
              <a:latin typeface="Times New Roman" panose="02020603050405020304" pitchFamily="18" charset="0"/>
              <a:ea typeface="Calibri" panose="020F0502020204030204" pitchFamily="34" charset="0"/>
              <a:cs typeface="Times New Roman" panose="02020603050405020304" pitchFamily="18" charset="0"/>
            </a:endParaRPr>
          </a:p>
          <a:p>
            <a:pPr marL="514350" indent="-514350" algn="just">
              <a:lnSpc>
                <a:spcPct val="150000"/>
              </a:lnSpc>
              <a:spcAft>
                <a:spcPts val="800"/>
              </a:spcAft>
              <a:buFont typeface="+mj-lt"/>
              <a:buAutoNum type="arabicPeriod"/>
            </a:pPr>
            <a:r>
              <a:rPr lang="fr-FR" sz="3200" b="1" dirty="0">
                <a:solidFill>
                  <a:srgbClr val="312F2F"/>
                </a:solidFill>
                <a:effectLst/>
                <a:latin typeface="Times New Roman" panose="02020603050405020304" pitchFamily="18" charset="0"/>
                <a:ea typeface="Calibri" panose="020F0502020204030204" pitchFamily="34" charset="0"/>
                <a:cs typeface="Times New Roman" panose="02020603050405020304" pitchFamily="18" charset="0"/>
              </a:rPr>
              <a:t>NoSQL</a:t>
            </a:r>
            <a:endParaRPr lang="fr-FR" sz="3200" b="1"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5" name="ZoneTexte 4">
            <a:extLst>
              <a:ext uri="{FF2B5EF4-FFF2-40B4-BE49-F238E27FC236}">
                <a16:creationId xmlns:a16="http://schemas.microsoft.com/office/drawing/2014/main" id="{6BF69719-9BF8-4A3D-B0E3-D86C594324F1}"/>
              </a:ext>
            </a:extLst>
          </p:cNvPr>
          <p:cNvSpPr txBox="1"/>
          <p:nvPr/>
        </p:nvSpPr>
        <p:spPr>
          <a:xfrm>
            <a:off x="212338" y="333347"/>
            <a:ext cx="7523747" cy="646331"/>
          </a:xfrm>
          <a:prstGeom prst="rect">
            <a:avLst/>
          </a:prstGeom>
          <a:noFill/>
        </p:spPr>
        <p:txBody>
          <a:bodyPr wrap="square">
            <a:spAutoFit/>
          </a:bodyPr>
          <a:lstStyle/>
          <a:p>
            <a:r>
              <a:rPr lang="fr-FR" sz="3600" b="1" dirty="0">
                <a:solidFill>
                  <a:srgbClr val="C00000"/>
                </a:solidFill>
                <a:latin typeface="Times New Roman" panose="02020603050405020304" pitchFamily="18" charset="0"/>
                <a:cs typeface="Times New Roman" panose="02020603050405020304" pitchFamily="18" charset="0"/>
              </a:rPr>
              <a:t>5. Technologies de Stockage  Big Data</a:t>
            </a:r>
            <a:endParaRPr lang="fr-FR" sz="3600" b="1" dirty="0">
              <a:solidFill>
                <a:srgbClr val="C00000"/>
              </a:solidFill>
            </a:endParaRPr>
          </a:p>
        </p:txBody>
      </p:sp>
    </p:spTree>
    <p:extLst>
      <p:ext uri="{BB962C8B-B14F-4D97-AF65-F5344CB8AC3E}">
        <p14:creationId xmlns:p14="http://schemas.microsoft.com/office/powerpoint/2010/main" val="16415086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B8F345D2-DDB2-4BE7-B781-00C339968DA8}"/>
              </a:ext>
            </a:extLst>
          </p:cNvPr>
          <p:cNvSpPr txBox="1"/>
          <p:nvPr/>
        </p:nvSpPr>
        <p:spPr>
          <a:xfrm>
            <a:off x="365761" y="16042"/>
            <a:ext cx="11305308" cy="646331"/>
          </a:xfrm>
          <a:prstGeom prst="rect">
            <a:avLst/>
          </a:prstGeom>
          <a:noFill/>
        </p:spPr>
        <p:txBody>
          <a:bodyPr wrap="square">
            <a:spAutoFit/>
          </a:bodyPr>
          <a:lstStyle/>
          <a:p>
            <a:r>
              <a:rPr lang="fr-FR" sz="3600" b="1" dirty="0">
                <a:solidFill>
                  <a:srgbClr val="C00000"/>
                </a:solidFill>
                <a:latin typeface="Times New Roman" panose="02020603050405020304" pitchFamily="18" charset="0"/>
                <a:cs typeface="Times New Roman" panose="02020603050405020304" pitchFamily="18" charset="0"/>
              </a:rPr>
              <a:t>5.1 Systèmes de Fichiers Distribués Hadoop (HDFS) </a:t>
            </a:r>
          </a:p>
        </p:txBody>
      </p:sp>
      <p:sp>
        <p:nvSpPr>
          <p:cNvPr id="9" name="ZoneTexte 8">
            <a:extLst>
              <a:ext uri="{FF2B5EF4-FFF2-40B4-BE49-F238E27FC236}">
                <a16:creationId xmlns:a16="http://schemas.microsoft.com/office/drawing/2014/main" id="{A71302AD-A6BD-4F99-B836-4CD5F9E37A9F}"/>
              </a:ext>
            </a:extLst>
          </p:cNvPr>
          <p:cNvSpPr txBox="1"/>
          <p:nvPr/>
        </p:nvSpPr>
        <p:spPr>
          <a:xfrm>
            <a:off x="216567" y="2655503"/>
            <a:ext cx="11758861" cy="4250394"/>
          </a:xfrm>
          <a:prstGeom prst="rect">
            <a:avLst/>
          </a:prstGeom>
          <a:noFill/>
        </p:spPr>
        <p:txBody>
          <a:bodyPr wrap="square" rtlCol="0">
            <a:spAutoFit/>
          </a:bodyPr>
          <a:lstStyle/>
          <a:p>
            <a:pPr algn="just">
              <a:lnSpc>
                <a:spcPct val="140000"/>
              </a:lnSpc>
            </a:pPr>
            <a:r>
              <a:rPr lang="fr-FR" sz="2600" b="1" dirty="0">
                <a:solidFill>
                  <a:srgbClr val="C00000"/>
                </a:solidFill>
                <a:latin typeface="Times New Roman" panose="02020603050405020304" pitchFamily="18" charset="0"/>
                <a:cs typeface="Times New Roman" panose="02020603050405020304" pitchFamily="18" charset="0"/>
              </a:rPr>
              <a:t>Un nœud de nom (</a:t>
            </a:r>
            <a:r>
              <a:rPr lang="fr-FR" sz="2600" b="1" dirty="0" err="1">
                <a:solidFill>
                  <a:srgbClr val="C00000"/>
                </a:solidFill>
                <a:latin typeface="Times New Roman" panose="02020603050405020304" pitchFamily="18" charset="0"/>
                <a:cs typeface="Times New Roman" panose="02020603050405020304" pitchFamily="18" charset="0"/>
              </a:rPr>
              <a:t>name</a:t>
            </a:r>
            <a:r>
              <a:rPr lang="fr-FR" sz="2600" b="1" dirty="0">
                <a:solidFill>
                  <a:srgbClr val="C00000"/>
                </a:solidFill>
                <a:latin typeface="Times New Roman" panose="02020603050405020304" pitchFamily="18" charset="0"/>
                <a:cs typeface="Times New Roman" panose="02020603050405020304" pitchFamily="18" charset="0"/>
              </a:rPr>
              <a:t> </a:t>
            </a:r>
            <a:r>
              <a:rPr lang="fr-FR" sz="2600" b="1" dirty="0" err="1">
                <a:solidFill>
                  <a:srgbClr val="C00000"/>
                </a:solidFill>
                <a:latin typeface="Times New Roman" panose="02020603050405020304" pitchFamily="18" charset="0"/>
                <a:cs typeface="Times New Roman" panose="02020603050405020304" pitchFamily="18" charset="0"/>
              </a:rPr>
              <a:t>node</a:t>
            </a:r>
            <a:r>
              <a:rPr lang="fr-FR" sz="2600" b="1" dirty="0">
                <a:solidFill>
                  <a:srgbClr val="C00000"/>
                </a:solidFill>
                <a:latin typeface="Times New Roman" panose="02020603050405020304" pitchFamily="18" charset="0"/>
                <a:cs typeface="Times New Roman" panose="02020603050405020304" pitchFamily="18" charset="0"/>
              </a:rPr>
              <a:t>) </a:t>
            </a:r>
            <a:r>
              <a:rPr lang="fr-FR" sz="2600" b="1" dirty="0">
                <a:latin typeface="Times New Roman" panose="02020603050405020304" pitchFamily="18" charset="0"/>
                <a:cs typeface="Times New Roman" panose="02020603050405020304" pitchFamily="18" charset="0"/>
              </a:rPr>
              <a:t>: </a:t>
            </a:r>
            <a:r>
              <a:rPr lang="fr-FR" sz="2300" dirty="0">
                <a:latin typeface="Times New Roman" panose="02020603050405020304" pitchFamily="18" charset="0"/>
                <a:cs typeface="Times New Roman" panose="02020603050405020304" pitchFamily="18" charset="0"/>
              </a:rPr>
              <a:t>Il est  nœud maître qui contrôle tous les nœuds de données et il contient des métadonnées. Il gère toutes les opérations sur les fichiers comme la lecture, l'écriture, etc.</a:t>
            </a:r>
          </a:p>
          <a:p>
            <a:pPr algn="just">
              <a:lnSpc>
                <a:spcPct val="140000"/>
              </a:lnSpc>
            </a:pPr>
            <a:r>
              <a:rPr lang="fr-FR" sz="2600" b="1" dirty="0">
                <a:solidFill>
                  <a:srgbClr val="C00000"/>
                </a:solidFill>
                <a:latin typeface="Times New Roman" panose="02020603050405020304" pitchFamily="18" charset="0"/>
                <a:cs typeface="Times New Roman" panose="02020603050405020304" pitchFamily="18" charset="0"/>
              </a:rPr>
              <a:t>Un nœud de données (data </a:t>
            </a:r>
            <a:r>
              <a:rPr lang="fr-FR" sz="2600" b="1" dirty="0" err="1">
                <a:solidFill>
                  <a:srgbClr val="C00000"/>
                </a:solidFill>
                <a:latin typeface="Times New Roman" panose="02020603050405020304" pitchFamily="18" charset="0"/>
                <a:cs typeface="Times New Roman" panose="02020603050405020304" pitchFamily="18" charset="0"/>
              </a:rPr>
              <a:t>node</a:t>
            </a:r>
            <a:r>
              <a:rPr lang="fr-FR" sz="2600" b="1" dirty="0">
                <a:solidFill>
                  <a:srgbClr val="C00000"/>
                </a:solidFill>
                <a:latin typeface="Times New Roman" panose="02020603050405020304" pitchFamily="18" charset="0"/>
                <a:cs typeface="Times New Roman" panose="02020603050405020304" pitchFamily="18" charset="0"/>
              </a:rPr>
              <a:t>)</a:t>
            </a:r>
            <a:r>
              <a:rPr lang="fr-FR" sz="2600" b="1" dirty="0">
                <a:latin typeface="Times New Roman" panose="02020603050405020304" pitchFamily="18" charset="0"/>
                <a:cs typeface="Times New Roman" panose="02020603050405020304" pitchFamily="18" charset="0"/>
              </a:rPr>
              <a:t> : </a:t>
            </a:r>
            <a:r>
              <a:rPr lang="fr-FR" sz="2300" dirty="0">
                <a:latin typeface="Times New Roman" panose="02020603050405020304" pitchFamily="18" charset="0"/>
                <a:cs typeface="Times New Roman" panose="02020603050405020304" pitchFamily="18" charset="0"/>
              </a:rPr>
              <a:t>Les nœuds de données (data </a:t>
            </a:r>
            <a:r>
              <a:rPr lang="fr-FR" sz="2300" dirty="0" err="1">
                <a:latin typeface="Times New Roman" panose="02020603050405020304" pitchFamily="18" charset="0"/>
                <a:cs typeface="Times New Roman" panose="02020603050405020304" pitchFamily="18" charset="0"/>
              </a:rPr>
              <a:t>node</a:t>
            </a:r>
            <a:r>
              <a:rPr lang="fr-FR" sz="2300" dirty="0">
                <a:latin typeface="Times New Roman" panose="02020603050405020304" pitchFamily="18" charset="0"/>
                <a:cs typeface="Times New Roman" panose="02020603050405020304" pitchFamily="18" charset="0"/>
              </a:rPr>
              <a:t>) sont les nœuds esclaves présents dans le cluster Hadoop. Toutes les opérations de fichier effectuées sur ces nœuds et les données sont en fait stockées sur ces nœuds comme décidé par les nœuds de nom.</a:t>
            </a:r>
          </a:p>
          <a:p>
            <a:pPr algn="just">
              <a:lnSpc>
                <a:spcPct val="140000"/>
              </a:lnSpc>
            </a:pPr>
            <a:r>
              <a:rPr lang="fr-FR" sz="2600" b="1" dirty="0">
                <a:solidFill>
                  <a:srgbClr val="C00000"/>
                </a:solidFill>
                <a:latin typeface="Times New Roman" panose="02020603050405020304" pitchFamily="18" charset="0"/>
                <a:cs typeface="Times New Roman" panose="02020603050405020304" pitchFamily="18" charset="0"/>
              </a:rPr>
              <a:t>Le nœud de nom secondaire </a:t>
            </a:r>
            <a:r>
              <a:rPr lang="fr-FR" sz="2600" b="1" dirty="0">
                <a:latin typeface="Times New Roman" panose="02020603050405020304" pitchFamily="18" charset="0"/>
                <a:cs typeface="Times New Roman" panose="02020603050405020304" pitchFamily="18" charset="0"/>
              </a:rPr>
              <a:t>:</a:t>
            </a:r>
            <a:r>
              <a:rPr lang="fr-FR" sz="2300" dirty="0">
                <a:latin typeface="Times New Roman" panose="02020603050405020304" pitchFamily="18" charset="0"/>
                <a:cs typeface="Times New Roman" panose="02020603050405020304" pitchFamily="18" charset="0"/>
              </a:rPr>
              <a:t>Le nœud de nom secondaire est la sauvegarde du nœud de nom. </a:t>
            </a:r>
            <a:endParaRPr lang="fr-FR" sz="2300" dirty="0"/>
          </a:p>
        </p:txBody>
      </p:sp>
      <p:sp>
        <p:nvSpPr>
          <p:cNvPr id="12" name="ZoneTexte 11">
            <a:extLst>
              <a:ext uri="{FF2B5EF4-FFF2-40B4-BE49-F238E27FC236}">
                <a16:creationId xmlns:a16="http://schemas.microsoft.com/office/drawing/2014/main" id="{A1D49971-5AC0-4C5A-9F8B-4730A5989238}"/>
              </a:ext>
            </a:extLst>
          </p:cNvPr>
          <p:cNvSpPr txBox="1"/>
          <p:nvPr/>
        </p:nvSpPr>
        <p:spPr>
          <a:xfrm>
            <a:off x="216566" y="635848"/>
            <a:ext cx="11758861" cy="2019655"/>
          </a:xfrm>
          <a:prstGeom prst="rect">
            <a:avLst/>
          </a:prstGeom>
          <a:noFill/>
        </p:spPr>
        <p:txBody>
          <a:bodyPr wrap="square">
            <a:spAutoFit/>
          </a:bodyPr>
          <a:lstStyle/>
          <a:p>
            <a:pPr algn="just">
              <a:lnSpc>
                <a:spcPct val="140000"/>
              </a:lnSpc>
              <a:spcAft>
                <a:spcPts val="800"/>
              </a:spcAft>
            </a:pPr>
            <a:r>
              <a:rPr lang="fr-FR" sz="2300" dirty="0">
                <a:latin typeface="Times New Roman" panose="02020603050405020304" pitchFamily="18" charset="0"/>
                <a:cs typeface="Times New Roman" panose="02020603050405020304" pitchFamily="18" charset="0"/>
              </a:rPr>
              <a:t>HDFS est un système de fichiers conçu pour stocker de fichiers très volumineux avec des modèles d'accès aux données en continu, s'exécutant sur des grappes de matériel de base. Il divise les fichiers volumineux en blocs de 64 Mo par défaut et les stocke dans un grand cluster de manière très efficace. L’architecture HDFS, il existe deux nœuds de base dans un cluster Hadoop</a:t>
            </a:r>
          </a:p>
        </p:txBody>
      </p:sp>
    </p:spTree>
    <p:extLst>
      <p:ext uri="{BB962C8B-B14F-4D97-AF65-F5344CB8AC3E}">
        <p14:creationId xmlns:p14="http://schemas.microsoft.com/office/powerpoint/2010/main" val="25396397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B9F9B7C6-7F2E-45F5-9389-CE8EB9F76F59}"/>
              </a:ext>
            </a:extLst>
          </p:cNvPr>
          <p:cNvSpPr txBox="1"/>
          <p:nvPr/>
        </p:nvSpPr>
        <p:spPr>
          <a:xfrm>
            <a:off x="392971" y="229603"/>
            <a:ext cx="6174084" cy="646331"/>
          </a:xfrm>
          <a:prstGeom prst="rect">
            <a:avLst/>
          </a:prstGeom>
          <a:noFill/>
        </p:spPr>
        <p:txBody>
          <a:bodyPr wrap="square">
            <a:spAutoFit/>
          </a:bodyPr>
          <a:lstStyle/>
          <a:p>
            <a:r>
              <a:rPr lang="fr-FR" sz="3600" b="1" dirty="0">
                <a:solidFill>
                  <a:srgbClr val="C00000"/>
                </a:solidFill>
                <a:latin typeface="Times New Roman" panose="02020603050405020304" pitchFamily="18" charset="0"/>
                <a:cs typeface="Times New Roman" panose="02020603050405020304" pitchFamily="18" charset="0"/>
              </a:rPr>
              <a:t>5.1.2 Architecture</a:t>
            </a:r>
            <a:r>
              <a:rPr lang="fr-FR" sz="3600" dirty="0">
                <a:solidFill>
                  <a:srgbClr val="C00000"/>
                </a:solidFill>
                <a:latin typeface="Times New Roman" panose="02020603050405020304" pitchFamily="18" charset="0"/>
                <a:cs typeface="Times New Roman" panose="02020603050405020304" pitchFamily="18" charset="0"/>
              </a:rPr>
              <a:t> </a:t>
            </a:r>
            <a:r>
              <a:rPr lang="fr-FR" sz="3600" b="1" dirty="0">
                <a:solidFill>
                  <a:srgbClr val="C00000"/>
                </a:solidFill>
                <a:latin typeface="Times New Roman" panose="02020603050405020304" pitchFamily="18" charset="0"/>
                <a:cs typeface="Times New Roman" panose="02020603050405020304" pitchFamily="18" charset="0"/>
              </a:rPr>
              <a:t>HDFS</a:t>
            </a:r>
          </a:p>
        </p:txBody>
      </p:sp>
      <p:pic>
        <p:nvPicPr>
          <p:cNvPr id="5" name="Image 4">
            <a:extLst>
              <a:ext uri="{FF2B5EF4-FFF2-40B4-BE49-F238E27FC236}">
                <a16:creationId xmlns:a16="http://schemas.microsoft.com/office/drawing/2014/main" id="{519A0661-985C-4B54-A092-6652A8A2AA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31504" y="1030778"/>
            <a:ext cx="6862125" cy="4389119"/>
          </a:xfrm>
          <a:prstGeom prst="rect">
            <a:avLst/>
          </a:prstGeom>
        </p:spPr>
      </p:pic>
      <p:sp>
        <p:nvSpPr>
          <p:cNvPr id="7" name="ZoneTexte 6">
            <a:extLst>
              <a:ext uri="{FF2B5EF4-FFF2-40B4-BE49-F238E27FC236}">
                <a16:creationId xmlns:a16="http://schemas.microsoft.com/office/drawing/2014/main" id="{FB45A57E-552C-44C6-8993-51AB4C196086}"/>
              </a:ext>
            </a:extLst>
          </p:cNvPr>
          <p:cNvSpPr txBox="1"/>
          <p:nvPr/>
        </p:nvSpPr>
        <p:spPr>
          <a:xfrm>
            <a:off x="1844838" y="5636297"/>
            <a:ext cx="8263438" cy="430887"/>
          </a:xfrm>
          <a:prstGeom prst="rect">
            <a:avLst/>
          </a:prstGeom>
          <a:noFill/>
        </p:spPr>
        <p:txBody>
          <a:bodyPr wrap="square">
            <a:spAutoFit/>
          </a:bodyPr>
          <a:lstStyle/>
          <a:p>
            <a:r>
              <a:rPr lang="fr-FR" sz="2200" b="1" dirty="0">
                <a:latin typeface="Times New Roman" panose="02020603050405020304" pitchFamily="18" charset="0"/>
                <a:cs typeface="Times New Roman" panose="02020603050405020304" pitchFamily="18" charset="0"/>
              </a:rPr>
              <a:t>Figure 2 </a:t>
            </a:r>
            <a:r>
              <a:rPr lang="fr-FR" sz="2200" dirty="0">
                <a:latin typeface="Times New Roman" panose="02020603050405020304" pitchFamily="18" charset="0"/>
                <a:cs typeface="Times New Roman" panose="02020603050405020304" pitchFamily="18" charset="0"/>
              </a:rPr>
              <a:t>: Architecture des systèmes de fichiers distribués Hadoop</a:t>
            </a:r>
          </a:p>
        </p:txBody>
      </p:sp>
    </p:spTree>
    <p:extLst>
      <p:ext uri="{BB962C8B-B14F-4D97-AF65-F5344CB8AC3E}">
        <p14:creationId xmlns:p14="http://schemas.microsoft.com/office/powerpoint/2010/main" val="7412125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7F060DDD-D62E-429A-95E8-E4B00F4AE925}"/>
              </a:ext>
            </a:extLst>
          </p:cNvPr>
          <p:cNvSpPr txBox="1"/>
          <p:nvPr/>
        </p:nvSpPr>
        <p:spPr>
          <a:xfrm>
            <a:off x="336884" y="207674"/>
            <a:ext cx="5232643" cy="646331"/>
          </a:xfrm>
          <a:prstGeom prst="rect">
            <a:avLst/>
          </a:prstGeom>
          <a:noFill/>
        </p:spPr>
        <p:txBody>
          <a:bodyPr wrap="square">
            <a:spAutoFit/>
          </a:bodyPr>
          <a:lstStyle/>
          <a:p>
            <a:r>
              <a:rPr lang="fr-FR" sz="3600" b="1" dirty="0">
                <a:solidFill>
                  <a:srgbClr val="C00000"/>
                </a:solidFill>
                <a:latin typeface="Times New Roman" panose="02020603050405020304" pitchFamily="18" charset="0"/>
                <a:cs typeface="Times New Roman" panose="02020603050405020304" pitchFamily="18" charset="0"/>
              </a:rPr>
              <a:t>5.2</a:t>
            </a:r>
            <a:r>
              <a:rPr lang="fr-FR" sz="3200" b="1" dirty="0">
                <a:solidFill>
                  <a:srgbClr val="C00000"/>
                </a:solidFill>
                <a:latin typeface="Times New Roman" panose="02020603050405020304" pitchFamily="18" charset="0"/>
                <a:cs typeface="Times New Roman" panose="02020603050405020304" pitchFamily="18" charset="0"/>
              </a:rPr>
              <a:t> </a:t>
            </a:r>
            <a:r>
              <a:rPr lang="fr-FR" sz="3600" b="1" dirty="0">
                <a:solidFill>
                  <a:srgbClr val="C00000"/>
                </a:solidFill>
                <a:latin typeface="Times New Roman" panose="02020603050405020304" pitchFamily="18" charset="0"/>
                <a:cs typeface="Times New Roman" panose="02020603050405020304" pitchFamily="18" charset="0"/>
              </a:rPr>
              <a:t>NoSQL</a:t>
            </a:r>
            <a:r>
              <a:rPr lang="fr-FR" sz="3200" b="1" dirty="0">
                <a:solidFill>
                  <a:srgbClr val="C00000"/>
                </a:solidFill>
                <a:latin typeface="Times New Roman" panose="02020603050405020304" pitchFamily="18" charset="0"/>
                <a:cs typeface="Times New Roman" panose="02020603050405020304" pitchFamily="18" charset="0"/>
              </a:rPr>
              <a:t> (Not </a:t>
            </a:r>
            <a:r>
              <a:rPr lang="fr-FR" sz="3200" b="1" dirty="0" err="1">
                <a:solidFill>
                  <a:srgbClr val="C00000"/>
                </a:solidFill>
                <a:latin typeface="Times New Roman" panose="02020603050405020304" pitchFamily="18" charset="0"/>
                <a:cs typeface="Times New Roman" panose="02020603050405020304" pitchFamily="18" charset="0"/>
              </a:rPr>
              <a:t>only</a:t>
            </a:r>
            <a:r>
              <a:rPr lang="fr-FR" sz="3200" b="1" dirty="0">
                <a:solidFill>
                  <a:srgbClr val="C00000"/>
                </a:solidFill>
                <a:latin typeface="Times New Roman" panose="02020603050405020304" pitchFamily="18" charset="0"/>
                <a:cs typeface="Times New Roman" panose="02020603050405020304" pitchFamily="18" charset="0"/>
              </a:rPr>
              <a:t> SQL)</a:t>
            </a:r>
          </a:p>
        </p:txBody>
      </p:sp>
      <p:sp>
        <p:nvSpPr>
          <p:cNvPr id="5" name="ZoneTexte 4">
            <a:extLst>
              <a:ext uri="{FF2B5EF4-FFF2-40B4-BE49-F238E27FC236}">
                <a16:creationId xmlns:a16="http://schemas.microsoft.com/office/drawing/2014/main" id="{81273129-6FA9-4B2A-AEFB-8D0CA39D9059}"/>
              </a:ext>
            </a:extLst>
          </p:cNvPr>
          <p:cNvSpPr txBox="1"/>
          <p:nvPr/>
        </p:nvSpPr>
        <p:spPr>
          <a:xfrm>
            <a:off x="275926" y="1123303"/>
            <a:ext cx="11357811" cy="5106270"/>
          </a:xfrm>
          <a:prstGeom prst="rect">
            <a:avLst/>
          </a:prstGeom>
          <a:noFill/>
        </p:spPr>
        <p:txBody>
          <a:bodyPr wrap="square">
            <a:spAutoFit/>
          </a:bodyPr>
          <a:lstStyle/>
          <a:p>
            <a:pPr algn="just">
              <a:lnSpc>
                <a:spcPct val="150000"/>
              </a:lnSpc>
              <a:spcAft>
                <a:spcPts val="800"/>
              </a:spcAft>
            </a:pPr>
            <a:r>
              <a:rPr lang="fr-FR" sz="2700" dirty="0">
                <a:effectLst/>
                <a:latin typeface="Times New Roman" panose="02020603050405020304" pitchFamily="18" charset="0"/>
                <a:ea typeface="Calibri" panose="020F0502020204030204" pitchFamily="34" charset="0"/>
                <a:cs typeface="Times New Roman" panose="02020603050405020304" pitchFamily="18" charset="0"/>
              </a:rPr>
              <a:t>NoSQL est </a:t>
            </a:r>
            <a:r>
              <a:rPr lang="fr-FR" sz="2700" b="1" dirty="0">
                <a:effectLst/>
                <a:latin typeface="Times New Roman" panose="02020603050405020304" pitchFamily="18" charset="0"/>
                <a:ea typeface="Calibri" panose="020F0502020204030204" pitchFamily="34" charset="0"/>
                <a:cs typeface="Times New Roman" panose="02020603050405020304" pitchFamily="18" charset="0"/>
              </a:rPr>
              <a:t>un système de gestion de base de données non relationnelle</a:t>
            </a:r>
            <a:r>
              <a:rPr lang="fr-FR" sz="2700" dirty="0">
                <a:effectLst/>
                <a:latin typeface="Times New Roman" panose="02020603050405020304" pitchFamily="18" charset="0"/>
                <a:ea typeface="Calibri" panose="020F0502020204030204" pitchFamily="34" charset="0"/>
                <a:cs typeface="Times New Roman" panose="02020603050405020304" pitchFamily="18" charset="0"/>
              </a:rPr>
              <a:t> doté d'un schéma flexible. </a:t>
            </a:r>
            <a:r>
              <a:rPr lang="fr-FR" sz="2700" b="1" dirty="0">
                <a:effectLst/>
                <a:latin typeface="Times New Roman" panose="02020603050405020304" pitchFamily="18" charset="0"/>
                <a:ea typeface="Calibri" panose="020F0502020204030204" pitchFamily="34" charset="0"/>
                <a:cs typeface="Times New Roman" panose="02020603050405020304" pitchFamily="18" charset="0"/>
              </a:rPr>
              <a:t>Il est utilisé avec des données distribuées</a:t>
            </a:r>
            <a:r>
              <a:rPr lang="fr-FR" sz="2700" dirty="0">
                <a:effectLst/>
                <a:latin typeface="Times New Roman" panose="02020603050405020304" pitchFamily="18" charset="0"/>
                <a:ea typeface="Calibri" panose="020F0502020204030204" pitchFamily="34" charset="0"/>
                <a:cs typeface="Times New Roman" panose="02020603050405020304" pitchFamily="18" charset="0"/>
              </a:rPr>
              <a:t>, en particulier </a:t>
            </a:r>
            <a:r>
              <a:rPr lang="fr-FR" sz="2700" b="1" dirty="0">
                <a:effectLst/>
                <a:latin typeface="Times New Roman" panose="02020603050405020304" pitchFamily="18" charset="0"/>
                <a:ea typeface="Calibri" panose="020F0502020204030204" pitchFamily="34" charset="0"/>
                <a:cs typeface="Times New Roman" panose="02020603050405020304" pitchFamily="18" charset="0"/>
              </a:rPr>
              <a:t>avec des applications impliquant des Big Data</a:t>
            </a:r>
            <a:r>
              <a:rPr lang="fr-FR" sz="2700" dirty="0">
                <a:effectLst/>
                <a:latin typeface="Times New Roman" panose="02020603050405020304" pitchFamily="18" charset="0"/>
                <a:ea typeface="Calibri" panose="020F0502020204030204" pitchFamily="34" charset="0"/>
                <a:cs typeface="Times New Roman" panose="02020603050405020304" pitchFamily="18" charset="0"/>
              </a:rPr>
              <a:t>  et des applications avec des </a:t>
            </a:r>
            <a:r>
              <a:rPr lang="fr-FR" sz="2700" b="1" dirty="0">
                <a:effectLst/>
                <a:latin typeface="Times New Roman" panose="02020603050405020304" pitchFamily="18" charset="0"/>
                <a:ea typeface="Calibri" panose="020F0502020204030204" pitchFamily="34" charset="0"/>
                <a:cs typeface="Times New Roman" panose="02020603050405020304" pitchFamily="18" charset="0"/>
              </a:rPr>
              <a:t>données en temps réel</a:t>
            </a:r>
            <a:r>
              <a:rPr lang="fr-FR" sz="2700" dirty="0">
                <a:effectLst/>
                <a:latin typeface="Times New Roman" panose="02020603050405020304" pitchFamily="18" charset="0"/>
                <a:ea typeface="Calibri" panose="020F0502020204030204" pitchFamily="34" charset="0"/>
                <a:cs typeface="Times New Roman" panose="02020603050405020304" pitchFamily="18" charset="0"/>
              </a:rPr>
              <a:t> telles que des journaux Web et des applications.</a:t>
            </a:r>
          </a:p>
          <a:p>
            <a:pPr algn="just">
              <a:lnSpc>
                <a:spcPct val="150000"/>
              </a:lnSpc>
              <a:spcAft>
                <a:spcPts val="800"/>
              </a:spcAft>
            </a:pPr>
            <a:r>
              <a:rPr lang="fr-FR" sz="2700" b="1" dirty="0">
                <a:effectLst/>
                <a:latin typeface="Times New Roman" panose="02020603050405020304" pitchFamily="18" charset="0"/>
                <a:ea typeface="Calibri" panose="020F0502020204030204" pitchFamily="34" charset="0"/>
                <a:cs typeface="Times New Roman" panose="02020603050405020304" pitchFamily="18" charset="0"/>
              </a:rPr>
              <a:t>Les bases de données NoSQL </a:t>
            </a:r>
            <a:r>
              <a:rPr lang="fr-FR" sz="2700" dirty="0">
                <a:effectLst/>
                <a:latin typeface="Times New Roman" panose="02020603050405020304" pitchFamily="18" charset="0"/>
                <a:ea typeface="Calibri" panose="020F0502020204030204" pitchFamily="34" charset="0"/>
                <a:cs typeface="Times New Roman" panose="02020603050405020304" pitchFamily="18" charset="0"/>
              </a:rPr>
              <a:t>prennent en charge différents types de données telles que les </a:t>
            </a:r>
            <a:r>
              <a:rPr lang="fr-FR" sz="2700" b="1" dirty="0">
                <a:effectLst/>
                <a:latin typeface="Times New Roman" panose="02020603050405020304" pitchFamily="18" charset="0"/>
                <a:ea typeface="Calibri" panose="020F0502020204030204" pitchFamily="34" charset="0"/>
                <a:cs typeface="Times New Roman" panose="02020603050405020304" pitchFamily="18" charset="0"/>
              </a:rPr>
              <a:t>données structurées</a:t>
            </a:r>
            <a:r>
              <a:rPr lang="fr-FR" sz="2700" dirty="0">
                <a:effectLst/>
                <a:latin typeface="Times New Roman" panose="02020603050405020304" pitchFamily="18" charset="0"/>
                <a:ea typeface="Calibri" panose="020F0502020204030204" pitchFamily="34" charset="0"/>
                <a:cs typeface="Times New Roman" panose="02020603050405020304" pitchFamily="18" charset="0"/>
              </a:rPr>
              <a:t>, </a:t>
            </a:r>
            <a:r>
              <a:rPr lang="fr-FR" sz="2700" b="1" dirty="0">
                <a:effectLst/>
                <a:latin typeface="Times New Roman" panose="02020603050405020304" pitchFamily="18" charset="0"/>
                <a:ea typeface="Calibri" panose="020F0502020204030204" pitchFamily="34" charset="0"/>
                <a:cs typeface="Times New Roman" panose="02020603050405020304" pitchFamily="18" charset="0"/>
              </a:rPr>
              <a:t>semi-structurées</a:t>
            </a:r>
            <a:r>
              <a:rPr lang="fr-FR" sz="2700" dirty="0">
                <a:effectLst/>
                <a:latin typeface="Times New Roman" panose="02020603050405020304" pitchFamily="18" charset="0"/>
                <a:ea typeface="Calibri" panose="020F0502020204030204" pitchFamily="34" charset="0"/>
                <a:cs typeface="Times New Roman" panose="02020603050405020304" pitchFamily="18" charset="0"/>
              </a:rPr>
              <a:t> et </a:t>
            </a:r>
            <a:r>
              <a:rPr lang="fr-FR" sz="2700" b="1" dirty="0">
                <a:effectLst/>
                <a:latin typeface="Times New Roman" panose="02020603050405020304" pitchFamily="18" charset="0"/>
                <a:ea typeface="Calibri" panose="020F0502020204030204" pitchFamily="34" charset="0"/>
                <a:cs typeface="Times New Roman" panose="02020603050405020304" pitchFamily="18" charset="0"/>
              </a:rPr>
              <a:t>non structurées</a:t>
            </a:r>
            <a:r>
              <a:rPr lang="fr-FR" sz="2700" dirty="0">
                <a:effectLst/>
                <a:latin typeface="Times New Roman" panose="02020603050405020304" pitchFamily="18" charset="0"/>
                <a:ea typeface="Calibri" panose="020F0502020204030204" pitchFamily="34" charset="0"/>
                <a:cs typeface="Times New Roman" panose="02020603050405020304" pitchFamily="18" charset="0"/>
              </a:rPr>
              <a:t>. NoSQL peut être décrit comme une base de données évolutive horizontalement qui convient aux applications avec des magasins de données hiérarchiques.</a:t>
            </a:r>
            <a:r>
              <a:rPr lang="fr-FR" sz="2700"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36199328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AD8078E0-23CC-4096-A28B-8B438326FF40}"/>
              </a:ext>
            </a:extLst>
          </p:cNvPr>
          <p:cNvSpPr txBox="1"/>
          <p:nvPr/>
        </p:nvSpPr>
        <p:spPr>
          <a:xfrm>
            <a:off x="581893" y="137545"/>
            <a:ext cx="10174777" cy="646331"/>
          </a:xfrm>
          <a:prstGeom prst="rect">
            <a:avLst/>
          </a:prstGeom>
          <a:noFill/>
        </p:spPr>
        <p:txBody>
          <a:bodyPr wrap="square">
            <a:spAutoFit/>
          </a:bodyPr>
          <a:lstStyle/>
          <a:p>
            <a:r>
              <a:rPr lang="fr-FR" sz="3600" b="1" dirty="0">
                <a:solidFill>
                  <a:srgbClr val="C00000"/>
                </a:solidFill>
                <a:latin typeface="Times New Roman" panose="02020603050405020304" pitchFamily="18" charset="0"/>
                <a:cs typeface="Times New Roman" panose="02020603050405020304" pitchFamily="18" charset="0"/>
              </a:rPr>
              <a:t>5.2.1 Les de Base de Données NoSQL Populaires </a:t>
            </a:r>
          </a:p>
        </p:txBody>
      </p:sp>
      <p:sp>
        <p:nvSpPr>
          <p:cNvPr id="4" name="ZoneTexte 3">
            <a:extLst>
              <a:ext uri="{FF2B5EF4-FFF2-40B4-BE49-F238E27FC236}">
                <a16:creationId xmlns:a16="http://schemas.microsoft.com/office/drawing/2014/main" id="{634DB98D-9663-4DC4-82A7-50064EDD968F}"/>
              </a:ext>
            </a:extLst>
          </p:cNvPr>
          <p:cNvSpPr txBox="1"/>
          <p:nvPr/>
        </p:nvSpPr>
        <p:spPr>
          <a:xfrm>
            <a:off x="183888" y="1033194"/>
            <a:ext cx="5819278" cy="2672848"/>
          </a:xfrm>
          <a:prstGeom prst="rect">
            <a:avLst/>
          </a:prstGeom>
          <a:noFill/>
        </p:spPr>
        <p:txBody>
          <a:bodyPr wrap="square">
            <a:spAutoFit/>
          </a:bodyPr>
          <a:lstStyle/>
          <a:p>
            <a:r>
              <a:rPr lang="fr-FR" sz="2700" b="1" dirty="0">
                <a:solidFill>
                  <a:srgbClr val="C00000"/>
                </a:solidFill>
                <a:latin typeface="Times New Roman" panose="02020603050405020304" pitchFamily="18" charset="0"/>
              </a:rPr>
              <a:t>Base de données Orienté Colonne:</a:t>
            </a:r>
          </a:p>
          <a:p>
            <a:pPr marL="457200" indent="-457200">
              <a:lnSpc>
                <a:spcPct val="150000"/>
              </a:lnSpc>
              <a:buFont typeface="+mj-lt"/>
              <a:buAutoNum type="arabicPeriod"/>
            </a:pPr>
            <a:r>
              <a:rPr lang="fr-FR" sz="2400" dirty="0">
                <a:solidFill>
                  <a:srgbClr val="000000"/>
                </a:solidFill>
                <a:latin typeface="Times New Roman" panose="02020603050405020304" pitchFamily="18" charset="0"/>
                <a:cs typeface="Times New Roman" panose="02020603050405020304" pitchFamily="18" charset="0"/>
              </a:rPr>
              <a:t>Hbase</a:t>
            </a:r>
          </a:p>
          <a:p>
            <a:pPr marL="457200" indent="-457200">
              <a:lnSpc>
                <a:spcPct val="150000"/>
              </a:lnSpc>
              <a:buFont typeface="+mj-lt"/>
              <a:buAutoNum type="arabicPeriod"/>
            </a:pPr>
            <a:r>
              <a:rPr lang="fr-FR" sz="2400" dirty="0" err="1">
                <a:solidFill>
                  <a:srgbClr val="000000"/>
                </a:solidFill>
                <a:latin typeface="Times New Roman" panose="02020603050405020304" pitchFamily="18" charset="0"/>
                <a:cs typeface="Times New Roman" panose="02020603050405020304" pitchFamily="18" charset="0"/>
              </a:rPr>
              <a:t>Hypertable</a:t>
            </a:r>
            <a:endParaRPr lang="fr-FR" sz="2400" dirty="0">
              <a:solidFill>
                <a:srgbClr val="000000"/>
              </a:solidFill>
              <a:latin typeface="Times New Roman" panose="02020603050405020304" pitchFamily="18" charset="0"/>
              <a:cs typeface="Times New Roman" panose="02020603050405020304" pitchFamily="18" charset="0"/>
            </a:endParaRPr>
          </a:p>
          <a:p>
            <a:pPr marL="457200" indent="-457200">
              <a:lnSpc>
                <a:spcPct val="150000"/>
              </a:lnSpc>
              <a:buFont typeface="+mj-lt"/>
              <a:buAutoNum type="arabicPeriod"/>
            </a:pPr>
            <a:r>
              <a:rPr lang="fr-FR" sz="2400" dirty="0">
                <a:solidFill>
                  <a:srgbClr val="000000"/>
                </a:solidFill>
                <a:latin typeface="Times New Roman" panose="02020603050405020304" pitchFamily="18" charset="0"/>
                <a:cs typeface="Times New Roman" panose="02020603050405020304" pitchFamily="18" charset="0"/>
              </a:rPr>
              <a:t>Cassandra</a:t>
            </a:r>
          </a:p>
          <a:p>
            <a:pPr marL="457200" indent="-457200">
              <a:lnSpc>
                <a:spcPct val="150000"/>
              </a:lnSpc>
              <a:buFont typeface="+mj-lt"/>
              <a:buAutoNum type="arabicPeriod"/>
            </a:pPr>
            <a:r>
              <a:rPr lang="fr-FR" sz="2400" dirty="0" err="1">
                <a:solidFill>
                  <a:srgbClr val="000000"/>
                </a:solidFill>
                <a:latin typeface="Times New Roman" panose="02020603050405020304" pitchFamily="18" charset="0"/>
                <a:cs typeface="Times New Roman" panose="02020603050405020304" pitchFamily="18" charset="0"/>
              </a:rPr>
              <a:t>Accumulo</a:t>
            </a:r>
            <a:r>
              <a:rPr lang="fr-FR" sz="2400" dirty="0">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p>
        </p:txBody>
      </p:sp>
      <p:sp>
        <p:nvSpPr>
          <p:cNvPr id="7" name="ZoneTexte 6">
            <a:extLst>
              <a:ext uri="{FF2B5EF4-FFF2-40B4-BE49-F238E27FC236}">
                <a16:creationId xmlns:a16="http://schemas.microsoft.com/office/drawing/2014/main" id="{68624B23-F16C-4142-8C38-CB979B0CFF20}"/>
              </a:ext>
            </a:extLst>
          </p:cNvPr>
          <p:cNvSpPr txBox="1"/>
          <p:nvPr/>
        </p:nvSpPr>
        <p:spPr>
          <a:xfrm>
            <a:off x="183888" y="3914436"/>
            <a:ext cx="4784653" cy="523220"/>
          </a:xfrm>
          <a:prstGeom prst="rect">
            <a:avLst/>
          </a:prstGeom>
          <a:noFill/>
        </p:spPr>
        <p:txBody>
          <a:bodyPr wrap="square">
            <a:spAutoFit/>
          </a:bodyPr>
          <a:lstStyle/>
          <a:p>
            <a:r>
              <a:rPr lang="fr-FR" sz="2800" b="1" dirty="0">
                <a:solidFill>
                  <a:srgbClr val="C00000"/>
                </a:solidFill>
                <a:latin typeface="Times New Roman" panose="02020603050405020304" pitchFamily="18" charset="0"/>
              </a:rPr>
              <a:t>Bases de données clé-valeur :</a:t>
            </a:r>
          </a:p>
        </p:txBody>
      </p:sp>
      <p:sp>
        <p:nvSpPr>
          <p:cNvPr id="9" name="ZoneTexte 8">
            <a:extLst>
              <a:ext uri="{FF2B5EF4-FFF2-40B4-BE49-F238E27FC236}">
                <a16:creationId xmlns:a16="http://schemas.microsoft.com/office/drawing/2014/main" id="{249E967E-A71F-491D-BBB7-D9A08B184663}"/>
              </a:ext>
            </a:extLst>
          </p:cNvPr>
          <p:cNvSpPr txBox="1"/>
          <p:nvPr/>
        </p:nvSpPr>
        <p:spPr>
          <a:xfrm>
            <a:off x="418715" y="4505654"/>
            <a:ext cx="2727158" cy="2269660"/>
          </a:xfrm>
          <a:prstGeom prst="rect">
            <a:avLst/>
          </a:prstGeom>
          <a:noFill/>
        </p:spPr>
        <p:txBody>
          <a:bodyPr wrap="square">
            <a:spAutoFit/>
          </a:bodyPr>
          <a:lstStyle/>
          <a:p>
            <a:pPr marL="457200" indent="-457200">
              <a:lnSpc>
                <a:spcPct val="120000"/>
              </a:lnSpc>
              <a:buFont typeface="+mj-lt"/>
              <a:buAutoNum type="arabicPeriod"/>
            </a:pPr>
            <a:r>
              <a:rPr lang="fr-FR" sz="2400" dirty="0">
                <a:solidFill>
                  <a:srgbClr val="000000"/>
                </a:solidFill>
                <a:latin typeface="Times New Roman" panose="02020603050405020304" pitchFamily="18" charset="0"/>
                <a:cs typeface="Times New Roman" panose="02020603050405020304" pitchFamily="18" charset="0"/>
              </a:rPr>
              <a:t>Riak </a:t>
            </a:r>
          </a:p>
          <a:p>
            <a:pPr marL="457200" indent="-457200">
              <a:lnSpc>
                <a:spcPct val="120000"/>
              </a:lnSpc>
              <a:buFont typeface="+mj-lt"/>
              <a:buAutoNum type="arabicPeriod"/>
            </a:pPr>
            <a:r>
              <a:rPr lang="fr-FR" sz="2400" dirty="0" err="1">
                <a:solidFill>
                  <a:srgbClr val="000000"/>
                </a:solidFill>
                <a:latin typeface="Times New Roman" panose="02020603050405020304" pitchFamily="18" charset="0"/>
                <a:cs typeface="Times New Roman" panose="02020603050405020304" pitchFamily="18" charset="0"/>
              </a:rPr>
              <a:t>Infinispan</a:t>
            </a:r>
            <a:r>
              <a:rPr lang="fr-FR" sz="2400" dirty="0">
                <a:solidFill>
                  <a:srgbClr val="000000"/>
                </a:solidFill>
                <a:latin typeface="Times New Roman" panose="02020603050405020304" pitchFamily="18" charset="0"/>
                <a:cs typeface="Times New Roman" panose="02020603050405020304" pitchFamily="18" charset="0"/>
              </a:rPr>
              <a:t> </a:t>
            </a:r>
          </a:p>
          <a:p>
            <a:pPr marL="457200" indent="-457200">
              <a:lnSpc>
                <a:spcPct val="120000"/>
              </a:lnSpc>
              <a:buFont typeface="+mj-lt"/>
              <a:buAutoNum type="arabicPeriod"/>
            </a:pPr>
            <a:r>
              <a:rPr lang="fr-FR" sz="2400" dirty="0" err="1">
                <a:solidFill>
                  <a:srgbClr val="000000"/>
                </a:solidFill>
                <a:latin typeface="Times New Roman" panose="02020603050405020304" pitchFamily="18" charset="0"/>
                <a:cs typeface="Times New Roman" panose="02020603050405020304" pitchFamily="18" charset="0"/>
              </a:rPr>
              <a:t>Hazelcast</a:t>
            </a:r>
            <a:r>
              <a:rPr lang="fr-FR" sz="2400" dirty="0">
                <a:solidFill>
                  <a:srgbClr val="000000"/>
                </a:solidFill>
                <a:latin typeface="Times New Roman" panose="02020603050405020304" pitchFamily="18" charset="0"/>
                <a:cs typeface="Times New Roman" panose="02020603050405020304" pitchFamily="18" charset="0"/>
              </a:rPr>
              <a:t> </a:t>
            </a:r>
          </a:p>
          <a:p>
            <a:pPr marL="457200" indent="-457200">
              <a:lnSpc>
                <a:spcPct val="120000"/>
              </a:lnSpc>
              <a:buFont typeface="+mj-lt"/>
              <a:buAutoNum type="arabicPeriod"/>
            </a:pPr>
            <a:r>
              <a:rPr lang="fr-FR" sz="2400" dirty="0">
                <a:solidFill>
                  <a:srgbClr val="000000"/>
                </a:solidFill>
                <a:latin typeface="Times New Roman" panose="02020603050405020304" pitchFamily="18" charset="0"/>
                <a:cs typeface="Times New Roman" panose="02020603050405020304" pitchFamily="18" charset="0"/>
              </a:rPr>
              <a:t>Redis </a:t>
            </a:r>
          </a:p>
          <a:p>
            <a:pPr marL="457200" indent="-457200">
              <a:lnSpc>
                <a:spcPct val="120000"/>
              </a:lnSpc>
              <a:buFont typeface="+mj-lt"/>
              <a:buAutoNum type="arabicPeriod"/>
            </a:pPr>
            <a:r>
              <a:rPr lang="fr-FR" sz="2400" dirty="0">
                <a:solidFill>
                  <a:srgbClr val="000000"/>
                </a:solidFill>
                <a:latin typeface="Times New Roman" panose="02020603050405020304" pitchFamily="18" charset="0"/>
                <a:cs typeface="Times New Roman" panose="02020603050405020304" pitchFamily="18" charset="0"/>
              </a:rPr>
              <a:t>Voldemor</a:t>
            </a:r>
            <a:r>
              <a:rPr lang="fr-FR" sz="1800" i="0" u="none" strike="noStrike" baseline="0" dirty="0">
                <a:solidFill>
                  <a:srgbClr val="000000"/>
                </a:solidFill>
              </a:rPr>
              <a:t>t </a:t>
            </a:r>
          </a:p>
        </p:txBody>
      </p:sp>
      <p:sp>
        <p:nvSpPr>
          <p:cNvPr id="11" name="ZoneTexte 10">
            <a:extLst>
              <a:ext uri="{FF2B5EF4-FFF2-40B4-BE49-F238E27FC236}">
                <a16:creationId xmlns:a16="http://schemas.microsoft.com/office/drawing/2014/main" id="{0A1CE7FB-A7E9-4255-9165-E63EC26F42F7}"/>
              </a:ext>
            </a:extLst>
          </p:cNvPr>
          <p:cNvSpPr txBox="1"/>
          <p:nvPr/>
        </p:nvSpPr>
        <p:spPr>
          <a:xfrm>
            <a:off x="6172210" y="1046244"/>
            <a:ext cx="5897870" cy="523220"/>
          </a:xfrm>
          <a:prstGeom prst="rect">
            <a:avLst/>
          </a:prstGeom>
          <a:noFill/>
        </p:spPr>
        <p:txBody>
          <a:bodyPr wrap="square">
            <a:spAutoFit/>
          </a:bodyPr>
          <a:lstStyle/>
          <a:p>
            <a:r>
              <a:rPr lang="fr-FR" sz="2700" b="1" dirty="0">
                <a:solidFill>
                  <a:srgbClr val="C00000"/>
                </a:solidFill>
                <a:effectLst/>
                <a:latin typeface="Times New Roman" panose="02020603050405020304" pitchFamily="18" charset="0"/>
                <a:ea typeface="Calibri" panose="020F0502020204030204" pitchFamily="34" charset="0"/>
              </a:rPr>
              <a:t>Base de données Orienté Documents: </a:t>
            </a:r>
            <a:endParaRPr lang="fr-FR" sz="2700" dirty="0">
              <a:solidFill>
                <a:srgbClr val="C00000"/>
              </a:solidFill>
            </a:endParaRPr>
          </a:p>
        </p:txBody>
      </p:sp>
      <p:sp>
        <p:nvSpPr>
          <p:cNvPr id="13" name="ZoneTexte 12">
            <a:extLst>
              <a:ext uri="{FF2B5EF4-FFF2-40B4-BE49-F238E27FC236}">
                <a16:creationId xmlns:a16="http://schemas.microsoft.com/office/drawing/2014/main" id="{F4A077E7-BDBC-4C00-96D4-47E910EAF17A}"/>
              </a:ext>
            </a:extLst>
          </p:cNvPr>
          <p:cNvSpPr txBox="1"/>
          <p:nvPr/>
        </p:nvSpPr>
        <p:spPr>
          <a:xfrm>
            <a:off x="6249612" y="1501260"/>
            <a:ext cx="2871533" cy="2241960"/>
          </a:xfrm>
          <a:prstGeom prst="rect">
            <a:avLst/>
          </a:prstGeom>
          <a:noFill/>
        </p:spPr>
        <p:txBody>
          <a:bodyPr wrap="square">
            <a:spAutoFit/>
          </a:bodyPr>
          <a:lstStyle/>
          <a:p>
            <a:pPr marL="457200" indent="-457200">
              <a:lnSpc>
                <a:spcPct val="150000"/>
              </a:lnSpc>
              <a:buFont typeface="+mj-lt"/>
              <a:buAutoNum type="arabicPeriod"/>
            </a:pPr>
            <a:r>
              <a:rPr lang="fr-FR" sz="2400" i="0" u="none" strike="noStrike" baseline="0" dirty="0">
                <a:solidFill>
                  <a:srgbClr val="000000"/>
                </a:solidFill>
                <a:latin typeface="Times New Roman" panose="02020603050405020304" pitchFamily="18" charset="0"/>
                <a:cs typeface="Times New Roman" panose="02020603050405020304" pitchFamily="18" charset="0"/>
              </a:rPr>
              <a:t>MongoDB</a:t>
            </a:r>
          </a:p>
          <a:p>
            <a:pPr marL="457200" indent="-457200">
              <a:lnSpc>
                <a:spcPct val="150000"/>
              </a:lnSpc>
              <a:buFont typeface="+mj-lt"/>
              <a:buAutoNum type="arabicPeriod"/>
            </a:pPr>
            <a:r>
              <a:rPr lang="fr-FR" sz="2400" i="0" u="none" strike="noStrike" baseline="0" dirty="0" err="1">
                <a:solidFill>
                  <a:srgbClr val="000000"/>
                </a:solidFill>
                <a:latin typeface="Times New Roman" panose="02020603050405020304" pitchFamily="18" charset="0"/>
                <a:cs typeface="Times New Roman" panose="02020603050405020304" pitchFamily="18" charset="0"/>
              </a:rPr>
              <a:t>CouchDB</a:t>
            </a:r>
            <a:r>
              <a:rPr lang="fr-FR" sz="2400" i="0" u="none" strike="noStrike" baseline="0" dirty="0">
                <a:solidFill>
                  <a:srgbClr val="000000"/>
                </a:solidFill>
                <a:latin typeface="Times New Roman" panose="02020603050405020304" pitchFamily="18" charset="0"/>
                <a:cs typeface="Times New Roman" panose="02020603050405020304" pitchFamily="18" charset="0"/>
              </a:rPr>
              <a:t> </a:t>
            </a:r>
          </a:p>
          <a:p>
            <a:pPr marL="457200" indent="-457200">
              <a:lnSpc>
                <a:spcPct val="150000"/>
              </a:lnSpc>
              <a:buFont typeface="+mj-lt"/>
              <a:buAutoNum type="arabicPeriod"/>
            </a:pPr>
            <a:r>
              <a:rPr lang="fr-FR" sz="2400" i="0" u="none" strike="noStrike" baseline="0" dirty="0" err="1">
                <a:solidFill>
                  <a:srgbClr val="000000"/>
                </a:solidFill>
                <a:latin typeface="Times New Roman" panose="02020603050405020304" pitchFamily="18" charset="0"/>
                <a:cs typeface="Times New Roman" panose="02020603050405020304" pitchFamily="18" charset="0"/>
              </a:rPr>
              <a:t>Terrastore</a:t>
            </a:r>
            <a:endParaRPr lang="fr-FR" sz="2400" i="0" u="none" strike="noStrike" baseline="0" dirty="0">
              <a:solidFill>
                <a:srgbClr val="000000"/>
              </a:solidFill>
              <a:latin typeface="Times New Roman" panose="02020603050405020304" pitchFamily="18" charset="0"/>
              <a:cs typeface="Times New Roman" panose="02020603050405020304" pitchFamily="18" charset="0"/>
            </a:endParaRPr>
          </a:p>
          <a:p>
            <a:pPr marL="457200" indent="-457200">
              <a:lnSpc>
                <a:spcPct val="150000"/>
              </a:lnSpc>
              <a:buFont typeface="+mj-lt"/>
              <a:buAutoNum type="arabicPeriod"/>
            </a:pPr>
            <a:r>
              <a:rPr lang="fr-FR" sz="2400" i="0" u="none" strike="noStrike" baseline="0" dirty="0" err="1">
                <a:solidFill>
                  <a:srgbClr val="000000"/>
                </a:solidFill>
                <a:latin typeface="Times New Roman" panose="02020603050405020304" pitchFamily="18" charset="0"/>
                <a:cs typeface="Times New Roman" panose="02020603050405020304" pitchFamily="18" charset="0"/>
              </a:rPr>
              <a:t>RavenDB</a:t>
            </a:r>
            <a:r>
              <a:rPr lang="fr-FR" sz="2400" i="0" u="none" strike="noStrike" baseline="0" dirty="0">
                <a:solidFill>
                  <a:srgbClr val="000000"/>
                </a:solidFill>
                <a:latin typeface="Times New Roman" panose="02020603050405020304" pitchFamily="18" charset="0"/>
                <a:cs typeface="Times New Roman" panose="02020603050405020304" pitchFamily="18" charset="0"/>
              </a:rPr>
              <a:t> </a:t>
            </a:r>
          </a:p>
        </p:txBody>
      </p:sp>
      <p:sp>
        <p:nvSpPr>
          <p:cNvPr id="15" name="ZoneTexte 14">
            <a:extLst>
              <a:ext uri="{FF2B5EF4-FFF2-40B4-BE49-F238E27FC236}">
                <a16:creationId xmlns:a16="http://schemas.microsoft.com/office/drawing/2014/main" id="{E83D5718-B443-4561-AF23-2AD93DA114B8}"/>
              </a:ext>
            </a:extLst>
          </p:cNvPr>
          <p:cNvSpPr txBox="1"/>
          <p:nvPr/>
        </p:nvSpPr>
        <p:spPr>
          <a:xfrm>
            <a:off x="5835535" y="3955360"/>
            <a:ext cx="6237009" cy="506998"/>
          </a:xfrm>
          <a:prstGeom prst="rect">
            <a:avLst/>
          </a:prstGeom>
          <a:noFill/>
        </p:spPr>
        <p:txBody>
          <a:bodyPr wrap="square">
            <a:spAutoFit/>
          </a:bodyPr>
          <a:lstStyle/>
          <a:p>
            <a:pPr>
              <a:lnSpc>
                <a:spcPct val="107000"/>
              </a:lnSpc>
              <a:spcAft>
                <a:spcPts val="800"/>
              </a:spcAft>
            </a:pPr>
            <a:r>
              <a:rPr lang="fr-FR" sz="2700" b="1" dirty="0">
                <a:solidFill>
                  <a:srgbClr val="C00000"/>
                </a:solidFill>
                <a:latin typeface="Times New Roman" panose="02020603050405020304" pitchFamily="18" charset="0"/>
                <a:cs typeface="Times New Roman" panose="02020603050405020304" pitchFamily="18" charset="0"/>
              </a:rPr>
              <a:t>Bases de données basées sur les graphes:</a:t>
            </a:r>
          </a:p>
        </p:txBody>
      </p:sp>
      <p:sp>
        <p:nvSpPr>
          <p:cNvPr id="17" name="ZoneTexte 16">
            <a:extLst>
              <a:ext uri="{FF2B5EF4-FFF2-40B4-BE49-F238E27FC236}">
                <a16:creationId xmlns:a16="http://schemas.microsoft.com/office/drawing/2014/main" id="{2682DE65-AE7B-4BD4-A43E-7EB27BB907AB}"/>
              </a:ext>
            </a:extLst>
          </p:cNvPr>
          <p:cNvSpPr txBox="1"/>
          <p:nvPr/>
        </p:nvSpPr>
        <p:spPr>
          <a:xfrm>
            <a:off x="6454842" y="4494244"/>
            <a:ext cx="4114792" cy="2269660"/>
          </a:xfrm>
          <a:prstGeom prst="rect">
            <a:avLst/>
          </a:prstGeom>
          <a:noFill/>
        </p:spPr>
        <p:txBody>
          <a:bodyPr wrap="square">
            <a:spAutoFit/>
          </a:bodyPr>
          <a:lstStyle/>
          <a:p>
            <a:pPr marL="457200" indent="-457200">
              <a:lnSpc>
                <a:spcPct val="120000"/>
              </a:lnSpc>
              <a:buFont typeface="+mj-lt"/>
              <a:buAutoNum type="arabicPeriod"/>
            </a:pPr>
            <a:r>
              <a:rPr lang="fr-FR" sz="2400" dirty="0">
                <a:solidFill>
                  <a:srgbClr val="000000"/>
                </a:solidFill>
                <a:latin typeface="Times New Roman" panose="02020603050405020304" pitchFamily="18" charset="0"/>
                <a:cs typeface="Times New Roman" panose="02020603050405020304" pitchFamily="18" charset="0"/>
              </a:rPr>
              <a:t>Neo4J</a:t>
            </a:r>
          </a:p>
          <a:p>
            <a:pPr marL="457200" indent="-457200">
              <a:lnSpc>
                <a:spcPct val="120000"/>
              </a:lnSpc>
              <a:buFont typeface="+mj-lt"/>
              <a:buAutoNum type="arabicPeriod"/>
            </a:pPr>
            <a:r>
              <a:rPr lang="fr-FR" sz="2400" dirty="0" err="1">
                <a:solidFill>
                  <a:srgbClr val="000000"/>
                </a:solidFill>
                <a:latin typeface="Times New Roman" panose="02020603050405020304" pitchFamily="18" charset="0"/>
                <a:cs typeface="Times New Roman" panose="02020603050405020304" pitchFamily="18" charset="0"/>
              </a:rPr>
              <a:t>InfiniteGraph</a:t>
            </a:r>
            <a:endParaRPr lang="fr-FR" sz="2400" dirty="0">
              <a:solidFill>
                <a:srgbClr val="000000"/>
              </a:solidFill>
              <a:latin typeface="Times New Roman" panose="02020603050405020304" pitchFamily="18" charset="0"/>
              <a:cs typeface="Times New Roman" panose="02020603050405020304" pitchFamily="18" charset="0"/>
            </a:endParaRPr>
          </a:p>
          <a:p>
            <a:pPr marL="457200" indent="-457200">
              <a:lnSpc>
                <a:spcPct val="120000"/>
              </a:lnSpc>
              <a:buFont typeface="+mj-lt"/>
              <a:buAutoNum type="arabicPeriod"/>
            </a:pPr>
            <a:r>
              <a:rPr lang="fr-FR" sz="2400" dirty="0" err="1">
                <a:solidFill>
                  <a:srgbClr val="000000"/>
                </a:solidFill>
                <a:latin typeface="Times New Roman" panose="02020603050405020304" pitchFamily="18" charset="0"/>
                <a:cs typeface="Times New Roman" panose="02020603050405020304" pitchFamily="18" charset="0"/>
              </a:rPr>
              <a:t>InfoGrid</a:t>
            </a:r>
            <a:r>
              <a:rPr lang="fr-FR" sz="2400" dirty="0">
                <a:solidFill>
                  <a:srgbClr val="000000"/>
                </a:solidFill>
                <a:latin typeface="Times New Roman" panose="02020603050405020304" pitchFamily="18" charset="0"/>
                <a:cs typeface="Times New Roman" panose="02020603050405020304" pitchFamily="18" charset="0"/>
              </a:rPr>
              <a:t> </a:t>
            </a:r>
          </a:p>
          <a:p>
            <a:pPr marL="457200" indent="-457200">
              <a:lnSpc>
                <a:spcPct val="120000"/>
              </a:lnSpc>
              <a:buFont typeface="+mj-lt"/>
              <a:buAutoNum type="arabicPeriod"/>
            </a:pPr>
            <a:r>
              <a:rPr lang="fr-FR" sz="2400" dirty="0" err="1">
                <a:solidFill>
                  <a:srgbClr val="000000"/>
                </a:solidFill>
                <a:latin typeface="Times New Roman" panose="02020603050405020304" pitchFamily="18" charset="0"/>
                <a:cs typeface="Times New Roman" panose="02020603050405020304" pitchFamily="18" charset="0"/>
              </a:rPr>
              <a:t>HypergraphDB</a:t>
            </a:r>
            <a:endParaRPr lang="fr-FR" sz="2400" dirty="0">
              <a:solidFill>
                <a:srgbClr val="000000"/>
              </a:solidFill>
              <a:latin typeface="Times New Roman" panose="02020603050405020304" pitchFamily="18" charset="0"/>
              <a:cs typeface="Times New Roman" panose="02020603050405020304" pitchFamily="18" charset="0"/>
            </a:endParaRPr>
          </a:p>
          <a:p>
            <a:pPr marL="457200" indent="-457200">
              <a:lnSpc>
                <a:spcPct val="120000"/>
              </a:lnSpc>
              <a:buFont typeface="+mj-lt"/>
              <a:buAutoNum type="arabicPeriod"/>
            </a:pPr>
            <a:r>
              <a:rPr lang="fr-FR" sz="2400" dirty="0" err="1">
                <a:solidFill>
                  <a:srgbClr val="000000"/>
                </a:solidFill>
                <a:latin typeface="Times New Roman" panose="02020603050405020304" pitchFamily="18" charset="0"/>
                <a:cs typeface="Times New Roman" panose="02020603050405020304" pitchFamily="18" charset="0"/>
              </a:rPr>
              <a:t>AllegroGraph</a:t>
            </a:r>
            <a:r>
              <a:rPr lang="fr-FR" sz="2400" dirty="0">
                <a:solidFill>
                  <a:srgbClr val="000000"/>
                </a:solidFill>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21716029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9B796000-93C1-4102-BD11-CDD8FDB358C8}"/>
              </a:ext>
            </a:extLst>
          </p:cNvPr>
          <p:cNvSpPr txBox="1"/>
          <p:nvPr/>
        </p:nvSpPr>
        <p:spPr>
          <a:xfrm>
            <a:off x="288758" y="1033964"/>
            <a:ext cx="11389894" cy="2795958"/>
          </a:xfrm>
          <a:prstGeom prst="rect">
            <a:avLst/>
          </a:prstGeom>
          <a:noFill/>
        </p:spPr>
        <p:txBody>
          <a:bodyPr wrap="square">
            <a:spAutoFit/>
          </a:bodyPr>
          <a:lstStyle/>
          <a:p>
            <a:pPr>
              <a:lnSpc>
                <a:spcPct val="150000"/>
              </a:lnSpc>
            </a:pPr>
            <a:r>
              <a:rPr lang="fr-FR" sz="2400" b="1" dirty="0">
                <a:solidFill>
                  <a:srgbClr val="C00000"/>
                </a:solidFill>
                <a:latin typeface="Times New Roman" panose="02020603050405020304" pitchFamily="18" charset="0"/>
                <a:cs typeface="Times New Roman" panose="02020603050405020304" pitchFamily="18" charset="0"/>
              </a:rPr>
              <a:t>RIAK</a:t>
            </a:r>
            <a:r>
              <a:rPr lang="fr-FR" sz="2400" dirty="0">
                <a:latin typeface="Times New Roman" panose="02020603050405020304" pitchFamily="18" charset="0"/>
                <a:cs typeface="Times New Roman" panose="02020603050405020304" pitchFamily="18" charset="0"/>
              </a:rPr>
              <a:t> est le meilleur pour la haute disponibilité, la tolérance de partition, la persistance.</a:t>
            </a:r>
          </a:p>
          <a:p>
            <a:pPr marL="977900" indent="-977900">
              <a:lnSpc>
                <a:spcPct val="150000"/>
              </a:lnSpc>
            </a:pPr>
            <a:r>
              <a:rPr lang="fr-FR" sz="2400" b="1" dirty="0">
                <a:solidFill>
                  <a:srgbClr val="C00000"/>
                </a:solidFill>
                <a:latin typeface="Times New Roman" panose="02020603050405020304" pitchFamily="18" charset="0"/>
                <a:cs typeface="Times New Roman" panose="02020603050405020304" pitchFamily="18" charset="0"/>
              </a:rPr>
              <a:t>REDIS</a:t>
            </a:r>
            <a:r>
              <a:rPr lang="fr-FR" sz="2400" dirty="0">
                <a:latin typeface="Times New Roman" panose="02020603050405020304" pitchFamily="18" charset="0"/>
                <a:cs typeface="Times New Roman" panose="02020603050405020304" pitchFamily="18" charset="0"/>
              </a:rPr>
              <a:t> est le meilleur pour les données changeant rapidement, les données statistiques fréquemment écrites, rarement lues.</a:t>
            </a:r>
          </a:p>
          <a:p>
            <a:pPr marL="2149475" indent="-2149475">
              <a:lnSpc>
                <a:spcPct val="150000"/>
              </a:lnSpc>
            </a:pPr>
            <a:r>
              <a:rPr lang="fr-FR" sz="2400" b="1" dirty="0">
                <a:solidFill>
                  <a:srgbClr val="C00000"/>
                </a:solidFill>
                <a:latin typeface="Times New Roman" panose="02020603050405020304" pitchFamily="18" charset="0"/>
                <a:cs typeface="Times New Roman" panose="02020603050405020304" pitchFamily="18" charset="0"/>
              </a:rPr>
              <a:t>VOLDEMORT</a:t>
            </a:r>
            <a:r>
              <a:rPr lang="fr-FR" sz="2400" dirty="0">
                <a:latin typeface="Times New Roman" panose="02020603050405020304" pitchFamily="18" charset="0"/>
                <a:cs typeface="Times New Roman" panose="02020603050405020304" pitchFamily="18" charset="0"/>
              </a:rPr>
              <a:t> est le meilleur pour les applications avec une grande exigence de capacité de données.</a:t>
            </a:r>
          </a:p>
        </p:txBody>
      </p:sp>
      <p:sp>
        <p:nvSpPr>
          <p:cNvPr id="5" name="ZoneTexte 4">
            <a:extLst>
              <a:ext uri="{FF2B5EF4-FFF2-40B4-BE49-F238E27FC236}">
                <a16:creationId xmlns:a16="http://schemas.microsoft.com/office/drawing/2014/main" id="{B83177BF-AA1F-43E0-8FE8-778A4A798B58}"/>
              </a:ext>
            </a:extLst>
          </p:cNvPr>
          <p:cNvSpPr txBox="1"/>
          <p:nvPr/>
        </p:nvSpPr>
        <p:spPr>
          <a:xfrm>
            <a:off x="621267" y="343870"/>
            <a:ext cx="10384784" cy="1077218"/>
          </a:xfrm>
          <a:prstGeom prst="rect">
            <a:avLst/>
          </a:prstGeom>
          <a:noFill/>
        </p:spPr>
        <p:txBody>
          <a:bodyPr wrap="square">
            <a:spAutoFit/>
          </a:bodyPr>
          <a:lstStyle/>
          <a:p>
            <a:pPr algn="ctr"/>
            <a:r>
              <a:rPr lang="fr-FR" sz="2000" b="1" dirty="0">
                <a:solidFill>
                  <a:srgbClr val="C00000"/>
                </a:solidFill>
                <a:latin typeface="Times New Roman" panose="02020603050405020304" pitchFamily="18" charset="0"/>
                <a:cs typeface="Times New Roman" panose="02020603050405020304" pitchFamily="18" charset="0"/>
              </a:rPr>
              <a:t>LES MEILLEURES APPLICATIONS POUR CERTAINS TYPES DE VALEURS CLES  </a:t>
            </a:r>
            <a:r>
              <a:rPr lang="fr-FR" sz="2400" b="1" dirty="0">
                <a:latin typeface="Times New Roman" panose="02020603050405020304" pitchFamily="18" charset="0"/>
                <a:cs typeface="Times New Roman" panose="02020603050405020304" pitchFamily="18" charset="0"/>
              </a:rPr>
              <a:t>(</a:t>
            </a:r>
            <a:r>
              <a:rPr lang="fr-FR" sz="2000" dirty="0" err="1">
                <a:effectLst/>
                <a:latin typeface="Arial" panose="020B0604020202020204" pitchFamily="34" charset="0"/>
                <a:ea typeface="Calibri" panose="020F0502020204030204" pitchFamily="34" charset="0"/>
              </a:rPr>
              <a:t>Khasawneh</a:t>
            </a:r>
            <a:r>
              <a:rPr lang="fr-FR" sz="2000" dirty="0">
                <a:effectLst/>
                <a:latin typeface="Arial" panose="020B0604020202020204" pitchFamily="34" charset="0"/>
                <a:ea typeface="Calibri" panose="020F0502020204030204" pitchFamily="34" charset="0"/>
              </a:rPr>
              <a:t> et al, 2020)</a:t>
            </a:r>
            <a:endParaRPr lang="fr-FR" sz="2400" b="1" dirty="0">
              <a:latin typeface="Times New Roman" panose="02020603050405020304" pitchFamily="18" charset="0"/>
              <a:cs typeface="Times New Roman" panose="02020603050405020304" pitchFamily="18" charset="0"/>
            </a:endParaRPr>
          </a:p>
          <a:p>
            <a:pPr algn="ctr"/>
            <a:endParaRPr lang="fr-FR" sz="2000" b="1" dirty="0">
              <a:solidFill>
                <a:srgbClr val="C00000"/>
              </a:solidFill>
              <a:latin typeface="Times New Roman" panose="02020603050405020304" pitchFamily="18" charset="0"/>
              <a:cs typeface="Times New Roman" panose="02020603050405020304" pitchFamily="18" charset="0"/>
            </a:endParaRPr>
          </a:p>
        </p:txBody>
      </p:sp>
      <p:sp>
        <p:nvSpPr>
          <p:cNvPr id="7" name="ZoneTexte 6">
            <a:extLst>
              <a:ext uri="{FF2B5EF4-FFF2-40B4-BE49-F238E27FC236}">
                <a16:creationId xmlns:a16="http://schemas.microsoft.com/office/drawing/2014/main" id="{EBDA9A73-1424-4D21-8310-BA258709D205}"/>
              </a:ext>
            </a:extLst>
          </p:cNvPr>
          <p:cNvSpPr txBox="1"/>
          <p:nvPr/>
        </p:nvSpPr>
        <p:spPr>
          <a:xfrm>
            <a:off x="288758" y="4797014"/>
            <a:ext cx="11903242" cy="1687963"/>
          </a:xfrm>
          <a:prstGeom prst="rect">
            <a:avLst/>
          </a:prstGeom>
          <a:noFill/>
        </p:spPr>
        <p:txBody>
          <a:bodyPr wrap="square">
            <a:spAutoFit/>
          </a:bodyPr>
          <a:lstStyle/>
          <a:p>
            <a:pPr>
              <a:lnSpc>
                <a:spcPct val="150000"/>
              </a:lnSpc>
            </a:pPr>
            <a:r>
              <a:rPr lang="fr-FR" sz="2400" b="1" dirty="0">
                <a:solidFill>
                  <a:srgbClr val="C00000"/>
                </a:solidFill>
                <a:latin typeface="Times New Roman" panose="02020603050405020304" pitchFamily="18" charset="0"/>
                <a:cs typeface="Times New Roman" panose="02020603050405020304" pitchFamily="18" charset="0"/>
              </a:rPr>
              <a:t>HBASE</a:t>
            </a:r>
            <a:r>
              <a:rPr lang="fr-FR" sz="2400" dirty="0">
                <a:latin typeface="Times New Roman" panose="02020603050405020304" pitchFamily="18" charset="0"/>
                <a:cs typeface="Times New Roman" panose="02020603050405020304" pitchFamily="18" charset="0"/>
              </a:rPr>
              <a:t> est le meilleur pour l'accès en temps réel, les opérations en bloc (indexation, ..).</a:t>
            </a:r>
          </a:p>
          <a:p>
            <a:pPr>
              <a:lnSpc>
                <a:spcPct val="150000"/>
              </a:lnSpc>
            </a:pPr>
            <a:r>
              <a:rPr lang="fr-FR" sz="2400" b="1" dirty="0">
                <a:solidFill>
                  <a:srgbClr val="C00000"/>
                </a:solidFill>
                <a:latin typeface="Times New Roman" panose="02020603050405020304" pitchFamily="18" charset="0"/>
                <a:cs typeface="Times New Roman" panose="02020603050405020304" pitchFamily="18" charset="0"/>
              </a:rPr>
              <a:t>CASSANDRA</a:t>
            </a:r>
            <a:r>
              <a:rPr lang="fr-FR" sz="2400" dirty="0">
                <a:latin typeface="Times New Roman" panose="02020603050405020304" pitchFamily="18" charset="0"/>
                <a:cs typeface="Times New Roman" panose="02020603050405020304" pitchFamily="18" charset="0"/>
              </a:rPr>
              <a:t> est la meilleure lorsque vous écrivez plus que vous lisez. </a:t>
            </a:r>
          </a:p>
          <a:p>
            <a:pPr>
              <a:lnSpc>
                <a:spcPct val="150000"/>
              </a:lnSpc>
            </a:pPr>
            <a:r>
              <a:rPr lang="fr-FR" sz="2400" b="1" dirty="0">
                <a:solidFill>
                  <a:srgbClr val="C00000"/>
                </a:solidFill>
                <a:latin typeface="Times New Roman" panose="02020603050405020304" pitchFamily="18" charset="0"/>
                <a:cs typeface="Times New Roman" panose="02020603050405020304" pitchFamily="18" charset="0"/>
              </a:rPr>
              <a:t>ACCUMULO</a:t>
            </a:r>
            <a:r>
              <a:rPr lang="fr-FR" sz="2400" dirty="0">
                <a:latin typeface="Times New Roman" panose="02020603050405020304" pitchFamily="18" charset="0"/>
                <a:cs typeface="Times New Roman" panose="02020603050405020304" pitchFamily="18" charset="0"/>
              </a:rPr>
              <a:t> est le meilleur pour l'accès au niveau de la cellule.</a:t>
            </a:r>
          </a:p>
        </p:txBody>
      </p:sp>
      <p:sp>
        <p:nvSpPr>
          <p:cNvPr id="9" name="ZoneTexte 8">
            <a:extLst>
              <a:ext uri="{FF2B5EF4-FFF2-40B4-BE49-F238E27FC236}">
                <a16:creationId xmlns:a16="http://schemas.microsoft.com/office/drawing/2014/main" id="{79DBF47F-E4C7-4EB1-8A81-7C91BAAA3215}"/>
              </a:ext>
            </a:extLst>
          </p:cNvPr>
          <p:cNvSpPr txBox="1"/>
          <p:nvPr/>
        </p:nvSpPr>
        <p:spPr>
          <a:xfrm>
            <a:off x="288758" y="4119906"/>
            <a:ext cx="11069052" cy="677108"/>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2000" b="1" i="0" u="none" strike="noStrike" kern="1200" cap="none" spc="0" normalizeH="0" baseline="0" noProof="0" dirty="0">
                <a:ln>
                  <a:noFill/>
                </a:ln>
                <a:solidFill>
                  <a:srgbClr val="C00000"/>
                </a:solidFill>
                <a:effectLst/>
                <a:uLnTx/>
                <a:uFillTx/>
                <a:latin typeface="Times New Roman" panose="02020603050405020304" pitchFamily="18" charset="0"/>
                <a:ea typeface="+mn-ea"/>
                <a:cs typeface="Times New Roman" panose="02020603050405020304" pitchFamily="18" charset="0"/>
              </a:rPr>
              <a:t>LES MEILLEURES APPLICATIONS POUR CERTAINS TYPES ORIENTÉS SUR COLONNE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1" i="0" u="none" strike="noStrike" kern="1200" cap="none" spc="0" normalizeH="0" baseline="0" noProof="0" dirty="0">
              <a:ln>
                <a:noFill/>
              </a:ln>
              <a:solidFill>
                <a:srgbClr val="C00000"/>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29631600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0B685F56-FC19-4F52-A8C5-67A9A148A98B}"/>
              </a:ext>
            </a:extLst>
          </p:cNvPr>
          <p:cNvSpPr txBox="1"/>
          <p:nvPr/>
        </p:nvSpPr>
        <p:spPr>
          <a:xfrm>
            <a:off x="401052" y="1369360"/>
            <a:ext cx="11389895" cy="2795958"/>
          </a:xfrm>
          <a:prstGeom prst="rect">
            <a:avLst/>
          </a:prstGeom>
          <a:noFill/>
        </p:spPr>
        <p:txBody>
          <a:bodyPr wrap="square">
            <a:spAutoFit/>
          </a:bodyPr>
          <a:lstStyle/>
          <a:p>
            <a:pPr marL="1700213" indent="-1700213" algn="just">
              <a:lnSpc>
                <a:spcPct val="150000"/>
              </a:lnSpc>
            </a:pPr>
            <a:r>
              <a:rPr lang="fr-FR" sz="2400" b="1" dirty="0">
                <a:solidFill>
                  <a:srgbClr val="C00000"/>
                </a:solidFill>
                <a:latin typeface="Times New Roman" panose="02020603050405020304" pitchFamily="18" charset="0"/>
                <a:cs typeface="Times New Roman" panose="02020603050405020304" pitchFamily="18" charset="0"/>
              </a:rPr>
              <a:t>MONGODB</a:t>
            </a:r>
            <a:r>
              <a:rPr lang="fr-FR" sz="2400" dirty="0">
                <a:latin typeface="Times New Roman" panose="02020603050405020304" pitchFamily="18" charset="0"/>
                <a:cs typeface="Times New Roman" panose="02020603050405020304" pitchFamily="18" charset="0"/>
              </a:rPr>
              <a:t> est le meilleur pour les requêtes dynamiques, la définition d'index, de bonnes performances sur les grosses bases de données.</a:t>
            </a:r>
          </a:p>
          <a:p>
            <a:pPr marL="1700213" indent="-1700213" algn="just">
              <a:lnSpc>
                <a:spcPct val="150000"/>
              </a:lnSpc>
            </a:pPr>
            <a:r>
              <a:rPr lang="fr-FR" sz="2400" dirty="0">
                <a:latin typeface="Times New Roman" panose="02020603050405020304" pitchFamily="18" charset="0"/>
                <a:cs typeface="Times New Roman" panose="02020603050405020304" pitchFamily="18" charset="0"/>
              </a:rPr>
              <a:t> </a:t>
            </a:r>
            <a:r>
              <a:rPr lang="fr-FR" sz="2400" b="1" dirty="0">
                <a:solidFill>
                  <a:srgbClr val="C00000"/>
                </a:solidFill>
                <a:latin typeface="Times New Roman" panose="02020603050405020304" pitchFamily="18" charset="0"/>
                <a:cs typeface="Times New Roman" panose="02020603050405020304" pitchFamily="18" charset="0"/>
              </a:rPr>
              <a:t>COUCHDB</a:t>
            </a:r>
            <a:r>
              <a:rPr lang="fr-FR" sz="2400" dirty="0">
                <a:latin typeface="Times New Roman" panose="02020603050405020304" pitchFamily="18" charset="0"/>
                <a:cs typeface="Times New Roman" panose="02020603050405020304" pitchFamily="18" charset="0"/>
              </a:rPr>
              <a:t> est idéal pour l'accumulation, les données changeant occasionnellement, les requêtes prédéfinies à exécuter, les cas d'utilisation Web et les applications mobiles</a:t>
            </a:r>
          </a:p>
        </p:txBody>
      </p:sp>
      <p:sp>
        <p:nvSpPr>
          <p:cNvPr id="5" name="ZoneTexte 4">
            <a:extLst>
              <a:ext uri="{FF2B5EF4-FFF2-40B4-BE49-F238E27FC236}">
                <a16:creationId xmlns:a16="http://schemas.microsoft.com/office/drawing/2014/main" id="{08B37043-B2D4-42EE-9A83-A48AC2ACD3A6}"/>
              </a:ext>
            </a:extLst>
          </p:cNvPr>
          <p:cNvSpPr txBox="1"/>
          <p:nvPr/>
        </p:nvSpPr>
        <p:spPr>
          <a:xfrm>
            <a:off x="184921" y="265142"/>
            <a:ext cx="11153639" cy="707886"/>
          </a:xfrm>
          <a:prstGeom prst="rect">
            <a:avLst/>
          </a:prstGeom>
          <a:noFill/>
        </p:spPr>
        <p:txBody>
          <a:bodyPr wrap="square">
            <a:spAutoFit/>
          </a:bodyPr>
          <a:lstStyle/>
          <a:p>
            <a:pPr algn="ctr"/>
            <a:r>
              <a:rPr lang="fr-FR" sz="2000" b="1" dirty="0">
                <a:solidFill>
                  <a:srgbClr val="C00000"/>
                </a:solidFill>
                <a:latin typeface="Times New Roman" panose="02020603050405020304" pitchFamily="18" charset="0"/>
                <a:cs typeface="Times New Roman" panose="02020603050405020304" pitchFamily="18" charset="0"/>
              </a:rPr>
              <a:t>LES MEILLEURES APPLICATIONS POUR CERTAINS DOCUMENTS ORIENTÉS </a:t>
            </a:r>
          </a:p>
          <a:p>
            <a:pPr algn="ctr"/>
            <a:r>
              <a:rPr lang="fr-FR" sz="2000" b="1" dirty="0">
                <a:latin typeface="Times New Roman" panose="02020603050405020304" pitchFamily="18" charset="0"/>
                <a:cs typeface="Times New Roman" panose="02020603050405020304" pitchFamily="18" charset="0"/>
              </a:rPr>
              <a:t>(</a:t>
            </a:r>
            <a:r>
              <a:rPr lang="fr-FR" sz="1800" dirty="0" err="1">
                <a:effectLst/>
                <a:latin typeface="Arial" panose="020B0604020202020204" pitchFamily="34" charset="0"/>
                <a:ea typeface="Calibri" panose="020F0502020204030204" pitchFamily="34" charset="0"/>
              </a:rPr>
              <a:t>Khasawneh</a:t>
            </a:r>
            <a:r>
              <a:rPr lang="fr-FR" sz="1800" dirty="0">
                <a:effectLst/>
                <a:latin typeface="Arial" panose="020B0604020202020204" pitchFamily="34" charset="0"/>
                <a:ea typeface="Calibri" panose="020F0502020204030204" pitchFamily="34" charset="0"/>
              </a:rPr>
              <a:t> et al,2020)</a:t>
            </a:r>
            <a:endParaRPr lang="fr-FR" sz="2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7907060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D31A682D-755C-4D4E-A2A5-1B8A9BA5F0A0}"/>
              </a:ext>
            </a:extLst>
          </p:cNvPr>
          <p:cNvSpPr txBox="1"/>
          <p:nvPr/>
        </p:nvSpPr>
        <p:spPr>
          <a:xfrm>
            <a:off x="1581169" y="305382"/>
            <a:ext cx="8709988" cy="646331"/>
          </a:xfrm>
          <a:prstGeom prst="rect">
            <a:avLst/>
          </a:prstGeom>
          <a:noFill/>
        </p:spPr>
        <p:txBody>
          <a:bodyPr wrap="square">
            <a:spAutoFit/>
          </a:bodyPr>
          <a:lstStyle/>
          <a:p>
            <a:r>
              <a:rPr lang="fr-FR" sz="3600" b="1" dirty="0">
                <a:solidFill>
                  <a:srgbClr val="C00000"/>
                </a:solidFill>
                <a:latin typeface="Times New Roman" panose="02020603050405020304" pitchFamily="18" charset="0"/>
                <a:cs typeface="Times New Roman" panose="02020603050405020304" pitchFamily="18" charset="0"/>
              </a:rPr>
              <a:t>5.3 Technologies de Traitement Big Data</a:t>
            </a:r>
            <a:endParaRPr lang="fr-FR" sz="3600" b="1" dirty="0">
              <a:solidFill>
                <a:srgbClr val="C00000"/>
              </a:solidFill>
            </a:endParaRPr>
          </a:p>
        </p:txBody>
      </p:sp>
      <p:sp>
        <p:nvSpPr>
          <p:cNvPr id="5" name="ZoneTexte 4">
            <a:extLst>
              <a:ext uri="{FF2B5EF4-FFF2-40B4-BE49-F238E27FC236}">
                <a16:creationId xmlns:a16="http://schemas.microsoft.com/office/drawing/2014/main" id="{EE2F7C0C-4C85-48B1-8429-6149394060D2}"/>
              </a:ext>
            </a:extLst>
          </p:cNvPr>
          <p:cNvSpPr txBox="1"/>
          <p:nvPr/>
        </p:nvSpPr>
        <p:spPr>
          <a:xfrm>
            <a:off x="320039" y="1294056"/>
            <a:ext cx="11151523" cy="3839000"/>
          </a:xfrm>
          <a:prstGeom prst="rect">
            <a:avLst/>
          </a:prstGeom>
          <a:noFill/>
        </p:spPr>
        <p:txBody>
          <a:bodyPr wrap="square">
            <a:spAutoFit/>
          </a:bodyPr>
          <a:lstStyle/>
          <a:p>
            <a:r>
              <a:rPr lang="fr-FR" sz="2800" dirty="0">
                <a:latin typeface="Times New Roman" panose="02020603050405020304" pitchFamily="18" charset="0"/>
                <a:cs typeface="Times New Roman" panose="02020603050405020304" pitchFamily="18" charset="0"/>
              </a:rPr>
              <a:t>Les plateformes  de traitement de Big Data les plus courants sont </a:t>
            </a:r>
            <a:endParaRPr lang="fr-FR" sz="2400" dirty="0">
              <a:latin typeface="Times New Roman" panose="02020603050405020304" pitchFamily="18" charset="0"/>
              <a:cs typeface="Times New Roman" panose="02020603050405020304" pitchFamily="18" charset="0"/>
            </a:endParaRPr>
          </a:p>
          <a:p>
            <a:pPr marL="514350" indent="-514350">
              <a:lnSpc>
                <a:spcPct val="200000"/>
              </a:lnSpc>
              <a:buFont typeface="+mj-lt"/>
              <a:buAutoNum type="arabicPeriod"/>
            </a:pPr>
            <a:r>
              <a:rPr lang="fr-FR" sz="2800" b="1" dirty="0">
                <a:latin typeface="Times New Roman" panose="02020603050405020304" pitchFamily="18" charset="0"/>
                <a:cs typeface="Times New Roman" panose="02020603050405020304" pitchFamily="18" charset="0"/>
              </a:rPr>
              <a:t>Apache Hadoop</a:t>
            </a:r>
          </a:p>
          <a:p>
            <a:pPr marL="514350" indent="-514350">
              <a:lnSpc>
                <a:spcPct val="200000"/>
              </a:lnSpc>
              <a:buFont typeface="+mj-lt"/>
              <a:buAutoNum type="arabicPeriod"/>
            </a:pPr>
            <a:r>
              <a:rPr lang="fr-FR" sz="2800" dirty="0">
                <a:latin typeface="Times New Roman" panose="02020603050405020304" pitchFamily="18" charset="0"/>
                <a:cs typeface="Times New Roman" panose="02020603050405020304" pitchFamily="18" charset="0"/>
              </a:rPr>
              <a:t> </a:t>
            </a:r>
            <a:r>
              <a:rPr lang="fr-FR" sz="2800" b="1" dirty="0">
                <a:solidFill>
                  <a:srgbClr val="C00000"/>
                </a:solidFill>
                <a:latin typeface="Times New Roman" panose="02020603050405020304" pitchFamily="18" charset="0"/>
                <a:cs typeface="Times New Roman" panose="02020603050405020304" pitchFamily="18" charset="0"/>
              </a:rPr>
              <a:t>Apache Spark</a:t>
            </a:r>
          </a:p>
          <a:p>
            <a:pPr marL="514350" indent="-514350">
              <a:lnSpc>
                <a:spcPct val="200000"/>
              </a:lnSpc>
              <a:buFont typeface="+mj-lt"/>
              <a:buAutoNum type="arabicPeriod"/>
            </a:pPr>
            <a:r>
              <a:rPr lang="fr-FR" sz="2800" b="1" dirty="0">
                <a:latin typeface="Times New Roman" panose="02020603050405020304" pitchFamily="18" charset="0"/>
                <a:cs typeface="Times New Roman" panose="02020603050405020304" pitchFamily="18" charset="0"/>
              </a:rPr>
              <a:t>Apache Storm  </a:t>
            </a:r>
          </a:p>
          <a:p>
            <a:pPr marL="514350" indent="-514350">
              <a:lnSpc>
                <a:spcPct val="200000"/>
              </a:lnSpc>
              <a:buFont typeface="+mj-lt"/>
              <a:buAutoNum type="arabicPeriod"/>
            </a:pPr>
            <a:r>
              <a:rPr lang="fr-FR" sz="2800" b="1" dirty="0">
                <a:solidFill>
                  <a:srgbClr val="C00000"/>
                </a:solidFill>
                <a:latin typeface="Times New Roman" panose="02020603050405020304" pitchFamily="18" charset="0"/>
                <a:cs typeface="Times New Roman" panose="02020603050405020304" pitchFamily="18" charset="0"/>
              </a:rPr>
              <a:t>Apache Flink</a:t>
            </a:r>
            <a:r>
              <a:rPr lang="fr-FR" sz="2800" dirty="0">
                <a:solidFill>
                  <a:srgbClr val="C00000"/>
                </a:solidFill>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19894493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3E9713BF-0836-4DA0-B7BE-9BB5AA302D7F}"/>
              </a:ext>
            </a:extLst>
          </p:cNvPr>
          <p:cNvSpPr txBox="1"/>
          <p:nvPr/>
        </p:nvSpPr>
        <p:spPr>
          <a:xfrm>
            <a:off x="286789" y="63101"/>
            <a:ext cx="8208818" cy="646331"/>
          </a:xfrm>
          <a:prstGeom prst="rect">
            <a:avLst/>
          </a:prstGeom>
          <a:noFill/>
        </p:spPr>
        <p:txBody>
          <a:bodyPr wrap="square">
            <a:spAutoFit/>
          </a:bodyPr>
          <a:lstStyle/>
          <a:p>
            <a:pPr marR="0" lvl="0" algn="l" defTabSz="914400" rtl="0" eaLnBrk="1" fontAlgn="auto" latinLnBrk="0" hangingPunct="1">
              <a:spcBef>
                <a:spcPts val="0"/>
              </a:spcBef>
              <a:spcAft>
                <a:spcPts val="0"/>
              </a:spcAft>
              <a:buClrTx/>
              <a:buSzTx/>
              <a:tabLst/>
              <a:defRPr/>
            </a:pPr>
            <a:r>
              <a:rPr kumimoji="0" lang="fr-FR" sz="3600" b="1" i="0" u="none" strike="noStrike" kern="1200" cap="none" spc="0" normalizeH="0" baseline="0" noProof="0" dirty="0">
                <a:ln>
                  <a:noFill/>
                </a:ln>
                <a:solidFill>
                  <a:srgbClr val="C00000"/>
                </a:solidFill>
                <a:effectLst/>
                <a:uLnTx/>
                <a:uFillTx/>
                <a:latin typeface="Times New Roman" panose="02020603050405020304" pitchFamily="18" charset="0"/>
                <a:ea typeface="+mn-ea"/>
                <a:cs typeface="Times New Roman" panose="02020603050405020304" pitchFamily="18" charset="0"/>
              </a:rPr>
              <a:t>5. 3. 1 Architecture d’Apache Hadoop</a:t>
            </a:r>
          </a:p>
        </p:txBody>
      </p:sp>
      <p:sp>
        <p:nvSpPr>
          <p:cNvPr id="5" name="ZoneTexte 4">
            <a:extLst>
              <a:ext uri="{FF2B5EF4-FFF2-40B4-BE49-F238E27FC236}">
                <a16:creationId xmlns:a16="http://schemas.microsoft.com/office/drawing/2014/main" id="{4D151707-7DA6-4E6B-AD83-A45510301A38}"/>
              </a:ext>
            </a:extLst>
          </p:cNvPr>
          <p:cNvSpPr txBox="1"/>
          <p:nvPr/>
        </p:nvSpPr>
        <p:spPr>
          <a:xfrm>
            <a:off x="286789" y="779025"/>
            <a:ext cx="6093228" cy="5815246"/>
          </a:xfrm>
          <a:prstGeom prst="rect">
            <a:avLst/>
          </a:prstGeom>
          <a:noFill/>
        </p:spPr>
        <p:txBody>
          <a:bodyPr wrap="square">
            <a:spAutoFit/>
          </a:bodyPr>
          <a:lstStyle/>
          <a:p>
            <a:pPr algn="just">
              <a:lnSpc>
                <a:spcPct val="120000"/>
              </a:lnSpc>
            </a:pPr>
            <a:r>
              <a:rPr lang="fr-FR" sz="2400" dirty="0">
                <a:latin typeface="Times New Roman" panose="02020603050405020304" pitchFamily="18" charset="0"/>
                <a:cs typeface="Times New Roman" panose="02020603050405020304" pitchFamily="18" charset="0"/>
              </a:rPr>
              <a:t>L’architecture de Hadoop est composée de  trois couches principales:</a:t>
            </a:r>
          </a:p>
          <a:p>
            <a:pPr algn="just">
              <a:lnSpc>
                <a:spcPct val="120000"/>
              </a:lnSpc>
            </a:pPr>
            <a:r>
              <a:rPr lang="fr-FR" sz="2400" b="1" dirty="0">
                <a:latin typeface="Times New Roman" panose="02020603050405020304" pitchFamily="18" charset="0"/>
                <a:cs typeface="Times New Roman" panose="02020603050405020304" pitchFamily="18" charset="0"/>
              </a:rPr>
              <a:t>La première est la couche </a:t>
            </a:r>
            <a:r>
              <a:rPr lang="fr-FR" sz="2400" dirty="0">
                <a:latin typeface="Times New Roman" panose="02020603050405020304" pitchFamily="18" charset="0"/>
                <a:cs typeface="Times New Roman" panose="02020603050405020304" pitchFamily="18" charset="0"/>
              </a:rPr>
              <a:t>de stockage de données pour la collecte de données, qui contient Hadoop Distributed File System (HDFS).</a:t>
            </a:r>
          </a:p>
          <a:p>
            <a:pPr algn="just">
              <a:lnSpc>
                <a:spcPct val="120000"/>
              </a:lnSpc>
            </a:pPr>
            <a:r>
              <a:rPr lang="fr-FR" sz="2400" b="1" dirty="0">
                <a:latin typeface="Times New Roman" panose="02020603050405020304" pitchFamily="18" charset="0"/>
                <a:cs typeface="Times New Roman" panose="02020603050405020304" pitchFamily="18" charset="0"/>
              </a:rPr>
              <a:t>La deuxième couche </a:t>
            </a:r>
            <a:r>
              <a:rPr lang="fr-FR" sz="2400" dirty="0">
                <a:latin typeface="Times New Roman" panose="02020603050405020304" pitchFamily="18" charset="0"/>
                <a:cs typeface="Times New Roman" panose="02020603050405020304" pitchFamily="18" charset="0"/>
              </a:rPr>
              <a:t>est l'infrastructure YARN, qui assure la gestion des ressources pour la planification des tâches telles que le processeur et la mémoire. </a:t>
            </a:r>
          </a:p>
          <a:p>
            <a:pPr algn="just">
              <a:lnSpc>
                <a:spcPct val="120000"/>
              </a:lnSpc>
            </a:pPr>
            <a:r>
              <a:rPr lang="fr-FR" sz="2400" b="1" dirty="0">
                <a:latin typeface="Times New Roman" panose="02020603050405020304" pitchFamily="18" charset="0"/>
                <a:cs typeface="Times New Roman" panose="02020603050405020304" pitchFamily="18" charset="0"/>
              </a:rPr>
              <a:t>La troisième est </a:t>
            </a:r>
            <a:r>
              <a:rPr lang="fr-FR" sz="2400" b="1" dirty="0">
                <a:solidFill>
                  <a:srgbClr val="C00000"/>
                </a:solidFill>
                <a:latin typeface="Times New Roman" panose="02020603050405020304" pitchFamily="18" charset="0"/>
                <a:cs typeface="Times New Roman" panose="02020603050405020304" pitchFamily="18" charset="0"/>
              </a:rPr>
              <a:t>MapReduce</a:t>
            </a:r>
            <a:r>
              <a:rPr lang="fr-FR" sz="2400" dirty="0">
                <a:solidFill>
                  <a:srgbClr val="C00000"/>
                </a:solidFill>
                <a:latin typeface="Times New Roman" panose="02020603050405020304" pitchFamily="18" charset="0"/>
                <a:cs typeface="Times New Roman" panose="02020603050405020304" pitchFamily="18" charset="0"/>
              </a:rPr>
              <a:t>,</a:t>
            </a:r>
            <a:r>
              <a:rPr lang="fr-FR" sz="2400" dirty="0">
                <a:latin typeface="Times New Roman" panose="02020603050405020304" pitchFamily="18" charset="0"/>
                <a:cs typeface="Times New Roman" panose="02020603050405020304" pitchFamily="18" charset="0"/>
              </a:rPr>
              <a:t> qui est utilisé pour le traitement données (couche logicielle) avec d'autres processus .</a:t>
            </a:r>
          </a:p>
        </p:txBody>
      </p:sp>
      <p:pic>
        <p:nvPicPr>
          <p:cNvPr id="7" name="Image 6">
            <a:extLst>
              <a:ext uri="{FF2B5EF4-FFF2-40B4-BE49-F238E27FC236}">
                <a16:creationId xmlns:a16="http://schemas.microsoft.com/office/drawing/2014/main" id="{8C5A6094-2A72-464D-A81C-78B4F2208304}"/>
              </a:ext>
            </a:extLst>
          </p:cNvPr>
          <p:cNvPicPr>
            <a:picLocks noChangeAspect="1"/>
          </p:cNvPicPr>
          <p:nvPr/>
        </p:nvPicPr>
        <p:blipFill>
          <a:blip r:embed="rId3"/>
          <a:stretch>
            <a:fillRect/>
          </a:stretch>
        </p:blipFill>
        <p:spPr>
          <a:xfrm>
            <a:off x="6783185" y="621376"/>
            <a:ext cx="5122026" cy="5653840"/>
          </a:xfrm>
          <a:prstGeom prst="rect">
            <a:avLst/>
          </a:prstGeom>
        </p:spPr>
      </p:pic>
      <p:sp>
        <p:nvSpPr>
          <p:cNvPr id="8" name="ZoneTexte 7">
            <a:extLst>
              <a:ext uri="{FF2B5EF4-FFF2-40B4-BE49-F238E27FC236}">
                <a16:creationId xmlns:a16="http://schemas.microsoft.com/office/drawing/2014/main" id="{38D809E7-085E-4FCE-9299-1189F6271A68}"/>
              </a:ext>
            </a:extLst>
          </p:cNvPr>
          <p:cNvSpPr txBox="1"/>
          <p:nvPr/>
        </p:nvSpPr>
        <p:spPr>
          <a:xfrm>
            <a:off x="6413268" y="6078975"/>
            <a:ext cx="5751715" cy="769441"/>
          </a:xfrm>
          <a:prstGeom prst="rect">
            <a:avLst/>
          </a:prstGeom>
          <a:noFill/>
        </p:spPr>
        <p:txBody>
          <a:bodyPr wrap="square" rtlCol="0">
            <a:spAutoFit/>
          </a:bodyPr>
          <a:lstStyle/>
          <a:p>
            <a:pPr algn="ctr"/>
            <a:r>
              <a:rPr lang="fr-FR" sz="2200" b="1" dirty="0">
                <a:latin typeface="Times New Roman" panose="02020603050405020304" pitchFamily="18" charset="0"/>
                <a:cs typeface="Times New Roman" panose="02020603050405020304" pitchFamily="18" charset="0"/>
              </a:rPr>
              <a:t>Figure 3</a:t>
            </a:r>
            <a:r>
              <a:rPr lang="fr-FR" sz="2200" dirty="0">
                <a:latin typeface="Times New Roman" panose="02020603050405020304" pitchFamily="18" charset="0"/>
                <a:cs typeface="Times New Roman" panose="02020603050405020304" pitchFamily="18" charset="0"/>
              </a:rPr>
              <a:t> : Architecture de Hadoop </a:t>
            </a:r>
          </a:p>
          <a:p>
            <a:pPr algn="ctr"/>
            <a:r>
              <a:rPr lang="fr-FR" sz="2200" dirty="0">
                <a:latin typeface="Times New Roman" panose="02020603050405020304" pitchFamily="18" charset="0"/>
                <a:cs typeface="Times New Roman" panose="02020603050405020304" pitchFamily="18" charset="0"/>
              </a:rPr>
              <a:t>(</a:t>
            </a:r>
            <a:r>
              <a:rPr lang="fr-FR" sz="2200" dirty="0">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Gupta et </a:t>
            </a:r>
            <a:r>
              <a:rPr lang="fr-FR" sz="2200" dirty="0" err="1">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Parveen</a:t>
            </a:r>
            <a:r>
              <a:rPr lang="fr-FR" sz="2200" dirty="0">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 2019)</a:t>
            </a:r>
            <a:endParaRPr lang="fr-FR"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6572506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Diagramme 1">
            <a:extLst>
              <a:ext uri="{FF2B5EF4-FFF2-40B4-BE49-F238E27FC236}">
                <a16:creationId xmlns:a16="http://schemas.microsoft.com/office/drawing/2014/main" id="{762C3A23-87DC-42AA-9840-EA9781443D14}"/>
              </a:ext>
            </a:extLst>
          </p:cNvPr>
          <p:cNvGraphicFramePr/>
          <p:nvPr>
            <p:extLst>
              <p:ext uri="{D42A27DB-BD31-4B8C-83A1-F6EECF244321}">
                <p14:modId xmlns:p14="http://schemas.microsoft.com/office/powerpoint/2010/main" val="3300642498"/>
              </p:ext>
            </p:extLst>
          </p:nvPr>
        </p:nvGraphicFramePr>
        <p:xfrm>
          <a:off x="1753936" y="825066"/>
          <a:ext cx="8684126" cy="516009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ZoneTexte 3">
            <a:extLst>
              <a:ext uri="{FF2B5EF4-FFF2-40B4-BE49-F238E27FC236}">
                <a16:creationId xmlns:a16="http://schemas.microsoft.com/office/drawing/2014/main" id="{66BC4564-08EC-4C66-A458-6CE321EDEDC8}"/>
              </a:ext>
            </a:extLst>
          </p:cNvPr>
          <p:cNvSpPr txBox="1"/>
          <p:nvPr/>
        </p:nvSpPr>
        <p:spPr>
          <a:xfrm>
            <a:off x="592245" y="132225"/>
            <a:ext cx="5467733" cy="646331"/>
          </a:xfrm>
          <a:prstGeom prst="rect">
            <a:avLst/>
          </a:prstGeom>
          <a:noFill/>
        </p:spPr>
        <p:txBody>
          <a:bodyPr wrap="square">
            <a:spAutoFit/>
          </a:bodyPr>
          <a:lstStyle/>
          <a:p>
            <a:pPr lvl="0"/>
            <a:r>
              <a:rPr lang="fr-FR" sz="3600" b="1" dirty="0">
                <a:solidFill>
                  <a:srgbClr val="C00000"/>
                </a:solidFill>
                <a:latin typeface="Times New Roman" panose="02020603050405020304" pitchFamily="18" charset="0"/>
                <a:cs typeface="Times New Roman" panose="02020603050405020304" pitchFamily="18" charset="0"/>
              </a:rPr>
              <a:t>5.3.2 Ecosystème Apache</a:t>
            </a:r>
          </a:p>
        </p:txBody>
      </p:sp>
      <p:sp>
        <p:nvSpPr>
          <p:cNvPr id="3" name="ZoneTexte 2">
            <a:extLst>
              <a:ext uri="{FF2B5EF4-FFF2-40B4-BE49-F238E27FC236}">
                <a16:creationId xmlns:a16="http://schemas.microsoft.com/office/drawing/2014/main" id="{715EA0ED-B967-4853-A358-455E16CF253A}"/>
              </a:ext>
            </a:extLst>
          </p:cNvPr>
          <p:cNvSpPr txBox="1"/>
          <p:nvPr/>
        </p:nvSpPr>
        <p:spPr>
          <a:xfrm>
            <a:off x="4172989" y="6201295"/>
            <a:ext cx="3773978" cy="430887"/>
          </a:xfrm>
          <a:prstGeom prst="rect">
            <a:avLst/>
          </a:prstGeom>
          <a:noFill/>
        </p:spPr>
        <p:txBody>
          <a:bodyPr wrap="square" rtlCol="0">
            <a:spAutoFit/>
          </a:bodyPr>
          <a:lstStyle/>
          <a:p>
            <a:r>
              <a:rPr lang="fr-FR" sz="2200" b="1" dirty="0">
                <a:latin typeface="Times New Roman" panose="02020603050405020304" pitchFamily="18" charset="0"/>
                <a:cs typeface="Times New Roman" panose="02020603050405020304" pitchFamily="18" charset="0"/>
              </a:rPr>
              <a:t>Figure 4</a:t>
            </a:r>
            <a:r>
              <a:rPr lang="fr-FR" sz="2200" dirty="0">
                <a:latin typeface="Times New Roman" panose="02020603050405020304" pitchFamily="18" charset="0"/>
                <a:cs typeface="Times New Roman" panose="02020603050405020304" pitchFamily="18" charset="0"/>
              </a:rPr>
              <a:t>: Ecosystème Apache</a:t>
            </a:r>
          </a:p>
        </p:txBody>
      </p:sp>
    </p:spTree>
    <p:extLst>
      <p:ext uri="{BB962C8B-B14F-4D97-AF65-F5344CB8AC3E}">
        <p14:creationId xmlns:p14="http://schemas.microsoft.com/office/powerpoint/2010/main" val="360394408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ZoneTexte 4">
            <a:extLst>
              <a:ext uri="{FF2B5EF4-FFF2-40B4-BE49-F238E27FC236}">
                <a16:creationId xmlns:a16="http://schemas.microsoft.com/office/drawing/2014/main" id="{5FBD78DA-A939-4B5F-9061-16E5271F7509}"/>
              </a:ext>
            </a:extLst>
          </p:cNvPr>
          <p:cNvSpPr txBox="1"/>
          <p:nvPr/>
        </p:nvSpPr>
        <p:spPr>
          <a:xfrm>
            <a:off x="248651" y="853942"/>
            <a:ext cx="11586413" cy="2343527"/>
          </a:xfrm>
          <a:prstGeom prst="rect">
            <a:avLst/>
          </a:prstGeom>
          <a:noFill/>
        </p:spPr>
        <p:txBody>
          <a:bodyPr wrap="square">
            <a:spAutoFit/>
          </a:bodyPr>
          <a:lstStyle/>
          <a:p>
            <a:pPr marL="457200" indent="-457200" algn="just">
              <a:lnSpc>
                <a:spcPct val="120000"/>
              </a:lnSpc>
              <a:buFont typeface="Wingdings" panose="05000000000000000000" pitchFamily="2" charset="2"/>
              <a:buChar char="q"/>
            </a:pPr>
            <a:r>
              <a:rPr kumimoji="0" lang="fr-FR" sz="2800" b="1" i="0" u="none" strike="noStrike" kern="1200" cap="none" spc="0" normalizeH="0" baseline="0" noProof="0" dirty="0">
                <a:ln>
                  <a:noFill/>
                </a:ln>
                <a:solidFill>
                  <a:srgbClr val="C00000"/>
                </a:solidFill>
                <a:effectLst/>
                <a:uLnTx/>
                <a:uFillTx/>
                <a:latin typeface="Times New Roman" panose="02020603050405020304" pitchFamily="18" charset="0"/>
                <a:ea typeface="+mn-ea"/>
                <a:cs typeface="Times New Roman" panose="02020603050405020304" pitchFamily="18" charset="0"/>
              </a:rPr>
              <a:t>Apache </a:t>
            </a:r>
            <a:r>
              <a:rPr lang="fr-FR" sz="2800" b="1" dirty="0">
                <a:solidFill>
                  <a:srgbClr val="C00000"/>
                </a:solidFill>
                <a:latin typeface="Times New Roman" panose="02020603050405020304" pitchFamily="18" charset="0"/>
                <a:cs typeface="Times New Roman" panose="02020603050405020304" pitchFamily="18" charset="0"/>
              </a:rPr>
              <a:t>Hbase</a:t>
            </a:r>
          </a:p>
          <a:p>
            <a:pPr marL="531813" algn="just">
              <a:lnSpc>
                <a:spcPct val="120000"/>
              </a:lnSpc>
            </a:pPr>
            <a:r>
              <a:rPr lang="fr-FR" sz="2400" dirty="0">
                <a:solidFill>
                  <a:srgbClr val="312F2F"/>
                </a:solidFill>
                <a:effectLst/>
                <a:latin typeface="Times New Roman" panose="02020603050405020304" pitchFamily="18" charset="0"/>
                <a:ea typeface="Calibri" panose="020F0502020204030204" pitchFamily="34" charset="0"/>
              </a:rPr>
              <a:t>HBase est une base de données non relationnelle ou orientée colonnes qui s'exécute au-dessus de HDFS (système de fichiers distribué Hadoop). HBase utilise HDFS pour son stockage de données et prend en charge à la fois les calculs par lots utilisant MapReduce et les requêtes ponctuelles. HBase peut traiter des pétaoctets de données.</a:t>
            </a:r>
            <a:r>
              <a:rPr lang="fr-FR" sz="2400" dirty="0">
                <a:latin typeface="Times New Roman" panose="02020603050405020304" pitchFamily="18" charset="0"/>
                <a:cs typeface="Times New Roman" panose="02020603050405020304" pitchFamily="18" charset="0"/>
              </a:rPr>
              <a:t> </a:t>
            </a:r>
          </a:p>
        </p:txBody>
      </p:sp>
      <p:sp>
        <p:nvSpPr>
          <p:cNvPr id="7" name="ZoneTexte 6">
            <a:extLst>
              <a:ext uri="{FF2B5EF4-FFF2-40B4-BE49-F238E27FC236}">
                <a16:creationId xmlns:a16="http://schemas.microsoft.com/office/drawing/2014/main" id="{749101AF-D7AA-4909-BE50-804B8AA72563}"/>
              </a:ext>
            </a:extLst>
          </p:cNvPr>
          <p:cNvSpPr txBox="1"/>
          <p:nvPr/>
        </p:nvSpPr>
        <p:spPr>
          <a:xfrm>
            <a:off x="248651" y="3197469"/>
            <a:ext cx="11831054" cy="2271391"/>
          </a:xfrm>
          <a:prstGeom prst="rect">
            <a:avLst/>
          </a:prstGeom>
          <a:noFill/>
        </p:spPr>
        <p:txBody>
          <a:bodyPr wrap="square">
            <a:spAutoFit/>
          </a:bodyPr>
          <a:lstStyle/>
          <a:p>
            <a:pPr marL="457200" indent="-457200" algn="just">
              <a:lnSpc>
                <a:spcPct val="120000"/>
              </a:lnSpc>
              <a:buFont typeface="Wingdings" panose="05000000000000000000" pitchFamily="2" charset="2"/>
              <a:buChar char="q"/>
            </a:pPr>
            <a:r>
              <a:rPr lang="fr-FR" sz="2600" b="1" dirty="0">
                <a:solidFill>
                  <a:srgbClr val="C00000"/>
                </a:solidFill>
                <a:latin typeface="Times New Roman" panose="02020603050405020304" pitchFamily="18" charset="0"/>
                <a:cs typeface="Times New Roman" panose="02020603050405020304" pitchFamily="18" charset="0"/>
              </a:rPr>
              <a:t>Apache</a:t>
            </a:r>
            <a:r>
              <a:rPr lang="fr-FR" sz="2600" b="1" dirty="0">
                <a:solidFill>
                  <a:srgbClr val="C00000"/>
                </a:solidFill>
                <a:effectLst/>
                <a:latin typeface="Calibri" panose="020F0502020204030204" pitchFamily="34" charset="0"/>
                <a:ea typeface="Calibri" panose="020F0502020204030204" pitchFamily="34" charset="0"/>
                <a:cs typeface="Times New Roman" panose="02020603050405020304" pitchFamily="18" charset="0"/>
              </a:rPr>
              <a:t> </a:t>
            </a:r>
            <a:r>
              <a:rPr lang="fr-FR" sz="2600" b="1" dirty="0">
                <a:solidFill>
                  <a:srgbClr val="C00000"/>
                </a:solidFill>
                <a:latin typeface="Times New Roman" panose="02020603050405020304" pitchFamily="18" charset="0"/>
                <a:cs typeface="Times New Roman" panose="02020603050405020304" pitchFamily="18" charset="0"/>
              </a:rPr>
              <a:t>Hive</a:t>
            </a:r>
          </a:p>
          <a:p>
            <a:pPr marL="449263" algn="just">
              <a:lnSpc>
                <a:spcPct val="120000"/>
              </a:lnSpc>
            </a:pPr>
            <a:r>
              <a:rPr lang="fr-FR" sz="2400" b="1" dirty="0">
                <a:latin typeface="Times New Roman" panose="02020603050405020304" pitchFamily="18" charset="0"/>
                <a:cs typeface="Times New Roman" panose="02020603050405020304" pitchFamily="18" charset="0"/>
              </a:rPr>
              <a:t>Hive</a:t>
            </a:r>
            <a:r>
              <a:rPr lang="fr-FR" sz="2400" dirty="0">
                <a:latin typeface="Times New Roman" panose="02020603050405020304" pitchFamily="18" charset="0"/>
                <a:cs typeface="Times New Roman" panose="02020603050405020304" pitchFamily="18" charset="0"/>
              </a:rPr>
              <a:t> est un langage de type SQL appelé </a:t>
            </a:r>
            <a:r>
              <a:rPr lang="fr-FR" sz="2400" dirty="0" err="1">
                <a:latin typeface="Times New Roman" panose="02020603050405020304" pitchFamily="18" charset="0"/>
                <a:cs typeface="Times New Roman" panose="02020603050405020304" pitchFamily="18" charset="0"/>
              </a:rPr>
              <a:t>HiveQL</a:t>
            </a:r>
            <a:r>
              <a:rPr lang="fr-FR" sz="2400" dirty="0">
                <a:latin typeface="Times New Roman" panose="02020603050405020304" pitchFamily="18" charset="0"/>
                <a:cs typeface="Times New Roman" panose="02020603050405020304" pitchFamily="18" charset="0"/>
              </a:rPr>
              <a:t>. De plus, c'est une infrastructure d'entrepôt de données qui fournit toutes ces fonctionnalités. </a:t>
            </a:r>
            <a:r>
              <a:rPr lang="fr-FR" sz="2400" b="1" dirty="0">
                <a:latin typeface="Times New Roman" panose="02020603050405020304" pitchFamily="18" charset="0"/>
                <a:cs typeface="Times New Roman" panose="02020603050405020304" pitchFamily="18" charset="0"/>
              </a:rPr>
              <a:t>Hive</a:t>
            </a:r>
            <a:r>
              <a:rPr lang="fr-FR" sz="2400" dirty="0">
                <a:latin typeface="Times New Roman" panose="02020603050405020304" pitchFamily="18" charset="0"/>
                <a:cs typeface="Times New Roman" panose="02020603050405020304" pitchFamily="18" charset="0"/>
              </a:rPr>
              <a:t> permet d'interroger les données de HDFS et ces requêtes sont converties en tâches de MapReduce.</a:t>
            </a:r>
          </a:p>
          <a:p>
            <a:pPr algn="just">
              <a:lnSpc>
                <a:spcPct val="120000"/>
              </a:lnSpc>
            </a:pPr>
            <a:r>
              <a:rPr lang="fr-FR" sz="2000" dirty="0">
                <a:latin typeface="Times New Roman" panose="02020603050405020304" pitchFamily="18" charset="0"/>
                <a:cs typeface="Times New Roman" panose="02020603050405020304" pitchFamily="18" charset="0"/>
              </a:rPr>
              <a:t> </a:t>
            </a:r>
          </a:p>
        </p:txBody>
      </p:sp>
      <p:sp>
        <p:nvSpPr>
          <p:cNvPr id="6" name="ZoneTexte 5">
            <a:extLst>
              <a:ext uri="{FF2B5EF4-FFF2-40B4-BE49-F238E27FC236}">
                <a16:creationId xmlns:a16="http://schemas.microsoft.com/office/drawing/2014/main" id="{745998B9-219C-4EBE-AA17-75EBFD54726F}"/>
              </a:ext>
            </a:extLst>
          </p:cNvPr>
          <p:cNvSpPr txBox="1"/>
          <p:nvPr/>
        </p:nvSpPr>
        <p:spPr>
          <a:xfrm>
            <a:off x="3029624" y="139181"/>
            <a:ext cx="6430260" cy="646331"/>
          </a:xfrm>
          <a:prstGeom prst="rect">
            <a:avLst/>
          </a:prstGeom>
          <a:noFill/>
        </p:spPr>
        <p:txBody>
          <a:bodyPr wrap="square">
            <a:spAutoFit/>
          </a:bodyPr>
          <a:lstStyle/>
          <a:p>
            <a:pPr lvl="0"/>
            <a:r>
              <a:rPr lang="fr-FR" sz="3600" b="1" dirty="0">
                <a:solidFill>
                  <a:srgbClr val="C00000"/>
                </a:solidFill>
                <a:latin typeface="Times New Roman" panose="02020603050405020304" pitchFamily="18" charset="0"/>
                <a:cs typeface="Times New Roman" panose="02020603050405020304" pitchFamily="18" charset="0"/>
              </a:rPr>
              <a:t>5.3.2 Ecosystème Apache (suite)</a:t>
            </a:r>
          </a:p>
        </p:txBody>
      </p:sp>
      <p:sp>
        <p:nvSpPr>
          <p:cNvPr id="8" name="ZoneTexte 7">
            <a:extLst>
              <a:ext uri="{FF2B5EF4-FFF2-40B4-BE49-F238E27FC236}">
                <a16:creationId xmlns:a16="http://schemas.microsoft.com/office/drawing/2014/main" id="{D6819D6E-42DE-4876-A9FE-67068E5E4B12}"/>
              </a:ext>
            </a:extLst>
          </p:cNvPr>
          <p:cNvSpPr txBox="1"/>
          <p:nvPr/>
        </p:nvSpPr>
        <p:spPr>
          <a:xfrm>
            <a:off x="248651" y="5095690"/>
            <a:ext cx="11141241" cy="1495794"/>
          </a:xfrm>
          <a:prstGeom prst="rect">
            <a:avLst/>
          </a:prstGeom>
          <a:noFill/>
        </p:spPr>
        <p:txBody>
          <a:bodyPr wrap="square">
            <a:spAutoFit/>
          </a:bodyPr>
          <a:lstStyle/>
          <a:p>
            <a:pPr marL="457200" indent="-457200" algn="just">
              <a:lnSpc>
                <a:spcPct val="120000"/>
              </a:lnSpc>
              <a:buFont typeface="Wingdings" panose="05000000000000000000" pitchFamily="2" charset="2"/>
              <a:buChar char="q"/>
            </a:pPr>
            <a:r>
              <a:rPr kumimoji="0" lang="fr-FR" sz="2800" b="1" i="0" u="none" strike="noStrike" kern="1200" cap="none" spc="0" normalizeH="0" baseline="0" noProof="0" dirty="0">
                <a:ln>
                  <a:noFill/>
                </a:ln>
                <a:solidFill>
                  <a:srgbClr val="C00000"/>
                </a:solidFill>
                <a:effectLst/>
                <a:uLnTx/>
                <a:uFillTx/>
                <a:latin typeface="Times New Roman" panose="02020603050405020304" pitchFamily="18" charset="0"/>
                <a:ea typeface="+mn-ea"/>
                <a:cs typeface="Times New Roman" panose="02020603050405020304" pitchFamily="18" charset="0"/>
              </a:rPr>
              <a:t>Apache </a:t>
            </a:r>
            <a:r>
              <a:rPr lang="fr-FR" sz="2800" b="1" dirty="0">
                <a:solidFill>
                  <a:srgbClr val="C00000"/>
                </a:solidFill>
                <a:latin typeface="Times New Roman" panose="02020603050405020304" pitchFamily="18" charset="0"/>
                <a:cs typeface="Times New Roman" panose="02020603050405020304" pitchFamily="18" charset="0"/>
              </a:rPr>
              <a:t>Sqoop</a:t>
            </a:r>
          </a:p>
          <a:p>
            <a:pPr marL="449263" algn="just">
              <a:lnSpc>
                <a:spcPct val="120000"/>
              </a:lnSpc>
            </a:pPr>
            <a:r>
              <a:rPr lang="fr-FR" sz="2400" dirty="0" err="1">
                <a:latin typeface="Times New Roman" panose="02020603050405020304" pitchFamily="18" charset="0"/>
                <a:cs typeface="Times New Roman" panose="02020603050405020304" pitchFamily="18" charset="0"/>
              </a:rPr>
              <a:t>Sqoop</a:t>
            </a:r>
            <a:r>
              <a:rPr lang="fr-FR" sz="2400" dirty="0">
                <a:latin typeface="Times New Roman" panose="02020603050405020304" pitchFamily="18" charset="0"/>
                <a:cs typeface="Times New Roman" panose="02020603050405020304" pitchFamily="18" charset="0"/>
              </a:rPr>
              <a:t> </a:t>
            </a:r>
            <a:r>
              <a:rPr lang="fr-FR" sz="2400" dirty="0" smtClean="0">
                <a:latin typeface="Times New Roman" panose="02020603050405020304" pitchFamily="18" charset="0"/>
                <a:cs typeface="Times New Roman" panose="02020603050405020304" pitchFamily="18" charset="0"/>
              </a:rPr>
              <a:t>est un </a:t>
            </a:r>
            <a:r>
              <a:rPr lang="fr-FR" sz="2400" dirty="0">
                <a:latin typeface="Times New Roman" panose="02020603050405020304" pitchFamily="18" charset="0"/>
                <a:cs typeface="Times New Roman" panose="02020603050405020304" pitchFamily="18" charset="0"/>
              </a:rPr>
              <a:t>outil pour déplacer efficacement les données entre les bases de données relationnelles et HDFS</a:t>
            </a:r>
            <a:r>
              <a:rPr lang="fr-FR" sz="2400" dirty="0"/>
              <a:t>.</a:t>
            </a:r>
          </a:p>
        </p:txBody>
      </p:sp>
    </p:spTree>
    <p:extLst>
      <p:ext uri="{BB962C8B-B14F-4D97-AF65-F5344CB8AC3E}">
        <p14:creationId xmlns:p14="http://schemas.microsoft.com/office/powerpoint/2010/main" val="318228919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a:extLst>
              <a:ext uri="{FF2B5EF4-FFF2-40B4-BE49-F238E27FC236}">
                <a16:creationId xmlns:a16="http://schemas.microsoft.com/office/drawing/2014/main" id="{19461DE8-19AF-4D82-AB6D-4A81CF50A529}"/>
              </a:ext>
            </a:extLst>
          </p:cNvPr>
          <p:cNvSpPr txBox="1"/>
          <p:nvPr/>
        </p:nvSpPr>
        <p:spPr>
          <a:xfrm>
            <a:off x="304797" y="880785"/>
            <a:ext cx="11141242" cy="1717393"/>
          </a:xfrm>
          <a:prstGeom prst="rect">
            <a:avLst/>
          </a:prstGeom>
          <a:noFill/>
        </p:spPr>
        <p:txBody>
          <a:bodyPr wrap="square">
            <a:spAutoFit/>
          </a:bodyPr>
          <a:lstStyle/>
          <a:p>
            <a:pPr marL="457200" indent="-457200" algn="just">
              <a:lnSpc>
                <a:spcPct val="120000"/>
              </a:lnSpc>
              <a:buFont typeface="Wingdings" panose="05000000000000000000" pitchFamily="2" charset="2"/>
              <a:buChar char="q"/>
            </a:pPr>
            <a:r>
              <a:rPr lang="fr-FR" sz="2800" b="1" dirty="0">
                <a:solidFill>
                  <a:srgbClr val="C00000"/>
                </a:solidFill>
                <a:latin typeface="Times New Roman" panose="02020603050405020304" pitchFamily="18" charset="0"/>
                <a:cs typeface="Times New Roman" panose="02020603050405020304" pitchFamily="18" charset="0"/>
              </a:rPr>
              <a:t>Apache </a:t>
            </a:r>
            <a:r>
              <a:rPr lang="fr-FR" sz="2800" b="1" dirty="0" err="1">
                <a:solidFill>
                  <a:srgbClr val="C00000"/>
                </a:solidFill>
                <a:latin typeface="Times New Roman" panose="02020603050405020304" pitchFamily="18" charset="0"/>
                <a:cs typeface="Times New Roman" panose="02020603050405020304" pitchFamily="18" charset="0"/>
              </a:rPr>
              <a:t>Flume</a:t>
            </a:r>
            <a:r>
              <a:rPr lang="fr-FR" sz="2800" b="1" dirty="0">
                <a:solidFill>
                  <a:srgbClr val="C00000"/>
                </a:solidFill>
                <a:latin typeface="Times New Roman" panose="02020603050405020304" pitchFamily="18" charset="0"/>
                <a:cs typeface="Times New Roman" panose="02020603050405020304" pitchFamily="18" charset="0"/>
              </a:rPr>
              <a:t> </a:t>
            </a:r>
          </a:p>
          <a:p>
            <a:pPr marL="449263" algn="just">
              <a:lnSpc>
                <a:spcPct val="150000"/>
              </a:lnSpc>
              <a:spcAft>
                <a:spcPts val="800"/>
              </a:spcAft>
            </a:pPr>
            <a:r>
              <a:rPr lang="fr-FR" sz="2400" b="1" dirty="0" err="1">
                <a:latin typeface="Times New Roman" panose="02020603050405020304" pitchFamily="18" charset="0"/>
                <a:cs typeface="Times New Roman" panose="02020603050405020304" pitchFamily="18" charset="0"/>
              </a:rPr>
              <a:t>Flume</a:t>
            </a:r>
            <a:r>
              <a:rPr lang="fr-FR" sz="2400" dirty="0">
                <a:latin typeface="Times New Roman" panose="02020603050405020304" pitchFamily="18" charset="0"/>
                <a:cs typeface="Times New Roman" panose="02020603050405020304" pitchFamily="18" charset="0"/>
              </a:rPr>
              <a:t> est une application basée sur Hadoop qui permet de déplacer des  données en </a:t>
            </a:r>
            <a:r>
              <a:rPr lang="fr-FR" sz="2400" dirty="0" smtClean="0">
                <a:latin typeface="Times New Roman" panose="02020603050405020304" pitchFamily="18" charset="0"/>
                <a:cs typeface="Times New Roman" panose="02020603050405020304" pitchFamily="18" charset="0"/>
              </a:rPr>
              <a:t>flux (strea</a:t>
            </a:r>
            <a:r>
              <a:rPr lang="fr-FR" sz="2400" dirty="0" smtClean="0">
                <a:latin typeface="Times New Roman" panose="02020603050405020304" pitchFamily="18" charset="0"/>
                <a:cs typeface="Times New Roman" panose="02020603050405020304" pitchFamily="18" charset="0"/>
              </a:rPr>
              <a:t>ming data)</a:t>
            </a:r>
            <a:r>
              <a:rPr lang="fr-FR" sz="2400" dirty="0" smtClean="0">
                <a:latin typeface="Times New Roman" panose="02020603050405020304" pitchFamily="18" charset="0"/>
                <a:cs typeface="Times New Roman" panose="02020603050405020304" pitchFamily="18" charset="0"/>
              </a:rPr>
              <a:t> dans </a:t>
            </a:r>
            <a:r>
              <a:rPr lang="fr-FR" sz="2400" dirty="0">
                <a:latin typeface="Times New Roman" panose="02020603050405020304" pitchFamily="18" charset="0"/>
                <a:cs typeface="Times New Roman" panose="02020603050405020304" pitchFamily="18" charset="0"/>
              </a:rPr>
              <a:t>un cluster Hadoop ou HBase. </a:t>
            </a:r>
          </a:p>
        </p:txBody>
      </p:sp>
      <p:sp>
        <p:nvSpPr>
          <p:cNvPr id="6" name="ZoneTexte 5">
            <a:extLst>
              <a:ext uri="{FF2B5EF4-FFF2-40B4-BE49-F238E27FC236}">
                <a16:creationId xmlns:a16="http://schemas.microsoft.com/office/drawing/2014/main" id="{15631D7D-3315-4A52-88B9-69973FCEDFFB}"/>
              </a:ext>
            </a:extLst>
          </p:cNvPr>
          <p:cNvSpPr txBox="1"/>
          <p:nvPr/>
        </p:nvSpPr>
        <p:spPr>
          <a:xfrm>
            <a:off x="304798" y="4696475"/>
            <a:ext cx="11141241" cy="1938992"/>
          </a:xfrm>
          <a:prstGeom prst="rect">
            <a:avLst/>
          </a:prstGeom>
          <a:noFill/>
        </p:spPr>
        <p:txBody>
          <a:bodyPr wrap="square">
            <a:spAutoFit/>
          </a:bodyPr>
          <a:lstStyle/>
          <a:p>
            <a:pPr marL="457200" indent="-457200" algn="just">
              <a:lnSpc>
                <a:spcPct val="120000"/>
              </a:lnSpc>
              <a:buFont typeface="Wingdings" panose="05000000000000000000" pitchFamily="2" charset="2"/>
              <a:buChar char="q"/>
            </a:pPr>
            <a:r>
              <a:rPr kumimoji="0" lang="fr-FR" sz="2800" b="1" i="0" u="none" strike="noStrike" kern="1200" cap="none" spc="0" normalizeH="0" baseline="0" noProof="0" dirty="0">
                <a:ln>
                  <a:noFill/>
                </a:ln>
                <a:solidFill>
                  <a:srgbClr val="C00000"/>
                </a:solidFill>
                <a:effectLst/>
                <a:uLnTx/>
                <a:uFillTx/>
                <a:latin typeface="Times New Roman" panose="02020603050405020304" pitchFamily="18" charset="0"/>
                <a:ea typeface="+mn-ea"/>
                <a:cs typeface="Times New Roman" panose="02020603050405020304" pitchFamily="18" charset="0"/>
              </a:rPr>
              <a:t>Apache </a:t>
            </a:r>
            <a:r>
              <a:rPr lang="fr-FR" sz="2800" b="1" dirty="0" err="1">
                <a:solidFill>
                  <a:srgbClr val="C00000"/>
                </a:solidFill>
                <a:latin typeface="Times New Roman" panose="02020603050405020304" pitchFamily="18" charset="0"/>
                <a:cs typeface="Times New Roman" panose="02020603050405020304" pitchFamily="18" charset="0"/>
              </a:rPr>
              <a:t>ZooKeeper</a:t>
            </a:r>
            <a:endParaRPr lang="fr-FR" sz="2800" b="1" dirty="0">
              <a:solidFill>
                <a:srgbClr val="C00000"/>
              </a:solidFill>
              <a:latin typeface="Times New Roman" panose="02020603050405020304" pitchFamily="18" charset="0"/>
              <a:cs typeface="Times New Roman" panose="02020603050405020304" pitchFamily="18" charset="0"/>
            </a:endParaRPr>
          </a:p>
          <a:p>
            <a:pPr marL="449263" algn="just">
              <a:lnSpc>
                <a:spcPct val="120000"/>
              </a:lnSpc>
            </a:pPr>
            <a:r>
              <a:rPr lang="fr-FR" sz="2400" b="1" dirty="0">
                <a:latin typeface="Times New Roman" panose="02020603050405020304" pitchFamily="18" charset="0"/>
                <a:cs typeface="Times New Roman" panose="02020603050405020304" pitchFamily="18" charset="0"/>
              </a:rPr>
              <a:t>Zookeeper</a:t>
            </a:r>
            <a:r>
              <a:rPr lang="fr-FR" sz="2400" dirty="0">
                <a:latin typeface="Times New Roman" panose="02020603050405020304" pitchFamily="18" charset="0"/>
                <a:cs typeface="Times New Roman" panose="02020603050405020304" pitchFamily="18" charset="0"/>
              </a:rPr>
              <a:t> est un outil centralisé qui aide à la synchronisation</a:t>
            </a:r>
            <a:r>
              <a:rPr lang="fr-FR" sz="2400" dirty="0">
                <a:solidFill>
                  <a:srgbClr val="C00000"/>
                </a:solidFill>
                <a:latin typeface="Times New Roman" panose="02020603050405020304" pitchFamily="18" charset="0"/>
                <a:cs typeface="Times New Roman" panose="02020603050405020304" pitchFamily="18" charset="0"/>
              </a:rPr>
              <a:t> </a:t>
            </a:r>
            <a:r>
              <a:rPr lang="fr-FR" sz="2400" dirty="0">
                <a:latin typeface="Times New Roman" panose="02020603050405020304" pitchFamily="18" charset="0"/>
                <a:cs typeface="Times New Roman" panose="02020603050405020304" pitchFamily="18" charset="0"/>
              </a:rPr>
              <a:t>à travers le cluster Hadoop. </a:t>
            </a:r>
            <a:r>
              <a:rPr lang="fr-FR" sz="2400" b="1" dirty="0">
                <a:latin typeface="Times New Roman" panose="02020603050405020304" pitchFamily="18" charset="0"/>
                <a:cs typeface="Times New Roman" panose="02020603050405020304" pitchFamily="18" charset="0"/>
              </a:rPr>
              <a:t>Les services de nommage et la gestion de la configuration sont également fournis par </a:t>
            </a:r>
            <a:r>
              <a:rPr lang="fr-FR" sz="2400" b="1" dirty="0" err="1">
                <a:latin typeface="Times New Roman" panose="02020603050405020304" pitchFamily="18" charset="0"/>
                <a:cs typeface="Times New Roman" panose="02020603050405020304" pitchFamily="18" charset="0"/>
              </a:rPr>
              <a:t>ZooKeeper</a:t>
            </a:r>
            <a:r>
              <a:rPr lang="fr-FR" sz="2400" b="1" dirty="0">
                <a:latin typeface="Times New Roman" panose="02020603050405020304" pitchFamily="18" charset="0"/>
                <a:cs typeface="Times New Roman" panose="02020603050405020304" pitchFamily="18" charset="0"/>
              </a:rPr>
              <a:t> sur le cluster Hadoop</a:t>
            </a:r>
            <a:r>
              <a:rPr lang="fr-FR" sz="2000" dirty="0">
                <a:latin typeface="Times New Roman" panose="02020603050405020304" pitchFamily="18" charset="0"/>
                <a:cs typeface="Times New Roman" panose="02020603050405020304" pitchFamily="18" charset="0"/>
              </a:rPr>
              <a:t>.</a:t>
            </a:r>
          </a:p>
        </p:txBody>
      </p:sp>
      <p:sp>
        <p:nvSpPr>
          <p:cNvPr id="7" name="ZoneTexte 6">
            <a:extLst>
              <a:ext uri="{FF2B5EF4-FFF2-40B4-BE49-F238E27FC236}">
                <a16:creationId xmlns:a16="http://schemas.microsoft.com/office/drawing/2014/main" id="{95910D9A-4C7A-43DA-9036-F0505AEA2B9D}"/>
              </a:ext>
            </a:extLst>
          </p:cNvPr>
          <p:cNvSpPr txBox="1"/>
          <p:nvPr/>
        </p:nvSpPr>
        <p:spPr>
          <a:xfrm>
            <a:off x="2937016" y="120006"/>
            <a:ext cx="6430260" cy="646331"/>
          </a:xfrm>
          <a:prstGeom prst="rect">
            <a:avLst/>
          </a:prstGeom>
          <a:noFill/>
        </p:spPr>
        <p:txBody>
          <a:bodyPr wrap="square">
            <a:spAutoFit/>
          </a:bodyPr>
          <a:lstStyle/>
          <a:p>
            <a:pPr lvl="0"/>
            <a:r>
              <a:rPr lang="fr-FR" sz="3600" b="1" dirty="0">
                <a:solidFill>
                  <a:srgbClr val="C00000"/>
                </a:solidFill>
                <a:latin typeface="Times New Roman" panose="02020603050405020304" pitchFamily="18" charset="0"/>
                <a:cs typeface="Times New Roman" panose="02020603050405020304" pitchFamily="18" charset="0"/>
              </a:rPr>
              <a:t>5.3.2 Ecosystème Apache (suite)</a:t>
            </a:r>
          </a:p>
        </p:txBody>
      </p:sp>
      <p:sp>
        <p:nvSpPr>
          <p:cNvPr id="8" name="ZoneTexte 7">
            <a:extLst>
              <a:ext uri="{FF2B5EF4-FFF2-40B4-BE49-F238E27FC236}">
                <a16:creationId xmlns:a16="http://schemas.microsoft.com/office/drawing/2014/main" id="{81F5C2C3-110A-4905-BBBF-881061F22628}"/>
              </a:ext>
            </a:extLst>
          </p:cNvPr>
          <p:cNvSpPr txBox="1"/>
          <p:nvPr/>
        </p:nvSpPr>
        <p:spPr>
          <a:xfrm>
            <a:off x="304797" y="2663980"/>
            <a:ext cx="11694698" cy="1938992"/>
          </a:xfrm>
          <a:prstGeom prst="rect">
            <a:avLst/>
          </a:prstGeom>
          <a:noFill/>
        </p:spPr>
        <p:txBody>
          <a:bodyPr wrap="square">
            <a:spAutoFit/>
          </a:bodyPr>
          <a:lstStyle/>
          <a:p>
            <a:pPr marL="457200" indent="-457200" algn="just">
              <a:lnSpc>
                <a:spcPct val="120000"/>
              </a:lnSpc>
              <a:buFont typeface="Wingdings" panose="05000000000000000000" pitchFamily="2" charset="2"/>
              <a:buChar char="q"/>
            </a:pPr>
            <a:r>
              <a:rPr kumimoji="0" lang="fr-FR" sz="2800" b="1" i="0" u="none" strike="noStrike" kern="1200" cap="none" spc="0" normalizeH="0" baseline="0" noProof="0" dirty="0">
                <a:ln>
                  <a:noFill/>
                </a:ln>
                <a:solidFill>
                  <a:srgbClr val="C00000"/>
                </a:solidFill>
                <a:effectLst/>
                <a:uLnTx/>
                <a:uFillTx/>
                <a:latin typeface="Times New Roman" panose="02020603050405020304" pitchFamily="18" charset="0"/>
                <a:ea typeface="+mn-ea"/>
                <a:cs typeface="Times New Roman" panose="02020603050405020304" pitchFamily="18" charset="0"/>
              </a:rPr>
              <a:t>Apache </a:t>
            </a:r>
            <a:r>
              <a:rPr lang="fr-FR" sz="2800" b="1" dirty="0">
                <a:solidFill>
                  <a:srgbClr val="C00000"/>
                </a:solidFill>
                <a:latin typeface="Times New Roman" panose="02020603050405020304" pitchFamily="18" charset="0"/>
                <a:cs typeface="Times New Roman" panose="02020603050405020304" pitchFamily="18" charset="0"/>
              </a:rPr>
              <a:t>Pig</a:t>
            </a:r>
          </a:p>
          <a:p>
            <a:pPr marL="449263" algn="just">
              <a:lnSpc>
                <a:spcPct val="120000"/>
              </a:lnSpc>
            </a:pPr>
            <a:r>
              <a:rPr lang="fr-FR" sz="2400" b="1" dirty="0">
                <a:latin typeface="Times New Roman" panose="02020603050405020304" pitchFamily="18" charset="0"/>
                <a:cs typeface="Times New Roman" panose="02020603050405020304" pitchFamily="18" charset="0"/>
              </a:rPr>
              <a:t>Pig</a:t>
            </a:r>
            <a:r>
              <a:rPr lang="fr-FR" sz="2400" dirty="0">
                <a:latin typeface="Times New Roman" panose="02020603050405020304" pitchFamily="18" charset="0"/>
                <a:cs typeface="Times New Roman" panose="02020603050405020304" pitchFamily="18" charset="0"/>
              </a:rPr>
              <a:t> est un langage de script utilisé pour écrire des programmes de traitement de grands jeux de données présents dans le cluster Hadoop. </a:t>
            </a:r>
            <a:r>
              <a:rPr lang="fr-FR" sz="2400" b="1" dirty="0">
                <a:latin typeface="Times New Roman" panose="02020603050405020304" pitchFamily="18" charset="0"/>
                <a:cs typeface="Times New Roman" panose="02020603050405020304" pitchFamily="18" charset="0"/>
              </a:rPr>
              <a:t>Pig exécute ces programmes et les convertit en tâches de MapReduce</a:t>
            </a:r>
            <a:r>
              <a:rPr lang="fr-FR" sz="2400" dirty="0">
                <a:latin typeface="Times New Roman" panose="02020603050405020304" pitchFamily="18" charset="0"/>
                <a:cs typeface="Times New Roman" panose="02020603050405020304" pitchFamily="18" charset="0"/>
              </a:rPr>
              <a:t>, puis exécute ces tâches. </a:t>
            </a:r>
          </a:p>
        </p:txBody>
      </p:sp>
    </p:spTree>
    <p:extLst>
      <p:ext uri="{BB962C8B-B14F-4D97-AF65-F5344CB8AC3E}">
        <p14:creationId xmlns:p14="http://schemas.microsoft.com/office/powerpoint/2010/main" val="9528360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C637685C-4A4F-448E-B0A6-3E87E02D3518}"/>
              </a:ext>
            </a:extLst>
          </p:cNvPr>
          <p:cNvSpPr txBox="1"/>
          <p:nvPr/>
        </p:nvSpPr>
        <p:spPr>
          <a:xfrm>
            <a:off x="369917" y="49875"/>
            <a:ext cx="7128164" cy="646331"/>
          </a:xfrm>
          <a:prstGeom prst="rect">
            <a:avLst/>
          </a:prstGeom>
          <a:noFill/>
        </p:spPr>
        <p:txBody>
          <a:bodyPr wrap="square">
            <a:spAutoFit/>
          </a:bodyPr>
          <a:lstStyle/>
          <a:p>
            <a:pPr marR="0" lvl="0" algn="l" defTabSz="914400" rtl="0" eaLnBrk="1" fontAlgn="auto" latinLnBrk="0" hangingPunct="1">
              <a:spcBef>
                <a:spcPts val="0"/>
              </a:spcBef>
              <a:spcAft>
                <a:spcPts val="0"/>
              </a:spcAft>
              <a:buClrTx/>
              <a:buSzTx/>
              <a:tabLst/>
              <a:defRPr/>
            </a:pPr>
            <a:r>
              <a:rPr kumimoji="0" lang="fr-FR" sz="3600" b="1" i="0" u="none" strike="noStrike" kern="1200" cap="none" spc="0" normalizeH="0" baseline="0" noProof="0" dirty="0">
                <a:ln>
                  <a:noFill/>
                </a:ln>
                <a:solidFill>
                  <a:srgbClr val="C00000"/>
                </a:solidFill>
                <a:effectLst/>
                <a:uLnTx/>
                <a:uFillTx/>
                <a:latin typeface="Times New Roman" panose="02020603050405020304" pitchFamily="18" charset="0"/>
                <a:ea typeface="+mn-ea"/>
                <a:cs typeface="Times New Roman" panose="02020603050405020304" pitchFamily="18" charset="0"/>
              </a:rPr>
              <a:t>5.3.3 Architecture d’Apache Spark</a:t>
            </a:r>
          </a:p>
        </p:txBody>
      </p:sp>
      <p:sp>
        <p:nvSpPr>
          <p:cNvPr id="4" name="ZoneTexte 3">
            <a:extLst>
              <a:ext uri="{FF2B5EF4-FFF2-40B4-BE49-F238E27FC236}">
                <a16:creationId xmlns:a16="http://schemas.microsoft.com/office/drawing/2014/main" id="{1D592870-3A2C-48D9-B1D3-D4B92C9A87E2}"/>
              </a:ext>
            </a:extLst>
          </p:cNvPr>
          <p:cNvSpPr txBox="1"/>
          <p:nvPr/>
        </p:nvSpPr>
        <p:spPr>
          <a:xfrm>
            <a:off x="253538" y="799750"/>
            <a:ext cx="5842462" cy="5744650"/>
          </a:xfrm>
          <a:prstGeom prst="rect">
            <a:avLst/>
          </a:prstGeom>
          <a:noFill/>
        </p:spPr>
        <p:txBody>
          <a:bodyPr wrap="square">
            <a:spAutoFit/>
          </a:bodyPr>
          <a:lstStyle/>
          <a:p>
            <a:pPr algn="just">
              <a:lnSpc>
                <a:spcPct val="120000"/>
              </a:lnSpc>
            </a:pPr>
            <a:r>
              <a:rPr lang="fr-FR" sz="2200" dirty="0">
                <a:latin typeface="Times New Roman" panose="02020603050405020304" pitchFamily="18" charset="0"/>
                <a:cs typeface="Times New Roman" panose="02020603050405020304" pitchFamily="18" charset="0"/>
              </a:rPr>
              <a:t>L’architecture de Spark est composée principalement de </a:t>
            </a:r>
            <a:r>
              <a:rPr lang="fr-FR" sz="2200" b="1" dirty="0">
                <a:latin typeface="Times New Roman" panose="02020603050405020304" pitchFamily="18" charset="0"/>
                <a:cs typeface="Times New Roman" panose="02020603050405020304" pitchFamily="18" charset="0"/>
              </a:rPr>
              <a:t>5 couches</a:t>
            </a:r>
            <a:r>
              <a:rPr lang="fr-FR" sz="2200" dirty="0">
                <a:latin typeface="Times New Roman" panose="02020603050405020304" pitchFamily="18" charset="0"/>
                <a:cs typeface="Times New Roman" panose="02020603050405020304" pitchFamily="18" charset="0"/>
              </a:rPr>
              <a:t>.</a:t>
            </a:r>
          </a:p>
          <a:p>
            <a:pPr marL="457200" indent="-457200" algn="just">
              <a:lnSpc>
                <a:spcPct val="120000"/>
              </a:lnSpc>
              <a:buFont typeface="+mj-lt"/>
              <a:buAutoNum type="arabicPeriod"/>
            </a:pPr>
            <a:r>
              <a:rPr lang="fr-FR" sz="2200" dirty="0">
                <a:latin typeface="Times New Roman" panose="02020603050405020304" pitchFamily="18" charset="0"/>
                <a:cs typeface="Times New Roman" panose="02020603050405020304" pitchFamily="18" charset="0"/>
              </a:rPr>
              <a:t> La première couche comprend des </a:t>
            </a:r>
            <a:r>
              <a:rPr lang="fr-FR" sz="2200" dirty="0">
                <a:solidFill>
                  <a:srgbClr val="C00000"/>
                </a:solidFill>
                <a:latin typeface="Times New Roman" panose="02020603050405020304" pitchFamily="18" charset="0"/>
                <a:cs typeface="Times New Roman" panose="02020603050405020304" pitchFamily="18" charset="0"/>
              </a:rPr>
              <a:t>systèmes de stockage de données</a:t>
            </a:r>
            <a:r>
              <a:rPr lang="fr-FR" sz="2200" dirty="0">
                <a:solidFill>
                  <a:srgbClr val="FF0000"/>
                </a:solidFill>
                <a:latin typeface="Times New Roman" panose="02020603050405020304" pitchFamily="18" charset="0"/>
                <a:cs typeface="Times New Roman" panose="02020603050405020304" pitchFamily="18" charset="0"/>
              </a:rPr>
              <a:t> </a:t>
            </a:r>
            <a:r>
              <a:rPr lang="fr-FR" sz="2200" dirty="0">
                <a:latin typeface="Times New Roman" panose="02020603050405020304" pitchFamily="18" charset="0"/>
                <a:cs typeface="Times New Roman" panose="02020603050405020304" pitchFamily="18" charset="0"/>
              </a:rPr>
              <a:t>tels que HDFS et HBASE. </a:t>
            </a:r>
          </a:p>
          <a:p>
            <a:pPr marL="457200" indent="-457200" algn="just">
              <a:lnSpc>
                <a:spcPct val="120000"/>
              </a:lnSpc>
              <a:buFont typeface="+mj-lt"/>
              <a:buAutoNum type="arabicPeriod"/>
            </a:pPr>
            <a:r>
              <a:rPr lang="fr-FR" sz="2200" dirty="0" smtClean="0">
                <a:latin typeface="Times New Roman" panose="02020603050405020304" pitchFamily="18" charset="0"/>
                <a:cs typeface="Times New Roman" panose="02020603050405020304" pitchFamily="18" charset="0"/>
              </a:rPr>
              <a:t> </a:t>
            </a:r>
            <a:r>
              <a:rPr lang="fr-FR" sz="2200" dirty="0">
                <a:latin typeface="Times New Roman" panose="02020603050405020304" pitchFamily="18" charset="0"/>
                <a:cs typeface="Times New Roman" panose="02020603050405020304" pitchFamily="18" charset="0"/>
              </a:rPr>
              <a:t>Le </a:t>
            </a:r>
            <a:r>
              <a:rPr lang="fr-FR" sz="2200" dirty="0">
                <a:solidFill>
                  <a:srgbClr val="C00000"/>
                </a:solidFill>
                <a:latin typeface="Times New Roman" panose="02020603050405020304" pitchFamily="18" charset="0"/>
                <a:cs typeface="Times New Roman" panose="02020603050405020304" pitchFamily="18" charset="0"/>
              </a:rPr>
              <a:t>gestionnaire des ressources</a:t>
            </a:r>
            <a:r>
              <a:rPr lang="fr-FR" sz="2200" dirty="0">
                <a:latin typeface="Times New Roman" panose="02020603050405020304" pitchFamily="18" charset="0"/>
                <a:cs typeface="Times New Roman" panose="02020603050405020304" pitchFamily="18" charset="0"/>
              </a:rPr>
              <a:t>; par exemple, YARN et </a:t>
            </a:r>
            <a:r>
              <a:rPr lang="fr-FR" sz="2200" dirty="0" err="1">
                <a:latin typeface="Times New Roman" panose="02020603050405020304" pitchFamily="18" charset="0"/>
                <a:cs typeface="Times New Roman" panose="02020603050405020304" pitchFamily="18" charset="0"/>
              </a:rPr>
              <a:t>Mesos</a:t>
            </a:r>
            <a:r>
              <a:rPr lang="fr-FR" sz="2200" dirty="0">
                <a:latin typeface="Times New Roman" panose="02020603050405020304" pitchFamily="18" charset="0"/>
                <a:cs typeface="Times New Roman" panose="02020603050405020304" pitchFamily="18" charset="0"/>
              </a:rPr>
              <a:t>. </a:t>
            </a:r>
          </a:p>
          <a:p>
            <a:pPr marL="457200" indent="-457200" algn="just">
              <a:lnSpc>
                <a:spcPct val="120000"/>
              </a:lnSpc>
              <a:buFont typeface="+mj-lt"/>
              <a:buAutoNum type="arabicPeriod"/>
            </a:pPr>
            <a:r>
              <a:rPr lang="fr-FR" sz="2200" dirty="0">
                <a:latin typeface="Times New Roman" panose="02020603050405020304" pitchFamily="18" charset="0"/>
                <a:cs typeface="Times New Roman" panose="02020603050405020304" pitchFamily="18" charset="0"/>
              </a:rPr>
              <a:t>Un </a:t>
            </a:r>
            <a:r>
              <a:rPr lang="fr-FR" sz="2200" dirty="0">
                <a:solidFill>
                  <a:srgbClr val="C00000"/>
                </a:solidFill>
                <a:latin typeface="Times New Roman" panose="02020603050405020304" pitchFamily="18" charset="0"/>
                <a:cs typeface="Times New Roman" panose="02020603050405020304" pitchFamily="18" charset="0"/>
              </a:rPr>
              <a:t>moteur principal Spark</a:t>
            </a:r>
            <a:r>
              <a:rPr lang="fr-FR" sz="2200" dirty="0">
                <a:latin typeface="Times New Roman" panose="02020603050405020304" pitchFamily="18" charset="0"/>
                <a:cs typeface="Times New Roman" panose="02020603050405020304" pitchFamily="18" charset="0"/>
              </a:rPr>
              <a:t>.</a:t>
            </a:r>
          </a:p>
          <a:p>
            <a:pPr marL="457200" indent="-457200" algn="just">
              <a:lnSpc>
                <a:spcPct val="120000"/>
              </a:lnSpc>
              <a:buFont typeface="+mj-lt"/>
              <a:buAutoNum type="arabicPeriod"/>
            </a:pPr>
            <a:r>
              <a:rPr lang="fr-FR" sz="2200" dirty="0">
                <a:latin typeface="Times New Roman" panose="02020603050405020304" pitchFamily="18" charset="0"/>
                <a:cs typeface="Times New Roman" panose="02020603050405020304" pitchFamily="18" charset="0"/>
              </a:rPr>
              <a:t>Une </a:t>
            </a:r>
            <a:r>
              <a:rPr lang="fr-FR" sz="2200" dirty="0">
                <a:solidFill>
                  <a:srgbClr val="C00000"/>
                </a:solidFill>
                <a:latin typeface="Times New Roman" panose="02020603050405020304" pitchFamily="18" charset="0"/>
                <a:cs typeface="Times New Roman" panose="02020603050405020304" pitchFamily="18" charset="0"/>
              </a:rPr>
              <a:t>bibliothèque</a:t>
            </a:r>
            <a:r>
              <a:rPr lang="fr-FR" sz="2200" dirty="0">
                <a:latin typeface="Times New Roman" panose="02020603050405020304" pitchFamily="18" charset="0"/>
                <a:cs typeface="Times New Roman" panose="02020603050405020304" pitchFamily="18" charset="0"/>
              </a:rPr>
              <a:t> composée de SQL, de traitement de données en flux, de </a:t>
            </a:r>
            <a:r>
              <a:rPr lang="fr-FR" sz="2200" dirty="0" err="1">
                <a:latin typeface="Times New Roman" panose="02020603050405020304" pitchFamily="18" charset="0"/>
                <a:cs typeface="Times New Roman" panose="02020603050405020304" pitchFamily="18" charset="0"/>
              </a:rPr>
              <a:t>MLlib</a:t>
            </a:r>
            <a:r>
              <a:rPr lang="fr-FR" sz="2200" dirty="0">
                <a:latin typeface="Times New Roman" panose="02020603050405020304" pitchFamily="18" charset="0"/>
                <a:cs typeface="Times New Roman" panose="02020603050405020304" pitchFamily="18" charset="0"/>
              </a:rPr>
              <a:t> pour l'apprentissage automatique, de Spark R et de </a:t>
            </a:r>
            <a:r>
              <a:rPr lang="fr-FR" sz="2200" dirty="0" err="1">
                <a:latin typeface="Times New Roman" panose="02020603050405020304" pitchFamily="18" charset="0"/>
                <a:cs typeface="Times New Roman" panose="02020603050405020304" pitchFamily="18" charset="0"/>
              </a:rPr>
              <a:t>GraphX</a:t>
            </a:r>
            <a:r>
              <a:rPr lang="fr-FR" sz="2200" dirty="0">
                <a:latin typeface="Times New Roman" panose="02020603050405020304" pitchFamily="18" charset="0"/>
                <a:cs typeface="Times New Roman" panose="02020603050405020304" pitchFamily="18" charset="0"/>
              </a:rPr>
              <a:t> pour le traitement de graphes.</a:t>
            </a:r>
          </a:p>
          <a:p>
            <a:pPr marL="457200" indent="-457200" algn="just">
              <a:lnSpc>
                <a:spcPct val="120000"/>
              </a:lnSpc>
              <a:buFont typeface="+mj-lt"/>
              <a:buAutoNum type="arabicPeriod"/>
            </a:pPr>
            <a:r>
              <a:rPr lang="fr-FR" sz="2200" dirty="0">
                <a:latin typeface="Times New Roman" panose="02020603050405020304" pitchFamily="18" charset="0"/>
                <a:cs typeface="Times New Roman" panose="02020603050405020304" pitchFamily="18" charset="0"/>
              </a:rPr>
              <a:t>Une </a:t>
            </a:r>
            <a:r>
              <a:rPr lang="fr-FR" sz="2200" dirty="0">
                <a:solidFill>
                  <a:srgbClr val="C00000"/>
                </a:solidFill>
                <a:latin typeface="Times New Roman" panose="02020603050405020304" pitchFamily="18" charset="0"/>
                <a:cs typeface="Times New Roman" panose="02020603050405020304" pitchFamily="18" charset="0"/>
              </a:rPr>
              <a:t>interface de programme d'application </a:t>
            </a:r>
            <a:r>
              <a:rPr lang="fr-FR" sz="2200" dirty="0">
                <a:latin typeface="Times New Roman" panose="02020603050405020304" pitchFamily="18" charset="0"/>
                <a:cs typeface="Times New Roman" panose="02020603050405020304" pitchFamily="18" charset="0"/>
              </a:rPr>
              <a:t>telle que Java ou Scala. </a:t>
            </a:r>
          </a:p>
        </p:txBody>
      </p:sp>
      <p:pic>
        <p:nvPicPr>
          <p:cNvPr id="6" name="Image 5">
            <a:extLst>
              <a:ext uri="{FF2B5EF4-FFF2-40B4-BE49-F238E27FC236}">
                <a16:creationId xmlns:a16="http://schemas.microsoft.com/office/drawing/2014/main" id="{6DB90E03-B793-4A72-A43B-7BEE438D0D5C}"/>
              </a:ext>
            </a:extLst>
          </p:cNvPr>
          <p:cNvPicPr>
            <a:picLocks noChangeAspect="1"/>
          </p:cNvPicPr>
          <p:nvPr/>
        </p:nvPicPr>
        <p:blipFill>
          <a:blip r:embed="rId3"/>
          <a:stretch>
            <a:fillRect/>
          </a:stretch>
        </p:blipFill>
        <p:spPr>
          <a:xfrm>
            <a:off x="6245629" y="799750"/>
            <a:ext cx="5692833" cy="4988822"/>
          </a:xfrm>
          <a:prstGeom prst="rect">
            <a:avLst/>
          </a:prstGeom>
        </p:spPr>
      </p:pic>
      <p:sp>
        <p:nvSpPr>
          <p:cNvPr id="7" name="ZoneTexte 6">
            <a:extLst>
              <a:ext uri="{FF2B5EF4-FFF2-40B4-BE49-F238E27FC236}">
                <a16:creationId xmlns:a16="http://schemas.microsoft.com/office/drawing/2014/main" id="{7F5BAAC8-52A2-46BB-863C-21241E799D29}"/>
              </a:ext>
            </a:extLst>
          </p:cNvPr>
          <p:cNvSpPr txBox="1"/>
          <p:nvPr/>
        </p:nvSpPr>
        <p:spPr>
          <a:xfrm>
            <a:off x="6245629" y="5892116"/>
            <a:ext cx="5575069" cy="769441"/>
          </a:xfrm>
          <a:prstGeom prst="rect">
            <a:avLst/>
          </a:prstGeom>
          <a:noFill/>
        </p:spPr>
        <p:txBody>
          <a:bodyPr wrap="square" rtlCol="0">
            <a:spAutoFit/>
          </a:bodyPr>
          <a:lstStyle/>
          <a:p>
            <a:pPr algn="ctr"/>
            <a:r>
              <a:rPr lang="fr-FR" sz="2200" b="1" dirty="0">
                <a:latin typeface="Times New Roman" panose="02020603050405020304" pitchFamily="18" charset="0"/>
                <a:cs typeface="Times New Roman" panose="02020603050405020304" pitchFamily="18" charset="0"/>
              </a:rPr>
              <a:t>Figure 5</a:t>
            </a:r>
            <a:r>
              <a:rPr lang="fr-FR" sz="2200" dirty="0">
                <a:latin typeface="Times New Roman" panose="02020603050405020304" pitchFamily="18" charset="0"/>
                <a:cs typeface="Times New Roman" panose="02020603050405020304" pitchFamily="18" charset="0"/>
              </a:rPr>
              <a:t> : Architecture de Spark </a:t>
            </a:r>
          </a:p>
          <a:p>
            <a:pPr algn="ctr"/>
            <a:r>
              <a:rPr lang="fr-FR" sz="2200" dirty="0">
                <a:latin typeface="Times New Roman" panose="02020603050405020304" pitchFamily="18" charset="0"/>
                <a:cs typeface="Times New Roman" panose="02020603050405020304" pitchFamily="18" charset="0"/>
              </a:rPr>
              <a:t>(</a:t>
            </a:r>
            <a:r>
              <a:rPr lang="fr-FR" sz="2200" dirty="0">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Gupta et </a:t>
            </a:r>
            <a:r>
              <a:rPr lang="fr-FR" sz="2200" dirty="0" err="1">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Parveen</a:t>
            </a:r>
            <a:r>
              <a:rPr lang="fr-FR" sz="2200" dirty="0">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 2019)</a:t>
            </a:r>
            <a:endParaRPr lang="fr-FR"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4162872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a:extLst>
              <a:ext uri="{FF2B5EF4-FFF2-40B4-BE49-F238E27FC236}">
                <a16:creationId xmlns:a16="http://schemas.microsoft.com/office/drawing/2014/main" id="{D08BA4BF-D786-493F-AFDD-97B05383BA9C}"/>
              </a:ext>
            </a:extLst>
          </p:cNvPr>
          <p:cNvSpPr txBox="1"/>
          <p:nvPr/>
        </p:nvSpPr>
        <p:spPr>
          <a:xfrm>
            <a:off x="320040" y="162185"/>
            <a:ext cx="7128164" cy="646331"/>
          </a:xfrm>
          <a:prstGeom prst="rect">
            <a:avLst/>
          </a:prstGeom>
          <a:noFill/>
        </p:spPr>
        <p:txBody>
          <a:bodyPr wrap="square">
            <a:spAutoFit/>
          </a:bodyPr>
          <a:lstStyle/>
          <a:p>
            <a:pPr marR="0" lvl="0" algn="l" defTabSz="914400" rtl="0" eaLnBrk="1" fontAlgn="auto" latinLnBrk="0" hangingPunct="1">
              <a:spcBef>
                <a:spcPts val="0"/>
              </a:spcBef>
              <a:spcAft>
                <a:spcPts val="0"/>
              </a:spcAft>
              <a:buClrTx/>
              <a:buSzTx/>
              <a:tabLst/>
              <a:defRPr/>
            </a:pPr>
            <a:r>
              <a:rPr kumimoji="0" lang="fr-FR" sz="3600" b="1" i="0" u="none" strike="noStrike" kern="1200" cap="none" spc="0" normalizeH="0" baseline="0" noProof="0" dirty="0">
                <a:ln>
                  <a:noFill/>
                </a:ln>
                <a:solidFill>
                  <a:srgbClr val="C00000"/>
                </a:solidFill>
                <a:effectLst/>
                <a:uLnTx/>
                <a:uFillTx/>
                <a:latin typeface="Times New Roman" panose="02020603050405020304" pitchFamily="18" charset="0"/>
                <a:ea typeface="+mn-ea"/>
                <a:cs typeface="Times New Roman" panose="02020603050405020304" pitchFamily="18" charset="0"/>
              </a:rPr>
              <a:t>5.3.4 Architecture d’Apache Storm</a:t>
            </a:r>
          </a:p>
        </p:txBody>
      </p:sp>
      <p:sp>
        <p:nvSpPr>
          <p:cNvPr id="6" name="ZoneTexte 5">
            <a:extLst>
              <a:ext uri="{FF2B5EF4-FFF2-40B4-BE49-F238E27FC236}">
                <a16:creationId xmlns:a16="http://schemas.microsoft.com/office/drawing/2014/main" id="{0C33C799-CC3C-4FBD-A432-E40648E88684}"/>
              </a:ext>
            </a:extLst>
          </p:cNvPr>
          <p:cNvSpPr txBox="1"/>
          <p:nvPr/>
        </p:nvSpPr>
        <p:spPr>
          <a:xfrm>
            <a:off x="153786" y="907715"/>
            <a:ext cx="6093228" cy="5487656"/>
          </a:xfrm>
          <a:prstGeom prst="rect">
            <a:avLst/>
          </a:prstGeom>
          <a:noFill/>
        </p:spPr>
        <p:txBody>
          <a:bodyPr wrap="square">
            <a:spAutoFit/>
          </a:bodyPr>
          <a:lstStyle/>
          <a:p>
            <a:pPr algn="just">
              <a:lnSpc>
                <a:spcPct val="120000"/>
              </a:lnSpc>
            </a:pPr>
            <a:r>
              <a:rPr lang="fr-FR" sz="2100" dirty="0">
                <a:latin typeface="Times New Roman" panose="02020603050405020304" pitchFamily="18" charset="0"/>
                <a:cs typeface="Times New Roman" panose="02020603050405020304" pitchFamily="18" charset="0"/>
              </a:rPr>
              <a:t>L’architecture de Storm est composée de deux types de nœuds : </a:t>
            </a:r>
            <a:r>
              <a:rPr lang="fr-FR" sz="2100" b="1" dirty="0">
                <a:latin typeface="Times New Roman" panose="02020603050405020304" pitchFamily="18" charset="0"/>
                <a:cs typeface="Times New Roman" panose="02020603050405020304" pitchFamily="18" charset="0"/>
              </a:rPr>
              <a:t>master </a:t>
            </a:r>
            <a:r>
              <a:rPr lang="fr-FR" sz="2100" b="1" dirty="0" err="1" smtClean="0">
                <a:latin typeface="Times New Roman" panose="02020603050405020304" pitchFamily="18" charset="0"/>
                <a:cs typeface="Times New Roman" panose="02020603050405020304" pitchFamily="18" charset="0"/>
              </a:rPr>
              <a:t>node</a:t>
            </a:r>
            <a:r>
              <a:rPr lang="fr-FR" sz="2100" b="1" dirty="0" smtClean="0">
                <a:latin typeface="Times New Roman" panose="02020603050405020304" pitchFamily="18" charset="0"/>
                <a:cs typeface="Times New Roman" panose="02020603050405020304" pitchFamily="18" charset="0"/>
              </a:rPr>
              <a:t> </a:t>
            </a:r>
            <a:r>
              <a:rPr lang="fr-FR" sz="2100" dirty="0" smtClean="0">
                <a:latin typeface="Times New Roman" panose="02020603050405020304" pitchFamily="18" charset="0"/>
                <a:cs typeface="Times New Roman" panose="02020603050405020304" pitchFamily="18" charset="0"/>
              </a:rPr>
              <a:t>(</a:t>
            </a:r>
            <a:r>
              <a:rPr lang="fr-FR" sz="2100" dirty="0">
                <a:latin typeface="Times New Roman" panose="02020603050405020304" pitchFamily="18" charset="0"/>
                <a:cs typeface="Times New Roman" panose="02020603050405020304" pitchFamily="18" charset="0"/>
              </a:rPr>
              <a:t>nœud maître </a:t>
            </a:r>
            <a:r>
              <a:rPr lang="fr-FR" sz="2100" dirty="0" smtClean="0">
                <a:latin typeface="Times New Roman" panose="02020603050405020304" pitchFamily="18" charset="0"/>
                <a:cs typeface="Times New Roman" panose="02020603050405020304" pitchFamily="18" charset="0"/>
              </a:rPr>
              <a:t>) </a:t>
            </a:r>
            <a:r>
              <a:rPr lang="fr-FR" sz="2100" dirty="0">
                <a:latin typeface="Times New Roman" panose="02020603050405020304" pitchFamily="18" charset="0"/>
                <a:cs typeface="Times New Roman" panose="02020603050405020304" pitchFamily="18" charset="0"/>
              </a:rPr>
              <a:t>et le </a:t>
            </a:r>
            <a:r>
              <a:rPr lang="fr-FR" sz="2100" b="1" dirty="0">
                <a:latin typeface="Times New Roman" panose="02020603050405020304" pitchFamily="18" charset="0"/>
                <a:cs typeface="Times New Roman" panose="02020603050405020304" pitchFamily="18" charset="0"/>
              </a:rPr>
              <a:t>worker </a:t>
            </a:r>
            <a:r>
              <a:rPr lang="fr-FR" sz="2100" b="1" dirty="0" err="1" smtClean="0">
                <a:latin typeface="Times New Roman" panose="02020603050405020304" pitchFamily="18" charset="0"/>
                <a:cs typeface="Times New Roman" panose="02020603050405020304" pitchFamily="18" charset="0"/>
              </a:rPr>
              <a:t>node</a:t>
            </a:r>
            <a:r>
              <a:rPr lang="fr-FR" sz="2100" b="1" dirty="0" smtClean="0">
                <a:latin typeface="Times New Roman" panose="02020603050405020304" pitchFamily="18" charset="0"/>
                <a:cs typeface="Times New Roman" panose="02020603050405020304" pitchFamily="18" charset="0"/>
              </a:rPr>
              <a:t> </a:t>
            </a:r>
            <a:r>
              <a:rPr lang="fr-FR" sz="2100" dirty="0" smtClean="0">
                <a:latin typeface="Times New Roman" panose="02020603050405020304" pitchFamily="18" charset="0"/>
                <a:cs typeface="Times New Roman" panose="02020603050405020304" pitchFamily="18" charset="0"/>
              </a:rPr>
              <a:t>(</a:t>
            </a:r>
            <a:r>
              <a:rPr lang="fr-FR" sz="2100" dirty="0">
                <a:solidFill>
                  <a:srgbClr val="C00000"/>
                </a:solidFill>
                <a:latin typeface="Times New Roman" panose="02020603050405020304" pitchFamily="18" charset="0"/>
                <a:cs typeface="Times New Roman" panose="02020603050405020304" pitchFamily="18" charset="0"/>
              </a:rPr>
              <a:t>nœud ouvrier </a:t>
            </a:r>
            <a:r>
              <a:rPr lang="fr-FR" sz="2100" dirty="0" smtClean="0">
                <a:latin typeface="Times New Roman" panose="02020603050405020304" pitchFamily="18" charset="0"/>
                <a:cs typeface="Times New Roman" panose="02020603050405020304" pitchFamily="18" charset="0"/>
              </a:rPr>
              <a:t>). </a:t>
            </a:r>
            <a:endParaRPr lang="fr-FR" sz="2100" dirty="0">
              <a:latin typeface="Times New Roman" panose="02020603050405020304" pitchFamily="18" charset="0"/>
              <a:cs typeface="Times New Roman" panose="02020603050405020304" pitchFamily="18" charset="0"/>
            </a:endParaRPr>
          </a:p>
          <a:p>
            <a:pPr algn="just">
              <a:lnSpc>
                <a:spcPct val="120000"/>
              </a:lnSpc>
            </a:pPr>
            <a:r>
              <a:rPr lang="fr-FR" sz="2100" dirty="0">
                <a:latin typeface="Times New Roman" panose="02020603050405020304" pitchFamily="18" charset="0"/>
                <a:cs typeface="Times New Roman" panose="02020603050405020304" pitchFamily="18" charset="0"/>
              </a:rPr>
              <a:t>Le </a:t>
            </a:r>
            <a:r>
              <a:rPr lang="fr-FR" sz="2100" b="1" dirty="0">
                <a:solidFill>
                  <a:srgbClr val="C00000"/>
                </a:solidFill>
                <a:latin typeface="Times New Roman" panose="02020603050405020304" pitchFamily="18" charset="0"/>
                <a:cs typeface="Times New Roman" panose="02020603050405020304" pitchFamily="18" charset="0"/>
              </a:rPr>
              <a:t>master </a:t>
            </a:r>
            <a:r>
              <a:rPr lang="fr-FR" sz="2100" b="1" dirty="0" err="1">
                <a:solidFill>
                  <a:srgbClr val="C00000"/>
                </a:solidFill>
                <a:latin typeface="Times New Roman" panose="02020603050405020304" pitchFamily="18" charset="0"/>
                <a:cs typeface="Times New Roman" panose="02020603050405020304" pitchFamily="18" charset="0"/>
              </a:rPr>
              <a:t>node</a:t>
            </a:r>
            <a:r>
              <a:rPr lang="fr-FR" sz="2100" b="1" dirty="0">
                <a:solidFill>
                  <a:srgbClr val="C00000"/>
                </a:solidFill>
                <a:latin typeface="Times New Roman" panose="02020603050405020304" pitchFamily="18" charset="0"/>
                <a:cs typeface="Times New Roman" panose="02020603050405020304" pitchFamily="18" charset="0"/>
              </a:rPr>
              <a:t> </a:t>
            </a:r>
            <a:r>
              <a:rPr lang="fr-FR" sz="2100" dirty="0">
                <a:latin typeface="Times New Roman" panose="02020603050405020304" pitchFamily="18" charset="0"/>
                <a:cs typeface="Times New Roman" panose="02020603050405020304" pitchFamily="18" charset="0"/>
              </a:rPr>
              <a:t>est </a:t>
            </a:r>
            <a:r>
              <a:rPr lang="fr-FR" sz="2100" dirty="0">
                <a:latin typeface="Times New Roman" panose="02020603050405020304" pitchFamily="18" charset="0"/>
                <a:cs typeface="Times New Roman" panose="02020603050405020304" pitchFamily="18" charset="0"/>
              </a:rPr>
              <a:t>utilisé pour surveiller les défaillances, prendre la responsabilité du nœud distribué et spécifier chaque tâche pour chaque machine. Toutes ces tâches sont collectivement connues sous le nom de </a:t>
            </a:r>
            <a:r>
              <a:rPr lang="fr-FR" sz="2100" b="1" dirty="0">
                <a:latin typeface="Times New Roman" panose="02020603050405020304" pitchFamily="18" charset="0"/>
                <a:cs typeface="Times New Roman" panose="02020603050405020304" pitchFamily="18" charset="0"/>
              </a:rPr>
              <a:t>Nimbus</a:t>
            </a:r>
            <a:r>
              <a:rPr lang="fr-FR" sz="2100" dirty="0">
                <a:latin typeface="Times New Roman" panose="02020603050405020304" pitchFamily="18" charset="0"/>
                <a:cs typeface="Times New Roman" panose="02020603050405020304" pitchFamily="18" charset="0"/>
              </a:rPr>
              <a:t>. </a:t>
            </a:r>
          </a:p>
          <a:p>
            <a:pPr algn="just">
              <a:lnSpc>
                <a:spcPct val="120000"/>
              </a:lnSpc>
            </a:pPr>
            <a:r>
              <a:rPr lang="fr-FR" sz="2100" dirty="0">
                <a:latin typeface="Times New Roman" panose="02020603050405020304" pitchFamily="18" charset="0"/>
                <a:cs typeface="Times New Roman" panose="02020603050405020304" pitchFamily="18" charset="0"/>
              </a:rPr>
              <a:t>Le </a:t>
            </a:r>
            <a:r>
              <a:rPr lang="fr-FR" sz="2100" b="1" dirty="0">
                <a:solidFill>
                  <a:srgbClr val="C00000"/>
                </a:solidFill>
                <a:latin typeface="Times New Roman" panose="02020603050405020304" pitchFamily="18" charset="0"/>
                <a:cs typeface="Times New Roman" panose="02020603050405020304" pitchFamily="18" charset="0"/>
              </a:rPr>
              <a:t>worker </a:t>
            </a:r>
            <a:r>
              <a:rPr lang="fr-FR" sz="2100" b="1" dirty="0" err="1">
                <a:solidFill>
                  <a:srgbClr val="C00000"/>
                </a:solidFill>
                <a:latin typeface="Times New Roman" panose="02020603050405020304" pitchFamily="18" charset="0"/>
                <a:cs typeface="Times New Roman" panose="02020603050405020304" pitchFamily="18" charset="0"/>
              </a:rPr>
              <a:t>node</a:t>
            </a:r>
            <a:r>
              <a:rPr lang="fr-FR" sz="2100" b="1" dirty="0">
                <a:solidFill>
                  <a:srgbClr val="C00000"/>
                </a:solidFill>
                <a:latin typeface="Times New Roman" panose="02020603050405020304" pitchFamily="18" charset="0"/>
                <a:cs typeface="Times New Roman" panose="02020603050405020304" pitchFamily="18" charset="0"/>
              </a:rPr>
              <a:t> </a:t>
            </a:r>
            <a:r>
              <a:rPr lang="fr-FR" sz="2100" dirty="0" smtClean="0">
                <a:latin typeface="Times New Roman" panose="02020603050405020304" pitchFamily="18" charset="0"/>
                <a:cs typeface="Times New Roman" panose="02020603050405020304" pitchFamily="18" charset="0"/>
              </a:rPr>
              <a:t>est </a:t>
            </a:r>
            <a:r>
              <a:rPr lang="fr-FR" sz="2100" dirty="0">
                <a:latin typeface="Times New Roman" panose="02020603050405020304" pitchFamily="18" charset="0"/>
                <a:cs typeface="Times New Roman" panose="02020603050405020304" pitchFamily="18" charset="0"/>
              </a:rPr>
              <a:t>appelé </a:t>
            </a:r>
            <a:r>
              <a:rPr lang="fr-FR" sz="2100" b="1" dirty="0">
                <a:latin typeface="Times New Roman" panose="02020603050405020304" pitchFamily="18" charset="0"/>
                <a:cs typeface="Times New Roman" panose="02020603050405020304" pitchFamily="18" charset="0"/>
              </a:rPr>
              <a:t>superviseur</a:t>
            </a:r>
            <a:r>
              <a:rPr lang="fr-FR" sz="2100" dirty="0">
                <a:latin typeface="Times New Roman" panose="02020603050405020304" pitchFamily="18" charset="0"/>
                <a:cs typeface="Times New Roman" panose="02020603050405020304" pitchFamily="18" charset="0"/>
              </a:rPr>
              <a:t>. Cela fonctionne lorsque Nimbus lui attribue un processus spécifique. Ainsi, chaque sous-processus d'une topologie fonctionne avec de nombreuses machines distribuées. </a:t>
            </a:r>
            <a:r>
              <a:rPr lang="fr-FR" sz="2100" b="1" dirty="0">
                <a:latin typeface="Times New Roman" panose="02020603050405020304" pitchFamily="18" charset="0"/>
                <a:cs typeface="Times New Roman" panose="02020603050405020304" pitchFamily="18" charset="0"/>
              </a:rPr>
              <a:t>Zookeeper</a:t>
            </a:r>
            <a:r>
              <a:rPr lang="fr-FR" sz="2100" dirty="0">
                <a:latin typeface="Times New Roman" panose="02020603050405020304" pitchFamily="18" charset="0"/>
                <a:cs typeface="Times New Roman" panose="02020603050405020304" pitchFamily="18" charset="0"/>
              </a:rPr>
              <a:t> joue le rôle de coordinateur entre Nimbus et les superviseurs..</a:t>
            </a:r>
          </a:p>
        </p:txBody>
      </p:sp>
      <p:pic>
        <p:nvPicPr>
          <p:cNvPr id="10" name="Image 9">
            <a:extLst>
              <a:ext uri="{FF2B5EF4-FFF2-40B4-BE49-F238E27FC236}">
                <a16:creationId xmlns:a16="http://schemas.microsoft.com/office/drawing/2014/main" id="{E3B80B4B-7808-410F-86D3-733A2F8DA817}"/>
              </a:ext>
            </a:extLst>
          </p:cNvPr>
          <p:cNvPicPr>
            <a:picLocks noChangeAspect="1"/>
          </p:cNvPicPr>
          <p:nvPr/>
        </p:nvPicPr>
        <p:blipFill>
          <a:blip r:embed="rId3"/>
          <a:stretch>
            <a:fillRect/>
          </a:stretch>
        </p:blipFill>
        <p:spPr>
          <a:xfrm>
            <a:off x="6742661" y="1450225"/>
            <a:ext cx="4991100" cy="3454284"/>
          </a:xfrm>
          <a:prstGeom prst="rect">
            <a:avLst/>
          </a:prstGeom>
        </p:spPr>
      </p:pic>
      <p:sp>
        <p:nvSpPr>
          <p:cNvPr id="11" name="ZoneTexte 10">
            <a:extLst>
              <a:ext uri="{FF2B5EF4-FFF2-40B4-BE49-F238E27FC236}">
                <a16:creationId xmlns:a16="http://schemas.microsoft.com/office/drawing/2014/main" id="{5B6B905F-B85A-49CA-8548-424E239EEB44}"/>
              </a:ext>
            </a:extLst>
          </p:cNvPr>
          <p:cNvSpPr txBox="1"/>
          <p:nvPr/>
        </p:nvSpPr>
        <p:spPr>
          <a:xfrm>
            <a:off x="6616931" y="5223109"/>
            <a:ext cx="5575069" cy="769441"/>
          </a:xfrm>
          <a:prstGeom prst="rect">
            <a:avLst/>
          </a:prstGeom>
          <a:noFill/>
        </p:spPr>
        <p:txBody>
          <a:bodyPr wrap="square" rtlCol="0">
            <a:spAutoFit/>
          </a:bodyPr>
          <a:lstStyle/>
          <a:p>
            <a:pPr algn="ctr"/>
            <a:r>
              <a:rPr lang="fr-FR" sz="2200" b="1" dirty="0">
                <a:latin typeface="Times New Roman" panose="02020603050405020304" pitchFamily="18" charset="0"/>
                <a:cs typeface="Times New Roman" panose="02020603050405020304" pitchFamily="18" charset="0"/>
              </a:rPr>
              <a:t>Figure 6</a:t>
            </a:r>
            <a:r>
              <a:rPr lang="fr-FR" sz="2200" dirty="0">
                <a:latin typeface="Times New Roman" panose="02020603050405020304" pitchFamily="18" charset="0"/>
                <a:cs typeface="Times New Roman" panose="02020603050405020304" pitchFamily="18" charset="0"/>
              </a:rPr>
              <a:t> : Architecture de Storm </a:t>
            </a:r>
          </a:p>
          <a:p>
            <a:pPr algn="ctr"/>
            <a:r>
              <a:rPr lang="fr-FR" sz="2200" dirty="0">
                <a:latin typeface="Times New Roman" panose="02020603050405020304" pitchFamily="18" charset="0"/>
                <a:cs typeface="Times New Roman" panose="02020603050405020304" pitchFamily="18" charset="0"/>
              </a:rPr>
              <a:t>(</a:t>
            </a:r>
            <a:r>
              <a:rPr lang="fr-FR" sz="2200" dirty="0">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Gupta et </a:t>
            </a:r>
            <a:r>
              <a:rPr lang="fr-FR" sz="2200" dirty="0" err="1">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Parveen</a:t>
            </a:r>
            <a:r>
              <a:rPr lang="fr-FR" sz="2200" dirty="0">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 2019)</a:t>
            </a:r>
            <a:endParaRPr lang="fr-FR"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2879124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28338549-9798-4B5D-B301-38EC55CD42A2}"/>
              </a:ext>
            </a:extLst>
          </p:cNvPr>
          <p:cNvSpPr txBox="1"/>
          <p:nvPr/>
        </p:nvSpPr>
        <p:spPr>
          <a:xfrm>
            <a:off x="320040" y="162185"/>
            <a:ext cx="6828905" cy="646331"/>
          </a:xfrm>
          <a:prstGeom prst="rect">
            <a:avLst/>
          </a:prstGeom>
          <a:noFill/>
        </p:spPr>
        <p:txBody>
          <a:bodyPr wrap="square">
            <a:spAutoFit/>
          </a:bodyPr>
          <a:lstStyle/>
          <a:p>
            <a:pPr marR="0" lvl="0" algn="l" defTabSz="914400" rtl="0" eaLnBrk="1" fontAlgn="auto" latinLnBrk="0" hangingPunct="1">
              <a:spcBef>
                <a:spcPts val="0"/>
              </a:spcBef>
              <a:spcAft>
                <a:spcPts val="0"/>
              </a:spcAft>
              <a:buClrTx/>
              <a:buSzTx/>
              <a:tabLst/>
              <a:defRPr/>
            </a:pPr>
            <a:r>
              <a:rPr kumimoji="0" lang="fr-FR" sz="3600" b="1" i="0" u="none" strike="noStrike" kern="1200" cap="none" spc="0" normalizeH="0" baseline="0" noProof="0" dirty="0">
                <a:ln>
                  <a:noFill/>
                </a:ln>
                <a:solidFill>
                  <a:srgbClr val="C00000"/>
                </a:solidFill>
                <a:effectLst/>
                <a:uLnTx/>
                <a:uFillTx/>
                <a:latin typeface="Times New Roman" panose="02020603050405020304" pitchFamily="18" charset="0"/>
                <a:ea typeface="+mn-ea"/>
                <a:cs typeface="Times New Roman" panose="02020603050405020304" pitchFamily="18" charset="0"/>
              </a:rPr>
              <a:t>5.3.5 Architecture d’Apache </a:t>
            </a:r>
            <a:r>
              <a:rPr lang="fr-FR" sz="3600" b="1" dirty="0">
                <a:solidFill>
                  <a:srgbClr val="C00000"/>
                </a:solidFill>
                <a:latin typeface="Times New Roman" panose="02020603050405020304" pitchFamily="18" charset="0"/>
                <a:cs typeface="Times New Roman" panose="02020603050405020304" pitchFamily="18" charset="0"/>
              </a:rPr>
              <a:t>Flink </a:t>
            </a:r>
            <a:endParaRPr kumimoji="0" lang="fr-FR" sz="3600" b="1" i="0" u="none" strike="noStrike" kern="1200" cap="none" spc="0" normalizeH="0" baseline="0" noProof="0" dirty="0">
              <a:ln>
                <a:noFill/>
              </a:ln>
              <a:solidFill>
                <a:srgbClr val="C00000"/>
              </a:solidFill>
              <a:effectLst/>
              <a:uLnTx/>
              <a:uFillTx/>
              <a:latin typeface="Times New Roman" panose="02020603050405020304" pitchFamily="18" charset="0"/>
              <a:ea typeface="+mn-ea"/>
              <a:cs typeface="Times New Roman" panose="02020603050405020304" pitchFamily="18" charset="0"/>
            </a:endParaRPr>
          </a:p>
        </p:txBody>
      </p:sp>
      <p:pic>
        <p:nvPicPr>
          <p:cNvPr id="4" name="Image 3">
            <a:extLst>
              <a:ext uri="{FF2B5EF4-FFF2-40B4-BE49-F238E27FC236}">
                <a16:creationId xmlns:a16="http://schemas.microsoft.com/office/drawing/2014/main" id="{A8FB3418-67DC-48CC-AE9E-CEEA94FD9A45}"/>
              </a:ext>
            </a:extLst>
          </p:cNvPr>
          <p:cNvPicPr>
            <a:picLocks noChangeAspect="1"/>
          </p:cNvPicPr>
          <p:nvPr/>
        </p:nvPicPr>
        <p:blipFill>
          <a:blip r:embed="rId3"/>
          <a:stretch>
            <a:fillRect/>
          </a:stretch>
        </p:blipFill>
        <p:spPr>
          <a:xfrm>
            <a:off x="6991866" y="613960"/>
            <a:ext cx="4625686" cy="5335602"/>
          </a:xfrm>
          <a:prstGeom prst="rect">
            <a:avLst/>
          </a:prstGeom>
        </p:spPr>
      </p:pic>
      <p:sp>
        <p:nvSpPr>
          <p:cNvPr id="5" name="ZoneTexte 4">
            <a:extLst>
              <a:ext uri="{FF2B5EF4-FFF2-40B4-BE49-F238E27FC236}">
                <a16:creationId xmlns:a16="http://schemas.microsoft.com/office/drawing/2014/main" id="{600F04FB-9185-4EB5-AEF4-3EC148B234B7}"/>
              </a:ext>
            </a:extLst>
          </p:cNvPr>
          <p:cNvSpPr txBox="1"/>
          <p:nvPr/>
        </p:nvSpPr>
        <p:spPr>
          <a:xfrm>
            <a:off x="6616931" y="6057026"/>
            <a:ext cx="5575069" cy="769441"/>
          </a:xfrm>
          <a:prstGeom prst="rect">
            <a:avLst/>
          </a:prstGeom>
          <a:noFill/>
        </p:spPr>
        <p:txBody>
          <a:bodyPr wrap="square" rtlCol="0">
            <a:spAutoFit/>
          </a:bodyPr>
          <a:lstStyle/>
          <a:p>
            <a:pPr algn="ctr"/>
            <a:r>
              <a:rPr lang="fr-FR" sz="2200" b="1" dirty="0">
                <a:latin typeface="Times New Roman" panose="02020603050405020304" pitchFamily="18" charset="0"/>
                <a:cs typeface="Times New Roman" panose="02020603050405020304" pitchFamily="18" charset="0"/>
              </a:rPr>
              <a:t>Figure 7</a:t>
            </a:r>
            <a:r>
              <a:rPr lang="fr-FR" sz="2200" dirty="0">
                <a:latin typeface="Times New Roman" panose="02020603050405020304" pitchFamily="18" charset="0"/>
                <a:cs typeface="Times New Roman" panose="02020603050405020304" pitchFamily="18" charset="0"/>
              </a:rPr>
              <a:t> : Architecture de Flink </a:t>
            </a:r>
          </a:p>
          <a:p>
            <a:pPr algn="ctr"/>
            <a:r>
              <a:rPr lang="fr-FR" sz="2200" dirty="0">
                <a:latin typeface="Times New Roman" panose="02020603050405020304" pitchFamily="18" charset="0"/>
                <a:cs typeface="Times New Roman" panose="02020603050405020304" pitchFamily="18" charset="0"/>
              </a:rPr>
              <a:t>(</a:t>
            </a:r>
            <a:r>
              <a:rPr lang="fr-FR" sz="2200" dirty="0">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Gupta et </a:t>
            </a:r>
            <a:r>
              <a:rPr lang="fr-FR" sz="2200" dirty="0" err="1">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Parveen</a:t>
            </a:r>
            <a:r>
              <a:rPr lang="fr-FR" sz="2200" dirty="0">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 2019)</a:t>
            </a:r>
            <a:endParaRPr lang="fr-FR" sz="2200" dirty="0">
              <a:latin typeface="Times New Roman" panose="02020603050405020304" pitchFamily="18" charset="0"/>
              <a:cs typeface="Times New Roman" panose="02020603050405020304" pitchFamily="18" charset="0"/>
            </a:endParaRPr>
          </a:p>
        </p:txBody>
      </p:sp>
      <p:sp>
        <p:nvSpPr>
          <p:cNvPr id="7" name="ZoneTexte 6">
            <a:extLst>
              <a:ext uri="{FF2B5EF4-FFF2-40B4-BE49-F238E27FC236}">
                <a16:creationId xmlns:a16="http://schemas.microsoft.com/office/drawing/2014/main" id="{413C8C68-0990-4253-9757-BB73DE9DAB56}"/>
              </a:ext>
            </a:extLst>
          </p:cNvPr>
          <p:cNvSpPr txBox="1"/>
          <p:nvPr/>
        </p:nvSpPr>
        <p:spPr>
          <a:xfrm>
            <a:off x="320040" y="852425"/>
            <a:ext cx="6093228" cy="5875455"/>
          </a:xfrm>
          <a:prstGeom prst="rect">
            <a:avLst/>
          </a:prstGeom>
          <a:noFill/>
        </p:spPr>
        <p:txBody>
          <a:bodyPr wrap="square">
            <a:spAutoFit/>
          </a:bodyPr>
          <a:lstStyle/>
          <a:p>
            <a:pPr algn="just">
              <a:lnSpc>
                <a:spcPct val="120000"/>
              </a:lnSpc>
            </a:pPr>
            <a:r>
              <a:rPr lang="fr-FR" sz="2100" dirty="0">
                <a:latin typeface="Times New Roman" panose="02020603050405020304" pitchFamily="18" charset="0"/>
                <a:cs typeface="Times New Roman" panose="02020603050405020304" pitchFamily="18" charset="0"/>
              </a:rPr>
              <a:t>L’architecture de Flink est composée de  5 couches : </a:t>
            </a:r>
          </a:p>
          <a:p>
            <a:pPr marL="342900" indent="-342900" algn="just">
              <a:lnSpc>
                <a:spcPct val="120000"/>
              </a:lnSpc>
              <a:buAutoNum type="arabicPeriod"/>
            </a:pPr>
            <a:r>
              <a:rPr lang="fr-FR" sz="2100" dirty="0">
                <a:latin typeface="Times New Roman" panose="02020603050405020304" pitchFamily="18" charset="0"/>
                <a:cs typeface="Times New Roman" panose="02020603050405020304" pitchFamily="18" charset="0"/>
              </a:rPr>
              <a:t>La </a:t>
            </a:r>
            <a:r>
              <a:rPr lang="fr-FR" sz="2100" b="1" dirty="0">
                <a:latin typeface="Times New Roman" panose="02020603050405020304" pitchFamily="18" charset="0"/>
                <a:cs typeface="Times New Roman" panose="02020603050405020304" pitchFamily="18" charset="0"/>
              </a:rPr>
              <a:t>couche de stockage </a:t>
            </a:r>
            <a:r>
              <a:rPr lang="fr-FR" sz="2100" dirty="0">
                <a:latin typeface="Times New Roman" panose="02020603050405020304" pitchFamily="18" charset="0"/>
                <a:cs typeface="Times New Roman" panose="02020603050405020304" pitchFamily="18" charset="0"/>
              </a:rPr>
              <a:t>peut lire et écrire les données à partir de plusieurs destinations telles que HDFS, des fichiers locaux, etc. </a:t>
            </a:r>
          </a:p>
          <a:p>
            <a:pPr marL="342900" indent="-342900" algn="just">
              <a:lnSpc>
                <a:spcPct val="120000"/>
              </a:lnSpc>
              <a:buAutoNum type="arabicPeriod"/>
            </a:pPr>
            <a:r>
              <a:rPr lang="fr-FR" sz="2100" dirty="0">
                <a:latin typeface="Times New Roman" panose="02020603050405020304" pitchFamily="18" charset="0"/>
                <a:cs typeface="Times New Roman" panose="02020603050405020304" pitchFamily="18" charset="0"/>
              </a:rPr>
              <a:t>La </a:t>
            </a:r>
            <a:r>
              <a:rPr lang="fr-FR" sz="2100" b="1" dirty="0">
                <a:latin typeface="Times New Roman" panose="02020603050405020304" pitchFamily="18" charset="0"/>
                <a:cs typeface="Times New Roman" panose="02020603050405020304" pitchFamily="18" charset="0"/>
              </a:rPr>
              <a:t>couche de déploiement et de gestion des ressources </a:t>
            </a:r>
            <a:r>
              <a:rPr lang="fr-FR" sz="2100" dirty="0">
                <a:latin typeface="Times New Roman" panose="02020603050405020304" pitchFamily="18" charset="0"/>
                <a:cs typeface="Times New Roman" panose="02020603050405020304" pitchFamily="18" charset="0"/>
              </a:rPr>
              <a:t>contient le gestionnaire de cluster pour gérer les tâches de planification, de surveillance des travaux et de gestion des ressources.</a:t>
            </a:r>
          </a:p>
          <a:p>
            <a:pPr marL="342900" indent="-342900" algn="just">
              <a:lnSpc>
                <a:spcPct val="120000"/>
              </a:lnSpc>
              <a:buAutoNum type="arabicPeriod"/>
            </a:pPr>
            <a:r>
              <a:rPr lang="fr-FR" sz="2100" b="1" dirty="0">
                <a:latin typeface="Times New Roman" panose="02020603050405020304" pitchFamily="18" charset="0"/>
                <a:cs typeface="Times New Roman" panose="02020603050405020304" pitchFamily="18" charset="0"/>
              </a:rPr>
              <a:t>La couche noyau </a:t>
            </a:r>
            <a:r>
              <a:rPr lang="fr-FR" sz="2100" dirty="0">
                <a:latin typeface="Times New Roman" panose="02020603050405020304" pitchFamily="18" charset="0"/>
                <a:cs typeface="Times New Roman" panose="02020603050405020304" pitchFamily="18" charset="0"/>
              </a:rPr>
              <a:t>pour le moteur de traitement en temps </a:t>
            </a:r>
            <a:r>
              <a:rPr lang="fr-FR" sz="2100" dirty="0" smtClean="0">
                <a:latin typeface="Times New Roman" panose="02020603050405020304" pitchFamily="18" charset="0"/>
                <a:cs typeface="Times New Roman" panose="02020603050405020304" pitchFamily="18" charset="0"/>
              </a:rPr>
              <a:t>réel (real time </a:t>
            </a:r>
            <a:r>
              <a:rPr lang="fr-FR" sz="2100" dirty="0" err="1" smtClean="0">
                <a:latin typeface="Times New Roman" panose="02020603050405020304" pitchFamily="18" charset="0"/>
                <a:cs typeface="Times New Roman" panose="02020603050405020304" pitchFamily="18" charset="0"/>
              </a:rPr>
              <a:t>proccessing</a:t>
            </a:r>
            <a:r>
              <a:rPr lang="fr-FR" sz="2100" dirty="0" smtClean="0">
                <a:latin typeface="Times New Roman" panose="02020603050405020304" pitchFamily="18" charset="0"/>
                <a:cs typeface="Times New Roman" panose="02020603050405020304" pitchFamily="18" charset="0"/>
              </a:rPr>
              <a:t>). </a:t>
            </a:r>
            <a:endParaRPr lang="fr-FR" sz="2100" dirty="0">
              <a:latin typeface="Times New Roman" panose="02020603050405020304" pitchFamily="18" charset="0"/>
              <a:cs typeface="Times New Roman" panose="02020603050405020304" pitchFamily="18" charset="0"/>
            </a:endParaRPr>
          </a:p>
          <a:p>
            <a:pPr marL="342900" indent="-342900" algn="just">
              <a:lnSpc>
                <a:spcPct val="120000"/>
              </a:lnSpc>
              <a:buAutoNum type="arabicPeriod"/>
            </a:pPr>
            <a:r>
              <a:rPr lang="fr-FR" sz="2100" dirty="0">
                <a:latin typeface="Times New Roman" panose="02020603050405020304" pitchFamily="18" charset="0"/>
                <a:cs typeface="Times New Roman" panose="02020603050405020304" pitchFamily="18" charset="0"/>
              </a:rPr>
              <a:t> La couche </a:t>
            </a:r>
            <a:r>
              <a:rPr lang="fr-FR" sz="2100" b="1" dirty="0">
                <a:latin typeface="Times New Roman" panose="02020603050405020304" pitchFamily="18" charset="0"/>
                <a:cs typeface="Times New Roman" panose="02020603050405020304" pitchFamily="18" charset="0"/>
              </a:rPr>
              <a:t>d'interface de programmation d'application pour</a:t>
            </a:r>
            <a:r>
              <a:rPr lang="fr-FR" sz="2100" dirty="0">
                <a:latin typeface="Times New Roman" panose="02020603050405020304" pitchFamily="18" charset="0"/>
                <a:cs typeface="Times New Roman" panose="02020603050405020304" pitchFamily="18" charset="0"/>
              </a:rPr>
              <a:t> :  batch API et streaming API. </a:t>
            </a:r>
          </a:p>
          <a:p>
            <a:pPr marL="342900" indent="-342900" algn="just">
              <a:lnSpc>
                <a:spcPct val="120000"/>
              </a:lnSpc>
              <a:buAutoNum type="arabicPeriod"/>
            </a:pPr>
            <a:r>
              <a:rPr lang="fr-FR" sz="2100" dirty="0">
                <a:latin typeface="Times New Roman" panose="02020603050405020304" pitchFamily="18" charset="0"/>
                <a:cs typeface="Times New Roman" panose="02020603050405020304" pitchFamily="18" charset="0"/>
              </a:rPr>
              <a:t>La couche supérieure est </a:t>
            </a:r>
            <a:r>
              <a:rPr lang="fr-FR" sz="2100" b="1" dirty="0">
                <a:latin typeface="Times New Roman" panose="02020603050405020304" pitchFamily="18" charset="0"/>
                <a:cs typeface="Times New Roman" panose="02020603050405020304" pitchFamily="18" charset="0"/>
              </a:rPr>
              <a:t>une bibliothèque </a:t>
            </a:r>
            <a:r>
              <a:rPr lang="fr-FR" sz="2100" dirty="0">
                <a:latin typeface="Times New Roman" panose="02020603050405020304" pitchFamily="18" charset="0"/>
                <a:cs typeface="Times New Roman" panose="02020603050405020304" pitchFamily="18" charset="0"/>
              </a:rPr>
              <a:t>dans laquelle le programme est écrit en langage de programmation Java ou Scala. </a:t>
            </a:r>
          </a:p>
        </p:txBody>
      </p:sp>
    </p:spTree>
    <p:extLst>
      <p:ext uri="{BB962C8B-B14F-4D97-AF65-F5344CB8AC3E}">
        <p14:creationId xmlns:p14="http://schemas.microsoft.com/office/powerpoint/2010/main" val="391646273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ZoneTexte 4">
            <a:extLst>
              <a:ext uri="{FF2B5EF4-FFF2-40B4-BE49-F238E27FC236}">
                <a16:creationId xmlns:a16="http://schemas.microsoft.com/office/drawing/2014/main" id="{3262442B-F697-428C-BD8C-4B3779D36C34}"/>
              </a:ext>
            </a:extLst>
          </p:cNvPr>
          <p:cNvSpPr txBox="1"/>
          <p:nvPr/>
        </p:nvSpPr>
        <p:spPr>
          <a:xfrm>
            <a:off x="289321" y="62037"/>
            <a:ext cx="10417472" cy="646331"/>
          </a:xfrm>
          <a:prstGeom prst="rect">
            <a:avLst/>
          </a:prstGeom>
          <a:noFill/>
        </p:spPr>
        <p:txBody>
          <a:bodyPr wrap="square">
            <a:spAutoFit/>
          </a:bodyPr>
          <a:lstStyle/>
          <a:p>
            <a:pPr marR="0" lvl="0" algn="l" defTabSz="914400" rtl="0" eaLnBrk="1" fontAlgn="auto" latinLnBrk="0" hangingPunct="1">
              <a:spcBef>
                <a:spcPts val="0"/>
              </a:spcBef>
              <a:spcAft>
                <a:spcPts val="0"/>
              </a:spcAft>
              <a:buClrTx/>
              <a:buSzTx/>
              <a:tabLst/>
              <a:defRPr/>
            </a:pPr>
            <a:r>
              <a:rPr kumimoji="0" lang="fr-FR" sz="3600" b="1" i="0" u="none" strike="noStrike" kern="1200" cap="none" spc="0" normalizeH="0" baseline="0" noProof="0" dirty="0">
                <a:ln>
                  <a:noFill/>
                </a:ln>
                <a:solidFill>
                  <a:srgbClr val="C00000"/>
                </a:solidFill>
                <a:effectLst/>
                <a:uLnTx/>
                <a:uFillTx/>
                <a:latin typeface="Times New Roman" panose="02020603050405020304" pitchFamily="18" charset="0"/>
                <a:cs typeface="Times New Roman" panose="02020603050405020304" pitchFamily="18" charset="0"/>
              </a:rPr>
              <a:t>6. Quelques Domaines d’Application du Big Data</a:t>
            </a:r>
          </a:p>
        </p:txBody>
      </p:sp>
      <p:sp>
        <p:nvSpPr>
          <p:cNvPr id="4" name="ZoneTexte 3">
            <a:extLst>
              <a:ext uri="{FF2B5EF4-FFF2-40B4-BE49-F238E27FC236}">
                <a16:creationId xmlns:a16="http://schemas.microsoft.com/office/drawing/2014/main" id="{7FC47D2F-B65E-41DB-AAA0-B19D9C2FB07A}"/>
              </a:ext>
            </a:extLst>
          </p:cNvPr>
          <p:cNvSpPr txBox="1"/>
          <p:nvPr/>
        </p:nvSpPr>
        <p:spPr>
          <a:xfrm>
            <a:off x="289321" y="646812"/>
            <a:ext cx="11381747" cy="6159122"/>
          </a:xfrm>
          <a:prstGeom prst="rect">
            <a:avLst/>
          </a:prstGeom>
          <a:noFill/>
        </p:spPr>
        <p:txBody>
          <a:bodyPr wrap="square">
            <a:spAutoFit/>
          </a:bodyPr>
          <a:lstStyle/>
          <a:p>
            <a:pPr marL="800100" indent="-342900" algn="just">
              <a:lnSpc>
                <a:spcPct val="120000"/>
              </a:lnSpc>
              <a:spcAft>
                <a:spcPts val="800"/>
              </a:spcAft>
              <a:buFont typeface="+mj-lt"/>
              <a:buAutoNum type="arabicParenR"/>
            </a:pPr>
            <a:r>
              <a:rPr lang="fr-FR" sz="2200" b="1" dirty="0">
                <a:solidFill>
                  <a:srgbClr val="C00000"/>
                </a:solidFill>
                <a:effectLst/>
                <a:latin typeface="Times New Roman" panose="02020603050405020304" pitchFamily="18" charset="0"/>
                <a:ea typeface="Times New Roman" panose="02020603050405020304" pitchFamily="18" charset="0"/>
                <a:cs typeface="Times New Roman" panose="02020603050405020304" pitchFamily="18" charset="0"/>
              </a:rPr>
              <a:t>Analyse du comportement des clients </a:t>
            </a:r>
          </a:p>
          <a:p>
            <a:pPr marL="898525" indent="-28575" algn="just">
              <a:lnSpc>
                <a:spcPct val="120000"/>
              </a:lnSpc>
              <a:spcAft>
                <a:spcPts val="800"/>
              </a:spcAft>
              <a:buFont typeface="Wingdings" panose="05000000000000000000" pitchFamily="2" charset="2"/>
              <a:buChar char="v"/>
            </a:pPr>
            <a:r>
              <a:rPr lang="fr-FR" sz="2200" b="1" dirty="0">
                <a:latin typeface="Times New Roman" panose="02020603050405020304" pitchFamily="18" charset="0"/>
                <a:ea typeface="Times New Roman" panose="02020603050405020304" pitchFamily="18" charset="0"/>
                <a:cs typeface="Times New Roman" panose="02020603050405020304" pitchFamily="18" charset="0"/>
              </a:rPr>
              <a:t>    </a:t>
            </a:r>
            <a:r>
              <a:rPr lang="fr-FR" sz="2200" dirty="0">
                <a:latin typeface="Times New Roman" panose="02020603050405020304" pitchFamily="18" charset="0"/>
                <a:ea typeface="Times New Roman" panose="02020603050405020304" pitchFamily="18" charset="0"/>
                <a:cs typeface="Times New Roman" panose="02020603050405020304" pitchFamily="18" charset="0"/>
              </a:rPr>
              <a:t>L’analyse des</a:t>
            </a:r>
            <a:r>
              <a:rPr lang="fr-FR" sz="2200" dirty="0">
                <a:effectLst/>
                <a:latin typeface="Times New Roman" panose="02020603050405020304" pitchFamily="18" charset="0"/>
                <a:ea typeface="Times New Roman" panose="02020603050405020304" pitchFamily="18" charset="0"/>
                <a:cs typeface="Times New Roman" panose="02020603050405020304" pitchFamily="18" charset="0"/>
              </a:rPr>
              <a:t> journaux Web (web log)  des sites </a:t>
            </a:r>
            <a:r>
              <a:rPr lang="fr-FR" sz="2200" dirty="0">
                <a:latin typeface="Times New Roman" panose="02020603050405020304" pitchFamily="18" charset="0"/>
                <a:ea typeface="Times New Roman" panose="02020603050405020304" pitchFamily="18" charset="0"/>
                <a:cs typeface="Times New Roman" panose="02020603050405020304" pitchFamily="18" charset="0"/>
              </a:rPr>
              <a:t>de </a:t>
            </a:r>
            <a:r>
              <a:rPr lang="fr-FR" sz="2200" dirty="0">
                <a:effectLst/>
                <a:latin typeface="Times New Roman" panose="02020603050405020304" pitchFamily="18" charset="0"/>
                <a:ea typeface="Times New Roman" panose="02020603050405020304" pitchFamily="18" charset="0"/>
                <a:cs typeface="Times New Roman" panose="02020603050405020304" pitchFamily="18" charset="0"/>
              </a:rPr>
              <a:t>commerce électronique ;</a:t>
            </a:r>
          </a:p>
          <a:p>
            <a:pPr marL="1346200" indent="-447675" algn="just">
              <a:lnSpc>
                <a:spcPct val="120000"/>
              </a:lnSpc>
              <a:spcAft>
                <a:spcPts val="800"/>
              </a:spcAft>
              <a:buFont typeface="Wingdings" panose="05000000000000000000" pitchFamily="2" charset="2"/>
              <a:buChar char="v"/>
            </a:pPr>
            <a:r>
              <a:rPr lang="fr-FR" sz="2200" dirty="0">
                <a:latin typeface="Times New Roman" panose="02020603050405020304" pitchFamily="18" charset="0"/>
                <a:ea typeface="Times New Roman" panose="02020603050405020304" pitchFamily="18" charset="0"/>
                <a:cs typeface="Times New Roman" panose="02020603050405020304" pitchFamily="18" charset="0"/>
              </a:rPr>
              <a:t> L’analyse des journaux d’appel des abonnés par des </a:t>
            </a:r>
            <a:r>
              <a:rPr lang="fr-FR" sz="2200" dirty="0">
                <a:effectLst/>
                <a:latin typeface="Times New Roman" panose="02020603050405020304" pitchFamily="18" charset="0"/>
                <a:ea typeface="Times New Roman" panose="02020603050405020304" pitchFamily="18" charset="0"/>
                <a:cs typeface="Times New Roman" panose="02020603050405020304" pitchFamily="18" charset="0"/>
              </a:rPr>
              <a:t>entreprises de télécommunications; </a:t>
            </a:r>
          </a:p>
          <a:p>
            <a:pPr marL="1081088" indent="-28575" algn="just">
              <a:lnSpc>
                <a:spcPct val="120000"/>
              </a:lnSpc>
              <a:spcAft>
                <a:spcPts val="800"/>
              </a:spcAft>
              <a:buFont typeface="Wingdings" panose="05000000000000000000" pitchFamily="2" charset="2"/>
              <a:buChar char="v"/>
            </a:pPr>
            <a:r>
              <a:rPr lang="fr-FR" sz="2200" dirty="0">
                <a:latin typeface="Times New Roman" panose="02020603050405020304" pitchFamily="18" charset="0"/>
                <a:ea typeface="Times New Roman" panose="02020603050405020304" pitchFamily="18" charset="0"/>
                <a:cs typeface="Times New Roman" panose="02020603050405020304" pitchFamily="18" charset="0"/>
              </a:rPr>
              <a:t>    L’analyse des journaux d’achat dans les grands supermarchés</a:t>
            </a:r>
            <a:endParaRPr lang="fr-FR" sz="2200" b="1"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457200" algn="just">
              <a:lnSpc>
                <a:spcPct val="120000"/>
              </a:lnSpc>
              <a:spcAft>
                <a:spcPts val="800"/>
              </a:spcAft>
            </a:pPr>
            <a:r>
              <a:rPr lang="fr-FR" sz="2200" b="1" dirty="0">
                <a:solidFill>
                  <a:srgbClr val="C00000"/>
                </a:solidFill>
                <a:latin typeface="Times New Roman" panose="02020603050405020304" pitchFamily="18" charset="0"/>
                <a:cs typeface="Times New Roman" panose="02020603050405020304" pitchFamily="18" charset="0"/>
              </a:rPr>
              <a:t>2) Systèmes de recommandation aux clients </a:t>
            </a:r>
          </a:p>
          <a:p>
            <a:pPr marL="457200" algn="just">
              <a:lnSpc>
                <a:spcPct val="120000"/>
              </a:lnSpc>
              <a:spcAft>
                <a:spcPts val="800"/>
              </a:spcAft>
            </a:pPr>
            <a:r>
              <a:rPr lang="fr-FR" sz="2200" b="1" dirty="0">
                <a:solidFill>
                  <a:srgbClr val="C00000"/>
                </a:solidFill>
                <a:effectLst/>
                <a:latin typeface="Times New Roman" panose="02020603050405020304" pitchFamily="18" charset="0"/>
                <a:ea typeface="Times New Roman" panose="02020603050405020304" pitchFamily="18" charset="0"/>
                <a:cs typeface="Times New Roman" panose="02020603050405020304" pitchFamily="18" charset="0"/>
              </a:rPr>
              <a:t>3) Secteur de la vente au détail (</a:t>
            </a:r>
            <a:r>
              <a:rPr lang="fr-FR" sz="2200" b="1" dirty="0" err="1">
                <a:solidFill>
                  <a:srgbClr val="C00000"/>
                </a:solidFill>
                <a:effectLst/>
                <a:latin typeface="Times New Roman" panose="02020603050405020304" pitchFamily="18" charset="0"/>
                <a:ea typeface="Calibri" panose="020F0502020204030204" pitchFamily="34" charset="0"/>
                <a:cs typeface="Times New Roman" panose="02020603050405020304" pitchFamily="18" charset="0"/>
              </a:rPr>
              <a:t>Retail</a:t>
            </a:r>
            <a:r>
              <a:rPr lang="fr-FR" sz="2200" b="1" dirty="0">
                <a:solidFill>
                  <a:srgbClr val="C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fr-FR" sz="2200" b="1" dirty="0" err="1">
                <a:solidFill>
                  <a:srgbClr val="C00000"/>
                </a:solidFill>
                <a:effectLst/>
                <a:latin typeface="Times New Roman" panose="02020603050405020304" pitchFamily="18" charset="0"/>
                <a:ea typeface="Calibri" panose="020F0502020204030204" pitchFamily="34" charset="0"/>
                <a:cs typeface="Times New Roman" panose="02020603050405020304" pitchFamily="18" charset="0"/>
              </a:rPr>
              <a:t>Sector</a:t>
            </a:r>
            <a:r>
              <a:rPr lang="fr-FR" sz="2200" b="1" dirty="0">
                <a:solidFill>
                  <a:srgbClr val="C00000"/>
                </a:solidFill>
                <a:effectLst/>
                <a:latin typeface="Times New Roman" panose="02020603050405020304" pitchFamily="18" charset="0"/>
                <a:ea typeface="Calibri" panose="020F0502020204030204" pitchFamily="34" charset="0"/>
                <a:cs typeface="Times New Roman" panose="02020603050405020304" pitchFamily="18" charset="0"/>
              </a:rPr>
              <a:t>)</a:t>
            </a:r>
            <a:endParaRPr lang="fr-FR" sz="2200" dirty="0">
              <a:solidFill>
                <a:srgbClr val="C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981075" algn="just">
              <a:lnSpc>
                <a:spcPct val="120000"/>
              </a:lnSpc>
              <a:spcAft>
                <a:spcPts val="800"/>
              </a:spcAft>
            </a:pPr>
            <a:r>
              <a:rPr lang="fr-FR" sz="2200" dirty="0">
                <a:latin typeface="Times New Roman" panose="02020603050405020304" pitchFamily="18" charset="0"/>
                <a:ea typeface="Times New Roman" panose="02020603050405020304" pitchFamily="18" charset="0"/>
                <a:cs typeface="Times New Roman" panose="02020603050405020304" pitchFamily="18" charset="0"/>
              </a:rPr>
              <a:t>P</a:t>
            </a:r>
            <a:r>
              <a:rPr lang="fr-FR" sz="2200" dirty="0">
                <a:effectLst/>
                <a:latin typeface="Times New Roman" panose="02020603050405020304" pitchFamily="18" charset="0"/>
                <a:ea typeface="Times New Roman" panose="02020603050405020304" pitchFamily="18" charset="0"/>
                <a:cs typeface="Times New Roman" panose="02020603050405020304" pitchFamily="18" charset="0"/>
              </a:rPr>
              <a:t>our offrir un meilleur service et prédire quel article est le plus demandé, le détaillant utilise les données de facture du client et essaie de prédire des informations utiles pour la veille économique.</a:t>
            </a:r>
            <a:endParaRPr lang="fr-FR" sz="2200" b="1" dirty="0">
              <a:latin typeface="Times New Roman" panose="02020603050405020304" pitchFamily="18" charset="0"/>
              <a:ea typeface="Times New Roman" panose="02020603050405020304" pitchFamily="18" charset="0"/>
              <a:cs typeface="Times New Roman" panose="02020603050405020304" pitchFamily="18" charset="0"/>
            </a:endParaRPr>
          </a:p>
          <a:p>
            <a:pPr marL="266700" algn="just">
              <a:lnSpc>
                <a:spcPct val="120000"/>
              </a:lnSpc>
              <a:spcAft>
                <a:spcPts val="800"/>
              </a:spcAft>
            </a:pPr>
            <a:r>
              <a:rPr lang="fr-FR" sz="2200" b="1" dirty="0">
                <a:solidFill>
                  <a:srgbClr val="C00000"/>
                </a:solidFill>
                <a:effectLst/>
                <a:latin typeface="Times New Roman" panose="02020603050405020304" pitchFamily="18" charset="0"/>
                <a:ea typeface="Times New Roman" panose="02020603050405020304" pitchFamily="18" charset="0"/>
                <a:cs typeface="Times New Roman" panose="02020603050405020304" pitchFamily="18" charset="0"/>
              </a:rPr>
              <a:t>4) Ciblage publicitaire</a:t>
            </a:r>
          </a:p>
          <a:p>
            <a:pPr marL="631825" algn="just">
              <a:lnSpc>
                <a:spcPct val="120000"/>
              </a:lnSpc>
              <a:spcAft>
                <a:spcPts val="800"/>
              </a:spcAft>
            </a:pPr>
            <a:r>
              <a:rPr lang="fr-FR" sz="2200" dirty="0">
                <a:effectLst/>
                <a:latin typeface="Times New Roman" panose="02020603050405020304" pitchFamily="18" charset="0"/>
                <a:ea typeface="Times New Roman" panose="02020603050405020304" pitchFamily="18" charset="0"/>
                <a:cs typeface="Times New Roman" panose="02020603050405020304" pitchFamily="18" charset="0"/>
              </a:rPr>
              <a:t>Les sites des réseaux sociaux  ciblent l’utilisateur suivant les informations de son profil et ses activités afin </a:t>
            </a:r>
            <a:r>
              <a:rPr lang="fr-FR" sz="2200" dirty="0">
                <a:latin typeface="Times New Roman" panose="02020603050405020304" pitchFamily="18" charset="0"/>
                <a:ea typeface="Times New Roman" panose="02020603050405020304" pitchFamily="18" charset="0"/>
                <a:cs typeface="Times New Roman" panose="02020603050405020304" pitchFamily="18" charset="0"/>
              </a:rPr>
              <a:t>de lui montrer des publicités selon ses goûts</a:t>
            </a:r>
            <a:r>
              <a:rPr lang="fr-FR" sz="2100" dirty="0">
                <a:latin typeface="Times New Roman" panose="02020603050405020304" pitchFamily="18" charset="0"/>
                <a:ea typeface="Times New Roman" panose="02020603050405020304" pitchFamily="18" charset="0"/>
                <a:cs typeface="Times New Roman" panose="02020603050405020304" pitchFamily="18" charset="0"/>
              </a:rPr>
              <a:t>.</a:t>
            </a:r>
            <a:endParaRPr lang="fr-FR" sz="2100" b="1" dirty="0">
              <a:effectLst/>
              <a:latin typeface="Times New Roman" panose="02020603050405020304" pitchFamily="18"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4777404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55A778EC-A8AC-4A0F-9FE2-D069C7AA0801}"/>
              </a:ext>
            </a:extLst>
          </p:cNvPr>
          <p:cNvSpPr txBox="1"/>
          <p:nvPr/>
        </p:nvSpPr>
        <p:spPr>
          <a:xfrm>
            <a:off x="247151" y="264720"/>
            <a:ext cx="5089620" cy="646331"/>
          </a:xfrm>
          <a:prstGeom prst="rect">
            <a:avLst/>
          </a:prstGeom>
          <a:noFill/>
        </p:spPr>
        <p:txBody>
          <a:bodyPr wrap="square">
            <a:spAutoFit/>
          </a:bodyPr>
          <a:lstStyle/>
          <a:p>
            <a:pPr marR="0" lvl="0" algn="l" defTabSz="914400" rtl="0" eaLnBrk="1" fontAlgn="auto" latinLnBrk="0" hangingPunct="1">
              <a:spcBef>
                <a:spcPts val="0"/>
              </a:spcBef>
              <a:spcAft>
                <a:spcPts val="0"/>
              </a:spcAft>
              <a:buClrTx/>
              <a:buSzTx/>
              <a:tabLst/>
              <a:defRPr/>
            </a:pPr>
            <a:r>
              <a:rPr lang="fr-FR" sz="3600" b="1" dirty="0">
                <a:solidFill>
                  <a:srgbClr val="C00000"/>
                </a:solidFill>
                <a:latin typeface="Times New Roman" panose="02020603050405020304" pitchFamily="18" charset="0"/>
                <a:cs typeface="Times New Roman" panose="02020603050405020304" pitchFamily="18" charset="0"/>
              </a:rPr>
              <a:t>7. Les Défis du Big Data</a:t>
            </a:r>
          </a:p>
        </p:txBody>
      </p:sp>
      <p:sp>
        <p:nvSpPr>
          <p:cNvPr id="4" name="ZoneTexte 3">
            <a:extLst>
              <a:ext uri="{FF2B5EF4-FFF2-40B4-BE49-F238E27FC236}">
                <a16:creationId xmlns:a16="http://schemas.microsoft.com/office/drawing/2014/main" id="{621E08DE-D102-4D65-93B3-3DE7D3011AF4}"/>
              </a:ext>
            </a:extLst>
          </p:cNvPr>
          <p:cNvSpPr txBox="1"/>
          <p:nvPr/>
        </p:nvSpPr>
        <p:spPr>
          <a:xfrm>
            <a:off x="430031" y="1334196"/>
            <a:ext cx="10825401" cy="4189608"/>
          </a:xfrm>
          <a:prstGeom prst="rect">
            <a:avLst/>
          </a:prstGeom>
          <a:noFill/>
        </p:spPr>
        <p:txBody>
          <a:bodyPr wrap="square" rtlCol="0">
            <a:spAutoFit/>
          </a:bodyPr>
          <a:lstStyle/>
          <a:p>
            <a:pPr algn="just"/>
            <a:r>
              <a:rPr lang="fr-FR" sz="3200" dirty="0">
                <a:solidFill>
                  <a:srgbClr val="312F2F"/>
                </a:solidFill>
                <a:effectLst/>
                <a:latin typeface="Times New Roman" panose="02020603050405020304" pitchFamily="18" charset="0"/>
                <a:ea typeface="Calibri" panose="020F0502020204030204" pitchFamily="34" charset="0"/>
                <a:cs typeface="Times New Roman" panose="02020603050405020304" pitchFamily="18" charset="0"/>
              </a:rPr>
              <a:t>Les défis de l'analyse des Big Data comprennent:</a:t>
            </a:r>
          </a:p>
          <a:p>
            <a:pPr marL="342900" indent="-342900" algn="just">
              <a:lnSpc>
                <a:spcPct val="150000"/>
              </a:lnSpc>
              <a:buClr>
                <a:srgbClr val="C00000"/>
              </a:buClr>
              <a:buFont typeface="Wingdings" panose="05000000000000000000" pitchFamily="2" charset="2"/>
              <a:buChar char="v"/>
            </a:pPr>
            <a:r>
              <a:rPr lang="fr-FR" sz="3200" dirty="0">
                <a:solidFill>
                  <a:srgbClr val="312F2F"/>
                </a:solidFill>
                <a:latin typeface="Times New Roman" panose="02020603050405020304" pitchFamily="18" charset="0"/>
                <a:ea typeface="Calibri" panose="020F0502020204030204" pitchFamily="34" charset="0"/>
                <a:cs typeface="Times New Roman" panose="02020603050405020304" pitchFamily="18" charset="0"/>
              </a:rPr>
              <a:t> L</a:t>
            </a:r>
            <a:r>
              <a:rPr lang="fr-FR" sz="3200" dirty="0">
                <a:solidFill>
                  <a:srgbClr val="312F2F"/>
                </a:solidFill>
                <a:effectLst/>
                <a:latin typeface="Times New Roman" panose="02020603050405020304" pitchFamily="18" charset="0"/>
                <a:ea typeface="Calibri" panose="020F0502020204030204" pitchFamily="34" charset="0"/>
                <a:cs typeface="Times New Roman" panose="02020603050405020304" pitchFamily="18" charset="0"/>
              </a:rPr>
              <a:t>a capture des données</a:t>
            </a:r>
          </a:p>
          <a:p>
            <a:pPr marL="342900" indent="-342900" algn="just">
              <a:lnSpc>
                <a:spcPct val="150000"/>
              </a:lnSpc>
              <a:buClr>
                <a:srgbClr val="C00000"/>
              </a:buClr>
              <a:buFont typeface="Wingdings" panose="05000000000000000000" pitchFamily="2" charset="2"/>
              <a:buChar char="v"/>
            </a:pPr>
            <a:r>
              <a:rPr lang="fr-FR" sz="3200" dirty="0">
                <a:solidFill>
                  <a:srgbClr val="312F2F"/>
                </a:solidFill>
                <a:latin typeface="Times New Roman" panose="02020603050405020304" pitchFamily="18" charset="0"/>
                <a:cs typeface="Times New Roman" panose="02020603050405020304" pitchFamily="18" charset="0"/>
              </a:rPr>
              <a:t> Le stockage des données </a:t>
            </a:r>
          </a:p>
          <a:p>
            <a:pPr marL="342900" indent="-342900" algn="just">
              <a:lnSpc>
                <a:spcPct val="150000"/>
              </a:lnSpc>
              <a:buClr>
                <a:srgbClr val="C00000"/>
              </a:buClr>
              <a:buFont typeface="Wingdings" panose="05000000000000000000" pitchFamily="2" charset="2"/>
              <a:buChar char="v"/>
            </a:pPr>
            <a:r>
              <a:rPr lang="fr-FR" sz="3200" dirty="0">
                <a:solidFill>
                  <a:srgbClr val="312F2F"/>
                </a:solidFill>
                <a:latin typeface="Times New Roman" panose="02020603050405020304" pitchFamily="18" charset="0"/>
                <a:cs typeface="Times New Roman" panose="02020603050405020304" pitchFamily="18" charset="0"/>
              </a:rPr>
              <a:t>Traitement des données</a:t>
            </a:r>
          </a:p>
          <a:p>
            <a:pPr marL="342900" indent="-342900" algn="just">
              <a:lnSpc>
                <a:spcPct val="150000"/>
              </a:lnSpc>
              <a:buClr>
                <a:srgbClr val="C00000"/>
              </a:buClr>
              <a:buFont typeface="Wingdings" panose="05000000000000000000" pitchFamily="2" charset="2"/>
              <a:buChar char="v"/>
            </a:pPr>
            <a:r>
              <a:rPr lang="fr-FR" sz="3200" dirty="0">
                <a:solidFill>
                  <a:srgbClr val="312F2F"/>
                </a:solidFill>
                <a:latin typeface="Times New Roman" panose="02020603050405020304" pitchFamily="18" charset="0"/>
                <a:cs typeface="Times New Roman" panose="02020603050405020304" pitchFamily="18" charset="0"/>
              </a:rPr>
              <a:t> L'analyse des données</a:t>
            </a:r>
          </a:p>
          <a:p>
            <a:pPr marL="342900" indent="-342900" algn="just">
              <a:lnSpc>
                <a:spcPct val="150000"/>
              </a:lnSpc>
              <a:buClr>
                <a:srgbClr val="C00000"/>
              </a:buClr>
              <a:buFont typeface="Wingdings" panose="05000000000000000000" pitchFamily="2" charset="2"/>
              <a:buChar char="v"/>
            </a:pPr>
            <a:r>
              <a:rPr lang="fr-FR" sz="3200" dirty="0">
                <a:solidFill>
                  <a:srgbClr val="312F2F"/>
                </a:solidFill>
                <a:latin typeface="Times New Roman" panose="02020603050405020304" pitchFamily="18" charset="0"/>
                <a:cs typeface="Times New Roman" panose="02020603050405020304" pitchFamily="18" charset="0"/>
              </a:rPr>
              <a:t> La confidentialité des informations</a:t>
            </a:r>
          </a:p>
        </p:txBody>
      </p:sp>
    </p:spTree>
    <p:extLst>
      <p:ext uri="{BB962C8B-B14F-4D97-AF65-F5344CB8AC3E}">
        <p14:creationId xmlns:p14="http://schemas.microsoft.com/office/powerpoint/2010/main" val="158285792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2601D19E-0CD0-4F1A-9DB2-263616FAEEF1}"/>
              </a:ext>
            </a:extLst>
          </p:cNvPr>
          <p:cNvSpPr txBox="1"/>
          <p:nvPr/>
        </p:nvSpPr>
        <p:spPr>
          <a:xfrm>
            <a:off x="2975957" y="116378"/>
            <a:ext cx="6018414" cy="646331"/>
          </a:xfrm>
          <a:prstGeom prst="rect">
            <a:avLst/>
          </a:prstGeom>
          <a:noFill/>
        </p:spPr>
        <p:txBody>
          <a:bodyPr wrap="square" rtlCol="0">
            <a:spAutoFit/>
          </a:bodyPr>
          <a:lstStyle/>
          <a:p>
            <a:pPr>
              <a:defRPr/>
            </a:pPr>
            <a:r>
              <a:rPr lang="fr-FR" sz="3600" b="1" dirty="0">
                <a:solidFill>
                  <a:srgbClr val="C00000"/>
                </a:solidFill>
                <a:latin typeface="Times New Roman" panose="02020603050405020304" pitchFamily="18" charset="0"/>
                <a:cs typeface="Times New Roman" panose="02020603050405020304" pitchFamily="18" charset="0"/>
              </a:rPr>
              <a:t>Références Bibliographiques</a:t>
            </a:r>
          </a:p>
        </p:txBody>
      </p:sp>
      <p:sp>
        <p:nvSpPr>
          <p:cNvPr id="4" name="ZoneTexte 3">
            <a:extLst>
              <a:ext uri="{FF2B5EF4-FFF2-40B4-BE49-F238E27FC236}">
                <a16:creationId xmlns:a16="http://schemas.microsoft.com/office/drawing/2014/main" id="{5460ED24-8F70-4DE5-A1C8-A36239225C35}"/>
              </a:ext>
            </a:extLst>
          </p:cNvPr>
          <p:cNvSpPr txBox="1"/>
          <p:nvPr/>
        </p:nvSpPr>
        <p:spPr>
          <a:xfrm>
            <a:off x="448889" y="810523"/>
            <a:ext cx="11610108" cy="5709192"/>
          </a:xfrm>
          <a:prstGeom prst="rect">
            <a:avLst/>
          </a:prstGeom>
          <a:noFill/>
        </p:spPr>
        <p:txBody>
          <a:bodyPr wrap="square">
            <a:spAutoFit/>
          </a:bodyPr>
          <a:lstStyle/>
          <a:p>
            <a:pPr marL="342900" lvl="0" indent="-342900">
              <a:buFont typeface="+mj-lt"/>
              <a:buAutoNum type="arabicPeriod"/>
            </a:pPr>
            <a:r>
              <a:rPr lang="fr-FR" sz="1800" dirty="0" err="1">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Tole</a:t>
            </a:r>
            <a:r>
              <a:rPr lang="fr-FR" sz="1800" dirty="0">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 A. A. (2013). Big data challenges. </a:t>
            </a:r>
            <a:r>
              <a:rPr lang="fr-FR" sz="1800" i="1" dirty="0" err="1">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Database</a:t>
            </a:r>
            <a:r>
              <a:rPr lang="fr-FR" sz="1800" i="1" dirty="0">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 </a:t>
            </a:r>
            <a:r>
              <a:rPr lang="fr-FR" sz="1800" i="1" dirty="0" err="1">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systems</a:t>
            </a:r>
            <a:r>
              <a:rPr lang="fr-FR" sz="1800" i="1" dirty="0">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 journal</a:t>
            </a:r>
            <a:r>
              <a:rPr lang="fr-FR" sz="1800" dirty="0">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 </a:t>
            </a:r>
            <a:r>
              <a:rPr lang="fr-FR" sz="1800" i="1" dirty="0">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4</a:t>
            </a:r>
            <a:r>
              <a:rPr lang="fr-FR" sz="1800" dirty="0">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(3), 31-40.</a:t>
            </a:r>
            <a:endParaRPr lang="fr-FR" sz="2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buFont typeface="+mj-lt"/>
              <a:buAutoNum type="arabicPeriod"/>
            </a:pPr>
            <a:r>
              <a:rPr lang="fr-FR" sz="1800" dirty="0">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Nasser, T., &amp; Tariq, R. S. (2015). Big data challenges. </a:t>
            </a:r>
            <a:r>
              <a:rPr lang="fr-FR" sz="1800" i="1" dirty="0">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J Comput Eng </a:t>
            </a:r>
            <a:r>
              <a:rPr lang="fr-FR" sz="1800" i="1" dirty="0" err="1">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Inf</a:t>
            </a:r>
            <a:r>
              <a:rPr lang="fr-FR" sz="1800" i="1" dirty="0">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 </a:t>
            </a:r>
            <a:r>
              <a:rPr lang="fr-FR" sz="1800" i="1" dirty="0" err="1">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Technol</a:t>
            </a:r>
            <a:r>
              <a:rPr lang="fr-FR" sz="1800" i="1" dirty="0">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 4: 3. </a:t>
            </a:r>
            <a:r>
              <a:rPr lang="fr-FR" sz="1800" i="1" dirty="0" err="1">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doi</a:t>
            </a:r>
            <a:r>
              <a:rPr lang="fr-FR" sz="1800" i="1" dirty="0">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 http://dx. </a:t>
            </a:r>
            <a:r>
              <a:rPr lang="fr-FR" sz="1800" i="1" dirty="0" err="1">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doi</a:t>
            </a:r>
            <a:r>
              <a:rPr lang="fr-FR" sz="1800" i="1" dirty="0">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 </a:t>
            </a:r>
            <a:r>
              <a:rPr lang="fr-FR" sz="1800" i="1" dirty="0" err="1">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org</a:t>
            </a:r>
            <a:r>
              <a:rPr lang="fr-FR" sz="1800" i="1" dirty="0">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/10.4172/2324</a:t>
            </a:r>
            <a:r>
              <a:rPr lang="fr-FR" sz="1800" dirty="0">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 </a:t>
            </a:r>
            <a:r>
              <a:rPr lang="fr-FR" sz="1800" i="1" dirty="0">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9307</a:t>
            </a:r>
            <a:r>
              <a:rPr lang="fr-FR" sz="1800" dirty="0">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(2).</a:t>
            </a:r>
            <a:endParaRPr lang="fr-FR" sz="2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buFont typeface="+mj-lt"/>
              <a:buAutoNum type="arabicPeriod"/>
            </a:pPr>
            <a:r>
              <a:rPr lang="fr-FR" sz="1800" dirty="0" err="1">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Alkatheri</a:t>
            </a:r>
            <a:r>
              <a:rPr lang="fr-FR" sz="1800" dirty="0">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 S., Abbas, S., &amp; </a:t>
            </a:r>
            <a:r>
              <a:rPr lang="fr-FR" sz="1800" dirty="0" err="1">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Siddiqui</a:t>
            </a:r>
            <a:r>
              <a:rPr lang="fr-FR" sz="1800" dirty="0">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 M. (2019). A comparative </a:t>
            </a:r>
            <a:r>
              <a:rPr lang="fr-FR" sz="1800" dirty="0" err="1">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study</a:t>
            </a:r>
            <a:r>
              <a:rPr lang="fr-FR" sz="1800" dirty="0">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 of big data </a:t>
            </a:r>
            <a:r>
              <a:rPr lang="fr-FR" sz="1800" dirty="0" err="1">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frameworks</a:t>
            </a:r>
            <a:r>
              <a:rPr lang="fr-FR" sz="1800" dirty="0">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 </a:t>
            </a:r>
            <a:r>
              <a:rPr lang="fr-FR" sz="1800" i="1" dirty="0">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International Journal of Computer Science and Information Security (IJCSIS)</a:t>
            </a:r>
            <a:r>
              <a:rPr lang="fr-FR" sz="1800" dirty="0">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 </a:t>
            </a:r>
            <a:r>
              <a:rPr lang="fr-FR" sz="1800" i="1" dirty="0">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17</a:t>
            </a:r>
            <a:r>
              <a:rPr lang="fr-FR" sz="1800" dirty="0">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(1).</a:t>
            </a:r>
            <a:endParaRPr lang="fr-FR" sz="2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buFont typeface="+mj-lt"/>
              <a:buAutoNum type="arabicPeriod"/>
            </a:pPr>
            <a:r>
              <a:rPr lang="fr-FR" sz="1800" dirty="0" err="1">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Alkatheri</a:t>
            </a:r>
            <a:r>
              <a:rPr lang="fr-FR" sz="1800" dirty="0">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 S., Abbas, S., &amp; </a:t>
            </a:r>
            <a:r>
              <a:rPr lang="fr-FR" sz="1800" dirty="0" err="1">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Siddiqui</a:t>
            </a:r>
            <a:r>
              <a:rPr lang="fr-FR" sz="1800" dirty="0">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 M. (2019). A comparative </a:t>
            </a:r>
            <a:r>
              <a:rPr lang="fr-FR" sz="1800" dirty="0" err="1">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study</a:t>
            </a:r>
            <a:r>
              <a:rPr lang="fr-FR" sz="1800" dirty="0">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 of big data </a:t>
            </a:r>
            <a:r>
              <a:rPr lang="fr-FR" sz="1800" dirty="0" err="1">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frameworks</a:t>
            </a:r>
            <a:r>
              <a:rPr lang="fr-FR" sz="1800" dirty="0">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 </a:t>
            </a:r>
            <a:r>
              <a:rPr lang="fr-FR" sz="1800" i="1" dirty="0">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International Journal of Computer Science and Information Security (IJCSIS)</a:t>
            </a:r>
            <a:r>
              <a:rPr lang="fr-FR" sz="1800" dirty="0">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 </a:t>
            </a:r>
            <a:r>
              <a:rPr lang="fr-FR" sz="1800" i="1" dirty="0">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17</a:t>
            </a:r>
            <a:r>
              <a:rPr lang="fr-FR" sz="1800" dirty="0">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(1).</a:t>
            </a:r>
            <a:endParaRPr lang="fr-FR" sz="2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buFont typeface="+mj-lt"/>
              <a:buAutoNum type="arabicPeriod"/>
            </a:pPr>
            <a:r>
              <a:rPr lang="fr-FR" sz="1800" dirty="0">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Gupta, H. K., &amp; </a:t>
            </a:r>
            <a:r>
              <a:rPr lang="fr-FR" sz="1800" dirty="0" err="1">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Parveen</a:t>
            </a:r>
            <a:r>
              <a:rPr lang="fr-FR" sz="1800" dirty="0">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 R. (2019, </a:t>
            </a:r>
            <a:r>
              <a:rPr lang="fr-FR" sz="1800" dirty="0" err="1">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September</a:t>
            </a:r>
            <a:r>
              <a:rPr lang="fr-FR" sz="1800" dirty="0">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 Comparative </a:t>
            </a:r>
            <a:r>
              <a:rPr lang="fr-FR" sz="1800" dirty="0" err="1">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Study</a:t>
            </a:r>
            <a:r>
              <a:rPr lang="fr-FR" sz="1800" dirty="0">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 of Big Data </a:t>
            </a:r>
            <a:r>
              <a:rPr lang="fr-FR" sz="1800" dirty="0" err="1">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Frameworks</a:t>
            </a:r>
            <a:r>
              <a:rPr lang="fr-FR" sz="1800" dirty="0">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 In </a:t>
            </a:r>
            <a:r>
              <a:rPr lang="fr-FR" sz="1800" i="1" dirty="0">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2019 International </a:t>
            </a:r>
            <a:r>
              <a:rPr lang="fr-FR" sz="1800" i="1" dirty="0" err="1">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Conference</a:t>
            </a:r>
            <a:r>
              <a:rPr lang="fr-FR" sz="1800" i="1" dirty="0">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 on Issues and Challenges in Intelligent </a:t>
            </a:r>
            <a:r>
              <a:rPr lang="fr-FR" sz="1800" i="1" dirty="0" err="1">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Computing</a:t>
            </a:r>
            <a:r>
              <a:rPr lang="fr-FR" sz="1800" i="1" dirty="0">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 Techniques (ICICT)</a:t>
            </a:r>
            <a:r>
              <a:rPr lang="fr-FR" sz="1800" dirty="0">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 (Vol. 1, pp. 1-4). IEEE.</a:t>
            </a:r>
            <a:endParaRPr lang="fr-FR" sz="2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buFont typeface="+mj-lt"/>
              <a:buAutoNum type="arabicPeriod"/>
            </a:pPr>
            <a:r>
              <a:rPr lang="fr-FR" sz="1800" dirty="0" err="1">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Zomaya</a:t>
            </a:r>
            <a:r>
              <a:rPr lang="fr-FR" sz="1800" dirty="0">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 A. Y., &amp; </a:t>
            </a:r>
            <a:r>
              <a:rPr lang="fr-FR" sz="1800" dirty="0" err="1">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Sakr</a:t>
            </a:r>
            <a:r>
              <a:rPr lang="fr-FR" sz="1800" dirty="0">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 S. (</a:t>
            </a:r>
            <a:r>
              <a:rPr lang="fr-FR" sz="1800" dirty="0" err="1">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Eds</a:t>
            </a:r>
            <a:r>
              <a:rPr lang="fr-FR" sz="1800" dirty="0">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 (2017). </a:t>
            </a:r>
            <a:r>
              <a:rPr lang="fr-FR" sz="1800" dirty="0" err="1">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Handbook</a:t>
            </a:r>
            <a:r>
              <a:rPr lang="fr-FR" sz="1800" dirty="0">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 of big data technologies.</a:t>
            </a:r>
            <a:endParaRPr lang="fr-FR" sz="2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buFont typeface="+mj-lt"/>
              <a:buAutoNum type="arabicPeriod"/>
            </a:pPr>
            <a:r>
              <a:rPr lang="fr-FR" sz="1800" dirty="0">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Wu, D., </a:t>
            </a:r>
            <a:r>
              <a:rPr lang="fr-FR" sz="1800" dirty="0" err="1">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Sakr</a:t>
            </a:r>
            <a:r>
              <a:rPr lang="fr-FR" sz="1800" dirty="0">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 S., &amp; Zhu, L. (2017). Big data </a:t>
            </a:r>
            <a:r>
              <a:rPr lang="fr-FR" sz="1800" dirty="0" err="1">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storage</a:t>
            </a:r>
            <a:r>
              <a:rPr lang="fr-FR" sz="1800" dirty="0">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 and data </a:t>
            </a:r>
            <a:r>
              <a:rPr lang="fr-FR" sz="1800" dirty="0" err="1">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models</a:t>
            </a:r>
            <a:r>
              <a:rPr lang="fr-FR" sz="1800" dirty="0">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 In </a:t>
            </a:r>
            <a:r>
              <a:rPr lang="fr-FR" sz="1800" i="1" dirty="0" err="1">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Handbook</a:t>
            </a:r>
            <a:r>
              <a:rPr lang="fr-FR" sz="1800" i="1" dirty="0">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 of big data technologies</a:t>
            </a:r>
            <a:r>
              <a:rPr lang="fr-FR" sz="1800" dirty="0">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 (pp. 3-29). Springer, Cham.</a:t>
            </a:r>
            <a:endParaRPr lang="fr-FR" sz="2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buFont typeface="+mj-lt"/>
              <a:buAutoNum type="arabicPeriod"/>
            </a:pPr>
            <a:r>
              <a:rPr lang="fr-FR" sz="1800" dirty="0" err="1">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Khasawneh</a:t>
            </a:r>
            <a:r>
              <a:rPr lang="fr-FR" sz="1800" dirty="0">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 T. N., AL-</a:t>
            </a:r>
            <a:r>
              <a:rPr lang="fr-FR" sz="1800" dirty="0" err="1">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Sahlee</a:t>
            </a:r>
            <a:r>
              <a:rPr lang="fr-FR" sz="1800" dirty="0">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 M. H., &amp; Safia, A. A. (2020, April). SQL, NewSQL, and NOSQL </a:t>
            </a:r>
            <a:r>
              <a:rPr lang="fr-FR" sz="1800" dirty="0" err="1">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databases</a:t>
            </a:r>
            <a:r>
              <a:rPr lang="fr-FR" sz="1800" dirty="0">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 a comparative </a:t>
            </a:r>
            <a:r>
              <a:rPr lang="fr-FR" sz="1800" dirty="0" err="1">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survey</a:t>
            </a:r>
            <a:r>
              <a:rPr lang="fr-FR" sz="1800" dirty="0">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 In </a:t>
            </a:r>
            <a:r>
              <a:rPr lang="fr-FR" sz="1800" i="1" dirty="0">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2020 11th International </a:t>
            </a:r>
            <a:r>
              <a:rPr lang="fr-FR" sz="1800" i="1" dirty="0" err="1">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Conference</a:t>
            </a:r>
            <a:r>
              <a:rPr lang="fr-FR" sz="1800" i="1" dirty="0">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 on Information and Communication </a:t>
            </a:r>
            <a:r>
              <a:rPr lang="fr-FR" sz="1800" i="1" dirty="0" err="1">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Systems</a:t>
            </a:r>
            <a:r>
              <a:rPr lang="fr-FR" sz="1800" i="1" dirty="0">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 (ICICS)</a:t>
            </a:r>
            <a:r>
              <a:rPr lang="fr-FR" sz="1800" dirty="0">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 (pp. 013-021). IEEE.</a:t>
            </a:r>
          </a:p>
          <a:p>
            <a:pPr marL="342900" lvl="0" indent="-342900">
              <a:lnSpc>
                <a:spcPct val="107000"/>
              </a:lnSpc>
              <a:buFont typeface="+mj-lt"/>
              <a:buAutoNum type="arabicPeriod"/>
            </a:pPr>
            <a:r>
              <a:rPr lang="fr-FR" sz="1800" dirty="0" err="1">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Kotiyal</a:t>
            </a:r>
            <a:r>
              <a:rPr lang="fr-FR" sz="1800" dirty="0">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 B., Kumar, A., Pant, B., &amp; </a:t>
            </a:r>
            <a:r>
              <a:rPr lang="fr-FR" sz="1800" dirty="0" err="1">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Goudar</a:t>
            </a:r>
            <a:r>
              <a:rPr lang="fr-FR" sz="1800" dirty="0">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 R. H. (2013, August). Big data: Mining of log file </a:t>
            </a:r>
            <a:r>
              <a:rPr lang="fr-FR" sz="1800" dirty="0" err="1">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through</a:t>
            </a:r>
            <a:r>
              <a:rPr lang="fr-FR" sz="1800" dirty="0">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 Hadoop. In </a:t>
            </a:r>
            <a:r>
              <a:rPr lang="fr-FR" sz="1800" i="1" dirty="0">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2013 International </a:t>
            </a:r>
            <a:r>
              <a:rPr lang="fr-FR" sz="1800" i="1" dirty="0" err="1">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Conference</a:t>
            </a:r>
            <a:r>
              <a:rPr lang="fr-FR" sz="1800" i="1" dirty="0">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 on Human Computer Interactions (ICHCI)</a:t>
            </a:r>
            <a:r>
              <a:rPr lang="fr-FR" sz="1800" dirty="0">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 (pp. 1-7). IEEE.</a:t>
            </a:r>
            <a:endParaRPr lang="fr-FR" sz="18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nSpc>
                <a:spcPct val="107000"/>
              </a:lnSpc>
              <a:buFont typeface="+mj-lt"/>
              <a:buAutoNum type="arabicPeriod"/>
            </a:pPr>
            <a:r>
              <a:rPr lang="fr-FR" sz="1800" dirty="0">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Singh, J., &amp; </a:t>
            </a:r>
            <a:r>
              <a:rPr lang="fr-FR" sz="1800" dirty="0" err="1">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Singla</a:t>
            </a:r>
            <a:r>
              <a:rPr lang="fr-FR" sz="1800" dirty="0">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 V. (2015). Big data: </a:t>
            </a:r>
            <a:r>
              <a:rPr lang="fr-FR" sz="1800" dirty="0" err="1">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tools</a:t>
            </a:r>
            <a:r>
              <a:rPr lang="fr-FR" sz="1800" dirty="0">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 and technologies in big data. </a:t>
            </a:r>
            <a:r>
              <a:rPr lang="fr-FR" sz="1800" i="1" dirty="0">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International Journal of Computer Applications</a:t>
            </a:r>
            <a:r>
              <a:rPr lang="fr-FR" sz="1800" dirty="0">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 </a:t>
            </a:r>
            <a:r>
              <a:rPr lang="fr-FR" sz="1800" i="1" dirty="0">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112</a:t>
            </a:r>
            <a:r>
              <a:rPr lang="fr-FR" sz="1800" dirty="0">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(15).</a:t>
            </a:r>
            <a:endParaRPr lang="fr-FR" sz="18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nSpc>
                <a:spcPct val="107000"/>
              </a:lnSpc>
              <a:spcAft>
                <a:spcPts val="800"/>
              </a:spcAft>
              <a:buFont typeface="+mj-lt"/>
              <a:buAutoNum type="arabicPeriod"/>
            </a:pPr>
            <a:r>
              <a:rPr lang="fr-FR" sz="1800" dirty="0">
                <a:effectLst/>
                <a:latin typeface="Times New Roman" panose="02020603050405020304" pitchFamily="18" charset="0"/>
                <a:ea typeface="Calibri" panose="020F0502020204030204" pitchFamily="34" charset="0"/>
                <a:cs typeface="Times New Roman" panose="02020603050405020304" pitchFamily="18" charset="0"/>
              </a:rPr>
              <a:t>McQueen, B. (2017). Big data </a:t>
            </a:r>
            <a:r>
              <a:rPr lang="fr-FR" sz="1800" dirty="0" err="1">
                <a:effectLst/>
                <a:latin typeface="Times New Roman" panose="02020603050405020304" pitchFamily="18" charset="0"/>
                <a:ea typeface="Calibri" panose="020F0502020204030204" pitchFamily="34" charset="0"/>
                <a:cs typeface="Times New Roman" panose="02020603050405020304" pitchFamily="18" charset="0"/>
              </a:rPr>
              <a:t>analytics</a:t>
            </a:r>
            <a:r>
              <a:rPr lang="fr-FR" sz="1800" dirty="0">
                <a:effectLst/>
                <a:latin typeface="Times New Roman" panose="02020603050405020304" pitchFamily="18" charset="0"/>
                <a:ea typeface="Calibri" panose="020F0502020204030204" pitchFamily="34" charset="0"/>
                <a:cs typeface="Times New Roman" panose="02020603050405020304" pitchFamily="18" charset="0"/>
              </a:rPr>
              <a:t> for </a:t>
            </a:r>
            <a:r>
              <a:rPr lang="fr-FR" sz="1800" dirty="0" err="1">
                <a:effectLst/>
                <a:latin typeface="Times New Roman" panose="02020603050405020304" pitchFamily="18" charset="0"/>
                <a:ea typeface="Calibri" panose="020F0502020204030204" pitchFamily="34" charset="0"/>
                <a:cs typeface="Times New Roman" panose="02020603050405020304" pitchFamily="18" charset="0"/>
              </a:rPr>
              <a:t>connected</a:t>
            </a:r>
            <a:r>
              <a:rPr lang="fr-FR"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fr-FR" sz="1800" dirty="0" err="1">
                <a:effectLst/>
                <a:latin typeface="Times New Roman" panose="02020603050405020304" pitchFamily="18" charset="0"/>
                <a:ea typeface="Calibri" panose="020F0502020204030204" pitchFamily="34" charset="0"/>
                <a:cs typeface="Times New Roman" panose="02020603050405020304" pitchFamily="18" charset="0"/>
              </a:rPr>
              <a:t>vehicles</a:t>
            </a:r>
            <a:r>
              <a:rPr lang="fr-FR" sz="1800" dirty="0">
                <a:effectLst/>
                <a:latin typeface="Times New Roman" panose="02020603050405020304" pitchFamily="18" charset="0"/>
                <a:ea typeface="Calibri" panose="020F0502020204030204" pitchFamily="34" charset="0"/>
                <a:cs typeface="Times New Roman" panose="02020603050405020304" pitchFamily="18" charset="0"/>
              </a:rPr>
              <a:t> and smart </a:t>
            </a:r>
            <a:r>
              <a:rPr lang="fr-FR" sz="1800" dirty="0" err="1">
                <a:effectLst/>
                <a:latin typeface="Times New Roman" panose="02020603050405020304" pitchFamily="18" charset="0"/>
                <a:ea typeface="Calibri" panose="020F0502020204030204" pitchFamily="34" charset="0"/>
                <a:cs typeface="Times New Roman" panose="02020603050405020304" pitchFamily="18" charset="0"/>
              </a:rPr>
              <a:t>cities</a:t>
            </a:r>
            <a:r>
              <a:rPr lang="fr-FR"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fr-FR" sz="1800" dirty="0" err="1">
                <a:effectLst/>
                <a:latin typeface="Times New Roman" panose="02020603050405020304" pitchFamily="18" charset="0"/>
                <a:ea typeface="Calibri" panose="020F0502020204030204" pitchFamily="34" charset="0"/>
                <a:cs typeface="Times New Roman" panose="02020603050405020304" pitchFamily="18" charset="0"/>
              </a:rPr>
              <a:t>Artech</a:t>
            </a:r>
            <a:r>
              <a:rPr lang="fr-FR" sz="1800" dirty="0">
                <a:effectLst/>
                <a:latin typeface="Times New Roman" panose="02020603050405020304" pitchFamily="18" charset="0"/>
                <a:ea typeface="Calibri" panose="020F0502020204030204" pitchFamily="34" charset="0"/>
                <a:cs typeface="Times New Roman" panose="02020603050405020304" pitchFamily="18" charset="0"/>
              </a:rPr>
              <a:t> House.</a:t>
            </a:r>
          </a:p>
        </p:txBody>
      </p:sp>
    </p:spTree>
    <p:extLst>
      <p:ext uri="{BB962C8B-B14F-4D97-AF65-F5344CB8AC3E}">
        <p14:creationId xmlns:p14="http://schemas.microsoft.com/office/powerpoint/2010/main" val="3647981115"/>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4130</TotalTime>
  <Words>2992</Words>
  <Application>Microsoft Office PowerPoint</Application>
  <PresentationFormat>Grand écran</PresentationFormat>
  <Paragraphs>264</Paragraphs>
  <Slides>26</Slides>
  <Notes>14</Notes>
  <HiddenSlides>0</HiddenSlides>
  <MMClips>0</MMClips>
  <ScaleCrop>false</ScaleCrop>
  <HeadingPairs>
    <vt:vector size="6" baseType="variant">
      <vt:variant>
        <vt:lpstr>Polices utilisées</vt:lpstr>
      </vt:variant>
      <vt:variant>
        <vt:i4>9</vt:i4>
      </vt:variant>
      <vt:variant>
        <vt:lpstr>Thème</vt:lpstr>
      </vt:variant>
      <vt:variant>
        <vt:i4>1</vt:i4>
      </vt:variant>
      <vt:variant>
        <vt:lpstr>Titres des diapositives</vt:lpstr>
      </vt:variant>
      <vt:variant>
        <vt:i4>26</vt:i4>
      </vt:variant>
    </vt:vector>
  </HeadingPairs>
  <TitlesOfParts>
    <vt:vector size="36" baseType="lpstr">
      <vt:lpstr>AmazonEmber</vt:lpstr>
      <vt:lpstr>Arial</vt:lpstr>
      <vt:lpstr>Arial</vt:lpstr>
      <vt:lpstr>Calibri</vt:lpstr>
      <vt:lpstr>Calibri Light</vt:lpstr>
      <vt:lpstr>OracleSansVF</vt:lpstr>
      <vt:lpstr>Times New Roman</vt:lpstr>
      <vt:lpstr>TimesNewRoman</vt:lpstr>
      <vt:lpstr>Wingdings</vt:lpstr>
      <vt:lpstr>Thème Office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SIDIBE</dc:creator>
  <cp:lastModifiedBy>Dr. SIDIBE</cp:lastModifiedBy>
  <cp:revision>76</cp:revision>
  <dcterms:created xsi:type="dcterms:W3CDTF">2021-10-09T12:16:14Z</dcterms:created>
  <dcterms:modified xsi:type="dcterms:W3CDTF">2023-01-27T10:05:06Z</dcterms:modified>
</cp:coreProperties>
</file>